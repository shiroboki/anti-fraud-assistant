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9" r:id="rId1"/>
  </p:sldMasterIdLst>
  <p:notesMasterIdLst>
    <p:notesMasterId r:id="rId70"/>
  </p:notesMasterIdLst>
  <p:sldIdLst>
    <p:sldId id="329" r:id="rId2"/>
    <p:sldId id="596" r:id="rId3"/>
    <p:sldId id="437" r:id="rId4"/>
    <p:sldId id="330" r:id="rId5"/>
    <p:sldId id="332" r:id="rId6"/>
    <p:sldId id="333" r:id="rId7"/>
    <p:sldId id="334" r:id="rId8"/>
    <p:sldId id="335" r:id="rId9"/>
    <p:sldId id="526" r:id="rId10"/>
    <p:sldId id="527" r:id="rId11"/>
    <p:sldId id="598" r:id="rId12"/>
    <p:sldId id="337" r:id="rId13"/>
    <p:sldId id="338" r:id="rId14"/>
    <p:sldId id="528" r:id="rId15"/>
    <p:sldId id="438" r:id="rId16"/>
    <p:sldId id="439" r:id="rId17"/>
    <p:sldId id="440" r:id="rId18"/>
    <p:sldId id="441" r:id="rId19"/>
    <p:sldId id="442" r:id="rId20"/>
    <p:sldId id="443" r:id="rId21"/>
    <p:sldId id="444" r:id="rId22"/>
    <p:sldId id="445" r:id="rId23"/>
    <p:sldId id="446" r:id="rId24"/>
    <p:sldId id="447" r:id="rId25"/>
    <p:sldId id="448" r:id="rId26"/>
    <p:sldId id="449" r:id="rId27"/>
    <p:sldId id="450" r:id="rId28"/>
    <p:sldId id="451" r:id="rId29"/>
    <p:sldId id="452" r:id="rId30"/>
    <p:sldId id="453" r:id="rId31"/>
    <p:sldId id="454" r:id="rId32"/>
    <p:sldId id="455" r:id="rId33"/>
    <p:sldId id="456" r:id="rId34"/>
    <p:sldId id="523" r:id="rId35"/>
    <p:sldId id="457" r:id="rId36"/>
    <p:sldId id="458" r:id="rId37"/>
    <p:sldId id="459" r:id="rId38"/>
    <p:sldId id="460" r:id="rId39"/>
    <p:sldId id="461" r:id="rId40"/>
    <p:sldId id="462" r:id="rId41"/>
    <p:sldId id="463" r:id="rId42"/>
    <p:sldId id="464" r:id="rId43"/>
    <p:sldId id="465" r:id="rId44"/>
    <p:sldId id="476" r:id="rId45"/>
    <p:sldId id="597" r:id="rId46"/>
    <p:sldId id="478" r:id="rId47"/>
    <p:sldId id="479" r:id="rId48"/>
    <p:sldId id="481" r:id="rId49"/>
    <p:sldId id="482" r:id="rId50"/>
    <p:sldId id="483" r:id="rId51"/>
    <p:sldId id="484" r:id="rId52"/>
    <p:sldId id="485" r:id="rId53"/>
    <p:sldId id="486" r:id="rId54"/>
    <p:sldId id="487" r:id="rId55"/>
    <p:sldId id="488" r:id="rId56"/>
    <p:sldId id="489" r:id="rId57"/>
    <p:sldId id="584" r:id="rId58"/>
    <p:sldId id="490" r:id="rId59"/>
    <p:sldId id="524" r:id="rId60"/>
    <p:sldId id="525" r:id="rId61"/>
    <p:sldId id="492" r:id="rId62"/>
    <p:sldId id="493" r:id="rId63"/>
    <p:sldId id="495" r:id="rId64"/>
    <p:sldId id="496" r:id="rId65"/>
    <p:sldId id="497" r:id="rId66"/>
    <p:sldId id="498" r:id="rId67"/>
    <p:sldId id="499" r:id="rId68"/>
    <p:sldId id="514" r:id="rId6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50000"/>
      </a:spcBef>
      <a:spcAft>
        <a:spcPct val="0"/>
      </a:spcAft>
      <a:buNone/>
      <a:defRPr sz="4000" b="1" i="0" u="none" kern="1200" baseline="0">
        <a:solidFill>
          <a:srgbClr val="0000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FFFF"/>
    <a:srgbClr val="FF0000"/>
    <a:srgbClr val="CCECFF"/>
    <a:srgbClr val="66FF99"/>
    <a:srgbClr val="FFFFFF"/>
    <a:srgbClr val="99FF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014"/>
    <p:restoredTop sz="94473"/>
  </p:normalViewPr>
  <p:slideViewPr>
    <p:cSldViewPr showGuides="1">
      <p:cViewPr varScale="1">
        <p:scale>
          <a:sx n="72" d="100"/>
          <a:sy n="72" d="100"/>
        </p:scale>
        <p:origin x="84" y="64"/>
      </p:cViewPr>
      <p:guideLst>
        <p:guide orient="horz" pos="2160"/>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841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image" Target="../media/image16.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5.wmf"/><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9"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6.wmf"/><Relationship Id="rId1" Type="http://schemas.openxmlformats.org/officeDocument/2006/relationships/image" Target="../media/image85.wmf"/><Relationship Id="rId5" Type="http://schemas.openxmlformats.org/officeDocument/2006/relationships/image" Target="../media/image90.wmf"/><Relationship Id="rId4" Type="http://schemas.openxmlformats.org/officeDocument/2006/relationships/image" Target="../media/image8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16.emf"/><Relationship Id="rId13" Type="http://schemas.openxmlformats.org/officeDocument/2006/relationships/image" Target="../media/image121.wmf"/><Relationship Id="rId3" Type="http://schemas.openxmlformats.org/officeDocument/2006/relationships/image" Target="../media/image111.emf"/><Relationship Id="rId7" Type="http://schemas.openxmlformats.org/officeDocument/2006/relationships/image" Target="../media/image115.emf"/><Relationship Id="rId12" Type="http://schemas.openxmlformats.org/officeDocument/2006/relationships/image" Target="../media/image120.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4.wmf"/><Relationship Id="rId11" Type="http://schemas.openxmlformats.org/officeDocument/2006/relationships/image" Target="../media/image119.wmf"/><Relationship Id="rId5" Type="http://schemas.openxmlformats.org/officeDocument/2006/relationships/image" Target="../media/image113.emf"/><Relationship Id="rId10" Type="http://schemas.openxmlformats.org/officeDocument/2006/relationships/image" Target="../media/image118.wmf"/><Relationship Id="rId4" Type="http://schemas.openxmlformats.org/officeDocument/2006/relationships/image" Target="../media/image112.emf"/><Relationship Id="rId9" Type="http://schemas.openxmlformats.org/officeDocument/2006/relationships/image" Target="../media/image117.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118.wmf"/><Relationship Id="rId3" Type="http://schemas.openxmlformats.org/officeDocument/2006/relationships/image" Target="../media/image110.wmf"/><Relationship Id="rId7" Type="http://schemas.openxmlformats.org/officeDocument/2006/relationships/image" Target="../media/image120.wmf"/><Relationship Id="rId12" Type="http://schemas.openxmlformats.org/officeDocument/2006/relationships/image" Target="../media/image117.wmf"/><Relationship Id="rId2" Type="http://schemas.openxmlformats.org/officeDocument/2006/relationships/image" Target="../media/image109.wmf"/><Relationship Id="rId1" Type="http://schemas.openxmlformats.org/officeDocument/2006/relationships/image" Target="../media/image114.wmf"/><Relationship Id="rId6" Type="http://schemas.openxmlformats.org/officeDocument/2006/relationships/image" Target="../media/image125.emf"/><Relationship Id="rId11" Type="http://schemas.openxmlformats.org/officeDocument/2006/relationships/image" Target="../media/image129.emf"/><Relationship Id="rId5" Type="http://schemas.openxmlformats.org/officeDocument/2006/relationships/image" Target="../media/image124.emf"/><Relationship Id="rId15" Type="http://schemas.openxmlformats.org/officeDocument/2006/relationships/image" Target="../media/image121.wmf"/><Relationship Id="rId10" Type="http://schemas.openxmlformats.org/officeDocument/2006/relationships/image" Target="../media/image128.emf"/><Relationship Id="rId4" Type="http://schemas.openxmlformats.org/officeDocument/2006/relationships/image" Target="../media/image123.emf"/><Relationship Id="rId9" Type="http://schemas.openxmlformats.org/officeDocument/2006/relationships/image" Target="../media/image127.emf"/><Relationship Id="rId14" Type="http://schemas.openxmlformats.org/officeDocument/2006/relationships/image" Target="../media/image11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5" Type="http://schemas.openxmlformats.org/officeDocument/2006/relationships/image" Target="../media/image134.wmf"/><Relationship Id="rId4" Type="http://schemas.openxmlformats.org/officeDocument/2006/relationships/image" Target="../media/image133.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image" Target="../media/image141.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 Id="rId5" Type="http://schemas.openxmlformats.org/officeDocument/2006/relationships/image" Target="../media/image146.wmf"/><Relationship Id="rId4" Type="http://schemas.openxmlformats.org/officeDocument/2006/relationships/image" Target="../media/image142.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5" Type="http://schemas.openxmlformats.org/officeDocument/2006/relationships/image" Target="../media/image150.wmf"/><Relationship Id="rId4" Type="http://schemas.openxmlformats.org/officeDocument/2006/relationships/image" Target="../media/image142.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 Id="rId5" Type="http://schemas.openxmlformats.org/officeDocument/2006/relationships/image" Target="../media/image154.wmf"/><Relationship Id="rId4" Type="http://schemas.openxmlformats.org/officeDocument/2006/relationships/image" Target="../media/image142.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88.wmf"/><Relationship Id="rId1" Type="http://schemas.openxmlformats.org/officeDocument/2006/relationships/image" Target="../media/image155.wmf"/><Relationship Id="rId5" Type="http://schemas.openxmlformats.org/officeDocument/2006/relationships/image" Target="../media/image86.wmf"/><Relationship Id="rId4" Type="http://schemas.openxmlformats.org/officeDocument/2006/relationships/image" Target="../media/image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8770" name="页眉占位符 288769"/>
          <p:cNvSpPr>
            <a:spLocks noGrp="1"/>
          </p:cNvSpPr>
          <p:nvPr>
            <p:ph type="hdr" sz="quarter"/>
          </p:nvPr>
        </p:nvSpPr>
        <p:spPr>
          <a:xfrm>
            <a:off x="0" y="0"/>
            <a:ext cx="2971800" cy="457200"/>
          </a:xfrm>
          <a:prstGeom prst="rect">
            <a:avLst/>
          </a:prstGeom>
          <a:noFill/>
          <a:ln w="9525">
            <a:noFill/>
          </a:ln>
        </p:spPr>
        <p:txBody>
          <a:bodyPr/>
          <a:lstStyle>
            <a:lvl1pPr>
              <a:defRPr sz="1200" b="0" noProof="1">
                <a:latin typeface="Arial" panose="020B0604020202020204" pitchFamily="34" charset="0"/>
              </a:defRPr>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8771" name="日期占位符 288770"/>
          <p:cNvSpPr>
            <a:spLocks noGrp="1"/>
          </p:cNvSpPr>
          <p:nvPr>
            <p:ph type="dt" idx="1"/>
          </p:nvPr>
        </p:nvSpPr>
        <p:spPr>
          <a:xfrm>
            <a:off x="3884613" y="0"/>
            <a:ext cx="2971800" cy="457200"/>
          </a:xfrm>
          <a:prstGeom prst="rect">
            <a:avLst/>
          </a:prstGeom>
          <a:noFill/>
          <a:ln w="9525">
            <a:noFill/>
          </a:ln>
        </p:spPr>
        <p:txBody>
          <a:bodyPr/>
          <a:lstStyle>
            <a:lvl1pPr algn="r">
              <a:defRPr sz="1200" b="0" noProof="1">
                <a:latin typeface="Arial" panose="020B0604020202020204" pitchFamily="34" charset="0"/>
              </a:defRPr>
            </a:lvl1pPr>
          </a:lstStyle>
          <a:p>
            <a:pPr marL="0" marR="0" lvl="0" indent="0" algn="r"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5780" name="幻灯片图像占位符 288771"/>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文本占位符 288772"/>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第五级</a:t>
            </a:r>
          </a:p>
        </p:txBody>
      </p:sp>
      <p:sp>
        <p:nvSpPr>
          <p:cNvPr id="288774" name="页脚占位符 288773"/>
          <p:cNvSpPr>
            <a:spLocks noGrp="1"/>
          </p:cNvSpPr>
          <p:nvPr>
            <p:ph type="ftr" sz="quarter" idx="4"/>
          </p:nvPr>
        </p:nvSpPr>
        <p:spPr>
          <a:xfrm>
            <a:off x="0" y="8685213"/>
            <a:ext cx="2971800" cy="457200"/>
          </a:xfrm>
          <a:prstGeom prst="rect">
            <a:avLst/>
          </a:prstGeom>
          <a:noFill/>
          <a:ln w="9525">
            <a:noFill/>
          </a:ln>
        </p:spPr>
        <p:txBody>
          <a:bodyPr anchor="b"/>
          <a:lstStyle>
            <a:lvl1pPr>
              <a:defRPr sz="1200" b="0" noProof="1">
                <a:latin typeface="Arial" panose="020B0604020202020204" pitchFamily="34" charset="0"/>
              </a:defRPr>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2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8775" name="灯片编号占位符 288774"/>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lstStyle/>
          <a:p>
            <a:pPr lvl="0" algn="r" eaLnBrk="1" hangingPunct="1">
              <a:buNone/>
            </a:pPr>
            <a:fld id="{9A0DB2DC-4C9A-4742-B13C-FB6460FD3503}" type="slidenum">
              <a:rPr lang="zh-CN" altLang="en-US" sz="1200" b="0" dirty="0"/>
              <a:t>‹#›</a:t>
            </a:fld>
            <a:endParaRPr lang="zh-CN" altLang="en-US"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a:xfrm>
            <a:off x="2396319" y="329308"/>
            <a:ext cx="3086292" cy="309201"/>
          </a:xfrm>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a:xfrm>
            <a:off x="1434703" y="798973"/>
            <a:ext cx="802005" cy="503578"/>
          </a:xfrm>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16345715"/>
      </p:ext>
    </p:extLst>
  </p:cSld>
  <p:clrMapOvr>
    <a:masterClrMapping/>
  </p:clrMapOvr>
  <p:transition spd="slow">
    <p:pull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8972188"/>
      </p:ext>
    </p:extLst>
  </p:cSld>
  <p:clrMapOvr>
    <a:masterClrMapping/>
  </p:clrMapOvr>
  <p:transition spd="slow">
    <p:pull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zh-CN" altLang="en-US"/>
              <a:t>单击此处编辑母版标题样式</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8119927"/>
      </p:ext>
    </p:extLst>
  </p:cSld>
  <p:clrMapOvr>
    <a:masterClrMapping/>
  </p:clrMapOvr>
  <p:transition spd="slow">
    <p:pull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4127369"/>
      </p:ext>
    </p:extLst>
  </p:cSld>
  <p:clrMapOvr>
    <a:masterClrMapping/>
  </p:clrMapOvr>
  <p:transition spd="slow">
    <p:pull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1443491" y="2824270"/>
            <a:ext cx="3125766"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889182" y="2821491"/>
            <a:ext cx="31256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2277491500"/>
      </p:ext>
    </p:extLst>
  </p:cSld>
  <p:clrMapOvr>
    <a:masterClrMapping/>
  </p:clrMapOvr>
  <p:transition spd="slow">
    <p:pull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2459221336"/>
      </p:ext>
    </p:extLst>
  </p:cSld>
  <p:clrMapOvr>
    <a:masterClrMapping/>
  </p:clrMapOvr>
  <p:transition spd="slow">
    <p:pull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751110064"/>
      </p:ext>
    </p:extLst>
  </p:cSld>
  <p:clrMapOvr>
    <a:masterClrMapping/>
  </p:clrMapOvr>
  <p:transition spd="slow">
    <p:pull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9147793"/>
      </p:ext>
    </p:extLst>
  </p:cSld>
  <p:clrMapOvr>
    <a:masterClrMapping/>
  </p:clrMapOvr>
  <p:transition spd="slow">
    <p:pull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a:xfrm>
            <a:off x="1437530" y="318641"/>
            <a:ext cx="3251553" cy="320931"/>
          </a:xfrm>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4777226"/>
      </p:ext>
    </p:extLst>
  </p:cSld>
  <p:clrMapOvr>
    <a:masterClrMapping/>
  </p:clrMapOvr>
  <p:transition spd="slow">
    <p:pull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555408316"/>
      </p:ext>
    </p:extLst>
  </p:cSld>
  <p:clrMapOvr>
    <a:masterClrMapping/>
  </p:clrMapOvr>
  <p:transition spd="slow">
    <p:pull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0311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noProof="1"/>
              <a:t>单击此处编辑母版标题样式</a:t>
            </a:r>
          </a:p>
        </p:txBody>
      </p:sp>
      <p:sp>
        <p:nvSpPr>
          <p:cNvPr id="3" name="内容占位符 2"/>
          <p:cNvSpPr>
            <a:spLocks noGrp="1"/>
          </p:cNvSpPr>
          <p:nvPr>
            <p:ph sz="quarter" idx="1"/>
          </p:nvPr>
        </p:nvSpPr>
        <p:spPr>
          <a:xfrm>
            <a:off x="628650" y="1825625"/>
            <a:ext cx="38862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628650" y="4076700"/>
            <a:ext cx="38862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29150" y="4076700"/>
            <a:ext cx="38862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spcBef>
                <a:spcPct val="0"/>
              </a:spcBef>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613251430"/>
      </p:ext>
    </p:extLst>
  </p:cSld>
  <p:clrMapOvr>
    <a:masterClrMapping/>
  </p:clrMapOvr>
  <p:transition spd="slow">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hangingPunct="1">
              <a:spcBef>
                <a:spcPct val="0"/>
              </a:spcBef>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2113956774"/>
      </p:ext>
    </p:extLst>
  </p:cSld>
  <p:clrMapOvr>
    <a:masterClrMapping/>
  </p:clrMapOvr>
  <p:transition spd="slow">
    <p:pull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3" name="日期占位符 2"/>
          <p:cNvSpPr>
            <a:spLocks noGrp="1"/>
          </p:cNvSpPr>
          <p:nvPr>
            <p:ph type="dt" sz="half" idx="15"/>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BE97BAE-D62F-4B73-BE32-615CE1AF6DAA}" type="datetime10">
              <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rPr>
              <a:t>15:01</a:t>
            </a:fld>
            <a:endParaRPr kumimoji="0" lang="zh-CN" altLang="en-US" sz="10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6"/>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7"/>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475945103"/>
      </p:ext>
    </p:extLst>
  </p:cSld>
  <p:clrMapOvr>
    <a:masterClrMapping/>
  </p:clrMapOvr>
  <p:transition spd="slow">
    <p:pull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5"/>
          <p:cNvSpPr>
            <a:spLocks noGrp="1"/>
          </p:cNvSpPr>
          <p:nvPr>
            <p:ph type="dt" sz="half" idx="10"/>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BE97BAE-D62F-4B73-BE32-615CE1AF6DAA}" type="datetime10">
              <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rPr>
              <a:t>15:01</a:t>
            </a:fld>
            <a:endParaRPr kumimoji="0" lang="zh-CN" altLang="en-US" sz="10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252056323"/>
      </p:ext>
    </p:extLst>
  </p:cSld>
  <p:clrMapOvr>
    <a:masterClrMapping/>
  </p:clrMapOvr>
  <p:transition spd="slow">
    <p:pull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BE97BAE-D62F-4B73-BE32-615CE1AF6DAA}" type="datetime10">
              <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rPr>
              <a:t>15:01</a:t>
            </a:fld>
            <a:endParaRPr kumimoji="0" lang="zh-CN" altLang="en-US" sz="10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307224283"/>
      </p:ext>
    </p:extLst>
  </p:cSld>
  <p:clrMapOvr>
    <a:masterClrMapping/>
  </p:clrMapOvr>
  <p:transition spd="slow">
    <p:pull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BE97BAE-D62F-4B73-BE32-615CE1AF6DAA}" type="datetime10">
              <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rPr>
              <a:t>15:01</a:t>
            </a:fld>
            <a:endParaRPr kumimoji="0" lang="zh-CN" altLang="en-US" sz="1000" b="1" i="0" u="none" strike="noStrike" kern="1200" cap="none" spc="0" normalizeH="0" baseline="0" noProof="0">
              <a:ln>
                <a:noFill/>
              </a:ln>
              <a:solidFill>
                <a:schemeClr val="tx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1000" b="1" i="0" u="none" strike="noStrike" kern="1200" cap="none" spc="0" normalizeH="0" baseline="0" noProof="0">
              <a:ln>
                <a:noFill/>
              </a:ln>
              <a:solidFill>
                <a:schemeClr val="tx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extLst>
      <p:ext uri="{BB962C8B-B14F-4D97-AF65-F5344CB8AC3E}">
        <p14:creationId xmlns:p14="http://schemas.microsoft.com/office/powerpoint/2010/main" val="1333148035"/>
      </p:ext>
    </p:extLst>
  </p:cSld>
  <p:clrMapOvr>
    <a:masterClrMapping/>
  </p:clrMapOvr>
  <p:transition spd="slow">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9">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EF605583-B04B-4476-8135-E03F1574BE48}" type="datetime10">
              <a:rPr kumimoji="0" lang="zh-CN" altLang="en-US" sz="1400" b="0" i="0" u="none" strike="noStrike" kern="1200" cap="none" spc="0" normalizeH="0" baseline="0" noProof="1" smtClean="0">
                <a:ln>
                  <a:noFill/>
                </a:ln>
                <a:solidFill>
                  <a:srgbClr val="000000"/>
                </a:solidFill>
                <a:effectLst/>
                <a:uLnTx/>
                <a:uFillTx/>
                <a:latin typeface="Arial" panose="020B0604020202020204" pitchFamily="34" charset="0"/>
                <a:ea typeface="宋体" panose="02010600030101010101" pitchFamily="2" charset="-122"/>
                <a:cs typeface="+mn-cs"/>
              </a:rPr>
              <a:t>15:01</a:t>
            </a:fld>
            <a:endParaRPr kumimoji="0" lang="zh-CN" altLang="en-US" sz="14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pPr lvl="0" eaLnBrk="1" hangingPunct="1">
              <a:spcBef>
                <a:spcPct val="0"/>
              </a:spcBef>
              <a:buNone/>
            </a:pPr>
            <a:fld id="{9A0DB2DC-4C9A-4742-B13C-FB6460FD3503}" type="slidenum">
              <a:rPr lang="zh-CN" altLang="en-US" smtClean="0">
                <a:latin typeface="Arial" panose="020B0604020202020204" pitchFamily="34" charset="0"/>
              </a:rPr>
              <a:t>‹#›</a:t>
            </a:fld>
            <a:endParaRPr lang="zh-CN" altLang="en-US" dirty="0">
              <a:latin typeface="Arial" panose="020B0604020202020204" pitchFamily="34" charset="0"/>
            </a:endParaRPr>
          </a:p>
        </p:txBody>
      </p:sp>
      <p:pic>
        <p:nvPicPr>
          <p:cNvPr id="11" name="图片 10">
            <a:extLst>
              <a:ext uri="{FF2B5EF4-FFF2-40B4-BE49-F238E27FC236}">
                <a16:creationId xmlns:a16="http://schemas.microsoft.com/office/drawing/2014/main" id="{037D95D9-970C-4F8B-87DF-C0DDA6AEEB6B}"/>
              </a:ext>
            </a:extLst>
          </p:cNvPr>
          <p:cNvPicPr>
            <a:picLocks noChangeAspect="1"/>
          </p:cNvPicPr>
          <p:nvPr userDrawn="1"/>
        </p:nvPicPr>
        <p:blipFill rotWithShape="1">
          <a:blip r:embed="rId20">
            <a:extLst>
              <a:ext uri="{28A0092B-C50C-407E-A947-70E740481C1C}">
                <a14:useLocalDpi xmlns:a14="http://schemas.microsoft.com/office/drawing/2010/main" val="0"/>
              </a:ext>
            </a:extLst>
          </a:blip>
          <a:srcRect l="5973" t="7759" r="9562" b="2000"/>
          <a:stretch/>
        </p:blipFill>
        <p:spPr>
          <a:xfrm>
            <a:off x="-19393" y="0"/>
            <a:ext cx="1133528" cy="984303"/>
          </a:xfrm>
          <a:prstGeom prst="flowChartConnector">
            <a:avLst/>
          </a:prstGeom>
        </p:spPr>
      </p:pic>
    </p:spTree>
    <p:extLst>
      <p:ext uri="{BB962C8B-B14F-4D97-AF65-F5344CB8AC3E}">
        <p14:creationId xmlns:p14="http://schemas.microsoft.com/office/powerpoint/2010/main" val="28584994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transition spd="slow">
    <p:pull dir="rd"/>
  </p:transition>
  <p:hf sldNum="0" hdr="0" ftr="0" dt="0"/>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7.png"/><Relationship Id="rId5" Type="http://schemas.openxmlformats.org/officeDocument/2006/relationships/oleObject" Target="../embeddings/oleObject14.bin"/><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6.png"/><Relationship Id="rId5" Type="http://schemas.openxmlformats.org/officeDocument/2006/relationships/oleObject" Target="../embeddings/oleObject16.bin"/><Relationship Id="rId4" Type="http://schemas.openxmlformats.org/officeDocument/2006/relationships/image" Target="../media/image1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9.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5.xml"/><Relationship Id="rId1" Type="http://schemas.openxmlformats.org/officeDocument/2006/relationships/vmlDrawing" Target="../drawings/vmlDrawing10.vml"/><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vmlDrawing" Target="../drawings/vmlDrawing11.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16.xml"/><Relationship Id="rId1" Type="http://schemas.openxmlformats.org/officeDocument/2006/relationships/vmlDrawing" Target="../drawings/vmlDrawing12.vml"/><Relationship Id="rId6" Type="http://schemas.openxmlformats.org/officeDocument/2006/relationships/image" Target="../media/image25.wmf"/><Relationship Id="rId5" Type="http://schemas.openxmlformats.org/officeDocument/2006/relationships/oleObject" Target="../embeddings/oleObject23.bin"/><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27.wmf"/><Relationship Id="rId5" Type="http://schemas.openxmlformats.org/officeDocument/2006/relationships/oleObject" Target="../embeddings/oleObject26.bin"/><Relationship Id="rId4" Type="http://schemas.openxmlformats.org/officeDocument/2006/relationships/image" Target="../media/image26.wmf"/></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0.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1.bin"/><Relationship Id="rId14" Type="http://schemas.openxmlformats.org/officeDocument/2006/relationships/image" Target="../media/image34.wmf"/></Relationships>
</file>

<file path=ppt/slides/_rels/slide21.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9.bin"/><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6.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7.bin"/><Relationship Id="rId14" Type="http://schemas.openxmlformats.org/officeDocument/2006/relationships/image" Target="../media/image4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41.wmf"/></Relationships>
</file>

<file path=ppt/slides/_rels/slide23.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image" Target="../media/image46.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3.wmf"/><Relationship Id="rId11" Type="http://schemas.openxmlformats.org/officeDocument/2006/relationships/oleObject" Target="../embeddings/oleObject45.bin"/><Relationship Id="rId5" Type="http://schemas.openxmlformats.org/officeDocument/2006/relationships/oleObject" Target="../embeddings/oleObject42.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44.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47.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47.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48.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0.wmf"/><Relationship Id="rId5" Type="http://schemas.openxmlformats.org/officeDocument/2006/relationships/oleObject" Target="../embeddings/oleObject50.bin"/><Relationship Id="rId4" Type="http://schemas.openxmlformats.org/officeDocument/2006/relationships/image" Target="../media/image49.wmf"/></Relationships>
</file>

<file path=ppt/slides/_rels/slide29.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57.bin"/><Relationship Id="rId18" Type="http://schemas.openxmlformats.org/officeDocument/2006/relationships/image" Target="../media/image59.w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56.wmf"/><Relationship Id="rId17" Type="http://schemas.openxmlformats.org/officeDocument/2006/relationships/oleObject" Target="../embeddings/oleObject59.bin"/><Relationship Id="rId2" Type="http://schemas.openxmlformats.org/officeDocument/2006/relationships/slideLayout" Target="../slideLayouts/slideLayout17.xml"/><Relationship Id="rId16" Type="http://schemas.openxmlformats.org/officeDocument/2006/relationships/image" Target="../media/image58.wmf"/><Relationship Id="rId20" Type="http://schemas.openxmlformats.org/officeDocument/2006/relationships/image" Target="../media/image60.wmf"/><Relationship Id="rId1" Type="http://schemas.openxmlformats.org/officeDocument/2006/relationships/vmlDrawing" Target="../drawings/vmlDrawing22.vml"/><Relationship Id="rId6" Type="http://schemas.openxmlformats.org/officeDocument/2006/relationships/image" Target="../media/image53.w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oleObject" Target="../embeddings/oleObject58.bin"/><Relationship Id="rId10" Type="http://schemas.openxmlformats.org/officeDocument/2006/relationships/image" Target="../media/image55.wmf"/><Relationship Id="rId19" Type="http://schemas.openxmlformats.org/officeDocument/2006/relationships/oleObject" Target="../embeddings/oleObject60.bin"/><Relationship Id="rId4" Type="http://schemas.openxmlformats.org/officeDocument/2006/relationships/image" Target="../media/image52.wmf"/><Relationship Id="rId9" Type="http://schemas.openxmlformats.org/officeDocument/2006/relationships/oleObject" Target="../embeddings/oleObject55.bin"/><Relationship Id="rId14" Type="http://schemas.openxmlformats.org/officeDocument/2006/relationships/image" Target="../media/image5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2.wmf"/><Relationship Id="rId5" Type="http://schemas.openxmlformats.org/officeDocument/2006/relationships/oleObject" Target="../embeddings/oleObject62.bin"/><Relationship Id="rId4" Type="http://schemas.openxmlformats.org/officeDocument/2006/relationships/image" Target="../media/image61.wmf"/></Relationships>
</file>

<file path=ppt/slides/_rels/slide31.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64.wmf"/><Relationship Id="rId5" Type="http://schemas.openxmlformats.org/officeDocument/2006/relationships/oleObject" Target="../embeddings/oleObject64.bin"/><Relationship Id="rId4" Type="http://schemas.openxmlformats.org/officeDocument/2006/relationships/image" Target="../media/image63.wmf"/></Relationships>
</file>

<file path=ppt/slides/_rels/slide32.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71.bin"/><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70.wmf"/><Relationship Id="rId2" Type="http://schemas.openxmlformats.org/officeDocument/2006/relationships/slideLayout" Target="../slideLayouts/slideLayout7.xml"/><Relationship Id="rId16" Type="http://schemas.openxmlformats.org/officeDocument/2006/relationships/image" Target="../media/image72.wmf"/><Relationship Id="rId1" Type="http://schemas.openxmlformats.org/officeDocument/2006/relationships/vmlDrawing" Target="../drawings/vmlDrawing25.vml"/><Relationship Id="rId6" Type="http://schemas.openxmlformats.org/officeDocument/2006/relationships/image" Target="../media/image67.wmf"/><Relationship Id="rId11" Type="http://schemas.openxmlformats.org/officeDocument/2006/relationships/oleObject" Target="../embeddings/oleObject70.bin"/><Relationship Id="rId5" Type="http://schemas.openxmlformats.org/officeDocument/2006/relationships/oleObject" Target="../embeddings/oleObject67.bin"/><Relationship Id="rId15" Type="http://schemas.openxmlformats.org/officeDocument/2006/relationships/oleObject" Target="../embeddings/oleObject72.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69.bin"/><Relationship Id="rId14" Type="http://schemas.openxmlformats.org/officeDocument/2006/relationships/image" Target="../media/image71.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74.wmf"/><Relationship Id="rId5" Type="http://schemas.openxmlformats.org/officeDocument/2006/relationships/oleObject" Target="../embeddings/oleObject74.bin"/><Relationship Id="rId4" Type="http://schemas.openxmlformats.org/officeDocument/2006/relationships/image" Target="../media/image73.wmf"/><Relationship Id="rId9" Type="http://schemas.openxmlformats.org/officeDocument/2006/relationships/image" Target="../media/image7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77.wmf"/><Relationship Id="rId5" Type="http://schemas.openxmlformats.org/officeDocument/2006/relationships/oleObject" Target="../embeddings/oleObject78.bin"/><Relationship Id="rId4" Type="http://schemas.openxmlformats.org/officeDocument/2006/relationships/image" Target="../media/image76.wmf"/></Relationships>
</file>

<file path=ppt/slides/_rels/slide37.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80.wmf"/><Relationship Id="rId5" Type="http://schemas.openxmlformats.org/officeDocument/2006/relationships/oleObject" Target="../embeddings/oleObject81.bin"/><Relationship Id="rId4" Type="http://schemas.openxmlformats.org/officeDocument/2006/relationships/image" Target="../media/image79.wmf"/></Relationships>
</file>

<file path=ppt/slides/_rels/slide38.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83.wmf"/><Relationship Id="rId5" Type="http://schemas.openxmlformats.org/officeDocument/2006/relationships/oleObject" Target="../embeddings/oleObject84.bin"/><Relationship Id="rId4" Type="http://schemas.openxmlformats.org/officeDocument/2006/relationships/image" Target="../media/image82.wmf"/></Relationships>
</file>

<file path=ppt/slides/_rels/slide39.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86.wmf"/><Relationship Id="rId5" Type="http://schemas.openxmlformats.org/officeDocument/2006/relationships/oleObject" Target="../embeddings/oleObject87.bin"/><Relationship Id="rId4" Type="http://schemas.openxmlformats.org/officeDocument/2006/relationships/image" Target="../media/image85.wmf"/></Relationships>
</file>

<file path=ppt/slides/_rels/slide4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90.wmf"/><Relationship Id="rId2" Type="http://schemas.openxmlformats.org/officeDocument/2006/relationships/slideLayout" Target="../slideLayouts/slideLayout12.xml"/><Relationship Id="rId1" Type="http://schemas.openxmlformats.org/officeDocument/2006/relationships/vmlDrawing" Target="../drawings/vmlDrawing31.vml"/><Relationship Id="rId6" Type="http://schemas.openxmlformats.org/officeDocument/2006/relationships/image" Target="../media/image86.wmf"/><Relationship Id="rId11" Type="http://schemas.openxmlformats.org/officeDocument/2006/relationships/oleObject" Target="../embeddings/oleObject93.bin"/><Relationship Id="rId5" Type="http://schemas.openxmlformats.org/officeDocument/2006/relationships/oleObject" Target="../embeddings/oleObject90.bin"/><Relationship Id="rId10" Type="http://schemas.openxmlformats.org/officeDocument/2006/relationships/image" Target="../media/image89.wmf"/><Relationship Id="rId4" Type="http://schemas.openxmlformats.org/officeDocument/2006/relationships/image" Target="../media/image85.wmf"/><Relationship Id="rId9" Type="http://schemas.openxmlformats.org/officeDocument/2006/relationships/oleObject" Target="../embeddings/oleObject92.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91.wmf"/></Relationships>
</file>

<file path=ppt/slides/_rels/slide42.xml.rels><?xml version="1.0" encoding="UTF-8" standalone="yes"?>
<Relationships xmlns="http://schemas.openxmlformats.org/package/2006/relationships"><Relationship Id="rId8" Type="http://schemas.openxmlformats.org/officeDocument/2006/relationships/image" Target="../media/image94.w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96.wmf"/><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93.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95.wmf"/><Relationship Id="rId4" Type="http://schemas.openxmlformats.org/officeDocument/2006/relationships/image" Target="../media/image92.wmf"/><Relationship Id="rId9" Type="http://schemas.openxmlformats.org/officeDocument/2006/relationships/oleObject" Target="../embeddings/oleObject98.bin"/><Relationship Id="rId14" Type="http://schemas.openxmlformats.org/officeDocument/2006/relationships/image" Target="../media/image97.wmf"/></Relationships>
</file>

<file path=ppt/slides/_rels/slide43.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101.bin"/><Relationship Id="rId7" Type="http://schemas.openxmlformats.org/officeDocument/2006/relationships/oleObject" Target="../embeddings/oleObject103.bin"/><Relationship Id="rId2" Type="http://schemas.openxmlformats.org/officeDocument/2006/relationships/slideLayout" Target="../slideLayouts/slideLayout16.xml"/><Relationship Id="rId1" Type="http://schemas.openxmlformats.org/officeDocument/2006/relationships/vmlDrawing" Target="../drawings/vmlDrawing34.vml"/><Relationship Id="rId6" Type="http://schemas.openxmlformats.org/officeDocument/2006/relationships/image" Target="../media/image99.wmf"/><Relationship Id="rId5" Type="http://schemas.openxmlformats.org/officeDocument/2006/relationships/oleObject" Target="../embeddings/oleObject102.bin"/><Relationship Id="rId4" Type="http://schemas.openxmlformats.org/officeDocument/2006/relationships/image" Target="../media/image9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03.wmf"/><Relationship Id="rId5" Type="http://schemas.openxmlformats.org/officeDocument/2006/relationships/oleObject" Target="../embeddings/oleObject105.bin"/><Relationship Id="rId4" Type="http://schemas.openxmlformats.org/officeDocument/2006/relationships/image" Target="../media/image102.wmf"/></Relationships>
</file>

<file path=ppt/slides/_rels/slide48.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13.xml"/><Relationship Id="rId1" Type="http://schemas.openxmlformats.org/officeDocument/2006/relationships/vmlDrawing" Target="../drawings/vmlDrawing36.vml"/><Relationship Id="rId6" Type="http://schemas.openxmlformats.org/officeDocument/2006/relationships/image" Target="../media/image105.wmf"/><Relationship Id="rId5" Type="http://schemas.openxmlformats.org/officeDocument/2006/relationships/oleObject" Target="../embeddings/oleObject107.bin"/><Relationship Id="rId4" Type="http://schemas.openxmlformats.org/officeDocument/2006/relationships/image" Target="../media/image104.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07.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image" Target="../media/image108.wmf"/></Relationships>
</file>

<file path=ppt/slides/_rels/slide59.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oleObject" Target="../embeddings/oleObject116.bin"/><Relationship Id="rId18" Type="http://schemas.openxmlformats.org/officeDocument/2006/relationships/image" Target="../media/image116.emf"/><Relationship Id="rId26" Type="http://schemas.openxmlformats.org/officeDocument/2006/relationships/oleObject" Target="../embeddings/oleObject122.bin"/><Relationship Id="rId3" Type="http://schemas.openxmlformats.org/officeDocument/2006/relationships/oleObject" Target="../embeddings/oleObject111.bin"/><Relationship Id="rId21" Type="http://schemas.openxmlformats.org/officeDocument/2006/relationships/image" Target="../media/image117.wmf"/><Relationship Id="rId7" Type="http://schemas.openxmlformats.org/officeDocument/2006/relationships/oleObject" Target="../embeddings/oleObject113.bin"/><Relationship Id="rId12" Type="http://schemas.openxmlformats.org/officeDocument/2006/relationships/image" Target="../media/image113.emf"/><Relationship Id="rId17" Type="http://schemas.openxmlformats.org/officeDocument/2006/relationships/oleObject" Target="../embeddings/oleObject118.bin"/><Relationship Id="rId25" Type="http://schemas.openxmlformats.org/officeDocument/2006/relationships/image" Target="../media/image119.wmf"/><Relationship Id="rId2" Type="http://schemas.openxmlformats.org/officeDocument/2006/relationships/slideLayout" Target="../slideLayouts/slideLayout7.xml"/><Relationship Id="rId16" Type="http://schemas.openxmlformats.org/officeDocument/2006/relationships/image" Target="../media/image115.emf"/><Relationship Id="rId20" Type="http://schemas.openxmlformats.org/officeDocument/2006/relationships/oleObject" Target="../embeddings/oleObject119.bin"/><Relationship Id="rId29" Type="http://schemas.openxmlformats.org/officeDocument/2006/relationships/image" Target="../media/image120.wmf"/><Relationship Id="rId1" Type="http://schemas.openxmlformats.org/officeDocument/2006/relationships/vmlDrawing" Target="../drawings/vmlDrawing39.vml"/><Relationship Id="rId6" Type="http://schemas.openxmlformats.org/officeDocument/2006/relationships/image" Target="../media/image110.wmf"/><Relationship Id="rId11" Type="http://schemas.openxmlformats.org/officeDocument/2006/relationships/oleObject" Target="../embeddings/oleObject115.bin"/><Relationship Id="rId24" Type="http://schemas.openxmlformats.org/officeDocument/2006/relationships/oleObject" Target="../embeddings/oleObject121.bin"/><Relationship Id="rId32" Type="http://schemas.openxmlformats.org/officeDocument/2006/relationships/image" Target="../media/image121.wmf"/><Relationship Id="rId5" Type="http://schemas.openxmlformats.org/officeDocument/2006/relationships/oleObject" Target="../embeddings/oleObject112.bin"/><Relationship Id="rId15" Type="http://schemas.openxmlformats.org/officeDocument/2006/relationships/oleObject" Target="../embeddings/oleObject117.bin"/><Relationship Id="rId23" Type="http://schemas.openxmlformats.org/officeDocument/2006/relationships/image" Target="../media/image118.wmf"/><Relationship Id="rId28" Type="http://schemas.openxmlformats.org/officeDocument/2006/relationships/oleObject" Target="../embeddings/oleObject124.bin"/><Relationship Id="rId10" Type="http://schemas.openxmlformats.org/officeDocument/2006/relationships/image" Target="../media/image112.emf"/><Relationship Id="rId19" Type="http://schemas.openxmlformats.org/officeDocument/2006/relationships/image" Target="../media/image122.png"/><Relationship Id="rId31" Type="http://schemas.openxmlformats.org/officeDocument/2006/relationships/oleObject" Target="../embeddings/oleObject126.bin"/><Relationship Id="rId4" Type="http://schemas.openxmlformats.org/officeDocument/2006/relationships/image" Target="../media/image109.wmf"/><Relationship Id="rId9" Type="http://schemas.openxmlformats.org/officeDocument/2006/relationships/oleObject" Target="../embeddings/oleObject114.bin"/><Relationship Id="rId14" Type="http://schemas.openxmlformats.org/officeDocument/2006/relationships/image" Target="../media/image114.wmf"/><Relationship Id="rId22" Type="http://schemas.openxmlformats.org/officeDocument/2006/relationships/oleObject" Target="../embeddings/oleObject120.bin"/><Relationship Id="rId27" Type="http://schemas.openxmlformats.org/officeDocument/2006/relationships/oleObject" Target="../embeddings/oleObject123.bin"/><Relationship Id="rId30" Type="http://schemas.openxmlformats.org/officeDocument/2006/relationships/oleObject" Target="../embeddings/oleObject125.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24.emf"/><Relationship Id="rId18" Type="http://schemas.openxmlformats.org/officeDocument/2006/relationships/oleObject" Target="../embeddings/oleObject134.bin"/><Relationship Id="rId26" Type="http://schemas.openxmlformats.org/officeDocument/2006/relationships/oleObject" Target="../embeddings/oleObject138.bin"/><Relationship Id="rId3" Type="http://schemas.openxmlformats.org/officeDocument/2006/relationships/image" Target="../media/image122.png"/><Relationship Id="rId21" Type="http://schemas.openxmlformats.org/officeDocument/2006/relationships/image" Target="../media/image127.emf"/><Relationship Id="rId34" Type="http://schemas.openxmlformats.org/officeDocument/2006/relationships/oleObject" Target="../embeddings/oleObject143.bin"/><Relationship Id="rId7" Type="http://schemas.openxmlformats.org/officeDocument/2006/relationships/image" Target="../media/image109.wmf"/><Relationship Id="rId12" Type="http://schemas.openxmlformats.org/officeDocument/2006/relationships/oleObject" Target="../embeddings/oleObject131.bin"/><Relationship Id="rId17" Type="http://schemas.openxmlformats.org/officeDocument/2006/relationships/image" Target="../media/image120.wmf"/><Relationship Id="rId25" Type="http://schemas.openxmlformats.org/officeDocument/2006/relationships/image" Target="../media/image129.emf"/><Relationship Id="rId33" Type="http://schemas.openxmlformats.org/officeDocument/2006/relationships/oleObject" Target="../embeddings/oleObject142.bin"/><Relationship Id="rId2" Type="http://schemas.openxmlformats.org/officeDocument/2006/relationships/slideLayout" Target="../slideLayouts/slideLayout7.xml"/><Relationship Id="rId16" Type="http://schemas.openxmlformats.org/officeDocument/2006/relationships/oleObject" Target="../embeddings/oleObject133.bin"/><Relationship Id="rId20" Type="http://schemas.openxmlformats.org/officeDocument/2006/relationships/oleObject" Target="../embeddings/oleObject135.bin"/><Relationship Id="rId29" Type="http://schemas.openxmlformats.org/officeDocument/2006/relationships/image" Target="../media/image118.wmf"/><Relationship Id="rId1" Type="http://schemas.openxmlformats.org/officeDocument/2006/relationships/vmlDrawing" Target="../drawings/vmlDrawing40.vml"/><Relationship Id="rId6" Type="http://schemas.openxmlformats.org/officeDocument/2006/relationships/oleObject" Target="../embeddings/oleObject128.bin"/><Relationship Id="rId11" Type="http://schemas.openxmlformats.org/officeDocument/2006/relationships/image" Target="../media/image123.emf"/><Relationship Id="rId24" Type="http://schemas.openxmlformats.org/officeDocument/2006/relationships/oleObject" Target="../embeddings/oleObject137.bin"/><Relationship Id="rId32" Type="http://schemas.openxmlformats.org/officeDocument/2006/relationships/oleObject" Target="../embeddings/oleObject141.bin"/><Relationship Id="rId37" Type="http://schemas.openxmlformats.org/officeDocument/2006/relationships/image" Target="../media/image121.wmf"/><Relationship Id="rId5" Type="http://schemas.openxmlformats.org/officeDocument/2006/relationships/image" Target="../media/image114.wmf"/><Relationship Id="rId15" Type="http://schemas.openxmlformats.org/officeDocument/2006/relationships/image" Target="../media/image125.emf"/><Relationship Id="rId23" Type="http://schemas.openxmlformats.org/officeDocument/2006/relationships/image" Target="../media/image128.emf"/><Relationship Id="rId28" Type="http://schemas.openxmlformats.org/officeDocument/2006/relationships/oleObject" Target="../embeddings/oleObject139.bin"/><Relationship Id="rId36" Type="http://schemas.openxmlformats.org/officeDocument/2006/relationships/oleObject" Target="../embeddings/oleObject145.bin"/><Relationship Id="rId10" Type="http://schemas.openxmlformats.org/officeDocument/2006/relationships/oleObject" Target="../embeddings/oleObject130.bin"/><Relationship Id="rId19" Type="http://schemas.openxmlformats.org/officeDocument/2006/relationships/image" Target="../media/image126.wmf"/><Relationship Id="rId31" Type="http://schemas.openxmlformats.org/officeDocument/2006/relationships/image" Target="../media/image119.wmf"/><Relationship Id="rId4" Type="http://schemas.openxmlformats.org/officeDocument/2006/relationships/oleObject" Target="../embeddings/oleObject127.bin"/><Relationship Id="rId9" Type="http://schemas.openxmlformats.org/officeDocument/2006/relationships/image" Target="../media/image110.wmf"/><Relationship Id="rId14" Type="http://schemas.openxmlformats.org/officeDocument/2006/relationships/oleObject" Target="../embeddings/oleObject132.bin"/><Relationship Id="rId22" Type="http://schemas.openxmlformats.org/officeDocument/2006/relationships/oleObject" Target="../embeddings/oleObject136.bin"/><Relationship Id="rId27" Type="http://schemas.openxmlformats.org/officeDocument/2006/relationships/image" Target="../media/image117.wmf"/><Relationship Id="rId30" Type="http://schemas.openxmlformats.org/officeDocument/2006/relationships/oleObject" Target="../embeddings/oleObject140.bin"/><Relationship Id="rId35" Type="http://schemas.openxmlformats.org/officeDocument/2006/relationships/oleObject" Target="../embeddings/oleObject144.bin"/></Relationships>
</file>

<file path=ppt/slides/_rels/slide61.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134.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31.wmf"/><Relationship Id="rId11" Type="http://schemas.openxmlformats.org/officeDocument/2006/relationships/oleObject" Target="../embeddings/oleObject150.bin"/><Relationship Id="rId5" Type="http://schemas.openxmlformats.org/officeDocument/2006/relationships/oleObject" Target="../embeddings/oleObject147.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49.bin"/></Relationships>
</file>

<file path=ppt/slides/_rels/slide62.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156.bin"/><Relationship Id="rId3" Type="http://schemas.openxmlformats.org/officeDocument/2006/relationships/oleObject" Target="../embeddings/oleObject151.bin"/><Relationship Id="rId7" Type="http://schemas.openxmlformats.org/officeDocument/2006/relationships/oleObject" Target="../embeddings/oleObject153.bin"/><Relationship Id="rId12" Type="http://schemas.openxmlformats.org/officeDocument/2006/relationships/image" Target="../media/image139.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36.wmf"/><Relationship Id="rId11" Type="http://schemas.openxmlformats.org/officeDocument/2006/relationships/oleObject" Target="../embeddings/oleObject155.bin"/><Relationship Id="rId5" Type="http://schemas.openxmlformats.org/officeDocument/2006/relationships/oleObject" Target="../embeddings/oleObject152.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154.bin"/><Relationship Id="rId14" Type="http://schemas.openxmlformats.org/officeDocument/2006/relationships/image" Target="../media/image140.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42.wmf"/><Relationship Id="rId5" Type="http://schemas.openxmlformats.org/officeDocument/2006/relationships/oleObject" Target="../embeddings/oleObject158.bin"/><Relationship Id="rId4" Type="http://schemas.openxmlformats.org/officeDocument/2006/relationships/image" Target="../media/image141.wmf"/></Relationships>
</file>

<file path=ppt/slides/_rels/slide64.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oleObject" Target="../embeddings/oleObject159.bin"/><Relationship Id="rId7" Type="http://schemas.openxmlformats.org/officeDocument/2006/relationships/oleObject" Target="../embeddings/oleObject161.bin"/><Relationship Id="rId12" Type="http://schemas.openxmlformats.org/officeDocument/2006/relationships/image" Target="../media/image146.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44.wmf"/><Relationship Id="rId11" Type="http://schemas.openxmlformats.org/officeDocument/2006/relationships/oleObject" Target="../embeddings/oleObject163.bin"/><Relationship Id="rId5" Type="http://schemas.openxmlformats.org/officeDocument/2006/relationships/oleObject" Target="../embeddings/oleObject160.bin"/><Relationship Id="rId10" Type="http://schemas.openxmlformats.org/officeDocument/2006/relationships/image" Target="../media/image142.wmf"/><Relationship Id="rId4" Type="http://schemas.openxmlformats.org/officeDocument/2006/relationships/image" Target="../media/image143.wmf"/><Relationship Id="rId9" Type="http://schemas.openxmlformats.org/officeDocument/2006/relationships/oleObject" Target="../embeddings/oleObject162.bin"/></Relationships>
</file>

<file path=ppt/slides/_rels/slide65.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64.bin"/><Relationship Id="rId7" Type="http://schemas.openxmlformats.org/officeDocument/2006/relationships/oleObject" Target="../embeddings/oleObject166.bin"/><Relationship Id="rId12" Type="http://schemas.openxmlformats.org/officeDocument/2006/relationships/image" Target="../media/image150.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48.wmf"/><Relationship Id="rId11" Type="http://schemas.openxmlformats.org/officeDocument/2006/relationships/oleObject" Target="../embeddings/oleObject168.bin"/><Relationship Id="rId5" Type="http://schemas.openxmlformats.org/officeDocument/2006/relationships/oleObject" Target="../embeddings/oleObject165.bin"/><Relationship Id="rId10" Type="http://schemas.openxmlformats.org/officeDocument/2006/relationships/image" Target="../media/image142.wmf"/><Relationship Id="rId4" Type="http://schemas.openxmlformats.org/officeDocument/2006/relationships/image" Target="../media/image147.wmf"/><Relationship Id="rId9" Type="http://schemas.openxmlformats.org/officeDocument/2006/relationships/oleObject" Target="../embeddings/oleObject167.bin"/></Relationships>
</file>

<file path=ppt/slides/_rels/slide66.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69.bin"/><Relationship Id="rId7" Type="http://schemas.openxmlformats.org/officeDocument/2006/relationships/oleObject" Target="../embeddings/oleObject171.bin"/><Relationship Id="rId12" Type="http://schemas.openxmlformats.org/officeDocument/2006/relationships/image" Target="../media/image154.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52.wmf"/><Relationship Id="rId11" Type="http://schemas.openxmlformats.org/officeDocument/2006/relationships/oleObject" Target="../embeddings/oleObject173.bin"/><Relationship Id="rId5" Type="http://schemas.openxmlformats.org/officeDocument/2006/relationships/oleObject" Target="../embeddings/oleObject170.bin"/><Relationship Id="rId10" Type="http://schemas.openxmlformats.org/officeDocument/2006/relationships/image" Target="../media/image142.wmf"/><Relationship Id="rId4" Type="http://schemas.openxmlformats.org/officeDocument/2006/relationships/image" Target="../media/image151.wmf"/><Relationship Id="rId9" Type="http://schemas.openxmlformats.org/officeDocument/2006/relationships/oleObject" Target="../embeddings/oleObject172.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oleObject" Target="../embeddings/oleObject174.bin"/><Relationship Id="rId7" Type="http://schemas.openxmlformats.org/officeDocument/2006/relationships/oleObject" Target="../embeddings/oleObject176.bin"/><Relationship Id="rId12" Type="http://schemas.openxmlformats.org/officeDocument/2006/relationships/image" Target="../media/image86.wmf"/><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88.wmf"/><Relationship Id="rId11" Type="http://schemas.openxmlformats.org/officeDocument/2006/relationships/oleObject" Target="../embeddings/oleObject178.bin"/><Relationship Id="rId5" Type="http://schemas.openxmlformats.org/officeDocument/2006/relationships/oleObject" Target="../embeddings/oleObject175.bin"/><Relationship Id="rId10" Type="http://schemas.openxmlformats.org/officeDocument/2006/relationships/image" Target="../media/image85.wmf"/><Relationship Id="rId4" Type="http://schemas.openxmlformats.org/officeDocument/2006/relationships/image" Target="../media/image155.wmf"/><Relationship Id="rId9" Type="http://schemas.openxmlformats.org/officeDocument/2006/relationships/oleObject" Target="../embeddings/oleObject17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87" name="文本框 1146886"/>
          <p:cNvSpPr txBox="1"/>
          <p:nvPr/>
        </p:nvSpPr>
        <p:spPr>
          <a:xfrm>
            <a:off x="1124899" y="1124744"/>
            <a:ext cx="6240463" cy="641350"/>
          </a:xfrm>
          <a:prstGeom prst="rect">
            <a:avLst/>
          </a:prstGeom>
          <a:noFill/>
          <a:ln w="9525">
            <a:noFill/>
          </a:ln>
        </p:spPr>
        <p:txBody>
          <a:bodyPr wrap="none">
            <a:spAutoFit/>
          </a:bodyPr>
          <a:lstStyle/>
          <a:p>
            <a:pPr marR="0" defTabSz="914400">
              <a:spcBef>
                <a:spcPct val="0"/>
              </a:spcBef>
              <a:buClrTx/>
              <a:buSzTx/>
              <a:buFontTx/>
              <a:buNone/>
              <a:defRPr/>
            </a:pPr>
            <a:r>
              <a:rPr kumimoji="0" lang="zh-CN" altLang="en-US" sz="36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第三章 线性系统的时域分析法</a:t>
            </a:r>
          </a:p>
        </p:txBody>
      </p:sp>
      <p:sp>
        <p:nvSpPr>
          <p:cNvPr id="1146888" name="文本框 1146887"/>
          <p:cNvSpPr txBox="1"/>
          <p:nvPr/>
        </p:nvSpPr>
        <p:spPr>
          <a:xfrm>
            <a:off x="1152525" y="2564904"/>
            <a:ext cx="6838950" cy="3540125"/>
          </a:xfrm>
          <a:prstGeom prst="rect">
            <a:avLst/>
          </a:prstGeom>
          <a:noFill/>
          <a:ln w="25400">
            <a:noFill/>
          </a:ln>
        </p:spPr>
        <p:txBody>
          <a:bodyPr>
            <a:spAutoFit/>
          </a:bodyPr>
          <a:lstStyle/>
          <a:p>
            <a:pPr marR="0" defTabSz="914400">
              <a:buClrTx/>
              <a:buSzTx/>
              <a:buFontTx/>
              <a:buNone/>
              <a:defRPr/>
            </a:pPr>
            <a:r>
              <a:rPr kumimoji="0" lang="en-US" altLang="zh-CN"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3.1  </a:t>
            </a:r>
            <a:r>
              <a:rPr kumimoji="0" lang="zh-CN" altLang="en-US"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线性系统时间响应的性能指标</a:t>
            </a:r>
          </a:p>
          <a:p>
            <a:pPr marR="0" defTabSz="914400">
              <a:buClrTx/>
              <a:buSzTx/>
              <a:buFontTx/>
              <a:buNone/>
              <a:defRPr/>
            </a:pPr>
            <a:r>
              <a:rPr kumimoji="0" lang="en-US" altLang="zh-CN"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3.2  </a:t>
            </a:r>
            <a:r>
              <a:rPr kumimoji="0" lang="zh-CN" altLang="en-US"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一阶系统的时域响应</a:t>
            </a:r>
          </a:p>
          <a:p>
            <a:pPr marR="0" defTabSz="914400">
              <a:buClrTx/>
              <a:buSzTx/>
              <a:buFontTx/>
              <a:buNone/>
              <a:defRPr/>
            </a:pPr>
            <a:r>
              <a:rPr kumimoji="0" lang="en-US" altLang="zh-CN"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3.3  </a:t>
            </a:r>
            <a:r>
              <a:rPr kumimoji="0" lang="zh-CN" altLang="en-US"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二阶系统的时域响应</a:t>
            </a:r>
          </a:p>
          <a:p>
            <a:pPr marR="0" defTabSz="914400">
              <a:buClrTx/>
              <a:buSzTx/>
              <a:buFontTx/>
              <a:buNone/>
              <a:defRPr/>
            </a:pPr>
            <a:r>
              <a:rPr kumimoji="0" lang="en-US" altLang="zh-CN"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3.4  </a:t>
            </a:r>
            <a:r>
              <a:rPr kumimoji="0" lang="zh-CN" altLang="en-US"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稳定性分析</a:t>
            </a:r>
          </a:p>
          <a:p>
            <a:pPr marR="0" defTabSz="914400">
              <a:buClrTx/>
              <a:buSzTx/>
              <a:buFontTx/>
              <a:buNone/>
              <a:defRPr/>
            </a:pPr>
            <a:r>
              <a:rPr kumimoji="0" lang="en-US" altLang="zh-CN"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3.5  </a:t>
            </a:r>
            <a:r>
              <a:rPr kumimoji="0" lang="zh-CN" altLang="en-US" sz="3200" b="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稳态误差计算</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887"/>
                                        </p:tgtEl>
                                        <p:attrNameLst>
                                          <p:attrName>style.visibility</p:attrName>
                                        </p:attrNameLst>
                                      </p:cBhvr>
                                      <p:to>
                                        <p:strVal val="visible"/>
                                      </p:to>
                                    </p:set>
                                    <p:anim calcmode="lin" valueType="num">
                                      <p:cBhvr additive="base">
                                        <p:cTn id="7" dur="500" fill="hold"/>
                                        <p:tgtEl>
                                          <p:spTgt spid="1146887"/>
                                        </p:tgtEl>
                                        <p:attrNameLst>
                                          <p:attrName>ppt_x</p:attrName>
                                        </p:attrNameLst>
                                      </p:cBhvr>
                                      <p:tavLst>
                                        <p:tav tm="0">
                                          <p:val>
                                            <p:strVal val="0-#ppt_w/2"/>
                                          </p:val>
                                        </p:tav>
                                        <p:tav tm="100000">
                                          <p:val>
                                            <p:strVal val="#ppt_x"/>
                                          </p:val>
                                        </p:tav>
                                      </p:tavLst>
                                    </p:anim>
                                    <p:anim calcmode="lin" valueType="num">
                                      <p:cBhvr additive="base">
                                        <p:cTn id="8" dur="500" fill="hold"/>
                                        <p:tgtEl>
                                          <p:spTgt spid="11468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46888">
                                            <p:txEl>
                                              <p:pRg st="0" end="0"/>
                                            </p:txEl>
                                          </p:spTgt>
                                        </p:tgtEl>
                                        <p:attrNameLst>
                                          <p:attrName>style.visibility</p:attrName>
                                        </p:attrNameLst>
                                      </p:cBhvr>
                                      <p:to>
                                        <p:strVal val="visible"/>
                                      </p:to>
                                    </p:set>
                                    <p:animEffect transition="in" filter="dissolve">
                                      <p:cBhvr>
                                        <p:cTn id="13" dur="500"/>
                                        <p:tgtEl>
                                          <p:spTgt spid="114688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46888">
                                            <p:txEl>
                                              <p:pRg st="1" end="1"/>
                                            </p:txEl>
                                          </p:spTgt>
                                        </p:tgtEl>
                                        <p:attrNameLst>
                                          <p:attrName>style.visibility</p:attrName>
                                        </p:attrNameLst>
                                      </p:cBhvr>
                                      <p:to>
                                        <p:strVal val="visible"/>
                                      </p:to>
                                    </p:set>
                                    <p:animEffect transition="in" filter="dissolve">
                                      <p:cBhvr>
                                        <p:cTn id="18" dur="500"/>
                                        <p:tgtEl>
                                          <p:spTgt spid="114688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46888">
                                            <p:txEl>
                                              <p:pRg st="2" end="2"/>
                                            </p:txEl>
                                          </p:spTgt>
                                        </p:tgtEl>
                                        <p:attrNameLst>
                                          <p:attrName>style.visibility</p:attrName>
                                        </p:attrNameLst>
                                      </p:cBhvr>
                                      <p:to>
                                        <p:strVal val="visible"/>
                                      </p:to>
                                    </p:set>
                                    <p:animEffect transition="in" filter="dissolve">
                                      <p:cBhvr>
                                        <p:cTn id="23" dur="500"/>
                                        <p:tgtEl>
                                          <p:spTgt spid="114688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146888">
                                            <p:txEl>
                                              <p:pRg st="3" end="3"/>
                                            </p:txEl>
                                          </p:spTgt>
                                        </p:tgtEl>
                                        <p:attrNameLst>
                                          <p:attrName>style.visibility</p:attrName>
                                        </p:attrNameLst>
                                      </p:cBhvr>
                                      <p:to>
                                        <p:strVal val="visible"/>
                                      </p:to>
                                    </p:set>
                                    <p:animEffect transition="in" filter="dissolve">
                                      <p:cBhvr>
                                        <p:cTn id="28" dur="500"/>
                                        <p:tgtEl>
                                          <p:spTgt spid="1146888">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146888">
                                            <p:txEl>
                                              <p:pRg st="4" end="4"/>
                                            </p:txEl>
                                          </p:spTgt>
                                        </p:tgtEl>
                                        <p:attrNameLst>
                                          <p:attrName>style.visibility</p:attrName>
                                        </p:attrNameLst>
                                      </p:cBhvr>
                                      <p:to>
                                        <p:strVal val="visible"/>
                                      </p:to>
                                    </p:set>
                                    <p:animEffect transition="in" filter="dissolve">
                                      <p:cBhvr>
                                        <p:cTn id="33" dur="500"/>
                                        <p:tgtEl>
                                          <p:spTgt spid="114688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887" grpId="0"/>
      <p:bldP spid="114688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 </a:t>
            </a:r>
          </a:p>
        </p:txBody>
      </p:sp>
      <p:sp>
        <p:nvSpPr>
          <p:cNvPr id="2" name="内容占位符 1"/>
          <p:cNvSpPr>
            <a:spLocks noGrp="1"/>
          </p:cNvSpPr>
          <p:nvPr>
            <p:ph idx="1"/>
          </p:nvPr>
        </p:nvSpPr>
        <p:spPr/>
        <p:txBody>
          <a:bodyPr/>
          <a:lstStyle/>
          <a:p>
            <a:pPr marL="0" indent="0">
              <a:buNone/>
            </a:pPr>
            <a:r>
              <a:rPr lang="en-US" altLang="zh-CN"/>
              <a:t> </a:t>
            </a:r>
          </a:p>
        </p:txBody>
      </p:sp>
      <p:pic>
        <p:nvPicPr>
          <p:cNvPr id="12" name="图片 11" descr="QQ截图20211114130328"/>
          <p:cNvPicPr>
            <a:picLocks noChangeAspect="1"/>
          </p:cNvPicPr>
          <p:nvPr/>
        </p:nvPicPr>
        <p:blipFill>
          <a:blip r:embed="rId2"/>
          <a:stretch>
            <a:fillRect/>
          </a:stretch>
        </p:blipFill>
        <p:spPr>
          <a:xfrm>
            <a:off x="0" y="1484784"/>
            <a:ext cx="9080016" cy="5373216"/>
          </a:xfrm>
          <a:prstGeom prst="rect">
            <a:avLst/>
          </a:prstGeom>
        </p:spPr>
      </p:pic>
    </p:spTree>
  </p:cSld>
  <p:clrMapOvr>
    <a:masterClrMapping/>
  </p:clrMapOvr>
  <p:transition spd="slow">
    <p:pull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41" name="矩形 1426440"/>
          <p:cNvSpPr/>
          <p:nvPr/>
        </p:nvSpPr>
        <p:spPr>
          <a:xfrm>
            <a:off x="-173905" y="3919474"/>
            <a:ext cx="3233737" cy="803810"/>
          </a:xfrm>
          <a:prstGeom prst="rect">
            <a:avLst/>
          </a:prstGeom>
          <a:noFill/>
          <a:ln w="9525">
            <a:noFill/>
          </a:ln>
        </p:spPr>
        <p:txBody>
          <a:bodyPr wrap="square">
            <a:spAutoFit/>
          </a:bodyPr>
          <a:lstStyle/>
          <a:p>
            <a:pPr algn="ctr">
              <a:lnSpc>
                <a:spcPct val="130000"/>
              </a:lnSpc>
              <a:spcBef>
                <a:spcPct val="20000"/>
              </a:spcBef>
              <a:buClr>
                <a:schemeClr val="tx2"/>
              </a:buClr>
              <a:buSzPct val="90000"/>
              <a:buFont typeface="Symbol" panose="05050102010706020507" pitchFamily="18" charset="2"/>
            </a:pPr>
            <a:r>
              <a:rPr lang="en-US" altLang="zh-CN" sz="2800" dirty="0">
                <a:solidFill>
                  <a:schemeClr val="tx1"/>
                </a:solidFill>
                <a:latin typeface="Times New Roman" panose="02020603050405020304" pitchFamily="18" charset="0"/>
              </a:rPr>
              <a:t>   </a:t>
            </a:r>
            <a:r>
              <a:rPr lang="zh-CN" altLang="en-US" dirty="0">
                <a:solidFill>
                  <a:schemeClr val="tx1"/>
                </a:solidFill>
              </a:rPr>
              <a:t>非线性系统：</a:t>
            </a:r>
          </a:p>
        </p:txBody>
      </p:sp>
      <p:sp>
        <p:nvSpPr>
          <p:cNvPr id="1426442" name="矩形 1426441"/>
          <p:cNvSpPr/>
          <p:nvPr/>
        </p:nvSpPr>
        <p:spPr>
          <a:xfrm>
            <a:off x="0" y="5574184"/>
            <a:ext cx="3787775" cy="519112"/>
          </a:xfrm>
          <a:prstGeom prst="rect">
            <a:avLst/>
          </a:prstGeom>
          <a:noFill/>
          <a:ln w="9525">
            <a:noFill/>
          </a:ln>
        </p:spPr>
        <p:txBody>
          <a:bodyPr>
            <a:spAutoFit/>
          </a:bodyPr>
          <a:lstStyle/>
          <a:p>
            <a:pPr algn="ctr">
              <a:spcBef>
                <a:spcPct val="0"/>
              </a:spcBef>
            </a:pP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多输入多输出系统：</a:t>
            </a:r>
            <a:endParaRPr lang="zh-CN" altLang="en-US" sz="2800" dirty="0">
              <a:solidFill>
                <a:schemeClr val="tx1"/>
              </a:solidFill>
              <a:latin typeface="Times New Roman" panose="02020603050405020304" pitchFamily="18" charset="0"/>
              <a:ea typeface="楷体_GB2312" pitchFamily="49" charset="-122"/>
            </a:endParaRPr>
          </a:p>
        </p:txBody>
      </p:sp>
      <p:sp>
        <p:nvSpPr>
          <p:cNvPr id="1426443" name="矩形 1426442"/>
          <p:cNvSpPr/>
          <p:nvPr/>
        </p:nvSpPr>
        <p:spPr>
          <a:xfrm>
            <a:off x="3241675" y="4060502"/>
            <a:ext cx="2660650" cy="579437"/>
          </a:xfrm>
          <a:prstGeom prst="rect">
            <a:avLst/>
          </a:prstGeom>
          <a:noFill/>
          <a:ln w="9525">
            <a:noFill/>
          </a:ln>
        </p:spPr>
        <p:txBody>
          <a:bodyPr>
            <a:spAutoFit/>
          </a:bodyPr>
          <a:lstStyle/>
          <a:p>
            <a:pPr algn="ctr">
              <a:spcBef>
                <a:spcPct val="0"/>
              </a:spcBef>
            </a:pPr>
            <a:r>
              <a:rPr lang="zh-CN" altLang="en-US" sz="3200" dirty="0">
                <a:solidFill>
                  <a:schemeClr val="tx1"/>
                </a:solidFill>
                <a:latin typeface="Times New Roman" panose="02020603050405020304" pitchFamily="18" charset="0"/>
                <a:ea typeface="华文新魏" panose="02010800040101010101" pitchFamily="2" charset="-122"/>
              </a:rPr>
              <a:t>描述函数法</a:t>
            </a:r>
            <a:endParaRPr lang="zh-CN" altLang="en-US" sz="3200" dirty="0">
              <a:solidFill>
                <a:schemeClr val="tx1"/>
              </a:solidFill>
              <a:latin typeface="Times New Roman" panose="02020603050405020304" pitchFamily="18" charset="0"/>
              <a:ea typeface="楷体_GB2312" pitchFamily="49" charset="-122"/>
            </a:endParaRPr>
          </a:p>
        </p:txBody>
      </p:sp>
      <p:sp>
        <p:nvSpPr>
          <p:cNvPr id="1426444" name="矩形 1426443"/>
          <p:cNvSpPr/>
          <p:nvPr/>
        </p:nvSpPr>
        <p:spPr>
          <a:xfrm>
            <a:off x="6156176" y="4085195"/>
            <a:ext cx="1835150" cy="579437"/>
          </a:xfrm>
          <a:prstGeom prst="rect">
            <a:avLst/>
          </a:prstGeom>
          <a:noFill/>
          <a:ln w="9525">
            <a:noFill/>
          </a:ln>
        </p:spPr>
        <p:txBody>
          <a:bodyPr>
            <a:spAutoFit/>
          </a:bodyPr>
          <a:lstStyle/>
          <a:p>
            <a:pPr algn="ctr">
              <a:spcBef>
                <a:spcPct val="0"/>
              </a:spcBef>
            </a:pPr>
            <a:r>
              <a:rPr lang="zh-CN" altLang="en-US" sz="3200" dirty="0">
                <a:solidFill>
                  <a:schemeClr val="tx1"/>
                </a:solidFill>
                <a:latin typeface="Times New Roman" panose="02020603050405020304" pitchFamily="18" charset="0"/>
                <a:ea typeface="华文新魏" panose="02010800040101010101" pitchFamily="2" charset="-122"/>
              </a:rPr>
              <a:t>相平面法</a:t>
            </a:r>
          </a:p>
        </p:txBody>
      </p:sp>
      <p:sp>
        <p:nvSpPr>
          <p:cNvPr id="1426445" name="矩形 1426444"/>
          <p:cNvSpPr/>
          <p:nvPr/>
        </p:nvSpPr>
        <p:spPr>
          <a:xfrm>
            <a:off x="9525" y="4796309"/>
            <a:ext cx="2343150" cy="647700"/>
          </a:xfrm>
          <a:prstGeom prst="rect">
            <a:avLst/>
          </a:prstGeom>
          <a:noFill/>
          <a:ln w="9525">
            <a:noFill/>
          </a:ln>
        </p:spPr>
        <p:txBody>
          <a:bodyPr>
            <a:spAutoFit/>
          </a:bodyPr>
          <a:lstStyle/>
          <a:p>
            <a:pPr algn="ctr">
              <a:lnSpc>
                <a:spcPct val="130000"/>
              </a:lnSpc>
              <a:spcBef>
                <a:spcPct val="20000"/>
              </a:spcBef>
              <a:buClr>
                <a:schemeClr val="tx2"/>
              </a:buClr>
              <a:buSzPct val="90000"/>
              <a:buFont typeface="Symbol" panose="05050102010706020507" pitchFamily="18" charset="2"/>
            </a:pP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采样系统：</a:t>
            </a:r>
            <a:endParaRPr lang="zh-CN" altLang="en-US" sz="2800" dirty="0">
              <a:solidFill>
                <a:schemeClr val="tx1"/>
              </a:solidFill>
              <a:latin typeface="楷体_GB2312" pitchFamily="49" charset="-122"/>
              <a:ea typeface="楷体_GB2312" pitchFamily="49" charset="-122"/>
            </a:endParaRPr>
          </a:p>
        </p:txBody>
      </p:sp>
      <p:sp>
        <p:nvSpPr>
          <p:cNvPr id="1426446" name="矩形 1426445"/>
          <p:cNvSpPr/>
          <p:nvPr/>
        </p:nvSpPr>
        <p:spPr>
          <a:xfrm>
            <a:off x="2320171" y="4898080"/>
            <a:ext cx="2306637" cy="519113"/>
          </a:xfrm>
          <a:prstGeom prst="rect">
            <a:avLst/>
          </a:prstGeom>
          <a:noFill/>
          <a:ln w="9525">
            <a:noFill/>
          </a:ln>
        </p:spPr>
        <p:txBody>
          <a:bodyPr>
            <a:spAutoFit/>
          </a:bodyPr>
          <a:lstStyle/>
          <a:p>
            <a:pPr algn="ctr">
              <a:spcBef>
                <a:spcPct val="0"/>
              </a:spcBef>
            </a:pPr>
            <a:r>
              <a:rPr lang="en-US" altLang="zh-CN" sz="2800" i="1" dirty="0">
                <a:solidFill>
                  <a:schemeClr val="tx1"/>
                </a:solidFill>
                <a:latin typeface="幼圆" panose="02010509060101010101" pitchFamily="49" charset="-122"/>
                <a:ea typeface="幼圆" panose="02010509060101010101" pitchFamily="49" charset="-122"/>
              </a:rPr>
              <a:t>Z </a:t>
            </a:r>
            <a:r>
              <a:rPr lang="zh-CN" altLang="en-US" sz="2800" dirty="0">
                <a:solidFill>
                  <a:schemeClr val="tx1"/>
                </a:solidFill>
                <a:latin typeface="幼圆" panose="02010509060101010101" pitchFamily="49" charset="-122"/>
                <a:ea typeface="幼圆" panose="02010509060101010101" pitchFamily="49" charset="-122"/>
              </a:rPr>
              <a:t>变换法</a:t>
            </a:r>
          </a:p>
        </p:txBody>
      </p:sp>
      <p:sp>
        <p:nvSpPr>
          <p:cNvPr id="1426447" name="矩形 1426446"/>
          <p:cNvSpPr/>
          <p:nvPr/>
        </p:nvSpPr>
        <p:spPr>
          <a:xfrm>
            <a:off x="3744913" y="5501159"/>
            <a:ext cx="2247900" cy="579437"/>
          </a:xfrm>
          <a:prstGeom prst="rect">
            <a:avLst/>
          </a:prstGeom>
          <a:noFill/>
          <a:ln w="9525">
            <a:noFill/>
          </a:ln>
        </p:spPr>
        <p:txBody>
          <a:bodyPr>
            <a:spAutoFit/>
          </a:bodyPr>
          <a:lstStyle/>
          <a:p>
            <a:pPr algn="ctr">
              <a:spcBef>
                <a:spcPct val="0"/>
              </a:spcBef>
            </a:pPr>
            <a:r>
              <a:rPr lang="zh-CN" altLang="en-US" sz="3200" dirty="0">
                <a:solidFill>
                  <a:schemeClr val="tx1"/>
                </a:solidFill>
                <a:latin typeface="Times New Roman" panose="02020603050405020304" pitchFamily="18" charset="0"/>
                <a:ea typeface="楷体_GB2312" pitchFamily="49" charset="-122"/>
              </a:rPr>
              <a:t>状态空间法</a:t>
            </a:r>
          </a:p>
        </p:txBody>
      </p:sp>
      <p:sp>
        <p:nvSpPr>
          <p:cNvPr id="14" name="Freeform 56">
            <a:extLst>
              <a:ext uri="{FF2B5EF4-FFF2-40B4-BE49-F238E27FC236}">
                <a16:creationId xmlns:a16="http://schemas.microsoft.com/office/drawing/2014/main" id="{5C6DBBC0-8DA4-4DC2-ACA5-0CD55B60C821}"/>
              </a:ext>
            </a:extLst>
          </p:cNvPr>
          <p:cNvSpPr>
            <a:spLocks/>
          </p:cNvSpPr>
          <p:nvPr/>
        </p:nvSpPr>
        <p:spPr bwMode="auto">
          <a:xfrm>
            <a:off x="935088" y="3843"/>
            <a:ext cx="8208912" cy="231870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sp>
        <p:nvSpPr>
          <p:cNvPr id="16" name="文本框 15">
            <a:extLst>
              <a:ext uri="{FF2B5EF4-FFF2-40B4-BE49-F238E27FC236}">
                <a16:creationId xmlns:a16="http://schemas.microsoft.com/office/drawing/2014/main" id="{671FB34A-5246-45DD-B436-11CF078C3AD9}"/>
              </a:ext>
            </a:extLst>
          </p:cNvPr>
          <p:cNvSpPr txBox="1"/>
          <p:nvPr/>
        </p:nvSpPr>
        <p:spPr>
          <a:xfrm>
            <a:off x="1043101" y="192257"/>
            <a:ext cx="7992886" cy="1941878"/>
          </a:xfrm>
          <a:prstGeom prst="rect">
            <a:avLst/>
          </a:prstGeom>
          <a:noFill/>
        </p:spPr>
        <p:txBody>
          <a:bodyPr wrap="square">
            <a:spAutoFit/>
          </a:bodyPr>
          <a:lstStyle/>
          <a:p>
            <a:pPr marL="342900" indent="-342900">
              <a:lnSpc>
                <a:spcPct val="130000"/>
              </a:lnSpc>
              <a:spcBef>
                <a:spcPct val="20000"/>
              </a:spcBef>
              <a:buClr>
                <a:schemeClr val="folHlink"/>
              </a:buClr>
            </a:pPr>
            <a:r>
              <a:rPr lang="zh-CN" altLang="en-US" sz="3200" dirty="0">
                <a:solidFill>
                  <a:schemeClr val="tx1"/>
                </a:solidFill>
              </a:rPr>
              <a:t>分</a:t>
            </a:r>
            <a:r>
              <a:rPr lang="zh-CN" altLang="en-US" sz="3200" dirty="0">
                <a:solidFill>
                  <a:schemeClr val="tx1"/>
                </a:solidFill>
                <a:latin typeface="Arial" panose="020B0604020202020204" pitchFamily="34" charset="0"/>
              </a:rPr>
              <a:t>析和设计控制系统的首要工作是确定系统的数模，一旦获得系统的数学模型，就可以采用几种不同的方法去分析系统的性能</a:t>
            </a:r>
          </a:p>
        </p:txBody>
      </p:sp>
      <p:sp>
        <p:nvSpPr>
          <p:cNvPr id="18" name="文本框 17">
            <a:extLst>
              <a:ext uri="{FF2B5EF4-FFF2-40B4-BE49-F238E27FC236}">
                <a16:creationId xmlns:a16="http://schemas.microsoft.com/office/drawing/2014/main" id="{D24FDA37-7B56-40CB-9147-A9129EBC2627}"/>
              </a:ext>
            </a:extLst>
          </p:cNvPr>
          <p:cNvSpPr txBox="1"/>
          <p:nvPr/>
        </p:nvSpPr>
        <p:spPr>
          <a:xfrm>
            <a:off x="-57290" y="2207160"/>
            <a:ext cx="2829091" cy="803810"/>
          </a:xfrm>
          <a:prstGeom prst="rect">
            <a:avLst/>
          </a:prstGeom>
          <a:noFill/>
        </p:spPr>
        <p:txBody>
          <a:bodyPr wrap="square">
            <a:spAutoFit/>
          </a:bodyPr>
          <a:lstStyle/>
          <a:p>
            <a:pPr marL="342900" indent="-342900">
              <a:lnSpc>
                <a:spcPct val="130000"/>
              </a:lnSpc>
              <a:spcBef>
                <a:spcPct val="20000"/>
              </a:spcBef>
              <a:buClr>
                <a:schemeClr val="folHlink"/>
              </a:buClr>
            </a:pPr>
            <a:r>
              <a:rPr lang="zh-CN" altLang="en-US" sz="4000" dirty="0">
                <a:solidFill>
                  <a:schemeClr val="tx1"/>
                </a:solidFill>
                <a:latin typeface="Arial" panose="020B0604020202020204" pitchFamily="34" charset="0"/>
              </a:rPr>
              <a:t>线性系统：</a:t>
            </a:r>
          </a:p>
        </p:txBody>
      </p:sp>
      <p:grpSp>
        <p:nvGrpSpPr>
          <p:cNvPr id="2" name="组合 1">
            <a:extLst>
              <a:ext uri="{FF2B5EF4-FFF2-40B4-BE49-F238E27FC236}">
                <a16:creationId xmlns:a16="http://schemas.microsoft.com/office/drawing/2014/main" id="{E33E8155-6FBB-44EF-BCF6-BFD2DC5A866A}"/>
              </a:ext>
            </a:extLst>
          </p:cNvPr>
          <p:cNvGrpSpPr/>
          <p:nvPr/>
        </p:nvGrpSpPr>
        <p:grpSpPr>
          <a:xfrm>
            <a:off x="539552" y="3149537"/>
            <a:ext cx="2520280" cy="619749"/>
            <a:chOff x="539552" y="3149537"/>
            <a:chExt cx="2520280" cy="619749"/>
          </a:xfrm>
        </p:grpSpPr>
        <p:sp>
          <p:nvSpPr>
            <p:cNvPr id="1426438" name="文本框 1426437"/>
            <p:cNvSpPr txBox="1"/>
            <p:nvPr/>
          </p:nvSpPr>
          <p:spPr>
            <a:xfrm>
              <a:off x="539552" y="3163312"/>
              <a:ext cx="2520280" cy="605974"/>
            </a:xfrm>
            <a:prstGeom prst="rect">
              <a:avLst/>
            </a:prstGeom>
            <a:noFill/>
            <a:ln w="9525">
              <a:noFill/>
            </a:ln>
          </p:spPr>
          <p:txBody>
            <a:bodyPr wrap="square">
              <a:spAutoFit/>
            </a:bodyPr>
            <a:lstStyle/>
            <a:p>
              <a:r>
                <a:rPr lang="zh-CN" altLang="en-US" sz="3200" dirty="0">
                  <a:solidFill>
                    <a:srgbClr val="C00000"/>
                  </a:solidFill>
                  <a:latin typeface="Times New Roman" panose="02020603050405020304" pitchFamily="18" charset="0"/>
                  <a:ea typeface="楷体_GB2312" pitchFamily="49" charset="-122"/>
                </a:rPr>
                <a:t>时域分析法</a:t>
              </a:r>
            </a:p>
          </p:txBody>
        </p:sp>
        <p:sp>
          <p:nvSpPr>
            <p:cNvPr id="20" name="对角圆角矩形 6">
              <a:extLst>
                <a:ext uri="{FF2B5EF4-FFF2-40B4-BE49-F238E27FC236}">
                  <a16:creationId xmlns:a16="http://schemas.microsoft.com/office/drawing/2014/main" id="{75D4DAAC-F509-4364-A854-D96D83E28E09}"/>
                </a:ext>
              </a:extLst>
            </p:cNvPr>
            <p:cNvSpPr/>
            <p:nvPr/>
          </p:nvSpPr>
          <p:spPr>
            <a:xfrm>
              <a:off x="539553" y="3149537"/>
              <a:ext cx="2232248" cy="579438"/>
            </a:xfrm>
            <a:prstGeom prst="round2Diag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E1F97DA8-D156-44D2-BADE-3EF4F2172660}"/>
              </a:ext>
            </a:extLst>
          </p:cNvPr>
          <p:cNvGrpSpPr/>
          <p:nvPr/>
        </p:nvGrpSpPr>
        <p:grpSpPr>
          <a:xfrm>
            <a:off x="6588224" y="3163312"/>
            <a:ext cx="2232248" cy="605974"/>
            <a:chOff x="6588224" y="3163312"/>
            <a:chExt cx="2232248" cy="605974"/>
          </a:xfrm>
        </p:grpSpPr>
        <p:sp>
          <p:nvSpPr>
            <p:cNvPr id="1426440" name="文本框 1426439"/>
            <p:cNvSpPr txBox="1"/>
            <p:nvPr/>
          </p:nvSpPr>
          <p:spPr>
            <a:xfrm>
              <a:off x="7006059" y="3163312"/>
              <a:ext cx="1598388" cy="605974"/>
            </a:xfrm>
            <a:prstGeom prst="rect">
              <a:avLst/>
            </a:prstGeom>
            <a:noFill/>
            <a:ln w="9525">
              <a:noFill/>
            </a:ln>
          </p:spPr>
          <p:txBody>
            <a:bodyPr wrap="square">
              <a:spAutoFit/>
            </a:bodyPr>
            <a:lstStyle/>
            <a:p>
              <a:r>
                <a:rPr lang="zh-CN" altLang="en-US" sz="3200" dirty="0">
                  <a:solidFill>
                    <a:srgbClr val="C00000"/>
                  </a:solidFill>
                  <a:latin typeface="Times New Roman" panose="02020603050405020304" pitchFamily="18" charset="0"/>
                  <a:ea typeface="楷体_GB2312" pitchFamily="49" charset="-122"/>
                </a:rPr>
                <a:t>频率法</a:t>
              </a:r>
            </a:p>
          </p:txBody>
        </p:sp>
        <p:sp>
          <p:nvSpPr>
            <p:cNvPr id="21" name="对角圆角矩形 6">
              <a:extLst>
                <a:ext uri="{FF2B5EF4-FFF2-40B4-BE49-F238E27FC236}">
                  <a16:creationId xmlns:a16="http://schemas.microsoft.com/office/drawing/2014/main" id="{D7233EC2-2538-4F57-8A1C-0A0BF5E1A2DF}"/>
                </a:ext>
              </a:extLst>
            </p:cNvPr>
            <p:cNvSpPr/>
            <p:nvPr/>
          </p:nvSpPr>
          <p:spPr>
            <a:xfrm>
              <a:off x="6588224" y="3176580"/>
              <a:ext cx="2232248" cy="579438"/>
            </a:xfrm>
            <a:prstGeom prst="round2Diag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F51200F8-BB7A-42A2-81E4-F3BA73574F3A}"/>
              </a:ext>
            </a:extLst>
          </p:cNvPr>
          <p:cNvGrpSpPr/>
          <p:nvPr/>
        </p:nvGrpSpPr>
        <p:grpSpPr>
          <a:xfrm>
            <a:off x="3513674" y="3139281"/>
            <a:ext cx="2232248" cy="584775"/>
            <a:chOff x="3513674" y="3139281"/>
            <a:chExt cx="2232248" cy="584775"/>
          </a:xfrm>
        </p:grpSpPr>
        <p:sp>
          <p:nvSpPr>
            <p:cNvPr id="1426439" name="文本框 1426438"/>
            <p:cNvSpPr txBox="1"/>
            <p:nvPr/>
          </p:nvSpPr>
          <p:spPr>
            <a:xfrm>
              <a:off x="3722115" y="3139281"/>
              <a:ext cx="2016819" cy="584775"/>
            </a:xfrm>
            <a:prstGeom prst="rect">
              <a:avLst/>
            </a:prstGeom>
            <a:noFill/>
            <a:ln w="9525">
              <a:noFill/>
            </a:ln>
          </p:spPr>
          <p:txBody>
            <a:bodyPr wrap="square">
              <a:spAutoFit/>
            </a:bodyPr>
            <a:lstStyle/>
            <a:p>
              <a:r>
                <a:rPr lang="zh-CN" altLang="en-US" sz="3200" dirty="0">
                  <a:solidFill>
                    <a:srgbClr val="C00000"/>
                  </a:solidFill>
                  <a:latin typeface="Times New Roman" panose="02020603050405020304" pitchFamily="18" charset="0"/>
                  <a:ea typeface="楷体_GB2312" pitchFamily="49" charset="-122"/>
                </a:rPr>
                <a:t>根轨迹法</a:t>
              </a:r>
              <a:endParaRPr lang="zh-CN" altLang="en-US" sz="3200" b="0" dirty="0">
                <a:solidFill>
                  <a:srgbClr val="C00000"/>
                </a:solidFill>
                <a:latin typeface="Times New Roman" panose="02020603050405020304" pitchFamily="18" charset="0"/>
                <a:ea typeface="楷体_GB2312" pitchFamily="49" charset="-122"/>
              </a:endParaRPr>
            </a:p>
          </p:txBody>
        </p:sp>
        <p:sp>
          <p:nvSpPr>
            <p:cNvPr id="22" name="对角圆角矩形 6">
              <a:extLst>
                <a:ext uri="{FF2B5EF4-FFF2-40B4-BE49-F238E27FC236}">
                  <a16:creationId xmlns:a16="http://schemas.microsoft.com/office/drawing/2014/main" id="{C76C9AB9-24F4-472B-9345-967D0503CACD}"/>
                </a:ext>
              </a:extLst>
            </p:cNvPr>
            <p:cNvSpPr/>
            <p:nvPr/>
          </p:nvSpPr>
          <p:spPr>
            <a:xfrm>
              <a:off x="3513674" y="3139281"/>
              <a:ext cx="2232248" cy="579438"/>
            </a:xfrm>
            <a:prstGeom prst="round2Diag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circle(in)">
                                      <p:cBhvr>
                                        <p:cTn id="10" dur="20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circle(in)">
                                      <p:cBhvr>
                                        <p:cTn id="15" dur="20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dissolv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426441"/>
                                        </p:tgtEl>
                                        <p:attrNameLst>
                                          <p:attrName>style.visibility</p:attrName>
                                        </p:attrNameLst>
                                      </p:cBhvr>
                                      <p:to>
                                        <p:strVal val="visible"/>
                                      </p:to>
                                    </p:set>
                                    <p:animEffect transition="in" filter="dissolve">
                                      <p:cBhvr>
                                        <p:cTn id="35" dur="500"/>
                                        <p:tgtEl>
                                          <p:spTgt spid="1426441"/>
                                        </p:tgtEl>
                                      </p:cBhvr>
                                    </p:animEffect>
                                  </p:childTnLst>
                                  <p:subTnLst>
                                    <p:animClr clrSpc="rgb" dir="cw">
                                      <p:cBhvr override="childStyle">
                                        <p:cTn dur="1" fill="hold" display="0" masterRel="nextClick" afterEffect="1"/>
                                        <p:tgtEl>
                                          <p:spTgt spid="1426441"/>
                                        </p:tgtEl>
                                        <p:attrNameLst>
                                          <p:attrName>ppt_c</p:attrName>
                                        </p:attrNameLst>
                                      </p:cBhvr>
                                      <p:to>
                                        <a:srgbClr val="993300"/>
                                      </p:to>
                                    </p:animClr>
                                  </p:sub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26443"/>
                                        </p:tgtEl>
                                        <p:attrNameLst>
                                          <p:attrName>style.visibility</p:attrName>
                                        </p:attrNameLst>
                                      </p:cBhvr>
                                      <p:to>
                                        <p:strVal val="visible"/>
                                      </p:to>
                                    </p:set>
                                    <p:animEffect transition="in" filter="dissolve">
                                      <p:cBhvr>
                                        <p:cTn id="40" dur="500"/>
                                        <p:tgtEl>
                                          <p:spTgt spid="142644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426444"/>
                                        </p:tgtEl>
                                        <p:attrNameLst>
                                          <p:attrName>style.visibility</p:attrName>
                                        </p:attrNameLst>
                                      </p:cBhvr>
                                      <p:to>
                                        <p:strVal val="visible"/>
                                      </p:to>
                                    </p:set>
                                    <p:animEffect transition="in" filter="dissolve">
                                      <p:cBhvr>
                                        <p:cTn id="45" dur="500"/>
                                        <p:tgtEl>
                                          <p:spTgt spid="1426444"/>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426445"/>
                                        </p:tgtEl>
                                        <p:attrNameLst>
                                          <p:attrName>style.visibility</p:attrName>
                                        </p:attrNameLst>
                                      </p:cBhvr>
                                      <p:to>
                                        <p:strVal val="visible"/>
                                      </p:to>
                                    </p:set>
                                    <p:animEffect transition="in" filter="dissolve">
                                      <p:cBhvr>
                                        <p:cTn id="50" dur="500"/>
                                        <p:tgtEl>
                                          <p:spTgt spid="1426445"/>
                                        </p:tgtEl>
                                      </p:cBhvr>
                                    </p:animEffect>
                                  </p:childTnLst>
                                  <p:subTnLst>
                                    <p:animClr clrSpc="rgb" dir="cw">
                                      <p:cBhvr override="childStyle">
                                        <p:cTn dur="1" fill="hold" display="0" masterRel="nextClick" afterEffect="1"/>
                                        <p:tgtEl>
                                          <p:spTgt spid="1426445"/>
                                        </p:tgtEl>
                                        <p:attrNameLst>
                                          <p:attrName>ppt_c</p:attrName>
                                        </p:attrNameLst>
                                      </p:cBhvr>
                                      <p:to>
                                        <a:srgbClr val="993300"/>
                                      </p:to>
                                    </p:animClr>
                                  </p:sub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426446"/>
                                        </p:tgtEl>
                                        <p:attrNameLst>
                                          <p:attrName>style.visibility</p:attrName>
                                        </p:attrNameLst>
                                      </p:cBhvr>
                                      <p:to>
                                        <p:strVal val="visible"/>
                                      </p:to>
                                    </p:set>
                                    <p:animEffect transition="in" filter="dissolve">
                                      <p:cBhvr>
                                        <p:cTn id="55" dur="500"/>
                                        <p:tgtEl>
                                          <p:spTgt spid="1426446"/>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426442"/>
                                        </p:tgtEl>
                                        <p:attrNameLst>
                                          <p:attrName>style.visibility</p:attrName>
                                        </p:attrNameLst>
                                      </p:cBhvr>
                                      <p:to>
                                        <p:strVal val="visible"/>
                                      </p:to>
                                    </p:set>
                                    <p:animEffect transition="in" filter="dissolve">
                                      <p:cBhvr>
                                        <p:cTn id="60" dur="500"/>
                                        <p:tgtEl>
                                          <p:spTgt spid="1426442"/>
                                        </p:tgtEl>
                                      </p:cBhvr>
                                    </p:animEffect>
                                  </p:childTnLst>
                                  <p:subTnLst>
                                    <p:animClr clrSpc="rgb" dir="cw">
                                      <p:cBhvr override="childStyle">
                                        <p:cTn dur="1" fill="hold" display="0" masterRel="nextClick" afterEffect="1"/>
                                        <p:tgtEl>
                                          <p:spTgt spid="1426442"/>
                                        </p:tgtEl>
                                        <p:attrNameLst>
                                          <p:attrName>ppt_c</p:attrName>
                                        </p:attrNameLst>
                                      </p:cBhvr>
                                      <p:to>
                                        <a:srgbClr val="993300"/>
                                      </p:to>
                                    </p:animClr>
                                  </p:sub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426447"/>
                                        </p:tgtEl>
                                        <p:attrNameLst>
                                          <p:attrName>style.visibility</p:attrName>
                                        </p:attrNameLst>
                                      </p:cBhvr>
                                      <p:to>
                                        <p:strVal val="visible"/>
                                      </p:to>
                                    </p:set>
                                    <p:animEffect transition="in" filter="dissolve">
                                      <p:cBhvr>
                                        <p:cTn id="65" dur="500"/>
                                        <p:tgtEl>
                                          <p:spTgt spid="1426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41" grpId="0"/>
      <p:bldP spid="1426442" grpId="0"/>
      <p:bldP spid="1426443" grpId="0"/>
      <p:bldP spid="1426444" grpId="0"/>
      <p:bldP spid="1426445" grpId="0"/>
      <p:bldP spid="1426446" grpId="0"/>
      <p:bldP spid="1426447" grpId="0"/>
      <p:bldP spid="14" grpId="0" animBg="1"/>
      <p:bldP spid="16"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66FF99"/>
            </a:gs>
            <a:gs pos="50000">
              <a:srgbClr val="CCFFFF"/>
            </a:gs>
            <a:gs pos="100000">
              <a:srgbClr val="66FF99"/>
            </a:gs>
          </a:gsLst>
          <a:lin ang="5400000" scaled="1"/>
          <a:tileRect/>
        </a:gradFill>
        <a:effectLst/>
      </p:bgPr>
    </p:bg>
    <p:spTree>
      <p:nvGrpSpPr>
        <p:cNvPr id="1" name=""/>
        <p:cNvGrpSpPr/>
        <p:nvPr/>
      </p:nvGrpSpPr>
      <p:grpSpPr>
        <a:xfrm>
          <a:off x="0" y="0"/>
          <a:ext cx="0" cy="0"/>
          <a:chOff x="0" y="0"/>
          <a:chExt cx="0" cy="0"/>
        </a:xfrm>
      </p:grpSpPr>
      <p:sp>
        <p:nvSpPr>
          <p:cNvPr id="1316867" name="副标题 1316866"/>
          <p:cNvSpPr>
            <a:spLocks noGrp="1" noRot="1"/>
          </p:cNvSpPr>
          <p:nvPr>
            <p:ph type="subTitle" idx="4294967295"/>
          </p:nvPr>
        </p:nvSpPr>
        <p:spPr>
          <a:xfrm>
            <a:off x="971600" y="288401"/>
            <a:ext cx="6400800" cy="576262"/>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
                <a:schemeClr val="accent1"/>
              </a:buClr>
              <a:buSzPct val="100000"/>
              <a:buFont typeface="Symbol" panose="05050102010706020507" pitchFamily="18" charset="2"/>
              <a:buNone/>
              <a:defRPr/>
            </a:pP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mn-lt"/>
                <a:ea typeface="+mn-ea"/>
                <a:cs typeface="+mn-cs"/>
              </a:rPr>
              <a:t>§</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mn-lt"/>
                <a:ea typeface="+mn-ea"/>
                <a:cs typeface="+mn-cs"/>
              </a:rPr>
              <a:t>3-1  </a:t>
            </a:r>
            <a:r>
              <a:rPr kumimoji="0" lang="zh-CN" altLang="en-US" sz="2800" b="1" i="0" u="none" strike="noStrike" kern="1200" cap="none" spc="0" normalizeH="0" baseline="0" noProof="1">
                <a:ln>
                  <a:noFill/>
                </a:ln>
                <a:solidFill>
                  <a:srgbClr val="FF0000"/>
                </a:solidFill>
                <a:effectLst>
                  <a:outerShdw blurRad="38100" dist="38100" dir="2700000">
                    <a:srgbClr val="C0C0C0"/>
                  </a:outerShdw>
                </a:effectLst>
                <a:uLnTx/>
                <a:uFillTx/>
                <a:latin typeface="+mn-lt"/>
                <a:ea typeface="+mn-ea"/>
                <a:cs typeface="+mn-cs"/>
              </a:rPr>
              <a:t>线性系统时间响应的性能指标</a:t>
            </a:r>
            <a:r>
              <a:rPr kumimoji="0" lang="zh-CN" altLang="en-US" sz="2800" b="0" i="0" u="none" strike="noStrike" kern="1200" cap="none" spc="0" normalizeH="0" baseline="0" noProof="1">
                <a:ln>
                  <a:noFill/>
                </a:ln>
                <a:solidFill>
                  <a:srgbClr val="006600"/>
                </a:solidFill>
                <a:effectLst/>
                <a:uLnTx/>
                <a:uFillTx/>
                <a:latin typeface="+mn-lt"/>
                <a:ea typeface="+mn-ea"/>
                <a:cs typeface="+mn-cs"/>
              </a:rPr>
              <a:t> </a:t>
            </a:r>
          </a:p>
        </p:txBody>
      </p:sp>
      <p:graphicFrame>
        <p:nvGraphicFramePr>
          <p:cNvPr id="1316868" name="对象 1316867"/>
          <p:cNvGraphicFramePr/>
          <p:nvPr>
            <p:extLst>
              <p:ext uri="{D42A27DB-BD31-4B8C-83A1-F6EECF244321}">
                <p14:modId xmlns:p14="http://schemas.microsoft.com/office/powerpoint/2010/main" val="993019997"/>
              </p:ext>
            </p:extLst>
          </p:nvPr>
        </p:nvGraphicFramePr>
        <p:xfrm>
          <a:off x="116437" y="3476907"/>
          <a:ext cx="5806495" cy="2050220"/>
        </p:xfrm>
        <a:graphic>
          <a:graphicData uri="http://schemas.openxmlformats.org/presentationml/2006/ole">
            <mc:AlternateContent xmlns:mc="http://schemas.openxmlformats.org/markup-compatibility/2006">
              <mc:Choice xmlns:v="urn:schemas-microsoft-com:vml" Requires="v">
                <p:oleObj spid="_x0000_s3085" r:id="rId3" imgW="3136900" imgH="1358900" progId="Equation.3">
                  <p:embed/>
                </p:oleObj>
              </mc:Choice>
              <mc:Fallback>
                <p:oleObj r:id="rId3" imgW="3136900" imgH="1358900" progId="Equation.3">
                  <p:embed/>
                  <p:pic>
                    <p:nvPicPr>
                      <p:cNvPr id="0" name="图片 3075"/>
                      <p:cNvPicPr/>
                      <p:nvPr/>
                    </p:nvPicPr>
                    <p:blipFill>
                      <a:blip r:embed="rId4"/>
                      <a:stretch>
                        <a:fillRect/>
                      </a:stretch>
                    </p:blipFill>
                    <p:spPr>
                      <a:xfrm>
                        <a:off x="116437" y="3476907"/>
                        <a:ext cx="5806495" cy="2050220"/>
                      </a:xfrm>
                      <a:prstGeom prst="rect">
                        <a:avLst/>
                      </a:prstGeom>
                      <a:noFill/>
                      <a:ln w="38100">
                        <a:noFill/>
                        <a:miter/>
                      </a:ln>
                    </p:spPr>
                  </p:pic>
                </p:oleObj>
              </mc:Fallback>
            </mc:AlternateContent>
          </a:graphicData>
        </a:graphic>
      </p:graphicFrame>
      <p:sp>
        <p:nvSpPr>
          <p:cNvPr id="1316870" name="文本框 1316869"/>
          <p:cNvSpPr txBox="1"/>
          <p:nvPr/>
        </p:nvSpPr>
        <p:spPr>
          <a:xfrm>
            <a:off x="-22695" y="2857689"/>
            <a:ext cx="3384550" cy="519113"/>
          </a:xfrm>
          <a:prstGeom prst="rect">
            <a:avLst/>
          </a:prstGeom>
          <a:noFill/>
          <a:ln w="9525">
            <a:noFill/>
          </a:ln>
        </p:spPr>
        <p:txBody>
          <a:bodyPr>
            <a:spAutoFit/>
          </a:bodyPr>
          <a:lstStyle/>
          <a:p>
            <a:pPr marR="0" defTabSz="914400">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3.1.1</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典型输入信号</a:t>
            </a:r>
          </a:p>
        </p:txBody>
      </p:sp>
      <p:sp>
        <p:nvSpPr>
          <p:cNvPr id="1316872" name="文本框 1316871"/>
          <p:cNvSpPr txBox="1"/>
          <p:nvPr/>
        </p:nvSpPr>
        <p:spPr>
          <a:xfrm>
            <a:off x="-99719" y="1347949"/>
            <a:ext cx="5161795" cy="1569660"/>
          </a:xfrm>
          <a:prstGeom prst="rect">
            <a:avLst/>
          </a:prstGeom>
          <a:noFill/>
          <a:ln w="9525">
            <a:noFill/>
          </a:ln>
        </p:spPr>
        <p:txBody>
          <a:bodyPr wrap="square">
            <a:spAutoFit/>
          </a:bodyPr>
          <a:lstStyle/>
          <a:p>
            <a:pPr marR="0" defTabSz="914400">
              <a:spcBef>
                <a:spcPct val="0"/>
              </a:spcBef>
              <a:buClrTx/>
              <a:buSzTx/>
              <a:buFont typeface="Wingdings" panose="05000000000000000000" pitchFamily="2" charset="2"/>
              <a:buNone/>
              <a:defRPr/>
            </a:pPr>
            <a:r>
              <a:rPr kumimoji="0" lang="zh-CN" altLang="en-US" sz="2400" kern="1200" cap="none" spc="0" normalizeH="0" baseline="0" noProof="1">
                <a:solidFill>
                  <a:srgbClr val="FF0000"/>
                </a:solidFill>
                <a:latin typeface="Arial" panose="020B0604020202020204" pitchFamily="34" charset="0"/>
                <a:ea typeface="宋体" panose="02010600030101010101" pitchFamily="2" charset="-122"/>
                <a:cs typeface="+mn-cs"/>
              </a:rPr>
              <a:t>动态性能</a:t>
            </a:r>
            <a:r>
              <a:rPr kumimoji="0" lang="zh-CN" altLang="en-US" sz="2400" kern="1200" cap="none" spc="0" normalizeH="0" baseline="0" noProof="1">
                <a:solidFill>
                  <a:srgbClr val="000000"/>
                </a:solidFill>
                <a:latin typeface="Arial" panose="020B0604020202020204" pitchFamily="34" charset="0"/>
                <a:ea typeface="宋体" panose="02010600030101010101" pitchFamily="2" charset="-122"/>
                <a:cs typeface="+mn-cs"/>
              </a:rPr>
              <a:t>需要通过其对输入信号的响应过程来评价。因此在分析和设计控制系统时，需要一个对系统的性能进行比较的基准</a:t>
            </a:r>
            <a:r>
              <a:rPr kumimoji="0" lang="en-US" altLang="zh-CN" sz="2400" kern="1200" cap="none" spc="0" normalizeH="0" baseline="0" noProof="1">
                <a:solidFill>
                  <a:srgbClr val="000000"/>
                </a:solidFill>
                <a:latin typeface="Arial" panose="020B0604020202020204" pitchFamily="34" charset="0"/>
                <a:ea typeface="宋体" panose="02010600030101010101" pitchFamily="2" charset="-122"/>
                <a:cs typeface="+mn-cs"/>
              </a:rPr>
              <a:t>---</a:t>
            </a:r>
            <a:r>
              <a:rPr kumimoji="0" lang="zh-CN" altLang="en-US" sz="2400" kern="1200" cap="none" spc="0" normalizeH="0" baseline="0" noProof="1">
                <a:solidFill>
                  <a:srgbClr val="FF0000"/>
                </a:solidFill>
                <a:latin typeface="Arial" panose="020B0604020202020204" pitchFamily="34" charset="0"/>
                <a:ea typeface="宋体" panose="02010600030101010101" pitchFamily="2" charset="-122"/>
                <a:cs typeface="+mn-cs"/>
              </a:rPr>
              <a:t>典型输入信号</a:t>
            </a:r>
            <a:r>
              <a:rPr kumimoji="0" lang="zh-CN" altLang="en-US" sz="2400" kern="1200" cap="none" spc="0" normalizeH="0" baseline="0" noProof="1">
                <a:solidFill>
                  <a:srgbClr val="000000"/>
                </a:solidFill>
                <a:latin typeface="Arial" panose="020B0604020202020204" pitchFamily="34" charset="0"/>
                <a:ea typeface="宋体" panose="02010600030101010101" pitchFamily="2" charset="-122"/>
                <a:cs typeface="+mn-cs"/>
              </a:rPr>
              <a:t>。</a:t>
            </a:r>
          </a:p>
        </p:txBody>
      </p:sp>
      <p:grpSp>
        <p:nvGrpSpPr>
          <p:cNvPr id="1316873" name="组合 1316872"/>
          <p:cNvGrpSpPr/>
          <p:nvPr/>
        </p:nvGrpSpPr>
        <p:grpSpPr>
          <a:xfrm>
            <a:off x="5807075" y="3052763"/>
            <a:ext cx="2687638" cy="2463800"/>
            <a:chOff x="588" y="1755"/>
            <a:chExt cx="2916" cy="2203"/>
          </a:xfrm>
        </p:grpSpPr>
        <p:sp>
          <p:nvSpPr>
            <p:cNvPr id="11274" name="直接连接符 1316873"/>
            <p:cNvSpPr/>
            <p:nvPr/>
          </p:nvSpPr>
          <p:spPr>
            <a:xfrm flipV="1">
              <a:off x="763" y="1854"/>
              <a:ext cx="0" cy="1704"/>
            </a:xfrm>
            <a:prstGeom prst="line">
              <a:avLst/>
            </a:prstGeom>
            <a:ln w="57150" cap="sq" cmpd="sng">
              <a:solidFill>
                <a:schemeClr val="tx1"/>
              </a:solidFill>
              <a:prstDash val="solid"/>
              <a:headEnd type="none" w="med" len="med"/>
              <a:tailEnd type="triangle" w="med" len="med"/>
            </a:ln>
          </p:spPr>
        </p:sp>
        <p:sp>
          <p:nvSpPr>
            <p:cNvPr id="11275" name="直接连接符 1316874"/>
            <p:cNvSpPr/>
            <p:nvPr/>
          </p:nvSpPr>
          <p:spPr>
            <a:xfrm>
              <a:off x="754" y="3576"/>
              <a:ext cx="2480" cy="0"/>
            </a:xfrm>
            <a:prstGeom prst="line">
              <a:avLst/>
            </a:prstGeom>
            <a:ln w="57150" cap="sq" cmpd="sng">
              <a:solidFill>
                <a:schemeClr val="tx1"/>
              </a:solidFill>
              <a:prstDash val="solid"/>
              <a:headEnd type="none" w="med" len="med"/>
              <a:tailEnd type="triangle" w="med" len="med"/>
            </a:ln>
          </p:spPr>
        </p:sp>
        <p:sp>
          <p:nvSpPr>
            <p:cNvPr id="11276" name="矩形 1316875"/>
            <p:cNvSpPr/>
            <p:nvPr/>
          </p:nvSpPr>
          <p:spPr>
            <a:xfrm>
              <a:off x="3213" y="3429"/>
              <a:ext cx="291" cy="40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11277" name="矩形 1316876"/>
            <p:cNvSpPr/>
            <p:nvPr/>
          </p:nvSpPr>
          <p:spPr>
            <a:xfrm>
              <a:off x="629" y="1755"/>
              <a:ext cx="787" cy="409"/>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  f</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11278" name="矩形 1316877"/>
            <p:cNvSpPr/>
            <p:nvPr/>
          </p:nvSpPr>
          <p:spPr>
            <a:xfrm>
              <a:off x="588" y="3549"/>
              <a:ext cx="365" cy="409"/>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316879" name="直接连接符 1316878"/>
          <p:cNvSpPr/>
          <p:nvPr/>
        </p:nvSpPr>
        <p:spPr>
          <a:xfrm>
            <a:off x="6005513" y="3616325"/>
            <a:ext cx="1995487" cy="0"/>
          </a:xfrm>
          <a:prstGeom prst="line">
            <a:avLst/>
          </a:prstGeom>
          <a:ln w="76200" cap="sq" cmpd="sng">
            <a:solidFill>
              <a:srgbClr val="993300"/>
            </a:solidFill>
            <a:prstDash val="solid"/>
            <a:headEnd type="none" w="med" len="med"/>
            <a:tailEnd type="none" w="med" len="med"/>
          </a:ln>
        </p:spPr>
      </p:sp>
      <p:sp>
        <p:nvSpPr>
          <p:cNvPr id="1316880" name="文本框 1316879"/>
          <p:cNvSpPr txBox="1"/>
          <p:nvPr/>
        </p:nvSpPr>
        <p:spPr>
          <a:xfrm>
            <a:off x="5651500" y="3406775"/>
            <a:ext cx="477838" cy="457200"/>
          </a:xfrm>
          <a:prstGeom prst="rect">
            <a:avLst/>
          </a:prstGeom>
          <a:noFill/>
          <a:ln w="9525">
            <a:noFill/>
          </a:ln>
        </p:spPr>
        <p:txBody>
          <a:bodyPr>
            <a:spAutoFit/>
          </a:bodyPr>
          <a:lstStyle/>
          <a:p>
            <a:r>
              <a:rPr lang="en-US" altLang="zh-CN" sz="2400" dirty="0">
                <a:solidFill>
                  <a:schemeClr val="tx1"/>
                </a:solidFill>
                <a:latin typeface="Times New Roman" panose="02020603050405020304" pitchFamily="18" charset="0"/>
              </a:rPr>
              <a:t>1</a:t>
            </a:r>
          </a:p>
        </p:txBody>
      </p:sp>
      <p:sp>
        <p:nvSpPr>
          <p:cNvPr id="16" name="文本框 15">
            <a:extLst>
              <a:ext uri="{FF2B5EF4-FFF2-40B4-BE49-F238E27FC236}">
                <a16:creationId xmlns:a16="http://schemas.microsoft.com/office/drawing/2014/main" id="{0977B56F-AB90-4A24-834F-66D540B3F320}"/>
              </a:ext>
            </a:extLst>
          </p:cNvPr>
          <p:cNvSpPr txBox="1"/>
          <p:nvPr/>
        </p:nvSpPr>
        <p:spPr>
          <a:xfrm>
            <a:off x="5009165" y="852090"/>
            <a:ext cx="4019284" cy="1785104"/>
          </a:xfrm>
          <a:prstGeom prst="rect">
            <a:avLst/>
          </a:prstGeom>
          <a:noFill/>
        </p:spPr>
        <p:txBody>
          <a:bodyPr wrap="square">
            <a:spAutoFit/>
          </a:bodyPr>
          <a:lstStyle/>
          <a:p>
            <a:r>
              <a:rPr kumimoji="0" lang="zh-CN" altLang="en-US" sz="2000" kern="1200" cap="none" spc="0" normalizeH="0" baseline="0" noProof="1">
                <a:solidFill>
                  <a:srgbClr val="000000"/>
                </a:solidFill>
                <a:latin typeface="Arial" panose="020B0604020202020204" pitchFamily="34" charset="0"/>
                <a:ea typeface="宋体" panose="02010600030101010101" pitchFamily="2" charset="-122"/>
                <a:cs typeface="+mn-cs"/>
              </a:rPr>
              <a:t>条件：</a:t>
            </a:r>
            <a:endParaRPr kumimoji="0" lang="en-US" altLang="zh-CN" sz="2000" kern="1200" cap="none" spc="0" normalizeH="0" baseline="0" noProof="1">
              <a:solidFill>
                <a:srgbClr val="000000"/>
              </a:solidFill>
              <a:latin typeface="Arial" panose="020B0604020202020204" pitchFamily="34" charset="0"/>
              <a:ea typeface="宋体" panose="02010600030101010101" pitchFamily="2" charset="-122"/>
              <a:cs typeface="+mn-cs"/>
            </a:endParaRPr>
          </a:p>
          <a:p>
            <a:r>
              <a:rPr kumimoji="0" lang="en-US" altLang="zh-CN" sz="2000" kern="1200" cap="none" spc="0" normalizeH="0" baseline="0" noProof="1">
                <a:solidFill>
                  <a:srgbClr val="000000"/>
                </a:solidFill>
                <a:latin typeface="Arial" panose="020B0604020202020204" pitchFamily="34" charset="0"/>
                <a:ea typeface="宋体" panose="02010600030101010101" pitchFamily="2" charset="-122"/>
                <a:cs typeface="+mn-cs"/>
              </a:rPr>
              <a:t>1 </a:t>
            </a:r>
            <a:r>
              <a:rPr kumimoji="0" lang="zh-CN" altLang="en-US" sz="2000" u="sng" kern="1200" cap="none" spc="0" normalizeH="0" baseline="0" noProof="1">
                <a:solidFill>
                  <a:srgbClr val="000000"/>
                </a:solidFill>
                <a:latin typeface="Arial" panose="020B0604020202020204" pitchFamily="34" charset="0"/>
                <a:ea typeface="宋体" panose="02010600030101010101" pitchFamily="2" charset="-122"/>
                <a:cs typeface="+mn-cs"/>
              </a:rPr>
              <a:t>能反映实际输入</a:t>
            </a:r>
            <a:r>
              <a:rPr kumimoji="0" lang="zh-CN" altLang="en-US" sz="2000" kern="1200" cap="none" spc="0" normalizeH="0" baseline="0" noProof="1">
                <a:solidFill>
                  <a:srgbClr val="000000"/>
                </a:solidFill>
                <a:latin typeface="Arial" panose="020B0604020202020204" pitchFamily="34" charset="0"/>
                <a:ea typeface="宋体" panose="02010600030101010101" pitchFamily="2" charset="-122"/>
                <a:cs typeface="+mn-cs"/>
              </a:rPr>
              <a:t>；</a:t>
            </a:r>
            <a:endParaRPr kumimoji="0" lang="en-US" altLang="zh-CN" sz="2000" kern="1200" cap="none" spc="0" normalizeH="0" baseline="0" noProof="1">
              <a:solidFill>
                <a:srgbClr val="000000"/>
              </a:solidFill>
              <a:latin typeface="Arial" panose="020B0604020202020204" pitchFamily="34" charset="0"/>
              <a:ea typeface="宋体" panose="02010600030101010101" pitchFamily="2" charset="-122"/>
              <a:cs typeface="+mn-cs"/>
            </a:endParaRPr>
          </a:p>
          <a:p>
            <a:r>
              <a:rPr kumimoji="0" lang="en-US" altLang="zh-CN" sz="2000" kern="1200" cap="none" spc="0" normalizeH="0" baseline="0" noProof="1">
                <a:solidFill>
                  <a:srgbClr val="000099"/>
                </a:solidFill>
                <a:latin typeface="Arial" panose="020B0604020202020204" pitchFamily="34" charset="0"/>
                <a:ea typeface="宋体" panose="02010600030101010101" pitchFamily="2" charset="-122"/>
                <a:cs typeface="+mn-cs"/>
              </a:rPr>
              <a:t>2 </a:t>
            </a:r>
            <a:r>
              <a:rPr kumimoji="0" lang="zh-CN" altLang="en-US" sz="2000" u="sng" kern="1200" cap="none" spc="0" normalizeH="0" baseline="0" noProof="1">
                <a:solidFill>
                  <a:srgbClr val="000099"/>
                </a:solidFill>
                <a:latin typeface="Arial" panose="020B0604020202020204" pitchFamily="34" charset="0"/>
                <a:ea typeface="宋体" panose="02010600030101010101" pitchFamily="2" charset="-122"/>
                <a:cs typeface="+mn-cs"/>
              </a:rPr>
              <a:t>在形式上尽可能简单，便于分析</a:t>
            </a:r>
            <a:r>
              <a:rPr kumimoji="0" lang="zh-CN" altLang="en-US" sz="2000" kern="1200" cap="none" spc="0" normalizeH="0" baseline="0" noProof="1">
                <a:solidFill>
                  <a:srgbClr val="000099"/>
                </a:solidFill>
                <a:latin typeface="Arial" panose="020B0604020202020204" pitchFamily="34" charset="0"/>
                <a:ea typeface="宋体" panose="02010600030101010101" pitchFamily="2" charset="-122"/>
                <a:cs typeface="+mn-cs"/>
              </a:rPr>
              <a:t>；</a:t>
            </a:r>
            <a:endParaRPr kumimoji="0" lang="en-US" altLang="zh-CN" sz="2000" kern="1200" cap="none" spc="0" normalizeH="0" baseline="0" noProof="1">
              <a:solidFill>
                <a:srgbClr val="000099"/>
              </a:solidFill>
              <a:latin typeface="Arial" panose="020B0604020202020204" pitchFamily="34" charset="0"/>
              <a:ea typeface="宋体" panose="02010600030101010101" pitchFamily="2" charset="-122"/>
              <a:cs typeface="+mn-cs"/>
            </a:endParaRPr>
          </a:p>
          <a:p>
            <a:r>
              <a:rPr kumimoji="0" lang="en-US" altLang="zh-CN" sz="2000" kern="1200" cap="none" spc="0" normalizeH="0" baseline="0" noProof="1">
                <a:solidFill>
                  <a:srgbClr val="000000"/>
                </a:solidFill>
                <a:latin typeface="Arial" panose="020B0604020202020204" pitchFamily="34" charset="0"/>
                <a:ea typeface="宋体" panose="02010600030101010101" pitchFamily="2" charset="-122"/>
                <a:cs typeface="+mn-cs"/>
              </a:rPr>
              <a:t>3 </a:t>
            </a:r>
            <a:r>
              <a:rPr kumimoji="0" lang="zh-CN" altLang="en-US" sz="2000" u="sng" kern="1200" cap="none" spc="0" normalizeH="0" baseline="0" noProof="1">
                <a:solidFill>
                  <a:srgbClr val="000000"/>
                </a:solidFill>
                <a:latin typeface="Arial" panose="020B0604020202020204" pitchFamily="34" charset="0"/>
                <a:ea typeface="宋体" panose="02010600030101010101" pitchFamily="2" charset="-122"/>
                <a:cs typeface="+mn-cs"/>
              </a:rPr>
              <a:t>使系统运行在最不利的工作状态</a:t>
            </a:r>
            <a:r>
              <a:rPr kumimoji="0" lang="zh-CN" altLang="en-US" sz="2000" kern="1200" cap="none" spc="0" normalizeH="0" baseline="0" noProof="1">
                <a:solidFill>
                  <a:srgbClr val="000000"/>
                </a:solidFill>
                <a:latin typeface="Arial" panose="020B0604020202020204" pitchFamily="34" charset="0"/>
                <a:ea typeface="宋体" panose="02010600030101010101" pitchFamily="2" charset="-122"/>
                <a:cs typeface="+mn-cs"/>
              </a:rPr>
              <a:t>。</a:t>
            </a:r>
            <a:endParaRPr lang="zh-CN" altLang="en-US" sz="2000" dirty="0"/>
          </a:p>
        </p:txBody>
      </p:sp>
      <p:sp>
        <p:nvSpPr>
          <p:cNvPr id="18" name="文本框 17">
            <a:extLst>
              <a:ext uri="{FF2B5EF4-FFF2-40B4-BE49-F238E27FC236}">
                <a16:creationId xmlns:a16="http://schemas.microsoft.com/office/drawing/2014/main" id="{37CFCEC2-578A-4194-9AB0-9173048449D9}"/>
              </a:ext>
            </a:extLst>
          </p:cNvPr>
          <p:cNvSpPr txBox="1"/>
          <p:nvPr/>
        </p:nvSpPr>
        <p:spPr>
          <a:xfrm>
            <a:off x="465347" y="678607"/>
            <a:ext cx="4019284" cy="707886"/>
          </a:xfrm>
          <a:prstGeom prst="rect">
            <a:avLst/>
          </a:prstGeom>
          <a:noFill/>
        </p:spPr>
        <p:txBody>
          <a:bodyPr wrap="square">
            <a:spAutoFit/>
          </a:bodyPr>
          <a:lstStyle/>
          <a:p>
            <a:r>
              <a:rPr kumimoji="0" lang="en-US" altLang="zh-CN" sz="4000" kern="1200" cap="none" spc="0" normalizeH="0" baseline="0" noProof="1">
                <a:solidFill>
                  <a:srgbClr val="000000"/>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rgbClr val="000000"/>
                </a:solidFill>
                <a:latin typeface="Arial" panose="020B0604020202020204" pitchFamily="34" charset="0"/>
                <a:ea typeface="宋体" panose="02010600030101010101" pitchFamily="2" charset="-122"/>
                <a:cs typeface="+mn-cs"/>
              </a:rPr>
              <a:t>动态性能</a:t>
            </a:r>
            <a:r>
              <a:rPr kumimoji="0" lang="zh-CN" altLang="en-US" sz="2800" kern="1200" cap="none" spc="0" normalizeH="0" noProof="1">
                <a:solidFill>
                  <a:srgbClr val="000000"/>
                </a:solidFill>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rgbClr val="000000"/>
                </a:solidFill>
                <a:latin typeface="Arial" panose="020B0604020202020204" pitchFamily="34" charset="0"/>
                <a:ea typeface="宋体" panose="02010600030101010101" pitchFamily="2" charset="-122"/>
                <a:cs typeface="+mn-cs"/>
              </a:rPr>
              <a:t>静态性能</a:t>
            </a:r>
            <a:endParaRPr lang="zh-CN" altLang="en-US" sz="2800" dirty="0"/>
          </a:p>
        </p:txBody>
      </p:sp>
      <p:sp>
        <p:nvSpPr>
          <p:cNvPr id="20" name="Freeform 56">
            <a:extLst>
              <a:ext uri="{FF2B5EF4-FFF2-40B4-BE49-F238E27FC236}">
                <a16:creationId xmlns:a16="http://schemas.microsoft.com/office/drawing/2014/main" id="{55507CF8-5ACD-4B40-8856-1041406CBE7F}"/>
              </a:ext>
            </a:extLst>
          </p:cNvPr>
          <p:cNvSpPr>
            <a:spLocks/>
          </p:cNvSpPr>
          <p:nvPr/>
        </p:nvSpPr>
        <p:spPr bwMode="auto">
          <a:xfrm>
            <a:off x="4860032" y="761106"/>
            <a:ext cx="4283968" cy="2043991"/>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sp>
        <p:nvSpPr>
          <p:cNvPr id="21" name="对角圆角矩形 6">
            <a:extLst>
              <a:ext uri="{FF2B5EF4-FFF2-40B4-BE49-F238E27FC236}">
                <a16:creationId xmlns:a16="http://schemas.microsoft.com/office/drawing/2014/main" id="{F24E967A-45D2-466C-AC14-B0194073E0F9}"/>
              </a:ext>
            </a:extLst>
          </p:cNvPr>
          <p:cNvSpPr/>
          <p:nvPr/>
        </p:nvSpPr>
        <p:spPr>
          <a:xfrm>
            <a:off x="683567" y="888756"/>
            <a:ext cx="3801063" cy="521830"/>
          </a:xfrm>
          <a:prstGeom prst="round2Diag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BC56063E-8A05-4AF3-82C5-5F75FF92E857}"/>
              </a:ext>
            </a:extLst>
          </p:cNvPr>
          <p:cNvGrpSpPr/>
          <p:nvPr/>
        </p:nvGrpSpPr>
        <p:grpSpPr>
          <a:xfrm>
            <a:off x="2533097" y="5458077"/>
            <a:ext cx="6623533" cy="561785"/>
            <a:chOff x="2533097" y="5458077"/>
            <a:chExt cx="6623533" cy="561785"/>
          </a:xfrm>
        </p:grpSpPr>
        <p:sp>
          <p:nvSpPr>
            <p:cNvPr id="1316881" name="文本框 1316880"/>
            <p:cNvSpPr txBox="1"/>
            <p:nvPr/>
          </p:nvSpPr>
          <p:spPr>
            <a:xfrm>
              <a:off x="2977479" y="5458077"/>
              <a:ext cx="5268379" cy="523220"/>
            </a:xfrm>
            <a:prstGeom prst="rect">
              <a:avLst/>
            </a:prstGeom>
            <a:noFill/>
            <a:ln w="9525">
              <a:noFill/>
            </a:ln>
          </p:spPr>
          <p:txBody>
            <a:bodyPr wrap="square">
              <a:spAutoFit/>
            </a:bodyPr>
            <a:lstStyle/>
            <a:p>
              <a:pPr marL="342900" marR="0" indent="-342900" algn="r" defTabSz="914400">
                <a:buClrTx/>
                <a:buSzTx/>
                <a:buFont typeface="Wingdings" panose="05000000000000000000" pitchFamily="2" charset="2"/>
                <a:buNone/>
                <a:defRPr/>
              </a:pP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考查系统对恒值信号的跟踪能力</a:t>
              </a:r>
            </a:p>
          </p:txBody>
        </p:sp>
        <p:sp>
          <p:nvSpPr>
            <p:cNvPr id="19" name="Freeform 2524">
              <a:extLst>
                <a:ext uri="{FF2B5EF4-FFF2-40B4-BE49-F238E27FC236}">
                  <a16:creationId xmlns:a16="http://schemas.microsoft.com/office/drawing/2014/main" id="{5A52F72E-BECF-48EA-B67C-C32EFBA31FAF}"/>
                </a:ext>
              </a:extLst>
            </p:cNvPr>
            <p:cNvSpPr>
              <a:spLocks noEditPoints="1"/>
            </p:cNvSpPr>
            <p:nvPr/>
          </p:nvSpPr>
          <p:spPr bwMode="auto">
            <a:xfrm rot="16200000">
              <a:off x="5583254" y="2446486"/>
              <a:ext cx="523219" cy="6623533"/>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16867">
                                            <p:txEl>
                                              <p:pRg st="0" end="0"/>
                                            </p:txEl>
                                          </p:spTgt>
                                        </p:tgtEl>
                                        <p:attrNameLst>
                                          <p:attrName>style.visibility</p:attrName>
                                        </p:attrNameLst>
                                      </p:cBhvr>
                                      <p:to>
                                        <p:strVal val="visible"/>
                                      </p:to>
                                    </p:set>
                                    <p:animEffect transition="in" filter="blinds(horizontal)">
                                      <p:cBhvr>
                                        <p:cTn id="7" dur="500"/>
                                        <p:tgtEl>
                                          <p:spTgt spid="131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316872"/>
                                        </p:tgtEl>
                                        <p:attrNameLst>
                                          <p:attrName>style.visibility</p:attrName>
                                        </p:attrNameLst>
                                      </p:cBhvr>
                                      <p:to>
                                        <p:strVal val="visible"/>
                                      </p:to>
                                    </p:set>
                                    <p:animEffect transition="in" filter="circle(in)">
                                      <p:cBhvr>
                                        <p:cTn id="12" dur="2000"/>
                                        <p:tgtEl>
                                          <p:spTgt spid="131687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16870"/>
                                        </p:tgtEl>
                                        <p:attrNameLst>
                                          <p:attrName>style.visibility</p:attrName>
                                        </p:attrNameLst>
                                      </p:cBhvr>
                                      <p:to>
                                        <p:strVal val="visible"/>
                                      </p:to>
                                    </p:set>
                                    <p:animEffect transition="in" filter="blinds(horizontal)">
                                      <p:cBhvr>
                                        <p:cTn id="17" dur="500"/>
                                        <p:tgtEl>
                                          <p:spTgt spid="1316870"/>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1316868"/>
                                        </p:tgtEl>
                                        <p:attrNameLst>
                                          <p:attrName>style.visibility</p:attrName>
                                        </p:attrNameLst>
                                      </p:cBhvr>
                                      <p:to>
                                        <p:strVal val="visible"/>
                                      </p:to>
                                    </p:set>
                                    <p:animEffect transition="in" filter="blinds(horizontal)">
                                      <p:cBhvr>
                                        <p:cTn id="21" dur="500"/>
                                        <p:tgtEl>
                                          <p:spTgt spid="131686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316873"/>
                                        </p:tgtEl>
                                        <p:attrNameLst>
                                          <p:attrName>style.visibility</p:attrName>
                                        </p:attrNameLst>
                                      </p:cBhvr>
                                      <p:to>
                                        <p:strVal val="visible"/>
                                      </p:to>
                                    </p:set>
                                    <p:animEffect transition="in" filter="dissolve">
                                      <p:cBhvr>
                                        <p:cTn id="26" dur="500"/>
                                        <p:tgtEl>
                                          <p:spTgt spid="131687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16880"/>
                                        </p:tgtEl>
                                        <p:attrNameLst>
                                          <p:attrName>style.visibility</p:attrName>
                                        </p:attrNameLst>
                                      </p:cBhvr>
                                      <p:to>
                                        <p:strVal val="visible"/>
                                      </p:to>
                                    </p:set>
                                    <p:animEffect transition="in" filter="dissolve">
                                      <p:cBhvr>
                                        <p:cTn id="31" dur="500"/>
                                        <p:tgtEl>
                                          <p:spTgt spid="1316880"/>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316879"/>
                                        </p:tgtEl>
                                        <p:attrNameLst>
                                          <p:attrName>style.visibility</p:attrName>
                                        </p:attrNameLst>
                                      </p:cBhvr>
                                      <p:to>
                                        <p:strVal val="visible"/>
                                      </p:to>
                                    </p:set>
                                    <p:animEffect transition="in" filter="wipe(left)">
                                      <p:cBhvr>
                                        <p:cTn id="35" dur="500"/>
                                        <p:tgtEl>
                                          <p:spTgt spid="1316879"/>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circle(in)">
                                      <p:cBhvr>
                                        <p:cTn id="4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6867" grpId="0" build="p"/>
      <p:bldP spid="1316870" grpId="0"/>
      <p:bldP spid="1316872" grpId="0"/>
      <p:bldP spid="13168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914" name="矩形 1318913"/>
          <p:cNvSpPr/>
          <p:nvPr/>
        </p:nvSpPr>
        <p:spPr>
          <a:xfrm>
            <a:off x="-235682" y="2408456"/>
            <a:ext cx="6516688" cy="561975"/>
          </a:xfrm>
          <a:prstGeom prst="rect">
            <a:avLst/>
          </a:prstGeom>
          <a:noFill/>
          <a:ln w="9525">
            <a:noFill/>
          </a:ln>
        </p:spPr>
        <p:txBody>
          <a:bodyPr>
            <a:spAutoFit/>
          </a:bodyPr>
          <a:lstStyle/>
          <a:p>
            <a:pPr marL="0" marR="0" lvl="0" indent="0" algn="just" defTabSz="914400" rtl="0" eaLnBrk="1" fontAlgn="base" latinLnBrk="0" hangingPunct="1">
              <a:lnSpc>
                <a:spcPct val="110000"/>
              </a:lnSpc>
              <a:spcBef>
                <a:spcPct val="0"/>
              </a:spcBef>
              <a:spcAft>
                <a:spcPct val="0"/>
              </a:spcAft>
              <a:buClrTx/>
              <a:buSzTx/>
              <a:buFontTx/>
              <a:buNone/>
              <a:defRPr/>
            </a:pPr>
            <a:r>
              <a:rPr kumimoji="0" lang="en-US" altLang="zh-CN" sz="2800" b="1" i="0" u="none" strike="noStrike" kern="1200" cap="none" spc="0" normalizeH="0" baseline="0" noProof="1">
                <a:ln>
                  <a:noFill/>
                </a:ln>
                <a:solidFill>
                  <a:srgbClr val="0066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A=1</a:t>
            </a:r>
            <a:r>
              <a:rPr kumimoji="0" lang="zh-CN" altLang="en-US" sz="2800" b="1" i="0" u="none" strike="noStrike" kern="1200" cap="none" spc="0" normalizeH="0" baseline="0" noProof="1">
                <a:ln>
                  <a:noFill/>
                </a:ln>
                <a:solidFill>
                  <a:srgbClr val="0066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，称单位斜坡函数</a:t>
            </a:r>
            <a:r>
              <a:rPr kumimoji="0" lang="en-US" altLang="zh-CN" sz="2800" b="1" i="0" u="none" strike="noStrike" kern="1200" cap="none" spc="0" normalizeH="0" baseline="0" noProof="1">
                <a:ln>
                  <a:noFill/>
                </a:ln>
                <a:solidFill>
                  <a:srgbClr val="0066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1">
                <a:ln>
                  <a:noFill/>
                </a:ln>
                <a:solidFill>
                  <a:srgbClr val="0066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记为 </a:t>
            </a:r>
            <a:r>
              <a:rPr kumimoji="0" lang="en-US" altLang="zh-CN" sz="2800" b="1" i="0" u="none" strike="noStrike" kern="1200" cap="none" spc="0" normalizeH="0" baseline="0" noProof="1">
                <a:ln>
                  <a:noFill/>
                </a:ln>
                <a:solidFill>
                  <a:srgbClr val="0066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t·1(t)</a:t>
            </a:r>
            <a:r>
              <a:rPr kumimoji="0" lang="en-US" altLang="zh-CN" sz="28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graphicFrame>
        <p:nvGraphicFramePr>
          <p:cNvPr id="1318915" name="对象 1318914"/>
          <p:cNvGraphicFramePr/>
          <p:nvPr>
            <p:extLst>
              <p:ext uri="{D42A27DB-BD31-4B8C-83A1-F6EECF244321}">
                <p14:modId xmlns:p14="http://schemas.microsoft.com/office/powerpoint/2010/main" val="2976481353"/>
              </p:ext>
            </p:extLst>
          </p:nvPr>
        </p:nvGraphicFramePr>
        <p:xfrm>
          <a:off x="5406654" y="773814"/>
          <a:ext cx="2252662" cy="1004888"/>
        </p:xfrm>
        <a:graphic>
          <a:graphicData uri="http://schemas.openxmlformats.org/presentationml/2006/ole">
            <mc:AlternateContent xmlns:mc="http://schemas.openxmlformats.org/markup-compatibility/2006">
              <mc:Choice xmlns:v="urn:schemas-microsoft-com:vml" Requires="v">
                <p:oleObj spid="_x0000_s4111" r:id="rId3" imgW="1129665" imgH="469900" progId="Equation.3">
                  <p:embed/>
                </p:oleObj>
              </mc:Choice>
              <mc:Fallback>
                <p:oleObj r:id="rId3" imgW="1129665" imgH="469900" progId="Equation.3">
                  <p:embed/>
                  <p:pic>
                    <p:nvPicPr>
                      <p:cNvPr id="0" name="图片 3076"/>
                      <p:cNvPicPr/>
                      <p:nvPr/>
                    </p:nvPicPr>
                    <p:blipFill>
                      <a:blip r:embed="rId4"/>
                      <a:stretch>
                        <a:fillRect/>
                      </a:stretch>
                    </p:blipFill>
                    <p:spPr>
                      <a:xfrm>
                        <a:off x="5406654" y="773814"/>
                        <a:ext cx="2252662" cy="1004888"/>
                      </a:xfrm>
                      <a:prstGeom prst="rect">
                        <a:avLst/>
                      </a:prstGeom>
                      <a:noFill/>
                      <a:ln w="38100">
                        <a:noFill/>
                        <a:miter/>
                      </a:ln>
                    </p:spPr>
                  </p:pic>
                </p:oleObj>
              </mc:Fallback>
            </mc:AlternateContent>
          </a:graphicData>
        </a:graphic>
      </p:graphicFrame>
      <p:sp>
        <p:nvSpPr>
          <p:cNvPr id="12292" name="文本框 1318916"/>
          <p:cNvSpPr txBox="1"/>
          <p:nvPr/>
        </p:nvSpPr>
        <p:spPr>
          <a:xfrm>
            <a:off x="609600" y="3317875"/>
            <a:ext cx="2286000" cy="457200"/>
          </a:xfrm>
          <a:prstGeom prst="rect">
            <a:avLst/>
          </a:prstGeom>
          <a:noFill/>
          <a:ln w="9525">
            <a:noFill/>
          </a:ln>
        </p:spPr>
        <p:txBody>
          <a:bodyPr>
            <a:spAutoFit/>
          </a:bodyPr>
          <a:lstStyle/>
          <a:p>
            <a:endParaRPr lang="zh-CN" altLang="zh-CN" sz="2400" b="0" dirty="0">
              <a:solidFill>
                <a:schemeClr val="tx1"/>
              </a:solidFill>
              <a:latin typeface="Times New Roman" panose="02020603050405020304" pitchFamily="18" charset="0"/>
            </a:endParaRPr>
          </a:p>
        </p:txBody>
      </p:sp>
      <p:graphicFrame>
        <p:nvGraphicFramePr>
          <p:cNvPr id="1318918" name="对象 1318917"/>
          <p:cNvGraphicFramePr/>
          <p:nvPr>
            <p:extLst>
              <p:ext uri="{D42A27DB-BD31-4B8C-83A1-F6EECF244321}">
                <p14:modId xmlns:p14="http://schemas.microsoft.com/office/powerpoint/2010/main" val="227323311"/>
              </p:ext>
            </p:extLst>
          </p:nvPr>
        </p:nvGraphicFramePr>
        <p:xfrm>
          <a:off x="1659882" y="3242468"/>
          <a:ext cx="2174875" cy="942975"/>
        </p:xfrm>
        <a:graphic>
          <a:graphicData uri="http://schemas.openxmlformats.org/presentationml/2006/ole">
            <mc:AlternateContent xmlns:mc="http://schemas.openxmlformats.org/markup-compatibility/2006">
              <mc:Choice xmlns:v="urn:schemas-microsoft-com:vml" Requires="v">
                <p:oleObj spid="_x0000_s4112" r:id="rId5" imgW="939165" imgH="405765" progId="Equation.3">
                  <p:embed/>
                </p:oleObj>
              </mc:Choice>
              <mc:Fallback>
                <p:oleObj r:id="rId5" imgW="939165" imgH="405765" progId="Equation.3">
                  <p:embed/>
                  <p:pic>
                    <p:nvPicPr>
                      <p:cNvPr id="0" name="图片 3077"/>
                      <p:cNvPicPr/>
                      <p:nvPr/>
                    </p:nvPicPr>
                    <p:blipFill>
                      <a:blip r:embed="rId6"/>
                      <a:stretch>
                        <a:fillRect/>
                      </a:stretch>
                    </p:blipFill>
                    <p:spPr>
                      <a:xfrm>
                        <a:off x="1659882" y="3242468"/>
                        <a:ext cx="2174875" cy="942975"/>
                      </a:xfrm>
                      <a:prstGeom prst="rect">
                        <a:avLst/>
                      </a:prstGeom>
                      <a:noFill/>
                      <a:ln w="38100">
                        <a:noFill/>
                        <a:miter/>
                      </a:ln>
                    </p:spPr>
                  </p:pic>
                </p:oleObj>
              </mc:Fallback>
            </mc:AlternateContent>
          </a:graphicData>
        </a:graphic>
      </p:graphicFrame>
      <p:sp>
        <p:nvSpPr>
          <p:cNvPr id="1318919" name="标题 1318918"/>
          <p:cNvSpPr>
            <a:spLocks noGrp="1"/>
          </p:cNvSpPr>
          <p:nvPr>
            <p:ph type="title"/>
          </p:nvPr>
        </p:nvSpPr>
        <p:spPr>
          <a:xfrm>
            <a:off x="0" y="952515"/>
            <a:ext cx="5113337" cy="737270"/>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0" i="0" u="none" strike="noStrike" kern="1200" cap="none" spc="0" normalizeH="0" baseline="0" noProof="1">
                <a:ln>
                  <a:noFill/>
                </a:ln>
                <a:solidFill>
                  <a:srgbClr val="FFFFFF"/>
                </a:solidFill>
                <a:effectLst/>
                <a:uLnTx/>
                <a:uFillTx/>
                <a:latin typeface="+mj-lt"/>
                <a:ea typeface="+mj-ea"/>
                <a:cs typeface="+mj-cs"/>
              </a:rPr>
              <a:t> </a:t>
            </a:r>
            <a:r>
              <a:rPr kumimoji="0" lang="en-US" altLang="zh-CN" sz="32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2. </a:t>
            </a:r>
            <a:r>
              <a:rPr kumimoji="0" lang="zh-CN" altLang="en-US" sz="32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斜坡函数 （等速度函数）</a:t>
            </a:r>
            <a:r>
              <a:rPr kumimoji="0" lang="zh-CN" altLang="en-US" sz="4000" b="0" i="0" u="none" strike="noStrike" kern="1200" cap="none" spc="0" normalizeH="0" baseline="0" noProof="1">
                <a:ln>
                  <a:noFill/>
                </a:ln>
                <a:solidFill>
                  <a:srgbClr val="FFFFFF"/>
                </a:solidFill>
                <a:effectLst/>
                <a:uLnTx/>
                <a:uFillTx/>
                <a:latin typeface="+mj-lt"/>
                <a:ea typeface="+mj-ea"/>
                <a:cs typeface="+mj-cs"/>
              </a:rPr>
              <a:t> </a:t>
            </a:r>
          </a:p>
        </p:txBody>
      </p:sp>
      <p:grpSp>
        <p:nvGrpSpPr>
          <p:cNvPr id="1318920" name="组合 1318919"/>
          <p:cNvGrpSpPr/>
          <p:nvPr/>
        </p:nvGrpSpPr>
        <p:grpSpPr>
          <a:xfrm>
            <a:off x="6112799" y="2513012"/>
            <a:ext cx="2687637" cy="2463800"/>
            <a:chOff x="588" y="1755"/>
            <a:chExt cx="2916" cy="2203"/>
          </a:xfrm>
        </p:grpSpPr>
        <p:sp>
          <p:nvSpPr>
            <p:cNvPr id="12298" name="直接连接符 1318920"/>
            <p:cNvSpPr/>
            <p:nvPr/>
          </p:nvSpPr>
          <p:spPr>
            <a:xfrm flipV="1">
              <a:off x="763" y="1854"/>
              <a:ext cx="0" cy="1704"/>
            </a:xfrm>
            <a:prstGeom prst="line">
              <a:avLst/>
            </a:prstGeom>
            <a:ln w="57150" cap="sq" cmpd="sng">
              <a:solidFill>
                <a:schemeClr val="tx1"/>
              </a:solidFill>
              <a:prstDash val="solid"/>
              <a:headEnd type="none" w="med" len="med"/>
              <a:tailEnd type="triangle" w="med" len="med"/>
            </a:ln>
          </p:spPr>
        </p:sp>
        <p:sp>
          <p:nvSpPr>
            <p:cNvPr id="12299" name="直接连接符 1318921"/>
            <p:cNvSpPr/>
            <p:nvPr/>
          </p:nvSpPr>
          <p:spPr>
            <a:xfrm>
              <a:off x="754" y="3576"/>
              <a:ext cx="2480" cy="0"/>
            </a:xfrm>
            <a:prstGeom prst="line">
              <a:avLst/>
            </a:prstGeom>
            <a:ln w="57150" cap="sq" cmpd="sng">
              <a:solidFill>
                <a:schemeClr val="tx1"/>
              </a:solidFill>
              <a:prstDash val="solid"/>
              <a:headEnd type="none" w="med" len="med"/>
              <a:tailEnd type="triangle" w="med" len="med"/>
            </a:ln>
          </p:spPr>
        </p:sp>
        <p:sp>
          <p:nvSpPr>
            <p:cNvPr id="12300" name="矩形 1318922"/>
            <p:cNvSpPr/>
            <p:nvPr/>
          </p:nvSpPr>
          <p:spPr>
            <a:xfrm>
              <a:off x="3213" y="3429"/>
              <a:ext cx="291" cy="40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12301" name="矩形 1318923"/>
            <p:cNvSpPr/>
            <p:nvPr/>
          </p:nvSpPr>
          <p:spPr>
            <a:xfrm>
              <a:off x="629" y="1755"/>
              <a:ext cx="787" cy="409"/>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  f</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12302" name="矩形 1318924"/>
            <p:cNvSpPr/>
            <p:nvPr/>
          </p:nvSpPr>
          <p:spPr>
            <a:xfrm>
              <a:off x="588" y="3549"/>
              <a:ext cx="365" cy="409"/>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318926" name="直接连接符 1318925"/>
          <p:cNvSpPr/>
          <p:nvPr/>
        </p:nvSpPr>
        <p:spPr>
          <a:xfrm flipV="1">
            <a:off x="6310313" y="2924175"/>
            <a:ext cx="1579562" cy="1579563"/>
          </a:xfrm>
          <a:prstGeom prst="line">
            <a:avLst/>
          </a:prstGeom>
          <a:ln w="76200" cap="sq" cmpd="sng">
            <a:solidFill>
              <a:srgbClr val="993300"/>
            </a:solidFill>
            <a:prstDash val="solid"/>
            <a:headEnd type="none" w="med" len="med"/>
            <a:tailEnd type="none" w="med" len="med"/>
          </a:ln>
        </p:spPr>
      </p:sp>
      <p:grpSp>
        <p:nvGrpSpPr>
          <p:cNvPr id="2" name="组合 1">
            <a:extLst>
              <a:ext uri="{FF2B5EF4-FFF2-40B4-BE49-F238E27FC236}">
                <a16:creationId xmlns:a16="http://schemas.microsoft.com/office/drawing/2014/main" id="{298E172B-AC23-4355-A58D-76FE9D60CFCA}"/>
              </a:ext>
            </a:extLst>
          </p:cNvPr>
          <p:cNvGrpSpPr/>
          <p:nvPr/>
        </p:nvGrpSpPr>
        <p:grpSpPr>
          <a:xfrm>
            <a:off x="2533097" y="5429666"/>
            <a:ext cx="6623533" cy="590196"/>
            <a:chOff x="2533097" y="5429666"/>
            <a:chExt cx="6623533" cy="590196"/>
          </a:xfrm>
        </p:grpSpPr>
        <p:sp>
          <p:nvSpPr>
            <p:cNvPr id="1318927" name="文本框 1318926"/>
            <p:cNvSpPr txBox="1"/>
            <p:nvPr/>
          </p:nvSpPr>
          <p:spPr>
            <a:xfrm>
              <a:off x="2747320" y="5429666"/>
              <a:ext cx="6068888" cy="584775"/>
            </a:xfrm>
            <a:prstGeom prst="rect">
              <a:avLst/>
            </a:prstGeom>
            <a:noFill/>
            <a:ln w="9525">
              <a:noFill/>
            </a:ln>
          </p:spPr>
          <p:txBody>
            <a:bodyPr wrap="square">
              <a:spAutoFit/>
            </a:bodyPr>
            <a:lstStyle/>
            <a:p>
              <a:pPr marL="342900" marR="0" indent="-342900" algn="r" defTabSz="914400">
                <a:buClrTx/>
                <a:buSzTx/>
                <a:buFont typeface="Wingdings" panose="05000000000000000000" pitchFamily="2" charset="2"/>
                <a:buNone/>
                <a:defRPr/>
              </a:pPr>
              <a:r>
                <a:rPr kumimoji="0" lang="zh-CN" altLang="en-US"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考查系统对匀速信号的跟踪能力</a:t>
              </a:r>
            </a:p>
          </p:txBody>
        </p:sp>
        <p:sp>
          <p:nvSpPr>
            <p:cNvPr id="15" name="Freeform 2524">
              <a:extLst>
                <a:ext uri="{FF2B5EF4-FFF2-40B4-BE49-F238E27FC236}">
                  <a16:creationId xmlns:a16="http://schemas.microsoft.com/office/drawing/2014/main" id="{AD4D1FE2-29EC-4E9A-A2AE-7314EFED524A}"/>
                </a:ext>
              </a:extLst>
            </p:cNvPr>
            <p:cNvSpPr>
              <a:spLocks noEditPoints="1"/>
            </p:cNvSpPr>
            <p:nvPr/>
          </p:nvSpPr>
          <p:spPr bwMode="auto">
            <a:xfrm rot="16200000">
              <a:off x="5583254" y="2446486"/>
              <a:ext cx="523219" cy="6623533"/>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18919"/>
                                        </p:tgtEl>
                                        <p:attrNameLst>
                                          <p:attrName>style.visibility</p:attrName>
                                        </p:attrNameLst>
                                      </p:cBhvr>
                                      <p:to>
                                        <p:strVal val="visible"/>
                                      </p:to>
                                    </p:set>
                                    <p:animEffect transition="in" filter="blinds(horizontal)">
                                      <p:cBhvr>
                                        <p:cTn id="7" dur="500"/>
                                        <p:tgtEl>
                                          <p:spTgt spid="131891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18915"/>
                                        </p:tgtEl>
                                        <p:attrNameLst>
                                          <p:attrName>style.visibility</p:attrName>
                                        </p:attrNameLst>
                                      </p:cBhvr>
                                      <p:to>
                                        <p:strVal val="visible"/>
                                      </p:to>
                                    </p:set>
                                    <p:animEffect transition="in" filter="blinds(horizontal)">
                                      <p:cBhvr>
                                        <p:cTn id="11" dur="500"/>
                                        <p:tgtEl>
                                          <p:spTgt spid="1318915"/>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318914"/>
                                        </p:tgtEl>
                                        <p:attrNameLst>
                                          <p:attrName>style.visibility</p:attrName>
                                        </p:attrNameLst>
                                      </p:cBhvr>
                                      <p:to>
                                        <p:strVal val="visible"/>
                                      </p:to>
                                    </p:set>
                                    <p:animEffect transition="in" filter="blinds(horizontal)">
                                      <p:cBhvr>
                                        <p:cTn id="15" dur="500"/>
                                        <p:tgtEl>
                                          <p:spTgt spid="1318914"/>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318918"/>
                                        </p:tgtEl>
                                        <p:attrNameLst>
                                          <p:attrName>style.visibility</p:attrName>
                                        </p:attrNameLst>
                                      </p:cBhvr>
                                      <p:to>
                                        <p:strVal val="visible"/>
                                      </p:to>
                                    </p:set>
                                    <p:animEffect transition="in" filter="blinds(horizontal)">
                                      <p:cBhvr>
                                        <p:cTn id="19" dur="500"/>
                                        <p:tgtEl>
                                          <p:spTgt spid="131891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318920"/>
                                        </p:tgtEl>
                                        <p:attrNameLst>
                                          <p:attrName>style.visibility</p:attrName>
                                        </p:attrNameLst>
                                      </p:cBhvr>
                                      <p:to>
                                        <p:strVal val="visible"/>
                                      </p:to>
                                    </p:set>
                                    <p:animEffect transition="in" filter="dissolve">
                                      <p:cBhvr>
                                        <p:cTn id="24" dur="500"/>
                                        <p:tgtEl>
                                          <p:spTgt spid="1318920"/>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1318926"/>
                                        </p:tgtEl>
                                        <p:attrNameLst>
                                          <p:attrName>style.visibility</p:attrName>
                                        </p:attrNameLst>
                                      </p:cBhvr>
                                      <p:to>
                                        <p:strVal val="visible"/>
                                      </p:to>
                                    </p:set>
                                    <p:animEffect transition="in" filter="wipe(down)">
                                      <p:cBhvr>
                                        <p:cTn id="28" dur="500"/>
                                        <p:tgtEl>
                                          <p:spTgt spid="1318926"/>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circle(in)">
                                      <p:cBhvr>
                                        <p:cTn id="3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8914" grpId="0"/>
      <p:bldP spid="13189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938" name="标题 1319937"/>
          <p:cNvSpPr>
            <a:spLocks noGrp="1"/>
          </p:cNvSpPr>
          <p:nvPr>
            <p:ph type="title"/>
          </p:nvPr>
        </p:nvSpPr>
        <p:spPr>
          <a:xfrm>
            <a:off x="-99578" y="912722"/>
            <a:ext cx="5184576" cy="753594"/>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800" b="0" i="0" u="none" strike="noStrike" kern="1200" cap="none" spc="0" normalizeH="0" baseline="0" noProof="1">
                <a:ln>
                  <a:noFill/>
                </a:ln>
                <a:solidFill>
                  <a:srgbClr val="FFFFFF"/>
                </a:solidFill>
                <a:effectLst/>
                <a:uLnTx/>
                <a:uFillTx/>
                <a:latin typeface="+mj-lt"/>
                <a:ea typeface="+mj-ea"/>
                <a:cs typeface="+mj-cs"/>
              </a:rPr>
              <a:t> </a:t>
            </a:r>
            <a:r>
              <a:rPr kumimoji="0" lang="en-US" altLang="zh-CN" sz="28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3. </a:t>
            </a:r>
            <a:r>
              <a:rPr kumimoji="0" lang="zh-CN" altLang="en-US" sz="28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抛物线函数（等加速度函数）</a:t>
            </a:r>
          </a:p>
        </p:txBody>
      </p:sp>
      <p:graphicFrame>
        <p:nvGraphicFramePr>
          <p:cNvPr id="1319939" name="对象 1319938"/>
          <p:cNvGraphicFramePr/>
          <p:nvPr>
            <p:extLst>
              <p:ext uri="{D42A27DB-BD31-4B8C-83A1-F6EECF244321}">
                <p14:modId xmlns:p14="http://schemas.microsoft.com/office/powerpoint/2010/main" val="4179762688"/>
              </p:ext>
            </p:extLst>
          </p:nvPr>
        </p:nvGraphicFramePr>
        <p:xfrm>
          <a:off x="5101775" y="588357"/>
          <a:ext cx="2808287" cy="1211263"/>
        </p:xfrm>
        <a:graphic>
          <a:graphicData uri="http://schemas.openxmlformats.org/presentationml/2006/ole">
            <mc:AlternateContent xmlns:mc="http://schemas.openxmlformats.org/markup-compatibility/2006">
              <mc:Choice xmlns:v="urn:schemas-microsoft-com:vml" Requires="v">
                <p:oleObj spid="_x0000_s5142" r:id="rId3" imgW="1422400" imgH="596900" progId="Equation.3">
                  <p:embed/>
                </p:oleObj>
              </mc:Choice>
              <mc:Fallback>
                <p:oleObj r:id="rId3" imgW="1422400" imgH="596900" progId="Equation.3">
                  <p:embed/>
                  <p:pic>
                    <p:nvPicPr>
                      <p:cNvPr id="0" name="图片 3080"/>
                      <p:cNvPicPr/>
                      <p:nvPr/>
                    </p:nvPicPr>
                    <p:blipFill>
                      <a:blip r:embed="rId4"/>
                      <a:stretch>
                        <a:fillRect/>
                      </a:stretch>
                    </p:blipFill>
                    <p:spPr>
                      <a:xfrm>
                        <a:off x="5101775" y="588357"/>
                        <a:ext cx="2808287" cy="1211263"/>
                      </a:xfrm>
                      <a:prstGeom prst="rect">
                        <a:avLst/>
                      </a:prstGeom>
                      <a:noFill/>
                      <a:ln w="38100">
                        <a:noFill/>
                        <a:miter/>
                      </a:ln>
                    </p:spPr>
                  </p:pic>
                </p:oleObj>
              </mc:Fallback>
            </mc:AlternateContent>
          </a:graphicData>
        </a:graphic>
      </p:graphicFrame>
      <p:graphicFrame>
        <p:nvGraphicFramePr>
          <p:cNvPr id="1319940" name="对象 1319939"/>
          <p:cNvGraphicFramePr/>
          <p:nvPr>
            <p:extLst>
              <p:ext uri="{D42A27DB-BD31-4B8C-83A1-F6EECF244321}">
                <p14:modId xmlns:p14="http://schemas.microsoft.com/office/powerpoint/2010/main" val="1211037771"/>
              </p:ext>
            </p:extLst>
          </p:nvPr>
        </p:nvGraphicFramePr>
        <p:xfrm>
          <a:off x="2448534" y="2607692"/>
          <a:ext cx="1368425" cy="900112"/>
        </p:xfrm>
        <a:graphic>
          <a:graphicData uri="http://schemas.openxmlformats.org/presentationml/2006/ole">
            <mc:AlternateContent xmlns:mc="http://schemas.openxmlformats.org/markup-compatibility/2006">
              <mc:Choice xmlns:v="urn:schemas-microsoft-com:vml" Requires="v">
                <p:oleObj spid="_x0000_s5143" r:id="rId5" imgW="608965" imgH="405765" progId="Equation.3">
                  <p:embed/>
                </p:oleObj>
              </mc:Choice>
              <mc:Fallback>
                <p:oleObj r:id="rId5" imgW="608965" imgH="405765" progId="Equation.3">
                  <p:embed/>
                  <p:pic>
                    <p:nvPicPr>
                      <p:cNvPr id="0" name="图片 3081"/>
                      <p:cNvPicPr/>
                      <p:nvPr/>
                    </p:nvPicPr>
                    <p:blipFill>
                      <a:blip r:embed="rId6"/>
                      <a:stretch>
                        <a:fillRect/>
                      </a:stretch>
                    </p:blipFill>
                    <p:spPr>
                      <a:xfrm>
                        <a:off x="2448534" y="2607692"/>
                        <a:ext cx="1368425" cy="900112"/>
                      </a:xfrm>
                      <a:prstGeom prst="rect">
                        <a:avLst/>
                      </a:prstGeom>
                      <a:noFill/>
                      <a:ln w="38100">
                        <a:noFill/>
                        <a:miter/>
                      </a:ln>
                    </p:spPr>
                  </p:pic>
                </p:oleObj>
              </mc:Fallback>
            </mc:AlternateContent>
          </a:graphicData>
        </a:graphic>
      </p:graphicFrame>
      <p:graphicFrame>
        <p:nvGraphicFramePr>
          <p:cNvPr id="1319941" name="对象 1319940"/>
          <p:cNvGraphicFramePr/>
          <p:nvPr/>
        </p:nvGraphicFramePr>
        <p:xfrm>
          <a:off x="539750" y="3635375"/>
          <a:ext cx="4946650" cy="1022350"/>
        </p:xfrm>
        <a:graphic>
          <a:graphicData uri="http://schemas.openxmlformats.org/presentationml/2006/ole">
            <mc:AlternateContent xmlns:mc="http://schemas.openxmlformats.org/markup-compatibility/2006">
              <mc:Choice xmlns:v="urn:schemas-microsoft-com:vml" Requires="v">
                <p:oleObj spid="_x0000_s5144" r:id="rId7" imgW="1637665" imgH="444500" progId="Equation.3">
                  <p:embed/>
                </p:oleObj>
              </mc:Choice>
              <mc:Fallback>
                <p:oleObj r:id="rId7" imgW="1637665" imgH="444500" progId="Equation.3">
                  <p:embed/>
                  <p:pic>
                    <p:nvPicPr>
                      <p:cNvPr id="0" name="图片 3079"/>
                      <p:cNvPicPr/>
                      <p:nvPr/>
                    </p:nvPicPr>
                    <p:blipFill>
                      <a:blip r:embed="rId8"/>
                      <a:stretch>
                        <a:fillRect/>
                      </a:stretch>
                    </p:blipFill>
                    <p:spPr>
                      <a:xfrm>
                        <a:off x="539750" y="3635375"/>
                        <a:ext cx="4946650" cy="1022350"/>
                      </a:xfrm>
                      <a:prstGeom prst="rect">
                        <a:avLst/>
                      </a:prstGeom>
                      <a:noFill/>
                      <a:ln w="38100">
                        <a:noFill/>
                        <a:miter/>
                      </a:ln>
                    </p:spPr>
                  </p:pic>
                </p:oleObj>
              </mc:Fallback>
            </mc:AlternateContent>
          </a:graphicData>
        </a:graphic>
      </p:graphicFrame>
      <p:sp>
        <p:nvSpPr>
          <p:cNvPr id="1319942" name="文本框 1319941"/>
          <p:cNvSpPr txBox="1"/>
          <p:nvPr/>
        </p:nvSpPr>
        <p:spPr>
          <a:xfrm>
            <a:off x="43991" y="2150103"/>
            <a:ext cx="4897438" cy="519113"/>
          </a:xfrm>
          <a:prstGeom prst="rect">
            <a:avLst/>
          </a:prstGeom>
          <a:noFill/>
          <a:ln w="9525">
            <a:noFill/>
          </a:ln>
        </p:spPr>
        <p:txBody>
          <a:bodyPr>
            <a:spAutoFit/>
          </a:bodyPr>
          <a:lstStyle/>
          <a:p>
            <a:pPr marR="0" defTabSz="914400">
              <a:buClrTx/>
              <a:buSzTx/>
              <a:buFontTx/>
              <a:buNone/>
              <a:defRPr/>
            </a:pPr>
            <a:r>
              <a:rPr kumimoji="0" lang="en-US" altLang="zh-CN"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A=1</a:t>
            </a:r>
            <a:r>
              <a:rPr kumimoji="0" lang="zh-CN" altLang="en-US"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，称单位抛物线函数</a:t>
            </a:r>
            <a:r>
              <a:rPr kumimoji="0" lang="en-US" altLang="zh-CN"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zh-CN" altLang="en-US"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记为</a:t>
            </a:r>
          </a:p>
        </p:txBody>
      </p:sp>
      <p:grpSp>
        <p:nvGrpSpPr>
          <p:cNvPr id="1319945" name="组合 1319944"/>
          <p:cNvGrpSpPr/>
          <p:nvPr/>
        </p:nvGrpSpPr>
        <p:grpSpPr>
          <a:xfrm>
            <a:off x="5851525" y="2478509"/>
            <a:ext cx="3113088" cy="2606675"/>
            <a:chOff x="616" y="1755"/>
            <a:chExt cx="2865" cy="2176"/>
          </a:xfrm>
        </p:grpSpPr>
        <p:sp>
          <p:nvSpPr>
            <p:cNvPr id="13322" name="直接连接符 1319945"/>
            <p:cNvSpPr/>
            <p:nvPr/>
          </p:nvSpPr>
          <p:spPr>
            <a:xfrm flipV="1">
              <a:off x="763" y="1854"/>
              <a:ext cx="0" cy="1704"/>
            </a:xfrm>
            <a:prstGeom prst="line">
              <a:avLst/>
            </a:prstGeom>
            <a:ln w="57150" cap="sq" cmpd="sng">
              <a:solidFill>
                <a:schemeClr val="tx1"/>
              </a:solidFill>
              <a:prstDash val="solid"/>
              <a:headEnd type="none" w="med" len="med"/>
              <a:tailEnd type="triangle" w="med" len="med"/>
            </a:ln>
          </p:spPr>
        </p:sp>
        <p:sp>
          <p:nvSpPr>
            <p:cNvPr id="13323" name="直接连接符 1319946"/>
            <p:cNvSpPr/>
            <p:nvPr/>
          </p:nvSpPr>
          <p:spPr>
            <a:xfrm>
              <a:off x="754" y="3576"/>
              <a:ext cx="2480" cy="0"/>
            </a:xfrm>
            <a:prstGeom prst="line">
              <a:avLst/>
            </a:prstGeom>
            <a:ln w="57150" cap="sq" cmpd="sng">
              <a:solidFill>
                <a:schemeClr val="tx1"/>
              </a:solidFill>
              <a:prstDash val="solid"/>
              <a:headEnd type="none" w="med" len="med"/>
              <a:tailEnd type="triangle" w="med" len="med"/>
            </a:ln>
          </p:spPr>
        </p:sp>
        <p:sp>
          <p:nvSpPr>
            <p:cNvPr id="13324" name="矩形 1319947"/>
            <p:cNvSpPr/>
            <p:nvPr/>
          </p:nvSpPr>
          <p:spPr>
            <a:xfrm>
              <a:off x="3235" y="3429"/>
              <a:ext cx="246" cy="381"/>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13325" name="矩形 1319948"/>
            <p:cNvSpPr/>
            <p:nvPr/>
          </p:nvSpPr>
          <p:spPr>
            <a:xfrm>
              <a:off x="726" y="1755"/>
              <a:ext cx="597" cy="382"/>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 f</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13326" name="矩形 1319949"/>
            <p:cNvSpPr/>
            <p:nvPr/>
          </p:nvSpPr>
          <p:spPr>
            <a:xfrm>
              <a:off x="616" y="3549"/>
              <a:ext cx="310" cy="382"/>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319951" name="任意多边形 1319950"/>
          <p:cNvSpPr/>
          <p:nvPr/>
        </p:nvSpPr>
        <p:spPr>
          <a:xfrm>
            <a:off x="6037263" y="2621384"/>
            <a:ext cx="1271587" cy="2016125"/>
          </a:xfrm>
          <a:custGeom>
            <a:avLst/>
            <a:gdLst/>
            <a:ahLst/>
            <a:cxnLst>
              <a:cxn ang="0">
                <a:pos x="0" y="2147483647"/>
              </a:cxn>
              <a:cxn ang="0">
                <a:pos x="2147483647" y="2147483647"/>
              </a:cxn>
              <a:cxn ang="0">
                <a:pos x="2147483647" y="2147483647"/>
              </a:cxn>
              <a:cxn ang="0">
                <a:pos x="2147483647" y="0"/>
              </a:cxn>
            </a:cxnLst>
            <a:rect l="0" t="0" r="0" b="0"/>
            <a:pathLst>
              <a:path w="735" h="1466">
                <a:moveTo>
                  <a:pt x="0" y="1466"/>
                </a:moveTo>
                <a:cubicBezTo>
                  <a:pt x="184" y="1351"/>
                  <a:pt x="368" y="1237"/>
                  <a:pt x="484" y="1060"/>
                </a:cubicBezTo>
                <a:cubicBezTo>
                  <a:pt x="600" y="883"/>
                  <a:pt x="653" y="583"/>
                  <a:pt x="694" y="406"/>
                </a:cubicBezTo>
                <a:cubicBezTo>
                  <a:pt x="735" y="229"/>
                  <a:pt x="726" y="68"/>
                  <a:pt x="733"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grpSp>
        <p:nvGrpSpPr>
          <p:cNvPr id="2" name="组合 1">
            <a:extLst>
              <a:ext uri="{FF2B5EF4-FFF2-40B4-BE49-F238E27FC236}">
                <a16:creationId xmlns:a16="http://schemas.microsoft.com/office/drawing/2014/main" id="{44345F59-9585-4272-8017-756D07C87B53}"/>
              </a:ext>
            </a:extLst>
          </p:cNvPr>
          <p:cNvGrpSpPr/>
          <p:nvPr/>
        </p:nvGrpSpPr>
        <p:grpSpPr>
          <a:xfrm>
            <a:off x="2533097" y="5434788"/>
            <a:ext cx="6623533" cy="585074"/>
            <a:chOff x="2533097" y="5434788"/>
            <a:chExt cx="6623533" cy="585074"/>
          </a:xfrm>
        </p:grpSpPr>
        <p:sp>
          <p:nvSpPr>
            <p:cNvPr id="1319952" name="文本框 1319951"/>
            <p:cNvSpPr txBox="1"/>
            <p:nvPr/>
          </p:nvSpPr>
          <p:spPr>
            <a:xfrm>
              <a:off x="3190081" y="5434788"/>
              <a:ext cx="4946650" cy="584775"/>
            </a:xfrm>
            <a:prstGeom prst="rect">
              <a:avLst/>
            </a:prstGeom>
            <a:noFill/>
            <a:ln w="9525">
              <a:noFill/>
            </a:ln>
          </p:spPr>
          <p:txBody>
            <a:bodyPr wrap="square">
              <a:spAutoFit/>
            </a:bodyPr>
            <a:lstStyle/>
            <a:p>
              <a:pPr marL="342900" marR="0" indent="-342900" algn="r" defTabSz="914400">
                <a:buClrTx/>
                <a:buSzTx/>
                <a:buFont typeface="Wingdings" panose="05000000000000000000" pitchFamily="2" charset="2"/>
                <a:buNone/>
                <a:defRPr/>
              </a:pPr>
              <a:r>
                <a:rPr kumimoji="0" lang="zh-CN" altLang="en-US"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考查系统的机动跟踪能力</a:t>
              </a:r>
            </a:p>
          </p:txBody>
        </p:sp>
        <p:sp>
          <p:nvSpPr>
            <p:cNvPr id="15" name="Freeform 2524">
              <a:extLst>
                <a:ext uri="{FF2B5EF4-FFF2-40B4-BE49-F238E27FC236}">
                  <a16:creationId xmlns:a16="http://schemas.microsoft.com/office/drawing/2014/main" id="{2670BAC0-4152-42E1-B55E-BC03C021A4F2}"/>
                </a:ext>
              </a:extLst>
            </p:cNvPr>
            <p:cNvSpPr>
              <a:spLocks noEditPoints="1"/>
            </p:cNvSpPr>
            <p:nvPr/>
          </p:nvSpPr>
          <p:spPr bwMode="auto">
            <a:xfrm rot="16200000">
              <a:off x="5583254" y="2446486"/>
              <a:ext cx="523219" cy="6623533"/>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19938"/>
                                        </p:tgtEl>
                                        <p:attrNameLst>
                                          <p:attrName>style.visibility</p:attrName>
                                        </p:attrNameLst>
                                      </p:cBhvr>
                                      <p:to>
                                        <p:strVal val="visible"/>
                                      </p:to>
                                    </p:set>
                                    <p:animEffect transition="in" filter="blinds(horizontal)">
                                      <p:cBhvr>
                                        <p:cTn id="7" dur="500"/>
                                        <p:tgtEl>
                                          <p:spTgt spid="1319938"/>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19939"/>
                                        </p:tgtEl>
                                        <p:attrNameLst>
                                          <p:attrName>style.visibility</p:attrName>
                                        </p:attrNameLst>
                                      </p:cBhvr>
                                      <p:to>
                                        <p:strVal val="visible"/>
                                      </p:to>
                                    </p:set>
                                    <p:animEffect transition="in" filter="blinds(horizontal)">
                                      <p:cBhvr>
                                        <p:cTn id="11" dur="500"/>
                                        <p:tgtEl>
                                          <p:spTgt spid="131993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319942"/>
                                        </p:tgtEl>
                                        <p:attrNameLst>
                                          <p:attrName>style.visibility</p:attrName>
                                        </p:attrNameLst>
                                      </p:cBhvr>
                                      <p:to>
                                        <p:strVal val="visible"/>
                                      </p:to>
                                    </p:set>
                                    <p:animEffect transition="in" filter="blinds(horizontal)">
                                      <p:cBhvr>
                                        <p:cTn id="16" dur="500"/>
                                        <p:tgtEl>
                                          <p:spTgt spid="1319942"/>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1319940"/>
                                        </p:tgtEl>
                                        <p:attrNameLst>
                                          <p:attrName>style.visibility</p:attrName>
                                        </p:attrNameLst>
                                      </p:cBhvr>
                                      <p:to>
                                        <p:strVal val="visible"/>
                                      </p:to>
                                    </p:set>
                                    <p:animEffect transition="in" filter="blinds(horizontal)">
                                      <p:cBhvr>
                                        <p:cTn id="20" dur="500"/>
                                        <p:tgtEl>
                                          <p:spTgt spid="1319940"/>
                                        </p:tgtEl>
                                      </p:cBhvr>
                                    </p:animEffect>
                                  </p:childTnLst>
                                </p:cTn>
                              </p:par>
                            </p:childTnLst>
                          </p:cTn>
                        </p:par>
                        <p:par>
                          <p:cTn id="21" fill="hold">
                            <p:stCondLst>
                              <p:cond delay="1000"/>
                            </p:stCondLst>
                            <p:childTnLst>
                              <p:par>
                                <p:cTn id="22" presetID="3" presetClass="entr" presetSubtype="10" fill="hold" nodeType="afterEffect">
                                  <p:stCondLst>
                                    <p:cond delay="0"/>
                                  </p:stCondLst>
                                  <p:childTnLst>
                                    <p:set>
                                      <p:cBhvr>
                                        <p:cTn id="23" dur="1" fill="hold">
                                          <p:stCondLst>
                                            <p:cond delay="0"/>
                                          </p:stCondLst>
                                        </p:cTn>
                                        <p:tgtEl>
                                          <p:spTgt spid="1319941"/>
                                        </p:tgtEl>
                                        <p:attrNameLst>
                                          <p:attrName>style.visibility</p:attrName>
                                        </p:attrNameLst>
                                      </p:cBhvr>
                                      <p:to>
                                        <p:strVal val="visible"/>
                                      </p:to>
                                    </p:set>
                                    <p:animEffect transition="in" filter="blinds(horizontal)">
                                      <p:cBhvr>
                                        <p:cTn id="24" dur="500"/>
                                        <p:tgtEl>
                                          <p:spTgt spid="131994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19945"/>
                                        </p:tgtEl>
                                        <p:attrNameLst>
                                          <p:attrName>style.visibility</p:attrName>
                                        </p:attrNameLst>
                                      </p:cBhvr>
                                      <p:to>
                                        <p:strVal val="visible"/>
                                      </p:to>
                                    </p:set>
                                    <p:animEffect transition="in" filter="dissolve">
                                      <p:cBhvr>
                                        <p:cTn id="29" dur="500"/>
                                        <p:tgtEl>
                                          <p:spTgt spid="131994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319951"/>
                                        </p:tgtEl>
                                        <p:attrNameLst>
                                          <p:attrName>style.visibility</p:attrName>
                                        </p:attrNameLst>
                                      </p:cBhvr>
                                      <p:to>
                                        <p:strVal val="visible"/>
                                      </p:to>
                                    </p:set>
                                    <p:animEffect transition="in" filter="wipe(down)">
                                      <p:cBhvr>
                                        <p:cTn id="34" dur="500"/>
                                        <p:tgtEl>
                                          <p:spTgt spid="1319951"/>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circle(in)">
                                      <p:cBhvr>
                                        <p:cTn id="3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9938" grpId="0"/>
      <p:bldP spid="131994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62" name="标题 1320961"/>
          <p:cNvSpPr>
            <a:spLocks noGrp="1"/>
          </p:cNvSpPr>
          <p:nvPr>
            <p:ph type="title"/>
          </p:nvPr>
        </p:nvSpPr>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800" b="0" i="0" u="none" strike="noStrike" kern="1200" cap="none" spc="0" normalizeH="0" baseline="0" noProof="1">
                <a:ln>
                  <a:noFill/>
                </a:ln>
                <a:solidFill>
                  <a:srgbClr val="FFFFFF"/>
                </a:solidFill>
                <a:effectLst/>
                <a:uLnTx/>
                <a:uFillTx/>
                <a:latin typeface="+mj-lt"/>
                <a:ea typeface="+mj-ea"/>
                <a:cs typeface="+mj-cs"/>
              </a:rPr>
              <a:t> </a:t>
            </a:r>
            <a:r>
              <a:rPr kumimoji="0" lang="en-US" altLang="zh-CN" sz="28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4.  </a:t>
            </a:r>
            <a:r>
              <a:rPr kumimoji="0" lang="zh-CN" altLang="en-US" sz="2800" b="1" i="0" u="none" strike="noStrike" kern="1200" cap="none" spc="0" normalizeH="0" baseline="0" noProof="1">
                <a:ln>
                  <a:noFill/>
                </a:ln>
                <a:solidFill>
                  <a:srgbClr val="006600"/>
                </a:solidFill>
                <a:effectLst>
                  <a:outerShdw blurRad="38100" dist="38100" dir="2700000">
                    <a:srgbClr val="C0C0C0"/>
                  </a:outerShdw>
                </a:effectLst>
                <a:uLnTx/>
                <a:uFillTx/>
                <a:latin typeface="+mj-lt"/>
                <a:ea typeface="+mj-ea"/>
                <a:cs typeface="+mj-cs"/>
              </a:rPr>
              <a:t>脉冲函数</a:t>
            </a:r>
          </a:p>
        </p:txBody>
      </p:sp>
      <p:graphicFrame>
        <p:nvGraphicFramePr>
          <p:cNvPr id="1320963" name="内容占位符 1320962"/>
          <p:cNvGraphicFramePr>
            <a:graphicFrameLocks noGrp="1"/>
          </p:cNvGraphicFramePr>
          <p:nvPr>
            <p:ph sz="quarter" idx="4294967295"/>
            <p:extLst>
              <p:ext uri="{D42A27DB-BD31-4B8C-83A1-F6EECF244321}">
                <p14:modId xmlns:p14="http://schemas.microsoft.com/office/powerpoint/2010/main" val="2800541232"/>
              </p:ext>
            </p:extLst>
          </p:nvPr>
        </p:nvGraphicFramePr>
        <p:xfrm>
          <a:off x="1152525" y="4300224"/>
          <a:ext cx="2590800" cy="479425"/>
        </p:xfrm>
        <a:graphic>
          <a:graphicData uri="http://schemas.openxmlformats.org/presentationml/2006/ole">
            <mc:AlternateContent xmlns:mc="http://schemas.openxmlformats.org/markup-compatibility/2006">
              <mc:Choice xmlns:v="urn:schemas-microsoft-com:vml" Requires="v">
                <p:oleObj spid="_x0000_s6166" r:id="rId3" imgW="1167130" imgH="215900" progId="Equation.3">
                  <p:embed/>
                </p:oleObj>
              </mc:Choice>
              <mc:Fallback>
                <p:oleObj r:id="rId3" imgW="1167130" imgH="215900" progId="Equation.3">
                  <p:embed/>
                  <p:pic>
                    <p:nvPicPr>
                      <p:cNvPr id="0" name="图片 3078"/>
                      <p:cNvPicPr/>
                      <p:nvPr/>
                    </p:nvPicPr>
                    <p:blipFill>
                      <a:blip r:embed="rId4"/>
                      <a:srcRect/>
                      <a:stretch>
                        <a:fillRect/>
                      </a:stretch>
                    </p:blipFill>
                    <p:spPr>
                      <a:xfrm>
                        <a:off x="1152525" y="4300224"/>
                        <a:ext cx="2590800" cy="479425"/>
                      </a:xfrm>
                      <a:prstGeom prst="rect">
                        <a:avLst/>
                      </a:prstGeom>
                      <a:noFill/>
                      <a:ln w="38100">
                        <a:miter/>
                      </a:ln>
                    </p:spPr>
                  </p:pic>
                </p:oleObj>
              </mc:Fallback>
            </mc:AlternateContent>
          </a:graphicData>
        </a:graphic>
      </p:graphicFrame>
      <p:graphicFrame>
        <p:nvGraphicFramePr>
          <p:cNvPr id="1320965" name="对象 1320964"/>
          <p:cNvGraphicFramePr/>
          <p:nvPr>
            <p:extLst>
              <p:ext uri="{D42A27DB-BD31-4B8C-83A1-F6EECF244321}">
                <p14:modId xmlns:p14="http://schemas.microsoft.com/office/powerpoint/2010/main" val="1732270694"/>
              </p:ext>
            </p:extLst>
          </p:nvPr>
        </p:nvGraphicFramePr>
        <p:xfrm>
          <a:off x="6566" y="2313339"/>
          <a:ext cx="3597275" cy="846137"/>
        </p:xfrm>
        <a:graphic>
          <a:graphicData uri="http://schemas.openxmlformats.org/presentationml/2006/ole">
            <mc:AlternateContent xmlns:mc="http://schemas.openxmlformats.org/markup-compatibility/2006">
              <mc:Choice xmlns:v="urn:schemas-microsoft-com:vml" Requires="v">
                <p:oleObj spid="_x0000_s6167" r:id="rId5" imgW="1409700" imgH="469900" progId="Equation.3">
                  <p:embed/>
                </p:oleObj>
              </mc:Choice>
              <mc:Fallback>
                <p:oleObj r:id="rId5" imgW="1409700" imgH="469900" progId="Equation.3">
                  <p:embed/>
                  <p:pic>
                    <p:nvPicPr>
                      <p:cNvPr id="0" name="图片 3083"/>
                      <p:cNvPicPr/>
                      <p:nvPr/>
                    </p:nvPicPr>
                    <p:blipFill>
                      <a:blip r:embed="rId6"/>
                      <a:stretch>
                        <a:fillRect/>
                      </a:stretch>
                    </p:blipFill>
                    <p:spPr>
                      <a:xfrm>
                        <a:off x="6566" y="2313339"/>
                        <a:ext cx="3597275" cy="846137"/>
                      </a:xfrm>
                      <a:prstGeom prst="rect">
                        <a:avLst/>
                      </a:prstGeom>
                      <a:noFill/>
                      <a:ln w="38100">
                        <a:noFill/>
                        <a:miter/>
                      </a:ln>
                    </p:spPr>
                  </p:pic>
                </p:oleObj>
              </mc:Fallback>
            </mc:AlternateContent>
          </a:graphicData>
        </a:graphic>
      </p:graphicFrame>
      <p:graphicFrame>
        <p:nvGraphicFramePr>
          <p:cNvPr id="1320966" name="对象 1320965"/>
          <p:cNvGraphicFramePr/>
          <p:nvPr>
            <p:extLst>
              <p:ext uri="{D42A27DB-BD31-4B8C-83A1-F6EECF244321}">
                <p14:modId xmlns:p14="http://schemas.microsoft.com/office/powerpoint/2010/main" val="3814420655"/>
              </p:ext>
            </p:extLst>
          </p:nvPr>
        </p:nvGraphicFramePr>
        <p:xfrm>
          <a:off x="573713" y="3545482"/>
          <a:ext cx="2832100" cy="649288"/>
        </p:xfrm>
        <a:graphic>
          <a:graphicData uri="http://schemas.openxmlformats.org/presentationml/2006/ole">
            <mc:AlternateContent xmlns:mc="http://schemas.openxmlformats.org/markup-compatibility/2006">
              <mc:Choice xmlns:v="urn:schemas-microsoft-com:vml" Requires="v">
                <p:oleObj spid="_x0000_s6168" r:id="rId7" imgW="1066165" imgH="330200" progId="Equation.3">
                  <p:embed/>
                </p:oleObj>
              </mc:Choice>
              <mc:Fallback>
                <p:oleObj r:id="rId7" imgW="1066165" imgH="330200" progId="Equation.3">
                  <p:embed/>
                  <p:pic>
                    <p:nvPicPr>
                      <p:cNvPr id="0" name="图片 3082"/>
                      <p:cNvPicPr/>
                      <p:nvPr/>
                    </p:nvPicPr>
                    <p:blipFill>
                      <a:blip r:embed="rId8"/>
                      <a:stretch>
                        <a:fillRect/>
                      </a:stretch>
                    </p:blipFill>
                    <p:spPr>
                      <a:xfrm>
                        <a:off x="573713" y="3545482"/>
                        <a:ext cx="2832100" cy="649288"/>
                      </a:xfrm>
                      <a:prstGeom prst="rect">
                        <a:avLst/>
                      </a:prstGeom>
                      <a:noFill/>
                      <a:ln w="38100">
                        <a:noFill/>
                        <a:miter/>
                      </a:ln>
                    </p:spPr>
                  </p:pic>
                </p:oleObj>
              </mc:Fallback>
            </mc:AlternateContent>
          </a:graphicData>
        </a:graphic>
      </p:graphicFrame>
      <p:grpSp>
        <p:nvGrpSpPr>
          <p:cNvPr id="1320971" name="组合 1320970"/>
          <p:cNvGrpSpPr/>
          <p:nvPr/>
        </p:nvGrpSpPr>
        <p:grpSpPr>
          <a:xfrm>
            <a:off x="5461000" y="1971476"/>
            <a:ext cx="2687638" cy="2033588"/>
            <a:chOff x="3304" y="3039"/>
            <a:chExt cx="1693" cy="1281"/>
          </a:xfrm>
        </p:grpSpPr>
        <p:sp>
          <p:nvSpPr>
            <p:cNvPr id="14345" name="直接连接符 1320971"/>
            <p:cNvSpPr/>
            <p:nvPr/>
          </p:nvSpPr>
          <p:spPr>
            <a:xfrm flipV="1">
              <a:off x="3406" y="3100"/>
              <a:ext cx="0" cy="938"/>
            </a:xfrm>
            <a:prstGeom prst="line">
              <a:avLst/>
            </a:prstGeom>
            <a:ln w="57150" cap="sq" cmpd="sng">
              <a:solidFill>
                <a:schemeClr val="tx1"/>
              </a:solidFill>
              <a:prstDash val="solid"/>
              <a:headEnd type="none" w="med" len="med"/>
              <a:tailEnd type="triangle" w="med" len="med"/>
            </a:ln>
          </p:spPr>
        </p:sp>
        <p:sp>
          <p:nvSpPr>
            <p:cNvPr id="14346" name="直接连接符 1320972"/>
            <p:cNvSpPr/>
            <p:nvPr/>
          </p:nvSpPr>
          <p:spPr>
            <a:xfrm>
              <a:off x="3400" y="4051"/>
              <a:ext cx="1440" cy="0"/>
            </a:xfrm>
            <a:prstGeom prst="line">
              <a:avLst/>
            </a:prstGeom>
            <a:ln w="57150" cap="sq" cmpd="sng">
              <a:solidFill>
                <a:schemeClr val="tx1"/>
              </a:solidFill>
              <a:prstDash val="solid"/>
              <a:headEnd type="none" w="med" len="med"/>
              <a:tailEnd type="triangle" w="med" len="med"/>
            </a:ln>
          </p:spPr>
        </p:sp>
        <p:sp>
          <p:nvSpPr>
            <p:cNvPr id="14347" name="矩形 1320973"/>
            <p:cNvSpPr/>
            <p:nvPr/>
          </p:nvSpPr>
          <p:spPr>
            <a:xfrm>
              <a:off x="4828" y="3947"/>
              <a:ext cx="169" cy="28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14348" name="矩形 1320974"/>
            <p:cNvSpPr/>
            <p:nvPr/>
          </p:nvSpPr>
          <p:spPr>
            <a:xfrm>
              <a:off x="3389" y="3039"/>
              <a:ext cx="440" cy="288"/>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14349" name="矩形 1320975"/>
            <p:cNvSpPr/>
            <p:nvPr/>
          </p:nvSpPr>
          <p:spPr>
            <a:xfrm>
              <a:off x="3304" y="4032"/>
              <a:ext cx="212" cy="288"/>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320977" name="直接连接符 1320976"/>
          <p:cNvSpPr/>
          <p:nvPr/>
        </p:nvSpPr>
        <p:spPr>
          <a:xfrm flipV="1">
            <a:off x="5651500" y="2462014"/>
            <a:ext cx="0" cy="1116012"/>
          </a:xfrm>
          <a:prstGeom prst="line">
            <a:avLst/>
          </a:prstGeom>
          <a:ln w="76200" cap="sq" cmpd="sng">
            <a:solidFill>
              <a:srgbClr val="993300"/>
            </a:solidFill>
            <a:prstDash val="solid"/>
            <a:headEnd type="none" w="med" len="med"/>
            <a:tailEnd type="triangle" w="med" len="med"/>
          </a:ln>
        </p:spPr>
      </p:sp>
      <p:grpSp>
        <p:nvGrpSpPr>
          <p:cNvPr id="2" name="组合 1">
            <a:extLst>
              <a:ext uri="{FF2B5EF4-FFF2-40B4-BE49-F238E27FC236}">
                <a16:creationId xmlns:a16="http://schemas.microsoft.com/office/drawing/2014/main" id="{0D515FA7-8C80-4E67-910A-5D976A8AE9A4}"/>
              </a:ext>
            </a:extLst>
          </p:cNvPr>
          <p:cNvGrpSpPr/>
          <p:nvPr/>
        </p:nvGrpSpPr>
        <p:grpSpPr>
          <a:xfrm>
            <a:off x="2483768" y="5440424"/>
            <a:ext cx="6672862" cy="584775"/>
            <a:chOff x="2483768" y="5440424"/>
            <a:chExt cx="6672862" cy="584775"/>
          </a:xfrm>
        </p:grpSpPr>
        <p:sp>
          <p:nvSpPr>
            <p:cNvPr id="1320978" name="文本框 1320977"/>
            <p:cNvSpPr txBox="1"/>
            <p:nvPr/>
          </p:nvSpPr>
          <p:spPr>
            <a:xfrm>
              <a:off x="2483768" y="5440424"/>
              <a:ext cx="6481391" cy="584775"/>
            </a:xfrm>
            <a:prstGeom prst="rect">
              <a:avLst/>
            </a:prstGeom>
            <a:noFill/>
            <a:ln w="9525">
              <a:noFill/>
            </a:ln>
          </p:spPr>
          <p:txBody>
            <a:bodyPr wrap="square">
              <a:spAutoFit/>
            </a:bodyPr>
            <a:lstStyle/>
            <a:p>
              <a:pPr marL="342900" marR="0" indent="-342900" algn="r" defTabSz="914400">
                <a:buClrTx/>
                <a:buSzTx/>
                <a:buFont typeface="Wingdings" panose="05000000000000000000" pitchFamily="2" charset="2"/>
                <a:buNone/>
                <a:defRPr/>
              </a:pPr>
              <a:r>
                <a:rPr kumimoji="0" lang="zh-CN" altLang="en-US"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考查系统在脉冲扰动下的恢复情况</a:t>
              </a:r>
            </a:p>
          </p:txBody>
        </p:sp>
        <p:sp>
          <p:nvSpPr>
            <p:cNvPr id="14" name="Freeform 2524">
              <a:extLst>
                <a:ext uri="{FF2B5EF4-FFF2-40B4-BE49-F238E27FC236}">
                  <a16:creationId xmlns:a16="http://schemas.microsoft.com/office/drawing/2014/main" id="{B9E9D027-855A-44D0-B6C8-3DD23A4D294C}"/>
                </a:ext>
              </a:extLst>
            </p:cNvPr>
            <p:cNvSpPr>
              <a:spLocks noEditPoints="1"/>
            </p:cNvSpPr>
            <p:nvPr/>
          </p:nvSpPr>
          <p:spPr bwMode="auto">
            <a:xfrm rot="16200000">
              <a:off x="5583254" y="2446486"/>
              <a:ext cx="523219" cy="6623533"/>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20962"/>
                                        </p:tgtEl>
                                        <p:attrNameLst>
                                          <p:attrName>style.visibility</p:attrName>
                                        </p:attrNameLst>
                                      </p:cBhvr>
                                      <p:to>
                                        <p:strVal val="visible"/>
                                      </p:to>
                                    </p:set>
                                    <p:animEffect transition="in" filter="blinds(horizontal)">
                                      <p:cBhvr>
                                        <p:cTn id="7" dur="500"/>
                                        <p:tgtEl>
                                          <p:spTgt spid="132096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20965"/>
                                        </p:tgtEl>
                                        <p:attrNameLst>
                                          <p:attrName>style.visibility</p:attrName>
                                        </p:attrNameLst>
                                      </p:cBhvr>
                                      <p:to>
                                        <p:strVal val="visible"/>
                                      </p:to>
                                    </p:set>
                                    <p:animEffect transition="in" filter="blinds(horizontal)">
                                      <p:cBhvr>
                                        <p:cTn id="11" dur="500"/>
                                        <p:tgtEl>
                                          <p:spTgt spid="132096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320966"/>
                                        </p:tgtEl>
                                        <p:attrNameLst>
                                          <p:attrName>style.visibility</p:attrName>
                                        </p:attrNameLst>
                                      </p:cBhvr>
                                      <p:to>
                                        <p:strVal val="visible"/>
                                      </p:to>
                                    </p:set>
                                    <p:animEffect transition="in" filter="blinds(horizontal)">
                                      <p:cBhvr>
                                        <p:cTn id="16" dur="500"/>
                                        <p:tgtEl>
                                          <p:spTgt spid="1320966"/>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1320963"/>
                                        </p:tgtEl>
                                        <p:attrNameLst>
                                          <p:attrName>style.visibility</p:attrName>
                                        </p:attrNameLst>
                                      </p:cBhvr>
                                      <p:to>
                                        <p:strVal val="visible"/>
                                      </p:to>
                                    </p:set>
                                    <p:animEffect transition="in" filter="blinds(horizontal)">
                                      <p:cBhvr>
                                        <p:cTn id="20" dur="500"/>
                                        <p:tgtEl>
                                          <p:spTgt spid="132096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320971"/>
                                        </p:tgtEl>
                                        <p:attrNameLst>
                                          <p:attrName>style.visibility</p:attrName>
                                        </p:attrNameLst>
                                      </p:cBhvr>
                                      <p:to>
                                        <p:strVal val="visible"/>
                                      </p:to>
                                    </p:set>
                                    <p:animEffect transition="in" filter="dissolve">
                                      <p:cBhvr>
                                        <p:cTn id="25" dur="500"/>
                                        <p:tgtEl>
                                          <p:spTgt spid="132097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320977"/>
                                        </p:tgtEl>
                                        <p:attrNameLst>
                                          <p:attrName>style.visibility</p:attrName>
                                        </p:attrNameLst>
                                      </p:cBhvr>
                                      <p:to>
                                        <p:strVal val="visible"/>
                                      </p:to>
                                    </p:set>
                                    <p:animEffect transition="in" filter="wipe(down)">
                                      <p:cBhvr>
                                        <p:cTn id="30" dur="500"/>
                                        <p:tgtEl>
                                          <p:spTgt spid="1320977"/>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circle(in)">
                                      <p:cBhvr>
                                        <p:cTn id="3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989" name="文本框 1321988"/>
          <p:cNvSpPr txBox="1"/>
          <p:nvPr/>
        </p:nvSpPr>
        <p:spPr>
          <a:xfrm>
            <a:off x="971600" y="1069580"/>
            <a:ext cx="3024188" cy="519113"/>
          </a:xfrm>
          <a:prstGeom prst="rect">
            <a:avLst/>
          </a:prstGeom>
          <a:noFill/>
          <a:ln w="9525">
            <a:noFill/>
          </a:ln>
        </p:spPr>
        <p:txBody>
          <a:bodyPr>
            <a:spAutoFit/>
          </a:bodyPr>
          <a:lstStyle/>
          <a:p>
            <a:pPr marR="0" algn="just" defTabSz="914400" eaLnBrk="0" hangingPunct="0">
              <a:spcBef>
                <a:spcPct val="0"/>
              </a:spcBef>
              <a:buClrTx/>
              <a:buSzTx/>
              <a:buFontTx/>
              <a:buNone/>
              <a:defRPr/>
            </a:pPr>
            <a:r>
              <a:rPr kumimoji="0" lang="zh-CN" altLang="en-US"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5</a:t>
            </a:r>
            <a:r>
              <a:rPr kumimoji="0" lang="zh-CN" altLang="en-US" sz="2800" kern="1200" cap="none" spc="0" normalizeH="0" baseline="0" noProof="1">
                <a:solidFill>
                  <a:srgbClr val="0066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）正弦函数</a:t>
            </a:r>
            <a:endParaRPr kumimoji="0" lang="zh-CN" altLang="en-US" sz="2800" b="0" kern="1200" cap="none" spc="0" normalizeH="0" baseline="0" noProof="1">
              <a:solidFill>
                <a:schemeClr val="tx1"/>
              </a:solidFill>
              <a:latin typeface="Times New Roman" panose="02020603050405020304" pitchFamily="18" charset="0"/>
              <a:ea typeface="宋体" panose="02010600030101010101" pitchFamily="2" charset="-122"/>
              <a:cs typeface="+mn-cs"/>
            </a:endParaRPr>
          </a:p>
        </p:txBody>
      </p:sp>
      <p:sp>
        <p:nvSpPr>
          <p:cNvPr id="15363" name="标题 1"/>
          <p:cNvSpPr>
            <a:spLocks noGrp="1"/>
          </p:cNvSpPr>
          <p:nvPr>
            <p:ph type="title"/>
          </p:nvPr>
        </p:nvSpPr>
        <p:spPr/>
        <p:txBody>
          <a:bodyPr vert="horz" wrap="square" lIns="91440" tIns="45720" rIns="91440" bIns="45720" anchor="t" anchorCtr="0"/>
          <a:lstStyle/>
          <a:p>
            <a:pPr eaLnBrk="1" hangingPunct="1"/>
            <a:r>
              <a:rPr lang="en-US" altLang="zh-CN" dirty="0"/>
              <a:t> </a:t>
            </a:r>
          </a:p>
        </p:txBody>
      </p:sp>
      <p:graphicFrame>
        <p:nvGraphicFramePr>
          <p:cNvPr id="1321990" name="内容占位符 1321989"/>
          <p:cNvGraphicFramePr>
            <a:graphicFrameLocks noGrp="1"/>
          </p:cNvGraphicFramePr>
          <p:nvPr>
            <p:ph sz="half" idx="4294967295"/>
            <p:extLst>
              <p:ext uri="{D42A27DB-BD31-4B8C-83A1-F6EECF244321}">
                <p14:modId xmlns:p14="http://schemas.microsoft.com/office/powerpoint/2010/main" val="460486107"/>
              </p:ext>
            </p:extLst>
          </p:nvPr>
        </p:nvGraphicFramePr>
        <p:xfrm>
          <a:off x="1561305" y="2420888"/>
          <a:ext cx="6335713" cy="1584325"/>
        </p:xfrm>
        <a:graphic>
          <a:graphicData uri="http://schemas.openxmlformats.org/presentationml/2006/ole">
            <mc:AlternateContent xmlns:mc="http://schemas.openxmlformats.org/markup-compatibility/2006">
              <mc:Choice xmlns:v="urn:schemas-microsoft-com:vml" Requires="v">
                <p:oleObj spid="_x0000_s7176" r:id="rId3" imgW="1839595" imgH="405765" progId="Equation.3">
                  <p:embed/>
                </p:oleObj>
              </mc:Choice>
              <mc:Fallback>
                <p:oleObj r:id="rId3" imgW="1839595" imgH="405765" progId="Equation.3">
                  <p:embed/>
                  <p:pic>
                    <p:nvPicPr>
                      <p:cNvPr id="0" name="图片 3084"/>
                      <p:cNvPicPr/>
                      <p:nvPr/>
                    </p:nvPicPr>
                    <p:blipFill>
                      <a:blip r:embed="rId4"/>
                      <a:srcRect/>
                      <a:stretch>
                        <a:fillRect/>
                      </a:stretch>
                    </p:blipFill>
                    <p:spPr>
                      <a:xfrm>
                        <a:off x="1561305" y="2420888"/>
                        <a:ext cx="6335713" cy="1584325"/>
                      </a:xfrm>
                      <a:prstGeom prst="rect">
                        <a:avLst/>
                      </a:prstGeom>
                      <a:noFill/>
                      <a:ln w="38100">
                        <a:miter/>
                      </a:ln>
                    </p:spPr>
                  </p:pic>
                </p:oleObj>
              </mc:Fallback>
            </mc:AlternateContent>
          </a:graphicData>
        </a:graphic>
      </p:graphicFrame>
      <p:sp>
        <p:nvSpPr>
          <p:cNvPr id="5" name="Freeform 2546">
            <a:extLst>
              <a:ext uri="{FF2B5EF4-FFF2-40B4-BE49-F238E27FC236}">
                <a16:creationId xmlns:a16="http://schemas.microsoft.com/office/drawing/2014/main" id="{E2FC5012-414D-4DE8-9908-D46DA098C185}"/>
              </a:ext>
            </a:extLst>
          </p:cNvPr>
          <p:cNvSpPr>
            <a:spLocks noEditPoints="1"/>
          </p:cNvSpPr>
          <p:nvPr/>
        </p:nvSpPr>
        <p:spPr bwMode="auto">
          <a:xfrm>
            <a:off x="7668344" y="4803845"/>
            <a:ext cx="1266949" cy="1249635"/>
          </a:xfrm>
          <a:custGeom>
            <a:avLst/>
            <a:gdLst/>
            <a:ahLst/>
            <a:cxnLst>
              <a:cxn ang="0">
                <a:pos x="168" y="178"/>
              </a:cxn>
              <a:cxn ang="0">
                <a:pos x="387" y="489"/>
              </a:cxn>
              <a:cxn ang="0">
                <a:pos x="570" y="130"/>
              </a:cxn>
              <a:cxn ang="0">
                <a:pos x="557" y="100"/>
              </a:cxn>
              <a:cxn ang="0">
                <a:pos x="444" y="56"/>
              </a:cxn>
              <a:cxn ang="0">
                <a:pos x="343" y="19"/>
              </a:cxn>
              <a:cxn ang="0">
                <a:pos x="367" y="28"/>
              </a:cxn>
              <a:cxn ang="0">
                <a:pos x="366" y="36"/>
              </a:cxn>
              <a:cxn ang="0">
                <a:pos x="273" y="75"/>
              </a:cxn>
              <a:cxn ang="0">
                <a:pos x="360" y="52"/>
              </a:cxn>
              <a:cxn ang="0">
                <a:pos x="349" y="63"/>
              </a:cxn>
              <a:cxn ang="0">
                <a:pos x="246" y="103"/>
              </a:cxn>
              <a:cxn ang="0">
                <a:pos x="230" y="122"/>
              </a:cxn>
              <a:cxn ang="0">
                <a:pos x="318" y="103"/>
              </a:cxn>
              <a:cxn ang="0">
                <a:pos x="439" y="84"/>
              </a:cxn>
              <a:cxn ang="0">
                <a:pos x="348" y="119"/>
              </a:cxn>
              <a:cxn ang="0">
                <a:pos x="248" y="153"/>
              </a:cxn>
              <a:cxn ang="0">
                <a:pos x="193" y="175"/>
              </a:cxn>
              <a:cxn ang="0">
                <a:pos x="169" y="187"/>
              </a:cxn>
              <a:cxn ang="0">
                <a:pos x="182" y="196"/>
              </a:cxn>
              <a:cxn ang="0">
                <a:pos x="151" y="208"/>
              </a:cxn>
              <a:cxn ang="0">
                <a:pos x="151" y="208"/>
              </a:cxn>
              <a:cxn ang="0">
                <a:pos x="120" y="239"/>
              </a:cxn>
              <a:cxn ang="0">
                <a:pos x="174" y="230"/>
              </a:cxn>
              <a:cxn ang="0">
                <a:pos x="110" y="250"/>
              </a:cxn>
              <a:cxn ang="0">
                <a:pos x="98" y="263"/>
              </a:cxn>
              <a:cxn ang="0">
                <a:pos x="460" y="188"/>
              </a:cxn>
              <a:cxn ang="0">
                <a:pos x="182" y="319"/>
              </a:cxn>
              <a:cxn ang="0">
                <a:pos x="184" y="327"/>
              </a:cxn>
              <a:cxn ang="0">
                <a:pos x="444" y="267"/>
              </a:cxn>
              <a:cxn ang="0">
                <a:pos x="112" y="336"/>
              </a:cxn>
              <a:cxn ang="0">
                <a:pos x="444" y="327"/>
              </a:cxn>
              <a:cxn ang="0">
                <a:pos x="261" y="396"/>
              </a:cxn>
              <a:cxn ang="0">
                <a:pos x="434" y="327"/>
              </a:cxn>
              <a:cxn ang="0">
                <a:pos x="507" y="282"/>
              </a:cxn>
              <a:cxn ang="0">
                <a:pos x="480" y="276"/>
              </a:cxn>
              <a:cxn ang="0">
                <a:pos x="375" y="295"/>
              </a:cxn>
              <a:cxn ang="0">
                <a:pos x="516" y="259"/>
              </a:cxn>
              <a:cxn ang="0">
                <a:pos x="320" y="323"/>
              </a:cxn>
              <a:cxn ang="0">
                <a:pos x="238" y="366"/>
              </a:cxn>
              <a:cxn ang="0">
                <a:pos x="190" y="383"/>
              </a:cxn>
              <a:cxn ang="0">
                <a:pos x="249" y="396"/>
              </a:cxn>
              <a:cxn ang="0">
                <a:pos x="276" y="404"/>
              </a:cxn>
              <a:cxn ang="0">
                <a:pos x="301" y="414"/>
              </a:cxn>
              <a:cxn ang="0">
                <a:pos x="399" y="395"/>
              </a:cxn>
              <a:cxn ang="0">
                <a:pos x="250" y="455"/>
              </a:cxn>
              <a:cxn ang="0">
                <a:pos x="269" y="465"/>
              </a:cxn>
              <a:cxn ang="0">
                <a:pos x="354" y="447"/>
              </a:cxn>
              <a:cxn ang="0">
                <a:pos x="353" y="449"/>
              </a:cxn>
              <a:cxn ang="0">
                <a:pos x="325" y="495"/>
              </a:cxn>
              <a:cxn ang="0">
                <a:pos x="509" y="290"/>
              </a:cxn>
              <a:cxn ang="0">
                <a:pos x="447" y="209"/>
              </a:cxn>
              <a:cxn ang="0">
                <a:pos x="605" y="169"/>
              </a:cxn>
              <a:cxn ang="0">
                <a:pos x="573" y="182"/>
              </a:cxn>
              <a:cxn ang="0">
                <a:pos x="588" y="189"/>
              </a:cxn>
              <a:cxn ang="0">
                <a:pos x="514" y="229"/>
              </a:cxn>
              <a:cxn ang="0">
                <a:pos x="260" y="468"/>
              </a:cxn>
              <a:cxn ang="0">
                <a:pos x="165" y="439"/>
              </a:cxn>
              <a:cxn ang="0">
                <a:pos x="16" y="391"/>
              </a:cxn>
              <a:cxn ang="0">
                <a:pos x="22" y="410"/>
              </a:cxn>
              <a:cxn ang="0">
                <a:pos x="643" y="181"/>
              </a:cxn>
              <a:cxn ang="0">
                <a:pos x="482" y="364"/>
              </a:cxn>
            </a:cxnLst>
            <a:rect l="0" t="0" r="r" b="b"/>
            <a:pathLst>
              <a:path w="662" h="566">
                <a:moveTo>
                  <a:pt x="661" y="189"/>
                </a:moveTo>
                <a:lnTo>
                  <a:pt x="661" y="189"/>
                </a:lnTo>
                <a:lnTo>
                  <a:pt x="660" y="188"/>
                </a:lnTo>
                <a:lnTo>
                  <a:pt x="659" y="188"/>
                </a:lnTo>
                <a:lnTo>
                  <a:pt x="659" y="188"/>
                </a:lnTo>
                <a:lnTo>
                  <a:pt x="656" y="188"/>
                </a:lnTo>
                <a:lnTo>
                  <a:pt x="654" y="186"/>
                </a:lnTo>
                <a:lnTo>
                  <a:pt x="651" y="182"/>
                </a:lnTo>
                <a:lnTo>
                  <a:pt x="649" y="177"/>
                </a:lnTo>
                <a:lnTo>
                  <a:pt x="647" y="173"/>
                </a:lnTo>
                <a:lnTo>
                  <a:pt x="647" y="173"/>
                </a:lnTo>
                <a:lnTo>
                  <a:pt x="646" y="164"/>
                </a:lnTo>
                <a:lnTo>
                  <a:pt x="646" y="155"/>
                </a:lnTo>
                <a:lnTo>
                  <a:pt x="647" y="147"/>
                </a:lnTo>
                <a:lnTo>
                  <a:pt x="650" y="138"/>
                </a:lnTo>
                <a:lnTo>
                  <a:pt x="650" y="138"/>
                </a:lnTo>
                <a:lnTo>
                  <a:pt x="651" y="137"/>
                </a:lnTo>
                <a:lnTo>
                  <a:pt x="651" y="136"/>
                </a:lnTo>
                <a:lnTo>
                  <a:pt x="651" y="136"/>
                </a:lnTo>
                <a:lnTo>
                  <a:pt x="651" y="134"/>
                </a:lnTo>
                <a:lnTo>
                  <a:pt x="649" y="133"/>
                </a:lnTo>
                <a:lnTo>
                  <a:pt x="649" y="133"/>
                </a:lnTo>
                <a:lnTo>
                  <a:pt x="512" y="71"/>
                </a:lnTo>
                <a:lnTo>
                  <a:pt x="512" y="71"/>
                </a:lnTo>
                <a:lnTo>
                  <a:pt x="427" y="34"/>
                </a:lnTo>
                <a:lnTo>
                  <a:pt x="383" y="16"/>
                </a:lnTo>
                <a:lnTo>
                  <a:pt x="362" y="7"/>
                </a:lnTo>
                <a:lnTo>
                  <a:pt x="340" y="0"/>
                </a:lnTo>
                <a:lnTo>
                  <a:pt x="340" y="0"/>
                </a:lnTo>
                <a:lnTo>
                  <a:pt x="338" y="0"/>
                </a:lnTo>
                <a:lnTo>
                  <a:pt x="336" y="1"/>
                </a:lnTo>
                <a:lnTo>
                  <a:pt x="336" y="1"/>
                </a:lnTo>
                <a:lnTo>
                  <a:pt x="315" y="22"/>
                </a:lnTo>
                <a:lnTo>
                  <a:pt x="292" y="44"/>
                </a:lnTo>
                <a:lnTo>
                  <a:pt x="251" y="88"/>
                </a:lnTo>
                <a:lnTo>
                  <a:pt x="168" y="178"/>
                </a:lnTo>
                <a:lnTo>
                  <a:pt x="168" y="178"/>
                </a:lnTo>
                <a:lnTo>
                  <a:pt x="92" y="259"/>
                </a:lnTo>
                <a:lnTo>
                  <a:pt x="53" y="301"/>
                </a:lnTo>
                <a:lnTo>
                  <a:pt x="18" y="343"/>
                </a:lnTo>
                <a:lnTo>
                  <a:pt x="18" y="343"/>
                </a:lnTo>
                <a:lnTo>
                  <a:pt x="14" y="346"/>
                </a:lnTo>
                <a:lnTo>
                  <a:pt x="11" y="350"/>
                </a:lnTo>
                <a:lnTo>
                  <a:pt x="8" y="354"/>
                </a:lnTo>
                <a:lnTo>
                  <a:pt x="5" y="360"/>
                </a:lnTo>
                <a:lnTo>
                  <a:pt x="2" y="371"/>
                </a:lnTo>
                <a:lnTo>
                  <a:pt x="0" y="382"/>
                </a:lnTo>
                <a:lnTo>
                  <a:pt x="1" y="394"/>
                </a:lnTo>
                <a:lnTo>
                  <a:pt x="2" y="399"/>
                </a:lnTo>
                <a:lnTo>
                  <a:pt x="4" y="404"/>
                </a:lnTo>
                <a:lnTo>
                  <a:pt x="7" y="409"/>
                </a:lnTo>
                <a:lnTo>
                  <a:pt x="10" y="413"/>
                </a:lnTo>
                <a:lnTo>
                  <a:pt x="14" y="416"/>
                </a:lnTo>
                <a:lnTo>
                  <a:pt x="18" y="418"/>
                </a:lnTo>
                <a:lnTo>
                  <a:pt x="18" y="418"/>
                </a:lnTo>
                <a:lnTo>
                  <a:pt x="30" y="426"/>
                </a:lnTo>
                <a:lnTo>
                  <a:pt x="43" y="433"/>
                </a:lnTo>
                <a:lnTo>
                  <a:pt x="70" y="448"/>
                </a:lnTo>
                <a:lnTo>
                  <a:pt x="70" y="448"/>
                </a:lnTo>
                <a:lnTo>
                  <a:pt x="116" y="471"/>
                </a:lnTo>
                <a:lnTo>
                  <a:pt x="163" y="495"/>
                </a:lnTo>
                <a:lnTo>
                  <a:pt x="163" y="495"/>
                </a:lnTo>
                <a:lnTo>
                  <a:pt x="237" y="533"/>
                </a:lnTo>
                <a:lnTo>
                  <a:pt x="274" y="550"/>
                </a:lnTo>
                <a:lnTo>
                  <a:pt x="292" y="559"/>
                </a:lnTo>
                <a:lnTo>
                  <a:pt x="312" y="566"/>
                </a:lnTo>
                <a:lnTo>
                  <a:pt x="312" y="566"/>
                </a:lnTo>
                <a:lnTo>
                  <a:pt x="315" y="566"/>
                </a:lnTo>
                <a:lnTo>
                  <a:pt x="316" y="564"/>
                </a:lnTo>
                <a:lnTo>
                  <a:pt x="316" y="564"/>
                </a:lnTo>
                <a:lnTo>
                  <a:pt x="317" y="564"/>
                </a:lnTo>
                <a:lnTo>
                  <a:pt x="317" y="564"/>
                </a:lnTo>
                <a:lnTo>
                  <a:pt x="351" y="526"/>
                </a:lnTo>
                <a:lnTo>
                  <a:pt x="387" y="489"/>
                </a:lnTo>
                <a:lnTo>
                  <a:pt x="457" y="416"/>
                </a:lnTo>
                <a:lnTo>
                  <a:pt x="457" y="416"/>
                </a:lnTo>
                <a:lnTo>
                  <a:pt x="549" y="319"/>
                </a:lnTo>
                <a:lnTo>
                  <a:pt x="594" y="270"/>
                </a:lnTo>
                <a:lnTo>
                  <a:pt x="640" y="221"/>
                </a:lnTo>
                <a:lnTo>
                  <a:pt x="640" y="221"/>
                </a:lnTo>
                <a:lnTo>
                  <a:pt x="652" y="208"/>
                </a:lnTo>
                <a:lnTo>
                  <a:pt x="658" y="201"/>
                </a:lnTo>
                <a:lnTo>
                  <a:pt x="661" y="197"/>
                </a:lnTo>
                <a:lnTo>
                  <a:pt x="662" y="194"/>
                </a:lnTo>
                <a:lnTo>
                  <a:pt x="662" y="194"/>
                </a:lnTo>
                <a:lnTo>
                  <a:pt x="662" y="191"/>
                </a:lnTo>
                <a:lnTo>
                  <a:pt x="661" y="189"/>
                </a:lnTo>
                <a:lnTo>
                  <a:pt x="661" y="189"/>
                </a:lnTo>
                <a:close/>
                <a:moveTo>
                  <a:pt x="622" y="129"/>
                </a:moveTo>
                <a:lnTo>
                  <a:pt x="622" y="129"/>
                </a:lnTo>
                <a:lnTo>
                  <a:pt x="591" y="136"/>
                </a:lnTo>
                <a:lnTo>
                  <a:pt x="560" y="142"/>
                </a:lnTo>
                <a:lnTo>
                  <a:pt x="496" y="158"/>
                </a:lnTo>
                <a:lnTo>
                  <a:pt x="433" y="174"/>
                </a:lnTo>
                <a:lnTo>
                  <a:pt x="370" y="190"/>
                </a:lnTo>
                <a:lnTo>
                  <a:pt x="370" y="190"/>
                </a:lnTo>
                <a:lnTo>
                  <a:pt x="250" y="221"/>
                </a:lnTo>
                <a:lnTo>
                  <a:pt x="128" y="253"/>
                </a:lnTo>
                <a:lnTo>
                  <a:pt x="128" y="253"/>
                </a:lnTo>
                <a:lnTo>
                  <a:pt x="143" y="249"/>
                </a:lnTo>
                <a:lnTo>
                  <a:pt x="143" y="249"/>
                </a:lnTo>
                <a:lnTo>
                  <a:pt x="209" y="230"/>
                </a:lnTo>
                <a:lnTo>
                  <a:pt x="209" y="230"/>
                </a:lnTo>
                <a:lnTo>
                  <a:pt x="342" y="190"/>
                </a:lnTo>
                <a:lnTo>
                  <a:pt x="342" y="190"/>
                </a:lnTo>
                <a:lnTo>
                  <a:pt x="408" y="171"/>
                </a:lnTo>
                <a:lnTo>
                  <a:pt x="474" y="154"/>
                </a:lnTo>
                <a:lnTo>
                  <a:pt x="474" y="154"/>
                </a:lnTo>
                <a:lnTo>
                  <a:pt x="505" y="146"/>
                </a:lnTo>
                <a:lnTo>
                  <a:pt x="537" y="138"/>
                </a:lnTo>
                <a:lnTo>
                  <a:pt x="570" y="130"/>
                </a:lnTo>
                <a:lnTo>
                  <a:pt x="585" y="125"/>
                </a:lnTo>
                <a:lnTo>
                  <a:pt x="600" y="119"/>
                </a:lnTo>
                <a:lnTo>
                  <a:pt x="600" y="119"/>
                </a:lnTo>
                <a:lnTo>
                  <a:pt x="622" y="129"/>
                </a:lnTo>
                <a:lnTo>
                  <a:pt x="622" y="129"/>
                </a:lnTo>
                <a:close/>
                <a:moveTo>
                  <a:pt x="558" y="99"/>
                </a:moveTo>
                <a:lnTo>
                  <a:pt x="558" y="99"/>
                </a:lnTo>
                <a:lnTo>
                  <a:pt x="565" y="102"/>
                </a:lnTo>
                <a:lnTo>
                  <a:pt x="565" y="102"/>
                </a:lnTo>
                <a:lnTo>
                  <a:pt x="455" y="133"/>
                </a:lnTo>
                <a:lnTo>
                  <a:pt x="401" y="148"/>
                </a:lnTo>
                <a:lnTo>
                  <a:pt x="347" y="164"/>
                </a:lnTo>
                <a:lnTo>
                  <a:pt x="347" y="164"/>
                </a:lnTo>
                <a:lnTo>
                  <a:pt x="290" y="181"/>
                </a:lnTo>
                <a:lnTo>
                  <a:pt x="235" y="200"/>
                </a:lnTo>
                <a:lnTo>
                  <a:pt x="235" y="200"/>
                </a:lnTo>
                <a:lnTo>
                  <a:pt x="213" y="206"/>
                </a:lnTo>
                <a:lnTo>
                  <a:pt x="192" y="212"/>
                </a:lnTo>
                <a:lnTo>
                  <a:pt x="149" y="223"/>
                </a:lnTo>
                <a:lnTo>
                  <a:pt x="149" y="223"/>
                </a:lnTo>
                <a:lnTo>
                  <a:pt x="172" y="216"/>
                </a:lnTo>
                <a:lnTo>
                  <a:pt x="172" y="216"/>
                </a:lnTo>
                <a:lnTo>
                  <a:pt x="200" y="205"/>
                </a:lnTo>
                <a:lnTo>
                  <a:pt x="230" y="194"/>
                </a:lnTo>
                <a:lnTo>
                  <a:pt x="230" y="194"/>
                </a:lnTo>
                <a:lnTo>
                  <a:pt x="257" y="184"/>
                </a:lnTo>
                <a:lnTo>
                  <a:pt x="285" y="175"/>
                </a:lnTo>
                <a:lnTo>
                  <a:pt x="342" y="159"/>
                </a:lnTo>
                <a:lnTo>
                  <a:pt x="342" y="159"/>
                </a:lnTo>
                <a:lnTo>
                  <a:pt x="398" y="143"/>
                </a:lnTo>
                <a:lnTo>
                  <a:pt x="454" y="127"/>
                </a:lnTo>
                <a:lnTo>
                  <a:pt x="454" y="127"/>
                </a:lnTo>
                <a:lnTo>
                  <a:pt x="481" y="122"/>
                </a:lnTo>
                <a:lnTo>
                  <a:pt x="506" y="116"/>
                </a:lnTo>
                <a:lnTo>
                  <a:pt x="532" y="108"/>
                </a:lnTo>
                <a:lnTo>
                  <a:pt x="544" y="104"/>
                </a:lnTo>
                <a:lnTo>
                  <a:pt x="557" y="100"/>
                </a:lnTo>
                <a:lnTo>
                  <a:pt x="557" y="100"/>
                </a:lnTo>
                <a:lnTo>
                  <a:pt x="558" y="99"/>
                </a:lnTo>
                <a:lnTo>
                  <a:pt x="558" y="99"/>
                </a:lnTo>
                <a:close/>
                <a:moveTo>
                  <a:pt x="450" y="52"/>
                </a:moveTo>
                <a:lnTo>
                  <a:pt x="450" y="52"/>
                </a:lnTo>
                <a:lnTo>
                  <a:pt x="412" y="60"/>
                </a:lnTo>
                <a:lnTo>
                  <a:pt x="373" y="69"/>
                </a:lnTo>
                <a:lnTo>
                  <a:pt x="373" y="69"/>
                </a:lnTo>
                <a:lnTo>
                  <a:pt x="390" y="64"/>
                </a:lnTo>
                <a:lnTo>
                  <a:pt x="406" y="59"/>
                </a:lnTo>
                <a:lnTo>
                  <a:pt x="421" y="53"/>
                </a:lnTo>
                <a:lnTo>
                  <a:pt x="436" y="46"/>
                </a:lnTo>
                <a:lnTo>
                  <a:pt x="436" y="46"/>
                </a:lnTo>
                <a:lnTo>
                  <a:pt x="450" y="52"/>
                </a:lnTo>
                <a:lnTo>
                  <a:pt x="450" y="52"/>
                </a:lnTo>
                <a:close/>
                <a:moveTo>
                  <a:pt x="450" y="53"/>
                </a:moveTo>
                <a:lnTo>
                  <a:pt x="450" y="53"/>
                </a:lnTo>
                <a:lnTo>
                  <a:pt x="442" y="57"/>
                </a:lnTo>
                <a:lnTo>
                  <a:pt x="433" y="60"/>
                </a:lnTo>
                <a:lnTo>
                  <a:pt x="433" y="60"/>
                </a:lnTo>
                <a:lnTo>
                  <a:pt x="405" y="69"/>
                </a:lnTo>
                <a:lnTo>
                  <a:pt x="375" y="76"/>
                </a:lnTo>
                <a:lnTo>
                  <a:pt x="346" y="84"/>
                </a:lnTo>
                <a:lnTo>
                  <a:pt x="317" y="91"/>
                </a:lnTo>
                <a:lnTo>
                  <a:pt x="317" y="91"/>
                </a:lnTo>
                <a:lnTo>
                  <a:pt x="280" y="101"/>
                </a:lnTo>
                <a:lnTo>
                  <a:pt x="280" y="101"/>
                </a:lnTo>
                <a:lnTo>
                  <a:pt x="313" y="89"/>
                </a:lnTo>
                <a:lnTo>
                  <a:pt x="345" y="78"/>
                </a:lnTo>
                <a:lnTo>
                  <a:pt x="345" y="78"/>
                </a:lnTo>
                <a:lnTo>
                  <a:pt x="360" y="74"/>
                </a:lnTo>
                <a:lnTo>
                  <a:pt x="375" y="71"/>
                </a:lnTo>
                <a:lnTo>
                  <a:pt x="405" y="64"/>
                </a:lnTo>
                <a:lnTo>
                  <a:pt x="405" y="64"/>
                </a:lnTo>
                <a:lnTo>
                  <a:pt x="438" y="57"/>
                </a:lnTo>
                <a:lnTo>
                  <a:pt x="438" y="57"/>
                </a:lnTo>
                <a:lnTo>
                  <a:pt x="444" y="56"/>
                </a:lnTo>
                <a:lnTo>
                  <a:pt x="450" y="53"/>
                </a:lnTo>
                <a:lnTo>
                  <a:pt x="450" y="53"/>
                </a:lnTo>
                <a:close/>
                <a:moveTo>
                  <a:pt x="369" y="18"/>
                </a:moveTo>
                <a:lnTo>
                  <a:pt x="369" y="18"/>
                </a:lnTo>
                <a:lnTo>
                  <a:pt x="341" y="25"/>
                </a:lnTo>
                <a:lnTo>
                  <a:pt x="341" y="25"/>
                </a:lnTo>
                <a:lnTo>
                  <a:pt x="326" y="29"/>
                </a:lnTo>
                <a:lnTo>
                  <a:pt x="326" y="29"/>
                </a:lnTo>
                <a:lnTo>
                  <a:pt x="324" y="30"/>
                </a:lnTo>
                <a:lnTo>
                  <a:pt x="324" y="30"/>
                </a:lnTo>
                <a:lnTo>
                  <a:pt x="335" y="25"/>
                </a:lnTo>
                <a:lnTo>
                  <a:pt x="335" y="25"/>
                </a:lnTo>
                <a:lnTo>
                  <a:pt x="347" y="20"/>
                </a:lnTo>
                <a:lnTo>
                  <a:pt x="359" y="14"/>
                </a:lnTo>
                <a:lnTo>
                  <a:pt x="359" y="14"/>
                </a:lnTo>
                <a:lnTo>
                  <a:pt x="369" y="18"/>
                </a:lnTo>
                <a:lnTo>
                  <a:pt x="369" y="18"/>
                </a:lnTo>
                <a:close/>
                <a:moveTo>
                  <a:pt x="340" y="8"/>
                </a:moveTo>
                <a:lnTo>
                  <a:pt x="340" y="8"/>
                </a:lnTo>
                <a:lnTo>
                  <a:pt x="353" y="12"/>
                </a:lnTo>
                <a:lnTo>
                  <a:pt x="353" y="12"/>
                </a:lnTo>
                <a:lnTo>
                  <a:pt x="342" y="14"/>
                </a:lnTo>
                <a:lnTo>
                  <a:pt x="330" y="17"/>
                </a:lnTo>
                <a:lnTo>
                  <a:pt x="330" y="17"/>
                </a:lnTo>
                <a:lnTo>
                  <a:pt x="340" y="8"/>
                </a:lnTo>
                <a:lnTo>
                  <a:pt x="340" y="8"/>
                </a:lnTo>
                <a:close/>
                <a:moveTo>
                  <a:pt x="327" y="20"/>
                </a:moveTo>
                <a:lnTo>
                  <a:pt x="327" y="20"/>
                </a:lnTo>
                <a:lnTo>
                  <a:pt x="340" y="17"/>
                </a:lnTo>
                <a:lnTo>
                  <a:pt x="340" y="17"/>
                </a:lnTo>
                <a:lnTo>
                  <a:pt x="355" y="14"/>
                </a:lnTo>
                <a:lnTo>
                  <a:pt x="355" y="14"/>
                </a:lnTo>
                <a:lnTo>
                  <a:pt x="356" y="14"/>
                </a:lnTo>
                <a:lnTo>
                  <a:pt x="356" y="15"/>
                </a:lnTo>
                <a:lnTo>
                  <a:pt x="351" y="16"/>
                </a:lnTo>
                <a:lnTo>
                  <a:pt x="343" y="19"/>
                </a:lnTo>
                <a:lnTo>
                  <a:pt x="343" y="19"/>
                </a:lnTo>
                <a:lnTo>
                  <a:pt x="329" y="25"/>
                </a:lnTo>
                <a:lnTo>
                  <a:pt x="316" y="32"/>
                </a:lnTo>
                <a:lnTo>
                  <a:pt x="316" y="32"/>
                </a:lnTo>
                <a:lnTo>
                  <a:pt x="327" y="20"/>
                </a:lnTo>
                <a:lnTo>
                  <a:pt x="327" y="20"/>
                </a:lnTo>
                <a:close/>
                <a:moveTo>
                  <a:pt x="311" y="37"/>
                </a:moveTo>
                <a:lnTo>
                  <a:pt x="311" y="37"/>
                </a:lnTo>
                <a:lnTo>
                  <a:pt x="347" y="25"/>
                </a:lnTo>
                <a:lnTo>
                  <a:pt x="347" y="25"/>
                </a:lnTo>
                <a:lnTo>
                  <a:pt x="367" y="20"/>
                </a:lnTo>
                <a:lnTo>
                  <a:pt x="367" y="20"/>
                </a:lnTo>
                <a:lnTo>
                  <a:pt x="364" y="22"/>
                </a:lnTo>
                <a:lnTo>
                  <a:pt x="364" y="22"/>
                </a:lnTo>
                <a:lnTo>
                  <a:pt x="353" y="27"/>
                </a:lnTo>
                <a:lnTo>
                  <a:pt x="353" y="27"/>
                </a:lnTo>
                <a:lnTo>
                  <a:pt x="342" y="30"/>
                </a:lnTo>
                <a:lnTo>
                  <a:pt x="331" y="34"/>
                </a:lnTo>
                <a:lnTo>
                  <a:pt x="319" y="36"/>
                </a:lnTo>
                <a:lnTo>
                  <a:pt x="308" y="40"/>
                </a:lnTo>
                <a:lnTo>
                  <a:pt x="308" y="40"/>
                </a:lnTo>
                <a:lnTo>
                  <a:pt x="311" y="37"/>
                </a:lnTo>
                <a:lnTo>
                  <a:pt x="311" y="37"/>
                </a:lnTo>
                <a:close/>
                <a:moveTo>
                  <a:pt x="305" y="43"/>
                </a:moveTo>
                <a:lnTo>
                  <a:pt x="305" y="43"/>
                </a:lnTo>
                <a:lnTo>
                  <a:pt x="316" y="39"/>
                </a:lnTo>
                <a:lnTo>
                  <a:pt x="316" y="39"/>
                </a:lnTo>
                <a:lnTo>
                  <a:pt x="337" y="34"/>
                </a:lnTo>
                <a:lnTo>
                  <a:pt x="337" y="34"/>
                </a:lnTo>
                <a:lnTo>
                  <a:pt x="347" y="32"/>
                </a:lnTo>
                <a:lnTo>
                  <a:pt x="356" y="28"/>
                </a:lnTo>
                <a:lnTo>
                  <a:pt x="364" y="24"/>
                </a:lnTo>
                <a:lnTo>
                  <a:pt x="372" y="19"/>
                </a:lnTo>
                <a:lnTo>
                  <a:pt x="372" y="19"/>
                </a:lnTo>
                <a:lnTo>
                  <a:pt x="383" y="24"/>
                </a:lnTo>
                <a:lnTo>
                  <a:pt x="383" y="24"/>
                </a:lnTo>
                <a:lnTo>
                  <a:pt x="375" y="25"/>
                </a:lnTo>
                <a:lnTo>
                  <a:pt x="367" y="28"/>
                </a:lnTo>
                <a:lnTo>
                  <a:pt x="350" y="34"/>
                </a:lnTo>
                <a:lnTo>
                  <a:pt x="350" y="34"/>
                </a:lnTo>
                <a:lnTo>
                  <a:pt x="327" y="40"/>
                </a:lnTo>
                <a:lnTo>
                  <a:pt x="302" y="45"/>
                </a:lnTo>
                <a:lnTo>
                  <a:pt x="302" y="45"/>
                </a:lnTo>
                <a:lnTo>
                  <a:pt x="305" y="43"/>
                </a:lnTo>
                <a:lnTo>
                  <a:pt x="305" y="43"/>
                </a:lnTo>
                <a:close/>
                <a:moveTo>
                  <a:pt x="299" y="48"/>
                </a:moveTo>
                <a:lnTo>
                  <a:pt x="299" y="48"/>
                </a:lnTo>
                <a:lnTo>
                  <a:pt x="309" y="46"/>
                </a:lnTo>
                <a:lnTo>
                  <a:pt x="318" y="44"/>
                </a:lnTo>
                <a:lnTo>
                  <a:pt x="336" y="39"/>
                </a:lnTo>
                <a:lnTo>
                  <a:pt x="336" y="39"/>
                </a:lnTo>
                <a:lnTo>
                  <a:pt x="348" y="37"/>
                </a:lnTo>
                <a:lnTo>
                  <a:pt x="360" y="33"/>
                </a:lnTo>
                <a:lnTo>
                  <a:pt x="360" y="33"/>
                </a:lnTo>
                <a:lnTo>
                  <a:pt x="373" y="28"/>
                </a:lnTo>
                <a:lnTo>
                  <a:pt x="373" y="28"/>
                </a:lnTo>
                <a:lnTo>
                  <a:pt x="380" y="25"/>
                </a:lnTo>
                <a:lnTo>
                  <a:pt x="382" y="25"/>
                </a:lnTo>
                <a:lnTo>
                  <a:pt x="379" y="27"/>
                </a:lnTo>
                <a:lnTo>
                  <a:pt x="379" y="27"/>
                </a:lnTo>
                <a:lnTo>
                  <a:pt x="374" y="30"/>
                </a:lnTo>
                <a:lnTo>
                  <a:pt x="368" y="34"/>
                </a:lnTo>
                <a:lnTo>
                  <a:pt x="355" y="37"/>
                </a:lnTo>
                <a:lnTo>
                  <a:pt x="330" y="43"/>
                </a:lnTo>
                <a:lnTo>
                  <a:pt x="330" y="43"/>
                </a:lnTo>
                <a:lnTo>
                  <a:pt x="320" y="45"/>
                </a:lnTo>
                <a:lnTo>
                  <a:pt x="311" y="48"/>
                </a:lnTo>
                <a:lnTo>
                  <a:pt x="291" y="57"/>
                </a:lnTo>
                <a:lnTo>
                  <a:pt x="291" y="57"/>
                </a:lnTo>
                <a:lnTo>
                  <a:pt x="299" y="48"/>
                </a:lnTo>
                <a:lnTo>
                  <a:pt x="299" y="48"/>
                </a:lnTo>
                <a:close/>
                <a:moveTo>
                  <a:pt x="343" y="42"/>
                </a:moveTo>
                <a:lnTo>
                  <a:pt x="343" y="42"/>
                </a:lnTo>
                <a:lnTo>
                  <a:pt x="355" y="39"/>
                </a:lnTo>
                <a:lnTo>
                  <a:pt x="366" y="36"/>
                </a:lnTo>
                <a:lnTo>
                  <a:pt x="377" y="32"/>
                </a:lnTo>
                <a:lnTo>
                  <a:pt x="388" y="25"/>
                </a:lnTo>
                <a:lnTo>
                  <a:pt x="388" y="25"/>
                </a:lnTo>
                <a:lnTo>
                  <a:pt x="388" y="25"/>
                </a:lnTo>
                <a:lnTo>
                  <a:pt x="388" y="25"/>
                </a:lnTo>
                <a:lnTo>
                  <a:pt x="404" y="32"/>
                </a:lnTo>
                <a:lnTo>
                  <a:pt x="404" y="32"/>
                </a:lnTo>
                <a:lnTo>
                  <a:pt x="375" y="37"/>
                </a:lnTo>
                <a:lnTo>
                  <a:pt x="347" y="43"/>
                </a:lnTo>
                <a:lnTo>
                  <a:pt x="347" y="43"/>
                </a:lnTo>
                <a:lnTo>
                  <a:pt x="317" y="50"/>
                </a:lnTo>
                <a:lnTo>
                  <a:pt x="302" y="55"/>
                </a:lnTo>
                <a:lnTo>
                  <a:pt x="289" y="60"/>
                </a:lnTo>
                <a:lnTo>
                  <a:pt x="289" y="60"/>
                </a:lnTo>
                <a:lnTo>
                  <a:pt x="302" y="54"/>
                </a:lnTo>
                <a:lnTo>
                  <a:pt x="316" y="49"/>
                </a:lnTo>
                <a:lnTo>
                  <a:pt x="329" y="45"/>
                </a:lnTo>
                <a:lnTo>
                  <a:pt x="343" y="42"/>
                </a:lnTo>
                <a:lnTo>
                  <a:pt x="343" y="42"/>
                </a:lnTo>
                <a:close/>
                <a:moveTo>
                  <a:pt x="286" y="62"/>
                </a:moveTo>
                <a:lnTo>
                  <a:pt x="286" y="62"/>
                </a:lnTo>
                <a:lnTo>
                  <a:pt x="317" y="53"/>
                </a:lnTo>
                <a:lnTo>
                  <a:pt x="347" y="45"/>
                </a:lnTo>
                <a:lnTo>
                  <a:pt x="347" y="45"/>
                </a:lnTo>
                <a:lnTo>
                  <a:pt x="363" y="42"/>
                </a:lnTo>
                <a:lnTo>
                  <a:pt x="380" y="39"/>
                </a:lnTo>
                <a:lnTo>
                  <a:pt x="380" y="39"/>
                </a:lnTo>
                <a:lnTo>
                  <a:pt x="395" y="36"/>
                </a:lnTo>
                <a:lnTo>
                  <a:pt x="395" y="36"/>
                </a:lnTo>
                <a:lnTo>
                  <a:pt x="364" y="46"/>
                </a:lnTo>
                <a:lnTo>
                  <a:pt x="335" y="54"/>
                </a:lnTo>
                <a:lnTo>
                  <a:pt x="305" y="63"/>
                </a:lnTo>
                <a:lnTo>
                  <a:pt x="275" y="73"/>
                </a:lnTo>
                <a:lnTo>
                  <a:pt x="275" y="73"/>
                </a:lnTo>
                <a:lnTo>
                  <a:pt x="286" y="62"/>
                </a:lnTo>
                <a:lnTo>
                  <a:pt x="286" y="62"/>
                </a:lnTo>
                <a:close/>
                <a:moveTo>
                  <a:pt x="273" y="75"/>
                </a:moveTo>
                <a:lnTo>
                  <a:pt x="273" y="75"/>
                </a:lnTo>
                <a:lnTo>
                  <a:pt x="287" y="71"/>
                </a:lnTo>
                <a:lnTo>
                  <a:pt x="287" y="71"/>
                </a:lnTo>
                <a:lnTo>
                  <a:pt x="330" y="57"/>
                </a:lnTo>
                <a:lnTo>
                  <a:pt x="330" y="57"/>
                </a:lnTo>
                <a:lnTo>
                  <a:pt x="349" y="51"/>
                </a:lnTo>
                <a:lnTo>
                  <a:pt x="368" y="46"/>
                </a:lnTo>
                <a:lnTo>
                  <a:pt x="388" y="40"/>
                </a:lnTo>
                <a:lnTo>
                  <a:pt x="407" y="34"/>
                </a:lnTo>
                <a:lnTo>
                  <a:pt x="407" y="34"/>
                </a:lnTo>
                <a:lnTo>
                  <a:pt x="407" y="34"/>
                </a:lnTo>
                <a:lnTo>
                  <a:pt x="407" y="34"/>
                </a:lnTo>
                <a:lnTo>
                  <a:pt x="416" y="38"/>
                </a:lnTo>
                <a:lnTo>
                  <a:pt x="416" y="38"/>
                </a:lnTo>
                <a:lnTo>
                  <a:pt x="411" y="39"/>
                </a:lnTo>
                <a:lnTo>
                  <a:pt x="406" y="40"/>
                </a:lnTo>
                <a:lnTo>
                  <a:pt x="395" y="43"/>
                </a:lnTo>
                <a:lnTo>
                  <a:pt x="395" y="43"/>
                </a:lnTo>
                <a:lnTo>
                  <a:pt x="377" y="46"/>
                </a:lnTo>
                <a:lnTo>
                  <a:pt x="360" y="50"/>
                </a:lnTo>
                <a:lnTo>
                  <a:pt x="360" y="50"/>
                </a:lnTo>
                <a:lnTo>
                  <a:pt x="341" y="55"/>
                </a:lnTo>
                <a:lnTo>
                  <a:pt x="323" y="61"/>
                </a:lnTo>
                <a:lnTo>
                  <a:pt x="305" y="67"/>
                </a:lnTo>
                <a:lnTo>
                  <a:pt x="285" y="72"/>
                </a:lnTo>
                <a:lnTo>
                  <a:pt x="285" y="72"/>
                </a:lnTo>
                <a:lnTo>
                  <a:pt x="273" y="75"/>
                </a:lnTo>
                <a:lnTo>
                  <a:pt x="273" y="75"/>
                </a:lnTo>
                <a:lnTo>
                  <a:pt x="273" y="75"/>
                </a:lnTo>
                <a:lnTo>
                  <a:pt x="273" y="75"/>
                </a:lnTo>
                <a:close/>
                <a:moveTo>
                  <a:pt x="270" y="78"/>
                </a:moveTo>
                <a:lnTo>
                  <a:pt x="270" y="78"/>
                </a:lnTo>
                <a:lnTo>
                  <a:pt x="288" y="74"/>
                </a:lnTo>
                <a:lnTo>
                  <a:pt x="306" y="68"/>
                </a:lnTo>
                <a:lnTo>
                  <a:pt x="341" y="57"/>
                </a:lnTo>
                <a:lnTo>
                  <a:pt x="341" y="57"/>
                </a:lnTo>
                <a:lnTo>
                  <a:pt x="360" y="52"/>
                </a:lnTo>
                <a:lnTo>
                  <a:pt x="380" y="48"/>
                </a:lnTo>
                <a:lnTo>
                  <a:pt x="380" y="48"/>
                </a:lnTo>
                <a:lnTo>
                  <a:pt x="398" y="45"/>
                </a:lnTo>
                <a:lnTo>
                  <a:pt x="407" y="43"/>
                </a:lnTo>
                <a:lnTo>
                  <a:pt x="415" y="40"/>
                </a:lnTo>
                <a:lnTo>
                  <a:pt x="415" y="40"/>
                </a:lnTo>
                <a:lnTo>
                  <a:pt x="405" y="44"/>
                </a:lnTo>
                <a:lnTo>
                  <a:pt x="395" y="47"/>
                </a:lnTo>
                <a:lnTo>
                  <a:pt x="373" y="53"/>
                </a:lnTo>
                <a:lnTo>
                  <a:pt x="373" y="53"/>
                </a:lnTo>
                <a:lnTo>
                  <a:pt x="329" y="65"/>
                </a:lnTo>
                <a:lnTo>
                  <a:pt x="329" y="65"/>
                </a:lnTo>
                <a:lnTo>
                  <a:pt x="294" y="75"/>
                </a:lnTo>
                <a:lnTo>
                  <a:pt x="278" y="80"/>
                </a:lnTo>
                <a:lnTo>
                  <a:pt x="262" y="87"/>
                </a:lnTo>
                <a:lnTo>
                  <a:pt x="262" y="87"/>
                </a:lnTo>
                <a:lnTo>
                  <a:pt x="270" y="78"/>
                </a:lnTo>
                <a:lnTo>
                  <a:pt x="270" y="78"/>
                </a:lnTo>
                <a:close/>
                <a:moveTo>
                  <a:pt x="273" y="84"/>
                </a:moveTo>
                <a:lnTo>
                  <a:pt x="273" y="84"/>
                </a:lnTo>
                <a:lnTo>
                  <a:pt x="293" y="77"/>
                </a:lnTo>
                <a:lnTo>
                  <a:pt x="293" y="77"/>
                </a:lnTo>
                <a:lnTo>
                  <a:pt x="317" y="70"/>
                </a:lnTo>
                <a:lnTo>
                  <a:pt x="340" y="64"/>
                </a:lnTo>
                <a:lnTo>
                  <a:pt x="340" y="64"/>
                </a:lnTo>
                <a:lnTo>
                  <a:pt x="380" y="54"/>
                </a:lnTo>
                <a:lnTo>
                  <a:pt x="401" y="48"/>
                </a:lnTo>
                <a:lnTo>
                  <a:pt x="411" y="44"/>
                </a:lnTo>
                <a:lnTo>
                  <a:pt x="420" y="40"/>
                </a:lnTo>
                <a:lnTo>
                  <a:pt x="420" y="40"/>
                </a:lnTo>
                <a:lnTo>
                  <a:pt x="420" y="39"/>
                </a:lnTo>
                <a:lnTo>
                  <a:pt x="420" y="39"/>
                </a:lnTo>
                <a:lnTo>
                  <a:pt x="433" y="45"/>
                </a:lnTo>
                <a:lnTo>
                  <a:pt x="433" y="45"/>
                </a:lnTo>
                <a:lnTo>
                  <a:pt x="391" y="54"/>
                </a:lnTo>
                <a:lnTo>
                  <a:pt x="349" y="63"/>
                </a:lnTo>
                <a:lnTo>
                  <a:pt x="349" y="63"/>
                </a:lnTo>
                <a:lnTo>
                  <a:pt x="328" y="69"/>
                </a:lnTo>
                <a:lnTo>
                  <a:pt x="308" y="75"/>
                </a:lnTo>
                <a:lnTo>
                  <a:pt x="287" y="82"/>
                </a:lnTo>
                <a:lnTo>
                  <a:pt x="267" y="89"/>
                </a:lnTo>
                <a:lnTo>
                  <a:pt x="267" y="89"/>
                </a:lnTo>
                <a:lnTo>
                  <a:pt x="259" y="90"/>
                </a:lnTo>
                <a:lnTo>
                  <a:pt x="259" y="90"/>
                </a:lnTo>
                <a:lnTo>
                  <a:pt x="273" y="84"/>
                </a:lnTo>
                <a:lnTo>
                  <a:pt x="273" y="84"/>
                </a:lnTo>
                <a:close/>
                <a:moveTo>
                  <a:pt x="256" y="93"/>
                </a:moveTo>
                <a:lnTo>
                  <a:pt x="256" y="93"/>
                </a:lnTo>
                <a:lnTo>
                  <a:pt x="266" y="91"/>
                </a:lnTo>
                <a:lnTo>
                  <a:pt x="276" y="88"/>
                </a:lnTo>
                <a:lnTo>
                  <a:pt x="295" y="81"/>
                </a:lnTo>
                <a:lnTo>
                  <a:pt x="295" y="81"/>
                </a:lnTo>
                <a:lnTo>
                  <a:pt x="320" y="73"/>
                </a:lnTo>
                <a:lnTo>
                  <a:pt x="345" y="66"/>
                </a:lnTo>
                <a:lnTo>
                  <a:pt x="345" y="66"/>
                </a:lnTo>
                <a:lnTo>
                  <a:pt x="371" y="61"/>
                </a:lnTo>
                <a:lnTo>
                  <a:pt x="399" y="55"/>
                </a:lnTo>
                <a:lnTo>
                  <a:pt x="399" y="55"/>
                </a:lnTo>
                <a:lnTo>
                  <a:pt x="427" y="48"/>
                </a:lnTo>
                <a:lnTo>
                  <a:pt x="427" y="48"/>
                </a:lnTo>
                <a:lnTo>
                  <a:pt x="427" y="48"/>
                </a:lnTo>
                <a:lnTo>
                  <a:pt x="427" y="48"/>
                </a:lnTo>
                <a:lnTo>
                  <a:pt x="415" y="54"/>
                </a:lnTo>
                <a:lnTo>
                  <a:pt x="415" y="54"/>
                </a:lnTo>
                <a:lnTo>
                  <a:pt x="391" y="62"/>
                </a:lnTo>
                <a:lnTo>
                  <a:pt x="366" y="69"/>
                </a:lnTo>
                <a:lnTo>
                  <a:pt x="342" y="75"/>
                </a:lnTo>
                <a:lnTo>
                  <a:pt x="318" y="82"/>
                </a:lnTo>
                <a:lnTo>
                  <a:pt x="318" y="82"/>
                </a:lnTo>
                <a:lnTo>
                  <a:pt x="294" y="89"/>
                </a:lnTo>
                <a:lnTo>
                  <a:pt x="270" y="96"/>
                </a:lnTo>
                <a:lnTo>
                  <a:pt x="270" y="96"/>
                </a:lnTo>
                <a:lnTo>
                  <a:pt x="258" y="100"/>
                </a:lnTo>
                <a:lnTo>
                  <a:pt x="246" y="103"/>
                </a:lnTo>
                <a:lnTo>
                  <a:pt x="246" y="103"/>
                </a:lnTo>
                <a:lnTo>
                  <a:pt x="256" y="93"/>
                </a:lnTo>
                <a:lnTo>
                  <a:pt x="256" y="93"/>
                </a:lnTo>
                <a:close/>
                <a:moveTo>
                  <a:pt x="243" y="107"/>
                </a:moveTo>
                <a:lnTo>
                  <a:pt x="243" y="107"/>
                </a:lnTo>
                <a:lnTo>
                  <a:pt x="253" y="103"/>
                </a:lnTo>
                <a:lnTo>
                  <a:pt x="264" y="100"/>
                </a:lnTo>
                <a:lnTo>
                  <a:pt x="285" y="94"/>
                </a:lnTo>
                <a:lnTo>
                  <a:pt x="285" y="94"/>
                </a:lnTo>
                <a:lnTo>
                  <a:pt x="312" y="86"/>
                </a:lnTo>
                <a:lnTo>
                  <a:pt x="338" y="78"/>
                </a:lnTo>
                <a:lnTo>
                  <a:pt x="338" y="78"/>
                </a:lnTo>
                <a:lnTo>
                  <a:pt x="348" y="75"/>
                </a:lnTo>
                <a:lnTo>
                  <a:pt x="348" y="75"/>
                </a:lnTo>
                <a:lnTo>
                  <a:pt x="339" y="78"/>
                </a:lnTo>
                <a:lnTo>
                  <a:pt x="339" y="78"/>
                </a:lnTo>
                <a:lnTo>
                  <a:pt x="286" y="95"/>
                </a:lnTo>
                <a:lnTo>
                  <a:pt x="286" y="95"/>
                </a:lnTo>
                <a:lnTo>
                  <a:pt x="262" y="103"/>
                </a:lnTo>
                <a:lnTo>
                  <a:pt x="262" y="103"/>
                </a:lnTo>
                <a:lnTo>
                  <a:pt x="247" y="108"/>
                </a:lnTo>
                <a:lnTo>
                  <a:pt x="247" y="108"/>
                </a:lnTo>
                <a:lnTo>
                  <a:pt x="240" y="110"/>
                </a:lnTo>
                <a:lnTo>
                  <a:pt x="240" y="110"/>
                </a:lnTo>
                <a:lnTo>
                  <a:pt x="243" y="107"/>
                </a:lnTo>
                <a:lnTo>
                  <a:pt x="243" y="107"/>
                </a:lnTo>
                <a:close/>
                <a:moveTo>
                  <a:pt x="239" y="111"/>
                </a:moveTo>
                <a:lnTo>
                  <a:pt x="239" y="111"/>
                </a:lnTo>
                <a:lnTo>
                  <a:pt x="259" y="107"/>
                </a:lnTo>
                <a:lnTo>
                  <a:pt x="259" y="107"/>
                </a:lnTo>
                <a:lnTo>
                  <a:pt x="246" y="113"/>
                </a:lnTo>
                <a:lnTo>
                  <a:pt x="233" y="118"/>
                </a:lnTo>
                <a:lnTo>
                  <a:pt x="233" y="118"/>
                </a:lnTo>
                <a:lnTo>
                  <a:pt x="239" y="111"/>
                </a:lnTo>
                <a:lnTo>
                  <a:pt x="239" y="111"/>
                </a:lnTo>
                <a:close/>
                <a:moveTo>
                  <a:pt x="230" y="122"/>
                </a:moveTo>
                <a:lnTo>
                  <a:pt x="230" y="122"/>
                </a:lnTo>
                <a:lnTo>
                  <a:pt x="241" y="117"/>
                </a:lnTo>
                <a:lnTo>
                  <a:pt x="253" y="111"/>
                </a:lnTo>
                <a:lnTo>
                  <a:pt x="277" y="104"/>
                </a:lnTo>
                <a:lnTo>
                  <a:pt x="277" y="104"/>
                </a:lnTo>
                <a:lnTo>
                  <a:pt x="339" y="87"/>
                </a:lnTo>
                <a:lnTo>
                  <a:pt x="339" y="87"/>
                </a:lnTo>
                <a:lnTo>
                  <a:pt x="402" y="70"/>
                </a:lnTo>
                <a:lnTo>
                  <a:pt x="402" y="70"/>
                </a:lnTo>
                <a:lnTo>
                  <a:pt x="428" y="64"/>
                </a:lnTo>
                <a:lnTo>
                  <a:pt x="441" y="59"/>
                </a:lnTo>
                <a:lnTo>
                  <a:pt x="453" y="54"/>
                </a:lnTo>
                <a:lnTo>
                  <a:pt x="453" y="54"/>
                </a:lnTo>
                <a:lnTo>
                  <a:pt x="471" y="61"/>
                </a:lnTo>
                <a:lnTo>
                  <a:pt x="471" y="61"/>
                </a:lnTo>
                <a:lnTo>
                  <a:pt x="457" y="66"/>
                </a:lnTo>
                <a:lnTo>
                  <a:pt x="443" y="70"/>
                </a:lnTo>
                <a:lnTo>
                  <a:pt x="415" y="76"/>
                </a:lnTo>
                <a:lnTo>
                  <a:pt x="415" y="76"/>
                </a:lnTo>
                <a:lnTo>
                  <a:pt x="381" y="84"/>
                </a:lnTo>
                <a:lnTo>
                  <a:pt x="348" y="93"/>
                </a:lnTo>
                <a:lnTo>
                  <a:pt x="348" y="93"/>
                </a:lnTo>
                <a:lnTo>
                  <a:pt x="316" y="101"/>
                </a:lnTo>
                <a:lnTo>
                  <a:pt x="284" y="109"/>
                </a:lnTo>
                <a:lnTo>
                  <a:pt x="284" y="109"/>
                </a:lnTo>
                <a:lnTo>
                  <a:pt x="254" y="119"/>
                </a:lnTo>
                <a:lnTo>
                  <a:pt x="254" y="119"/>
                </a:lnTo>
                <a:lnTo>
                  <a:pt x="241" y="121"/>
                </a:lnTo>
                <a:lnTo>
                  <a:pt x="234" y="122"/>
                </a:lnTo>
                <a:lnTo>
                  <a:pt x="228" y="124"/>
                </a:lnTo>
                <a:lnTo>
                  <a:pt x="228" y="124"/>
                </a:lnTo>
                <a:lnTo>
                  <a:pt x="230" y="122"/>
                </a:lnTo>
                <a:lnTo>
                  <a:pt x="230" y="122"/>
                </a:lnTo>
                <a:close/>
                <a:moveTo>
                  <a:pt x="225" y="128"/>
                </a:moveTo>
                <a:lnTo>
                  <a:pt x="225" y="128"/>
                </a:lnTo>
                <a:lnTo>
                  <a:pt x="256" y="121"/>
                </a:lnTo>
                <a:lnTo>
                  <a:pt x="286" y="113"/>
                </a:lnTo>
                <a:lnTo>
                  <a:pt x="318" y="103"/>
                </a:lnTo>
                <a:lnTo>
                  <a:pt x="348" y="95"/>
                </a:lnTo>
                <a:lnTo>
                  <a:pt x="348" y="95"/>
                </a:lnTo>
                <a:lnTo>
                  <a:pt x="379" y="87"/>
                </a:lnTo>
                <a:lnTo>
                  <a:pt x="411" y="79"/>
                </a:lnTo>
                <a:lnTo>
                  <a:pt x="411" y="79"/>
                </a:lnTo>
                <a:lnTo>
                  <a:pt x="442" y="72"/>
                </a:lnTo>
                <a:lnTo>
                  <a:pt x="458" y="68"/>
                </a:lnTo>
                <a:lnTo>
                  <a:pt x="474" y="62"/>
                </a:lnTo>
                <a:lnTo>
                  <a:pt x="474" y="62"/>
                </a:lnTo>
                <a:lnTo>
                  <a:pt x="492" y="70"/>
                </a:lnTo>
                <a:lnTo>
                  <a:pt x="492" y="70"/>
                </a:lnTo>
                <a:lnTo>
                  <a:pt x="484" y="70"/>
                </a:lnTo>
                <a:lnTo>
                  <a:pt x="477" y="71"/>
                </a:lnTo>
                <a:lnTo>
                  <a:pt x="461" y="75"/>
                </a:lnTo>
                <a:lnTo>
                  <a:pt x="433" y="84"/>
                </a:lnTo>
                <a:lnTo>
                  <a:pt x="433" y="84"/>
                </a:lnTo>
                <a:lnTo>
                  <a:pt x="396" y="94"/>
                </a:lnTo>
                <a:lnTo>
                  <a:pt x="358" y="104"/>
                </a:lnTo>
                <a:lnTo>
                  <a:pt x="358" y="104"/>
                </a:lnTo>
                <a:lnTo>
                  <a:pt x="320" y="115"/>
                </a:lnTo>
                <a:lnTo>
                  <a:pt x="282" y="124"/>
                </a:lnTo>
                <a:lnTo>
                  <a:pt x="282" y="124"/>
                </a:lnTo>
                <a:lnTo>
                  <a:pt x="248" y="132"/>
                </a:lnTo>
                <a:lnTo>
                  <a:pt x="213" y="140"/>
                </a:lnTo>
                <a:lnTo>
                  <a:pt x="213" y="140"/>
                </a:lnTo>
                <a:lnTo>
                  <a:pt x="225" y="128"/>
                </a:lnTo>
                <a:lnTo>
                  <a:pt x="225" y="128"/>
                </a:lnTo>
                <a:close/>
                <a:moveTo>
                  <a:pt x="210" y="143"/>
                </a:moveTo>
                <a:lnTo>
                  <a:pt x="210" y="143"/>
                </a:lnTo>
                <a:lnTo>
                  <a:pt x="247" y="134"/>
                </a:lnTo>
                <a:lnTo>
                  <a:pt x="282" y="127"/>
                </a:lnTo>
                <a:lnTo>
                  <a:pt x="282" y="127"/>
                </a:lnTo>
                <a:lnTo>
                  <a:pt x="302" y="122"/>
                </a:lnTo>
                <a:lnTo>
                  <a:pt x="323" y="116"/>
                </a:lnTo>
                <a:lnTo>
                  <a:pt x="363" y="104"/>
                </a:lnTo>
                <a:lnTo>
                  <a:pt x="363" y="104"/>
                </a:lnTo>
                <a:lnTo>
                  <a:pt x="439" y="84"/>
                </a:lnTo>
                <a:lnTo>
                  <a:pt x="439" y="84"/>
                </a:lnTo>
                <a:lnTo>
                  <a:pt x="472" y="75"/>
                </a:lnTo>
                <a:lnTo>
                  <a:pt x="472" y="75"/>
                </a:lnTo>
                <a:lnTo>
                  <a:pt x="481" y="74"/>
                </a:lnTo>
                <a:lnTo>
                  <a:pt x="489" y="73"/>
                </a:lnTo>
                <a:lnTo>
                  <a:pt x="489" y="73"/>
                </a:lnTo>
                <a:lnTo>
                  <a:pt x="478" y="77"/>
                </a:lnTo>
                <a:lnTo>
                  <a:pt x="468" y="81"/>
                </a:lnTo>
                <a:lnTo>
                  <a:pt x="468" y="81"/>
                </a:lnTo>
                <a:lnTo>
                  <a:pt x="451" y="86"/>
                </a:lnTo>
                <a:lnTo>
                  <a:pt x="434" y="90"/>
                </a:lnTo>
                <a:lnTo>
                  <a:pt x="418" y="94"/>
                </a:lnTo>
                <a:lnTo>
                  <a:pt x="402" y="99"/>
                </a:lnTo>
                <a:lnTo>
                  <a:pt x="402" y="99"/>
                </a:lnTo>
                <a:lnTo>
                  <a:pt x="361" y="113"/>
                </a:lnTo>
                <a:lnTo>
                  <a:pt x="321" y="125"/>
                </a:lnTo>
                <a:lnTo>
                  <a:pt x="321" y="125"/>
                </a:lnTo>
                <a:lnTo>
                  <a:pt x="281" y="135"/>
                </a:lnTo>
                <a:lnTo>
                  <a:pt x="242" y="145"/>
                </a:lnTo>
                <a:lnTo>
                  <a:pt x="242" y="145"/>
                </a:lnTo>
                <a:lnTo>
                  <a:pt x="219" y="150"/>
                </a:lnTo>
                <a:lnTo>
                  <a:pt x="208" y="153"/>
                </a:lnTo>
                <a:lnTo>
                  <a:pt x="197" y="157"/>
                </a:lnTo>
                <a:lnTo>
                  <a:pt x="197" y="157"/>
                </a:lnTo>
                <a:lnTo>
                  <a:pt x="210" y="143"/>
                </a:lnTo>
                <a:lnTo>
                  <a:pt x="210" y="143"/>
                </a:lnTo>
                <a:close/>
                <a:moveTo>
                  <a:pt x="194" y="160"/>
                </a:moveTo>
                <a:lnTo>
                  <a:pt x="194" y="160"/>
                </a:lnTo>
                <a:lnTo>
                  <a:pt x="200" y="158"/>
                </a:lnTo>
                <a:lnTo>
                  <a:pt x="207" y="156"/>
                </a:lnTo>
                <a:lnTo>
                  <a:pt x="221" y="153"/>
                </a:lnTo>
                <a:lnTo>
                  <a:pt x="221" y="153"/>
                </a:lnTo>
                <a:lnTo>
                  <a:pt x="263" y="142"/>
                </a:lnTo>
                <a:lnTo>
                  <a:pt x="263" y="142"/>
                </a:lnTo>
                <a:lnTo>
                  <a:pt x="306" y="131"/>
                </a:lnTo>
                <a:lnTo>
                  <a:pt x="327" y="125"/>
                </a:lnTo>
                <a:lnTo>
                  <a:pt x="348" y="119"/>
                </a:lnTo>
                <a:lnTo>
                  <a:pt x="348" y="119"/>
                </a:lnTo>
                <a:lnTo>
                  <a:pt x="388" y="105"/>
                </a:lnTo>
                <a:lnTo>
                  <a:pt x="407" y="99"/>
                </a:lnTo>
                <a:lnTo>
                  <a:pt x="427" y="94"/>
                </a:lnTo>
                <a:lnTo>
                  <a:pt x="427" y="94"/>
                </a:lnTo>
                <a:lnTo>
                  <a:pt x="444" y="90"/>
                </a:lnTo>
                <a:lnTo>
                  <a:pt x="460" y="85"/>
                </a:lnTo>
                <a:lnTo>
                  <a:pt x="478" y="80"/>
                </a:lnTo>
                <a:lnTo>
                  <a:pt x="493" y="73"/>
                </a:lnTo>
                <a:lnTo>
                  <a:pt x="493" y="73"/>
                </a:lnTo>
                <a:lnTo>
                  <a:pt x="494" y="71"/>
                </a:lnTo>
                <a:lnTo>
                  <a:pt x="494" y="71"/>
                </a:lnTo>
                <a:lnTo>
                  <a:pt x="509" y="78"/>
                </a:lnTo>
                <a:lnTo>
                  <a:pt x="509" y="78"/>
                </a:lnTo>
                <a:lnTo>
                  <a:pt x="426" y="99"/>
                </a:lnTo>
                <a:lnTo>
                  <a:pt x="385" y="109"/>
                </a:lnTo>
                <a:lnTo>
                  <a:pt x="343" y="122"/>
                </a:lnTo>
                <a:lnTo>
                  <a:pt x="343" y="122"/>
                </a:lnTo>
                <a:lnTo>
                  <a:pt x="263" y="146"/>
                </a:lnTo>
                <a:lnTo>
                  <a:pt x="263" y="146"/>
                </a:lnTo>
                <a:lnTo>
                  <a:pt x="242" y="152"/>
                </a:lnTo>
                <a:lnTo>
                  <a:pt x="221" y="157"/>
                </a:lnTo>
                <a:lnTo>
                  <a:pt x="221" y="157"/>
                </a:lnTo>
                <a:lnTo>
                  <a:pt x="200" y="163"/>
                </a:lnTo>
                <a:lnTo>
                  <a:pt x="200" y="163"/>
                </a:lnTo>
                <a:lnTo>
                  <a:pt x="195" y="163"/>
                </a:lnTo>
                <a:lnTo>
                  <a:pt x="191" y="164"/>
                </a:lnTo>
                <a:lnTo>
                  <a:pt x="191" y="164"/>
                </a:lnTo>
                <a:lnTo>
                  <a:pt x="194" y="160"/>
                </a:lnTo>
                <a:lnTo>
                  <a:pt x="194" y="160"/>
                </a:lnTo>
                <a:close/>
                <a:moveTo>
                  <a:pt x="189" y="165"/>
                </a:moveTo>
                <a:lnTo>
                  <a:pt x="189" y="165"/>
                </a:lnTo>
                <a:lnTo>
                  <a:pt x="196" y="165"/>
                </a:lnTo>
                <a:lnTo>
                  <a:pt x="204" y="165"/>
                </a:lnTo>
                <a:lnTo>
                  <a:pt x="219" y="161"/>
                </a:lnTo>
                <a:lnTo>
                  <a:pt x="248" y="153"/>
                </a:lnTo>
                <a:lnTo>
                  <a:pt x="248" y="153"/>
                </a:lnTo>
                <a:lnTo>
                  <a:pt x="270" y="147"/>
                </a:lnTo>
                <a:lnTo>
                  <a:pt x="293" y="140"/>
                </a:lnTo>
                <a:lnTo>
                  <a:pt x="338" y="126"/>
                </a:lnTo>
                <a:lnTo>
                  <a:pt x="338" y="126"/>
                </a:lnTo>
                <a:lnTo>
                  <a:pt x="381" y="113"/>
                </a:lnTo>
                <a:lnTo>
                  <a:pt x="425" y="101"/>
                </a:lnTo>
                <a:lnTo>
                  <a:pt x="425" y="101"/>
                </a:lnTo>
                <a:lnTo>
                  <a:pt x="469" y="91"/>
                </a:lnTo>
                <a:lnTo>
                  <a:pt x="469" y="91"/>
                </a:lnTo>
                <a:lnTo>
                  <a:pt x="491" y="85"/>
                </a:lnTo>
                <a:lnTo>
                  <a:pt x="491" y="85"/>
                </a:lnTo>
                <a:lnTo>
                  <a:pt x="493" y="85"/>
                </a:lnTo>
                <a:lnTo>
                  <a:pt x="493" y="85"/>
                </a:lnTo>
                <a:lnTo>
                  <a:pt x="475" y="91"/>
                </a:lnTo>
                <a:lnTo>
                  <a:pt x="455" y="96"/>
                </a:lnTo>
                <a:lnTo>
                  <a:pt x="417" y="104"/>
                </a:lnTo>
                <a:lnTo>
                  <a:pt x="417" y="104"/>
                </a:lnTo>
                <a:lnTo>
                  <a:pt x="394" y="110"/>
                </a:lnTo>
                <a:lnTo>
                  <a:pt x="370" y="118"/>
                </a:lnTo>
                <a:lnTo>
                  <a:pt x="324" y="132"/>
                </a:lnTo>
                <a:lnTo>
                  <a:pt x="324" y="132"/>
                </a:lnTo>
                <a:lnTo>
                  <a:pt x="237" y="158"/>
                </a:lnTo>
                <a:lnTo>
                  <a:pt x="237" y="158"/>
                </a:lnTo>
                <a:lnTo>
                  <a:pt x="205" y="168"/>
                </a:lnTo>
                <a:lnTo>
                  <a:pt x="190" y="173"/>
                </a:lnTo>
                <a:lnTo>
                  <a:pt x="176" y="180"/>
                </a:lnTo>
                <a:lnTo>
                  <a:pt x="176" y="180"/>
                </a:lnTo>
                <a:lnTo>
                  <a:pt x="189" y="165"/>
                </a:lnTo>
                <a:lnTo>
                  <a:pt x="189" y="165"/>
                </a:lnTo>
                <a:close/>
                <a:moveTo>
                  <a:pt x="171" y="186"/>
                </a:moveTo>
                <a:lnTo>
                  <a:pt x="171" y="186"/>
                </a:lnTo>
                <a:lnTo>
                  <a:pt x="172" y="184"/>
                </a:lnTo>
                <a:lnTo>
                  <a:pt x="172" y="184"/>
                </a:lnTo>
                <a:lnTo>
                  <a:pt x="172" y="184"/>
                </a:lnTo>
                <a:lnTo>
                  <a:pt x="172" y="184"/>
                </a:lnTo>
                <a:lnTo>
                  <a:pt x="182" y="179"/>
                </a:lnTo>
                <a:lnTo>
                  <a:pt x="193" y="175"/>
                </a:lnTo>
                <a:lnTo>
                  <a:pt x="193" y="175"/>
                </a:lnTo>
                <a:lnTo>
                  <a:pt x="214" y="167"/>
                </a:lnTo>
                <a:lnTo>
                  <a:pt x="237" y="160"/>
                </a:lnTo>
                <a:lnTo>
                  <a:pt x="237" y="160"/>
                </a:lnTo>
                <a:lnTo>
                  <a:pt x="330" y="133"/>
                </a:lnTo>
                <a:lnTo>
                  <a:pt x="330" y="133"/>
                </a:lnTo>
                <a:lnTo>
                  <a:pt x="376" y="119"/>
                </a:lnTo>
                <a:lnTo>
                  <a:pt x="400" y="111"/>
                </a:lnTo>
                <a:lnTo>
                  <a:pt x="423" y="105"/>
                </a:lnTo>
                <a:lnTo>
                  <a:pt x="423" y="105"/>
                </a:lnTo>
                <a:lnTo>
                  <a:pt x="445" y="100"/>
                </a:lnTo>
                <a:lnTo>
                  <a:pt x="469" y="94"/>
                </a:lnTo>
                <a:lnTo>
                  <a:pt x="491" y="88"/>
                </a:lnTo>
                <a:lnTo>
                  <a:pt x="512" y="80"/>
                </a:lnTo>
                <a:lnTo>
                  <a:pt x="512" y="80"/>
                </a:lnTo>
                <a:lnTo>
                  <a:pt x="538" y="91"/>
                </a:lnTo>
                <a:lnTo>
                  <a:pt x="538" y="91"/>
                </a:lnTo>
                <a:lnTo>
                  <a:pt x="537" y="91"/>
                </a:lnTo>
                <a:lnTo>
                  <a:pt x="537" y="91"/>
                </a:lnTo>
                <a:lnTo>
                  <a:pt x="516" y="96"/>
                </a:lnTo>
                <a:lnTo>
                  <a:pt x="494" y="101"/>
                </a:lnTo>
                <a:lnTo>
                  <a:pt x="449" y="111"/>
                </a:lnTo>
                <a:lnTo>
                  <a:pt x="449" y="111"/>
                </a:lnTo>
                <a:lnTo>
                  <a:pt x="404" y="123"/>
                </a:lnTo>
                <a:lnTo>
                  <a:pt x="357" y="134"/>
                </a:lnTo>
                <a:lnTo>
                  <a:pt x="357" y="134"/>
                </a:lnTo>
                <a:lnTo>
                  <a:pt x="312" y="145"/>
                </a:lnTo>
                <a:lnTo>
                  <a:pt x="267" y="157"/>
                </a:lnTo>
                <a:lnTo>
                  <a:pt x="223" y="169"/>
                </a:lnTo>
                <a:lnTo>
                  <a:pt x="178" y="183"/>
                </a:lnTo>
                <a:lnTo>
                  <a:pt x="178" y="183"/>
                </a:lnTo>
                <a:lnTo>
                  <a:pt x="171" y="186"/>
                </a:lnTo>
                <a:lnTo>
                  <a:pt x="171" y="186"/>
                </a:lnTo>
                <a:lnTo>
                  <a:pt x="171" y="186"/>
                </a:lnTo>
                <a:lnTo>
                  <a:pt x="171" y="186"/>
                </a:lnTo>
                <a:close/>
                <a:moveTo>
                  <a:pt x="169" y="187"/>
                </a:moveTo>
                <a:lnTo>
                  <a:pt x="169" y="187"/>
                </a:lnTo>
                <a:lnTo>
                  <a:pt x="212" y="175"/>
                </a:lnTo>
                <a:lnTo>
                  <a:pt x="234" y="168"/>
                </a:lnTo>
                <a:lnTo>
                  <a:pt x="256" y="162"/>
                </a:lnTo>
                <a:lnTo>
                  <a:pt x="256" y="162"/>
                </a:lnTo>
                <a:lnTo>
                  <a:pt x="352" y="137"/>
                </a:lnTo>
                <a:lnTo>
                  <a:pt x="352" y="137"/>
                </a:lnTo>
                <a:lnTo>
                  <a:pt x="402" y="126"/>
                </a:lnTo>
                <a:lnTo>
                  <a:pt x="450" y="115"/>
                </a:lnTo>
                <a:lnTo>
                  <a:pt x="450" y="115"/>
                </a:lnTo>
                <a:lnTo>
                  <a:pt x="475" y="107"/>
                </a:lnTo>
                <a:lnTo>
                  <a:pt x="499" y="102"/>
                </a:lnTo>
                <a:lnTo>
                  <a:pt x="499" y="102"/>
                </a:lnTo>
                <a:lnTo>
                  <a:pt x="511" y="99"/>
                </a:lnTo>
                <a:lnTo>
                  <a:pt x="511" y="99"/>
                </a:lnTo>
                <a:lnTo>
                  <a:pt x="464" y="113"/>
                </a:lnTo>
                <a:lnTo>
                  <a:pt x="418" y="124"/>
                </a:lnTo>
                <a:lnTo>
                  <a:pt x="370" y="135"/>
                </a:lnTo>
                <a:lnTo>
                  <a:pt x="347" y="141"/>
                </a:lnTo>
                <a:lnTo>
                  <a:pt x="325" y="148"/>
                </a:lnTo>
                <a:lnTo>
                  <a:pt x="325" y="148"/>
                </a:lnTo>
                <a:lnTo>
                  <a:pt x="228" y="179"/>
                </a:lnTo>
                <a:lnTo>
                  <a:pt x="228" y="179"/>
                </a:lnTo>
                <a:lnTo>
                  <a:pt x="204" y="186"/>
                </a:lnTo>
                <a:lnTo>
                  <a:pt x="181" y="194"/>
                </a:lnTo>
                <a:lnTo>
                  <a:pt x="181" y="194"/>
                </a:lnTo>
                <a:lnTo>
                  <a:pt x="169" y="197"/>
                </a:lnTo>
                <a:lnTo>
                  <a:pt x="158" y="200"/>
                </a:lnTo>
                <a:lnTo>
                  <a:pt x="158" y="200"/>
                </a:lnTo>
                <a:lnTo>
                  <a:pt x="169" y="187"/>
                </a:lnTo>
                <a:lnTo>
                  <a:pt x="169" y="187"/>
                </a:lnTo>
                <a:close/>
                <a:moveTo>
                  <a:pt x="155" y="203"/>
                </a:moveTo>
                <a:lnTo>
                  <a:pt x="155" y="203"/>
                </a:lnTo>
                <a:lnTo>
                  <a:pt x="160" y="202"/>
                </a:lnTo>
                <a:lnTo>
                  <a:pt x="160" y="202"/>
                </a:lnTo>
                <a:lnTo>
                  <a:pt x="171" y="198"/>
                </a:lnTo>
                <a:lnTo>
                  <a:pt x="182" y="196"/>
                </a:lnTo>
                <a:lnTo>
                  <a:pt x="182" y="196"/>
                </a:lnTo>
                <a:lnTo>
                  <a:pt x="207" y="188"/>
                </a:lnTo>
                <a:lnTo>
                  <a:pt x="234" y="180"/>
                </a:lnTo>
                <a:lnTo>
                  <a:pt x="234" y="180"/>
                </a:lnTo>
                <a:lnTo>
                  <a:pt x="284" y="163"/>
                </a:lnTo>
                <a:lnTo>
                  <a:pt x="336" y="147"/>
                </a:lnTo>
                <a:lnTo>
                  <a:pt x="336" y="147"/>
                </a:lnTo>
                <a:lnTo>
                  <a:pt x="361" y="140"/>
                </a:lnTo>
                <a:lnTo>
                  <a:pt x="388" y="133"/>
                </a:lnTo>
                <a:lnTo>
                  <a:pt x="438" y="121"/>
                </a:lnTo>
                <a:lnTo>
                  <a:pt x="438" y="121"/>
                </a:lnTo>
                <a:lnTo>
                  <a:pt x="489" y="107"/>
                </a:lnTo>
                <a:lnTo>
                  <a:pt x="514" y="101"/>
                </a:lnTo>
                <a:lnTo>
                  <a:pt x="538" y="93"/>
                </a:lnTo>
                <a:lnTo>
                  <a:pt x="538" y="93"/>
                </a:lnTo>
                <a:lnTo>
                  <a:pt x="538" y="92"/>
                </a:lnTo>
                <a:lnTo>
                  <a:pt x="538" y="91"/>
                </a:lnTo>
                <a:lnTo>
                  <a:pt x="538" y="91"/>
                </a:lnTo>
                <a:lnTo>
                  <a:pt x="555" y="98"/>
                </a:lnTo>
                <a:lnTo>
                  <a:pt x="555" y="98"/>
                </a:lnTo>
                <a:lnTo>
                  <a:pt x="505" y="109"/>
                </a:lnTo>
                <a:lnTo>
                  <a:pt x="455" y="121"/>
                </a:lnTo>
                <a:lnTo>
                  <a:pt x="406" y="133"/>
                </a:lnTo>
                <a:lnTo>
                  <a:pt x="357" y="147"/>
                </a:lnTo>
                <a:lnTo>
                  <a:pt x="357" y="147"/>
                </a:lnTo>
                <a:lnTo>
                  <a:pt x="305" y="162"/>
                </a:lnTo>
                <a:lnTo>
                  <a:pt x="252" y="176"/>
                </a:lnTo>
                <a:lnTo>
                  <a:pt x="252" y="176"/>
                </a:lnTo>
                <a:lnTo>
                  <a:pt x="228" y="183"/>
                </a:lnTo>
                <a:lnTo>
                  <a:pt x="203" y="191"/>
                </a:lnTo>
                <a:lnTo>
                  <a:pt x="178" y="199"/>
                </a:lnTo>
                <a:lnTo>
                  <a:pt x="153" y="205"/>
                </a:lnTo>
                <a:lnTo>
                  <a:pt x="153" y="205"/>
                </a:lnTo>
                <a:lnTo>
                  <a:pt x="153" y="205"/>
                </a:lnTo>
                <a:lnTo>
                  <a:pt x="153" y="205"/>
                </a:lnTo>
                <a:lnTo>
                  <a:pt x="155" y="203"/>
                </a:lnTo>
                <a:lnTo>
                  <a:pt x="155" y="203"/>
                </a:lnTo>
                <a:close/>
                <a:moveTo>
                  <a:pt x="151" y="208"/>
                </a:moveTo>
                <a:lnTo>
                  <a:pt x="151" y="208"/>
                </a:lnTo>
                <a:lnTo>
                  <a:pt x="175" y="202"/>
                </a:lnTo>
                <a:lnTo>
                  <a:pt x="199" y="195"/>
                </a:lnTo>
                <a:lnTo>
                  <a:pt x="224" y="187"/>
                </a:lnTo>
                <a:lnTo>
                  <a:pt x="247" y="179"/>
                </a:lnTo>
                <a:lnTo>
                  <a:pt x="247" y="179"/>
                </a:lnTo>
                <a:lnTo>
                  <a:pt x="302" y="164"/>
                </a:lnTo>
                <a:lnTo>
                  <a:pt x="358" y="149"/>
                </a:lnTo>
                <a:lnTo>
                  <a:pt x="358" y="149"/>
                </a:lnTo>
                <a:lnTo>
                  <a:pt x="412" y="134"/>
                </a:lnTo>
                <a:lnTo>
                  <a:pt x="468" y="121"/>
                </a:lnTo>
                <a:lnTo>
                  <a:pt x="468" y="121"/>
                </a:lnTo>
                <a:lnTo>
                  <a:pt x="521" y="107"/>
                </a:lnTo>
                <a:lnTo>
                  <a:pt x="521" y="107"/>
                </a:lnTo>
                <a:lnTo>
                  <a:pt x="541" y="103"/>
                </a:lnTo>
                <a:lnTo>
                  <a:pt x="541" y="103"/>
                </a:lnTo>
                <a:lnTo>
                  <a:pt x="533" y="106"/>
                </a:lnTo>
                <a:lnTo>
                  <a:pt x="533" y="106"/>
                </a:lnTo>
                <a:lnTo>
                  <a:pt x="508" y="113"/>
                </a:lnTo>
                <a:lnTo>
                  <a:pt x="483" y="119"/>
                </a:lnTo>
                <a:lnTo>
                  <a:pt x="457" y="125"/>
                </a:lnTo>
                <a:lnTo>
                  <a:pt x="432" y="131"/>
                </a:lnTo>
                <a:lnTo>
                  <a:pt x="432" y="131"/>
                </a:lnTo>
                <a:lnTo>
                  <a:pt x="378" y="146"/>
                </a:lnTo>
                <a:lnTo>
                  <a:pt x="325" y="161"/>
                </a:lnTo>
                <a:lnTo>
                  <a:pt x="325" y="161"/>
                </a:lnTo>
                <a:lnTo>
                  <a:pt x="271" y="177"/>
                </a:lnTo>
                <a:lnTo>
                  <a:pt x="245" y="185"/>
                </a:lnTo>
                <a:lnTo>
                  <a:pt x="218" y="195"/>
                </a:lnTo>
                <a:lnTo>
                  <a:pt x="218" y="195"/>
                </a:lnTo>
                <a:lnTo>
                  <a:pt x="192" y="205"/>
                </a:lnTo>
                <a:lnTo>
                  <a:pt x="166" y="216"/>
                </a:lnTo>
                <a:lnTo>
                  <a:pt x="166" y="216"/>
                </a:lnTo>
                <a:lnTo>
                  <a:pt x="150" y="221"/>
                </a:lnTo>
                <a:lnTo>
                  <a:pt x="132" y="227"/>
                </a:lnTo>
                <a:lnTo>
                  <a:pt x="132" y="227"/>
                </a:lnTo>
                <a:lnTo>
                  <a:pt x="151" y="208"/>
                </a:lnTo>
                <a:lnTo>
                  <a:pt x="151" y="208"/>
                </a:lnTo>
                <a:close/>
                <a:moveTo>
                  <a:pt x="131" y="228"/>
                </a:moveTo>
                <a:lnTo>
                  <a:pt x="131" y="228"/>
                </a:lnTo>
                <a:lnTo>
                  <a:pt x="131" y="228"/>
                </a:lnTo>
                <a:lnTo>
                  <a:pt x="131" y="228"/>
                </a:lnTo>
                <a:lnTo>
                  <a:pt x="131" y="228"/>
                </a:lnTo>
                <a:lnTo>
                  <a:pt x="131" y="228"/>
                </a:lnTo>
                <a:lnTo>
                  <a:pt x="131" y="228"/>
                </a:lnTo>
                <a:lnTo>
                  <a:pt x="131" y="228"/>
                </a:lnTo>
                <a:close/>
                <a:moveTo>
                  <a:pt x="128" y="231"/>
                </a:moveTo>
                <a:lnTo>
                  <a:pt x="128" y="231"/>
                </a:lnTo>
                <a:lnTo>
                  <a:pt x="154" y="224"/>
                </a:lnTo>
                <a:lnTo>
                  <a:pt x="179" y="218"/>
                </a:lnTo>
                <a:lnTo>
                  <a:pt x="204" y="211"/>
                </a:lnTo>
                <a:lnTo>
                  <a:pt x="230" y="204"/>
                </a:lnTo>
                <a:lnTo>
                  <a:pt x="230" y="204"/>
                </a:lnTo>
                <a:lnTo>
                  <a:pt x="285" y="185"/>
                </a:lnTo>
                <a:lnTo>
                  <a:pt x="314" y="176"/>
                </a:lnTo>
                <a:lnTo>
                  <a:pt x="342" y="168"/>
                </a:lnTo>
                <a:lnTo>
                  <a:pt x="342" y="168"/>
                </a:lnTo>
                <a:lnTo>
                  <a:pt x="454" y="136"/>
                </a:lnTo>
                <a:lnTo>
                  <a:pt x="568" y="104"/>
                </a:lnTo>
                <a:lnTo>
                  <a:pt x="568" y="104"/>
                </a:lnTo>
                <a:lnTo>
                  <a:pt x="582" y="110"/>
                </a:lnTo>
                <a:lnTo>
                  <a:pt x="582" y="110"/>
                </a:lnTo>
                <a:lnTo>
                  <a:pt x="522" y="125"/>
                </a:lnTo>
                <a:lnTo>
                  <a:pt x="463" y="140"/>
                </a:lnTo>
                <a:lnTo>
                  <a:pt x="404" y="156"/>
                </a:lnTo>
                <a:lnTo>
                  <a:pt x="345" y="173"/>
                </a:lnTo>
                <a:lnTo>
                  <a:pt x="345" y="173"/>
                </a:lnTo>
                <a:lnTo>
                  <a:pt x="229" y="209"/>
                </a:lnTo>
                <a:lnTo>
                  <a:pt x="229" y="209"/>
                </a:lnTo>
                <a:lnTo>
                  <a:pt x="201" y="216"/>
                </a:lnTo>
                <a:lnTo>
                  <a:pt x="174" y="223"/>
                </a:lnTo>
                <a:lnTo>
                  <a:pt x="148" y="231"/>
                </a:lnTo>
                <a:lnTo>
                  <a:pt x="120" y="239"/>
                </a:lnTo>
                <a:lnTo>
                  <a:pt x="120" y="239"/>
                </a:lnTo>
                <a:lnTo>
                  <a:pt x="128" y="231"/>
                </a:lnTo>
                <a:lnTo>
                  <a:pt x="128" y="231"/>
                </a:lnTo>
                <a:close/>
                <a:moveTo>
                  <a:pt x="117" y="243"/>
                </a:moveTo>
                <a:lnTo>
                  <a:pt x="117" y="243"/>
                </a:lnTo>
                <a:lnTo>
                  <a:pt x="144" y="234"/>
                </a:lnTo>
                <a:lnTo>
                  <a:pt x="170" y="227"/>
                </a:lnTo>
                <a:lnTo>
                  <a:pt x="196" y="220"/>
                </a:lnTo>
                <a:lnTo>
                  <a:pt x="224" y="212"/>
                </a:lnTo>
                <a:lnTo>
                  <a:pt x="224" y="212"/>
                </a:lnTo>
                <a:lnTo>
                  <a:pt x="346" y="175"/>
                </a:lnTo>
                <a:lnTo>
                  <a:pt x="346" y="175"/>
                </a:lnTo>
                <a:lnTo>
                  <a:pt x="405" y="158"/>
                </a:lnTo>
                <a:lnTo>
                  <a:pt x="464" y="142"/>
                </a:lnTo>
                <a:lnTo>
                  <a:pt x="524" y="127"/>
                </a:lnTo>
                <a:lnTo>
                  <a:pt x="584" y="113"/>
                </a:lnTo>
                <a:lnTo>
                  <a:pt x="584" y="113"/>
                </a:lnTo>
                <a:lnTo>
                  <a:pt x="585" y="113"/>
                </a:lnTo>
                <a:lnTo>
                  <a:pt x="585" y="113"/>
                </a:lnTo>
                <a:lnTo>
                  <a:pt x="596" y="118"/>
                </a:lnTo>
                <a:lnTo>
                  <a:pt x="596" y="118"/>
                </a:lnTo>
                <a:lnTo>
                  <a:pt x="540" y="129"/>
                </a:lnTo>
                <a:lnTo>
                  <a:pt x="512" y="135"/>
                </a:lnTo>
                <a:lnTo>
                  <a:pt x="485" y="142"/>
                </a:lnTo>
                <a:lnTo>
                  <a:pt x="485" y="142"/>
                </a:lnTo>
                <a:lnTo>
                  <a:pt x="422" y="159"/>
                </a:lnTo>
                <a:lnTo>
                  <a:pt x="358" y="175"/>
                </a:lnTo>
                <a:lnTo>
                  <a:pt x="358" y="175"/>
                </a:lnTo>
                <a:lnTo>
                  <a:pt x="296" y="191"/>
                </a:lnTo>
                <a:lnTo>
                  <a:pt x="236" y="209"/>
                </a:lnTo>
                <a:lnTo>
                  <a:pt x="174" y="228"/>
                </a:lnTo>
                <a:lnTo>
                  <a:pt x="113" y="247"/>
                </a:lnTo>
                <a:lnTo>
                  <a:pt x="113" y="247"/>
                </a:lnTo>
                <a:lnTo>
                  <a:pt x="117" y="243"/>
                </a:lnTo>
                <a:lnTo>
                  <a:pt x="117" y="243"/>
                </a:lnTo>
                <a:close/>
                <a:moveTo>
                  <a:pt x="110" y="250"/>
                </a:moveTo>
                <a:lnTo>
                  <a:pt x="110" y="250"/>
                </a:lnTo>
                <a:lnTo>
                  <a:pt x="174" y="230"/>
                </a:lnTo>
                <a:lnTo>
                  <a:pt x="237" y="211"/>
                </a:lnTo>
                <a:lnTo>
                  <a:pt x="300" y="192"/>
                </a:lnTo>
                <a:lnTo>
                  <a:pt x="364" y="176"/>
                </a:lnTo>
                <a:lnTo>
                  <a:pt x="364" y="176"/>
                </a:lnTo>
                <a:lnTo>
                  <a:pt x="428" y="159"/>
                </a:lnTo>
                <a:lnTo>
                  <a:pt x="491" y="142"/>
                </a:lnTo>
                <a:lnTo>
                  <a:pt x="491" y="142"/>
                </a:lnTo>
                <a:lnTo>
                  <a:pt x="519" y="135"/>
                </a:lnTo>
                <a:lnTo>
                  <a:pt x="534" y="132"/>
                </a:lnTo>
                <a:lnTo>
                  <a:pt x="550" y="129"/>
                </a:lnTo>
                <a:lnTo>
                  <a:pt x="550" y="129"/>
                </a:lnTo>
                <a:lnTo>
                  <a:pt x="580" y="123"/>
                </a:lnTo>
                <a:lnTo>
                  <a:pt x="580" y="123"/>
                </a:lnTo>
                <a:lnTo>
                  <a:pt x="595" y="120"/>
                </a:lnTo>
                <a:lnTo>
                  <a:pt x="595" y="120"/>
                </a:lnTo>
                <a:lnTo>
                  <a:pt x="585" y="123"/>
                </a:lnTo>
                <a:lnTo>
                  <a:pt x="585" y="123"/>
                </a:lnTo>
                <a:lnTo>
                  <a:pt x="571" y="127"/>
                </a:lnTo>
                <a:lnTo>
                  <a:pt x="557" y="131"/>
                </a:lnTo>
                <a:lnTo>
                  <a:pt x="528" y="137"/>
                </a:lnTo>
                <a:lnTo>
                  <a:pt x="528" y="137"/>
                </a:lnTo>
                <a:lnTo>
                  <a:pt x="495" y="145"/>
                </a:lnTo>
                <a:lnTo>
                  <a:pt x="462" y="154"/>
                </a:lnTo>
                <a:lnTo>
                  <a:pt x="462" y="154"/>
                </a:lnTo>
                <a:lnTo>
                  <a:pt x="399" y="171"/>
                </a:lnTo>
                <a:lnTo>
                  <a:pt x="336" y="189"/>
                </a:lnTo>
                <a:lnTo>
                  <a:pt x="336" y="189"/>
                </a:lnTo>
                <a:lnTo>
                  <a:pt x="208" y="228"/>
                </a:lnTo>
                <a:lnTo>
                  <a:pt x="208" y="228"/>
                </a:lnTo>
                <a:lnTo>
                  <a:pt x="148" y="245"/>
                </a:lnTo>
                <a:lnTo>
                  <a:pt x="148" y="245"/>
                </a:lnTo>
                <a:lnTo>
                  <a:pt x="125" y="252"/>
                </a:lnTo>
                <a:lnTo>
                  <a:pt x="113" y="255"/>
                </a:lnTo>
                <a:lnTo>
                  <a:pt x="102" y="259"/>
                </a:lnTo>
                <a:lnTo>
                  <a:pt x="102" y="259"/>
                </a:lnTo>
                <a:lnTo>
                  <a:pt x="110" y="250"/>
                </a:lnTo>
                <a:lnTo>
                  <a:pt x="110" y="250"/>
                </a:lnTo>
                <a:close/>
                <a:moveTo>
                  <a:pt x="98" y="263"/>
                </a:moveTo>
                <a:lnTo>
                  <a:pt x="98" y="263"/>
                </a:lnTo>
                <a:lnTo>
                  <a:pt x="229" y="229"/>
                </a:lnTo>
                <a:lnTo>
                  <a:pt x="294" y="212"/>
                </a:lnTo>
                <a:lnTo>
                  <a:pt x="360" y="195"/>
                </a:lnTo>
                <a:lnTo>
                  <a:pt x="360" y="195"/>
                </a:lnTo>
                <a:lnTo>
                  <a:pt x="426" y="178"/>
                </a:lnTo>
                <a:lnTo>
                  <a:pt x="493" y="161"/>
                </a:lnTo>
                <a:lnTo>
                  <a:pt x="560" y="145"/>
                </a:lnTo>
                <a:lnTo>
                  <a:pt x="593" y="137"/>
                </a:lnTo>
                <a:lnTo>
                  <a:pt x="626" y="131"/>
                </a:lnTo>
                <a:lnTo>
                  <a:pt x="626" y="131"/>
                </a:lnTo>
                <a:lnTo>
                  <a:pt x="637" y="136"/>
                </a:lnTo>
                <a:lnTo>
                  <a:pt x="637" y="136"/>
                </a:lnTo>
                <a:lnTo>
                  <a:pt x="622" y="139"/>
                </a:lnTo>
                <a:lnTo>
                  <a:pt x="608" y="143"/>
                </a:lnTo>
                <a:lnTo>
                  <a:pt x="580" y="151"/>
                </a:lnTo>
                <a:lnTo>
                  <a:pt x="580" y="151"/>
                </a:lnTo>
                <a:lnTo>
                  <a:pt x="562" y="155"/>
                </a:lnTo>
                <a:lnTo>
                  <a:pt x="544" y="158"/>
                </a:lnTo>
                <a:lnTo>
                  <a:pt x="509" y="165"/>
                </a:lnTo>
                <a:lnTo>
                  <a:pt x="509" y="165"/>
                </a:lnTo>
                <a:lnTo>
                  <a:pt x="437" y="180"/>
                </a:lnTo>
                <a:lnTo>
                  <a:pt x="365" y="197"/>
                </a:lnTo>
                <a:lnTo>
                  <a:pt x="365" y="197"/>
                </a:lnTo>
                <a:lnTo>
                  <a:pt x="330" y="205"/>
                </a:lnTo>
                <a:lnTo>
                  <a:pt x="294" y="214"/>
                </a:lnTo>
                <a:lnTo>
                  <a:pt x="224" y="233"/>
                </a:lnTo>
                <a:lnTo>
                  <a:pt x="224" y="233"/>
                </a:lnTo>
                <a:lnTo>
                  <a:pt x="190" y="243"/>
                </a:lnTo>
                <a:lnTo>
                  <a:pt x="156" y="252"/>
                </a:lnTo>
                <a:lnTo>
                  <a:pt x="156" y="252"/>
                </a:lnTo>
                <a:lnTo>
                  <a:pt x="123" y="260"/>
                </a:lnTo>
                <a:lnTo>
                  <a:pt x="108" y="264"/>
                </a:lnTo>
                <a:lnTo>
                  <a:pt x="92" y="269"/>
                </a:lnTo>
                <a:lnTo>
                  <a:pt x="92" y="269"/>
                </a:lnTo>
                <a:lnTo>
                  <a:pt x="98" y="263"/>
                </a:lnTo>
                <a:lnTo>
                  <a:pt x="98" y="263"/>
                </a:lnTo>
                <a:close/>
                <a:moveTo>
                  <a:pt x="89" y="273"/>
                </a:moveTo>
                <a:lnTo>
                  <a:pt x="89" y="273"/>
                </a:lnTo>
                <a:lnTo>
                  <a:pt x="104" y="268"/>
                </a:lnTo>
                <a:lnTo>
                  <a:pt x="119" y="263"/>
                </a:lnTo>
                <a:lnTo>
                  <a:pt x="151" y="256"/>
                </a:lnTo>
                <a:lnTo>
                  <a:pt x="151" y="256"/>
                </a:lnTo>
                <a:lnTo>
                  <a:pt x="185" y="247"/>
                </a:lnTo>
                <a:lnTo>
                  <a:pt x="219" y="237"/>
                </a:lnTo>
                <a:lnTo>
                  <a:pt x="219" y="237"/>
                </a:lnTo>
                <a:lnTo>
                  <a:pt x="289" y="218"/>
                </a:lnTo>
                <a:lnTo>
                  <a:pt x="360" y="200"/>
                </a:lnTo>
                <a:lnTo>
                  <a:pt x="360" y="200"/>
                </a:lnTo>
                <a:lnTo>
                  <a:pt x="396" y="191"/>
                </a:lnTo>
                <a:lnTo>
                  <a:pt x="432" y="183"/>
                </a:lnTo>
                <a:lnTo>
                  <a:pt x="504" y="168"/>
                </a:lnTo>
                <a:lnTo>
                  <a:pt x="504" y="168"/>
                </a:lnTo>
                <a:lnTo>
                  <a:pt x="539" y="161"/>
                </a:lnTo>
                <a:lnTo>
                  <a:pt x="575" y="154"/>
                </a:lnTo>
                <a:lnTo>
                  <a:pt x="575" y="154"/>
                </a:lnTo>
                <a:lnTo>
                  <a:pt x="591" y="150"/>
                </a:lnTo>
                <a:lnTo>
                  <a:pt x="607" y="146"/>
                </a:lnTo>
                <a:lnTo>
                  <a:pt x="622" y="141"/>
                </a:lnTo>
                <a:lnTo>
                  <a:pt x="639" y="138"/>
                </a:lnTo>
                <a:lnTo>
                  <a:pt x="639" y="138"/>
                </a:lnTo>
                <a:lnTo>
                  <a:pt x="640" y="137"/>
                </a:lnTo>
                <a:lnTo>
                  <a:pt x="640" y="137"/>
                </a:lnTo>
                <a:lnTo>
                  <a:pt x="640" y="137"/>
                </a:lnTo>
                <a:lnTo>
                  <a:pt x="640" y="137"/>
                </a:lnTo>
                <a:lnTo>
                  <a:pt x="625" y="151"/>
                </a:lnTo>
                <a:lnTo>
                  <a:pt x="625" y="151"/>
                </a:lnTo>
                <a:lnTo>
                  <a:pt x="593" y="158"/>
                </a:lnTo>
                <a:lnTo>
                  <a:pt x="560" y="165"/>
                </a:lnTo>
                <a:lnTo>
                  <a:pt x="527" y="172"/>
                </a:lnTo>
                <a:lnTo>
                  <a:pt x="495" y="180"/>
                </a:lnTo>
                <a:lnTo>
                  <a:pt x="495" y="180"/>
                </a:lnTo>
                <a:lnTo>
                  <a:pt x="460" y="188"/>
                </a:lnTo>
                <a:lnTo>
                  <a:pt x="426" y="196"/>
                </a:lnTo>
                <a:lnTo>
                  <a:pt x="358" y="211"/>
                </a:lnTo>
                <a:lnTo>
                  <a:pt x="358" y="211"/>
                </a:lnTo>
                <a:lnTo>
                  <a:pt x="290" y="227"/>
                </a:lnTo>
                <a:lnTo>
                  <a:pt x="223" y="244"/>
                </a:lnTo>
                <a:lnTo>
                  <a:pt x="223" y="244"/>
                </a:lnTo>
                <a:lnTo>
                  <a:pt x="153" y="260"/>
                </a:lnTo>
                <a:lnTo>
                  <a:pt x="118" y="269"/>
                </a:lnTo>
                <a:lnTo>
                  <a:pt x="84" y="280"/>
                </a:lnTo>
                <a:lnTo>
                  <a:pt x="84" y="280"/>
                </a:lnTo>
                <a:lnTo>
                  <a:pt x="89" y="273"/>
                </a:lnTo>
                <a:lnTo>
                  <a:pt x="89" y="273"/>
                </a:lnTo>
                <a:close/>
                <a:moveTo>
                  <a:pt x="302" y="482"/>
                </a:moveTo>
                <a:lnTo>
                  <a:pt x="302" y="482"/>
                </a:lnTo>
                <a:lnTo>
                  <a:pt x="289" y="475"/>
                </a:lnTo>
                <a:lnTo>
                  <a:pt x="289" y="475"/>
                </a:lnTo>
                <a:lnTo>
                  <a:pt x="299" y="474"/>
                </a:lnTo>
                <a:lnTo>
                  <a:pt x="309" y="472"/>
                </a:lnTo>
                <a:lnTo>
                  <a:pt x="309" y="472"/>
                </a:lnTo>
                <a:lnTo>
                  <a:pt x="322" y="468"/>
                </a:lnTo>
                <a:lnTo>
                  <a:pt x="322" y="468"/>
                </a:lnTo>
                <a:lnTo>
                  <a:pt x="331" y="466"/>
                </a:lnTo>
                <a:lnTo>
                  <a:pt x="334" y="465"/>
                </a:lnTo>
                <a:lnTo>
                  <a:pt x="335" y="465"/>
                </a:lnTo>
                <a:lnTo>
                  <a:pt x="333" y="466"/>
                </a:lnTo>
                <a:lnTo>
                  <a:pt x="333" y="466"/>
                </a:lnTo>
                <a:lnTo>
                  <a:pt x="317" y="471"/>
                </a:lnTo>
                <a:lnTo>
                  <a:pt x="309" y="475"/>
                </a:lnTo>
                <a:lnTo>
                  <a:pt x="306" y="477"/>
                </a:lnTo>
                <a:lnTo>
                  <a:pt x="302" y="481"/>
                </a:lnTo>
                <a:lnTo>
                  <a:pt x="302" y="481"/>
                </a:lnTo>
                <a:lnTo>
                  <a:pt x="302" y="482"/>
                </a:lnTo>
                <a:lnTo>
                  <a:pt x="302" y="482"/>
                </a:lnTo>
                <a:close/>
                <a:moveTo>
                  <a:pt x="113" y="338"/>
                </a:moveTo>
                <a:lnTo>
                  <a:pt x="113" y="338"/>
                </a:lnTo>
                <a:lnTo>
                  <a:pt x="148" y="329"/>
                </a:lnTo>
                <a:lnTo>
                  <a:pt x="182" y="319"/>
                </a:lnTo>
                <a:lnTo>
                  <a:pt x="182" y="319"/>
                </a:lnTo>
                <a:lnTo>
                  <a:pt x="248" y="300"/>
                </a:lnTo>
                <a:lnTo>
                  <a:pt x="280" y="291"/>
                </a:lnTo>
                <a:lnTo>
                  <a:pt x="314" y="283"/>
                </a:lnTo>
                <a:lnTo>
                  <a:pt x="314" y="283"/>
                </a:lnTo>
                <a:lnTo>
                  <a:pt x="343" y="276"/>
                </a:lnTo>
                <a:lnTo>
                  <a:pt x="343" y="276"/>
                </a:lnTo>
                <a:lnTo>
                  <a:pt x="391" y="264"/>
                </a:lnTo>
                <a:lnTo>
                  <a:pt x="438" y="251"/>
                </a:lnTo>
                <a:lnTo>
                  <a:pt x="438" y="251"/>
                </a:lnTo>
                <a:lnTo>
                  <a:pt x="448" y="249"/>
                </a:lnTo>
                <a:lnTo>
                  <a:pt x="448" y="249"/>
                </a:lnTo>
                <a:lnTo>
                  <a:pt x="481" y="242"/>
                </a:lnTo>
                <a:lnTo>
                  <a:pt x="513" y="233"/>
                </a:lnTo>
                <a:lnTo>
                  <a:pt x="513" y="233"/>
                </a:lnTo>
                <a:lnTo>
                  <a:pt x="539" y="226"/>
                </a:lnTo>
                <a:lnTo>
                  <a:pt x="553" y="223"/>
                </a:lnTo>
                <a:lnTo>
                  <a:pt x="565" y="218"/>
                </a:lnTo>
                <a:lnTo>
                  <a:pt x="565" y="218"/>
                </a:lnTo>
                <a:lnTo>
                  <a:pt x="554" y="230"/>
                </a:lnTo>
                <a:lnTo>
                  <a:pt x="554" y="230"/>
                </a:lnTo>
                <a:lnTo>
                  <a:pt x="539" y="234"/>
                </a:lnTo>
                <a:lnTo>
                  <a:pt x="525" y="238"/>
                </a:lnTo>
                <a:lnTo>
                  <a:pt x="497" y="247"/>
                </a:lnTo>
                <a:lnTo>
                  <a:pt x="497" y="247"/>
                </a:lnTo>
                <a:lnTo>
                  <a:pt x="467" y="254"/>
                </a:lnTo>
                <a:lnTo>
                  <a:pt x="435" y="262"/>
                </a:lnTo>
                <a:lnTo>
                  <a:pt x="435" y="262"/>
                </a:lnTo>
                <a:lnTo>
                  <a:pt x="420" y="266"/>
                </a:lnTo>
                <a:lnTo>
                  <a:pt x="406" y="270"/>
                </a:lnTo>
                <a:lnTo>
                  <a:pt x="391" y="276"/>
                </a:lnTo>
                <a:lnTo>
                  <a:pt x="375" y="280"/>
                </a:lnTo>
                <a:lnTo>
                  <a:pt x="375" y="280"/>
                </a:lnTo>
                <a:lnTo>
                  <a:pt x="309" y="295"/>
                </a:lnTo>
                <a:lnTo>
                  <a:pt x="309" y="295"/>
                </a:lnTo>
                <a:lnTo>
                  <a:pt x="246" y="311"/>
                </a:lnTo>
                <a:lnTo>
                  <a:pt x="184" y="327"/>
                </a:lnTo>
                <a:lnTo>
                  <a:pt x="184" y="327"/>
                </a:lnTo>
                <a:lnTo>
                  <a:pt x="154" y="335"/>
                </a:lnTo>
                <a:lnTo>
                  <a:pt x="137" y="339"/>
                </a:lnTo>
                <a:lnTo>
                  <a:pt x="122" y="342"/>
                </a:lnTo>
                <a:lnTo>
                  <a:pt x="122" y="342"/>
                </a:lnTo>
                <a:lnTo>
                  <a:pt x="90" y="347"/>
                </a:lnTo>
                <a:lnTo>
                  <a:pt x="75" y="350"/>
                </a:lnTo>
                <a:lnTo>
                  <a:pt x="58" y="353"/>
                </a:lnTo>
                <a:lnTo>
                  <a:pt x="58" y="353"/>
                </a:lnTo>
                <a:lnTo>
                  <a:pt x="57" y="354"/>
                </a:lnTo>
                <a:lnTo>
                  <a:pt x="57" y="354"/>
                </a:lnTo>
                <a:lnTo>
                  <a:pt x="58" y="356"/>
                </a:lnTo>
                <a:lnTo>
                  <a:pt x="59" y="356"/>
                </a:lnTo>
                <a:lnTo>
                  <a:pt x="59" y="356"/>
                </a:lnTo>
                <a:lnTo>
                  <a:pt x="88" y="349"/>
                </a:lnTo>
                <a:lnTo>
                  <a:pt x="117" y="344"/>
                </a:lnTo>
                <a:lnTo>
                  <a:pt x="146" y="339"/>
                </a:lnTo>
                <a:lnTo>
                  <a:pt x="174" y="332"/>
                </a:lnTo>
                <a:lnTo>
                  <a:pt x="174" y="332"/>
                </a:lnTo>
                <a:lnTo>
                  <a:pt x="236" y="315"/>
                </a:lnTo>
                <a:lnTo>
                  <a:pt x="297" y="300"/>
                </a:lnTo>
                <a:lnTo>
                  <a:pt x="297" y="300"/>
                </a:lnTo>
                <a:lnTo>
                  <a:pt x="359" y="285"/>
                </a:lnTo>
                <a:lnTo>
                  <a:pt x="391" y="277"/>
                </a:lnTo>
                <a:lnTo>
                  <a:pt x="421" y="268"/>
                </a:lnTo>
                <a:lnTo>
                  <a:pt x="421" y="268"/>
                </a:lnTo>
                <a:lnTo>
                  <a:pt x="435" y="264"/>
                </a:lnTo>
                <a:lnTo>
                  <a:pt x="449" y="261"/>
                </a:lnTo>
                <a:lnTo>
                  <a:pt x="478" y="254"/>
                </a:lnTo>
                <a:lnTo>
                  <a:pt x="478" y="254"/>
                </a:lnTo>
                <a:lnTo>
                  <a:pt x="502" y="248"/>
                </a:lnTo>
                <a:lnTo>
                  <a:pt x="527" y="240"/>
                </a:lnTo>
                <a:lnTo>
                  <a:pt x="527" y="240"/>
                </a:lnTo>
                <a:lnTo>
                  <a:pt x="509" y="247"/>
                </a:lnTo>
                <a:lnTo>
                  <a:pt x="509" y="247"/>
                </a:lnTo>
                <a:lnTo>
                  <a:pt x="477" y="258"/>
                </a:lnTo>
                <a:lnTo>
                  <a:pt x="444" y="267"/>
                </a:lnTo>
                <a:lnTo>
                  <a:pt x="444" y="267"/>
                </a:lnTo>
                <a:lnTo>
                  <a:pt x="379" y="283"/>
                </a:lnTo>
                <a:lnTo>
                  <a:pt x="316" y="298"/>
                </a:lnTo>
                <a:lnTo>
                  <a:pt x="316" y="298"/>
                </a:lnTo>
                <a:lnTo>
                  <a:pt x="252" y="313"/>
                </a:lnTo>
                <a:lnTo>
                  <a:pt x="189" y="329"/>
                </a:lnTo>
                <a:lnTo>
                  <a:pt x="189" y="329"/>
                </a:lnTo>
                <a:lnTo>
                  <a:pt x="127" y="345"/>
                </a:lnTo>
                <a:lnTo>
                  <a:pt x="97" y="354"/>
                </a:lnTo>
                <a:lnTo>
                  <a:pt x="67" y="365"/>
                </a:lnTo>
                <a:lnTo>
                  <a:pt x="67" y="365"/>
                </a:lnTo>
                <a:lnTo>
                  <a:pt x="49" y="356"/>
                </a:lnTo>
                <a:lnTo>
                  <a:pt x="49" y="356"/>
                </a:lnTo>
                <a:lnTo>
                  <a:pt x="65" y="350"/>
                </a:lnTo>
                <a:lnTo>
                  <a:pt x="81" y="345"/>
                </a:lnTo>
                <a:lnTo>
                  <a:pt x="113" y="338"/>
                </a:lnTo>
                <a:lnTo>
                  <a:pt x="113" y="338"/>
                </a:lnTo>
                <a:close/>
                <a:moveTo>
                  <a:pt x="47" y="354"/>
                </a:moveTo>
                <a:lnTo>
                  <a:pt x="47" y="354"/>
                </a:lnTo>
                <a:lnTo>
                  <a:pt x="29" y="344"/>
                </a:lnTo>
                <a:lnTo>
                  <a:pt x="29" y="344"/>
                </a:lnTo>
                <a:lnTo>
                  <a:pt x="41" y="343"/>
                </a:lnTo>
                <a:lnTo>
                  <a:pt x="53" y="340"/>
                </a:lnTo>
                <a:lnTo>
                  <a:pt x="66" y="336"/>
                </a:lnTo>
                <a:lnTo>
                  <a:pt x="78" y="332"/>
                </a:lnTo>
                <a:lnTo>
                  <a:pt x="78" y="332"/>
                </a:lnTo>
                <a:lnTo>
                  <a:pt x="95" y="326"/>
                </a:lnTo>
                <a:lnTo>
                  <a:pt x="112" y="322"/>
                </a:lnTo>
                <a:lnTo>
                  <a:pt x="147" y="314"/>
                </a:lnTo>
                <a:lnTo>
                  <a:pt x="147" y="314"/>
                </a:lnTo>
                <a:lnTo>
                  <a:pt x="209" y="302"/>
                </a:lnTo>
                <a:lnTo>
                  <a:pt x="273" y="291"/>
                </a:lnTo>
                <a:lnTo>
                  <a:pt x="273" y="291"/>
                </a:lnTo>
                <a:lnTo>
                  <a:pt x="225" y="304"/>
                </a:lnTo>
                <a:lnTo>
                  <a:pt x="176" y="318"/>
                </a:lnTo>
                <a:lnTo>
                  <a:pt x="176" y="318"/>
                </a:lnTo>
                <a:lnTo>
                  <a:pt x="112" y="336"/>
                </a:lnTo>
                <a:lnTo>
                  <a:pt x="112" y="336"/>
                </a:lnTo>
                <a:lnTo>
                  <a:pt x="97" y="340"/>
                </a:lnTo>
                <a:lnTo>
                  <a:pt x="82" y="343"/>
                </a:lnTo>
                <a:lnTo>
                  <a:pt x="67" y="347"/>
                </a:lnTo>
                <a:lnTo>
                  <a:pt x="51" y="352"/>
                </a:lnTo>
                <a:lnTo>
                  <a:pt x="51" y="352"/>
                </a:lnTo>
                <a:lnTo>
                  <a:pt x="47" y="354"/>
                </a:lnTo>
                <a:lnTo>
                  <a:pt x="47" y="354"/>
                </a:lnTo>
                <a:close/>
                <a:moveTo>
                  <a:pt x="415" y="347"/>
                </a:moveTo>
                <a:lnTo>
                  <a:pt x="415" y="347"/>
                </a:lnTo>
                <a:lnTo>
                  <a:pt x="399" y="351"/>
                </a:lnTo>
                <a:lnTo>
                  <a:pt x="399" y="351"/>
                </a:lnTo>
                <a:lnTo>
                  <a:pt x="382" y="356"/>
                </a:lnTo>
                <a:lnTo>
                  <a:pt x="382" y="356"/>
                </a:lnTo>
                <a:lnTo>
                  <a:pt x="306" y="375"/>
                </a:lnTo>
                <a:lnTo>
                  <a:pt x="306" y="375"/>
                </a:lnTo>
                <a:lnTo>
                  <a:pt x="265" y="385"/>
                </a:lnTo>
                <a:lnTo>
                  <a:pt x="225" y="394"/>
                </a:lnTo>
                <a:lnTo>
                  <a:pt x="225" y="394"/>
                </a:lnTo>
                <a:lnTo>
                  <a:pt x="206" y="398"/>
                </a:lnTo>
                <a:lnTo>
                  <a:pt x="188" y="403"/>
                </a:lnTo>
                <a:lnTo>
                  <a:pt x="188" y="403"/>
                </a:lnTo>
                <a:lnTo>
                  <a:pt x="167" y="407"/>
                </a:lnTo>
                <a:lnTo>
                  <a:pt x="167" y="407"/>
                </a:lnTo>
                <a:lnTo>
                  <a:pt x="162" y="408"/>
                </a:lnTo>
                <a:lnTo>
                  <a:pt x="165" y="407"/>
                </a:lnTo>
                <a:lnTo>
                  <a:pt x="176" y="404"/>
                </a:lnTo>
                <a:lnTo>
                  <a:pt x="176" y="404"/>
                </a:lnTo>
                <a:lnTo>
                  <a:pt x="215" y="393"/>
                </a:lnTo>
                <a:lnTo>
                  <a:pt x="255" y="382"/>
                </a:lnTo>
                <a:lnTo>
                  <a:pt x="334" y="360"/>
                </a:lnTo>
                <a:lnTo>
                  <a:pt x="334" y="360"/>
                </a:lnTo>
                <a:lnTo>
                  <a:pt x="374" y="348"/>
                </a:lnTo>
                <a:lnTo>
                  <a:pt x="395" y="342"/>
                </a:lnTo>
                <a:lnTo>
                  <a:pt x="414" y="336"/>
                </a:lnTo>
                <a:lnTo>
                  <a:pt x="414" y="336"/>
                </a:lnTo>
                <a:lnTo>
                  <a:pt x="444" y="327"/>
                </a:lnTo>
                <a:lnTo>
                  <a:pt x="458" y="322"/>
                </a:lnTo>
                <a:lnTo>
                  <a:pt x="473" y="317"/>
                </a:lnTo>
                <a:lnTo>
                  <a:pt x="473" y="317"/>
                </a:lnTo>
                <a:lnTo>
                  <a:pt x="475" y="316"/>
                </a:lnTo>
                <a:lnTo>
                  <a:pt x="475" y="316"/>
                </a:lnTo>
                <a:lnTo>
                  <a:pt x="459" y="334"/>
                </a:lnTo>
                <a:lnTo>
                  <a:pt x="459" y="334"/>
                </a:lnTo>
                <a:lnTo>
                  <a:pt x="415" y="347"/>
                </a:lnTo>
                <a:lnTo>
                  <a:pt x="415" y="347"/>
                </a:lnTo>
                <a:close/>
                <a:moveTo>
                  <a:pt x="454" y="338"/>
                </a:moveTo>
                <a:lnTo>
                  <a:pt x="454" y="338"/>
                </a:lnTo>
                <a:lnTo>
                  <a:pt x="432" y="364"/>
                </a:lnTo>
                <a:lnTo>
                  <a:pt x="432" y="364"/>
                </a:lnTo>
                <a:lnTo>
                  <a:pt x="430" y="365"/>
                </a:lnTo>
                <a:lnTo>
                  <a:pt x="430" y="365"/>
                </a:lnTo>
                <a:lnTo>
                  <a:pt x="428" y="364"/>
                </a:lnTo>
                <a:lnTo>
                  <a:pt x="426" y="365"/>
                </a:lnTo>
                <a:lnTo>
                  <a:pt x="422" y="368"/>
                </a:lnTo>
                <a:lnTo>
                  <a:pt x="422" y="368"/>
                </a:lnTo>
                <a:lnTo>
                  <a:pt x="401" y="375"/>
                </a:lnTo>
                <a:lnTo>
                  <a:pt x="378" y="381"/>
                </a:lnTo>
                <a:lnTo>
                  <a:pt x="378" y="381"/>
                </a:lnTo>
                <a:lnTo>
                  <a:pt x="376" y="381"/>
                </a:lnTo>
                <a:lnTo>
                  <a:pt x="376" y="381"/>
                </a:lnTo>
                <a:lnTo>
                  <a:pt x="369" y="383"/>
                </a:lnTo>
                <a:lnTo>
                  <a:pt x="369" y="383"/>
                </a:lnTo>
                <a:lnTo>
                  <a:pt x="338" y="390"/>
                </a:lnTo>
                <a:lnTo>
                  <a:pt x="307" y="397"/>
                </a:lnTo>
                <a:lnTo>
                  <a:pt x="307" y="397"/>
                </a:lnTo>
                <a:lnTo>
                  <a:pt x="271" y="403"/>
                </a:lnTo>
                <a:lnTo>
                  <a:pt x="236" y="409"/>
                </a:lnTo>
                <a:lnTo>
                  <a:pt x="236" y="409"/>
                </a:lnTo>
                <a:lnTo>
                  <a:pt x="202" y="415"/>
                </a:lnTo>
                <a:lnTo>
                  <a:pt x="202" y="415"/>
                </a:lnTo>
                <a:lnTo>
                  <a:pt x="197" y="416"/>
                </a:lnTo>
                <a:lnTo>
                  <a:pt x="197" y="416"/>
                </a:lnTo>
                <a:lnTo>
                  <a:pt x="261" y="396"/>
                </a:lnTo>
                <a:lnTo>
                  <a:pt x="325" y="377"/>
                </a:lnTo>
                <a:lnTo>
                  <a:pt x="325" y="377"/>
                </a:lnTo>
                <a:lnTo>
                  <a:pt x="381" y="359"/>
                </a:lnTo>
                <a:lnTo>
                  <a:pt x="381" y="359"/>
                </a:lnTo>
                <a:lnTo>
                  <a:pt x="421" y="347"/>
                </a:lnTo>
                <a:lnTo>
                  <a:pt x="421" y="347"/>
                </a:lnTo>
                <a:lnTo>
                  <a:pt x="451" y="338"/>
                </a:lnTo>
                <a:lnTo>
                  <a:pt x="451" y="338"/>
                </a:lnTo>
                <a:lnTo>
                  <a:pt x="454" y="338"/>
                </a:lnTo>
                <a:lnTo>
                  <a:pt x="454" y="338"/>
                </a:lnTo>
                <a:close/>
                <a:moveTo>
                  <a:pt x="291" y="359"/>
                </a:moveTo>
                <a:lnTo>
                  <a:pt x="291" y="359"/>
                </a:lnTo>
                <a:lnTo>
                  <a:pt x="255" y="367"/>
                </a:lnTo>
                <a:lnTo>
                  <a:pt x="218" y="375"/>
                </a:lnTo>
                <a:lnTo>
                  <a:pt x="218" y="375"/>
                </a:lnTo>
                <a:lnTo>
                  <a:pt x="259" y="362"/>
                </a:lnTo>
                <a:lnTo>
                  <a:pt x="259" y="362"/>
                </a:lnTo>
                <a:lnTo>
                  <a:pt x="325" y="341"/>
                </a:lnTo>
                <a:lnTo>
                  <a:pt x="358" y="332"/>
                </a:lnTo>
                <a:lnTo>
                  <a:pt x="392" y="324"/>
                </a:lnTo>
                <a:lnTo>
                  <a:pt x="392" y="324"/>
                </a:lnTo>
                <a:lnTo>
                  <a:pt x="423" y="316"/>
                </a:lnTo>
                <a:lnTo>
                  <a:pt x="454" y="307"/>
                </a:lnTo>
                <a:lnTo>
                  <a:pt x="454" y="307"/>
                </a:lnTo>
                <a:lnTo>
                  <a:pt x="482" y="297"/>
                </a:lnTo>
                <a:lnTo>
                  <a:pt x="482" y="297"/>
                </a:lnTo>
                <a:lnTo>
                  <a:pt x="490" y="295"/>
                </a:lnTo>
                <a:lnTo>
                  <a:pt x="490" y="295"/>
                </a:lnTo>
                <a:lnTo>
                  <a:pt x="493" y="295"/>
                </a:lnTo>
                <a:lnTo>
                  <a:pt x="494" y="294"/>
                </a:lnTo>
                <a:lnTo>
                  <a:pt x="494" y="294"/>
                </a:lnTo>
                <a:lnTo>
                  <a:pt x="496" y="293"/>
                </a:lnTo>
                <a:lnTo>
                  <a:pt x="496" y="293"/>
                </a:lnTo>
                <a:lnTo>
                  <a:pt x="480" y="311"/>
                </a:lnTo>
                <a:lnTo>
                  <a:pt x="480" y="311"/>
                </a:lnTo>
                <a:lnTo>
                  <a:pt x="456" y="319"/>
                </a:lnTo>
                <a:lnTo>
                  <a:pt x="434" y="327"/>
                </a:lnTo>
                <a:lnTo>
                  <a:pt x="411" y="333"/>
                </a:lnTo>
                <a:lnTo>
                  <a:pt x="387" y="338"/>
                </a:lnTo>
                <a:lnTo>
                  <a:pt x="339" y="348"/>
                </a:lnTo>
                <a:lnTo>
                  <a:pt x="291" y="359"/>
                </a:lnTo>
                <a:lnTo>
                  <a:pt x="291" y="359"/>
                </a:lnTo>
                <a:close/>
                <a:moveTo>
                  <a:pt x="480" y="295"/>
                </a:moveTo>
                <a:lnTo>
                  <a:pt x="480" y="295"/>
                </a:lnTo>
                <a:lnTo>
                  <a:pt x="472" y="297"/>
                </a:lnTo>
                <a:lnTo>
                  <a:pt x="472" y="297"/>
                </a:lnTo>
                <a:lnTo>
                  <a:pt x="437" y="305"/>
                </a:lnTo>
                <a:lnTo>
                  <a:pt x="404" y="311"/>
                </a:lnTo>
                <a:lnTo>
                  <a:pt x="369" y="318"/>
                </a:lnTo>
                <a:lnTo>
                  <a:pt x="335" y="326"/>
                </a:lnTo>
                <a:lnTo>
                  <a:pt x="335" y="326"/>
                </a:lnTo>
                <a:lnTo>
                  <a:pt x="301" y="334"/>
                </a:lnTo>
                <a:lnTo>
                  <a:pt x="268" y="344"/>
                </a:lnTo>
                <a:lnTo>
                  <a:pt x="200" y="365"/>
                </a:lnTo>
                <a:lnTo>
                  <a:pt x="200" y="365"/>
                </a:lnTo>
                <a:lnTo>
                  <a:pt x="179" y="370"/>
                </a:lnTo>
                <a:lnTo>
                  <a:pt x="157" y="374"/>
                </a:lnTo>
                <a:lnTo>
                  <a:pt x="157" y="374"/>
                </a:lnTo>
                <a:lnTo>
                  <a:pt x="221" y="353"/>
                </a:lnTo>
                <a:lnTo>
                  <a:pt x="287" y="334"/>
                </a:lnTo>
                <a:lnTo>
                  <a:pt x="287" y="334"/>
                </a:lnTo>
                <a:lnTo>
                  <a:pt x="321" y="325"/>
                </a:lnTo>
                <a:lnTo>
                  <a:pt x="355" y="318"/>
                </a:lnTo>
                <a:lnTo>
                  <a:pt x="390" y="311"/>
                </a:lnTo>
                <a:lnTo>
                  <a:pt x="423" y="303"/>
                </a:lnTo>
                <a:lnTo>
                  <a:pt x="423" y="303"/>
                </a:lnTo>
                <a:lnTo>
                  <a:pt x="461" y="294"/>
                </a:lnTo>
                <a:lnTo>
                  <a:pt x="500" y="284"/>
                </a:lnTo>
                <a:lnTo>
                  <a:pt x="500" y="284"/>
                </a:lnTo>
                <a:lnTo>
                  <a:pt x="503" y="284"/>
                </a:lnTo>
                <a:lnTo>
                  <a:pt x="504" y="282"/>
                </a:lnTo>
                <a:lnTo>
                  <a:pt x="504" y="282"/>
                </a:lnTo>
                <a:lnTo>
                  <a:pt x="507" y="282"/>
                </a:lnTo>
                <a:lnTo>
                  <a:pt x="507" y="282"/>
                </a:lnTo>
                <a:lnTo>
                  <a:pt x="499" y="290"/>
                </a:lnTo>
                <a:lnTo>
                  <a:pt x="499" y="290"/>
                </a:lnTo>
                <a:lnTo>
                  <a:pt x="498" y="290"/>
                </a:lnTo>
                <a:lnTo>
                  <a:pt x="498" y="290"/>
                </a:lnTo>
                <a:lnTo>
                  <a:pt x="480" y="295"/>
                </a:lnTo>
                <a:lnTo>
                  <a:pt x="480" y="295"/>
                </a:lnTo>
                <a:close/>
                <a:moveTo>
                  <a:pt x="373" y="308"/>
                </a:moveTo>
                <a:lnTo>
                  <a:pt x="373" y="308"/>
                </a:lnTo>
                <a:lnTo>
                  <a:pt x="340" y="315"/>
                </a:lnTo>
                <a:lnTo>
                  <a:pt x="306" y="322"/>
                </a:lnTo>
                <a:lnTo>
                  <a:pt x="272" y="331"/>
                </a:lnTo>
                <a:lnTo>
                  <a:pt x="239" y="340"/>
                </a:lnTo>
                <a:lnTo>
                  <a:pt x="239" y="340"/>
                </a:lnTo>
                <a:lnTo>
                  <a:pt x="173" y="359"/>
                </a:lnTo>
                <a:lnTo>
                  <a:pt x="139" y="367"/>
                </a:lnTo>
                <a:lnTo>
                  <a:pt x="105" y="374"/>
                </a:lnTo>
                <a:lnTo>
                  <a:pt x="105" y="374"/>
                </a:lnTo>
                <a:lnTo>
                  <a:pt x="100" y="374"/>
                </a:lnTo>
                <a:lnTo>
                  <a:pt x="100" y="374"/>
                </a:lnTo>
                <a:lnTo>
                  <a:pt x="99" y="374"/>
                </a:lnTo>
                <a:lnTo>
                  <a:pt x="99" y="374"/>
                </a:lnTo>
                <a:lnTo>
                  <a:pt x="105" y="372"/>
                </a:lnTo>
                <a:lnTo>
                  <a:pt x="105" y="372"/>
                </a:lnTo>
                <a:lnTo>
                  <a:pt x="136" y="362"/>
                </a:lnTo>
                <a:lnTo>
                  <a:pt x="136" y="362"/>
                </a:lnTo>
                <a:lnTo>
                  <a:pt x="154" y="357"/>
                </a:lnTo>
                <a:lnTo>
                  <a:pt x="172" y="351"/>
                </a:lnTo>
                <a:lnTo>
                  <a:pt x="208" y="343"/>
                </a:lnTo>
                <a:lnTo>
                  <a:pt x="208" y="343"/>
                </a:lnTo>
                <a:lnTo>
                  <a:pt x="275" y="324"/>
                </a:lnTo>
                <a:lnTo>
                  <a:pt x="309" y="316"/>
                </a:lnTo>
                <a:lnTo>
                  <a:pt x="342" y="308"/>
                </a:lnTo>
                <a:lnTo>
                  <a:pt x="342" y="308"/>
                </a:lnTo>
                <a:lnTo>
                  <a:pt x="412" y="294"/>
                </a:lnTo>
                <a:lnTo>
                  <a:pt x="445" y="285"/>
                </a:lnTo>
                <a:lnTo>
                  <a:pt x="480" y="276"/>
                </a:lnTo>
                <a:lnTo>
                  <a:pt x="480" y="276"/>
                </a:lnTo>
                <a:lnTo>
                  <a:pt x="510" y="263"/>
                </a:lnTo>
                <a:lnTo>
                  <a:pt x="510" y="263"/>
                </a:lnTo>
                <a:lnTo>
                  <a:pt x="512" y="263"/>
                </a:lnTo>
                <a:lnTo>
                  <a:pt x="512" y="263"/>
                </a:lnTo>
                <a:lnTo>
                  <a:pt x="527" y="258"/>
                </a:lnTo>
                <a:lnTo>
                  <a:pt x="527" y="258"/>
                </a:lnTo>
                <a:lnTo>
                  <a:pt x="509" y="279"/>
                </a:lnTo>
                <a:lnTo>
                  <a:pt x="509" y="279"/>
                </a:lnTo>
                <a:lnTo>
                  <a:pt x="509" y="279"/>
                </a:lnTo>
                <a:lnTo>
                  <a:pt x="509" y="279"/>
                </a:lnTo>
                <a:lnTo>
                  <a:pt x="476" y="287"/>
                </a:lnTo>
                <a:lnTo>
                  <a:pt x="442" y="295"/>
                </a:lnTo>
                <a:lnTo>
                  <a:pt x="373" y="308"/>
                </a:lnTo>
                <a:lnTo>
                  <a:pt x="373" y="308"/>
                </a:lnTo>
                <a:close/>
                <a:moveTo>
                  <a:pt x="318" y="311"/>
                </a:moveTo>
                <a:lnTo>
                  <a:pt x="318" y="311"/>
                </a:lnTo>
                <a:lnTo>
                  <a:pt x="365" y="299"/>
                </a:lnTo>
                <a:lnTo>
                  <a:pt x="390" y="293"/>
                </a:lnTo>
                <a:lnTo>
                  <a:pt x="413" y="289"/>
                </a:lnTo>
                <a:lnTo>
                  <a:pt x="413" y="289"/>
                </a:lnTo>
                <a:lnTo>
                  <a:pt x="435" y="285"/>
                </a:lnTo>
                <a:lnTo>
                  <a:pt x="456" y="280"/>
                </a:lnTo>
                <a:lnTo>
                  <a:pt x="456" y="280"/>
                </a:lnTo>
                <a:lnTo>
                  <a:pt x="425" y="288"/>
                </a:lnTo>
                <a:lnTo>
                  <a:pt x="425" y="288"/>
                </a:lnTo>
                <a:lnTo>
                  <a:pt x="371" y="300"/>
                </a:lnTo>
                <a:lnTo>
                  <a:pt x="318" y="311"/>
                </a:lnTo>
                <a:lnTo>
                  <a:pt x="318" y="311"/>
                </a:lnTo>
                <a:close/>
                <a:moveTo>
                  <a:pt x="516" y="259"/>
                </a:moveTo>
                <a:lnTo>
                  <a:pt x="516" y="259"/>
                </a:lnTo>
                <a:lnTo>
                  <a:pt x="513" y="260"/>
                </a:lnTo>
                <a:lnTo>
                  <a:pt x="513" y="260"/>
                </a:lnTo>
                <a:lnTo>
                  <a:pt x="480" y="270"/>
                </a:lnTo>
                <a:lnTo>
                  <a:pt x="462" y="276"/>
                </a:lnTo>
                <a:lnTo>
                  <a:pt x="444" y="281"/>
                </a:lnTo>
                <a:lnTo>
                  <a:pt x="444" y="281"/>
                </a:lnTo>
                <a:lnTo>
                  <a:pt x="375" y="295"/>
                </a:lnTo>
                <a:lnTo>
                  <a:pt x="308" y="311"/>
                </a:lnTo>
                <a:lnTo>
                  <a:pt x="308" y="311"/>
                </a:lnTo>
                <a:lnTo>
                  <a:pt x="264" y="322"/>
                </a:lnTo>
                <a:lnTo>
                  <a:pt x="220" y="333"/>
                </a:lnTo>
                <a:lnTo>
                  <a:pt x="220" y="333"/>
                </a:lnTo>
                <a:lnTo>
                  <a:pt x="198" y="339"/>
                </a:lnTo>
                <a:lnTo>
                  <a:pt x="175" y="344"/>
                </a:lnTo>
                <a:lnTo>
                  <a:pt x="129" y="353"/>
                </a:lnTo>
                <a:lnTo>
                  <a:pt x="129" y="353"/>
                </a:lnTo>
                <a:lnTo>
                  <a:pt x="87" y="363"/>
                </a:lnTo>
                <a:lnTo>
                  <a:pt x="87" y="363"/>
                </a:lnTo>
                <a:lnTo>
                  <a:pt x="75" y="366"/>
                </a:lnTo>
                <a:lnTo>
                  <a:pt x="72" y="366"/>
                </a:lnTo>
                <a:lnTo>
                  <a:pt x="76" y="364"/>
                </a:lnTo>
                <a:lnTo>
                  <a:pt x="76" y="364"/>
                </a:lnTo>
                <a:lnTo>
                  <a:pt x="97" y="357"/>
                </a:lnTo>
                <a:lnTo>
                  <a:pt x="97" y="357"/>
                </a:lnTo>
                <a:lnTo>
                  <a:pt x="144" y="343"/>
                </a:lnTo>
                <a:lnTo>
                  <a:pt x="189" y="331"/>
                </a:lnTo>
                <a:lnTo>
                  <a:pt x="189" y="331"/>
                </a:lnTo>
                <a:lnTo>
                  <a:pt x="235" y="319"/>
                </a:lnTo>
                <a:lnTo>
                  <a:pt x="280" y="309"/>
                </a:lnTo>
                <a:lnTo>
                  <a:pt x="372" y="287"/>
                </a:lnTo>
                <a:lnTo>
                  <a:pt x="372" y="287"/>
                </a:lnTo>
                <a:lnTo>
                  <a:pt x="420" y="276"/>
                </a:lnTo>
                <a:lnTo>
                  <a:pt x="467" y="263"/>
                </a:lnTo>
                <a:lnTo>
                  <a:pt x="467" y="263"/>
                </a:lnTo>
                <a:lnTo>
                  <a:pt x="488" y="257"/>
                </a:lnTo>
                <a:lnTo>
                  <a:pt x="509" y="249"/>
                </a:lnTo>
                <a:lnTo>
                  <a:pt x="550" y="234"/>
                </a:lnTo>
                <a:lnTo>
                  <a:pt x="550" y="234"/>
                </a:lnTo>
                <a:lnTo>
                  <a:pt x="530" y="255"/>
                </a:lnTo>
                <a:lnTo>
                  <a:pt x="530" y="255"/>
                </a:lnTo>
                <a:lnTo>
                  <a:pt x="529" y="255"/>
                </a:lnTo>
                <a:lnTo>
                  <a:pt x="529" y="255"/>
                </a:lnTo>
                <a:lnTo>
                  <a:pt x="516" y="259"/>
                </a:lnTo>
                <a:lnTo>
                  <a:pt x="516" y="259"/>
                </a:lnTo>
                <a:close/>
                <a:moveTo>
                  <a:pt x="261" y="325"/>
                </a:moveTo>
                <a:lnTo>
                  <a:pt x="261" y="325"/>
                </a:lnTo>
                <a:lnTo>
                  <a:pt x="229" y="334"/>
                </a:lnTo>
                <a:lnTo>
                  <a:pt x="196" y="343"/>
                </a:lnTo>
                <a:lnTo>
                  <a:pt x="196" y="343"/>
                </a:lnTo>
                <a:lnTo>
                  <a:pt x="146" y="358"/>
                </a:lnTo>
                <a:lnTo>
                  <a:pt x="95" y="373"/>
                </a:lnTo>
                <a:lnTo>
                  <a:pt x="95" y="373"/>
                </a:lnTo>
                <a:lnTo>
                  <a:pt x="92" y="373"/>
                </a:lnTo>
                <a:lnTo>
                  <a:pt x="90" y="375"/>
                </a:lnTo>
                <a:lnTo>
                  <a:pt x="90" y="375"/>
                </a:lnTo>
                <a:lnTo>
                  <a:pt x="88" y="375"/>
                </a:lnTo>
                <a:lnTo>
                  <a:pt x="88" y="375"/>
                </a:lnTo>
                <a:lnTo>
                  <a:pt x="71" y="367"/>
                </a:lnTo>
                <a:lnTo>
                  <a:pt x="71" y="367"/>
                </a:lnTo>
                <a:lnTo>
                  <a:pt x="95" y="364"/>
                </a:lnTo>
                <a:lnTo>
                  <a:pt x="119" y="360"/>
                </a:lnTo>
                <a:lnTo>
                  <a:pt x="144" y="354"/>
                </a:lnTo>
                <a:lnTo>
                  <a:pt x="167" y="349"/>
                </a:lnTo>
                <a:lnTo>
                  <a:pt x="214" y="337"/>
                </a:lnTo>
                <a:lnTo>
                  <a:pt x="261" y="325"/>
                </a:lnTo>
                <a:lnTo>
                  <a:pt x="261" y="325"/>
                </a:lnTo>
                <a:close/>
                <a:moveTo>
                  <a:pt x="180" y="358"/>
                </a:moveTo>
                <a:lnTo>
                  <a:pt x="180" y="358"/>
                </a:lnTo>
                <a:lnTo>
                  <a:pt x="232" y="344"/>
                </a:lnTo>
                <a:lnTo>
                  <a:pt x="283" y="330"/>
                </a:lnTo>
                <a:lnTo>
                  <a:pt x="283" y="330"/>
                </a:lnTo>
                <a:lnTo>
                  <a:pt x="323" y="320"/>
                </a:lnTo>
                <a:lnTo>
                  <a:pt x="363" y="311"/>
                </a:lnTo>
                <a:lnTo>
                  <a:pt x="444" y="296"/>
                </a:lnTo>
                <a:lnTo>
                  <a:pt x="444" y="296"/>
                </a:lnTo>
                <a:lnTo>
                  <a:pt x="423" y="301"/>
                </a:lnTo>
                <a:lnTo>
                  <a:pt x="423" y="301"/>
                </a:lnTo>
                <a:lnTo>
                  <a:pt x="397" y="307"/>
                </a:lnTo>
                <a:lnTo>
                  <a:pt x="371" y="312"/>
                </a:lnTo>
                <a:lnTo>
                  <a:pt x="345" y="317"/>
                </a:lnTo>
                <a:lnTo>
                  <a:pt x="320" y="323"/>
                </a:lnTo>
                <a:lnTo>
                  <a:pt x="320" y="323"/>
                </a:lnTo>
                <a:lnTo>
                  <a:pt x="292" y="330"/>
                </a:lnTo>
                <a:lnTo>
                  <a:pt x="266" y="337"/>
                </a:lnTo>
                <a:lnTo>
                  <a:pt x="213" y="353"/>
                </a:lnTo>
                <a:lnTo>
                  <a:pt x="161" y="370"/>
                </a:lnTo>
                <a:lnTo>
                  <a:pt x="134" y="378"/>
                </a:lnTo>
                <a:lnTo>
                  <a:pt x="108" y="385"/>
                </a:lnTo>
                <a:lnTo>
                  <a:pt x="108" y="385"/>
                </a:lnTo>
                <a:lnTo>
                  <a:pt x="92" y="378"/>
                </a:lnTo>
                <a:lnTo>
                  <a:pt x="92" y="378"/>
                </a:lnTo>
                <a:lnTo>
                  <a:pt x="114" y="374"/>
                </a:lnTo>
                <a:lnTo>
                  <a:pt x="136" y="369"/>
                </a:lnTo>
                <a:lnTo>
                  <a:pt x="180" y="358"/>
                </a:lnTo>
                <a:lnTo>
                  <a:pt x="180" y="358"/>
                </a:lnTo>
                <a:close/>
                <a:moveTo>
                  <a:pt x="144" y="380"/>
                </a:moveTo>
                <a:lnTo>
                  <a:pt x="144" y="380"/>
                </a:lnTo>
                <a:lnTo>
                  <a:pt x="155" y="377"/>
                </a:lnTo>
                <a:lnTo>
                  <a:pt x="167" y="374"/>
                </a:lnTo>
                <a:lnTo>
                  <a:pt x="179" y="372"/>
                </a:lnTo>
                <a:lnTo>
                  <a:pt x="191" y="370"/>
                </a:lnTo>
                <a:lnTo>
                  <a:pt x="191" y="370"/>
                </a:lnTo>
                <a:lnTo>
                  <a:pt x="216" y="363"/>
                </a:lnTo>
                <a:lnTo>
                  <a:pt x="242" y="354"/>
                </a:lnTo>
                <a:lnTo>
                  <a:pt x="292" y="339"/>
                </a:lnTo>
                <a:lnTo>
                  <a:pt x="292" y="339"/>
                </a:lnTo>
                <a:lnTo>
                  <a:pt x="334" y="329"/>
                </a:lnTo>
                <a:lnTo>
                  <a:pt x="375" y="320"/>
                </a:lnTo>
                <a:lnTo>
                  <a:pt x="418" y="311"/>
                </a:lnTo>
                <a:lnTo>
                  <a:pt x="459" y="302"/>
                </a:lnTo>
                <a:lnTo>
                  <a:pt x="459" y="302"/>
                </a:lnTo>
                <a:lnTo>
                  <a:pt x="438" y="309"/>
                </a:lnTo>
                <a:lnTo>
                  <a:pt x="438" y="309"/>
                </a:lnTo>
                <a:lnTo>
                  <a:pt x="404" y="319"/>
                </a:lnTo>
                <a:lnTo>
                  <a:pt x="369" y="327"/>
                </a:lnTo>
                <a:lnTo>
                  <a:pt x="369" y="327"/>
                </a:lnTo>
                <a:lnTo>
                  <a:pt x="304" y="345"/>
                </a:lnTo>
                <a:lnTo>
                  <a:pt x="238" y="366"/>
                </a:lnTo>
                <a:lnTo>
                  <a:pt x="238" y="366"/>
                </a:lnTo>
                <a:lnTo>
                  <a:pt x="198" y="378"/>
                </a:lnTo>
                <a:lnTo>
                  <a:pt x="198" y="378"/>
                </a:lnTo>
                <a:lnTo>
                  <a:pt x="197" y="378"/>
                </a:lnTo>
                <a:lnTo>
                  <a:pt x="197" y="378"/>
                </a:lnTo>
                <a:lnTo>
                  <a:pt x="180" y="381"/>
                </a:lnTo>
                <a:lnTo>
                  <a:pt x="164" y="384"/>
                </a:lnTo>
                <a:lnTo>
                  <a:pt x="147" y="389"/>
                </a:lnTo>
                <a:lnTo>
                  <a:pt x="139" y="392"/>
                </a:lnTo>
                <a:lnTo>
                  <a:pt x="131" y="396"/>
                </a:lnTo>
                <a:lnTo>
                  <a:pt x="131" y="396"/>
                </a:lnTo>
                <a:lnTo>
                  <a:pt x="112" y="387"/>
                </a:lnTo>
                <a:lnTo>
                  <a:pt x="112" y="387"/>
                </a:lnTo>
                <a:lnTo>
                  <a:pt x="120" y="386"/>
                </a:lnTo>
                <a:lnTo>
                  <a:pt x="128" y="384"/>
                </a:lnTo>
                <a:lnTo>
                  <a:pt x="144" y="380"/>
                </a:lnTo>
                <a:lnTo>
                  <a:pt x="144" y="380"/>
                </a:lnTo>
                <a:close/>
                <a:moveTo>
                  <a:pt x="151" y="390"/>
                </a:moveTo>
                <a:lnTo>
                  <a:pt x="151" y="390"/>
                </a:lnTo>
                <a:lnTo>
                  <a:pt x="166" y="386"/>
                </a:lnTo>
                <a:lnTo>
                  <a:pt x="181" y="383"/>
                </a:lnTo>
                <a:lnTo>
                  <a:pt x="181" y="383"/>
                </a:lnTo>
                <a:lnTo>
                  <a:pt x="174" y="384"/>
                </a:lnTo>
                <a:lnTo>
                  <a:pt x="174" y="384"/>
                </a:lnTo>
                <a:lnTo>
                  <a:pt x="159" y="389"/>
                </a:lnTo>
                <a:lnTo>
                  <a:pt x="144" y="394"/>
                </a:lnTo>
                <a:lnTo>
                  <a:pt x="144" y="394"/>
                </a:lnTo>
                <a:lnTo>
                  <a:pt x="138" y="396"/>
                </a:lnTo>
                <a:lnTo>
                  <a:pt x="134" y="397"/>
                </a:lnTo>
                <a:lnTo>
                  <a:pt x="134" y="397"/>
                </a:lnTo>
                <a:lnTo>
                  <a:pt x="133" y="397"/>
                </a:lnTo>
                <a:lnTo>
                  <a:pt x="133" y="397"/>
                </a:lnTo>
                <a:lnTo>
                  <a:pt x="143" y="393"/>
                </a:lnTo>
                <a:lnTo>
                  <a:pt x="151" y="390"/>
                </a:lnTo>
                <a:lnTo>
                  <a:pt x="151" y="390"/>
                </a:lnTo>
                <a:close/>
                <a:moveTo>
                  <a:pt x="190" y="383"/>
                </a:moveTo>
                <a:lnTo>
                  <a:pt x="190" y="383"/>
                </a:lnTo>
                <a:lnTo>
                  <a:pt x="201" y="380"/>
                </a:lnTo>
                <a:lnTo>
                  <a:pt x="201" y="380"/>
                </a:lnTo>
                <a:lnTo>
                  <a:pt x="202" y="380"/>
                </a:lnTo>
                <a:lnTo>
                  <a:pt x="202" y="380"/>
                </a:lnTo>
                <a:lnTo>
                  <a:pt x="236" y="373"/>
                </a:lnTo>
                <a:lnTo>
                  <a:pt x="270" y="366"/>
                </a:lnTo>
                <a:lnTo>
                  <a:pt x="270" y="366"/>
                </a:lnTo>
                <a:lnTo>
                  <a:pt x="338" y="350"/>
                </a:lnTo>
                <a:lnTo>
                  <a:pt x="406" y="336"/>
                </a:lnTo>
                <a:lnTo>
                  <a:pt x="406" y="336"/>
                </a:lnTo>
                <a:lnTo>
                  <a:pt x="411" y="334"/>
                </a:lnTo>
                <a:lnTo>
                  <a:pt x="411" y="334"/>
                </a:lnTo>
                <a:lnTo>
                  <a:pt x="380" y="344"/>
                </a:lnTo>
                <a:lnTo>
                  <a:pt x="349" y="352"/>
                </a:lnTo>
                <a:lnTo>
                  <a:pt x="285" y="370"/>
                </a:lnTo>
                <a:lnTo>
                  <a:pt x="223" y="387"/>
                </a:lnTo>
                <a:lnTo>
                  <a:pt x="192" y="396"/>
                </a:lnTo>
                <a:lnTo>
                  <a:pt x="161" y="407"/>
                </a:lnTo>
                <a:lnTo>
                  <a:pt x="161" y="407"/>
                </a:lnTo>
                <a:lnTo>
                  <a:pt x="157" y="408"/>
                </a:lnTo>
                <a:lnTo>
                  <a:pt x="157" y="408"/>
                </a:lnTo>
                <a:lnTo>
                  <a:pt x="136" y="399"/>
                </a:lnTo>
                <a:lnTo>
                  <a:pt x="136" y="399"/>
                </a:lnTo>
                <a:lnTo>
                  <a:pt x="164" y="391"/>
                </a:lnTo>
                <a:lnTo>
                  <a:pt x="190" y="383"/>
                </a:lnTo>
                <a:lnTo>
                  <a:pt x="190" y="383"/>
                </a:lnTo>
                <a:close/>
                <a:moveTo>
                  <a:pt x="220" y="397"/>
                </a:moveTo>
                <a:lnTo>
                  <a:pt x="220" y="397"/>
                </a:lnTo>
                <a:lnTo>
                  <a:pt x="295" y="380"/>
                </a:lnTo>
                <a:lnTo>
                  <a:pt x="295" y="380"/>
                </a:lnTo>
                <a:lnTo>
                  <a:pt x="345" y="368"/>
                </a:lnTo>
                <a:lnTo>
                  <a:pt x="345" y="368"/>
                </a:lnTo>
                <a:lnTo>
                  <a:pt x="324" y="375"/>
                </a:lnTo>
                <a:lnTo>
                  <a:pt x="324" y="375"/>
                </a:lnTo>
                <a:lnTo>
                  <a:pt x="286" y="385"/>
                </a:lnTo>
                <a:lnTo>
                  <a:pt x="249" y="396"/>
                </a:lnTo>
                <a:lnTo>
                  <a:pt x="249" y="396"/>
                </a:lnTo>
                <a:lnTo>
                  <a:pt x="216" y="407"/>
                </a:lnTo>
                <a:lnTo>
                  <a:pt x="183" y="417"/>
                </a:lnTo>
                <a:lnTo>
                  <a:pt x="183" y="417"/>
                </a:lnTo>
                <a:lnTo>
                  <a:pt x="182" y="418"/>
                </a:lnTo>
                <a:lnTo>
                  <a:pt x="181" y="418"/>
                </a:lnTo>
                <a:lnTo>
                  <a:pt x="181" y="418"/>
                </a:lnTo>
                <a:lnTo>
                  <a:pt x="179" y="419"/>
                </a:lnTo>
                <a:lnTo>
                  <a:pt x="179" y="419"/>
                </a:lnTo>
                <a:lnTo>
                  <a:pt x="175" y="417"/>
                </a:lnTo>
                <a:lnTo>
                  <a:pt x="175" y="417"/>
                </a:lnTo>
                <a:lnTo>
                  <a:pt x="161" y="410"/>
                </a:lnTo>
                <a:lnTo>
                  <a:pt x="161" y="410"/>
                </a:lnTo>
                <a:lnTo>
                  <a:pt x="176" y="408"/>
                </a:lnTo>
                <a:lnTo>
                  <a:pt x="190" y="405"/>
                </a:lnTo>
                <a:lnTo>
                  <a:pt x="220" y="397"/>
                </a:lnTo>
                <a:lnTo>
                  <a:pt x="220" y="397"/>
                </a:lnTo>
                <a:close/>
                <a:moveTo>
                  <a:pt x="308" y="399"/>
                </a:moveTo>
                <a:lnTo>
                  <a:pt x="308" y="399"/>
                </a:lnTo>
                <a:lnTo>
                  <a:pt x="325" y="395"/>
                </a:lnTo>
                <a:lnTo>
                  <a:pt x="325" y="395"/>
                </a:lnTo>
                <a:lnTo>
                  <a:pt x="309" y="400"/>
                </a:lnTo>
                <a:lnTo>
                  <a:pt x="309" y="400"/>
                </a:lnTo>
                <a:lnTo>
                  <a:pt x="275" y="408"/>
                </a:lnTo>
                <a:lnTo>
                  <a:pt x="242" y="415"/>
                </a:lnTo>
                <a:lnTo>
                  <a:pt x="242" y="415"/>
                </a:lnTo>
                <a:lnTo>
                  <a:pt x="230" y="419"/>
                </a:lnTo>
                <a:lnTo>
                  <a:pt x="216" y="422"/>
                </a:lnTo>
                <a:lnTo>
                  <a:pt x="216" y="422"/>
                </a:lnTo>
                <a:lnTo>
                  <a:pt x="207" y="424"/>
                </a:lnTo>
                <a:lnTo>
                  <a:pt x="202" y="426"/>
                </a:lnTo>
                <a:lnTo>
                  <a:pt x="198" y="428"/>
                </a:lnTo>
                <a:lnTo>
                  <a:pt x="198" y="428"/>
                </a:lnTo>
                <a:lnTo>
                  <a:pt x="182" y="421"/>
                </a:lnTo>
                <a:lnTo>
                  <a:pt x="182" y="421"/>
                </a:lnTo>
                <a:lnTo>
                  <a:pt x="213" y="415"/>
                </a:lnTo>
                <a:lnTo>
                  <a:pt x="245" y="410"/>
                </a:lnTo>
                <a:lnTo>
                  <a:pt x="276" y="404"/>
                </a:lnTo>
                <a:lnTo>
                  <a:pt x="308" y="399"/>
                </a:lnTo>
                <a:lnTo>
                  <a:pt x="308" y="399"/>
                </a:lnTo>
                <a:close/>
                <a:moveTo>
                  <a:pt x="206" y="427"/>
                </a:moveTo>
                <a:lnTo>
                  <a:pt x="206" y="427"/>
                </a:lnTo>
                <a:lnTo>
                  <a:pt x="217" y="424"/>
                </a:lnTo>
                <a:lnTo>
                  <a:pt x="217" y="424"/>
                </a:lnTo>
                <a:lnTo>
                  <a:pt x="246" y="418"/>
                </a:lnTo>
                <a:lnTo>
                  <a:pt x="274" y="411"/>
                </a:lnTo>
                <a:lnTo>
                  <a:pt x="331" y="396"/>
                </a:lnTo>
                <a:lnTo>
                  <a:pt x="331" y="396"/>
                </a:lnTo>
                <a:lnTo>
                  <a:pt x="355" y="390"/>
                </a:lnTo>
                <a:lnTo>
                  <a:pt x="379" y="384"/>
                </a:lnTo>
                <a:lnTo>
                  <a:pt x="405" y="377"/>
                </a:lnTo>
                <a:lnTo>
                  <a:pt x="417" y="373"/>
                </a:lnTo>
                <a:lnTo>
                  <a:pt x="428" y="368"/>
                </a:lnTo>
                <a:lnTo>
                  <a:pt x="428" y="368"/>
                </a:lnTo>
                <a:lnTo>
                  <a:pt x="411" y="387"/>
                </a:lnTo>
                <a:lnTo>
                  <a:pt x="411" y="387"/>
                </a:lnTo>
                <a:lnTo>
                  <a:pt x="410" y="387"/>
                </a:lnTo>
                <a:lnTo>
                  <a:pt x="410" y="387"/>
                </a:lnTo>
                <a:lnTo>
                  <a:pt x="383" y="394"/>
                </a:lnTo>
                <a:lnTo>
                  <a:pt x="356" y="400"/>
                </a:lnTo>
                <a:lnTo>
                  <a:pt x="300" y="412"/>
                </a:lnTo>
                <a:lnTo>
                  <a:pt x="300" y="412"/>
                </a:lnTo>
                <a:lnTo>
                  <a:pt x="271" y="418"/>
                </a:lnTo>
                <a:lnTo>
                  <a:pt x="242" y="424"/>
                </a:lnTo>
                <a:lnTo>
                  <a:pt x="242" y="424"/>
                </a:lnTo>
                <a:lnTo>
                  <a:pt x="226" y="426"/>
                </a:lnTo>
                <a:lnTo>
                  <a:pt x="209" y="428"/>
                </a:lnTo>
                <a:lnTo>
                  <a:pt x="209" y="428"/>
                </a:lnTo>
                <a:lnTo>
                  <a:pt x="201" y="429"/>
                </a:lnTo>
                <a:lnTo>
                  <a:pt x="200" y="429"/>
                </a:lnTo>
                <a:lnTo>
                  <a:pt x="200" y="429"/>
                </a:lnTo>
                <a:lnTo>
                  <a:pt x="206" y="427"/>
                </a:lnTo>
                <a:lnTo>
                  <a:pt x="206" y="427"/>
                </a:lnTo>
                <a:close/>
                <a:moveTo>
                  <a:pt x="301" y="414"/>
                </a:moveTo>
                <a:lnTo>
                  <a:pt x="301" y="414"/>
                </a:lnTo>
                <a:lnTo>
                  <a:pt x="351" y="404"/>
                </a:lnTo>
                <a:lnTo>
                  <a:pt x="376" y="398"/>
                </a:lnTo>
                <a:lnTo>
                  <a:pt x="401" y="392"/>
                </a:lnTo>
                <a:lnTo>
                  <a:pt x="401" y="392"/>
                </a:lnTo>
                <a:lnTo>
                  <a:pt x="387" y="397"/>
                </a:lnTo>
                <a:lnTo>
                  <a:pt x="387" y="397"/>
                </a:lnTo>
                <a:lnTo>
                  <a:pt x="375" y="400"/>
                </a:lnTo>
                <a:lnTo>
                  <a:pt x="364" y="403"/>
                </a:lnTo>
                <a:lnTo>
                  <a:pt x="364" y="403"/>
                </a:lnTo>
                <a:lnTo>
                  <a:pt x="316" y="413"/>
                </a:lnTo>
                <a:lnTo>
                  <a:pt x="316" y="413"/>
                </a:lnTo>
                <a:lnTo>
                  <a:pt x="302" y="416"/>
                </a:lnTo>
                <a:lnTo>
                  <a:pt x="290" y="420"/>
                </a:lnTo>
                <a:lnTo>
                  <a:pt x="266" y="428"/>
                </a:lnTo>
                <a:lnTo>
                  <a:pt x="266" y="428"/>
                </a:lnTo>
                <a:lnTo>
                  <a:pt x="255" y="431"/>
                </a:lnTo>
                <a:lnTo>
                  <a:pt x="244" y="434"/>
                </a:lnTo>
                <a:lnTo>
                  <a:pt x="233" y="437"/>
                </a:lnTo>
                <a:lnTo>
                  <a:pt x="223" y="441"/>
                </a:lnTo>
                <a:lnTo>
                  <a:pt x="223" y="441"/>
                </a:lnTo>
                <a:lnTo>
                  <a:pt x="202" y="431"/>
                </a:lnTo>
                <a:lnTo>
                  <a:pt x="202" y="431"/>
                </a:lnTo>
                <a:lnTo>
                  <a:pt x="228" y="428"/>
                </a:lnTo>
                <a:lnTo>
                  <a:pt x="252" y="424"/>
                </a:lnTo>
                <a:lnTo>
                  <a:pt x="301" y="414"/>
                </a:lnTo>
                <a:lnTo>
                  <a:pt x="301" y="414"/>
                </a:lnTo>
                <a:close/>
                <a:moveTo>
                  <a:pt x="243" y="438"/>
                </a:moveTo>
                <a:lnTo>
                  <a:pt x="243" y="438"/>
                </a:lnTo>
                <a:lnTo>
                  <a:pt x="265" y="431"/>
                </a:lnTo>
                <a:lnTo>
                  <a:pt x="287" y="424"/>
                </a:lnTo>
                <a:lnTo>
                  <a:pt x="310" y="417"/>
                </a:lnTo>
                <a:lnTo>
                  <a:pt x="332" y="412"/>
                </a:lnTo>
                <a:lnTo>
                  <a:pt x="332" y="412"/>
                </a:lnTo>
                <a:lnTo>
                  <a:pt x="351" y="408"/>
                </a:lnTo>
                <a:lnTo>
                  <a:pt x="370" y="404"/>
                </a:lnTo>
                <a:lnTo>
                  <a:pt x="390" y="399"/>
                </a:lnTo>
                <a:lnTo>
                  <a:pt x="399" y="395"/>
                </a:lnTo>
                <a:lnTo>
                  <a:pt x="407" y="391"/>
                </a:lnTo>
                <a:lnTo>
                  <a:pt x="407" y="391"/>
                </a:lnTo>
                <a:lnTo>
                  <a:pt x="392" y="408"/>
                </a:lnTo>
                <a:lnTo>
                  <a:pt x="392" y="408"/>
                </a:lnTo>
                <a:lnTo>
                  <a:pt x="369" y="413"/>
                </a:lnTo>
                <a:lnTo>
                  <a:pt x="346" y="419"/>
                </a:lnTo>
                <a:lnTo>
                  <a:pt x="301" y="429"/>
                </a:lnTo>
                <a:lnTo>
                  <a:pt x="301" y="429"/>
                </a:lnTo>
                <a:lnTo>
                  <a:pt x="278" y="433"/>
                </a:lnTo>
                <a:lnTo>
                  <a:pt x="256" y="438"/>
                </a:lnTo>
                <a:lnTo>
                  <a:pt x="256" y="438"/>
                </a:lnTo>
                <a:lnTo>
                  <a:pt x="243" y="440"/>
                </a:lnTo>
                <a:lnTo>
                  <a:pt x="230" y="442"/>
                </a:lnTo>
                <a:lnTo>
                  <a:pt x="230" y="442"/>
                </a:lnTo>
                <a:lnTo>
                  <a:pt x="228" y="442"/>
                </a:lnTo>
                <a:lnTo>
                  <a:pt x="228" y="441"/>
                </a:lnTo>
                <a:lnTo>
                  <a:pt x="232" y="440"/>
                </a:lnTo>
                <a:lnTo>
                  <a:pt x="243" y="438"/>
                </a:lnTo>
                <a:lnTo>
                  <a:pt x="243" y="438"/>
                </a:lnTo>
                <a:close/>
                <a:moveTo>
                  <a:pt x="291" y="433"/>
                </a:moveTo>
                <a:lnTo>
                  <a:pt x="291" y="433"/>
                </a:lnTo>
                <a:lnTo>
                  <a:pt x="334" y="424"/>
                </a:lnTo>
                <a:lnTo>
                  <a:pt x="376" y="414"/>
                </a:lnTo>
                <a:lnTo>
                  <a:pt x="376" y="414"/>
                </a:lnTo>
                <a:lnTo>
                  <a:pt x="380" y="413"/>
                </a:lnTo>
                <a:lnTo>
                  <a:pt x="380" y="413"/>
                </a:lnTo>
                <a:lnTo>
                  <a:pt x="371" y="416"/>
                </a:lnTo>
                <a:lnTo>
                  <a:pt x="371" y="416"/>
                </a:lnTo>
                <a:lnTo>
                  <a:pt x="351" y="424"/>
                </a:lnTo>
                <a:lnTo>
                  <a:pt x="330" y="431"/>
                </a:lnTo>
                <a:lnTo>
                  <a:pt x="330" y="431"/>
                </a:lnTo>
                <a:lnTo>
                  <a:pt x="287" y="444"/>
                </a:lnTo>
                <a:lnTo>
                  <a:pt x="287" y="444"/>
                </a:lnTo>
                <a:lnTo>
                  <a:pt x="269" y="449"/>
                </a:lnTo>
                <a:lnTo>
                  <a:pt x="259" y="452"/>
                </a:lnTo>
                <a:lnTo>
                  <a:pt x="250" y="455"/>
                </a:lnTo>
                <a:lnTo>
                  <a:pt x="250" y="455"/>
                </a:lnTo>
                <a:lnTo>
                  <a:pt x="228" y="444"/>
                </a:lnTo>
                <a:lnTo>
                  <a:pt x="228" y="444"/>
                </a:lnTo>
                <a:lnTo>
                  <a:pt x="236" y="444"/>
                </a:lnTo>
                <a:lnTo>
                  <a:pt x="244" y="443"/>
                </a:lnTo>
                <a:lnTo>
                  <a:pt x="260" y="441"/>
                </a:lnTo>
                <a:lnTo>
                  <a:pt x="291" y="433"/>
                </a:lnTo>
                <a:lnTo>
                  <a:pt x="291" y="433"/>
                </a:lnTo>
                <a:close/>
                <a:moveTo>
                  <a:pt x="258" y="454"/>
                </a:moveTo>
                <a:lnTo>
                  <a:pt x="258" y="454"/>
                </a:lnTo>
                <a:lnTo>
                  <a:pt x="290" y="444"/>
                </a:lnTo>
                <a:lnTo>
                  <a:pt x="323" y="434"/>
                </a:lnTo>
                <a:lnTo>
                  <a:pt x="355" y="424"/>
                </a:lnTo>
                <a:lnTo>
                  <a:pt x="388" y="412"/>
                </a:lnTo>
                <a:lnTo>
                  <a:pt x="388" y="412"/>
                </a:lnTo>
                <a:lnTo>
                  <a:pt x="368" y="433"/>
                </a:lnTo>
                <a:lnTo>
                  <a:pt x="368" y="433"/>
                </a:lnTo>
                <a:lnTo>
                  <a:pt x="354" y="437"/>
                </a:lnTo>
                <a:lnTo>
                  <a:pt x="341" y="439"/>
                </a:lnTo>
                <a:lnTo>
                  <a:pt x="314" y="444"/>
                </a:lnTo>
                <a:lnTo>
                  <a:pt x="314" y="444"/>
                </a:lnTo>
                <a:lnTo>
                  <a:pt x="282" y="450"/>
                </a:lnTo>
                <a:lnTo>
                  <a:pt x="282" y="450"/>
                </a:lnTo>
                <a:lnTo>
                  <a:pt x="269" y="453"/>
                </a:lnTo>
                <a:lnTo>
                  <a:pt x="269" y="453"/>
                </a:lnTo>
                <a:lnTo>
                  <a:pt x="257" y="456"/>
                </a:lnTo>
                <a:lnTo>
                  <a:pt x="253" y="456"/>
                </a:lnTo>
                <a:lnTo>
                  <a:pt x="258" y="454"/>
                </a:lnTo>
                <a:lnTo>
                  <a:pt x="258" y="454"/>
                </a:lnTo>
                <a:close/>
                <a:moveTo>
                  <a:pt x="298" y="449"/>
                </a:moveTo>
                <a:lnTo>
                  <a:pt x="298" y="449"/>
                </a:lnTo>
                <a:lnTo>
                  <a:pt x="345" y="441"/>
                </a:lnTo>
                <a:lnTo>
                  <a:pt x="345" y="441"/>
                </a:lnTo>
                <a:lnTo>
                  <a:pt x="332" y="444"/>
                </a:lnTo>
                <a:lnTo>
                  <a:pt x="332" y="444"/>
                </a:lnTo>
                <a:lnTo>
                  <a:pt x="317" y="449"/>
                </a:lnTo>
                <a:lnTo>
                  <a:pt x="300" y="454"/>
                </a:lnTo>
                <a:lnTo>
                  <a:pt x="269" y="465"/>
                </a:lnTo>
                <a:lnTo>
                  <a:pt x="269" y="465"/>
                </a:lnTo>
                <a:lnTo>
                  <a:pt x="268" y="464"/>
                </a:lnTo>
                <a:lnTo>
                  <a:pt x="268" y="464"/>
                </a:lnTo>
                <a:lnTo>
                  <a:pt x="256" y="458"/>
                </a:lnTo>
                <a:lnTo>
                  <a:pt x="256" y="458"/>
                </a:lnTo>
                <a:lnTo>
                  <a:pt x="267" y="457"/>
                </a:lnTo>
                <a:lnTo>
                  <a:pt x="277" y="454"/>
                </a:lnTo>
                <a:lnTo>
                  <a:pt x="288" y="451"/>
                </a:lnTo>
                <a:lnTo>
                  <a:pt x="298" y="449"/>
                </a:lnTo>
                <a:lnTo>
                  <a:pt x="298" y="449"/>
                </a:lnTo>
                <a:close/>
                <a:moveTo>
                  <a:pt x="278" y="464"/>
                </a:moveTo>
                <a:lnTo>
                  <a:pt x="278" y="464"/>
                </a:lnTo>
                <a:lnTo>
                  <a:pt x="299" y="457"/>
                </a:lnTo>
                <a:lnTo>
                  <a:pt x="321" y="450"/>
                </a:lnTo>
                <a:lnTo>
                  <a:pt x="364" y="438"/>
                </a:lnTo>
                <a:lnTo>
                  <a:pt x="364" y="438"/>
                </a:lnTo>
                <a:lnTo>
                  <a:pt x="357" y="444"/>
                </a:lnTo>
                <a:lnTo>
                  <a:pt x="357" y="444"/>
                </a:lnTo>
                <a:lnTo>
                  <a:pt x="336" y="449"/>
                </a:lnTo>
                <a:lnTo>
                  <a:pt x="314" y="454"/>
                </a:lnTo>
                <a:lnTo>
                  <a:pt x="314" y="454"/>
                </a:lnTo>
                <a:lnTo>
                  <a:pt x="291" y="461"/>
                </a:lnTo>
                <a:lnTo>
                  <a:pt x="291" y="461"/>
                </a:lnTo>
                <a:lnTo>
                  <a:pt x="281" y="464"/>
                </a:lnTo>
                <a:lnTo>
                  <a:pt x="281" y="464"/>
                </a:lnTo>
                <a:lnTo>
                  <a:pt x="272" y="466"/>
                </a:lnTo>
                <a:lnTo>
                  <a:pt x="272" y="466"/>
                </a:lnTo>
                <a:lnTo>
                  <a:pt x="272" y="466"/>
                </a:lnTo>
                <a:lnTo>
                  <a:pt x="272" y="466"/>
                </a:lnTo>
                <a:lnTo>
                  <a:pt x="278" y="464"/>
                </a:lnTo>
                <a:lnTo>
                  <a:pt x="278" y="464"/>
                </a:lnTo>
                <a:close/>
                <a:moveTo>
                  <a:pt x="306" y="459"/>
                </a:moveTo>
                <a:lnTo>
                  <a:pt x="306" y="459"/>
                </a:lnTo>
                <a:lnTo>
                  <a:pt x="327" y="453"/>
                </a:lnTo>
                <a:lnTo>
                  <a:pt x="349" y="448"/>
                </a:lnTo>
                <a:lnTo>
                  <a:pt x="349" y="448"/>
                </a:lnTo>
                <a:lnTo>
                  <a:pt x="354" y="447"/>
                </a:lnTo>
                <a:lnTo>
                  <a:pt x="350" y="449"/>
                </a:lnTo>
                <a:lnTo>
                  <a:pt x="341" y="452"/>
                </a:lnTo>
                <a:lnTo>
                  <a:pt x="341" y="452"/>
                </a:lnTo>
                <a:lnTo>
                  <a:pt x="329" y="456"/>
                </a:lnTo>
                <a:lnTo>
                  <a:pt x="318" y="460"/>
                </a:lnTo>
                <a:lnTo>
                  <a:pt x="318" y="460"/>
                </a:lnTo>
                <a:lnTo>
                  <a:pt x="301" y="465"/>
                </a:lnTo>
                <a:lnTo>
                  <a:pt x="293" y="468"/>
                </a:lnTo>
                <a:lnTo>
                  <a:pt x="286" y="472"/>
                </a:lnTo>
                <a:lnTo>
                  <a:pt x="286" y="472"/>
                </a:lnTo>
                <a:lnTo>
                  <a:pt x="286" y="473"/>
                </a:lnTo>
                <a:lnTo>
                  <a:pt x="286" y="473"/>
                </a:lnTo>
                <a:lnTo>
                  <a:pt x="274" y="467"/>
                </a:lnTo>
                <a:lnTo>
                  <a:pt x="274" y="467"/>
                </a:lnTo>
                <a:lnTo>
                  <a:pt x="282" y="466"/>
                </a:lnTo>
                <a:lnTo>
                  <a:pt x="290" y="464"/>
                </a:lnTo>
                <a:lnTo>
                  <a:pt x="306" y="459"/>
                </a:lnTo>
                <a:lnTo>
                  <a:pt x="306" y="459"/>
                </a:lnTo>
                <a:close/>
                <a:moveTo>
                  <a:pt x="353" y="449"/>
                </a:moveTo>
                <a:lnTo>
                  <a:pt x="353" y="449"/>
                </a:lnTo>
                <a:lnTo>
                  <a:pt x="339" y="464"/>
                </a:lnTo>
                <a:lnTo>
                  <a:pt x="339" y="464"/>
                </a:lnTo>
                <a:lnTo>
                  <a:pt x="332" y="464"/>
                </a:lnTo>
                <a:lnTo>
                  <a:pt x="326" y="465"/>
                </a:lnTo>
                <a:lnTo>
                  <a:pt x="313" y="469"/>
                </a:lnTo>
                <a:lnTo>
                  <a:pt x="313" y="469"/>
                </a:lnTo>
                <a:lnTo>
                  <a:pt x="299" y="472"/>
                </a:lnTo>
                <a:lnTo>
                  <a:pt x="299" y="472"/>
                </a:lnTo>
                <a:lnTo>
                  <a:pt x="291" y="473"/>
                </a:lnTo>
                <a:lnTo>
                  <a:pt x="290" y="473"/>
                </a:lnTo>
                <a:lnTo>
                  <a:pt x="292" y="472"/>
                </a:lnTo>
                <a:lnTo>
                  <a:pt x="302" y="467"/>
                </a:lnTo>
                <a:lnTo>
                  <a:pt x="302" y="467"/>
                </a:lnTo>
                <a:lnTo>
                  <a:pt x="328" y="459"/>
                </a:lnTo>
                <a:lnTo>
                  <a:pt x="340" y="455"/>
                </a:lnTo>
                <a:lnTo>
                  <a:pt x="353" y="449"/>
                </a:lnTo>
                <a:lnTo>
                  <a:pt x="353" y="449"/>
                </a:lnTo>
                <a:close/>
                <a:moveTo>
                  <a:pt x="335" y="468"/>
                </a:moveTo>
                <a:lnTo>
                  <a:pt x="335" y="468"/>
                </a:lnTo>
                <a:lnTo>
                  <a:pt x="322" y="480"/>
                </a:lnTo>
                <a:lnTo>
                  <a:pt x="322" y="480"/>
                </a:lnTo>
                <a:lnTo>
                  <a:pt x="322" y="480"/>
                </a:lnTo>
                <a:lnTo>
                  <a:pt x="322" y="480"/>
                </a:lnTo>
                <a:lnTo>
                  <a:pt x="322" y="480"/>
                </a:lnTo>
                <a:lnTo>
                  <a:pt x="322" y="480"/>
                </a:lnTo>
                <a:lnTo>
                  <a:pt x="317" y="479"/>
                </a:lnTo>
                <a:lnTo>
                  <a:pt x="313" y="480"/>
                </a:lnTo>
                <a:lnTo>
                  <a:pt x="313" y="480"/>
                </a:lnTo>
                <a:lnTo>
                  <a:pt x="310" y="480"/>
                </a:lnTo>
                <a:lnTo>
                  <a:pt x="309" y="479"/>
                </a:lnTo>
                <a:lnTo>
                  <a:pt x="309" y="478"/>
                </a:lnTo>
                <a:lnTo>
                  <a:pt x="311" y="477"/>
                </a:lnTo>
                <a:lnTo>
                  <a:pt x="320" y="472"/>
                </a:lnTo>
                <a:lnTo>
                  <a:pt x="320" y="472"/>
                </a:lnTo>
                <a:lnTo>
                  <a:pt x="335" y="468"/>
                </a:lnTo>
                <a:lnTo>
                  <a:pt x="335" y="468"/>
                </a:lnTo>
                <a:close/>
                <a:moveTo>
                  <a:pt x="304" y="482"/>
                </a:moveTo>
                <a:lnTo>
                  <a:pt x="304" y="482"/>
                </a:lnTo>
                <a:lnTo>
                  <a:pt x="311" y="482"/>
                </a:lnTo>
                <a:lnTo>
                  <a:pt x="315" y="483"/>
                </a:lnTo>
                <a:lnTo>
                  <a:pt x="317" y="484"/>
                </a:lnTo>
                <a:lnTo>
                  <a:pt x="318" y="485"/>
                </a:lnTo>
                <a:lnTo>
                  <a:pt x="318" y="485"/>
                </a:lnTo>
                <a:lnTo>
                  <a:pt x="313" y="488"/>
                </a:lnTo>
                <a:lnTo>
                  <a:pt x="313" y="488"/>
                </a:lnTo>
                <a:lnTo>
                  <a:pt x="304" y="482"/>
                </a:lnTo>
                <a:lnTo>
                  <a:pt x="304" y="482"/>
                </a:lnTo>
                <a:lnTo>
                  <a:pt x="304" y="482"/>
                </a:lnTo>
                <a:lnTo>
                  <a:pt x="304" y="482"/>
                </a:lnTo>
                <a:close/>
                <a:moveTo>
                  <a:pt x="313" y="506"/>
                </a:moveTo>
                <a:lnTo>
                  <a:pt x="313" y="506"/>
                </a:lnTo>
                <a:lnTo>
                  <a:pt x="314" y="506"/>
                </a:lnTo>
                <a:lnTo>
                  <a:pt x="314" y="506"/>
                </a:lnTo>
                <a:lnTo>
                  <a:pt x="325" y="495"/>
                </a:lnTo>
                <a:lnTo>
                  <a:pt x="336" y="484"/>
                </a:lnTo>
                <a:lnTo>
                  <a:pt x="356" y="462"/>
                </a:lnTo>
                <a:lnTo>
                  <a:pt x="356" y="462"/>
                </a:lnTo>
                <a:lnTo>
                  <a:pt x="446" y="367"/>
                </a:lnTo>
                <a:lnTo>
                  <a:pt x="446" y="367"/>
                </a:lnTo>
                <a:lnTo>
                  <a:pt x="623" y="179"/>
                </a:lnTo>
                <a:lnTo>
                  <a:pt x="623" y="179"/>
                </a:lnTo>
                <a:lnTo>
                  <a:pt x="639" y="164"/>
                </a:lnTo>
                <a:lnTo>
                  <a:pt x="639" y="164"/>
                </a:lnTo>
                <a:lnTo>
                  <a:pt x="640" y="171"/>
                </a:lnTo>
                <a:lnTo>
                  <a:pt x="640" y="171"/>
                </a:lnTo>
                <a:lnTo>
                  <a:pt x="639" y="171"/>
                </a:lnTo>
                <a:lnTo>
                  <a:pt x="639" y="171"/>
                </a:lnTo>
                <a:lnTo>
                  <a:pt x="620" y="189"/>
                </a:lnTo>
                <a:lnTo>
                  <a:pt x="602" y="209"/>
                </a:lnTo>
                <a:lnTo>
                  <a:pt x="566" y="248"/>
                </a:lnTo>
                <a:lnTo>
                  <a:pt x="566" y="248"/>
                </a:lnTo>
                <a:lnTo>
                  <a:pt x="530" y="287"/>
                </a:lnTo>
                <a:lnTo>
                  <a:pt x="495" y="324"/>
                </a:lnTo>
                <a:lnTo>
                  <a:pt x="495" y="324"/>
                </a:lnTo>
                <a:lnTo>
                  <a:pt x="453" y="367"/>
                </a:lnTo>
                <a:lnTo>
                  <a:pt x="413" y="409"/>
                </a:lnTo>
                <a:lnTo>
                  <a:pt x="331" y="495"/>
                </a:lnTo>
                <a:lnTo>
                  <a:pt x="331" y="495"/>
                </a:lnTo>
                <a:lnTo>
                  <a:pt x="309" y="519"/>
                </a:lnTo>
                <a:lnTo>
                  <a:pt x="309" y="519"/>
                </a:lnTo>
                <a:lnTo>
                  <a:pt x="313" y="506"/>
                </a:lnTo>
                <a:lnTo>
                  <a:pt x="313" y="506"/>
                </a:lnTo>
                <a:close/>
                <a:moveTo>
                  <a:pt x="639" y="153"/>
                </a:moveTo>
                <a:lnTo>
                  <a:pt x="639" y="153"/>
                </a:lnTo>
                <a:lnTo>
                  <a:pt x="638" y="154"/>
                </a:lnTo>
                <a:lnTo>
                  <a:pt x="638" y="154"/>
                </a:lnTo>
                <a:lnTo>
                  <a:pt x="628" y="164"/>
                </a:lnTo>
                <a:lnTo>
                  <a:pt x="617" y="174"/>
                </a:lnTo>
                <a:lnTo>
                  <a:pt x="597" y="197"/>
                </a:lnTo>
                <a:lnTo>
                  <a:pt x="597" y="197"/>
                </a:lnTo>
                <a:lnTo>
                  <a:pt x="509" y="290"/>
                </a:lnTo>
                <a:lnTo>
                  <a:pt x="509" y="290"/>
                </a:lnTo>
                <a:lnTo>
                  <a:pt x="498" y="302"/>
                </a:lnTo>
                <a:lnTo>
                  <a:pt x="498" y="302"/>
                </a:lnTo>
                <a:lnTo>
                  <a:pt x="567" y="225"/>
                </a:lnTo>
                <a:lnTo>
                  <a:pt x="602" y="187"/>
                </a:lnTo>
                <a:lnTo>
                  <a:pt x="638" y="150"/>
                </a:lnTo>
                <a:lnTo>
                  <a:pt x="638" y="150"/>
                </a:lnTo>
                <a:lnTo>
                  <a:pt x="640" y="148"/>
                </a:lnTo>
                <a:lnTo>
                  <a:pt x="640" y="148"/>
                </a:lnTo>
                <a:lnTo>
                  <a:pt x="639" y="153"/>
                </a:lnTo>
                <a:lnTo>
                  <a:pt x="639" y="153"/>
                </a:lnTo>
                <a:close/>
                <a:moveTo>
                  <a:pt x="591" y="188"/>
                </a:moveTo>
                <a:lnTo>
                  <a:pt x="591" y="188"/>
                </a:lnTo>
                <a:lnTo>
                  <a:pt x="558" y="195"/>
                </a:lnTo>
                <a:lnTo>
                  <a:pt x="523" y="202"/>
                </a:lnTo>
                <a:lnTo>
                  <a:pt x="456" y="215"/>
                </a:lnTo>
                <a:lnTo>
                  <a:pt x="456" y="215"/>
                </a:lnTo>
                <a:lnTo>
                  <a:pt x="387" y="228"/>
                </a:lnTo>
                <a:lnTo>
                  <a:pt x="317" y="243"/>
                </a:lnTo>
                <a:lnTo>
                  <a:pt x="317" y="243"/>
                </a:lnTo>
                <a:lnTo>
                  <a:pt x="281" y="251"/>
                </a:lnTo>
                <a:lnTo>
                  <a:pt x="247" y="260"/>
                </a:lnTo>
                <a:lnTo>
                  <a:pt x="178" y="280"/>
                </a:lnTo>
                <a:lnTo>
                  <a:pt x="178" y="280"/>
                </a:lnTo>
                <a:lnTo>
                  <a:pt x="112" y="299"/>
                </a:lnTo>
                <a:lnTo>
                  <a:pt x="112" y="299"/>
                </a:lnTo>
                <a:lnTo>
                  <a:pt x="89" y="306"/>
                </a:lnTo>
                <a:lnTo>
                  <a:pt x="89" y="306"/>
                </a:lnTo>
                <a:lnTo>
                  <a:pt x="132" y="291"/>
                </a:lnTo>
                <a:lnTo>
                  <a:pt x="176" y="276"/>
                </a:lnTo>
                <a:lnTo>
                  <a:pt x="176" y="276"/>
                </a:lnTo>
                <a:lnTo>
                  <a:pt x="243" y="257"/>
                </a:lnTo>
                <a:lnTo>
                  <a:pt x="310" y="239"/>
                </a:lnTo>
                <a:lnTo>
                  <a:pt x="310" y="239"/>
                </a:lnTo>
                <a:lnTo>
                  <a:pt x="344" y="231"/>
                </a:lnTo>
                <a:lnTo>
                  <a:pt x="378" y="223"/>
                </a:lnTo>
                <a:lnTo>
                  <a:pt x="447" y="209"/>
                </a:lnTo>
                <a:lnTo>
                  <a:pt x="447" y="209"/>
                </a:lnTo>
                <a:lnTo>
                  <a:pt x="511" y="198"/>
                </a:lnTo>
                <a:lnTo>
                  <a:pt x="542" y="191"/>
                </a:lnTo>
                <a:lnTo>
                  <a:pt x="574" y="184"/>
                </a:lnTo>
                <a:lnTo>
                  <a:pt x="574" y="184"/>
                </a:lnTo>
                <a:lnTo>
                  <a:pt x="590" y="179"/>
                </a:lnTo>
                <a:lnTo>
                  <a:pt x="605" y="173"/>
                </a:lnTo>
                <a:lnTo>
                  <a:pt x="605" y="173"/>
                </a:lnTo>
                <a:lnTo>
                  <a:pt x="594" y="186"/>
                </a:lnTo>
                <a:lnTo>
                  <a:pt x="594" y="186"/>
                </a:lnTo>
                <a:lnTo>
                  <a:pt x="591" y="188"/>
                </a:lnTo>
                <a:lnTo>
                  <a:pt x="591" y="188"/>
                </a:lnTo>
                <a:close/>
                <a:moveTo>
                  <a:pt x="81" y="283"/>
                </a:moveTo>
                <a:lnTo>
                  <a:pt x="81" y="283"/>
                </a:lnTo>
                <a:lnTo>
                  <a:pt x="82" y="283"/>
                </a:lnTo>
                <a:lnTo>
                  <a:pt x="82" y="283"/>
                </a:lnTo>
                <a:lnTo>
                  <a:pt x="115" y="272"/>
                </a:lnTo>
                <a:lnTo>
                  <a:pt x="150" y="263"/>
                </a:lnTo>
                <a:lnTo>
                  <a:pt x="217" y="247"/>
                </a:lnTo>
                <a:lnTo>
                  <a:pt x="217" y="247"/>
                </a:lnTo>
                <a:lnTo>
                  <a:pt x="285" y="231"/>
                </a:lnTo>
                <a:lnTo>
                  <a:pt x="353" y="214"/>
                </a:lnTo>
                <a:lnTo>
                  <a:pt x="353" y="214"/>
                </a:lnTo>
                <a:lnTo>
                  <a:pt x="422" y="200"/>
                </a:lnTo>
                <a:lnTo>
                  <a:pt x="455" y="191"/>
                </a:lnTo>
                <a:lnTo>
                  <a:pt x="490" y="183"/>
                </a:lnTo>
                <a:lnTo>
                  <a:pt x="490" y="183"/>
                </a:lnTo>
                <a:lnTo>
                  <a:pt x="524" y="174"/>
                </a:lnTo>
                <a:lnTo>
                  <a:pt x="560" y="166"/>
                </a:lnTo>
                <a:lnTo>
                  <a:pt x="560" y="166"/>
                </a:lnTo>
                <a:lnTo>
                  <a:pt x="591" y="160"/>
                </a:lnTo>
                <a:lnTo>
                  <a:pt x="622" y="154"/>
                </a:lnTo>
                <a:lnTo>
                  <a:pt x="622" y="154"/>
                </a:lnTo>
                <a:lnTo>
                  <a:pt x="609" y="169"/>
                </a:lnTo>
                <a:lnTo>
                  <a:pt x="609" y="169"/>
                </a:lnTo>
                <a:lnTo>
                  <a:pt x="605" y="169"/>
                </a:lnTo>
                <a:lnTo>
                  <a:pt x="605" y="169"/>
                </a:lnTo>
                <a:lnTo>
                  <a:pt x="604" y="169"/>
                </a:lnTo>
                <a:lnTo>
                  <a:pt x="602" y="170"/>
                </a:lnTo>
                <a:lnTo>
                  <a:pt x="602" y="170"/>
                </a:lnTo>
                <a:lnTo>
                  <a:pt x="537" y="184"/>
                </a:lnTo>
                <a:lnTo>
                  <a:pt x="472" y="197"/>
                </a:lnTo>
                <a:lnTo>
                  <a:pt x="406" y="209"/>
                </a:lnTo>
                <a:lnTo>
                  <a:pt x="340" y="222"/>
                </a:lnTo>
                <a:lnTo>
                  <a:pt x="340" y="222"/>
                </a:lnTo>
                <a:lnTo>
                  <a:pt x="307" y="229"/>
                </a:lnTo>
                <a:lnTo>
                  <a:pt x="273" y="237"/>
                </a:lnTo>
                <a:lnTo>
                  <a:pt x="206" y="254"/>
                </a:lnTo>
                <a:lnTo>
                  <a:pt x="74" y="291"/>
                </a:lnTo>
                <a:lnTo>
                  <a:pt x="74" y="291"/>
                </a:lnTo>
                <a:lnTo>
                  <a:pt x="81" y="283"/>
                </a:lnTo>
                <a:lnTo>
                  <a:pt x="81" y="283"/>
                </a:lnTo>
                <a:close/>
                <a:moveTo>
                  <a:pt x="71" y="294"/>
                </a:moveTo>
                <a:lnTo>
                  <a:pt x="71" y="294"/>
                </a:lnTo>
                <a:lnTo>
                  <a:pt x="208" y="256"/>
                </a:lnTo>
                <a:lnTo>
                  <a:pt x="277" y="238"/>
                </a:lnTo>
                <a:lnTo>
                  <a:pt x="312" y="230"/>
                </a:lnTo>
                <a:lnTo>
                  <a:pt x="346" y="223"/>
                </a:lnTo>
                <a:lnTo>
                  <a:pt x="346" y="223"/>
                </a:lnTo>
                <a:lnTo>
                  <a:pt x="417" y="209"/>
                </a:lnTo>
                <a:lnTo>
                  <a:pt x="489" y="196"/>
                </a:lnTo>
                <a:lnTo>
                  <a:pt x="489" y="196"/>
                </a:lnTo>
                <a:lnTo>
                  <a:pt x="557" y="183"/>
                </a:lnTo>
                <a:lnTo>
                  <a:pt x="557" y="183"/>
                </a:lnTo>
                <a:lnTo>
                  <a:pt x="573" y="179"/>
                </a:lnTo>
                <a:lnTo>
                  <a:pt x="589" y="175"/>
                </a:lnTo>
                <a:lnTo>
                  <a:pt x="589" y="175"/>
                </a:lnTo>
                <a:lnTo>
                  <a:pt x="598" y="173"/>
                </a:lnTo>
                <a:lnTo>
                  <a:pt x="598" y="173"/>
                </a:lnTo>
                <a:lnTo>
                  <a:pt x="597" y="174"/>
                </a:lnTo>
                <a:lnTo>
                  <a:pt x="597" y="174"/>
                </a:lnTo>
                <a:lnTo>
                  <a:pt x="588" y="178"/>
                </a:lnTo>
                <a:lnTo>
                  <a:pt x="588" y="178"/>
                </a:lnTo>
                <a:lnTo>
                  <a:pt x="573" y="182"/>
                </a:lnTo>
                <a:lnTo>
                  <a:pt x="558" y="186"/>
                </a:lnTo>
                <a:lnTo>
                  <a:pt x="526" y="192"/>
                </a:lnTo>
                <a:lnTo>
                  <a:pt x="495" y="198"/>
                </a:lnTo>
                <a:lnTo>
                  <a:pt x="463" y="204"/>
                </a:lnTo>
                <a:lnTo>
                  <a:pt x="463" y="204"/>
                </a:lnTo>
                <a:lnTo>
                  <a:pt x="394" y="217"/>
                </a:lnTo>
                <a:lnTo>
                  <a:pt x="359" y="224"/>
                </a:lnTo>
                <a:lnTo>
                  <a:pt x="326" y="233"/>
                </a:lnTo>
                <a:lnTo>
                  <a:pt x="326" y="233"/>
                </a:lnTo>
                <a:lnTo>
                  <a:pt x="259" y="250"/>
                </a:lnTo>
                <a:lnTo>
                  <a:pt x="192" y="269"/>
                </a:lnTo>
                <a:lnTo>
                  <a:pt x="126" y="290"/>
                </a:lnTo>
                <a:lnTo>
                  <a:pt x="94" y="301"/>
                </a:lnTo>
                <a:lnTo>
                  <a:pt x="62" y="312"/>
                </a:lnTo>
                <a:lnTo>
                  <a:pt x="62" y="312"/>
                </a:lnTo>
                <a:lnTo>
                  <a:pt x="50" y="316"/>
                </a:lnTo>
                <a:lnTo>
                  <a:pt x="50" y="316"/>
                </a:lnTo>
                <a:lnTo>
                  <a:pt x="50" y="316"/>
                </a:lnTo>
                <a:lnTo>
                  <a:pt x="50" y="316"/>
                </a:lnTo>
                <a:lnTo>
                  <a:pt x="71" y="294"/>
                </a:lnTo>
                <a:lnTo>
                  <a:pt x="71" y="294"/>
                </a:lnTo>
                <a:close/>
                <a:moveTo>
                  <a:pt x="47" y="320"/>
                </a:moveTo>
                <a:lnTo>
                  <a:pt x="47" y="320"/>
                </a:lnTo>
                <a:lnTo>
                  <a:pt x="182" y="281"/>
                </a:lnTo>
                <a:lnTo>
                  <a:pt x="249" y="262"/>
                </a:lnTo>
                <a:lnTo>
                  <a:pt x="317" y="245"/>
                </a:lnTo>
                <a:lnTo>
                  <a:pt x="317" y="245"/>
                </a:lnTo>
                <a:lnTo>
                  <a:pt x="352" y="238"/>
                </a:lnTo>
                <a:lnTo>
                  <a:pt x="387" y="230"/>
                </a:lnTo>
                <a:lnTo>
                  <a:pt x="456" y="217"/>
                </a:lnTo>
                <a:lnTo>
                  <a:pt x="456" y="217"/>
                </a:lnTo>
                <a:lnTo>
                  <a:pt x="523" y="204"/>
                </a:lnTo>
                <a:lnTo>
                  <a:pt x="523" y="204"/>
                </a:lnTo>
                <a:lnTo>
                  <a:pt x="557" y="198"/>
                </a:lnTo>
                <a:lnTo>
                  <a:pt x="573" y="195"/>
                </a:lnTo>
                <a:lnTo>
                  <a:pt x="588" y="189"/>
                </a:lnTo>
                <a:lnTo>
                  <a:pt x="588" y="189"/>
                </a:lnTo>
                <a:lnTo>
                  <a:pt x="556" y="201"/>
                </a:lnTo>
                <a:lnTo>
                  <a:pt x="522" y="210"/>
                </a:lnTo>
                <a:lnTo>
                  <a:pt x="488" y="218"/>
                </a:lnTo>
                <a:lnTo>
                  <a:pt x="454" y="226"/>
                </a:lnTo>
                <a:lnTo>
                  <a:pt x="387" y="240"/>
                </a:lnTo>
                <a:lnTo>
                  <a:pt x="353" y="248"/>
                </a:lnTo>
                <a:lnTo>
                  <a:pt x="320" y="256"/>
                </a:lnTo>
                <a:lnTo>
                  <a:pt x="320" y="256"/>
                </a:lnTo>
                <a:lnTo>
                  <a:pt x="181" y="292"/>
                </a:lnTo>
                <a:lnTo>
                  <a:pt x="181" y="292"/>
                </a:lnTo>
                <a:lnTo>
                  <a:pt x="116" y="309"/>
                </a:lnTo>
                <a:lnTo>
                  <a:pt x="83" y="319"/>
                </a:lnTo>
                <a:lnTo>
                  <a:pt x="68" y="324"/>
                </a:lnTo>
                <a:lnTo>
                  <a:pt x="51" y="330"/>
                </a:lnTo>
                <a:lnTo>
                  <a:pt x="51" y="330"/>
                </a:lnTo>
                <a:lnTo>
                  <a:pt x="30" y="339"/>
                </a:lnTo>
                <a:lnTo>
                  <a:pt x="30" y="339"/>
                </a:lnTo>
                <a:lnTo>
                  <a:pt x="47" y="320"/>
                </a:lnTo>
                <a:lnTo>
                  <a:pt x="47" y="320"/>
                </a:lnTo>
                <a:close/>
                <a:moveTo>
                  <a:pt x="88" y="320"/>
                </a:moveTo>
                <a:lnTo>
                  <a:pt x="88" y="320"/>
                </a:lnTo>
                <a:lnTo>
                  <a:pt x="160" y="300"/>
                </a:lnTo>
                <a:lnTo>
                  <a:pt x="160" y="300"/>
                </a:lnTo>
                <a:lnTo>
                  <a:pt x="229" y="282"/>
                </a:lnTo>
                <a:lnTo>
                  <a:pt x="298" y="264"/>
                </a:lnTo>
                <a:lnTo>
                  <a:pt x="298" y="264"/>
                </a:lnTo>
                <a:lnTo>
                  <a:pt x="365" y="248"/>
                </a:lnTo>
                <a:lnTo>
                  <a:pt x="433" y="233"/>
                </a:lnTo>
                <a:lnTo>
                  <a:pt x="501" y="217"/>
                </a:lnTo>
                <a:lnTo>
                  <a:pt x="534" y="209"/>
                </a:lnTo>
                <a:lnTo>
                  <a:pt x="568" y="199"/>
                </a:lnTo>
                <a:lnTo>
                  <a:pt x="568" y="199"/>
                </a:lnTo>
                <a:lnTo>
                  <a:pt x="588" y="192"/>
                </a:lnTo>
                <a:lnTo>
                  <a:pt x="588" y="192"/>
                </a:lnTo>
                <a:lnTo>
                  <a:pt x="569" y="213"/>
                </a:lnTo>
                <a:lnTo>
                  <a:pt x="569" y="213"/>
                </a:lnTo>
                <a:lnTo>
                  <a:pt x="514" y="229"/>
                </a:lnTo>
                <a:lnTo>
                  <a:pt x="458" y="245"/>
                </a:lnTo>
                <a:lnTo>
                  <a:pt x="458" y="245"/>
                </a:lnTo>
                <a:lnTo>
                  <a:pt x="442" y="248"/>
                </a:lnTo>
                <a:lnTo>
                  <a:pt x="442" y="248"/>
                </a:lnTo>
                <a:lnTo>
                  <a:pt x="414" y="255"/>
                </a:lnTo>
                <a:lnTo>
                  <a:pt x="387" y="262"/>
                </a:lnTo>
                <a:lnTo>
                  <a:pt x="332" y="276"/>
                </a:lnTo>
                <a:lnTo>
                  <a:pt x="332" y="276"/>
                </a:lnTo>
                <a:lnTo>
                  <a:pt x="296" y="284"/>
                </a:lnTo>
                <a:lnTo>
                  <a:pt x="296" y="284"/>
                </a:lnTo>
                <a:lnTo>
                  <a:pt x="262" y="291"/>
                </a:lnTo>
                <a:lnTo>
                  <a:pt x="227" y="297"/>
                </a:lnTo>
                <a:lnTo>
                  <a:pt x="157" y="309"/>
                </a:lnTo>
                <a:lnTo>
                  <a:pt x="157" y="309"/>
                </a:lnTo>
                <a:lnTo>
                  <a:pt x="124" y="316"/>
                </a:lnTo>
                <a:lnTo>
                  <a:pt x="108" y="320"/>
                </a:lnTo>
                <a:lnTo>
                  <a:pt x="93" y="325"/>
                </a:lnTo>
                <a:lnTo>
                  <a:pt x="93" y="325"/>
                </a:lnTo>
                <a:lnTo>
                  <a:pt x="63" y="335"/>
                </a:lnTo>
                <a:lnTo>
                  <a:pt x="63" y="335"/>
                </a:lnTo>
                <a:lnTo>
                  <a:pt x="47" y="340"/>
                </a:lnTo>
                <a:lnTo>
                  <a:pt x="47" y="340"/>
                </a:lnTo>
                <a:lnTo>
                  <a:pt x="37" y="341"/>
                </a:lnTo>
                <a:lnTo>
                  <a:pt x="32" y="342"/>
                </a:lnTo>
                <a:lnTo>
                  <a:pt x="28" y="343"/>
                </a:lnTo>
                <a:lnTo>
                  <a:pt x="28" y="343"/>
                </a:lnTo>
                <a:lnTo>
                  <a:pt x="57" y="330"/>
                </a:lnTo>
                <a:lnTo>
                  <a:pt x="73" y="325"/>
                </a:lnTo>
                <a:lnTo>
                  <a:pt x="88" y="320"/>
                </a:lnTo>
                <a:lnTo>
                  <a:pt x="88" y="320"/>
                </a:lnTo>
                <a:close/>
                <a:moveTo>
                  <a:pt x="25" y="351"/>
                </a:moveTo>
                <a:lnTo>
                  <a:pt x="25" y="351"/>
                </a:lnTo>
                <a:lnTo>
                  <a:pt x="61" y="370"/>
                </a:lnTo>
                <a:lnTo>
                  <a:pt x="96" y="388"/>
                </a:lnTo>
                <a:lnTo>
                  <a:pt x="168" y="422"/>
                </a:lnTo>
                <a:lnTo>
                  <a:pt x="168" y="422"/>
                </a:lnTo>
                <a:lnTo>
                  <a:pt x="260" y="468"/>
                </a:lnTo>
                <a:lnTo>
                  <a:pt x="260" y="468"/>
                </a:lnTo>
                <a:lnTo>
                  <a:pt x="285" y="480"/>
                </a:lnTo>
                <a:lnTo>
                  <a:pt x="297" y="487"/>
                </a:lnTo>
                <a:lnTo>
                  <a:pt x="309" y="494"/>
                </a:lnTo>
                <a:lnTo>
                  <a:pt x="309" y="494"/>
                </a:lnTo>
                <a:lnTo>
                  <a:pt x="307" y="500"/>
                </a:lnTo>
                <a:lnTo>
                  <a:pt x="307" y="500"/>
                </a:lnTo>
                <a:lnTo>
                  <a:pt x="293" y="495"/>
                </a:lnTo>
                <a:lnTo>
                  <a:pt x="280" y="488"/>
                </a:lnTo>
                <a:lnTo>
                  <a:pt x="255" y="475"/>
                </a:lnTo>
                <a:lnTo>
                  <a:pt x="255" y="475"/>
                </a:lnTo>
                <a:lnTo>
                  <a:pt x="166" y="430"/>
                </a:lnTo>
                <a:lnTo>
                  <a:pt x="166" y="430"/>
                </a:lnTo>
                <a:lnTo>
                  <a:pt x="136" y="416"/>
                </a:lnTo>
                <a:lnTo>
                  <a:pt x="107" y="402"/>
                </a:lnTo>
                <a:lnTo>
                  <a:pt x="107" y="402"/>
                </a:lnTo>
                <a:lnTo>
                  <a:pt x="66" y="379"/>
                </a:lnTo>
                <a:lnTo>
                  <a:pt x="44" y="368"/>
                </a:lnTo>
                <a:lnTo>
                  <a:pt x="33" y="363"/>
                </a:lnTo>
                <a:lnTo>
                  <a:pt x="23" y="359"/>
                </a:lnTo>
                <a:lnTo>
                  <a:pt x="23" y="359"/>
                </a:lnTo>
                <a:lnTo>
                  <a:pt x="22" y="359"/>
                </a:lnTo>
                <a:lnTo>
                  <a:pt x="22" y="359"/>
                </a:lnTo>
                <a:lnTo>
                  <a:pt x="25" y="351"/>
                </a:lnTo>
                <a:lnTo>
                  <a:pt x="25" y="351"/>
                </a:lnTo>
                <a:close/>
                <a:moveTo>
                  <a:pt x="20" y="366"/>
                </a:moveTo>
                <a:lnTo>
                  <a:pt x="20" y="366"/>
                </a:lnTo>
                <a:lnTo>
                  <a:pt x="21" y="366"/>
                </a:lnTo>
                <a:lnTo>
                  <a:pt x="21" y="366"/>
                </a:lnTo>
                <a:lnTo>
                  <a:pt x="32" y="370"/>
                </a:lnTo>
                <a:lnTo>
                  <a:pt x="42" y="375"/>
                </a:lnTo>
                <a:lnTo>
                  <a:pt x="64" y="386"/>
                </a:lnTo>
                <a:lnTo>
                  <a:pt x="85" y="398"/>
                </a:lnTo>
                <a:lnTo>
                  <a:pt x="106" y="410"/>
                </a:lnTo>
                <a:lnTo>
                  <a:pt x="106" y="410"/>
                </a:lnTo>
                <a:lnTo>
                  <a:pt x="135" y="424"/>
                </a:lnTo>
                <a:lnTo>
                  <a:pt x="165" y="439"/>
                </a:lnTo>
                <a:lnTo>
                  <a:pt x="165" y="439"/>
                </a:lnTo>
                <a:lnTo>
                  <a:pt x="254" y="483"/>
                </a:lnTo>
                <a:lnTo>
                  <a:pt x="254" y="483"/>
                </a:lnTo>
                <a:lnTo>
                  <a:pt x="279" y="496"/>
                </a:lnTo>
                <a:lnTo>
                  <a:pt x="291" y="502"/>
                </a:lnTo>
                <a:lnTo>
                  <a:pt x="305" y="507"/>
                </a:lnTo>
                <a:lnTo>
                  <a:pt x="305" y="507"/>
                </a:lnTo>
                <a:lnTo>
                  <a:pt x="302" y="516"/>
                </a:lnTo>
                <a:lnTo>
                  <a:pt x="302" y="516"/>
                </a:lnTo>
                <a:lnTo>
                  <a:pt x="265" y="498"/>
                </a:lnTo>
                <a:lnTo>
                  <a:pt x="228" y="481"/>
                </a:lnTo>
                <a:lnTo>
                  <a:pt x="153" y="446"/>
                </a:lnTo>
                <a:lnTo>
                  <a:pt x="153" y="446"/>
                </a:lnTo>
                <a:lnTo>
                  <a:pt x="118" y="429"/>
                </a:lnTo>
                <a:lnTo>
                  <a:pt x="84" y="413"/>
                </a:lnTo>
                <a:lnTo>
                  <a:pt x="50" y="395"/>
                </a:lnTo>
                <a:lnTo>
                  <a:pt x="17" y="376"/>
                </a:lnTo>
                <a:lnTo>
                  <a:pt x="17" y="376"/>
                </a:lnTo>
                <a:lnTo>
                  <a:pt x="20" y="366"/>
                </a:lnTo>
                <a:lnTo>
                  <a:pt x="20" y="366"/>
                </a:lnTo>
                <a:close/>
                <a:moveTo>
                  <a:pt x="8" y="392"/>
                </a:moveTo>
                <a:lnTo>
                  <a:pt x="8" y="392"/>
                </a:lnTo>
                <a:lnTo>
                  <a:pt x="8" y="382"/>
                </a:lnTo>
                <a:lnTo>
                  <a:pt x="9" y="373"/>
                </a:lnTo>
                <a:lnTo>
                  <a:pt x="12" y="363"/>
                </a:lnTo>
                <a:lnTo>
                  <a:pt x="16" y="356"/>
                </a:lnTo>
                <a:lnTo>
                  <a:pt x="16" y="356"/>
                </a:lnTo>
                <a:lnTo>
                  <a:pt x="13" y="364"/>
                </a:lnTo>
                <a:lnTo>
                  <a:pt x="10" y="373"/>
                </a:lnTo>
                <a:lnTo>
                  <a:pt x="9" y="383"/>
                </a:lnTo>
                <a:lnTo>
                  <a:pt x="8" y="392"/>
                </a:lnTo>
                <a:lnTo>
                  <a:pt x="8" y="392"/>
                </a:lnTo>
                <a:close/>
                <a:moveTo>
                  <a:pt x="18" y="399"/>
                </a:moveTo>
                <a:lnTo>
                  <a:pt x="18" y="399"/>
                </a:lnTo>
                <a:lnTo>
                  <a:pt x="16" y="398"/>
                </a:lnTo>
                <a:lnTo>
                  <a:pt x="16" y="398"/>
                </a:lnTo>
                <a:lnTo>
                  <a:pt x="16" y="391"/>
                </a:lnTo>
                <a:lnTo>
                  <a:pt x="16" y="384"/>
                </a:lnTo>
                <a:lnTo>
                  <a:pt x="16" y="384"/>
                </a:lnTo>
                <a:lnTo>
                  <a:pt x="48" y="403"/>
                </a:lnTo>
                <a:lnTo>
                  <a:pt x="82" y="420"/>
                </a:lnTo>
                <a:lnTo>
                  <a:pt x="149" y="452"/>
                </a:lnTo>
                <a:lnTo>
                  <a:pt x="149" y="452"/>
                </a:lnTo>
                <a:lnTo>
                  <a:pt x="225" y="487"/>
                </a:lnTo>
                <a:lnTo>
                  <a:pt x="263" y="505"/>
                </a:lnTo>
                <a:lnTo>
                  <a:pt x="300" y="525"/>
                </a:lnTo>
                <a:lnTo>
                  <a:pt x="300" y="525"/>
                </a:lnTo>
                <a:lnTo>
                  <a:pt x="299" y="531"/>
                </a:lnTo>
                <a:lnTo>
                  <a:pt x="299" y="536"/>
                </a:lnTo>
                <a:lnTo>
                  <a:pt x="299" y="536"/>
                </a:lnTo>
                <a:lnTo>
                  <a:pt x="289" y="531"/>
                </a:lnTo>
                <a:lnTo>
                  <a:pt x="278" y="526"/>
                </a:lnTo>
                <a:lnTo>
                  <a:pt x="257" y="515"/>
                </a:lnTo>
                <a:lnTo>
                  <a:pt x="257" y="515"/>
                </a:lnTo>
                <a:lnTo>
                  <a:pt x="162" y="470"/>
                </a:lnTo>
                <a:lnTo>
                  <a:pt x="162" y="470"/>
                </a:lnTo>
                <a:lnTo>
                  <a:pt x="66" y="423"/>
                </a:lnTo>
                <a:lnTo>
                  <a:pt x="66" y="423"/>
                </a:lnTo>
                <a:lnTo>
                  <a:pt x="40" y="412"/>
                </a:lnTo>
                <a:lnTo>
                  <a:pt x="28" y="406"/>
                </a:lnTo>
                <a:lnTo>
                  <a:pt x="18" y="399"/>
                </a:lnTo>
                <a:lnTo>
                  <a:pt x="18" y="399"/>
                </a:lnTo>
                <a:close/>
                <a:moveTo>
                  <a:pt x="167" y="488"/>
                </a:moveTo>
                <a:lnTo>
                  <a:pt x="167" y="488"/>
                </a:lnTo>
                <a:lnTo>
                  <a:pt x="73" y="441"/>
                </a:lnTo>
                <a:lnTo>
                  <a:pt x="73" y="441"/>
                </a:lnTo>
                <a:lnTo>
                  <a:pt x="47" y="428"/>
                </a:lnTo>
                <a:lnTo>
                  <a:pt x="35" y="421"/>
                </a:lnTo>
                <a:lnTo>
                  <a:pt x="23" y="413"/>
                </a:lnTo>
                <a:lnTo>
                  <a:pt x="23" y="413"/>
                </a:lnTo>
                <a:lnTo>
                  <a:pt x="22" y="412"/>
                </a:lnTo>
                <a:lnTo>
                  <a:pt x="22" y="412"/>
                </a:lnTo>
                <a:lnTo>
                  <a:pt x="22" y="410"/>
                </a:lnTo>
                <a:lnTo>
                  <a:pt x="22" y="410"/>
                </a:lnTo>
                <a:lnTo>
                  <a:pt x="30" y="415"/>
                </a:lnTo>
                <a:lnTo>
                  <a:pt x="40" y="419"/>
                </a:lnTo>
                <a:lnTo>
                  <a:pt x="57" y="427"/>
                </a:lnTo>
                <a:lnTo>
                  <a:pt x="57" y="427"/>
                </a:lnTo>
                <a:lnTo>
                  <a:pt x="153" y="473"/>
                </a:lnTo>
                <a:lnTo>
                  <a:pt x="153" y="473"/>
                </a:lnTo>
                <a:lnTo>
                  <a:pt x="249" y="520"/>
                </a:lnTo>
                <a:lnTo>
                  <a:pt x="249" y="520"/>
                </a:lnTo>
                <a:lnTo>
                  <a:pt x="275" y="532"/>
                </a:lnTo>
                <a:lnTo>
                  <a:pt x="287" y="538"/>
                </a:lnTo>
                <a:lnTo>
                  <a:pt x="298" y="545"/>
                </a:lnTo>
                <a:lnTo>
                  <a:pt x="298" y="545"/>
                </a:lnTo>
                <a:lnTo>
                  <a:pt x="300" y="546"/>
                </a:lnTo>
                <a:lnTo>
                  <a:pt x="300" y="546"/>
                </a:lnTo>
                <a:lnTo>
                  <a:pt x="302" y="551"/>
                </a:lnTo>
                <a:lnTo>
                  <a:pt x="305" y="556"/>
                </a:lnTo>
                <a:lnTo>
                  <a:pt x="305" y="556"/>
                </a:lnTo>
                <a:lnTo>
                  <a:pt x="270" y="540"/>
                </a:lnTo>
                <a:lnTo>
                  <a:pt x="235" y="524"/>
                </a:lnTo>
                <a:lnTo>
                  <a:pt x="167" y="488"/>
                </a:lnTo>
                <a:lnTo>
                  <a:pt x="167" y="488"/>
                </a:lnTo>
                <a:close/>
                <a:moveTo>
                  <a:pt x="307" y="537"/>
                </a:moveTo>
                <a:lnTo>
                  <a:pt x="307" y="537"/>
                </a:lnTo>
                <a:lnTo>
                  <a:pt x="307" y="531"/>
                </a:lnTo>
                <a:lnTo>
                  <a:pt x="307" y="531"/>
                </a:lnTo>
                <a:lnTo>
                  <a:pt x="309" y="530"/>
                </a:lnTo>
                <a:lnTo>
                  <a:pt x="309" y="530"/>
                </a:lnTo>
                <a:lnTo>
                  <a:pt x="383" y="449"/>
                </a:lnTo>
                <a:lnTo>
                  <a:pt x="460" y="369"/>
                </a:lnTo>
                <a:lnTo>
                  <a:pt x="536" y="289"/>
                </a:lnTo>
                <a:lnTo>
                  <a:pt x="613" y="209"/>
                </a:lnTo>
                <a:lnTo>
                  <a:pt x="613" y="209"/>
                </a:lnTo>
                <a:lnTo>
                  <a:pt x="628" y="194"/>
                </a:lnTo>
                <a:lnTo>
                  <a:pt x="642" y="179"/>
                </a:lnTo>
                <a:lnTo>
                  <a:pt x="642" y="179"/>
                </a:lnTo>
                <a:lnTo>
                  <a:pt x="643" y="181"/>
                </a:lnTo>
                <a:lnTo>
                  <a:pt x="643" y="181"/>
                </a:lnTo>
                <a:lnTo>
                  <a:pt x="635" y="187"/>
                </a:lnTo>
                <a:lnTo>
                  <a:pt x="628" y="195"/>
                </a:lnTo>
                <a:lnTo>
                  <a:pt x="614" y="210"/>
                </a:lnTo>
                <a:lnTo>
                  <a:pt x="614" y="210"/>
                </a:lnTo>
                <a:lnTo>
                  <a:pt x="562" y="267"/>
                </a:lnTo>
                <a:lnTo>
                  <a:pt x="562" y="267"/>
                </a:lnTo>
                <a:lnTo>
                  <a:pt x="524" y="308"/>
                </a:lnTo>
                <a:lnTo>
                  <a:pt x="487" y="347"/>
                </a:lnTo>
                <a:lnTo>
                  <a:pt x="487" y="347"/>
                </a:lnTo>
                <a:lnTo>
                  <a:pt x="397" y="442"/>
                </a:lnTo>
                <a:lnTo>
                  <a:pt x="352" y="488"/>
                </a:lnTo>
                <a:lnTo>
                  <a:pt x="308" y="536"/>
                </a:lnTo>
                <a:lnTo>
                  <a:pt x="308" y="536"/>
                </a:lnTo>
                <a:lnTo>
                  <a:pt x="307" y="537"/>
                </a:lnTo>
                <a:lnTo>
                  <a:pt x="307" y="537"/>
                </a:lnTo>
                <a:close/>
                <a:moveTo>
                  <a:pt x="643" y="206"/>
                </a:moveTo>
                <a:lnTo>
                  <a:pt x="643" y="206"/>
                </a:lnTo>
                <a:lnTo>
                  <a:pt x="613" y="238"/>
                </a:lnTo>
                <a:lnTo>
                  <a:pt x="613" y="238"/>
                </a:lnTo>
                <a:lnTo>
                  <a:pt x="569" y="287"/>
                </a:lnTo>
                <a:lnTo>
                  <a:pt x="523" y="335"/>
                </a:lnTo>
                <a:lnTo>
                  <a:pt x="523" y="335"/>
                </a:lnTo>
                <a:lnTo>
                  <a:pt x="337" y="531"/>
                </a:lnTo>
                <a:lnTo>
                  <a:pt x="337" y="531"/>
                </a:lnTo>
                <a:lnTo>
                  <a:pt x="315" y="556"/>
                </a:lnTo>
                <a:lnTo>
                  <a:pt x="315" y="556"/>
                </a:lnTo>
                <a:lnTo>
                  <a:pt x="311" y="551"/>
                </a:lnTo>
                <a:lnTo>
                  <a:pt x="309" y="545"/>
                </a:lnTo>
                <a:lnTo>
                  <a:pt x="309" y="545"/>
                </a:lnTo>
                <a:lnTo>
                  <a:pt x="310" y="545"/>
                </a:lnTo>
                <a:lnTo>
                  <a:pt x="310" y="545"/>
                </a:lnTo>
                <a:lnTo>
                  <a:pt x="326" y="526"/>
                </a:lnTo>
                <a:lnTo>
                  <a:pt x="343" y="507"/>
                </a:lnTo>
                <a:lnTo>
                  <a:pt x="378" y="472"/>
                </a:lnTo>
                <a:lnTo>
                  <a:pt x="378" y="472"/>
                </a:lnTo>
                <a:lnTo>
                  <a:pt x="482" y="364"/>
                </a:lnTo>
                <a:lnTo>
                  <a:pt x="482" y="364"/>
                </a:lnTo>
                <a:lnTo>
                  <a:pt x="522" y="320"/>
                </a:lnTo>
                <a:lnTo>
                  <a:pt x="563" y="276"/>
                </a:lnTo>
                <a:lnTo>
                  <a:pt x="602" y="232"/>
                </a:lnTo>
                <a:lnTo>
                  <a:pt x="623" y="211"/>
                </a:lnTo>
                <a:lnTo>
                  <a:pt x="644" y="189"/>
                </a:lnTo>
                <a:lnTo>
                  <a:pt x="644" y="189"/>
                </a:lnTo>
                <a:lnTo>
                  <a:pt x="646" y="187"/>
                </a:lnTo>
                <a:lnTo>
                  <a:pt x="646" y="187"/>
                </a:lnTo>
                <a:lnTo>
                  <a:pt x="649" y="191"/>
                </a:lnTo>
                <a:lnTo>
                  <a:pt x="653" y="195"/>
                </a:lnTo>
                <a:lnTo>
                  <a:pt x="653" y="195"/>
                </a:lnTo>
                <a:lnTo>
                  <a:pt x="643" y="206"/>
                </a:lnTo>
                <a:lnTo>
                  <a:pt x="643" y="206"/>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1989"/>
                                        </p:tgtEl>
                                        <p:attrNameLst>
                                          <p:attrName>style.visibility</p:attrName>
                                        </p:attrNameLst>
                                      </p:cBhvr>
                                      <p:to>
                                        <p:strVal val="visible"/>
                                      </p:to>
                                    </p:set>
                                    <p:animEffect transition="in" filter="blinds(horizontal)">
                                      <p:cBhvr>
                                        <p:cTn id="7" dur="500"/>
                                        <p:tgtEl>
                                          <p:spTgt spid="132198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21990"/>
                                        </p:tgtEl>
                                        <p:attrNameLst>
                                          <p:attrName>style.visibility</p:attrName>
                                        </p:attrNameLst>
                                      </p:cBhvr>
                                      <p:to>
                                        <p:strVal val="visible"/>
                                      </p:to>
                                    </p:set>
                                    <p:animEffect transition="in" filter="blinds(horizontal)">
                                      <p:cBhvr>
                                        <p:cTn id="11" dur="500"/>
                                        <p:tgtEl>
                                          <p:spTgt spid="132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9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6" name="文本框 1559555"/>
          <p:cNvSpPr txBox="1"/>
          <p:nvPr/>
        </p:nvSpPr>
        <p:spPr>
          <a:xfrm>
            <a:off x="342900" y="1556792"/>
            <a:ext cx="8458200" cy="3046988"/>
          </a:xfrm>
          <a:prstGeom prst="rect">
            <a:avLst/>
          </a:prstGeom>
          <a:noFill/>
          <a:ln w="9525">
            <a:noFill/>
          </a:ln>
        </p:spPr>
        <p:txBody>
          <a:bodyPr>
            <a:spAutoFit/>
          </a:bodyPr>
          <a:lstStyle/>
          <a:p>
            <a:pPr marL="342900" indent="-342900">
              <a:buFont typeface="Wingdings" panose="05000000000000000000" pitchFamily="2" charset="2"/>
              <a:buChar char="l"/>
            </a:pPr>
            <a:r>
              <a:rPr lang="en-US" altLang="zh-CN" sz="2400" b="0" dirty="0">
                <a:latin typeface="Tahoma" panose="020B0604030504040204" pitchFamily="34" charset="0"/>
                <a:ea typeface="华文中宋" panose="02010600040101010101" pitchFamily="2" charset="-122"/>
              </a:rPr>
              <a:t> </a:t>
            </a:r>
            <a:r>
              <a:rPr lang="zh-CN" altLang="en-US" sz="2400" b="0" dirty="0">
                <a:latin typeface="Tahoma" panose="020B0604030504040204" pitchFamily="34" charset="0"/>
                <a:ea typeface="华文中宋" panose="02010600040101010101" pitchFamily="2" charset="-122"/>
              </a:rPr>
              <a:t>分析系统特性究竟采用何种典型输入信号，取决于实际系统在正常工作情况下最常见的输入信号形式。</a:t>
            </a:r>
          </a:p>
          <a:p>
            <a:pPr marL="342900" indent="-342900">
              <a:buFont typeface="Wingdings" panose="05000000000000000000" pitchFamily="2" charset="2"/>
              <a:buChar char="l"/>
            </a:pPr>
            <a:r>
              <a:rPr lang="zh-CN" altLang="en-US" sz="2400" b="0" dirty="0">
                <a:latin typeface="Tahoma" panose="020B0604030504040204" pitchFamily="34" charset="0"/>
                <a:ea typeface="华文中宋" panose="02010600040101010101" pitchFamily="2" charset="-122"/>
              </a:rPr>
              <a:t> 当系统的输入具有突变性质时，可选择阶跃函数为典型输入信号；当系统的输入是随时间增长变化时，可选择斜坡函数为典型输入信号。</a:t>
            </a:r>
          </a:p>
          <a:p>
            <a:pPr marL="342900" indent="-342900">
              <a:buFont typeface="Wingdings" panose="05000000000000000000" pitchFamily="2" charset="2"/>
              <a:buChar char="l"/>
            </a:pPr>
            <a:r>
              <a:rPr lang="zh-CN" altLang="en-US" sz="2400" b="0" dirty="0">
                <a:latin typeface="Tahoma" panose="020B0604030504040204" pitchFamily="34" charset="0"/>
                <a:ea typeface="华文中宋" panose="02010600040101010101" pitchFamily="2" charset="-122"/>
              </a:rPr>
              <a:t> 讨论系统的时域性能指标时，通常选择单位阶跃信号作为典型输入信号。</a:t>
            </a:r>
          </a:p>
        </p:txBody>
      </p:sp>
      <p:sp>
        <p:nvSpPr>
          <p:cNvPr id="3" name="Freeform 56">
            <a:extLst>
              <a:ext uri="{FF2B5EF4-FFF2-40B4-BE49-F238E27FC236}">
                <a16:creationId xmlns:a16="http://schemas.microsoft.com/office/drawing/2014/main" id="{2402B7B3-3B28-4CC5-84F5-722F3943C76C}"/>
              </a:ext>
            </a:extLst>
          </p:cNvPr>
          <p:cNvSpPr>
            <a:spLocks/>
          </p:cNvSpPr>
          <p:nvPr/>
        </p:nvSpPr>
        <p:spPr bwMode="auto">
          <a:xfrm>
            <a:off x="35496" y="980728"/>
            <a:ext cx="9108504" cy="4608513"/>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9556">
                                            <p:txEl>
                                              <p:pRg st="0" end="0"/>
                                            </p:txEl>
                                          </p:spTgt>
                                        </p:tgtEl>
                                        <p:attrNameLst>
                                          <p:attrName>style.visibility</p:attrName>
                                        </p:attrNameLst>
                                      </p:cBhvr>
                                      <p:to>
                                        <p:strVal val="visible"/>
                                      </p:to>
                                    </p:set>
                                    <p:animEffect transition="in" filter="wipe(left)">
                                      <p:cBhvr>
                                        <p:cTn id="7" dur="500"/>
                                        <p:tgtEl>
                                          <p:spTgt spid="1559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9556">
                                            <p:txEl>
                                              <p:pRg st="1" end="1"/>
                                            </p:txEl>
                                          </p:spTgt>
                                        </p:tgtEl>
                                        <p:attrNameLst>
                                          <p:attrName>style.visibility</p:attrName>
                                        </p:attrNameLst>
                                      </p:cBhvr>
                                      <p:to>
                                        <p:strVal val="visible"/>
                                      </p:to>
                                    </p:set>
                                    <p:animEffect transition="in" filter="wipe(left)">
                                      <p:cBhvr>
                                        <p:cTn id="12" dur="500"/>
                                        <p:tgtEl>
                                          <p:spTgt spid="15595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9556">
                                            <p:txEl>
                                              <p:pRg st="2" end="2"/>
                                            </p:txEl>
                                          </p:spTgt>
                                        </p:tgtEl>
                                        <p:attrNameLst>
                                          <p:attrName>style.visibility</p:attrName>
                                        </p:attrNameLst>
                                      </p:cBhvr>
                                      <p:to>
                                        <p:strVal val="visible"/>
                                      </p:to>
                                    </p:set>
                                    <p:animEffect transition="in" filter="wipe(left)">
                                      <p:cBhvr>
                                        <p:cTn id="17" dur="500"/>
                                        <p:tgtEl>
                                          <p:spTgt spid="155955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955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580" name="文本框 1560579"/>
          <p:cNvSpPr txBox="1"/>
          <p:nvPr/>
        </p:nvSpPr>
        <p:spPr>
          <a:xfrm>
            <a:off x="587315" y="283812"/>
            <a:ext cx="8413750" cy="1932145"/>
          </a:xfrm>
          <a:prstGeom prst="rect">
            <a:avLst/>
          </a:prstGeom>
          <a:noFill/>
          <a:ln w="9525">
            <a:noFill/>
          </a:ln>
        </p:spPr>
        <p:txBody>
          <a:bodyPr wrap="square">
            <a:spAutoFit/>
          </a:bodyPr>
          <a:lstStyle/>
          <a:p>
            <a:pPr>
              <a:spcBef>
                <a:spcPct val="20000"/>
              </a:spcBef>
            </a:pPr>
            <a:r>
              <a:rPr lang="en-US" altLang="zh-CN" sz="2400" b="0" dirty="0">
                <a:solidFill>
                  <a:schemeClr val="tx1"/>
                </a:solidFill>
                <a:latin typeface="Times New Roman" panose="02020603050405020304" pitchFamily="18" charset="0"/>
                <a:ea typeface="华文中宋" panose="02010600040101010101" pitchFamily="2" charset="-122"/>
              </a:rPr>
              <a:t>        </a:t>
            </a:r>
            <a:r>
              <a:rPr lang="zh-CN" altLang="en-US" sz="2400" b="0" dirty="0">
                <a:latin typeface="Times New Roman" panose="02020603050405020304" pitchFamily="18" charset="0"/>
                <a:ea typeface="华文中宋" panose="02010600040101010101" pitchFamily="2" charset="-122"/>
              </a:rPr>
              <a:t>系统达到稳态过程之前的过程称为</a:t>
            </a:r>
            <a:r>
              <a:rPr lang="zh-CN" altLang="en-US" sz="2400" b="0" dirty="0">
                <a:solidFill>
                  <a:srgbClr val="0000FF"/>
                </a:solidFill>
                <a:latin typeface="Times New Roman" panose="02020603050405020304" pitchFamily="18" charset="0"/>
                <a:ea typeface="华文细黑" panose="02010600040101010101" pitchFamily="2" charset="-122"/>
              </a:rPr>
              <a:t>瞬态过程</a:t>
            </a:r>
            <a:r>
              <a:rPr lang="zh-CN" altLang="en-US" sz="2400" b="0" dirty="0">
                <a:latin typeface="Times New Roman" panose="02020603050405020304" pitchFamily="18" charset="0"/>
                <a:ea typeface="华文中宋" panose="02010600040101010101" pitchFamily="2" charset="-122"/>
              </a:rPr>
              <a:t>。</a:t>
            </a:r>
            <a:r>
              <a:rPr lang="zh-CN" altLang="en-US" sz="2400" b="0" dirty="0">
                <a:solidFill>
                  <a:srgbClr val="0000FF"/>
                </a:solidFill>
                <a:latin typeface="Times New Roman" panose="02020603050405020304" pitchFamily="18" charset="0"/>
                <a:ea typeface="华文细黑" panose="02010600040101010101" pitchFamily="2" charset="-122"/>
              </a:rPr>
              <a:t>瞬态分析是分析瞬态过程中输出响应的各种运动特性</a:t>
            </a:r>
            <a:r>
              <a:rPr lang="zh-CN" altLang="en-US" sz="2400" b="0" dirty="0">
                <a:latin typeface="Times New Roman" panose="02020603050405020304" pitchFamily="18" charset="0"/>
                <a:ea typeface="华文中宋" panose="02010600040101010101" pitchFamily="2" charset="-122"/>
              </a:rPr>
              <a:t>。理论上说，只有当时间趋于无穷大时，才进入稳态过程，但这在工程上显然是无法进行的。在工程上只讨论输入作用加入一段时间里的瞬态过程，在这段时间里，反映了主要的瞬态性能指标。</a:t>
            </a:r>
          </a:p>
        </p:txBody>
      </p:sp>
      <p:sp>
        <p:nvSpPr>
          <p:cNvPr id="1560583" name="文本框 1560582"/>
          <p:cNvSpPr txBox="1"/>
          <p:nvPr/>
        </p:nvSpPr>
        <p:spPr>
          <a:xfrm>
            <a:off x="-125154" y="2243349"/>
            <a:ext cx="5029200" cy="457200"/>
          </a:xfrm>
          <a:prstGeom prst="rect">
            <a:avLst/>
          </a:prstGeom>
          <a:noFill/>
          <a:ln w="9525">
            <a:noFill/>
          </a:ln>
        </p:spPr>
        <p:txBody>
          <a:bodyPr>
            <a:spAutoFit/>
          </a:bodyPr>
          <a:lstStyle/>
          <a:p>
            <a:r>
              <a:rPr lang="zh-CN" altLang="en-US" sz="2400" b="0" dirty="0">
                <a:latin typeface="Times New Roman" panose="02020603050405020304" pitchFamily="18" charset="0"/>
                <a:ea typeface="华文中宋" panose="02010600040101010101" pitchFamily="2" charset="-122"/>
              </a:rPr>
              <a:t>某系统单位阶跃响应曲线如下：</a:t>
            </a:r>
          </a:p>
        </p:txBody>
      </p:sp>
      <p:sp>
        <p:nvSpPr>
          <p:cNvPr id="17412" name="矩形 1560583"/>
          <p:cNvSpPr/>
          <p:nvPr/>
        </p:nvSpPr>
        <p:spPr>
          <a:xfrm>
            <a:off x="3287713" y="857250"/>
            <a:ext cx="9144000" cy="0"/>
          </a:xfrm>
          <a:prstGeom prst="rect">
            <a:avLst/>
          </a:prstGeom>
          <a:noFill/>
          <a:ln w="9525">
            <a:noFill/>
          </a:ln>
        </p:spPr>
        <p:txBody>
          <a:bodyPr/>
          <a:lstStyle/>
          <a:p>
            <a:endParaRPr lang="zh-CN" altLang="en-US" dirty="0">
              <a:latin typeface="Arial" panose="020B0604020202020204" pitchFamily="34" charset="0"/>
            </a:endParaRPr>
          </a:p>
        </p:txBody>
      </p:sp>
      <p:grpSp>
        <p:nvGrpSpPr>
          <p:cNvPr id="1560585" name="组合 1560584"/>
          <p:cNvGrpSpPr/>
          <p:nvPr/>
        </p:nvGrpSpPr>
        <p:grpSpPr>
          <a:xfrm>
            <a:off x="635000" y="2600747"/>
            <a:ext cx="3475038" cy="2359025"/>
            <a:chOff x="528" y="2614"/>
            <a:chExt cx="2189" cy="1486"/>
          </a:xfrm>
        </p:grpSpPr>
        <p:graphicFrame>
          <p:nvGraphicFramePr>
            <p:cNvPr id="17419" name="对象 1560585"/>
            <p:cNvGraphicFramePr/>
            <p:nvPr>
              <p:extLst>
                <p:ext uri="{D42A27DB-BD31-4B8C-83A1-F6EECF244321}">
                  <p14:modId xmlns:p14="http://schemas.microsoft.com/office/powerpoint/2010/main" val="591348514"/>
                </p:ext>
              </p:extLst>
            </p:nvPr>
          </p:nvGraphicFramePr>
          <p:xfrm>
            <a:off x="528" y="2614"/>
            <a:ext cx="2084" cy="1486"/>
          </p:xfrm>
          <a:graphic>
            <a:graphicData uri="http://schemas.openxmlformats.org/presentationml/2006/ole">
              <mc:AlternateContent xmlns:mc="http://schemas.openxmlformats.org/markup-compatibility/2006">
                <mc:Choice xmlns:v="urn:schemas-microsoft-com:vml" Requires="v">
                  <p:oleObj spid="_x0000_s8207" r:id="rId3" imgW="3397885" imgH="2415540" progId="Visio.Drawing.6">
                    <p:embed/>
                  </p:oleObj>
                </mc:Choice>
                <mc:Fallback>
                  <p:oleObj r:id="rId3" imgW="3397885" imgH="2415540" progId="Visio.Drawing.6">
                    <p:embed/>
                    <p:pic>
                      <p:nvPicPr>
                        <p:cNvPr id="0" name="图片 3086"/>
                        <p:cNvPicPr/>
                        <p:nvPr/>
                      </p:nvPicPr>
                      <p:blipFill>
                        <a:blip r:embed="rId4"/>
                        <a:stretch>
                          <a:fillRect/>
                        </a:stretch>
                      </p:blipFill>
                      <p:spPr>
                        <a:xfrm>
                          <a:off x="528" y="2614"/>
                          <a:ext cx="2084" cy="1486"/>
                        </a:xfrm>
                        <a:prstGeom prst="rect">
                          <a:avLst/>
                        </a:prstGeom>
                        <a:noFill/>
                        <a:ln w="38100">
                          <a:noFill/>
                          <a:miter/>
                        </a:ln>
                      </p:spPr>
                    </p:pic>
                  </p:oleObj>
                </mc:Fallback>
              </mc:AlternateContent>
            </a:graphicData>
          </a:graphic>
        </p:graphicFrame>
        <p:sp>
          <p:nvSpPr>
            <p:cNvPr id="17420" name="矩形 1560586"/>
            <p:cNvSpPr/>
            <p:nvPr/>
          </p:nvSpPr>
          <p:spPr>
            <a:xfrm>
              <a:off x="981" y="3385"/>
              <a:ext cx="692" cy="231"/>
            </a:xfrm>
            <a:prstGeom prst="rect">
              <a:avLst/>
            </a:prstGeom>
            <a:noFill/>
            <a:ln w="9525">
              <a:noFill/>
            </a:ln>
          </p:spPr>
          <p:txBody>
            <a:bodyPr wrap="none">
              <a:spAutoFit/>
            </a:bodyPr>
            <a:lstStyle/>
            <a:p>
              <a:pPr>
                <a:spcBef>
                  <a:spcPct val="0"/>
                </a:spcBef>
              </a:pPr>
              <a:r>
                <a:rPr lang="zh-CN" altLang="en-US" sz="1800" b="0" dirty="0">
                  <a:solidFill>
                    <a:srgbClr val="FF0000"/>
                  </a:solidFill>
                  <a:latin typeface="Times New Roman" panose="02020603050405020304" pitchFamily="18" charset="0"/>
                  <a:ea typeface="华文中宋" panose="02010600040101010101" pitchFamily="2" charset="-122"/>
                </a:rPr>
                <a:t>瞬态过程</a:t>
              </a:r>
            </a:p>
          </p:txBody>
        </p:sp>
        <p:sp>
          <p:nvSpPr>
            <p:cNvPr id="17421" name="矩形 1560587"/>
            <p:cNvSpPr/>
            <p:nvPr/>
          </p:nvSpPr>
          <p:spPr>
            <a:xfrm>
              <a:off x="2025" y="3385"/>
              <a:ext cx="692" cy="231"/>
            </a:xfrm>
            <a:prstGeom prst="rect">
              <a:avLst/>
            </a:prstGeom>
            <a:noFill/>
            <a:ln w="9525">
              <a:noFill/>
            </a:ln>
          </p:spPr>
          <p:txBody>
            <a:bodyPr wrap="none">
              <a:spAutoFit/>
            </a:bodyPr>
            <a:lstStyle/>
            <a:p>
              <a:pPr>
                <a:spcBef>
                  <a:spcPct val="0"/>
                </a:spcBef>
              </a:pPr>
              <a:r>
                <a:rPr lang="zh-CN" altLang="en-US" sz="1800" b="0" dirty="0">
                  <a:solidFill>
                    <a:srgbClr val="FF0000"/>
                  </a:solidFill>
                  <a:latin typeface="Times New Roman" panose="02020603050405020304" pitchFamily="18" charset="0"/>
                  <a:ea typeface="华文中宋" panose="02010600040101010101" pitchFamily="2" charset="-122"/>
                </a:rPr>
                <a:t>稳态过程</a:t>
              </a:r>
            </a:p>
          </p:txBody>
        </p:sp>
      </p:grpSp>
      <p:grpSp>
        <p:nvGrpSpPr>
          <p:cNvPr id="1560589" name="组合 1560588"/>
          <p:cNvGrpSpPr/>
          <p:nvPr/>
        </p:nvGrpSpPr>
        <p:grpSpPr>
          <a:xfrm>
            <a:off x="4597400" y="2565822"/>
            <a:ext cx="3386138" cy="2519362"/>
            <a:chOff x="3024" y="2592"/>
            <a:chExt cx="2133" cy="1587"/>
          </a:xfrm>
        </p:grpSpPr>
        <p:graphicFrame>
          <p:nvGraphicFramePr>
            <p:cNvPr id="17416" name="对象 1560589"/>
            <p:cNvGraphicFramePr/>
            <p:nvPr/>
          </p:nvGraphicFramePr>
          <p:xfrm>
            <a:off x="3024" y="2592"/>
            <a:ext cx="2133" cy="1587"/>
          </p:xfrm>
          <a:graphic>
            <a:graphicData uri="http://schemas.openxmlformats.org/presentationml/2006/ole">
              <mc:AlternateContent xmlns:mc="http://schemas.openxmlformats.org/markup-compatibility/2006">
                <mc:Choice xmlns:v="urn:schemas-microsoft-com:vml" Requires="v">
                  <p:oleObj spid="_x0000_s8208" r:id="rId5" imgW="3495675" imgH="2548890" progId="Visio.Drawing.6">
                    <p:embed/>
                  </p:oleObj>
                </mc:Choice>
                <mc:Fallback>
                  <p:oleObj r:id="rId5" imgW="3495675" imgH="2548890" progId="Visio.Drawing.6">
                    <p:embed/>
                    <p:pic>
                      <p:nvPicPr>
                        <p:cNvPr id="0" name="图片 3087"/>
                        <p:cNvPicPr/>
                        <p:nvPr/>
                      </p:nvPicPr>
                      <p:blipFill>
                        <a:blip r:embed="rId6"/>
                        <a:stretch>
                          <a:fillRect/>
                        </a:stretch>
                      </p:blipFill>
                      <p:spPr>
                        <a:xfrm>
                          <a:off x="3024" y="2592"/>
                          <a:ext cx="2133" cy="1587"/>
                        </a:xfrm>
                        <a:prstGeom prst="rect">
                          <a:avLst/>
                        </a:prstGeom>
                        <a:noFill/>
                        <a:ln w="38100">
                          <a:noFill/>
                          <a:miter/>
                        </a:ln>
                      </p:spPr>
                    </p:pic>
                  </p:oleObj>
                </mc:Fallback>
              </mc:AlternateContent>
            </a:graphicData>
          </a:graphic>
        </p:graphicFrame>
        <p:sp>
          <p:nvSpPr>
            <p:cNvPr id="17417" name="矩形 1560590"/>
            <p:cNvSpPr/>
            <p:nvPr/>
          </p:nvSpPr>
          <p:spPr>
            <a:xfrm>
              <a:off x="3324" y="3456"/>
              <a:ext cx="692" cy="231"/>
            </a:xfrm>
            <a:prstGeom prst="rect">
              <a:avLst/>
            </a:prstGeom>
            <a:noFill/>
            <a:ln w="9525">
              <a:noFill/>
            </a:ln>
          </p:spPr>
          <p:txBody>
            <a:bodyPr wrap="none">
              <a:spAutoFit/>
            </a:bodyPr>
            <a:lstStyle/>
            <a:p>
              <a:pPr>
                <a:spcBef>
                  <a:spcPct val="0"/>
                </a:spcBef>
              </a:pPr>
              <a:r>
                <a:rPr lang="zh-CN" altLang="en-US" sz="1800" b="0" dirty="0">
                  <a:solidFill>
                    <a:srgbClr val="FF0000"/>
                  </a:solidFill>
                  <a:latin typeface="Times New Roman" panose="02020603050405020304" pitchFamily="18" charset="0"/>
                  <a:ea typeface="华文中宋" panose="02010600040101010101" pitchFamily="2" charset="-122"/>
                </a:rPr>
                <a:t>瞬态过程</a:t>
              </a:r>
            </a:p>
          </p:txBody>
        </p:sp>
        <p:sp>
          <p:nvSpPr>
            <p:cNvPr id="17418" name="矩形 1560591"/>
            <p:cNvSpPr/>
            <p:nvPr/>
          </p:nvSpPr>
          <p:spPr>
            <a:xfrm>
              <a:off x="4176" y="3456"/>
              <a:ext cx="692" cy="231"/>
            </a:xfrm>
            <a:prstGeom prst="rect">
              <a:avLst/>
            </a:prstGeom>
            <a:noFill/>
            <a:ln w="9525">
              <a:noFill/>
            </a:ln>
          </p:spPr>
          <p:txBody>
            <a:bodyPr wrap="none">
              <a:spAutoFit/>
            </a:bodyPr>
            <a:lstStyle/>
            <a:p>
              <a:pPr>
                <a:spcBef>
                  <a:spcPct val="0"/>
                </a:spcBef>
              </a:pPr>
              <a:r>
                <a:rPr lang="zh-CN" altLang="en-US" sz="1800" b="0" dirty="0">
                  <a:solidFill>
                    <a:srgbClr val="FF0000"/>
                  </a:solidFill>
                  <a:latin typeface="Times New Roman" panose="02020603050405020304" pitchFamily="18" charset="0"/>
                  <a:ea typeface="华文中宋" panose="02010600040101010101" pitchFamily="2" charset="-122"/>
                </a:rPr>
                <a:t>稳态过程</a:t>
              </a:r>
            </a:p>
          </p:txBody>
        </p:sp>
      </p:grpSp>
      <p:sp>
        <p:nvSpPr>
          <p:cNvPr id="1560593" name="文本框 1560592"/>
          <p:cNvSpPr txBox="1"/>
          <p:nvPr/>
        </p:nvSpPr>
        <p:spPr>
          <a:xfrm>
            <a:off x="203201" y="4860694"/>
            <a:ext cx="8686800" cy="1187450"/>
          </a:xfrm>
          <a:prstGeom prst="rect">
            <a:avLst/>
          </a:prstGeom>
          <a:noFill/>
          <a:ln w="9525">
            <a:noFill/>
          </a:ln>
        </p:spPr>
        <p:txBody>
          <a:bodyPr>
            <a:spAutoFit/>
          </a:bodyPr>
          <a:lstStyle/>
          <a:p>
            <a:r>
              <a:rPr lang="en-US" altLang="zh-CN" sz="2400" b="0" dirty="0">
                <a:latin typeface="Times New Roman" panose="02020603050405020304" pitchFamily="18" charset="0"/>
                <a:ea typeface="华文中宋" panose="02010600040101010101" pitchFamily="2" charset="-122"/>
              </a:rPr>
              <a:t>        </a:t>
            </a:r>
            <a:r>
              <a:rPr lang="zh-CN" altLang="en-US" sz="2400" b="0" dirty="0">
                <a:latin typeface="Times New Roman" panose="02020603050405020304" pitchFamily="18" charset="0"/>
                <a:ea typeface="华文中宋" panose="02010600040101010101" pitchFamily="2" charset="-122"/>
              </a:rPr>
              <a:t>通常以阶跃响应来衡量系统控制性能的优劣和定义瞬态过程的时域性能指标。稳定的随动系统（不计扰动）的单位阶跃响应函数有衰减振荡和单调变化两种。</a:t>
            </a:r>
          </a:p>
        </p:txBody>
      </p:sp>
      <p:sp>
        <p:nvSpPr>
          <p:cNvPr id="14" name="Freeform 56">
            <a:extLst>
              <a:ext uri="{FF2B5EF4-FFF2-40B4-BE49-F238E27FC236}">
                <a16:creationId xmlns:a16="http://schemas.microsoft.com/office/drawing/2014/main" id="{BC9A3314-BB3B-466B-8355-0FFD5EE5CB70}"/>
              </a:ext>
            </a:extLst>
          </p:cNvPr>
          <p:cNvSpPr>
            <a:spLocks/>
          </p:cNvSpPr>
          <p:nvPr/>
        </p:nvSpPr>
        <p:spPr bwMode="auto">
          <a:xfrm>
            <a:off x="1" y="115915"/>
            <a:ext cx="9149904" cy="2232958"/>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0580">
                                            <p:txEl>
                                              <p:pRg st="0" end="0"/>
                                            </p:txEl>
                                          </p:spTgt>
                                        </p:tgtEl>
                                        <p:attrNameLst>
                                          <p:attrName>style.visibility</p:attrName>
                                        </p:attrNameLst>
                                      </p:cBhvr>
                                      <p:to>
                                        <p:strVal val="visible"/>
                                      </p:to>
                                    </p:set>
                                    <p:animEffect transition="in" filter="wipe(left)">
                                      <p:cBhvr>
                                        <p:cTn id="7" dur="500"/>
                                        <p:tgtEl>
                                          <p:spTgt spid="15605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0583">
                                            <p:txEl>
                                              <p:pRg st="0" end="0"/>
                                            </p:txEl>
                                          </p:spTgt>
                                        </p:tgtEl>
                                        <p:attrNameLst>
                                          <p:attrName>style.visibility</p:attrName>
                                        </p:attrNameLst>
                                      </p:cBhvr>
                                      <p:to>
                                        <p:strVal val="visible"/>
                                      </p:to>
                                    </p:set>
                                    <p:animEffect transition="in" filter="wipe(left)">
                                      <p:cBhvr>
                                        <p:cTn id="12" dur="500"/>
                                        <p:tgtEl>
                                          <p:spTgt spid="15605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60585"/>
                                        </p:tgtEl>
                                        <p:attrNameLst>
                                          <p:attrName>style.visibility</p:attrName>
                                        </p:attrNameLst>
                                      </p:cBhvr>
                                      <p:to>
                                        <p:strVal val="visible"/>
                                      </p:to>
                                    </p:set>
                                    <p:animEffect transition="in" filter="wipe(left)">
                                      <p:cBhvr>
                                        <p:cTn id="17" dur="500"/>
                                        <p:tgtEl>
                                          <p:spTgt spid="15605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60589"/>
                                        </p:tgtEl>
                                        <p:attrNameLst>
                                          <p:attrName>style.visibility</p:attrName>
                                        </p:attrNameLst>
                                      </p:cBhvr>
                                      <p:to>
                                        <p:strVal val="visible"/>
                                      </p:to>
                                    </p:set>
                                    <p:animEffect transition="in" filter="wipe(left)">
                                      <p:cBhvr>
                                        <p:cTn id="22" dur="500"/>
                                        <p:tgtEl>
                                          <p:spTgt spid="15605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0593">
                                            <p:txEl>
                                              <p:pRg st="0" end="0"/>
                                            </p:txEl>
                                          </p:spTgt>
                                        </p:tgtEl>
                                        <p:attrNameLst>
                                          <p:attrName>style.visibility</p:attrName>
                                        </p:attrNameLst>
                                      </p:cBhvr>
                                      <p:to>
                                        <p:strVal val="visible"/>
                                      </p:to>
                                    </p:set>
                                    <p:animEffect transition="in" filter="wipe(left)">
                                      <p:cBhvr>
                                        <p:cTn id="27" dur="500"/>
                                        <p:tgtEl>
                                          <p:spTgt spid="15605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0580" grpId="0" build="p"/>
      <p:bldP spid="1560583" grpId="0" build="p"/>
      <p:bldP spid="156059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323009">
            <a:extLst>
              <a:ext uri="{FF2B5EF4-FFF2-40B4-BE49-F238E27FC236}">
                <a16:creationId xmlns:a16="http://schemas.microsoft.com/office/drawing/2014/main" id="{1468681C-007B-4176-BFDD-BF8AB9887746}"/>
              </a:ext>
            </a:extLst>
          </p:cNvPr>
          <p:cNvSpPr txBox="1">
            <a:spLocks/>
          </p:cNvSpPr>
          <p:nvPr/>
        </p:nvSpPr>
        <p:spPr>
          <a:xfrm>
            <a:off x="914400" y="-58184"/>
            <a:ext cx="6105525" cy="822888"/>
          </a:xfrm>
          <a:prstGeom prst="rect">
            <a:avLst/>
          </a:prstGeom>
        </p:spPr>
        <p:txBody>
          <a:bodyPr vert="horz" wrap="square" lIns="91440" tIns="45720" rIns="91440" bIns="45720" numCol="1" rtlCol="0" anchor="ctr" anchorCtr="0" compatLnSpc="1">
            <a:normAutofit/>
          </a:bodyPr>
          <a:lst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defTabSz="914400" fontAlgn="auto">
              <a:lnSpc>
                <a:spcPct val="100000"/>
              </a:lnSpc>
              <a:spcAft>
                <a:spcPts val="0"/>
              </a:spcAft>
              <a:defRPr/>
            </a:pPr>
            <a:r>
              <a:rPr lang="en-US" altLang="zh-CN" b="1" cap="none" noProof="1">
                <a:solidFill>
                  <a:srgbClr val="000000"/>
                </a:solidFill>
                <a:effectLst>
                  <a:outerShdw blurRad="38100" dist="38100" dir="2700000">
                    <a:srgbClr val="C0C0C0"/>
                  </a:outerShdw>
                </a:effectLst>
                <a:latin typeface="黑体" panose="02010609060101010101" pitchFamily="49" charset="-122"/>
                <a:ea typeface="黑体" panose="02010609060101010101" pitchFamily="49" charset="-122"/>
              </a:rPr>
              <a:t> </a:t>
            </a:r>
            <a:r>
              <a:rPr lang="zh-CN" altLang="en-US" b="1" cap="none" noProof="1">
                <a:solidFill>
                  <a:srgbClr val="000000"/>
                </a:solidFill>
                <a:effectLst>
                  <a:outerShdw blurRad="38100" dist="38100" dir="2700000">
                    <a:srgbClr val="C0C0C0"/>
                  </a:outerShdw>
                </a:effectLst>
                <a:latin typeface="黑体" panose="02010609060101010101" pitchFamily="49" charset="-122"/>
                <a:ea typeface="黑体" panose="02010609060101010101" pitchFamily="49" charset="-122"/>
              </a:rPr>
              <a:t>二</a:t>
            </a:r>
            <a:r>
              <a:rPr lang="en-US" altLang="zh-CN" b="1" cap="none" noProof="1">
                <a:solidFill>
                  <a:srgbClr val="000000"/>
                </a:solidFill>
                <a:effectLst>
                  <a:outerShdw blurRad="38100" dist="38100" dir="2700000">
                    <a:srgbClr val="C0C0C0"/>
                  </a:outerShdw>
                </a:effectLst>
                <a:latin typeface="黑体" panose="02010609060101010101" pitchFamily="49" charset="-122"/>
                <a:ea typeface="黑体" panose="02010609060101010101" pitchFamily="49" charset="-122"/>
              </a:rPr>
              <a:t>.  </a:t>
            </a:r>
            <a:r>
              <a:rPr lang="zh-CN" altLang="en-US" b="1" cap="none" noProof="1">
                <a:solidFill>
                  <a:srgbClr val="000000"/>
                </a:solidFill>
                <a:effectLst>
                  <a:outerShdw blurRad="38100" dist="38100" dir="2700000">
                    <a:srgbClr val="C0C0C0"/>
                  </a:outerShdw>
                </a:effectLst>
                <a:latin typeface="黑体" panose="02010609060101010101" pitchFamily="49" charset="-122"/>
                <a:ea typeface="黑体" panose="02010609060101010101" pitchFamily="49" charset="-122"/>
              </a:rPr>
              <a:t>阶跃响应的时域性能指标</a:t>
            </a:r>
          </a:p>
        </p:txBody>
      </p:sp>
      <p:sp>
        <p:nvSpPr>
          <p:cNvPr id="4" name="文本框 3">
            <a:extLst>
              <a:ext uri="{FF2B5EF4-FFF2-40B4-BE49-F238E27FC236}">
                <a16:creationId xmlns:a16="http://schemas.microsoft.com/office/drawing/2014/main" id="{E0BF5BC7-DF26-4093-8F55-D651777550BE}"/>
              </a:ext>
            </a:extLst>
          </p:cNvPr>
          <p:cNvSpPr txBox="1"/>
          <p:nvPr/>
        </p:nvSpPr>
        <p:spPr>
          <a:xfrm>
            <a:off x="2124075" y="666750"/>
            <a:ext cx="4679950" cy="1117600"/>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en-US" altLang="zh-CN"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c(t) =     c</a:t>
            </a:r>
            <a:r>
              <a:rPr kumimoji="0" lang="en-US" altLang="zh-CN" sz="2800" kern="1200" cap="none" spc="0" normalizeH="0" baseline="-2500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a:t>
            </a:r>
            <a:r>
              <a:rPr kumimoji="0" lang="en-US" altLang="zh-CN"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      +     c</a:t>
            </a:r>
            <a:r>
              <a:rPr kumimoji="0" lang="en-US" altLang="zh-CN" sz="2800" kern="1200" cap="none" spc="0" normalizeH="0" baseline="-2500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ss</a:t>
            </a:r>
            <a:r>
              <a:rPr kumimoji="0" lang="en-US" altLang="zh-CN"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 </a:t>
            </a:r>
          </a:p>
          <a:p>
            <a:pPr marR="0" defTabSz="914400">
              <a:lnSpc>
                <a:spcPct val="120000"/>
              </a:lnSpc>
              <a:spcBef>
                <a:spcPct val="0"/>
              </a:spcBef>
              <a:buClrTx/>
              <a:buSzTx/>
              <a:buFontTx/>
              <a:buNone/>
              <a:defRPr/>
            </a:pPr>
            <a:r>
              <a:rPr kumimoji="0" lang="en-US" altLang="zh-CN"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 </a:t>
            </a:r>
            <a:r>
              <a:rPr kumimoji="0" lang="zh-CN" altLang="en-US"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暂态响应 </a:t>
            </a:r>
            <a:r>
              <a:rPr kumimoji="0" lang="en-US" altLang="zh-CN"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稳态响应</a:t>
            </a:r>
          </a:p>
        </p:txBody>
      </p:sp>
      <p:sp>
        <p:nvSpPr>
          <p:cNvPr id="13" name="文本框 12">
            <a:extLst>
              <a:ext uri="{FF2B5EF4-FFF2-40B4-BE49-F238E27FC236}">
                <a16:creationId xmlns:a16="http://schemas.microsoft.com/office/drawing/2014/main" id="{C2884673-2A92-41BD-9538-7E95961BADE3}"/>
              </a:ext>
            </a:extLst>
          </p:cNvPr>
          <p:cNvSpPr txBox="1"/>
          <p:nvPr/>
        </p:nvSpPr>
        <p:spPr>
          <a:xfrm>
            <a:off x="87744" y="1724288"/>
            <a:ext cx="3671888" cy="519113"/>
          </a:xfrm>
          <a:prstGeom prst="rect">
            <a:avLst/>
          </a:prstGeom>
          <a:noFill/>
          <a:ln w="9525">
            <a:noFill/>
          </a:ln>
        </p:spPr>
        <p:txBody>
          <a:bodyPr>
            <a:spAutoFit/>
          </a:bodyPr>
          <a:lstStyle/>
          <a:p>
            <a:pPr marR="0" defTabSz="914400">
              <a:buClrTx/>
              <a:buSzTx/>
              <a:buFontTx/>
              <a:buNone/>
              <a:defRPr/>
            </a:pPr>
            <a:r>
              <a:rPr kumimoji="0" lang="en-US" altLang="zh-CN" sz="2400" b="0" kern="1200" cap="none" spc="0" normalizeH="0" baseline="0" noProof="1">
                <a:solidFill>
                  <a:srgbClr val="CC0000"/>
                </a:solidFill>
                <a:latin typeface="Times New Roman" panose="02020603050405020304" pitchFamily="18" charset="0"/>
                <a:ea typeface="宋体" panose="02010600030101010101" pitchFamily="2" charset="-122"/>
                <a:cs typeface="+mn-cs"/>
              </a:rPr>
              <a:t> </a:t>
            </a:r>
            <a:r>
              <a:rPr kumimoji="0" lang="en-US" altLang="zh-CN" sz="2800" kern="1200" cap="none" spc="0" normalizeH="0" baseline="0" noProof="1">
                <a:solidFill>
                  <a:srgbClr val="CC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1. </a:t>
            </a:r>
            <a:r>
              <a:rPr kumimoji="0" lang="zh-CN" altLang="en-US" sz="2800" kern="1200" cap="none" spc="0" normalizeH="0" baseline="0" noProof="1">
                <a:solidFill>
                  <a:srgbClr val="CC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暂态性能指标</a:t>
            </a:r>
            <a:r>
              <a:rPr kumimoji="0" lang="zh-CN" altLang="en-US" sz="2400" b="0" kern="1200" cap="none" spc="0" normalizeH="0" baseline="0" noProof="1">
                <a:solidFill>
                  <a:schemeClr val="tx1"/>
                </a:solidFill>
                <a:latin typeface="Times New Roman" panose="02020603050405020304" pitchFamily="18" charset="0"/>
                <a:ea typeface="宋体" panose="02010600030101010101" pitchFamily="2" charset="-122"/>
                <a:cs typeface="+mn-cs"/>
              </a:rPr>
              <a:t> </a:t>
            </a:r>
          </a:p>
        </p:txBody>
      </p:sp>
      <p:graphicFrame>
        <p:nvGraphicFramePr>
          <p:cNvPr id="14" name="内容占位符 1323010">
            <a:extLst>
              <a:ext uri="{FF2B5EF4-FFF2-40B4-BE49-F238E27FC236}">
                <a16:creationId xmlns:a16="http://schemas.microsoft.com/office/drawing/2014/main" id="{0B093A8C-5E53-4ECE-8379-9241C5BFB70F}"/>
              </a:ext>
            </a:extLst>
          </p:cNvPr>
          <p:cNvGraphicFramePr>
            <a:graphicFrameLocks/>
          </p:cNvGraphicFramePr>
          <p:nvPr>
            <p:extLst>
              <p:ext uri="{D42A27DB-BD31-4B8C-83A1-F6EECF244321}">
                <p14:modId xmlns:p14="http://schemas.microsoft.com/office/powerpoint/2010/main" val="3024170091"/>
              </p:ext>
            </p:extLst>
          </p:nvPr>
        </p:nvGraphicFramePr>
        <p:xfrm>
          <a:off x="179512" y="2727264"/>
          <a:ext cx="4135438" cy="2520000"/>
        </p:xfrm>
        <a:graphic>
          <a:graphicData uri="http://schemas.openxmlformats.org/presentationml/2006/ole">
            <mc:AlternateContent xmlns:mc="http://schemas.openxmlformats.org/markup-compatibility/2006">
              <mc:Choice xmlns:v="urn:schemas-microsoft-com:vml" Requires="v">
                <p:oleObj spid="_x0000_s51208" r:id="rId3" imgW="5362575" imgH="3371850" progId="MSPhotoEd.3">
                  <p:embed/>
                </p:oleObj>
              </mc:Choice>
              <mc:Fallback>
                <p:oleObj r:id="rId3" imgW="5362575" imgH="3371850" progId="MSPhotoEd.3">
                  <p:embed/>
                  <p:pic>
                    <p:nvPicPr>
                      <p:cNvPr id="1323011" name="内容占位符 1323010"/>
                      <p:cNvPicPr/>
                      <p:nvPr/>
                    </p:nvPicPr>
                    <p:blipFill>
                      <a:blip r:embed="rId4"/>
                      <a:srcRect b="10246"/>
                      <a:stretch>
                        <a:fillRect/>
                      </a:stretch>
                    </p:blipFill>
                    <p:spPr>
                      <a:xfrm>
                        <a:off x="179512" y="2727264"/>
                        <a:ext cx="4135438" cy="2520000"/>
                      </a:xfrm>
                      <a:prstGeom prst="rect">
                        <a:avLst/>
                      </a:prstGeom>
                      <a:noFill/>
                      <a:ln w="38100">
                        <a:miter/>
                      </a:ln>
                    </p:spPr>
                  </p:pic>
                </p:oleObj>
              </mc:Fallback>
            </mc:AlternateContent>
          </a:graphicData>
        </a:graphic>
      </p:graphicFrame>
      <p:graphicFrame>
        <p:nvGraphicFramePr>
          <p:cNvPr id="15" name="内容占位符 1323013">
            <a:extLst>
              <a:ext uri="{FF2B5EF4-FFF2-40B4-BE49-F238E27FC236}">
                <a16:creationId xmlns:a16="http://schemas.microsoft.com/office/drawing/2014/main" id="{DC80AFB4-020C-4386-9B96-D63B63AB74D5}"/>
              </a:ext>
            </a:extLst>
          </p:cNvPr>
          <p:cNvGraphicFramePr>
            <a:graphicFrameLocks/>
          </p:cNvGraphicFramePr>
          <p:nvPr>
            <p:extLst>
              <p:ext uri="{D42A27DB-BD31-4B8C-83A1-F6EECF244321}">
                <p14:modId xmlns:p14="http://schemas.microsoft.com/office/powerpoint/2010/main" val="4121760668"/>
              </p:ext>
            </p:extLst>
          </p:nvPr>
        </p:nvGraphicFramePr>
        <p:xfrm>
          <a:off x="4829052" y="2675552"/>
          <a:ext cx="4063427" cy="2520000"/>
        </p:xfrm>
        <a:graphic>
          <a:graphicData uri="http://schemas.openxmlformats.org/presentationml/2006/ole">
            <mc:AlternateContent xmlns:mc="http://schemas.openxmlformats.org/markup-compatibility/2006">
              <mc:Choice xmlns:v="urn:schemas-microsoft-com:vml" Requires="v">
                <p:oleObj spid="_x0000_s51209" r:id="rId5" imgW="5286375" imgH="3810000" progId="MSPhotoEd.3">
                  <p:embed/>
                </p:oleObj>
              </mc:Choice>
              <mc:Fallback>
                <p:oleObj r:id="rId5" imgW="5286375" imgH="3810000" progId="MSPhotoEd.3">
                  <p:embed/>
                  <p:pic>
                    <p:nvPicPr>
                      <p:cNvPr id="1323014" name="内容占位符 1323013"/>
                      <p:cNvPicPr/>
                      <p:nvPr/>
                    </p:nvPicPr>
                    <p:blipFill>
                      <a:blip r:embed="rId6"/>
                      <a:srcRect b="11507"/>
                      <a:stretch>
                        <a:fillRect/>
                      </a:stretch>
                    </p:blipFill>
                    <p:spPr>
                      <a:xfrm>
                        <a:off x="4829052" y="2675552"/>
                        <a:ext cx="4063427" cy="2520000"/>
                      </a:xfrm>
                      <a:prstGeom prst="rect">
                        <a:avLst/>
                      </a:prstGeom>
                      <a:noFill/>
                      <a:ln w="38100">
                        <a:miter/>
                      </a:ln>
                    </p:spPr>
                  </p:pic>
                </p:oleObj>
              </mc:Fallback>
            </mc:AlternateContent>
          </a:graphicData>
        </a:graphic>
      </p:graphicFrame>
      <p:sp>
        <p:nvSpPr>
          <p:cNvPr id="17" name="文本框 16">
            <a:extLst>
              <a:ext uri="{FF2B5EF4-FFF2-40B4-BE49-F238E27FC236}">
                <a16:creationId xmlns:a16="http://schemas.microsoft.com/office/drawing/2014/main" id="{8D56815E-ADCD-4B41-8041-BBE6FDAF06E4}"/>
              </a:ext>
            </a:extLst>
          </p:cNvPr>
          <p:cNvSpPr txBox="1"/>
          <p:nvPr/>
        </p:nvSpPr>
        <p:spPr>
          <a:xfrm>
            <a:off x="3737936" y="5483364"/>
            <a:ext cx="1668128" cy="707886"/>
          </a:xfrm>
          <a:prstGeom prst="rect">
            <a:avLst/>
          </a:prstGeom>
          <a:noFill/>
        </p:spPr>
        <p:txBody>
          <a:bodyPr wrap="square" rtlCol="0">
            <a:spAutoFit/>
          </a:bodyPr>
          <a:lstStyle/>
          <a:p>
            <a:r>
              <a:rPr lang="zh-CN" altLang="en-US" dirty="0"/>
              <a:t>图</a:t>
            </a:r>
            <a:r>
              <a:rPr lang="en-US" altLang="zh-CN" dirty="0"/>
              <a:t>3-2</a:t>
            </a:r>
            <a:endParaRPr lang="zh-CN" altLang="en-US" dirty="0"/>
          </a:p>
        </p:txBody>
      </p:sp>
    </p:spTree>
    <p:extLst>
      <p:ext uri="{BB962C8B-B14F-4D97-AF65-F5344CB8AC3E}">
        <p14:creationId xmlns:p14="http://schemas.microsoft.com/office/powerpoint/2010/main" val="4275611437"/>
      </p:ext>
    </p:extLst>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checkerboard(across)">
                                      <p:cBhvr>
                                        <p:cTn id="16" dur="500"/>
                                        <p:tgtEl>
                                          <p:spTgt spid="13"/>
                                        </p:tgtEl>
                                      </p:cBhvr>
                                    </p:animEffect>
                                  </p:childTnLst>
                                </p:cTn>
                              </p:par>
                            </p:childTnLst>
                          </p:cTn>
                        </p:par>
                        <p:par>
                          <p:cTn id="17" fill="hold">
                            <p:stCondLst>
                              <p:cond delay="500"/>
                            </p:stCondLst>
                            <p:childTnLst>
                              <p:par>
                                <p:cTn id="18" presetID="5" presetClass="entr" presetSubtype="1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checkerboard(across)">
                                      <p:cBhvr>
                                        <p:cTn id="20" dur="500"/>
                                        <p:tgtEl>
                                          <p:spTgt spid="14"/>
                                        </p:tgtEl>
                                      </p:cBhvr>
                                    </p:animEffect>
                                  </p:childTnLst>
                                </p:cTn>
                              </p:par>
                            </p:childTnLst>
                          </p:cTn>
                        </p:par>
                        <p:par>
                          <p:cTn id="21" fill="hold">
                            <p:stCondLst>
                              <p:cond delay="1000"/>
                            </p:stCondLst>
                            <p:childTnLst>
                              <p:par>
                                <p:cTn id="22" presetID="5" presetClass="entr" presetSubtype="1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checkerboard(across)">
                                      <p:cBhvr>
                                        <p:cTn id="24" dur="20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circle(in)">
                                      <p:cBhvr>
                                        <p:cTn id="29"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3"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4039" name="对象 1324038"/>
          <p:cNvGraphicFramePr/>
          <p:nvPr>
            <p:extLst>
              <p:ext uri="{D42A27DB-BD31-4B8C-83A1-F6EECF244321}">
                <p14:modId xmlns:p14="http://schemas.microsoft.com/office/powerpoint/2010/main" val="3111707018"/>
              </p:ext>
            </p:extLst>
          </p:nvPr>
        </p:nvGraphicFramePr>
        <p:xfrm>
          <a:off x="88515" y="4725144"/>
          <a:ext cx="3959225" cy="1011238"/>
        </p:xfrm>
        <a:graphic>
          <a:graphicData uri="http://schemas.openxmlformats.org/presentationml/2006/ole">
            <mc:AlternateContent xmlns:mc="http://schemas.openxmlformats.org/markup-compatibility/2006">
              <mc:Choice xmlns:v="urn:schemas-microsoft-com:vml" Requires="v">
                <p:oleObj spid="_x0000_s10255" r:id="rId3" imgW="1866265" imgH="482600" progId="Equation.3">
                  <p:embed/>
                </p:oleObj>
              </mc:Choice>
              <mc:Fallback>
                <p:oleObj r:id="rId3" imgW="1866265" imgH="482600" progId="Equation.3">
                  <p:embed/>
                  <p:pic>
                    <p:nvPicPr>
                      <p:cNvPr id="0" name="图片 3078"/>
                      <p:cNvPicPr/>
                      <p:nvPr/>
                    </p:nvPicPr>
                    <p:blipFill>
                      <a:blip r:embed="rId4"/>
                      <a:stretch>
                        <a:fillRect/>
                      </a:stretch>
                    </p:blipFill>
                    <p:spPr>
                      <a:xfrm>
                        <a:off x="88515" y="4725144"/>
                        <a:ext cx="3959225" cy="1011238"/>
                      </a:xfrm>
                      <a:prstGeom prst="rect">
                        <a:avLst/>
                      </a:prstGeom>
                      <a:solidFill>
                        <a:srgbClr val="FFCCCC"/>
                      </a:solidFill>
                      <a:ln w="38100">
                        <a:noFill/>
                        <a:miter/>
                      </a:ln>
                    </p:spPr>
                  </p:pic>
                </p:oleObj>
              </mc:Fallback>
            </mc:AlternateContent>
          </a:graphicData>
        </a:graphic>
      </p:graphicFrame>
      <p:graphicFrame>
        <p:nvGraphicFramePr>
          <p:cNvPr id="1324041" name="对象 1324040"/>
          <p:cNvGraphicFramePr/>
          <p:nvPr>
            <p:extLst>
              <p:ext uri="{D42A27DB-BD31-4B8C-83A1-F6EECF244321}">
                <p14:modId xmlns:p14="http://schemas.microsoft.com/office/powerpoint/2010/main" val="3346230299"/>
              </p:ext>
            </p:extLst>
          </p:nvPr>
        </p:nvGraphicFramePr>
        <p:xfrm>
          <a:off x="4714148" y="3899741"/>
          <a:ext cx="4428876" cy="2164557"/>
        </p:xfrm>
        <a:graphic>
          <a:graphicData uri="http://schemas.openxmlformats.org/presentationml/2006/ole">
            <mc:AlternateContent xmlns:mc="http://schemas.openxmlformats.org/markup-compatibility/2006">
              <mc:Choice xmlns:v="urn:schemas-microsoft-com:vml" Requires="v">
                <p:oleObj spid="_x0000_s10256" r:id="rId5" imgW="5362575" imgH="3371850" progId="MSPhotoEd.3">
                  <p:embed/>
                </p:oleObj>
              </mc:Choice>
              <mc:Fallback>
                <p:oleObj r:id="rId5" imgW="5362575" imgH="3371850" progId="MSPhotoEd.3">
                  <p:embed/>
                  <p:pic>
                    <p:nvPicPr>
                      <p:cNvPr id="0" name="图片 3079"/>
                      <p:cNvPicPr/>
                      <p:nvPr/>
                    </p:nvPicPr>
                    <p:blipFill>
                      <a:blip r:embed="rId6"/>
                      <a:srcRect b="13406"/>
                      <a:stretch>
                        <a:fillRect/>
                      </a:stretch>
                    </p:blipFill>
                    <p:spPr>
                      <a:xfrm>
                        <a:off x="4714148" y="3899741"/>
                        <a:ext cx="4428876" cy="2164557"/>
                      </a:xfrm>
                      <a:prstGeom prst="rect">
                        <a:avLst/>
                      </a:prstGeom>
                      <a:noFill/>
                      <a:ln w="38100">
                        <a:noFill/>
                        <a:miter/>
                      </a:ln>
                    </p:spPr>
                  </p:pic>
                </p:oleObj>
              </mc:Fallback>
            </mc:AlternateContent>
          </a:graphicData>
        </a:graphic>
      </p:graphicFrame>
      <p:grpSp>
        <p:nvGrpSpPr>
          <p:cNvPr id="2" name="组合 1">
            <a:extLst>
              <a:ext uri="{FF2B5EF4-FFF2-40B4-BE49-F238E27FC236}">
                <a16:creationId xmlns:a16="http://schemas.microsoft.com/office/drawing/2014/main" id="{09B6E42E-6612-4018-A31B-2C4400786091}"/>
              </a:ext>
            </a:extLst>
          </p:cNvPr>
          <p:cNvGrpSpPr/>
          <p:nvPr/>
        </p:nvGrpSpPr>
        <p:grpSpPr>
          <a:xfrm>
            <a:off x="1481482" y="-56912"/>
            <a:ext cx="5915610" cy="580788"/>
            <a:chOff x="1481482" y="-56912"/>
            <a:chExt cx="5915610" cy="580788"/>
          </a:xfrm>
        </p:grpSpPr>
        <p:sp>
          <p:nvSpPr>
            <p:cNvPr id="1324034" name="文本框 1324033"/>
            <p:cNvSpPr txBox="1"/>
            <p:nvPr/>
          </p:nvSpPr>
          <p:spPr>
            <a:xfrm>
              <a:off x="1481483" y="-56912"/>
              <a:ext cx="2082405" cy="461665"/>
            </a:xfrm>
            <a:prstGeom prst="rect">
              <a:avLst/>
            </a:prstGeom>
            <a:noFill/>
            <a:ln w="9525">
              <a:noFill/>
            </a:ln>
          </p:spPr>
          <p:txBody>
            <a:bodyPr wrap="square">
              <a:spAutoFit/>
            </a:bodyPr>
            <a:lstStyle/>
            <a:p>
              <a:pPr marR="0" algn="just" defTabSz="914400">
                <a:spcBef>
                  <a:spcPct val="0"/>
                </a:spcBef>
                <a:buClrTx/>
                <a:buSzTx/>
                <a:buFontTx/>
                <a:buNone/>
                <a:defRPr/>
              </a:pPr>
              <a:r>
                <a:rPr kumimoji="0" lang="en-US" altLang="zh-CN"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(1</a:t>
              </a:r>
              <a:r>
                <a:rPr lang="en-US" altLang="zh-CN" sz="2400" u="sng" noProof="1">
                  <a:solidFill>
                    <a:srgbClr val="FF0000"/>
                  </a:solidFill>
                  <a:effectLst>
                    <a:outerShdw blurRad="38100" dist="38100" dir="2700000">
                      <a:srgbClr val="000000"/>
                    </a:outerShdw>
                  </a:effectLst>
                  <a:latin typeface="Times New Roman" panose="02020603050405020304" pitchFamily="18" charset="0"/>
                </a:rPr>
                <a:t>) </a:t>
              </a:r>
              <a:r>
                <a:rPr lang="zh-CN" altLang="en-US" sz="2400" u="sng" noProof="1">
                  <a:solidFill>
                    <a:srgbClr val="FF0000"/>
                  </a:solidFill>
                  <a:effectLst>
                    <a:outerShdw blurRad="38100" dist="38100" dir="2700000">
                      <a:srgbClr val="000000"/>
                    </a:outerShdw>
                  </a:effectLst>
                  <a:latin typeface="Times New Roman" panose="02020603050405020304" pitchFamily="18" charset="0"/>
                </a:rPr>
                <a:t>延迟时间</a:t>
              </a:r>
              <a:r>
                <a:rPr lang="en-US" altLang="zh-CN" sz="2400" u="sng" noProof="1">
                  <a:solidFill>
                    <a:srgbClr val="FF0000"/>
                  </a:solidFill>
                  <a:effectLst>
                    <a:outerShdw blurRad="38100" dist="38100" dir="2700000">
                      <a:srgbClr val="000000"/>
                    </a:outerShdw>
                  </a:effectLst>
                  <a:latin typeface="Times New Roman" panose="02020603050405020304" pitchFamily="18" charset="0"/>
                </a:rPr>
                <a:t>t</a:t>
              </a:r>
              <a:r>
                <a:rPr lang="en-US" altLang="zh-CN" sz="2400" u="sng" baseline="-25000" noProof="1">
                  <a:solidFill>
                    <a:srgbClr val="FF0000"/>
                  </a:solidFill>
                  <a:effectLst>
                    <a:outerShdw blurRad="38100" dist="38100" dir="2700000">
                      <a:srgbClr val="000000"/>
                    </a:outerShdw>
                  </a:effectLst>
                  <a:latin typeface="Times New Roman" panose="02020603050405020304" pitchFamily="18" charset="0"/>
                </a:rPr>
                <a:t>d</a:t>
              </a:r>
              <a:endPar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endParaRPr>
            </a:p>
          </p:txBody>
        </p:sp>
        <p:grpSp>
          <p:nvGrpSpPr>
            <p:cNvPr id="9" name="组合 8">
              <a:extLst>
                <a:ext uri="{FF2B5EF4-FFF2-40B4-BE49-F238E27FC236}">
                  <a16:creationId xmlns:a16="http://schemas.microsoft.com/office/drawing/2014/main" id="{CCD768DE-1CC8-4014-AE5D-1750E1B5BE90}"/>
                </a:ext>
              </a:extLst>
            </p:cNvPr>
            <p:cNvGrpSpPr/>
            <p:nvPr/>
          </p:nvGrpSpPr>
          <p:grpSpPr>
            <a:xfrm>
              <a:off x="1481482" y="31866"/>
              <a:ext cx="2095223" cy="492010"/>
              <a:chOff x="960436" y="1084087"/>
              <a:chExt cx="1451323" cy="747749"/>
            </a:xfrm>
            <a:noFill/>
          </p:grpSpPr>
          <p:sp>
            <p:nvSpPr>
              <p:cNvPr id="10" name="椭圆 31">
                <a:extLst>
                  <a:ext uri="{FF2B5EF4-FFF2-40B4-BE49-F238E27FC236}">
                    <a16:creationId xmlns:a16="http://schemas.microsoft.com/office/drawing/2014/main" id="{70385BDA-56A7-4045-B98D-C2B650010C7E}"/>
                  </a:ext>
                </a:extLst>
              </p:cNvPr>
              <p:cNvSpPr/>
              <p:nvPr/>
            </p:nvSpPr>
            <p:spPr>
              <a:xfrm>
                <a:off x="960436" y="1084087"/>
                <a:ext cx="1451323" cy="5993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22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000" b="1" spc="-300" dirty="0">
                  <a:solidFill>
                    <a:schemeClr val="tx1"/>
                  </a:solidFill>
                  <a:latin typeface="方正静蕾简体" panose="02000000000000000000" pitchFamily="2" charset="-122"/>
                  <a:ea typeface="方正静蕾简体" panose="02000000000000000000" pitchFamily="2" charset="-122"/>
                </a:endParaRPr>
              </a:p>
            </p:txBody>
          </p:sp>
          <p:sp>
            <p:nvSpPr>
              <p:cNvPr id="11" name="矩形 208929">
                <a:extLst>
                  <a:ext uri="{FF2B5EF4-FFF2-40B4-BE49-F238E27FC236}">
                    <a16:creationId xmlns:a16="http://schemas.microsoft.com/office/drawing/2014/main" id="{1D4E1BF1-A242-4FFB-BF84-C54D8EA2AB31}"/>
                  </a:ext>
                </a:extLst>
              </p:cNvPr>
              <p:cNvSpPr/>
              <p:nvPr/>
            </p:nvSpPr>
            <p:spPr>
              <a:xfrm>
                <a:off x="960438" y="1123950"/>
                <a:ext cx="184731" cy="707886"/>
              </a:xfrm>
              <a:prstGeom prst="rect">
                <a:avLst/>
              </a:prstGeom>
              <a:grpFill/>
              <a:ln w="9525">
                <a:noFill/>
              </a:ln>
            </p:spPr>
            <p:txBody>
              <a:bodyPr wrap="none">
                <a:spAutoFit/>
              </a:bodyPr>
              <a:lstStyle/>
              <a:p>
                <a:endParaRPr lang="zh-CN" altLang="en-US" b="1" dirty="0">
                  <a:solidFill>
                    <a:schemeClr val="accent2"/>
                  </a:solidFill>
                  <a:latin typeface="Times New Roman" panose="02020603050405020304" pitchFamily="18" charset="0"/>
                  <a:ea typeface="楷体_GB2312" pitchFamily="49" charset="-122"/>
                </a:endParaRPr>
              </a:p>
            </p:txBody>
          </p:sp>
        </p:grpSp>
        <p:sp>
          <p:nvSpPr>
            <p:cNvPr id="13" name="文本框 12">
              <a:extLst>
                <a:ext uri="{FF2B5EF4-FFF2-40B4-BE49-F238E27FC236}">
                  <a16:creationId xmlns:a16="http://schemas.microsoft.com/office/drawing/2014/main" id="{29BB1DBE-F476-47BB-B07A-8CC7CC62E7A7}"/>
                </a:ext>
              </a:extLst>
            </p:cNvPr>
            <p:cNvSpPr txBox="1"/>
            <p:nvPr/>
          </p:nvSpPr>
          <p:spPr>
            <a:xfrm>
              <a:off x="3737501" y="-15725"/>
              <a:ext cx="3659591" cy="461665"/>
            </a:xfrm>
            <a:prstGeom prst="rect">
              <a:avLst/>
            </a:prstGeom>
            <a:noFill/>
          </p:spPr>
          <p:txBody>
            <a:bodyPr wrap="square">
              <a:spAutoFit/>
            </a:bodyPr>
            <a:lstStyle/>
            <a:p>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从</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0</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到</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0.5c(∞)</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的时间。</a:t>
              </a:r>
              <a:endParaRPr lang="zh-CN" altLang="en-US" sz="2400" dirty="0"/>
            </a:p>
          </p:txBody>
        </p:sp>
      </p:grpSp>
      <p:grpSp>
        <p:nvGrpSpPr>
          <p:cNvPr id="3" name="组合 2">
            <a:extLst>
              <a:ext uri="{FF2B5EF4-FFF2-40B4-BE49-F238E27FC236}">
                <a16:creationId xmlns:a16="http://schemas.microsoft.com/office/drawing/2014/main" id="{B1A9D842-5D5C-499A-95C6-9CD93E17F894}"/>
              </a:ext>
            </a:extLst>
          </p:cNvPr>
          <p:cNvGrpSpPr/>
          <p:nvPr/>
        </p:nvGrpSpPr>
        <p:grpSpPr>
          <a:xfrm>
            <a:off x="1331640" y="515006"/>
            <a:ext cx="6221702" cy="871713"/>
            <a:chOff x="1331640" y="515006"/>
            <a:chExt cx="6221702" cy="871713"/>
          </a:xfrm>
        </p:grpSpPr>
        <p:sp>
          <p:nvSpPr>
            <p:cNvPr id="1324035" name="文本框 1324034"/>
            <p:cNvSpPr txBox="1"/>
            <p:nvPr/>
          </p:nvSpPr>
          <p:spPr>
            <a:xfrm>
              <a:off x="1490357" y="515006"/>
              <a:ext cx="6062985" cy="871713"/>
            </a:xfrm>
            <a:prstGeom prst="rect">
              <a:avLst/>
            </a:prstGeom>
            <a:noFill/>
            <a:ln w="9525">
              <a:noFill/>
            </a:ln>
          </p:spPr>
          <p:txBody>
            <a:bodyPr wrap="square">
              <a:spAutoFit/>
            </a:bodyPr>
            <a:lstStyle/>
            <a:p>
              <a:pPr marR="0" algn="just" defTabSz="914400" eaLnBrk="0" hangingPunct="0">
                <a:lnSpc>
                  <a:spcPct val="110000"/>
                </a:lnSpc>
                <a:spcBef>
                  <a:spcPct val="0"/>
                </a:spcBef>
                <a:buClrTx/>
                <a:buSzTx/>
                <a:buFontTx/>
                <a:buNone/>
                <a:defRPr/>
              </a:pPr>
              <a:r>
                <a:rPr kumimoji="0" lang="en-US" altLang="zh-CN"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(2)</a:t>
              </a:r>
              <a:r>
                <a:rPr kumimoji="0" lang="zh-CN" altLang="en-US"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上升时间</a:t>
              </a:r>
              <a:r>
                <a:rPr kumimoji="0" lang="en-US" altLang="zh-CN"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t</a:t>
              </a:r>
              <a:r>
                <a:rPr kumimoji="0" lang="en-US" altLang="zh-CN" sz="2400" u="sng" kern="1200" cap="none" spc="0" normalizeH="0" baseline="-2500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r  </a:t>
              </a:r>
              <a:r>
                <a:rPr kumimoji="0" lang="en-US" altLang="zh-CN" sz="2400" kern="1200" cap="none" spc="0" normalizeH="0" baseline="-2500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第一次达到</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的时间。</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无超调时</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 c(t)</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从</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0.1 c(∞)</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到</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0.9 c(∞)</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的时间。</a:t>
              </a:r>
              <a:endParaRPr kumimoji="0" lang="zh-CN" altLang="en-US" sz="2400" b="0" kern="1200" cap="none" spc="0" normalizeH="0" baseline="0" noProof="1">
                <a:solidFill>
                  <a:srgbClr val="000099"/>
                </a:solidFill>
                <a:latin typeface="Times New Roman" panose="02020603050405020304" pitchFamily="18" charset="0"/>
                <a:ea typeface="宋体" panose="02010600030101010101" pitchFamily="2" charset="-122"/>
                <a:cs typeface="+mn-cs"/>
              </a:endParaRPr>
            </a:p>
          </p:txBody>
        </p:sp>
        <p:grpSp>
          <p:nvGrpSpPr>
            <p:cNvPr id="15" name="组合 14">
              <a:extLst>
                <a:ext uri="{FF2B5EF4-FFF2-40B4-BE49-F238E27FC236}">
                  <a16:creationId xmlns:a16="http://schemas.microsoft.com/office/drawing/2014/main" id="{752FD6F3-E1B8-40E0-9FBD-1AD023FF1D7A}"/>
                </a:ext>
              </a:extLst>
            </p:cNvPr>
            <p:cNvGrpSpPr/>
            <p:nvPr/>
          </p:nvGrpSpPr>
          <p:grpSpPr>
            <a:xfrm>
              <a:off x="1331640" y="589855"/>
              <a:ext cx="2095223" cy="531763"/>
              <a:chOff x="960436" y="1084087"/>
              <a:chExt cx="1451323" cy="747749"/>
            </a:xfrm>
            <a:noFill/>
          </p:grpSpPr>
          <p:sp>
            <p:nvSpPr>
              <p:cNvPr id="16" name="椭圆 31">
                <a:extLst>
                  <a:ext uri="{FF2B5EF4-FFF2-40B4-BE49-F238E27FC236}">
                    <a16:creationId xmlns:a16="http://schemas.microsoft.com/office/drawing/2014/main" id="{ABFB3748-F846-49EE-994C-D9DDC837A88F}"/>
                  </a:ext>
                </a:extLst>
              </p:cNvPr>
              <p:cNvSpPr/>
              <p:nvPr/>
            </p:nvSpPr>
            <p:spPr>
              <a:xfrm>
                <a:off x="960436" y="1084087"/>
                <a:ext cx="1451323" cy="5993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22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000" b="1" spc="-300" dirty="0">
                  <a:solidFill>
                    <a:schemeClr val="tx1"/>
                  </a:solidFill>
                  <a:latin typeface="方正静蕾简体" panose="02000000000000000000" pitchFamily="2" charset="-122"/>
                  <a:ea typeface="方正静蕾简体" panose="02000000000000000000" pitchFamily="2" charset="-122"/>
                </a:endParaRPr>
              </a:p>
            </p:txBody>
          </p:sp>
          <p:sp>
            <p:nvSpPr>
              <p:cNvPr id="17" name="矩形 208929">
                <a:extLst>
                  <a:ext uri="{FF2B5EF4-FFF2-40B4-BE49-F238E27FC236}">
                    <a16:creationId xmlns:a16="http://schemas.microsoft.com/office/drawing/2014/main" id="{8A6CF5B7-1A9C-486D-8701-1E1EDB13FD4F}"/>
                  </a:ext>
                </a:extLst>
              </p:cNvPr>
              <p:cNvSpPr/>
              <p:nvPr/>
            </p:nvSpPr>
            <p:spPr>
              <a:xfrm>
                <a:off x="960438" y="1123950"/>
                <a:ext cx="184731" cy="707886"/>
              </a:xfrm>
              <a:prstGeom prst="rect">
                <a:avLst/>
              </a:prstGeom>
              <a:grpFill/>
              <a:ln w="9525">
                <a:noFill/>
              </a:ln>
            </p:spPr>
            <p:txBody>
              <a:bodyPr wrap="none">
                <a:spAutoFit/>
              </a:bodyPr>
              <a:lstStyle/>
              <a:p>
                <a:endParaRPr lang="zh-CN" altLang="en-US" b="1" dirty="0">
                  <a:solidFill>
                    <a:schemeClr val="accent2"/>
                  </a:solidFill>
                  <a:latin typeface="Times New Roman" panose="02020603050405020304" pitchFamily="18" charset="0"/>
                  <a:ea typeface="楷体_GB2312" pitchFamily="49" charset="-122"/>
                </a:endParaRPr>
              </a:p>
            </p:txBody>
          </p:sp>
        </p:grpSp>
      </p:grpSp>
      <p:grpSp>
        <p:nvGrpSpPr>
          <p:cNvPr id="4" name="组合 3">
            <a:extLst>
              <a:ext uri="{FF2B5EF4-FFF2-40B4-BE49-F238E27FC236}">
                <a16:creationId xmlns:a16="http://schemas.microsoft.com/office/drawing/2014/main" id="{91FC7A53-A6C1-487C-936D-A1796B7ECAE0}"/>
              </a:ext>
            </a:extLst>
          </p:cNvPr>
          <p:cNvGrpSpPr/>
          <p:nvPr/>
        </p:nvGrpSpPr>
        <p:grpSpPr>
          <a:xfrm>
            <a:off x="65947" y="1512936"/>
            <a:ext cx="6191250" cy="624907"/>
            <a:chOff x="65947" y="1512936"/>
            <a:chExt cx="6191250" cy="624907"/>
          </a:xfrm>
        </p:grpSpPr>
        <p:sp>
          <p:nvSpPr>
            <p:cNvPr id="1324036" name="文本框 1324035"/>
            <p:cNvSpPr txBox="1"/>
            <p:nvPr/>
          </p:nvSpPr>
          <p:spPr>
            <a:xfrm>
              <a:off x="65947" y="1512936"/>
              <a:ext cx="6191250" cy="461665"/>
            </a:xfrm>
            <a:prstGeom prst="rect">
              <a:avLst/>
            </a:prstGeom>
            <a:noFill/>
            <a:ln w="9525">
              <a:noFill/>
            </a:ln>
          </p:spPr>
          <p:txBody>
            <a:bodyPr>
              <a:spAutoFit/>
            </a:bodyPr>
            <a:lstStyle/>
            <a:p>
              <a:pPr marR="0" algn="just" defTabSz="914400" eaLnBrk="0" hangingPunct="0">
                <a:spcBef>
                  <a:spcPct val="0"/>
                </a:spcBef>
                <a:buClrTx/>
                <a:buSzTx/>
                <a:buFontTx/>
                <a:buNone/>
                <a:defRPr/>
              </a:pPr>
              <a:r>
                <a:rPr kumimoji="0" lang="en-US" altLang="zh-CN"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(3) </a:t>
              </a:r>
              <a:r>
                <a:rPr kumimoji="0" lang="zh-CN" altLang="en-US"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峰值时间</a:t>
              </a:r>
              <a:r>
                <a:rPr kumimoji="0" lang="en-US" altLang="zh-CN"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t</a:t>
              </a:r>
              <a:r>
                <a:rPr kumimoji="0" lang="en-US" altLang="zh-CN" sz="2400" u="sng" kern="1200" cap="none" spc="0" normalizeH="0" baseline="-2500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p</a:t>
              </a:r>
              <a:r>
                <a:rPr lang="zh-CN" altLang="en-US" sz="2400" noProof="1">
                  <a:solidFill>
                    <a:srgbClr val="CC0000"/>
                  </a:solidFill>
                  <a:effectLst>
                    <a:outerShdw blurRad="38100" dist="38100" dir="2700000">
                      <a:srgbClr val="000000"/>
                    </a:outerShdw>
                  </a:effectLst>
                  <a:latin typeface="Times New Roman" panose="02020603050405020304" pitchFamily="18" charset="0"/>
                </a:rPr>
                <a:t>     </a:t>
              </a:r>
              <a:r>
                <a:rPr kumimoji="0" lang="zh-CN" altLang="en-US"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到达第一个峰值的时间</a:t>
              </a:r>
              <a:endParaRPr kumimoji="0" lang="zh-CN" altLang="en-US" sz="2400" b="0" kern="1200" cap="none" spc="0" normalizeH="0" baseline="0" noProof="1">
                <a:solidFill>
                  <a:schemeClr val="tx1"/>
                </a:solidFill>
                <a:latin typeface="Times New Roman" panose="02020603050405020304" pitchFamily="18" charset="0"/>
                <a:ea typeface="宋体" panose="02010600030101010101" pitchFamily="2" charset="-122"/>
                <a:cs typeface="+mn-cs"/>
              </a:endParaRPr>
            </a:p>
          </p:txBody>
        </p:sp>
        <p:grpSp>
          <p:nvGrpSpPr>
            <p:cNvPr id="24" name="组合 23">
              <a:extLst>
                <a:ext uri="{FF2B5EF4-FFF2-40B4-BE49-F238E27FC236}">
                  <a16:creationId xmlns:a16="http://schemas.microsoft.com/office/drawing/2014/main" id="{DA9E38B8-C4DE-4157-B8DE-DAABCB34DCCF}"/>
                </a:ext>
              </a:extLst>
            </p:cNvPr>
            <p:cNvGrpSpPr/>
            <p:nvPr/>
          </p:nvGrpSpPr>
          <p:grpSpPr>
            <a:xfrm>
              <a:off x="107863" y="1606080"/>
              <a:ext cx="2095223" cy="531763"/>
              <a:chOff x="960436" y="1084087"/>
              <a:chExt cx="1451323" cy="747749"/>
            </a:xfrm>
            <a:noFill/>
          </p:grpSpPr>
          <p:sp>
            <p:nvSpPr>
              <p:cNvPr id="25" name="椭圆 31">
                <a:extLst>
                  <a:ext uri="{FF2B5EF4-FFF2-40B4-BE49-F238E27FC236}">
                    <a16:creationId xmlns:a16="http://schemas.microsoft.com/office/drawing/2014/main" id="{53B05DAE-3018-4474-8A65-0386445A027D}"/>
                  </a:ext>
                </a:extLst>
              </p:cNvPr>
              <p:cNvSpPr/>
              <p:nvPr/>
            </p:nvSpPr>
            <p:spPr>
              <a:xfrm>
                <a:off x="960436" y="1084087"/>
                <a:ext cx="1451323" cy="5993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22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000" b="1" spc="-300" dirty="0">
                  <a:solidFill>
                    <a:schemeClr val="tx1"/>
                  </a:solidFill>
                  <a:latin typeface="方正静蕾简体" panose="02000000000000000000" pitchFamily="2" charset="-122"/>
                  <a:ea typeface="方正静蕾简体" panose="02000000000000000000" pitchFamily="2" charset="-122"/>
                </a:endParaRPr>
              </a:p>
            </p:txBody>
          </p:sp>
          <p:sp>
            <p:nvSpPr>
              <p:cNvPr id="26" name="矩形 208929">
                <a:extLst>
                  <a:ext uri="{FF2B5EF4-FFF2-40B4-BE49-F238E27FC236}">
                    <a16:creationId xmlns:a16="http://schemas.microsoft.com/office/drawing/2014/main" id="{3F1F0EA5-2487-4404-9746-992C08C923D7}"/>
                  </a:ext>
                </a:extLst>
              </p:cNvPr>
              <p:cNvSpPr/>
              <p:nvPr/>
            </p:nvSpPr>
            <p:spPr>
              <a:xfrm>
                <a:off x="960438" y="1123950"/>
                <a:ext cx="184731" cy="707886"/>
              </a:xfrm>
              <a:prstGeom prst="rect">
                <a:avLst/>
              </a:prstGeom>
              <a:grpFill/>
              <a:ln w="9525">
                <a:noFill/>
              </a:ln>
            </p:spPr>
            <p:txBody>
              <a:bodyPr wrap="none">
                <a:spAutoFit/>
              </a:bodyPr>
              <a:lstStyle/>
              <a:p>
                <a:endParaRPr lang="zh-CN" altLang="en-US" b="1" dirty="0">
                  <a:solidFill>
                    <a:schemeClr val="accent2"/>
                  </a:solidFill>
                  <a:latin typeface="Times New Roman" panose="02020603050405020304" pitchFamily="18" charset="0"/>
                  <a:ea typeface="楷体_GB2312" pitchFamily="49" charset="-122"/>
                </a:endParaRPr>
              </a:p>
            </p:txBody>
          </p:sp>
        </p:grpSp>
      </p:grpSp>
      <p:grpSp>
        <p:nvGrpSpPr>
          <p:cNvPr id="5" name="组合 4">
            <a:extLst>
              <a:ext uri="{FF2B5EF4-FFF2-40B4-BE49-F238E27FC236}">
                <a16:creationId xmlns:a16="http://schemas.microsoft.com/office/drawing/2014/main" id="{5B561B47-FFCE-473D-BF30-E9E1806D3CD3}"/>
              </a:ext>
            </a:extLst>
          </p:cNvPr>
          <p:cNvGrpSpPr/>
          <p:nvPr/>
        </p:nvGrpSpPr>
        <p:grpSpPr>
          <a:xfrm>
            <a:off x="35496" y="2087950"/>
            <a:ext cx="7812360" cy="1328762"/>
            <a:chOff x="35496" y="2087950"/>
            <a:chExt cx="7812360" cy="1328762"/>
          </a:xfrm>
        </p:grpSpPr>
        <p:sp>
          <p:nvSpPr>
            <p:cNvPr id="1324037" name="文本框 1324036"/>
            <p:cNvSpPr txBox="1"/>
            <p:nvPr/>
          </p:nvSpPr>
          <p:spPr>
            <a:xfrm>
              <a:off x="35496" y="2087950"/>
              <a:ext cx="7812360" cy="1328762"/>
            </a:xfrm>
            <a:prstGeom prst="rect">
              <a:avLst/>
            </a:prstGeom>
            <a:noFill/>
            <a:ln w="9525">
              <a:noFill/>
            </a:ln>
          </p:spPr>
          <p:txBody>
            <a:bodyPr wrap="square">
              <a:spAutoFit/>
            </a:bodyPr>
            <a:lstStyle/>
            <a:p>
              <a:pPr marR="0" defTabSz="914400">
                <a:lnSpc>
                  <a:spcPct val="115000"/>
                </a:lnSpc>
                <a:spcBef>
                  <a:spcPct val="0"/>
                </a:spcBef>
                <a:buClrTx/>
                <a:buSzTx/>
                <a:buFontTx/>
                <a:buNone/>
                <a:defRPr/>
              </a:pPr>
              <a:r>
                <a:rPr kumimoji="0" lang="en-US" altLang="zh-CN"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(4)</a:t>
              </a:r>
              <a:r>
                <a:rPr lang="zh-CN" altLang="en-US" sz="2400" u="sng" noProof="1">
                  <a:solidFill>
                    <a:srgbClr val="FF0000"/>
                  </a:solidFill>
                  <a:effectLst>
                    <a:outerShdw blurRad="38100" dist="38100" dir="2700000">
                      <a:srgbClr val="000000"/>
                    </a:outerShdw>
                  </a:effectLst>
                  <a:latin typeface="Times New Roman" panose="02020603050405020304" pitchFamily="18" charset="0"/>
                </a:rPr>
                <a:t>调节时间</a:t>
              </a:r>
              <a:r>
                <a:rPr lang="en-US" altLang="zh-CN" sz="2400" u="sng" noProof="1">
                  <a:solidFill>
                    <a:srgbClr val="FF0000"/>
                  </a:solidFill>
                  <a:effectLst>
                    <a:outerShdw blurRad="38100" dist="38100" dir="2700000">
                      <a:srgbClr val="000000"/>
                    </a:outerShdw>
                  </a:effectLst>
                  <a:latin typeface="Times New Roman" panose="02020603050405020304" pitchFamily="18" charset="0"/>
                </a:rPr>
                <a:t>t</a:t>
              </a:r>
              <a:r>
                <a:rPr lang="en-US" altLang="zh-CN" sz="2400" u="sng" baseline="-25000" noProof="1">
                  <a:solidFill>
                    <a:srgbClr val="FF0000"/>
                  </a:solidFill>
                  <a:effectLst>
                    <a:outerShdw blurRad="38100" dist="38100" dir="2700000">
                      <a:srgbClr val="000000"/>
                    </a:outerShdw>
                  </a:effectLst>
                  <a:latin typeface="Times New Roman" panose="02020603050405020304" pitchFamily="18" charset="0"/>
                </a:rPr>
                <a:t>s</a:t>
              </a:r>
              <a:r>
                <a:rPr lang="zh-CN" altLang="en-US" sz="2400" u="sng" noProof="1">
                  <a:solidFill>
                    <a:srgbClr val="FF0000"/>
                  </a:solidFill>
                  <a:effectLst>
                    <a:outerShdw blurRad="38100" dist="38100" dir="2700000">
                      <a:srgbClr val="000000"/>
                    </a:outerShdw>
                  </a:effectLst>
                  <a:latin typeface="Times New Roman" panose="02020603050405020304" pitchFamily="18" charset="0"/>
                </a:rPr>
                <a:t> </a:t>
              </a:r>
              <a:r>
                <a:rPr lang="zh-CN" altLang="en-US" sz="2400" noProof="1">
                  <a:solidFill>
                    <a:srgbClr val="FF0000"/>
                  </a:solidFill>
                  <a:effectLst>
                    <a:outerShdw blurRad="38100" dist="38100" dir="2700000">
                      <a:srgbClr val="000000"/>
                    </a:outerShdw>
                  </a:effectLst>
                  <a:latin typeface="Times New Roman" panose="02020603050405020304" pitchFamily="18" charset="0"/>
                </a:rPr>
                <a:t>     </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衰减到与稳态值之差不超过</a:t>
              </a:r>
              <a:r>
                <a:rPr kumimoji="0" lang="en-US" altLang="en-US" sz="2400" kern="1200" cap="none" spc="0" normalizeH="0" baseline="0" noProof="1">
                  <a:solidFill>
                    <a:schemeClr val="tx1"/>
                  </a:solidFill>
                  <a:effectLst>
                    <a:outerShdw blurRad="38100" dist="38100" dir="2700000">
                      <a:srgbClr val="FFFFFF"/>
                    </a:outerShdw>
                  </a:effectLst>
                  <a:latin typeface="Times New Roman" panose="02020603050405020304" pitchFamily="18" charset="0"/>
                  <a:ea typeface="宋体" panose="02010600030101010101" pitchFamily="2" charset="-122"/>
                  <a:cs typeface="+mn-cs"/>
                </a:rPr>
                <a:t>±</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2%</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或</a:t>
              </a:r>
              <a:r>
                <a:rPr kumimoji="0" lang="en-US" altLang="en-US" sz="2400" kern="1200" cap="none" spc="0" normalizeH="0" baseline="0" noProof="1">
                  <a:solidFill>
                    <a:schemeClr val="tx1"/>
                  </a:solidFill>
                  <a:effectLst>
                    <a:outerShdw blurRad="38100" dist="38100" dir="2700000">
                      <a:srgbClr val="FFFFFF"/>
                    </a:outerShdw>
                  </a:effectLst>
                  <a:latin typeface="Times New Roman" panose="02020603050405020304" pitchFamily="18" charset="0"/>
                  <a:ea typeface="宋体" panose="02010600030101010101" pitchFamily="2" charset="-122"/>
                  <a:cs typeface="+mn-cs"/>
                </a:rPr>
                <a:t>±</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5%</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所需的时间。通常该偏差范围称作误差带</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用符号</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表示，即 </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kumimoji="0" lang="en-US" altLang="zh-CN" sz="2400" b="0" kern="1200" cap="none" spc="0" normalizeH="0" baseline="0" noProof="1">
                  <a:solidFill>
                    <a:srgbClr val="000099"/>
                  </a:solidFill>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=2%</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或 </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kumimoji="0" lang="en-US" altLang="zh-CN" sz="2400" b="0" kern="1200" cap="none" spc="0" normalizeH="0" baseline="0" noProof="1">
                  <a:solidFill>
                    <a:srgbClr val="000099"/>
                  </a:solidFill>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=5%</a:t>
              </a:r>
              <a:r>
                <a:rPr kumimoji="0" lang="en-US" altLang="zh-CN" sz="2400" kern="1200" cap="none" spc="0" normalizeH="0" baseline="0" noProof="1">
                  <a:solidFill>
                    <a:schemeClr val="folHlink"/>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  </a:t>
              </a:r>
              <a:r>
                <a:rPr kumimoji="0" lang="zh-CN" altLang="en-US" sz="2400" kern="1200" cap="none" spc="0" normalizeH="0" baseline="0" noProof="1">
                  <a:solidFill>
                    <a:schemeClr val="folHlink"/>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endParaRPr kumimoji="0" lang="zh-CN" altLang="en-US" sz="2400" b="0" kern="1200" cap="none" spc="0" normalizeH="0" baseline="0" noProof="1">
                <a:solidFill>
                  <a:schemeClr val="folHlink"/>
                </a:solidFill>
                <a:latin typeface="Times New Roman" panose="02020603050405020304" pitchFamily="18" charset="0"/>
                <a:ea typeface="宋体" panose="02010600030101010101" pitchFamily="2" charset="-122"/>
                <a:cs typeface="+mn-cs"/>
              </a:endParaRPr>
            </a:p>
          </p:txBody>
        </p:sp>
        <p:grpSp>
          <p:nvGrpSpPr>
            <p:cNvPr id="27" name="组合 26">
              <a:extLst>
                <a:ext uri="{FF2B5EF4-FFF2-40B4-BE49-F238E27FC236}">
                  <a16:creationId xmlns:a16="http://schemas.microsoft.com/office/drawing/2014/main" id="{95C58F0E-2872-4F8D-8D2F-2D0CCFB8479F}"/>
                </a:ext>
              </a:extLst>
            </p:cNvPr>
            <p:cNvGrpSpPr/>
            <p:nvPr/>
          </p:nvGrpSpPr>
          <p:grpSpPr>
            <a:xfrm>
              <a:off x="65947" y="2148035"/>
              <a:ext cx="2095223" cy="531763"/>
              <a:chOff x="960436" y="1084087"/>
              <a:chExt cx="1451323" cy="747749"/>
            </a:xfrm>
            <a:noFill/>
          </p:grpSpPr>
          <p:sp>
            <p:nvSpPr>
              <p:cNvPr id="28" name="椭圆 31">
                <a:extLst>
                  <a:ext uri="{FF2B5EF4-FFF2-40B4-BE49-F238E27FC236}">
                    <a16:creationId xmlns:a16="http://schemas.microsoft.com/office/drawing/2014/main" id="{D9F955A6-D215-4157-9D4C-429441B27475}"/>
                  </a:ext>
                </a:extLst>
              </p:cNvPr>
              <p:cNvSpPr/>
              <p:nvPr/>
            </p:nvSpPr>
            <p:spPr>
              <a:xfrm>
                <a:off x="960436" y="1084087"/>
                <a:ext cx="1451323" cy="5993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22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000" b="1" spc="-300" dirty="0">
                  <a:solidFill>
                    <a:schemeClr val="tx1"/>
                  </a:solidFill>
                  <a:latin typeface="方正静蕾简体" panose="02000000000000000000" pitchFamily="2" charset="-122"/>
                  <a:ea typeface="方正静蕾简体" panose="02000000000000000000" pitchFamily="2" charset="-122"/>
                </a:endParaRPr>
              </a:p>
            </p:txBody>
          </p:sp>
          <p:sp>
            <p:nvSpPr>
              <p:cNvPr id="29" name="矩形 208929">
                <a:extLst>
                  <a:ext uri="{FF2B5EF4-FFF2-40B4-BE49-F238E27FC236}">
                    <a16:creationId xmlns:a16="http://schemas.microsoft.com/office/drawing/2014/main" id="{51439789-E6AB-41CD-8A50-37B2C94B0444}"/>
                  </a:ext>
                </a:extLst>
              </p:cNvPr>
              <p:cNvSpPr/>
              <p:nvPr/>
            </p:nvSpPr>
            <p:spPr>
              <a:xfrm>
                <a:off x="960438" y="1123950"/>
                <a:ext cx="184731" cy="707886"/>
              </a:xfrm>
              <a:prstGeom prst="rect">
                <a:avLst/>
              </a:prstGeom>
              <a:grpFill/>
              <a:ln w="9525">
                <a:noFill/>
              </a:ln>
            </p:spPr>
            <p:txBody>
              <a:bodyPr wrap="none">
                <a:spAutoFit/>
              </a:bodyPr>
              <a:lstStyle/>
              <a:p>
                <a:endParaRPr lang="zh-CN" altLang="en-US" b="1" dirty="0">
                  <a:solidFill>
                    <a:schemeClr val="accent2"/>
                  </a:solidFill>
                  <a:latin typeface="Times New Roman" panose="02020603050405020304" pitchFamily="18" charset="0"/>
                  <a:ea typeface="楷体_GB2312" pitchFamily="49" charset="-122"/>
                </a:endParaRPr>
              </a:p>
            </p:txBody>
          </p:sp>
        </p:grpSp>
      </p:grpSp>
      <p:grpSp>
        <p:nvGrpSpPr>
          <p:cNvPr id="6" name="组合 5">
            <a:extLst>
              <a:ext uri="{FF2B5EF4-FFF2-40B4-BE49-F238E27FC236}">
                <a16:creationId xmlns:a16="http://schemas.microsoft.com/office/drawing/2014/main" id="{F78EAF30-0BEF-4DC0-8189-8F7020F43D7E}"/>
              </a:ext>
            </a:extLst>
          </p:cNvPr>
          <p:cNvGrpSpPr/>
          <p:nvPr/>
        </p:nvGrpSpPr>
        <p:grpSpPr>
          <a:xfrm>
            <a:off x="-92720" y="3443468"/>
            <a:ext cx="7646062" cy="849628"/>
            <a:chOff x="-92720" y="3443468"/>
            <a:chExt cx="7646062" cy="849628"/>
          </a:xfrm>
        </p:grpSpPr>
        <p:sp>
          <p:nvSpPr>
            <p:cNvPr id="1324038" name="文本框 1324037"/>
            <p:cNvSpPr txBox="1"/>
            <p:nvPr/>
          </p:nvSpPr>
          <p:spPr>
            <a:xfrm>
              <a:off x="-92720" y="3443468"/>
              <a:ext cx="7646062" cy="849628"/>
            </a:xfrm>
            <a:prstGeom prst="rect">
              <a:avLst/>
            </a:prstGeom>
            <a:noFill/>
            <a:ln w="9525">
              <a:noFill/>
            </a:ln>
          </p:spPr>
          <p:txBody>
            <a:bodyPr wrap="square">
              <a:spAutoFit/>
            </a:bodyPr>
            <a:lstStyle/>
            <a:p>
              <a:pPr marR="0" algn="just" defTabSz="914400" eaLnBrk="0" hangingPunct="0">
                <a:spcBef>
                  <a:spcPct val="0"/>
                </a:spcBef>
                <a:buClrTx/>
                <a:buSzTx/>
                <a:buFontTx/>
                <a:buNone/>
                <a:defRPr/>
              </a:pPr>
              <a:r>
                <a:rPr kumimoji="0" lang="en-US" altLang="zh-CN" sz="2400" kern="1200" cap="none" spc="0" normalizeH="0" baseline="0" noProof="1">
                  <a:solidFill>
                    <a:srgbClr val="CC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(5)</a:t>
              </a:r>
              <a:r>
                <a:rPr kumimoji="0" lang="zh-CN" altLang="en-US"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超调量</a:t>
              </a:r>
              <a:r>
                <a:rPr kumimoji="0" lang="en-US" altLang="zh-CN" sz="2400" u="sng" kern="1200" cap="none" spc="0" normalizeH="0" baseline="0" noProof="1">
                  <a:solidFill>
                    <a:srgbClr val="FF0000"/>
                  </a:solidFill>
                  <a:effectLst>
                    <a:outerShdw blurRad="38100" dist="38100" dir="2700000">
                      <a:srgbClr val="000000"/>
                    </a:outerShdw>
                  </a:effectLst>
                  <a:latin typeface="Symbol" panose="05050102010706020507" pitchFamily="18" charset="2"/>
                  <a:ea typeface="宋体" panose="02010600030101010101" pitchFamily="2" charset="-122"/>
                  <a:cs typeface="+mn-cs"/>
                </a:rPr>
                <a:t>s</a:t>
              </a:r>
              <a:r>
                <a:rPr kumimoji="0" lang="en-US" altLang="zh-CN" sz="2400" u="sng" kern="1200" cap="none" spc="0" normalizeH="0" baseline="0" noProof="1">
                  <a:solidFill>
                    <a:srgbClr val="FF00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lang="zh-CN" altLang="en-US" sz="2400" noProof="1">
                  <a:solidFill>
                    <a:srgbClr val="CC0000"/>
                  </a:solidFill>
                  <a:effectLst>
                    <a:outerShdw blurRad="38100" dist="38100" dir="2700000">
                      <a:srgbClr val="000000"/>
                    </a:outerShdw>
                  </a:effectLst>
                  <a:latin typeface="Times New Roman" panose="02020603050405020304" pitchFamily="18" charset="0"/>
                </a:rPr>
                <a:t>     </a:t>
              </a:r>
              <a:r>
                <a:rPr kumimoji="0" lang="en-US" altLang="zh-CN"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c(t) </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最大峰值偏离稳态值的部分，常用百分数表示，描述的系统的</a:t>
              </a:r>
              <a:r>
                <a:rPr kumimoji="0" lang="zh-CN" altLang="en-US" sz="2400" kern="1200" cap="none" spc="0" normalizeH="0" baseline="0" noProof="1">
                  <a:solidFill>
                    <a:srgbClr val="000099"/>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平稳性</a:t>
              </a:r>
              <a:r>
                <a:rPr kumimoji="0" lang="zh-CN" altLang="en-US" sz="2400" kern="1200" cap="none" spc="0" normalizeH="0" baseline="0" noProof="1">
                  <a:solidFill>
                    <a:srgbClr val="0066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endParaRPr kumimoji="0" lang="zh-CN" altLang="en-US" sz="2400" b="0" kern="1200" cap="none" spc="0" normalizeH="0" baseline="0" noProof="1">
                <a:solidFill>
                  <a:schemeClr val="tx1"/>
                </a:solidFill>
                <a:latin typeface="Times New Roman" panose="02020603050405020304" pitchFamily="18" charset="0"/>
                <a:ea typeface="宋体" panose="02010600030101010101" pitchFamily="2" charset="-122"/>
                <a:cs typeface="+mn-cs"/>
              </a:endParaRPr>
            </a:p>
          </p:txBody>
        </p:sp>
        <p:grpSp>
          <p:nvGrpSpPr>
            <p:cNvPr id="33" name="组合 32">
              <a:extLst>
                <a:ext uri="{FF2B5EF4-FFF2-40B4-BE49-F238E27FC236}">
                  <a16:creationId xmlns:a16="http://schemas.microsoft.com/office/drawing/2014/main" id="{E6C9E89B-6BA6-4875-94EC-36B53AB044CA}"/>
                </a:ext>
              </a:extLst>
            </p:cNvPr>
            <p:cNvGrpSpPr/>
            <p:nvPr/>
          </p:nvGrpSpPr>
          <p:grpSpPr>
            <a:xfrm>
              <a:off x="-28092" y="3509810"/>
              <a:ext cx="2095223" cy="531763"/>
              <a:chOff x="960436" y="1084087"/>
              <a:chExt cx="1451323" cy="747749"/>
            </a:xfrm>
            <a:noFill/>
          </p:grpSpPr>
          <p:sp>
            <p:nvSpPr>
              <p:cNvPr id="34" name="椭圆 31">
                <a:extLst>
                  <a:ext uri="{FF2B5EF4-FFF2-40B4-BE49-F238E27FC236}">
                    <a16:creationId xmlns:a16="http://schemas.microsoft.com/office/drawing/2014/main" id="{475B6FBC-B249-4904-A40F-B313DD238982}"/>
                  </a:ext>
                </a:extLst>
              </p:cNvPr>
              <p:cNvSpPr/>
              <p:nvPr/>
            </p:nvSpPr>
            <p:spPr>
              <a:xfrm>
                <a:off x="960436" y="1084087"/>
                <a:ext cx="1451323" cy="59934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grpFill/>
              <a:ln w="22225"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000" b="1" spc="-300" dirty="0">
                  <a:solidFill>
                    <a:schemeClr val="tx1"/>
                  </a:solidFill>
                  <a:latin typeface="方正静蕾简体" panose="02000000000000000000" pitchFamily="2" charset="-122"/>
                  <a:ea typeface="方正静蕾简体" panose="02000000000000000000" pitchFamily="2" charset="-122"/>
                </a:endParaRPr>
              </a:p>
            </p:txBody>
          </p:sp>
          <p:sp>
            <p:nvSpPr>
              <p:cNvPr id="35" name="矩形 208929">
                <a:extLst>
                  <a:ext uri="{FF2B5EF4-FFF2-40B4-BE49-F238E27FC236}">
                    <a16:creationId xmlns:a16="http://schemas.microsoft.com/office/drawing/2014/main" id="{3FFEC1BD-01E7-4062-A627-849A1D6E9194}"/>
                  </a:ext>
                </a:extLst>
              </p:cNvPr>
              <p:cNvSpPr/>
              <p:nvPr/>
            </p:nvSpPr>
            <p:spPr>
              <a:xfrm>
                <a:off x="960438" y="1123950"/>
                <a:ext cx="184731" cy="707886"/>
              </a:xfrm>
              <a:prstGeom prst="rect">
                <a:avLst/>
              </a:prstGeom>
              <a:grpFill/>
              <a:ln w="9525">
                <a:noFill/>
              </a:ln>
            </p:spPr>
            <p:txBody>
              <a:bodyPr wrap="none">
                <a:spAutoFit/>
              </a:bodyPr>
              <a:lstStyle/>
              <a:p>
                <a:endParaRPr lang="zh-CN" altLang="en-US" b="1" dirty="0">
                  <a:solidFill>
                    <a:schemeClr val="accent2"/>
                  </a:solidFill>
                  <a:latin typeface="Times New Roman" panose="02020603050405020304" pitchFamily="18" charset="0"/>
                  <a:ea typeface="楷体_GB2312" pitchFamily="49"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5" presetClass="entr" presetSubtype="10" fill="hold" nodeType="afterEffect">
                                  <p:stCondLst>
                                    <p:cond delay="0"/>
                                  </p:stCondLst>
                                  <p:childTnLst>
                                    <p:set>
                                      <p:cBhvr>
                                        <p:cTn id="10" dur="1" fill="hold">
                                          <p:stCondLst>
                                            <p:cond delay="0"/>
                                          </p:stCondLst>
                                        </p:cTn>
                                        <p:tgtEl>
                                          <p:spTgt spid="1324041"/>
                                        </p:tgtEl>
                                        <p:attrNameLst>
                                          <p:attrName>style.visibility</p:attrName>
                                        </p:attrNameLst>
                                      </p:cBhvr>
                                      <p:to>
                                        <p:strVal val="visible"/>
                                      </p:to>
                                    </p:set>
                                    <p:animEffect transition="in" filter="checkerboard(across)">
                                      <p:cBhvr>
                                        <p:cTn id="11" dur="500"/>
                                        <p:tgtEl>
                                          <p:spTgt spid="1324041"/>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ircle(in)">
                                      <p:cBhvr>
                                        <p:cTn id="21" dur="2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circle(in)">
                                      <p:cBhvr>
                                        <p:cTn id="26" dur="20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childTnLst>
                          </p:cTn>
                        </p:par>
                        <p:par>
                          <p:cTn id="32" fill="hold">
                            <p:stCondLst>
                              <p:cond delay="2000"/>
                            </p:stCondLst>
                            <p:childTnLst>
                              <p:par>
                                <p:cTn id="33" presetID="3" presetClass="entr" presetSubtype="10" fill="hold" nodeType="afterEffect">
                                  <p:stCondLst>
                                    <p:cond delay="0"/>
                                  </p:stCondLst>
                                  <p:childTnLst>
                                    <p:set>
                                      <p:cBhvr>
                                        <p:cTn id="34" dur="1" fill="hold">
                                          <p:stCondLst>
                                            <p:cond delay="0"/>
                                          </p:stCondLst>
                                        </p:cTn>
                                        <p:tgtEl>
                                          <p:spTgt spid="1324039"/>
                                        </p:tgtEl>
                                        <p:attrNameLst>
                                          <p:attrName>style.visibility</p:attrName>
                                        </p:attrNameLst>
                                      </p:cBhvr>
                                      <p:to>
                                        <p:strVal val="visible"/>
                                      </p:to>
                                    </p:set>
                                    <p:animEffect transition="in" filter="blinds(horizontal)">
                                      <p:cBhvr>
                                        <p:cTn id="35" dur="500"/>
                                        <p:tgtEl>
                                          <p:spTgt spid="1324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1325058"/>
          <p:cNvSpPr txBox="1"/>
          <p:nvPr/>
        </p:nvSpPr>
        <p:spPr>
          <a:xfrm>
            <a:off x="5715000" y="590550"/>
            <a:ext cx="2133600" cy="457200"/>
          </a:xfrm>
          <a:prstGeom prst="rect">
            <a:avLst/>
          </a:prstGeom>
          <a:noFill/>
          <a:ln w="9525">
            <a:noFill/>
          </a:ln>
        </p:spPr>
        <p:txBody>
          <a:bodyPr>
            <a:spAutoFit/>
          </a:bodyPr>
          <a:lstStyle/>
          <a:p>
            <a:endParaRPr lang="zh-CN" altLang="zh-CN" sz="2400" b="0" dirty="0">
              <a:solidFill>
                <a:schemeClr val="tx1"/>
              </a:solidFill>
              <a:latin typeface="Times New Roman" panose="02020603050405020304" pitchFamily="18" charset="0"/>
            </a:endParaRPr>
          </a:p>
        </p:txBody>
      </p:sp>
      <p:sp>
        <p:nvSpPr>
          <p:cNvPr id="1325064" name="文本框 1325063"/>
          <p:cNvSpPr txBox="1"/>
          <p:nvPr/>
        </p:nvSpPr>
        <p:spPr>
          <a:xfrm>
            <a:off x="1115616" y="364677"/>
            <a:ext cx="6048672" cy="1534779"/>
          </a:xfrm>
          <a:prstGeom prst="rect">
            <a:avLst/>
          </a:prstGeom>
          <a:noFill/>
          <a:ln w="9525">
            <a:noFill/>
          </a:ln>
        </p:spPr>
        <p:txBody>
          <a:bodyPr wrap="square">
            <a:spAutoFit/>
          </a:bodyPr>
          <a:lstStyle/>
          <a:p>
            <a:pPr marR="0" defTabSz="914400">
              <a:lnSpc>
                <a:spcPct val="115000"/>
              </a:lnSpc>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2.  </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稳态性能指标</a:t>
            </a:r>
            <a:r>
              <a:rPr kumimoji="0" lang="zh-CN" altLang="en-US"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p>
          <a:p>
            <a:pPr marR="0" defTabSz="914400">
              <a:lnSpc>
                <a:spcPct val="115000"/>
              </a:lnSpc>
              <a:spcBef>
                <a:spcPct val="0"/>
              </a:spcBef>
              <a:buClrTx/>
              <a:buSzTx/>
              <a:buFontTx/>
              <a:buNone/>
              <a:defRPr/>
            </a:pPr>
            <a:r>
              <a:rPr kumimoji="0" lang="zh-CN" altLang="en-US"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稳态误差</a:t>
            </a:r>
            <a:r>
              <a:rPr kumimoji="0" lang="en-US" altLang="zh-CN"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e</a:t>
            </a:r>
            <a:r>
              <a:rPr kumimoji="0" lang="en-US" altLang="zh-CN" sz="2800" kern="1200" cap="none" spc="0" normalizeH="0" baseline="-25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ss</a:t>
            </a:r>
            <a:r>
              <a:rPr kumimoji="0" lang="zh-CN" altLang="en-US"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稳定系统</a:t>
            </a:r>
            <a:r>
              <a:rPr kumimoji="0" lang="zh-CN" altLang="en-US"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误差的终值。即</a:t>
            </a:r>
            <a:endParaRPr kumimoji="0" lang="zh-CN" altLang="en-US" sz="2800" b="0" kern="1200" cap="none" spc="0" normalizeH="0" baseline="0" noProof="1">
              <a:solidFill>
                <a:schemeClr val="tx1"/>
              </a:solidFill>
              <a:latin typeface="Times New Roman" panose="02020603050405020304" pitchFamily="18" charset="0"/>
              <a:ea typeface="宋体" panose="02010600030101010101" pitchFamily="2" charset="-122"/>
              <a:cs typeface="+mn-cs"/>
            </a:endParaRPr>
          </a:p>
        </p:txBody>
      </p:sp>
      <p:graphicFrame>
        <p:nvGraphicFramePr>
          <p:cNvPr id="1325065" name="对象 1325064"/>
          <p:cNvGraphicFramePr/>
          <p:nvPr>
            <p:extLst>
              <p:ext uri="{D42A27DB-BD31-4B8C-83A1-F6EECF244321}">
                <p14:modId xmlns:p14="http://schemas.microsoft.com/office/powerpoint/2010/main" val="863837486"/>
              </p:ext>
            </p:extLst>
          </p:nvPr>
        </p:nvGraphicFramePr>
        <p:xfrm>
          <a:off x="2684920" y="1702374"/>
          <a:ext cx="2951162" cy="955675"/>
        </p:xfrm>
        <a:graphic>
          <a:graphicData uri="http://schemas.openxmlformats.org/presentationml/2006/ole">
            <mc:AlternateContent xmlns:mc="http://schemas.openxmlformats.org/markup-compatibility/2006">
              <mc:Choice xmlns:v="urn:schemas-microsoft-com:vml" Requires="v">
                <p:oleObj spid="_x0000_s11272" r:id="rId3" imgW="901065" imgH="292100" progId="Equation.3">
                  <p:embed/>
                </p:oleObj>
              </mc:Choice>
              <mc:Fallback>
                <p:oleObj r:id="rId3" imgW="901065" imgH="292100" progId="Equation.3">
                  <p:embed/>
                  <p:pic>
                    <p:nvPicPr>
                      <p:cNvPr id="0" name="图片 3077"/>
                      <p:cNvPicPr/>
                      <p:nvPr/>
                    </p:nvPicPr>
                    <p:blipFill>
                      <a:blip r:embed="rId4"/>
                      <a:stretch>
                        <a:fillRect/>
                      </a:stretch>
                    </p:blipFill>
                    <p:spPr>
                      <a:xfrm>
                        <a:off x="2684920" y="1702374"/>
                        <a:ext cx="2951162" cy="955675"/>
                      </a:xfrm>
                      <a:prstGeom prst="rect">
                        <a:avLst/>
                      </a:prstGeom>
                      <a:noFill/>
                      <a:ln w="38100">
                        <a:noFill/>
                        <a:miter/>
                      </a:ln>
                    </p:spPr>
                  </p:pic>
                </p:oleObj>
              </mc:Fallback>
            </mc:AlternateContent>
          </a:graphicData>
        </a:graphic>
      </p:graphicFrame>
      <p:sp>
        <p:nvSpPr>
          <p:cNvPr id="1325067" name="文本框 1325066"/>
          <p:cNvSpPr txBox="1"/>
          <p:nvPr/>
        </p:nvSpPr>
        <p:spPr>
          <a:xfrm>
            <a:off x="179512" y="2755499"/>
            <a:ext cx="3628228" cy="461665"/>
          </a:xfrm>
          <a:prstGeom prst="rect">
            <a:avLst/>
          </a:prstGeom>
          <a:noFill/>
          <a:ln w="9525">
            <a:noFill/>
          </a:ln>
        </p:spPr>
        <p:txBody>
          <a:bodyPr wrap="square">
            <a:spAutoFit/>
          </a:bodyPr>
          <a:lstStyle/>
          <a:p>
            <a:pPr>
              <a:buNone/>
            </a:pPr>
            <a:r>
              <a:rPr lang="zh-CN" altLang="en-US" sz="2400" b="0" dirty="0">
                <a:solidFill>
                  <a:srgbClr val="0000FF"/>
                </a:solidFill>
                <a:latin typeface="Times New Roman" panose="02020603050405020304" pitchFamily="18" charset="0"/>
                <a:ea typeface="华文细黑" panose="02010600040101010101" pitchFamily="2" charset="-122"/>
              </a:rPr>
              <a:t>对一个控制系统的要求</a:t>
            </a:r>
          </a:p>
        </p:txBody>
      </p:sp>
      <p:grpSp>
        <p:nvGrpSpPr>
          <p:cNvPr id="6" name="Group 16">
            <a:extLst>
              <a:ext uri="{FF2B5EF4-FFF2-40B4-BE49-F238E27FC236}">
                <a16:creationId xmlns:a16="http://schemas.microsoft.com/office/drawing/2014/main" id="{10EAB641-F43D-4140-BFFC-00676F0EAF1D}"/>
              </a:ext>
            </a:extLst>
          </p:cNvPr>
          <p:cNvGrpSpPr>
            <a:grpSpLocks noChangeAspect="1"/>
          </p:cNvGrpSpPr>
          <p:nvPr/>
        </p:nvGrpSpPr>
        <p:grpSpPr bwMode="auto">
          <a:xfrm>
            <a:off x="423996" y="3486640"/>
            <a:ext cx="362915" cy="626400"/>
            <a:chOff x="1449" y="1496"/>
            <a:chExt cx="730" cy="1260"/>
          </a:xfrm>
          <a:solidFill>
            <a:schemeClr val="bg1"/>
          </a:solidFill>
        </p:grpSpPr>
        <p:sp>
          <p:nvSpPr>
            <p:cNvPr id="7" name="Freeform 17">
              <a:extLst>
                <a:ext uri="{FF2B5EF4-FFF2-40B4-BE49-F238E27FC236}">
                  <a16:creationId xmlns:a16="http://schemas.microsoft.com/office/drawing/2014/main" id="{FD48CAD6-6575-4F6E-81C3-F3FA823A2C3E}"/>
                </a:ext>
              </a:extLst>
            </p:cNvPr>
            <p:cNvSpPr>
              <a:spLocks noEditPoints="1"/>
            </p:cNvSpPr>
            <p:nvPr/>
          </p:nvSpPr>
          <p:spPr bwMode="auto">
            <a:xfrm>
              <a:off x="1449" y="1496"/>
              <a:ext cx="730" cy="1260"/>
            </a:xfrm>
            <a:custGeom>
              <a:avLst/>
              <a:gdLst>
                <a:gd name="T0" fmla="*/ 609 w 684"/>
                <a:gd name="T1" fmla="*/ 553 h 1183"/>
                <a:gd name="T2" fmla="*/ 448 w 684"/>
                <a:gd name="T3" fmla="*/ 401 h 1183"/>
                <a:gd name="T4" fmla="*/ 269 w 684"/>
                <a:gd name="T5" fmla="*/ 315 h 1183"/>
                <a:gd name="T6" fmla="*/ 94 w 684"/>
                <a:gd name="T7" fmla="*/ 233 h 1183"/>
                <a:gd name="T8" fmla="*/ 88 w 684"/>
                <a:gd name="T9" fmla="*/ 655 h 1183"/>
                <a:gd name="T10" fmla="*/ 70 w 684"/>
                <a:gd name="T11" fmla="*/ 918 h 1183"/>
                <a:gd name="T12" fmla="*/ 139 w 684"/>
                <a:gd name="T13" fmla="*/ 1167 h 1183"/>
                <a:gd name="T14" fmla="*/ 202 w 684"/>
                <a:gd name="T15" fmla="*/ 975 h 1183"/>
                <a:gd name="T16" fmla="*/ 70 w 684"/>
                <a:gd name="T17" fmla="*/ 734 h 1183"/>
                <a:gd name="T18" fmla="*/ 278 w 684"/>
                <a:gd name="T19" fmla="*/ 562 h 1183"/>
                <a:gd name="T20" fmla="*/ 307 w 684"/>
                <a:gd name="T21" fmla="*/ 754 h 1183"/>
                <a:gd name="T22" fmla="*/ 323 w 684"/>
                <a:gd name="T23" fmla="*/ 769 h 1183"/>
                <a:gd name="T24" fmla="*/ 322 w 684"/>
                <a:gd name="T25" fmla="*/ 948 h 1183"/>
                <a:gd name="T26" fmla="*/ 345 w 684"/>
                <a:gd name="T27" fmla="*/ 765 h 1183"/>
                <a:gd name="T28" fmla="*/ 457 w 684"/>
                <a:gd name="T29" fmla="*/ 753 h 1183"/>
                <a:gd name="T30" fmla="*/ 553 w 684"/>
                <a:gd name="T31" fmla="*/ 815 h 1183"/>
                <a:gd name="T32" fmla="*/ 388 w 684"/>
                <a:gd name="T33" fmla="*/ 1179 h 1183"/>
                <a:gd name="T34" fmla="*/ 445 w 684"/>
                <a:gd name="T35" fmla="*/ 1002 h 1183"/>
                <a:gd name="T36" fmla="*/ 666 w 684"/>
                <a:gd name="T37" fmla="*/ 692 h 1183"/>
                <a:gd name="T38" fmla="*/ 200 w 684"/>
                <a:gd name="T39" fmla="*/ 558 h 1183"/>
                <a:gd name="T40" fmla="*/ 132 w 684"/>
                <a:gd name="T41" fmla="*/ 509 h 1183"/>
                <a:gd name="T42" fmla="*/ 123 w 684"/>
                <a:gd name="T43" fmla="*/ 61 h 1183"/>
                <a:gd name="T44" fmla="*/ 241 w 684"/>
                <a:gd name="T45" fmla="*/ 532 h 1183"/>
                <a:gd name="T46" fmla="*/ 388 w 684"/>
                <a:gd name="T47" fmla="*/ 620 h 1183"/>
                <a:gd name="T48" fmla="*/ 406 w 684"/>
                <a:gd name="T49" fmla="*/ 459 h 1183"/>
                <a:gd name="T50" fmla="*/ 305 w 684"/>
                <a:gd name="T51" fmla="*/ 567 h 1183"/>
                <a:gd name="T52" fmla="*/ 444 w 684"/>
                <a:gd name="T53" fmla="*/ 423 h 1183"/>
                <a:gd name="T54" fmla="*/ 423 w 684"/>
                <a:gd name="T55" fmla="*/ 643 h 1183"/>
                <a:gd name="T56" fmla="*/ 415 w 684"/>
                <a:gd name="T57" fmla="*/ 724 h 1183"/>
                <a:gd name="T58" fmla="*/ 428 w 684"/>
                <a:gd name="T59" fmla="*/ 654 h 1183"/>
                <a:gd name="T60" fmla="*/ 574 w 684"/>
                <a:gd name="T61" fmla="*/ 534 h 1183"/>
                <a:gd name="T62" fmla="*/ 415 w 684"/>
                <a:gd name="T63" fmla="*/ 724 h 1183"/>
                <a:gd name="T64" fmla="*/ 476 w 684"/>
                <a:gd name="T65" fmla="*/ 750 h 1183"/>
                <a:gd name="T66" fmla="*/ 607 w 684"/>
                <a:gd name="T67" fmla="*/ 631 h 1183"/>
                <a:gd name="T68" fmla="*/ 517 w 684"/>
                <a:gd name="T69" fmla="*/ 804 h 1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4" h="1183">
                  <a:moveTo>
                    <a:pt x="612" y="606"/>
                  </a:moveTo>
                  <a:cubicBezTo>
                    <a:pt x="615" y="584"/>
                    <a:pt x="613" y="565"/>
                    <a:pt x="609" y="553"/>
                  </a:cubicBezTo>
                  <a:cubicBezTo>
                    <a:pt x="599" y="516"/>
                    <a:pt x="568" y="479"/>
                    <a:pt x="517" y="483"/>
                  </a:cubicBezTo>
                  <a:cubicBezTo>
                    <a:pt x="514" y="445"/>
                    <a:pt x="477" y="404"/>
                    <a:pt x="448" y="401"/>
                  </a:cubicBezTo>
                  <a:cubicBezTo>
                    <a:pt x="329" y="387"/>
                    <a:pt x="263" y="490"/>
                    <a:pt x="263" y="490"/>
                  </a:cubicBezTo>
                  <a:cubicBezTo>
                    <a:pt x="263" y="490"/>
                    <a:pt x="253" y="433"/>
                    <a:pt x="269" y="315"/>
                  </a:cubicBezTo>
                  <a:cubicBezTo>
                    <a:pt x="290" y="158"/>
                    <a:pt x="232" y="0"/>
                    <a:pt x="116" y="36"/>
                  </a:cubicBezTo>
                  <a:cubicBezTo>
                    <a:pt x="0" y="72"/>
                    <a:pt x="71" y="136"/>
                    <a:pt x="94" y="233"/>
                  </a:cubicBezTo>
                  <a:cubicBezTo>
                    <a:pt x="117" y="330"/>
                    <a:pt x="117" y="454"/>
                    <a:pt x="110" y="505"/>
                  </a:cubicBezTo>
                  <a:cubicBezTo>
                    <a:pt x="104" y="546"/>
                    <a:pt x="92" y="624"/>
                    <a:pt x="88" y="655"/>
                  </a:cubicBezTo>
                  <a:cubicBezTo>
                    <a:pt x="69" y="678"/>
                    <a:pt x="57" y="697"/>
                    <a:pt x="54" y="711"/>
                  </a:cubicBezTo>
                  <a:cubicBezTo>
                    <a:pt x="45" y="741"/>
                    <a:pt x="31" y="868"/>
                    <a:pt x="70" y="918"/>
                  </a:cubicBezTo>
                  <a:cubicBezTo>
                    <a:pt x="109" y="969"/>
                    <a:pt x="148" y="980"/>
                    <a:pt x="177" y="979"/>
                  </a:cubicBezTo>
                  <a:cubicBezTo>
                    <a:pt x="203" y="1073"/>
                    <a:pt x="139" y="1167"/>
                    <a:pt x="139" y="1167"/>
                  </a:cubicBezTo>
                  <a:cubicBezTo>
                    <a:pt x="153" y="1174"/>
                    <a:pt x="153" y="1174"/>
                    <a:pt x="153" y="1174"/>
                  </a:cubicBezTo>
                  <a:cubicBezTo>
                    <a:pt x="220" y="1102"/>
                    <a:pt x="207" y="1002"/>
                    <a:pt x="202" y="975"/>
                  </a:cubicBezTo>
                  <a:cubicBezTo>
                    <a:pt x="215" y="971"/>
                    <a:pt x="223" y="966"/>
                    <a:pt x="223" y="966"/>
                  </a:cubicBezTo>
                  <a:cubicBezTo>
                    <a:pt x="50" y="954"/>
                    <a:pt x="64" y="794"/>
                    <a:pt x="70" y="734"/>
                  </a:cubicBezTo>
                  <a:cubicBezTo>
                    <a:pt x="76" y="674"/>
                    <a:pt x="155" y="611"/>
                    <a:pt x="205" y="572"/>
                  </a:cubicBezTo>
                  <a:cubicBezTo>
                    <a:pt x="254" y="533"/>
                    <a:pt x="270" y="550"/>
                    <a:pt x="278" y="562"/>
                  </a:cubicBezTo>
                  <a:cubicBezTo>
                    <a:pt x="326" y="637"/>
                    <a:pt x="384" y="625"/>
                    <a:pt x="408" y="655"/>
                  </a:cubicBezTo>
                  <a:cubicBezTo>
                    <a:pt x="432" y="685"/>
                    <a:pt x="388" y="757"/>
                    <a:pt x="307" y="754"/>
                  </a:cubicBezTo>
                  <a:cubicBezTo>
                    <a:pt x="226" y="751"/>
                    <a:pt x="207" y="675"/>
                    <a:pt x="207" y="675"/>
                  </a:cubicBezTo>
                  <a:cubicBezTo>
                    <a:pt x="216" y="753"/>
                    <a:pt x="271" y="775"/>
                    <a:pt x="323" y="769"/>
                  </a:cubicBezTo>
                  <a:cubicBezTo>
                    <a:pt x="342" y="782"/>
                    <a:pt x="376" y="814"/>
                    <a:pt x="370" y="868"/>
                  </a:cubicBezTo>
                  <a:cubicBezTo>
                    <a:pt x="363" y="933"/>
                    <a:pt x="322" y="948"/>
                    <a:pt x="322" y="948"/>
                  </a:cubicBezTo>
                  <a:cubicBezTo>
                    <a:pt x="322" y="948"/>
                    <a:pt x="390" y="939"/>
                    <a:pt x="390" y="866"/>
                  </a:cubicBezTo>
                  <a:cubicBezTo>
                    <a:pt x="390" y="808"/>
                    <a:pt x="363" y="777"/>
                    <a:pt x="345" y="765"/>
                  </a:cubicBezTo>
                  <a:cubicBezTo>
                    <a:pt x="366" y="759"/>
                    <a:pt x="386" y="749"/>
                    <a:pt x="400" y="738"/>
                  </a:cubicBezTo>
                  <a:cubicBezTo>
                    <a:pt x="409" y="745"/>
                    <a:pt x="427" y="755"/>
                    <a:pt x="457" y="753"/>
                  </a:cubicBezTo>
                  <a:cubicBezTo>
                    <a:pt x="456" y="773"/>
                    <a:pt x="463" y="815"/>
                    <a:pt x="523" y="817"/>
                  </a:cubicBezTo>
                  <a:cubicBezTo>
                    <a:pt x="534" y="817"/>
                    <a:pt x="544" y="816"/>
                    <a:pt x="553" y="815"/>
                  </a:cubicBezTo>
                  <a:cubicBezTo>
                    <a:pt x="559" y="845"/>
                    <a:pt x="569" y="952"/>
                    <a:pt x="418" y="982"/>
                  </a:cubicBezTo>
                  <a:cubicBezTo>
                    <a:pt x="418" y="982"/>
                    <a:pt x="425" y="1121"/>
                    <a:pt x="388" y="1179"/>
                  </a:cubicBezTo>
                  <a:cubicBezTo>
                    <a:pt x="408" y="1183"/>
                    <a:pt x="408" y="1183"/>
                    <a:pt x="408" y="1183"/>
                  </a:cubicBezTo>
                  <a:cubicBezTo>
                    <a:pt x="408" y="1183"/>
                    <a:pt x="446" y="1121"/>
                    <a:pt x="445" y="1002"/>
                  </a:cubicBezTo>
                  <a:cubicBezTo>
                    <a:pt x="445" y="1002"/>
                    <a:pt x="592" y="979"/>
                    <a:pt x="582" y="806"/>
                  </a:cubicBezTo>
                  <a:cubicBezTo>
                    <a:pt x="625" y="787"/>
                    <a:pt x="651" y="744"/>
                    <a:pt x="666" y="692"/>
                  </a:cubicBezTo>
                  <a:cubicBezTo>
                    <a:pt x="684" y="633"/>
                    <a:pt x="636" y="608"/>
                    <a:pt x="612" y="606"/>
                  </a:cubicBezTo>
                  <a:close/>
                  <a:moveTo>
                    <a:pt x="200" y="558"/>
                  </a:moveTo>
                  <a:cubicBezTo>
                    <a:pt x="162" y="583"/>
                    <a:pt x="132" y="608"/>
                    <a:pt x="109" y="632"/>
                  </a:cubicBezTo>
                  <a:cubicBezTo>
                    <a:pt x="111" y="609"/>
                    <a:pt x="122" y="580"/>
                    <a:pt x="132" y="509"/>
                  </a:cubicBezTo>
                  <a:cubicBezTo>
                    <a:pt x="146" y="422"/>
                    <a:pt x="128" y="293"/>
                    <a:pt x="113" y="228"/>
                  </a:cubicBezTo>
                  <a:cubicBezTo>
                    <a:pt x="100" y="171"/>
                    <a:pt x="31" y="75"/>
                    <a:pt x="123" y="61"/>
                  </a:cubicBezTo>
                  <a:cubicBezTo>
                    <a:pt x="254" y="41"/>
                    <a:pt x="256" y="256"/>
                    <a:pt x="250" y="311"/>
                  </a:cubicBezTo>
                  <a:cubicBezTo>
                    <a:pt x="244" y="359"/>
                    <a:pt x="241" y="500"/>
                    <a:pt x="241" y="532"/>
                  </a:cubicBezTo>
                  <a:cubicBezTo>
                    <a:pt x="230" y="538"/>
                    <a:pt x="217" y="546"/>
                    <a:pt x="200" y="558"/>
                  </a:cubicBezTo>
                  <a:close/>
                  <a:moveTo>
                    <a:pt x="388" y="620"/>
                  </a:moveTo>
                  <a:cubicBezTo>
                    <a:pt x="378" y="617"/>
                    <a:pt x="365" y="611"/>
                    <a:pt x="352" y="603"/>
                  </a:cubicBezTo>
                  <a:cubicBezTo>
                    <a:pt x="335" y="522"/>
                    <a:pt x="406" y="459"/>
                    <a:pt x="406" y="459"/>
                  </a:cubicBezTo>
                  <a:cubicBezTo>
                    <a:pt x="324" y="501"/>
                    <a:pt x="330" y="567"/>
                    <a:pt x="336" y="593"/>
                  </a:cubicBezTo>
                  <a:cubicBezTo>
                    <a:pt x="325" y="585"/>
                    <a:pt x="314" y="577"/>
                    <a:pt x="305" y="567"/>
                  </a:cubicBezTo>
                  <a:cubicBezTo>
                    <a:pt x="281" y="542"/>
                    <a:pt x="282" y="520"/>
                    <a:pt x="261" y="524"/>
                  </a:cubicBezTo>
                  <a:cubicBezTo>
                    <a:pt x="287" y="485"/>
                    <a:pt x="396" y="408"/>
                    <a:pt x="444" y="423"/>
                  </a:cubicBezTo>
                  <a:cubicBezTo>
                    <a:pt x="496" y="439"/>
                    <a:pt x="508" y="509"/>
                    <a:pt x="485" y="574"/>
                  </a:cubicBezTo>
                  <a:cubicBezTo>
                    <a:pt x="469" y="620"/>
                    <a:pt x="439" y="637"/>
                    <a:pt x="423" y="643"/>
                  </a:cubicBezTo>
                  <a:cubicBezTo>
                    <a:pt x="414" y="629"/>
                    <a:pt x="400" y="624"/>
                    <a:pt x="388" y="620"/>
                  </a:cubicBezTo>
                  <a:close/>
                  <a:moveTo>
                    <a:pt x="415" y="724"/>
                  </a:moveTo>
                  <a:cubicBezTo>
                    <a:pt x="420" y="717"/>
                    <a:pt x="424" y="710"/>
                    <a:pt x="426" y="703"/>
                  </a:cubicBezTo>
                  <a:cubicBezTo>
                    <a:pt x="431" y="681"/>
                    <a:pt x="431" y="666"/>
                    <a:pt x="428" y="654"/>
                  </a:cubicBezTo>
                  <a:cubicBezTo>
                    <a:pt x="510" y="623"/>
                    <a:pt x="514" y="552"/>
                    <a:pt x="516" y="508"/>
                  </a:cubicBezTo>
                  <a:cubicBezTo>
                    <a:pt x="531" y="508"/>
                    <a:pt x="558" y="512"/>
                    <a:pt x="574" y="534"/>
                  </a:cubicBezTo>
                  <a:cubicBezTo>
                    <a:pt x="597" y="567"/>
                    <a:pt x="601" y="681"/>
                    <a:pt x="508" y="721"/>
                  </a:cubicBezTo>
                  <a:cubicBezTo>
                    <a:pt x="444" y="748"/>
                    <a:pt x="422" y="735"/>
                    <a:pt x="415" y="724"/>
                  </a:cubicBezTo>
                  <a:close/>
                  <a:moveTo>
                    <a:pt x="517" y="804"/>
                  </a:moveTo>
                  <a:cubicBezTo>
                    <a:pt x="469" y="797"/>
                    <a:pt x="471" y="766"/>
                    <a:pt x="476" y="750"/>
                  </a:cubicBezTo>
                  <a:cubicBezTo>
                    <a:pt x="488" y="747"/>
                    <a:pt x="502" y="742"/>
                    <a:pt x="519" y="734"/>
                  </a:cubicBezTo>
                  <a:cubicBezTo>
                    <a:pt x="570" y="710"/>
                    <a:pt x="596" y="669"/>
                    <a:pt x="607" y="631"/>
                  </a:cubicBezTo>
                  <a:cubicBezTo>
                    <a:pt x="622" y="636"/>
                    <a:pt x="644" y="647"/>
                    <a:pt x="643" y="675"/>
                  </a:cubicBezTo>
                  <a:cubicBezTo>
                    <a:pt x="642" y="718"/>
                    <a:pt x="584" y="812"/>
                    <a:pt x="517" y="804"/>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8" name="Freeform 18">
              <a:extLst>
                <a:ext uri="{FF2B5EF4-FFF2-40B4-BE49-F238E27FC236}">
                  <a16:creationId xmlns:a16="http://schemas.microsoft.com/office/drawing/2014/main" id="{5116787F-E9B2-4847-BA36-F234E9E9B01A}"/>
                </a:ext>
              </a:extLst>
            </p:cNvPr>
            <p:cNvSpPr>
              <a:spLocks/>
            </p:cNvSpPr>
            <p:nvPr/>
          </p:nvSpPr>
          <p:spPr bwMode="auto">
            <a:xfrm>
              <a:off x="1760" y="2545"/>
              <a:ext cx="57" cy="47"/>
            </a:xfrm>
            <a:custGeom>
              <a:avLst/>
              <a:gdLst>
                <a:gd name="T0" fmla="*/ 0 w 54"/>
                <a:gd name="T1" fmla="*/ 18 h 44"/>
                <a:gd name="T2" fmla="*/ 54 w 54"/>
                <a:gd name="T3" fmla="*/ 0 h 44"/>
                <a:gd name="T4" fmla="*/ 46 w 54"/>
                <a:gd name="T5" fmla="*/ 44 h 44"/>
                <a:gd name="T6" fmla="*/ 39 w 54"/>
                <a:gd name="T7" fmla="*/ 23 h 44"/>
                <a:gd name="T8" fmla="*/ 0 w 54"/>
                <a:gd name="T9" fmla="*/ 18 h 44"/>
              </a:gdLst>
              <a:ahLst/>
              <a:cxnLst>
                <a:cxn ang="0">
                  <a:pos x="T0" y="T1"/>
                </a:cxn>
                <a:cxn ang="0">
                  <a:pos x="T2" y="T3"/>
                </a:cxn>
                <a:cxn ang="0">
                  <a:pos x="T4" y="T5"/>
                </a:cxn>
                <a:cxn ang="0">
                  <a:pos x="T6" y="T7"/>
                </a:cxn>
                <a:cxn ang="0">
                  <a:pos x="T8" y="T9"/>
                </a:cxn>
              </a:cxnLst>
              <a:rect l="0" t="0" r="r" b="b"/>
              <a:pathLst>
                <a:path w="54" h="44">
                  <a:moveTo>
                    <a:pt x="0" y="18"/>
                  </a:moveTo>
                  <a:cubicBezTo>
                    <a:pt x="0" y="18"/>
                    <a:pt x="30" y="19"/>
                    <a:pt x="54" y="0"/>
                  </a:cubicBezTo>
                  <a:cubicBezTo>
                    <a:pt x="46" y="44"/>
                    <a:pt x="46" y="44"/>
                    <a:pt x="46" y="44"/>
                  </a:cubicBezTo>
                  <a:cubicBezTo>
                    <a:pt x="39" y="23"/>
                    <a:pt x="39" y="23"/>
                    <a:pt x="39" y="23"/>
                  </a:cubicBezTo>
                  <a:cubicBezTo>
                    <a:pt x="39" y="23"/>
                    <a:pt x="28" y="31"/>
                    <a:pt x="0" y="18"/>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grpSp>
        <p:nvGrpSpPr>
          <p:cNvPr id="9" name="Group 21">
            <a:extLst>
              <a:ext uri="{FF2B5EF4-FFF2-40B4-BE49-F238E27FC236}">
                <a16:creationId xmlns:a16="http://schemas.microsoft.com/office/drawing/2014/main" id="{00686536-E64D-4275-A677-466A00CF6FD4}"/>
              </a:ext>
            </a:extLst>
          </p:cNvPr>
          <p:cNvGrpSpPr>
            <a:grpSpLocks noChangeAspect="1"/>
          </p:cNvGrpSpPr>
          <p:nvPr/>
        </p:nvGrpSpPr>
        <p:grpSpPr bwMode="auto">
          <a:xfrm>
            <a:off x="402022" y="4287096"/>
            <a:ext cx="383064" cy="626878"/>
            <a:chOff x="3270" y="1510"/>
            <a:chExt cx="762" cy="1247"/>
          </a:xfrm>
          <a:solidFill>
            <a:schemeClr val="bg1"/>
          </a:solidFill>
        </p:grpSpPr>
        <p:sp>
          <p:nvSpPr>
            <p:cNvPr id="10" name="Freeform 22">
              <a:extLst>
                <a:ext uri="{FF2B5EF4-FFF2-40B4-BE49-F238E27FC236}">
                  <a16:creationId xmlns:a16="http://schemas.microsoft.com/office/drawing/2014/main" id="{6BB2214F-2207-40E8-9B12-5F485DF35FB6}"/>
                </a:ext>
              </a:extLst>
            </p:cNvPr>
            <p:cNvSpPr>
              <a:spLocks/>
            </p:cNvSpPr>
            <p:nvPr/>
          </p:nvSpPr>
          <p:spPr bwMode="auto">
            <a:xfrm>
              <a:off x="3616" y="2549"/>
              <a:ext cx="56" cy="46"/>
            </a:xfrm>
            <a:custGeom>
              <a:avLst/>
              <a:gdLst>
                <a:gd name="T0" fmla="*/ 0 w 54"/>
                <a:gd name="T1" fmla="*/ 18 h 44"/>
                <a:gd name="T2" fmla="*/ 54 w 54"/>
                <a:gd name="T3" fmla="*/ 0 h 44"/>
                <a:gd name="T4" fmla="*/ 46 w 54"/>
                <a:gd name="T5" fmla="*/ 44 h 44"/>
                <a:gd name="T6" fmla="*/ 39 w 54"/>
                <a:gd name="T7" fmla="*/ 23 h 44"/>
                <a:gd name="T8" fmla="*/ 0 w 54"/>
                <a:gd name="T9" fmla="*/ 18 h 44"/>
              </a:gdLst>
              <a:ahLst/>
              <a:cxnLst>
                <a:cxn ang="0">
                  <a:pos x="T0" y="T1"/>
                </a:cxn>
                <a:cxn ang="0">
                  <a:pos x="T2" y="T3"/>
                </a:cxn>
                <a:cxn ang="0">
                  <a:pos x="T4" y="T5"/>
                </a:cxn>
                <a:cxn ang="0">
                  <a:pos x="T6" y="T7"/>
                </a:cxn>
                <a:cxn ang="0">
                  <a:pos x="T8" y="T9"/>
                </a:cxn>
              </a:cxnLst>
              <a:rect l="0" t="0" r="r" b="b"/>
              <a:pathLst>
                <a:path w="54" h="44">
                  <a:moveTo>
                    <a:pt x="0" y="18"/>
                  </a:moveTo>
                  <a:cubicBezTo>
                    <a:pt x="0" y="18"/>
                    <a:pt x="29" y="19"/>
                    <a:pt x="54" y="0"/>
                  </a:cubicBezTo>
                  <a:cubicBezTo>
                    <a:pt x="46" y="44"/>
                    <a:pt x="46" y="44"/>
                    <a:pt x="46" y="44"/>
                  </a:cubicBezTo>
                  <a:cubicBezTo>
                    <a:pt x="39" y="23"/>
                    <a:pt x="39" y="23"/>
                    <a:pt x="39" y="23"/>
                  </a:cubicBezTo>
                  <a:cubicBezTo>
                    <a:pt x="39" y="23"/>
                    <a:pt x="28" y="31"/>
                    <a:pt x="0" y="18"/>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11" name="Freeform 23">
              <a:extLst>
                <a:ext uri="{FF2B5EF4-FFF2-40B4-BE49-F238E27FC236}">
                  <a16:creationId xmlns:a16="http://schemas.microsoft.com/office/drawing/2014/main" id="{64543C0B-2C3A-4D26-BD8B-248BE93F7D54}"/>
                </a:ext>
              </a:extLst>
            </p:cNvPr>
            <p:cNvSpPr>
              <a:spLocks noEditPoints="1"/>
            </p:cNvSpPr>
            <p:nvPr/>
          </p:nvSpPr>
          <p:spPr bwMode="auto">
            <a:xfrm>
              <a:off x="3270" y="1510"/>
              <a:ext cx="762" cy="1247"/>
            </a:xfrm>
            <a:custGeom>
              <a:avLst/>
              <a:gdLst>
                <a:gd name="T0" fmla="*/ 629 w 729"/>
                <a:gd name="T1" fmla="*/ 554 h 1195"/>
                <a:gd name="T2" fmla="*/ 512 w 729"/>
                <a:gd name="T3" fmla="*/ 454 h 1195"/>
                <a:gd name="T4" fmla="*/ 509 w 729"/>
                <a:gd name="T5" fmla="*/ 405 h 1195"/>
                <a:gd name="T6" fmla="*/ 591 w 729"/>
                <a:gd name="T7" fmla="*/ 78 h 1195"/>
                <a:gd name="T8" fmla="*/ 415 w 729"/>
                <a:gd name="T9" fmla="*/ 118 h 1195"/>
                <a:gd name="T10" fmla="*/ 276 w 729"/>
                <a:gd name="T11" fmla="*/ 309 h 1195"/>
                <a:gd name="T12" fmla="*/ 37 w 729"/>
                <a:gd name="T13" fmla="*/ 50 h 1195"/>
                <a:gd name="T14" fmla="*/ 151 w 729"/>
                <a:gd name="T15" fmla="*/ 585 h 1195"/>
                <a:gd name="T16" fmla="*/ 202 w 729"/>
                <a:gd name="T17" fmla="*/ 988 h 1195"/>
                <a:gd name="T18" fmla="*/ 160 w 729"/>
                <a:gd name="T19" fmla="*/ 1169 h 1195"/>
                <a:gd name="T20" fmla="*/ 135 w 729"/>
                <a:gd name="T21" fmla="*/ 904 h 1195"/>
                <a:gd name="T22" fmla="*/ 298 w 729"/>
                <a:gd name="T23" fmla="*/ 556 h 1195"/>
                <a:gd name="T24" fmla="*/ 447 w 729"/>
                <a:gd name="T25" fmla="*/ 694 h 1195"/>
                <a:gd name="T26" fmla="*/ 268 w 729"/>
                <a:gd name="T27" fmla="*/ 812 h 1195"/>
                <a:gd name="T28" fmla="*/ 373 w 729"/>
                <a:gd name="T29" fmla="*/ 737 h 1195"/>
                <a:gd name="T30" fmla="*/ 391 w 729"/>
                <a:gd name="T31" fmla="*/ 740 h 1195"/>
                <a:gd name="T32" fmla="*/ 440 w 729"/>
                <a:gd name="T33" fmla="*/ 778 h 1195"/>
                <a:gd name="T34" fmla="*/ 593 w 729"/>
                <a:gd name="T35" fmla="*/ 811 h 1195"/>
                <a:gd name="T36" fmla="*/ 460 w 729"/>
                <a:gd name="T37" fmla="*/ 992 h 1195"/>
                <a:gd name="T38" fmla="*/ 465 w 729"/>
                <a:gd name="T39" fmla="*/ 1195 h 1195"/>
                <a:gd name="T40" fmla="*/ 647 w 729"/>
                <a:gd name="T41" fmla="*/ 784 h 1195"/>
                <a:gd name="T42" fmla="*/ 437 w 729"/>
                <a:gd name="T43" fmla="*/ 585 h 1195"/>
                <a:gd name="T44" fmla="*/ 210 w 729"/>
                <a:gd name="T45" fmla="*/ 547 h 1195"/>
                <a:gd name="T46" fmla="*/ 54 w 729"/>
                <a:gd name="T47" fmla="*/ 143 h 1195"/>
                <a:gd name="T48" fmla="*/ 240 w 729"/>
                <a:gd name="T49" fmla="*/ 230 h 1195"/>
                <a:gd name="T50" fmla="*/ 374 w 729"/>
                <a:gd name="T51" fmla="*/ 387 h 1195"/>
                <a:gd name="T52" fmla="*/ 520 w 729"/>
                <a:gd name="T53" fmla="*/ 52 h 1195"/>
                <a:gd name="T54" fmla="*/ 468 w 729"/>
                <a:gd name="T55" fmla="*/ 505 h 1195"/>
                <a:gd name="T56" fmla="*/ 437 w 729"/>
                <a:gd name="T57" fmla="*/ 585 h 1195"/>
                <a:gd name="T58" fmla="*/ 494 w 729"/>
                <a:gd name="T59" fmla="*/ 673 h 1195"/>
                <a:gd name="T60" fmla="*/ 529 w 729"/>
                <a:gd name="T61" fmla="*/ 484 h 1195"/>
                <a:gd name="T62" fmla="*/ 429 w 729"/>
                <a:gd name="T63" fmla="*/ 736 h 1195"/>
                <a:gd name="T64" fmla="*/ 603 w 729"/>
                <a:gd name="T65" fmla="*/ 672 h 1195"/>
                <a:gd name="T66" fmla="*/ 691 w 729"/>
                <a:gd name="T67" fmla="*/ 638 h 1195"/>
                <a:gd name="T68" fmla="*/ 520 w 729"/>
                <a:gd name="T69" fmla="*/ 768 h 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29" h="1195">
                  <a:moveTo>
                    <a:pt x="700" y="569"/>
                  </a:moveTo>
                  <a:cubicBezTo>
                    <a:pt x="676" y="543"/>
                    <a:pt x="646" y="548"/>
                    <a:pt x="629" y="554"/>
                  </a:cubicBezTo>
                  <a:cubicBezTo>
                    <a:pt x="629" y="543"/>
                    <a:pt x="629" y="534"/>
                    <a:pt x="629" y="528"/>
                  </a:cubicBezTo>
                  <a:cubicBezTo>
                    <a:pt x="629" y="504"/>
                    <a:pt x="601" y="415"/>
                    <a:pt x="512" y="454"/>
                  </a:cubicBezTo>
                  <a:cubicBezTo>
                    <a:pt x="508" y="455"/>
                    <a:pt x="504" y="457"/>
                    <a:pt x="501" y="459"/>
                  </a:cubicBezTo>
                  <a:cubicBezTo>
                    <a:pt x="498" y="447"/>
                    <a:pt x="498" y="427"/>
                    <a:pt x="509" y="405"/>
                  </a:cubicBezTo>
                  <a:cubicBezTo>
                    <a:pt x="528" y="366"/>
                    <a:pt x="597" y="273"/>
                    <a:pt x="606" y="211"/>
                  </a:cubicBezTo>
                  <a:cubicBezTo>
                    <a:pt x="614" y="149"/>
                    <a:pt x="602" y="102"/>
                    <a:pt x="591" y="78"/>
                  </a:cubicBezTo>
                  <a:cubicBezTo>
                    <a:pt x="580" y="53"/>
                    <a:pt x="554" y="23"/>
                    <a:pt x="514" y="23"/>
                  </a:cubicBezTo>
                  <a:cubicBezTo>
                    <a:pt x="474" y="23"/>
                    <a:pt x="426" y="50"/>
                    <a:pt x="415" y="118"/>
                  </a:cubicBezTo>
                  <a:cubicBezTo>
                    <a:pt x="405" y="185"/>
                    <a:pt x="346" y="432"/>
                    <a:pt x="315" y="482"/>
                  </a:cubicBezTo>
                  <a:cubicBezTo>
                    <a:pt x="315" y="482"/>
                    <a:pt x="283" y="384"/>
                    <a:pt x="276" y="309"/>
                  </a:cubicBezTo>
                  <a:cubicBezTo>
                    <a:pt x="269" y="234"/>
                    <a:pt x="258" y="133"/>
                    <a:pt x="188" y="67"/>
                  </a:cubicBezTo>
                  <a:cubicBezTo>
                    <a:pt x="117" y="0"/>
                    <a:pt x="58" y="38"/>
                    <a:pt x="37" y="50"/>
                  </a:cubicBezTo>
                  <a:cubicBezTo>
                    <a:pt x="17" y="62"/>
                    <a:pt x="0" y="93"/>
                    <a:pt x="35" y="161"/>
                  </a:cubicBezTo>
                  <a:cubicBezTo>
                    <a:pt x="69" y="228"/>
                    <a:pt x="116" y="381"/>
                    <a:pt x="151" y="585"/>
                  </a:cubicBezTo>
                  <a:cubicBezTo>
                    <a:pt x="113" y="616"/>
                    <a:pt x="74" y="669"/>
                    <a:pt x="68" y="769"/>
                  </a:cubicBezTo>
                  <a:cubicBezTo>
                    <a:pt x="59" y="931"/>
                    <a:pt x="166" y="940"/>
                    <a:pt x="202" y="988"/>
                  </a:cubicBezTo>
                  <a:cubicBezTo>
                    <a:pt x="238" y="1037"/>
                    <a:pt x="151" y="1155"/>
                    <a:pt x="151" y="1155"/>
                  </a:cubicBezTo>
                  <a:cubicBezTo>
                    <a:pt x="160" y="1169"/>
                    <a:pt x="160" y="1169"/>
                    <a:pt x="160" y="1169"/>
                  </a:cubicBezTo>
                  <a:cubicBezTo>
                    <a:pt x="198" y="1124"/>
                    <a:pt x="228" y="1059"/>
                    <a:pt x="234" y="1007"/>
                  </a:cubicBezTo>
                  <a:cubicBezTo>
                    <a:pt x="240" y="954"/>
                    <a:pt x="198" y="969"/>
                    <a:pt x="135" y="904"/>
                  </a:cubicBezTo>
                  <a:cubicBezTo>
                    <a:pt x="71" y="838"/>
                    <a:pt x="76" y="706"/>
                    <a:pt x="135" y="632"/>
                  </a:cubicBezTo>
                  <a:cubicBezTo>
                    <a:pt x="194" y="558"/>
                    <a:pt x="275" y="538"/>
                    <a:pt x="298" y="556"/>
                  </a:cubicBezTo>
                  <a:cubicBezTo>
                    <a:pt x="321" y="575"/>
                    <a:pt x="392" y="615"/>
                    <a:pt x="432" y="602"/>
                  </a:cubicBezTo>
                  <a:cubicBezTo>
                    <a:pt x="472" y="589"/>
                    <a:pt x="508" y="654"/>
                    <a:pt x="447" y="694"/>
                  </a:cubicBezTo>
                  <a:cubicBezTo>
                    <a:pt x="369" y="746"/>
                    <a:pt x="280" y="674"/>
                    <a:pt x="280" y="674"/>
                  </a:cubicBezTo>
                  <a:cubicBezTo>
                    <a:pt x="302" y="738"/>
                    <a:pt x="268" y="812"/>
                    <a:pt x="268" y="812"/>
                  </a:cubicBezTo>
                  <a:cubicBezTo>
                    <a:pt x="319" y="788"/>
                    <a:pt x="306" y="705"/>
                    <a:pt x="306" y="705"/>
                  </a:cubicBezTo>
                  <a:cubicBezTo>
                    <a:pt x="331" y="722"/>
                    <a:pt x="353" y="732"/>
                    <a:pt x="373" y="737"/>
                  </a:cubicBezTo>
                  <a:cubicBezTo>
                    <a:pt x="385" y="769"/>
                    <a:pt x="408" y="853"/>
                    <a:pt x="346" y="923"/>
                  </a:cubicBezTo>
                  <a:cubicBezTo>
                    <a:pt x="346" y="923"/>
                    <a:pt x="434" y="880"/>
                    <a:pt x="391" y="740"/>
                  </a:cubicBezTo>
                  <a:cubicBezTo>
                    <a:pt x="395" y="740"/>
                    <a:pt x="400" y="740"/>
                    <a:pt x="405" y="740"/>
                  </a:cubicBezTo>
                  <a:cubicBezTo>
                    <a:pt x="408" y="751"/>
                    <a:pt x="417" y="766"/>
                    <a:pt x="440" y="778"/>
                  </a:cubicBezTo>
                  <a:cubicBezTo>
                    <a:pt x="456" y="787"/>
                    <a:pt x="480" y="786"/>
                    <a:pt x="505" y="775"/>
                  </a:cubicBezTo>
                  <a:cubicBezTo>
                    <a:pt x="514" y="792"/>
                    <a:pt x="540" y="824"/>
                    <a:pt x="593" y="811"/>
                  </a:cubicBezTo>
                  <a:cubicBezTo>
                    <a:pt x="604" y="809"/>
                    <a:pt x="614" y="805"/>
                    <a:pt x="623" y="800"/>
                  </a:cubicBezTo>
                  <a:cubicBezTo>
                    <a:pt x="621" y="839"/>
                    <a:pt x="605" y="966"/>
                    <a:pt x="460" y="992"/>
                  </a:cubicBezTo>
                  <a:cubicBezTo>
                    <a:pt x="460" y="992"/>
                    <a:pt x="475" y="1138"/>
                    <a:pt x="439" y="1194"/>
                  </a:cubicBezTo>
                  <a:cubicBezTo>
                    <a:pt x="465" y="1195"/>
                    <a:pt x="465" y="1195"/>
                    <a:pt x="465" y="1195"/>
                  </a:cubicBezTo>
                  <a:cubicBezTo>
                    <a:pt x="465" y="1195"/>
                    <a:pt x="501" y="1143"/>
                    <a:pt x="485" y="1007"/>
                  </a:cubicBezTo>
                  <a:cubicBezTo>
                    <a:pt x="485" y="1007"/>
                    <a:pt x="636" y="1001"/>
                    <a:pt x="647" y="784"/>
                  </a:cubicBezTo>
                  <a:cubicBezTo>
                    <a:pt x="720" y="725"/>
                    <a:pt x="729" y="601"/>
                    <a:pt x="700" y="569"/>
                  </a:cubicBezTo>
                  <a:close/>
                  <a:moveTo>
                    <a:pt x="437" y="585"/>
                  </a:moveTo>
                  <a:cubicBezTo>
                    <a:pt x="381" y="593"/>
                    <a:pt x="339" y="562"/>
                    <a:pt x="309" y="545"/>
                  </a:cubicBezTo>
                  <a:cubicBezTo>
                    <a:pt x="280" y="528"/>
                    <a:pt x="246" y="525"/>
                    <a:pt x="210" y="547"/>
                  </a:cubicBezTo>
                  <a:cubicBezTo>
                    <a:pt x="200" y="552"/>
                    <a:pt x="187" y="559"/>
                    <a:pt x="172" y="569"/>
                  </a:cubicBezTo>
                  <a:cubicBezTo>
                    <a:pt x="161" y="511"/>
                    <a:pt x="103" y="226"/>
                    <a:pt x="54" y="143"/>
                  </a:cubicBezTo>
                  <a:cubicBezTo>
                    <a:pt x="4" y="59"/>
                    <a:pt x="91" y="56"/>
                    <a:pt x="106" y="58"/>
                  </a:cubicBezTo>
                  <a:cubicBezTo>
                    <a:pt x="141" y="63"/>
                    <a:pt x="228" y="130"/>
                    <a:pt x="240" y="230"/>
                  </a:cubicBezTo>
                  <a:cubicBezTo>
                    <a:pt x="252" y="331"/>
                    <a:pt x="269" y="478"/>
                    <a:pt x="314" y="536"/>
                  </a:cubicBezTo>
                  <a:cubicBezTo>
                    <a:pt x="314" y="536"/>
                    <a:pt x="346" y="484"/>
                    <a:pt x="374" y="387"/>
                  </a:cubicBezTo>
                  <a:cubicBezTo>
                    <a:pt x="402" y="290"/>
                    <a:pt x="432" y="177"/>
                    <a:pt x="440" y="130"/>
                  </a:cubicBezTo>
                  <a:cubicBezTo>
                    <a:pt x="447" y="82"/>
                    <a:pt x="470" y="40"/>
                    <a:pt x="520" y="52"/>
                  </a:cubicBezTo>
                  <a:cubicBezTo>
                    <a:pt x="569" y="64"/>
                    <a:pt x="597" y="151"/>
                    <a:pt x="568" y="231"/>
                  </a:cubicBezTo>
                  <a:cubicBezTo>
                    <a:pt x="541" y="306"/>
                    <a:pt x="452" y="400"/>
                    <a:pt x="468" y="505"/>
                  </a:cubicBezTo>
                  <a:cubicBezTo>
                    <a:pt x="454" y="536"/>
                    <a:pt x="450" y="572"/>
                    <a:pt x="449" y="585"/>
                  </a:cubicBezTo>
                  <a:cubicBezTo>
                    <a:pt x="445" y="585"/>
                    <a:pt x="441" y="585"/>
                    <a:pt x="437" y="585"/>
                  </a:cubicBezTo>
                  <a:close/>
                  <a:moveTo>
                    <a:pt x="429" y="736"/>
                  </a:moveTo>
                  <a:cubicBezTo>
                    <a:pt x="464" y="725"/>
                    <a:pt x="486" y="695"/>
                    <a:pt x="494" y="673"/>
                  </a:cubicBezTo>
                  <a:cubicBezTo>
                    <a:pt x="507" y="639"/>
                    <a:pt x="498" y="597"/>
                    <a:pt x="465" y="587"/>
                  </a:cubicBezTo>
                  <a:cubicBezTo>
                    <a:pt x="469" y="565"/>
                    <a:pt x="486" y="497"/>
                    <a:pt x="529" y="484"/>
                  </a:cubicBezTo>
                  <a:cubicBezTo>
                    <a:pt x="580" y="468"/>
                    <a:pt x="609" y="509"/>
                    <a:pt x="596" y="585"/>
                  </a:cubicBezTo>
                  <a:cubicBezTo>
                    <a:pt x="584" y="659"/>
                    <a:pt x="518" y="804"/>
                    <a:pt x="429" y="736"/>
                  </a:cubicBezTo>
                  <a:close/>
                  <a:moveTo>
                    <a:pt x="520" y="768"/>
                  </a:moveTo>
                  <a:cubicBezTo>
                    <a:pt x="554" y="749"/>
                    <a:pt x="586" y="716"/>
                    <a:pt x="603" y="672"/>
                  </a:cubicBezTo>
                  <a:cubicBezTo>
                    <a:pt x="616" y="636"/>
                    <a:pt x="622" y="606"/>
                    <a:pt x="626" y="581"/>
                  </a:cubicBezTo>
                  <a:cubicBezTo>
                    <a:pt x="680" y="564"/>
                    <a:pt x="696" y="608"/>
                    <a:pt x="691" y="638"/>
                  </a:cubicBezTo>
                  <a:cubicBezTo>
                    <a:pt x="687" y="669"/>
                    <a:pt x="664" y="771"/>
                    <a:pt x="595" y="789"/>
                  </a:cubicBezTo>
                  <a:cubicBezTo>
                    <a:pt x="547" y="802"/>
                    <a:pt x="527" y="781"/>
                    <a:pt x="520" y="768"/>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grpSp>
        <p:nvGrpSpPr>
          <p:cNvPr id="12" name="Group 26">
            <a:extLst>
              <a:ext uri="{FF2B5EF4-FFF2-40B4-BE49-F238E27FC236}">
                <a16:creationId xmlns:a16="http://schemas.microsoft.com/office/drawing/2014/main" id="{09B3718D-45A4-43AC-A7E7-27B76C46CD21}"/>
              </a:ext>
            </a:extLst>
          </p:cNvPr>
          <p:cNvGrpSpPr>
            <a:grpSpLocks noChangeAspect="1"/>
          </p:cNvGrpSpPr>
          <p:nvPr/>
        </p:nvGrpSpPr>
        <p:grpSpPr bwMode="auto">
          <a:xfrm>
            <a:off x="421746" y="5210374"/>
            <a:ext cx="312227" cy="513358"/>
            <a:chOff x="5100" y="1511"/>
            <a:chExt cx="756" cy="1243"/>
          </a:xfrm>
          <a:solidFill>
            <a:schemeClr val="bg1"/>
          </a:solidFill>
        </p:grpSpPr>
        <p:sp>
          <p:nvSpPr>
            <p:cNvPr id="13" name="Freeform 27">
              <a:extLst>
                <a:ext uri="{FF2B5EF4-FFF2-40B4-BE49-F238E27FC236}">
                  <a16:creationId xmlns:a16="http://schemas.microsoft.com/office/drawing/2014/main" id="{308334A5-4B48-4CF1-9409-0EC66970CF7E}"/>
                </a:ext>
              </a:extLst>
            </p:cNvPr>
            <p:cNvSpPr>
              <a:spLocks/>
            </p:cNvSpPr>
            <p:nvPr/>
          </p:nvSpPr>
          <p:spPr bwMode="auto">
            <a:xfrm>
              <a:off x="5459" y="2603"/>
              <a:ext cx="57" cy="48"/>
            </a:xfrm>
            <a:custGeom>
              <a:avLst/>
              <a:gdLst>
                <a:gd name="T0" fmla="*/ 0 w 54"/>
                <a:gd name="T1" fmla="*/ 18 h 45"/>
                <a:gd name="T2" fmla="*/ 54 w 54"/>
                <a:gd name="T3" fmla="*/ 0 h 45"/>
                <a:gd name="T4" fmla="*/ 46 w 54"/>
                <a:gd name="T5" fmla="*/ 45 h 45"/>
                <a:gd name="T6" fmla="*/ 40 w 54"/>
                <a:gd name="T7" fmla="*/ 23 h 45"/>
                <a:gd name="T8" fmla="*/ 0 w 54"/>
                <a:gd name="T9" fmla="*/ 18 h 45"/>
              </a:gdLst>
              <a:ahLst/>
              <a:cxnLst>
                <a:cxn ang="0">
                  <a:pos x="T0" y="T1"/>
                </a:cxn>
                <a:cxn ang="0">
                  <a:pos x="T2" y="T3"/>
                </a:cxn>
                <a:cxn ang="0">
                  <a:pos x="T4" y="T5"/>
                </a:cxn>
                <a:cxn ang="0">
                  <a:pos x="T6" y="T7"/>
                </a:cxn>
                <a:cxn ang="0">
                  <a:pos x="T8" y="T9"/>
                </a:cxn>
              </a:cxnLst>
              <a:rect l="0" t="0" r="r" b="b"/>
              <a:pathLst>
                <a:path w="54" h="45">
                  <a:moveTo>
                    <a:pt x="0" y="18"/>
                  </a:moveTo>
                  <a:cubicBezTo>
                    <a:pt x="0" y="18"/>
                    <a:pt x="30" y="19"/>
                    <a:pt x="54" y="0"/>
                  </a:cubicBezTo>
                  <a:cubicBezTo>
                    <a:pt x="46" y="45"/>
                    <a:pt x="46" y="45"/>
                    <a:pt x="46" y="45"/>
                  </a:cubicBezTo>
                  <a:cubicBezTo>
                    <a:pt x="40" y="23"/>
                    <a:pt x="40" y="23"/>
                    <a:pt x="40" y="23"/>
                  </a:cubicBezTo>
                  <a:cubicBezTo>
                    <a:pt x="40" y="23"/>
                    <a:pt x="29" y="31"/>
                    <a:pt x="0" y="18"/>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14" name="Freeform 28">
              <a:extLst>
                <a:ext uri="{FF2B5EF4-FFF2-40B4-BE49-F238E27FC236}">
                  <a16:creationId xmlns:a16="http://schemas.microsoft.com/office/drawing/2014/main" id="{40ACE0DB-5363-4907-B67C-82610C7670FE}"/>
                </a:ext>
              </a:extLst>
            </p:cNvPr>
            <p:cNvSpPr>
              <a:spLocks noEditPoints="1"/>
            </p:cNvSpPr>
            <p:nvPr/>
          </p:nvSpPr>
          <p:spPr bwMode="auto">
            <a:xfrm>
              <a:off x="5100" y="1511"/>
              <a:ext cx="756" cy="1243"/>
            </a:xfrm>
            <a:custGeom>
              <a:avLst/>
              <a:gdLst>
                <a:gd name="T0" fmla="*/ 638 w 716"/>
                <a:gd name="T1" fmla="*/ 356 h 1179"/>
                <a:gd name="T2" fmla="*/ 533 w 716"/>
                <a:gd name="T3" fmla="*/ 162 h 1179"/>
                <a:gd name="T4" fmla="*/ 380 w 716"/>
                <a:gd name="T5" fmla="*/ 2 h 1179"/>
                <a:gd name="T6" fmla="*/ 296 w 716"/>
                <a:gd name="T7" fmla="*/ 488 h 1179"/>
                <a:gd name="T8" fmla="*/ 92 w 716"/>
                <a:gd name="T9" fmla="*/ 55 h 1179"/>
                <a:gd name="T10" fmla="*/ 132 w 716"/>
                <a:gd name="T11" fmla="*/ 487 h 1179"/>
                <a:gd name="T12" fmla="*/ 232 w 716"/>
                <a:gd name="T13" fmla="*/ 1045 h 1179"/>
                <a:gd name="T14" fmla="*/ 181 w 716"/>
                <a:gd name="T15" fmla="*/ 1178 h 1179"/>
                <a:gd name="T16" fmla="*/ 260 w 716"/>
                <a:gd name="T17" fmla="*/ 1045 h 1179"/>
                <a:gd name="T18" fmla="*/ 105 w 716"/>
                <a:gd name="T19" fmla="*/ 852 h 1179"/>
                <a:gd name="T20" fmla="*/ 154 w 716"/>
                <a:gd name="T21" fmla="*/ 431 h 1179"/>
                <a:gd name="T22" fmla="*/ 99 w 716"/>
                <a:gd name="T23" fmla="*/ 84 h 1179"/>
                <a:gd name="T24" fmla="*/ 297 w 716"/>
                <a:gd name="T25" fmla="*/ 549 h 1179"/>
                <a:gd name="T26" fmla="*/ 161 w 716"/>
                <a:gd name="T27" fmla="*/ 656 h 1179"/>
                <a:gd name="T28" fmla="*/ 399 w 716"/>
                <a:gd name="T29" fmla="*/ 516 h 1179"/>
                <a:gd name="T30" fmla="*/ 553 w 716"/>
                <a:gd name="T31" fmla="*/ 619 h 1179"/>
                <a:gd name="T32" fmla="*/ 319 w 716"/>
                <a:gd name="T33" fmla="*/ 793 h 1179"/>
                <a:gd name="T34" fmla="*/ 415 w 716"/>
                <a:gd name="T35" fmla="*/ 798 h 1179"/>
                <a:gd name="T36" fmla="*/ 438 w 716"/>
                <a:gd name="T37" fmla="*/ 814 h 1179"/>
                <a:gd name="T38" fmla="*/ 569 w 716"/>
                <a:gd name="T39" fmla="*/ 720 h 1179"/>
                <a:gd name="T40" fmla="*/ 547 w 716"/>
                <a:gd name="T41" fmla="*/ 720 h 1179"/>
                <a:gd name="T42" fmla="*/ 561 w 716"/>
                <a:gd name="T43" fmla="*/ 729 h 1179"/>
                <a:gd name="T44" fmla="*/ 414 w 716"/>
                <a:gd name="T45" fmla="*/ 667 h 1179"/>
                <a:gd name="T46" fmla="*/ 574 w 716"/>
                <a:gd name="T47" fmla="*/ 577 h 1179"/>
                <a:gd name="T48" fmla="*/ 485 w 716"/>
                <a:gd name="T49" fmla="*/ 1018 h 1179"/>
                <a:gd name="T50" fmla="*/ 492 w 716"/>
                <a:gd name="T51" fmla="*/ 1175 h 1179"/>
                <a:gd name="T52" fmla="*/ 671 w 716"/>
                <a:gd name="T53" fmla="*/ 840 h 1179"/>
                <a:gd name="T54" fmla="*/ 325 w 716"/>
                <a:gd name="T55" fmla="*/ 522 h 1179"/>
                <a:gd name="T56" fmla="*/ 325 w 716"/>
                <a:gd name="T57" fmla="*/ 142 h 1179"/>
                <a:gd name="T58" fmla="*/ 423 w 716"/>
                <a:gd name="T59" fmla="*/ 507 h 1179"/>
                <a:gd name="T60" fmla="*/ 325 w 716"/>
                <a:gd name="T61" fmla="*/ 522 h 1179"/>
                <a:gd name="T62" fmla="*/ 483 w 716"/>
                <a:gd name="T63" fmla="*/ 355 h 1179"/>
                <a:gd name="T64" fmla="*/ 652 w 716"/>
                <a:gd name="T65" fmla="*/ 186 h 1179"/>
                <a:gd name="T66" fmla="*/ 553 w 716"/>
                <a:gd name="T67" fmla="*/ 552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16" h="1179">
                  <a:moveTo>
                    <a:pt x="580" y="551"/>
                  </a:moveTo>
                  <a:cubicBezTo>
                    <a:pt x="582" y="527"/>
                    <a:pt x="593" y="449"/>
                    <a:pt x="638" y="356"/>
                  </a:cubicBezTo>
                  <a:cubicBezTo>
                    <a:pt x="691" y="244"/>
                    <a:pt x="716" y="90"/>
                    <a:pt x="605" y="79"/>
                  </a:cubicBezTo>
                  <a:cubicBezTo>
                    <a:pt x="555" y="74"/>
                    <a:pt x="544" y="134"/>
                    <a:pt x="533" y="162"/>
                  </a:cubicBezTo>
                  <a:cubicBezTo>
                    <a:pt x="522" y="190"/>
                    <a:pt x="488" y="280"/>
                    <a:pt x="488" y="280"/>
                  </a:cubicBezTo>
                  <a:cubicBezTo>
                    <a:pt x="488" y="280"/>
                    <a:pt x="523" y="6"/>
                    <a:pt x="380" y="2"/>
                  </a:cubicBezTo>
                  <a:cubicBezTo>
                    <a:pt x="279" y="0"/>
                    <a:pt x="298" y="136"/>
                    <a:pt x="301" y="167"/>
                  </a:cubicBezTo>
                  <a:cubicBezTo>
                    <a:pt x="303" y="197"/>
                    <a:pt x="301" y="456"/>
                    <a:pt x="296" y="488"/>
                  </a:cubicBezTo>
                  <a:cubicBezTo>
                    <a:pt x="296" y="488"/>
                    <a:pt x="271" y="422"/>
                    <a:pt x="265" y="349"/>
                  </a:cubicBezTo>
                  <a:cubicBezTo>
                    <a:pt x="259" y="276"/>
                    <a:pt x="259" y="1"/>
                    <a:pt x="92" y="55"/>
                  </a:cubicBezTo>
                  <a:cubicBezTo>
                    <a:pt x="0" y="84"/>
                    <a:pt x="49" y="194"/>
                    <a:pt x="63" y="228"/>
                  </a:cubicBezTo>
                  <a:cubicBezTo>
                    <a:pt x="76" y="262"/>
                    <a:pt x="128" y="408"/>
                    <a:pt x="132" y="487"/>
                  </a:cubicBezTo>
                  <a:cubicBezTo>
                    <a:pt x="137" y="582"/>
                    <a:pt x="111" y="639"/>
                    <a:pt x="89" y="707"/>
                  </a:cubicBezTo>
                  <a:cubicBezTo>
                    <a:pt x="67" y="774"/>
                    <a:pt x="33" y="942"/>
                    <a:pt x="232" y="1045"/>
                  </a:cubicBezTo>
                  <a:cubicBezTo>
                    <a:pt x="232" y="1045"/>
                    <a:pt x="234" y="1122"/>
                    <a:pt x="180" y="1174"/>
                  </a:cubicBezTo>
                  <a:cubicBezTo>
                    <a:pt x="181" y="1178"/>
                    <a:pt x="181" y="1178"/>
                    <a:pt x="181" y="1178"/>
                  </a:cubicBezTo>
                  <a:cubicBezTo>
                    <a:pt x="208" y="1179"/>
                    <a:pt x="208" y="1179"/>
                    <a:pt x="208" y="1179"/>
                  </a:cubicBezTo>
                  <a:cubicBezTo>
                    <a:pt x="208" y="1179"/>
                    <a:pt x="269" y="1095"/>
                    <a:pt x="260" y="1045"/>
                  </a:cubicBezTo>
                  <a:cubicBezTo>
                    <a:pt x="273" y="1038"/>
                    <a:pt x="273" y="1038"/>
                    <a:pt x="273" y="1038"/>
                  </a:cubicBezTo>
                  <a:cubicBezTo>
                    <a:pt x="273" y="1038"/>
                    <a:pt x="129" y="974"/>
                    <a:pt x="105" y="852"/>
                  </a:cubicBezTo>
                  <a:cubicBezTo>
                    <a:pt x="82" y="730"/>
                    <a:pt x="129" y="686"/>
                    <a:pt x="142" y="637"/>
                  </a:cubicBezTo>
                  <a:cubicBezTo>
                    <a:pt x="155" y="588"/>
                    <a:pt x="174" y="515"/>
                    <a:pt x="154" y="431"/>
                  </a:cubicBezTo>
                  <a:cubicBezTo>
                    <a:pt x="135" y="346"/>
                    <a:pt x="93" y="234"/>
                    <a:pt x="77" y="200"/>
                  </a:cubicBezTo>
                  <a:cubicBezTo>
                    <a:pt x="61" y="166"/>
                    <a:pt x="39" y="112"/>
                    <a:pt x="99" y="84"/>
                  </a:cubicBezTo>
                  <a:cubicBezTo>
                    <a:pt x="159" y="56"/>
                    <a:pt x="229" y="158"/>
                    <a:pt x="237" y="251"/>
                  </a:cubicBezTo>
                  <a:cubicBezTo>
                    <a:pt x="246" y="343"/>
                    <a:pt x="247" y="488"/>
                    <a:pt x="297" y="549"/>
                  </a:cubicBezTo>
                  <a:cubicBezTo>
                    <a:pt x="277" y="569"/>
                    <a:pt x="260" y="583"/>
                    <a:pt x="242" y="595"/>
                  </a:cubicBezTo>
                  <a:cubicBezTo>
                    <a:pt x="217" y="612"/>
                    <a:pt x="165" y="643"/>
                    <a:pt x="161" y="656"/>
                  </a:cubicBezTo>
                  <a:cubicBezTo>
                    <a:pt x="160" y="660"/>
                    <a:pt x="260" y="603"/>
                    <a:pt x="289" y="574"/>
                  </a:cubicBezTo>
                  <a:cubicBezTo>
                    <a:pt x="317" y="544"/>
                    <a:pt x="371" y="494"/>
                    <a:pt x="399" y="516"/>
                  </a:cubicBezTo>
                  <a:cubicBezTo>
                    <a:pt x="428" y="538"/>
                    <a:pt x="498" y="570"/>
                    <a:pt x="527" y="570"/>
                  </a:cubicBezTo>
                  <a:cubicBezTo>
                    <a:pt x="555" y="570"/>
                    <a:pt x="562" y="575"/>
                    <a:pt x="553" y="619"/>
                  </a:cubicBezTo>
                  <a:cubicBezTo>
                    <a:pt x="542" y="671"/>
                    <a:pt x="453" y="701"/>
                    <a:pt x="401" y="633"/>
                  </a:cubicBezTo>
                  <a:cubicBezTo>
                    <a:pt x="401" y="633"/>
                    <a:pt x="403" y="759"/>
                    <a:pt x="319" y="793"/>
                  </a:cubicBezTo>
                  <a:cubicBezTo>
                    <a:pt x="319" y="793"/>
                    <a:pt x="364" y="794"/>
                    <a:pt x="391" y="755"/>
                  </a:cubicBezTo>
                  <a:cubicBezTo>
                    <a:pt x="391" y="755"/>
                    <a:pt x="396" y="779"/>
                    <a:pt x="415" y="798"/>
                  </a:cubicBezTo>
                  <a:cubicBezTo>
                    <a:pt x="416" y="829"/>
                    <a:pt x="415" y="914"/>
                    <a:pt x="367" y="983"/>
                  </a:cubicBezTo>
                  <a:cubicBezTo>
                    <a:pt x="367" y="983"/>
                    <a:pt x="432" y="943"/>
                    <a:pt x="438" y="814"/>
                  </a:cubicBezTo>
                  <a:cubicBezTo>
                    <a:pt x="455" y="820"/>
                    <a:pt x="476" y="823"/>
                    <a:pt x="504" y="816"/>
                  </a:cubicBezTo>
                  <a:cubicBezTo>
                    <a:pt x="601" y="794"/>
                    <a:pt x="572" y="732"/>
                    <a:pt x="569" y="720"/>
                  </a:cubicBezTo>
                  <a:cubicBezTo>
                    <a:pt x="569" y="720"/>
                    <a:pt x="588" y="711"/>
                    <a:pt x="602" y="708"/>
                  </a:cubicBezTo>
                  <a:cubicBezTo>
                    <a:pt x="602" y="708"/>
                    <a:pt x="595" y="687"/>
                    <a:pt x="547" y="720"/>
                  </a:cubicBezTo>
                  <a:cubicBezTo>
                    <a:pt x="498" y="753"/>
                    <a:pt x="514" y="756"/>
                    <a:pt x="514" y="756"/>
                  </a:cubicBezTo>
                  <a:cubicBezTo>
                    <a:pt x="514" y="756"/>
                    <a:pt x="550" y="733"/>
                    <a:pt x="561" y="729"/>
                  </a:cubicBezTo>
                  <a:cubicBezTo>
                    <a:pt x="561" y="729"/>
                    <a:pt x="570" y="795"/>
                    <a:pt x="497" y="801"/>
                  </a:cubicBezTo>
                  <a:cubicBezTo>
                    <a:pt x="425" y="808"/>
                    <a:pt x="387" y="749"/>
                    <a:pt x="414" y="667"/>
                  </a:cubicBezTo>
                  <a:cubicBezTo>
                    <a:pt x="414" y="667"/>
                    <a:pt x="461" y="713"/>
                    <a:pt x="528" y="682"/>
                  </a:cubicBezTo>
                  <a:cubicBezTo>
                    <a:pt x="596" y="651"/>
                    <a:pt x="574" y="577"/>
                    <a:pt x="574" y="577"/>
                  </a:cubicBezTo>
                  <a:cubicBezTo>
                    <a:pt x="574" y="577"/>
                    <a:pt x="626" y="558"/>
                    <a:pt x="650" y="626"/>
                  </a:cubicBezTo>
                  <a:cubicBezTo>
                    <a:pt x="674" y="694"/>
                    <a:pt x="687" y="923"/>
                    <a:pt x="485" y="1018"/>
                  </a:cubicBezTo>
                  <a:cubicBezTo>
                    <a:pt x="485" y="1018"/>
                    <a:pt x="486" y="1134"/>
                    <a:pt x="474" y="1171"/>
                  </a:cubicBezTo>
                  <a:cubicBezTo>
                    <a:pt x="492" y="1175"/>
                    <a:pt x="492" y="1175"/>
                    <a:pt x="492" y="1175"/>
                  </a:cubicBezTo>
                  <a:cubicBezTo>
                    <a:pt x="492" y="1175"/>
                    <a:pt x="517" y="1126"/>
                    <a:pt x="509" y="1032"/>
                  </a:cubicBezTo>
                  <a:cubicBezTo>
                    <a:pt x="509" y="1032"/>
                    <a:pt x="626" y="983"/>
                    <a:pt x="671" y="840"/>
                  </a:cubicBezTo>
                  <a:cubicBezTo>
                    <a:pt x="715" y="700"/>
                    <a:pt x="694" y="549"/>
                    <a:pt x="580" y="551"/>
                  </a:cubicBezTo>
                  <a:close/>
                  <a:moveTo>
                    <a:pt x="325" y="522"/>
                  </a:moveTo>
                  <a:cubicBezTo>
                    <a:pt x="322" y="525"/>
                    <a:pt x="319" y="528"/>
                    <a:pt x="316" y="532"/>
                  </a:cubicBezTo>
                  <a:cubicBezTo>
                    <a:pt x="317" y="487"/>
                    <a:pt x="327" y="174"/>
                    <a:pt x="325" y="142"/>
                  </a:cubicBezTo>
                  <a:cubicBezTo>
                    <a:pt x="323" y="108"/>
                    <a:pt x="313" y="36"/>
                    <a:pt x="384" y="28"/>
                  </a:cubicBezTo>
                  <a:cubicBezTo>
                    <a:pt x="454" y="19"/>
                    <a:pt x="506" y="187"/>
                    <a:pt x="423" y="507"/>
                  </a:cubicBezTo>
                  <a:cubicBezTo>
                    <a:pt x="422" y="506"/>
                    <a:pt x="421" y="505"/>
                    <a:pt x="420" y="504"/>
                  </a:cubicBezTo>
                  <a:cubicBezTo>
                    <a:pt x="403" y="489"/>
                    <a:pt x="360" y="487"/>
                    <a:pt x="325" y="522"/>
                  </a:cubicBezTo>
                  <a:close/>
                  <a:moveTo>
                    <a:pt x="433" y="515"/>
                  </a:moveTo>
                  <a:cubicBezTo>
                    <a:pt x="441" y="488"/>
                    <a:pt x="467" y="405"/>
                    <a:pt x="483" y="355"/>
                  </a:cubicBezTo>
                  <a:cubicBezTo>
                    <a:pt x="501" y="295"/>
                    <a:pt x="561" y="140"/>
                    <a:pt x="575" y="128"/>
                  </a:cubicBezTo>
                  <a:cubicBezTo>
                    <a:pt x="590" y="116"/>
                    <a:pt x="639" y="92"/>
                    <a:pt x="652" y="186"/>
                  </a:cubicBezTo>
                  <a:cubicBezTo>
                    <a:pt x="666" y="280"/>
                    <a:pt x="616" y="329"/>
                    <a:pt x="590" y="398"/>
                  </a:cubicBezTo>
                  <a:cubicBezTo>
                    <a:pt x="567" y="459"/>
                    <a:pt x="551" y="522"/>
                    <a:pt x="553" y="552"/>
                  </a:cubicBezTo>
                  <a:cubicBezTo>
                    <a:pt x="498" y="552"/>
                    <a:pt x="455" y="531"/>
                    <a:pt x="433" y="515"/>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
        <p:nvSpPr>
          <p:cNvPr id="16" name="文本框 15">
            <a:extLst>
              <a:ext uri="{FF2B5EF4-FFF2-40B4-BE49-F238E27FC236}">
                <a16:creationId xmlns:a16="http://schemas.microsoft.com/office/drawing/2014/main" id="{424D4CAB-11DA-48CC-8053-CA43E13ACB40}"/>
              </a:ext>
            </a:extLst>
          </p:cNvPr>
          <p:cNvSpPr txBox="1"/>
          <p:nvPr/>
        </p:nvSpPr>
        <p:spPr>
          <a:xfrm>
            <a:off x="766427" y="5091281"/>
            <a:ext cx="5035242" cy="707886"/>
          </a:xfrm>
          <a:prstGeom prst="rect">
            <a:avLst/>
          </a:prstGeom>
          <a:noFill/>
        </p:spPr>
        <p:txBody>
          <a:bodyPr wrap="square">
            <a:spAutoFit/>
          </a:bodyPr>
          <a:lstStyle/>
          <a:p>
            <a:r>
              <a:rPr lang="zh-CN" altLang="en-US" sz="2400" dirty="0">
                <a:latin typeface="Times New Roman" panose="02020603050405020304" pitchFamily="18" charset="0"/>
                <a:ea typeface="华文中宋" panose="02010600040101010101" pitchFamily="2" charset="-122"/>
              </a:rPr>
              <a:t>系统在瞬态过程中应有好的快速性</a:t>
            </a:r>
            <a:r>
              <a:rPr lang="zh-CN" altLang="en-US" sz="4000" dirty="0">
                <a:latin typeface="Times New Roman" panose="02020603050405020304" pitchFamily="18" charset="0"/>
                <a:ea typeface="华文中宋" panose="02010600040101010101" pitchFamily="2" charset="-122"/>
              </a:rPr>
              <a:t>。</a:t>
            </a:r>
          </a:p>
        </p:txBody>
      </p:sp>
      <p:sp>
        <p:nvSpPr>
          <p:cNvPr id="18" name="文本框 17">
            <a:extLst>
              <a:ext uri="{FF2B5EF4-FFF2-40B4-BE49-F238E27FC236}">
                <a16:creationId xmlns:a16="http://schemas.microsoft.com/office/drawing/2014/main" id="{977DA33A-BAC1-4F84-873D-53E4E85A3499}"/>
              </a:ext>
            </a:extLst>
          </p:cNvPr>
          <p:cNvSpPr txBox="1"/>
          <p:nvPr/>
        </p:nvSpPr>
        <p:spPr>
          <a:xfrm>
            <a:off x="817540" y="4260284"/>
            <a:ext cx="3628228" cy="830997"/>
          </a:xfrm>
          <a:prstGeom prst="rect">
            <a:avLst/>
          </a:prstGeom>
          <a:noFill/>
        </p:spPr>
        <p:txBody>
          <a:bodyPr wrap="square">
            <a:spAutoFit/>
          </a:bodyPr>
          <a:lstStyle/>
          <a:p>
            <a:r>
              <a:rPr lang="zh-CN" altLang="en-US" sz="2400" dirty="0">
                <a:latin typeface="Times New Roman" panose="02020603050405020304" pitchFamily="18" charset="0"/>
                <a:ea typeface="华文中宋" panose="02010600040101010101" pitchFamily="2" charset="-122"/>
              </a:rPr>
              <a:t>系统达到稳态时，应满足给定的稳态误差的要求</a:t>
            </a:r>
          </a:p>
        </p:txBody>
      </p:sp>
      <p:sp>
        <p:nvSpPr>
          <p:cNvPr id="20" name="文本框 19">
            <a:extLst>
              <a:ext uri="{FF2B5EF4-FFF2-40B4-BE49-F238E27FC236}">
                <a16:creationId xmlns:a16="http://schemas.microsoft.com/office/drawing/2014/main" id="{7F53C155-EF13-4515-9C5C-D5D9D8E0D59C}"/>
              </a:ext>
            </a:extLst>
          </p:cNvPr>
          <p:cNvSpPr txBox="1"/>
          <p:nvPr/>
        </p:nvSpPr>
        <p:spPr>
          <a:xfrm>
            <a:off x="799756" y="3684855"/>
            <a:ext cx="3340196" cy="461665"/>
          </a:xfrm>
          <a:prstGeom prst="rect">
            <a:avLst/>
          </a:prstGeom>
          <a:noFill/>
        </p:spPr>
        <p:txBody>
          <a:bodyPr wrap="square">
            <a:spAutoFit/>
          </a:bodyPr>
          <a:lstStyle/>
          <a:p>
            <a:r>
              <a:rPr lang="zh-CN" altLang="en-US" sz="2400" dirty="0">
                <a:latin typeface="Times New Roman" panose="02020603050405020304" pitchFamily="18" charset="0"/>
                <a:ea typeface="华文中宋" panose="02010600040101010101" pitchFamily="2" charset="-122"/>
              </a:rPr>
              <a:t>系统应该是稳定的；</a:t>
            </a:r>
          </a:p>
        </p:txBody>
      </p:sp>
      <p:sp>
        <p:nvSpPr>
          <p:cNvPr id="23" name="Freeform 5">
            <a:extLst>
              <a:ext uri="{FF2B5EF4-FFF2-40B4-BE49-F238E27FC236}">
                <a16:creationId xmlns:a16="http://schemas.microsoft.com/office/drawing/2014/main" id="{B2B42AB6-E991-41FB-9D88-B4EF3E2BCACE}"/>
              </a:ext>
            </a:extLst>
          </p:cNvPr>
          <p:cNvSpPr>
            <a:spLocks/>
          </p:cNvSpPr>
          <p:nvPr/>
        </p:nvSpPr>
        <p:spPr bwMode="auto">
          <a:xfrm rot="5844680">
            <a:off x="5681787" y="4191083"/>
            <a:ext cx="675370" cy="687388"/>
          </a:xfrm>
          <a:custGeom>
            <a:avLst/>
            <a:gdLst>
              <a:gd name="T0" fmla="*/ 79 w 188"/>
              <a:gd name="T1" fmla="*/ 206 h 211"/>
              <a:gd name="T2" fmla="*/ 87 w 188"/>
              <a:gd name="T3" fmla="*/ 206 h 211"/>
              <a:gd name="T4" fmla="*/ 80 w 188"/>
              <a:gd name="T5" fmla="*/ 146 h 211"/>
              <a:gd name="T6" fmla="*/ 68 w 188"/>
              <a:gd name="T7" fmla="*/ 103 h 211"/>
              <a:gd name="T8" fmla="*/ 16 w 188"/>
              <a:gd name="T9" fmla="*/ 115 h 211"/>
              <a:gd name="T10" fmla="*/ 72 w 188"/>
              <a:gd name="T11" fmla="*/ 12 h 211"/>
              <a:gd name="T12" fmla="*/ 163 w 188"/>
              <a:gd name="T13" fmla="*/ 98 h 211"/>
              <a:gd name="T14" fmla="*/ 115 w 188"/>
              <a:gd name="T15" fmla="*/ 100 h 211"/>
              <a:gd name="T16" fmla="*/ 89 w 188"/>
              <a:gd name="T17" fmla="*/ 106 h 211"/>
              <a:gd name="T18" fmla="*/ 138 w 188"/>
              <a:gd name="T19" fmla="*/ 183 h 211"/>
              <a:gd name="T20" fmla="*/ 92 w 188"/>
              <a:gd name="T21" fmla="*/ 196 h 211"/>
              <a:gd name="T22" fmla="*/ 122 w 188"/>
              <a:gd name="T23" fmla="*/ 195 h 211"/>
              <a:gd name="T24" fmla="*/ 139 w 188"/>
              <a:gd name="T25" fmla="*/ 164 h 211"/>
              <a:gd name="T26" fmla="*/ 102 w 188"/>
              <a:gd name="T27" fmla="*/ 108 h 211"/>
              <a:gd name="T28" fmla="*/ 162 w 188"/>
              <a:gd name="T29" fmla="*/ 106 h 211"/>
              <a:gd name="T30" fmla="*/ 160 w 188"/>
              <a:gd name="T31" fmla="*/ 84 h 211"/>
              <a:gd name="T32" fmla="*/ 116 w 188"/>
              <a:gd name="T33" fmla="*/ 44 h 211"/>
              <a:gd name="T34" fmla="*/ 70 w 188"/>
              <a:gd name="T35" fmla="*/ 1 h 211"/>
              <a:gd name="T36" fmla="*/ 28 w 188"/>
              <a:gd name="T37" fmla="*/ 87 h 211"/>
              <a:gd name="T38" fmla="*/ 1 w 188"/>
              <a:gd name="T39" fmla="*/ 119 h 211"/>
              <a:gd name="T40" fmla="*/ 64 w 188"/>
              <a:gd name="T41" fmla="*/ 112 h 211"/>
              <a:gd name="T42" fmla="*/ 79 w 188"/>
              <a:gd name="T43" fmla="*/ 20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8" h="211">
                <a:moveTo>
                  <a:pt x="79" y="206"/>
                </a:moveTo>
                <a:cubicBezTo>
                  <a:pt x="79" y="211"/>
                  <a:pt x="87" y="211"/>
                  <a:pt x="87" y="206"/>
                </a:cubicBezTo>
                <a:cubicBezTo>
                  <a:pt x="87" y="186"/>
                  <a:pt x="84" y="165"/>
                  <a:pt x="80" y="146"/>
                </a:cubicBezTo>
                <a:cubicBezTo>
                  <a:pt x="79" y="138"/>
                  <a:pt x="76" y="106"/>
                  <a:pt x="68" y="103"/>
                </a:cubicBezTo>
                <a:cubicBezTo>
                  <a:pt x="60" y="100"/>
                  <a:pt x="27" y="115"/>
                  <a:pt x="16" y="115"/>
                </a:cubicBezTo>
                <a:cubicBezTo>
                  <a:pt x="45" y="88"/>
                  <a:pt x="54" y="46"/>
                  <a:pt x="72" y="12"/>
                </a:cubicBezTo>
                <a:cubicBezTo>
                  <a:pt x="100" y="43"/>
                  <a:pt x="132" y="70"/>
                  <a:pt x="163" y="98"/>
                </a:cubicBezTo>
                <a:cubicBezTo>
                  <a:pt x="147" y="98"/>
                  <a:pt x="131" y="100"/>
                  <a:pt x="115" y="100"/>
                </a:cubicBezTo>
                <a:cubicBezTo>
                  <a:pt x="113" y="100"/>
                  <a:pt x="80" y="96"/>
                  <a:pt x="89" y="106"/>
                </a:cubicBezTo>
                <a:cubicBezTo>
                  <a:pt x="110" y="128"/>
                  <a:pt x="128" y="153"/>
                  <a:pt x="138" y="183"/>
                </a:cubicBezTo>
                <a:cubicBezTo>
                  <a:pt x="129" y="185"/>
                  <a:pt x="96" y="188"/>
                  <a:pt x="92" y="196"/>
                </a:cubicBezTo>
                <a:cubicBezTo>
                  <a:pt x="85" y="207"/>
                  <a:pt x="121" y="196"/>
                  <a:pt x="122" y="195"/>
                </a:cubicBezTo>
                <a:cubicBezTo>
                  <a:pt x="147" y="189"/>
                  <a:pt x="150" y="189"/>
                  <a:pt x="139" y="164"/>
                </a:cubicBezTo>
                <a:cubicBezTo>
                  <a:pt x="130" y="143"/>
                  <a:pt x="117" y="125"/>
                  <a:pt x="102" y="108"/>
                </a:cubicBezTo>
                <a:cubicBezTo>
                  <a:pt x="122" y="109"/>
                  <a:pt x="142" y="106"/>
                  <a:pt x="162" y="106"/>
                </a:cubicBezTo>
                <a:cubicBezTo>
                  <a:pt x="188" y="106"/>
                  <a:pt x="173" y="96"/>
                  <a:pt x="160" y="84"/>
                </a:cubicBezTo>
                <a:cubicBezTo>
                  <a:pt x="145" y="71"/>
                  <a:pt x="130" y="58"/>
                  <a:pt x="116" y="44"/>
                </a:cubicBezTo>
                <a:cubicBezTo>
                  <a:pt x="109" y="38"/>
                  <a:pt x="79" y="0"/>
                  <a:pt x="70" y="1"/>
                </a:cubicBezTo>
                <a:cubicBezTo>
                  <a:pt x="57" y="3"/>
                  <a:pt x="35" y="75"/>
                  <a:pt x="28" y="87"/>
                </a:cubicBezTo>
                <a:cubicBezTo>
                  <a:pt x="24" y="93"/>
                  <a:pt x="0" y="115"/>
                  <a:pt x="1" y="119"/>
                </a:cubicBezTo>
                <a:cubicBezTo>
                  <a:pt x="4" y="133"/>
                  <a:pt x="56" y="116"/>
                  <a:pt x="64" y="112"/>
                </a:cubicBezTo>
                <a:cubicBezTo>
                  <a:pt x="73" y="141"/>
                  <a:pt x="79" y="179"/>
                  <a:pt x="79" y="206"/>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nvGrpSpPr>
          <p:cNvPr id="2" name="组合 1">
            <a:extLst>
              <a:ext uri="{FF2B5EF4-FFF2-40B4-BE49-F238E27FC236}">
                <a16:creationId xmlns:a16="http://schemas.microsoft.com/office/drawing/2014/main" id="{2359E870-FB35-45BA-85C3-A3A337DCBF4E}"/>
              </a:ext>
            </a:extLst>
          </p:cNvPr>
          <p:cNvGrpSpPr/>
          <p:nvPr/>
        </p:nvGrpSpPr>
        <p:grpSpPr>
          <a:xfrm>
            <a:off x="6368356" y="3789040"/>
            <a:ext cx="3008412" cy="1584176"/>
            <a:chOff x="6368356" y="3789040"/>
            <a:chExt cx="3008412" cy="1584176"/>
          </a:xfrm>
        </p:grpSpPr>
        <p:sp>
          <p:nvSpPr>
            <p:cNvPr id="22" name="文本框 21">
              <a:extLst>
                <a:ext uri="{FF2B5EF4-FFF2-40B4-BE49-F238E27FC236}">
                  <a16:creationId xmlns:a16="http://schemas.microsoft.com/office/drawing/2014/main" id="{01CBFED8-4213-4ECD-A69F-4D8CB0E87E2B}"/>
                </a:ext>
              </a:extLst>
            </p:cNvPr>
            <p:cNvSpPr txBox="1"/>
            <p:nvPr/>
          </p:nvSpPr>
          <p:spPr>
            <a:xfrm>
              <a:off x="7006037" y="3944999"/>
              <a:ext cx="2370731" cy="1178297"/>
            </a:xfrm>
            <a:prstGeom prst="rect">
              <a:avLst/>
            </a:prstGeom>
            <a:noFill/>
          </p:spPr>
          <p:txBody>
            <a:bodyPr wrap="square">
              <a:spAutoFit/>
            </a:bodyPr>
            <a:lstStyle/>
            <a:p>
              <a:r>
                <a:rPr lang="zh-CN" altLang="en-US" sz="2800" dirty="0">
                  <a:latin typeface="Times New Roman" panose="02020603050405020304" pitchFamily="18" charset="0"/>
                  <a:ea typeface="华文中宋" panose="02010600040101010101" pitchFamily="2" charset="-122"/>
                </a:rPr>
                <a:t>简称为：</a:t>
              </a:r>
              <a:endParaRPr lang="en-US" altLang="zh-CN" sz="2800" dirty="0">
                <a:latin typeface="Times New Roman" panose="02020603050405020304" pitchFamily="18" charset="0"/>
                <a:ea typeface="华文中宋" panose="02010600040101010101" pitchFamily="2" charset="-122"/>
              </a:endParaRPr>
            </a:p>
            <a:p>
              <a:r>
                <a:rPr lang="zh-CN" altLang="en-US" sz="2800" dirty="0">
                  <a:solidFill>
                    <a:srgbClr val="FF0000"/>
                  </a:solidFill>
                  <a:latin typeface="Times New Roman" panose="02020603050405020304" pitchFamily="18" charset="0"/>
                  <a:ea typeface="华文细黑" panose="02010600040101010101" pitchFamily="2" charset="-122"/>
                </a:rPr>
                <a:t>稳、准、快</a:t>
              </a:r>
            </a:p>
          </p:txBody>
        </p:sp>
        <p:sp>
          <p:nvSpPr>
            <p:cNvPr id="24" name="Freeform 56">
              <a:extLst>
                <a:ext uri="{FF2B5EF4-FFF2-40B4-BE49-F238E27FC236}">
                  <a16:creationId xmlns:a16="http://schemas.microsoft.com/office/drawing/2014/main" id="{8E955021-5F69-4238-B5F1-30E5FBF81AAD}"/>
                </a:ext>
              </a:extLst>
            </p:cNvPr>
            <p:cNvSpPr>
              <a:spLocks/>
            </p:cNvSpPr>
            <p:nvPr/>
          </p:nvSpPr>
          <p:spPr bwMode="auto">
            <a:xfrm>
              <a:off x="6368356" y="3789040"/>
              <a:ext cx="2740148" cy="158417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25064"/>
                                        </p:tgtEl>
                                        <p:attrNameLst>
                                          <p:attrName>style.visibility</p:attrName>
                                        </p:attrNameLst>
                                      </p:cBhvr>
                                      <p:to>
                                        <p:strVal val="visible"/>
                                      </p:to>
                                    </p:set>
                                    <p:animEffect transition="in" filter="checkerboard(across)">
                                      <p:cBhvr>
                                        <p:cTn id="7" dur="500"/>
                                        <p:tgtEl>
                                          <p:spTgt spid="1325064"/>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1325065"/>
                                        </p:tgtEl>
                                        <p:attrNameLst>
                                          <p:attrName>style.visibility</p:attrName>
                                        </p:attrNameLst>
                                      </p:cBhvr>
                                      <p:to>
                                        <p:strVal val="visible"/>
                                      </p:to>
                                    </p:set>
                                    <p:animEffect transition="in" filter="checkerboard(across)">
                                      <p:cBhvr>
                                        <p:cTn id="11" dur="500"/>
                                        <p:tgtEl>
                                          <p:spTgt spid="13250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25067">
                                            <p:txEl>
                                              <p:pRg st="0" end="0"/>
                                            </p:txEl>
                                          </p:spTgt>
                                        </p:tgtEl>
                                        <p:attrNameLst>
                                          <p:attrName>style.visibility</p:attrName>
                                        </p:attrNameLst>
                                      </p:cBhvr>
                                      <p:to>
                                        <p:strVal val="visible"/>
                                      </p:to>
                                    </p:set>
                                    <p:animEffect transition="in" filter="wipe(left)">
                                      <p:cBhvr>
                                        <p:cTn id="16" dur="500"/>
                                        <p:tgtEl>
                                          <p:spTgt spid="132506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circle(in)">
                                      <p:cBhvr>
                                        <p:cTn id="21" dur="2000"/>
                                        <p:tgtEl>
                                          <p:spTgt spid="20"/>
                                        </p:tgtEl>
                                      </p:cBhvr>
                                    </p:animEffect>
                                  </p:childTnLst>
                                </p:cTn>
                              </p:par>
                              <p:par>
                                <p:cTn id="22" presetID="6" presetClass="entr" presetSubtype="16"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circle(in)">
                                      <p:cBhvr>
                                        <p:cTn id="24" dur="2000"/>
                                        <p:tgtEl>
                                          <p:spTgt spid="6"/>
                                        </p:tgtEl>
                                      </p:cBhvr>
                                    </p:animEffect>
                                  </p:childTnLst>
                                </p:cTn>
                              </p:par>
                              <p:par>
                                <p:cTn id="25" presetID="6" presetClass="entr" presetSubtype="16"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ircle(in)">
                                      <p:cBhvr>
                                        <p:cTn id="27" dur="2000"/>
                                        <p:tgtEl>
                                          <p:spTgt spid="9"/>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circle(in)">
                                      <p:cBhvr>
                                        <p:cTn id="30" dur="2000"/>
                                        <p:tgtEl>
                                          <p:spTgt spid="18"/>
                                        </p:tgtEl>
                                      </p:cBhvr>
                                    </p:animEffect>
                                  </p:childTnLst>
                                </p:cTn>
                              </p:par>
                              <p:par>
                                <p:cTn id="31" presetID="6" presetClass="entr" presetSubtype="16"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ircle(in)">
                                      <p:cBhvr>
                                        <p:cTn id="33" dur="2000"/>
                                        <p:tgtEl>
                                          <p:spTgt spid="12"/>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circle(in)">
                                      <p:cBhvr>
                                        <p:cTn id="36" dur="2000"/>
                                        <p:tgtEl>
                                          <p:spTgt spid="16"/>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circle(in)">
                                      <p:cBhvr>
                                        <p:cTn id="39" dur="20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circle(in)">
                                      <p:cBhvr>
                                        <p:cTn id="4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5064" grpId="0"/>
      <p:bldP spid="1325067" grpId="0" build="p"/>
      <p:bldP spid="16" grpId="0"/>
      <p:bldP spid="18" grpId="0"/>
      <p:bldP spid="20" grpId="0"/>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561603"/>
          <p:cNvSpPr>
            <a:spLocks noGrp="1" noChangeArrowheads="1"/>
          </p:cNvSpPr>
          <p:nvPr>
            <p:ph type="title" idx="4294967295"/>
          </p:nvPr>
        </p:nvSpPr>
        <p:spPr>
          <a:xfrm>
            <a:off x="2267744" y="332656"/>
            <a:ext cx="4355976" cy="701774"/>
          </a:xfrm>
        </p:spPr>
        <p:txBody>
          <a:bodyPr vert="horz" wrap="square" lIns="91440" tIns="45720" rIns="91440" bIns="45720" numCol="1" rtlCol="0"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400" b="0" i="0" u="none" strike="noStrike" kern="1200" cap="none" spc="0" normalizeH="0" baseline="0" noProof="0" dirty="0">
                <a:ln>
                  <a:noFill/>
                </a:ln>
                <a:solidFill>
                  <a:srgbClr val="002060"/>
                </a:solidFill>
                <a:effectLst/>
                <a:uLnTx/>
                <a:uFillTx/>
                <a:latin typeface="+mj-lt"/>
                <a:ea typeface="+mj-ea"/>
                <a:cs typeface="+mj-cs"/>
              </a:rPr>
              <a:t>小结</a:t>
            </a:r>
          </a:p>
        </p:txBody>
      </p:sp>
      <p:sp>
        <p:nvSpPr>
          <p:cNvPr id="1561605" name="内容占位符 1561604"/>
          <p:cNvSpPr>
            <a:spLocks noGrp="1"/>
          </p:cNvSpPr>
          <p:nvPr>
            <p:ph idx="4294967295"/>
          </p:nvPr>
        </p:nvSpPr>
        <p:spPr>
          <a:xfrm>
            <a:off x="754105" y="1412875"/>
            <a:ext cx="7346287" cy="3096245"/>
          </a:xfrm>
        </p:spPr>
        <p:txBody>
          <a:bodyPr vert="horz" wrap="square" lIns="91440" tIns="45720" rIns="91440" bIns="45720" anchor="t" anchorCtr="0"/>
          <a:lstStyle/>
          <a:p>
            <a:pPr eaLnBrk="1" hangingPunct="1">
              <a:buFont typeface="Wingdings" panose="05000000000000000000" pitchFamily="2" charset="2"/>
              <a:buChar char="l"/>
            </a:pPr>
            <a:r>
              <a:rPr lang="zh-CN" altLang="en-US" dirty="0"/>
              <a:t>典型输入作用极其之间的关系</a:t>
            </a:r>
          </a:p>
          <a:p>
            <a:pPr eaLnBrk="1" hangingPunct="1">
              <a:buFont typeface="Wingdings" panose="05000000000000000000" pitchFamily="2" charset="2"/>
              <a:buChar char="l"/>
            </a:pPr>
            <a:r>
              <a:rPr lang="zh-CN" altLang="en-US" dirty="0"/>
              <a:t>典型响应及其之间的关系</a:t>
            </a:r>
          </a:p>
          <a:p>
            <a:pPr eaLnBrk="1" hangingPunct="1">
              <a:buFont typeface="Wingdings" panose="05000000000000000000" pitchFamily="2" charset="2"/>
              <a:buChar char="l"/>
            </a:pPr>
            <a:r>
              <a:rPr lang="zh-CN" altLang="en-US" dirty="0"/>
              <a:t>瞬态过程和稳态过程</a:t>
            </a:r>
          </a:p>
          <a:p>
            <a:pPr eaLnBrk="1" hangingPunct="1">
              <a:buFont typeface="Wingdings" panose="05000000000000000000" pitchFamily="2" charset="2"/>
              <a:buChar char="l"/>
            </a:pPr>
            <a:r>
              <a:rPr lang="zh-CN" altLang="en-US" dirty="0"/>
              <a:t>瞬态过程的性能指标</a:t>
            </a:r>
            <a:r>
              <a:rPr lang="en-US" altLang="zh-CN" dirty="0"/>
              <a:t>(</a:t>
            </a:r>
            <a:r>
              <a:rPr lang="zh-CN" altLang="en-US" dirty="0"/>
              <a:t>有衰减振荡和单调变化之分</a:t>
            </a:r>
            <a:r>
              <a:rPr lang="en-US" altLang="zh-CN" dirty="0"/>
              <a:t>)</a:t>
            </a:r>
          </a:p>
          <a:p>
            <a:pPr eaLnBrk="1" hangingPunct="1">
              <a:buFont typeface="Wingdings" panose="05000000000000000000" pitchFamily="2" charset="2"/>
              <a:buChar char="l"/>
            </a:pPr>
            <a:r>
              <a:rPr lang="zh-CN" altLang="en-US" dirty="0"/>
              <a:t>稳态过程的性能指标</a:t>
            </a:r>
            <a:r>
              <a:rPr lang="en-US" altLang="zh-CN" dirty="0"/>
              <a:t>(</a:t>
            </a:r>
            <a:r>
              <a:rPr lang="zh-CN" altLang="en-US" dirty="0"/>
              <a:t>稳态误差</a:t>
            </a:r>
            <a:r>
              <a:rPr lang="en-US" altLang="zh-CN" dirty="0"/>
              <a:t>)</a:t>
            </a:r>
          </a:p>
          <a:p>
            <a:pPr eaLnBrk="1" hangingPunct="1">
              <a:buFont typeface="Wingdings" panose="05000000000000000000" pitchFamily="2" charset="2"/>
              <a:buChar char="l"/>
            </a:pPr>
            <a:r>
              <a:rPr lang="zh-CN" altLang="en-US" dirty="0"/>
              <a:t>对一个控制系统的要求</a:t>
            </a:r>
            <a:r>
              <a:rPr lang="en-US" altLang="zh-CN" dirty="0"/>
              <a:t>(</a:t>
            </a:r>
            <a:r>
              <a:rPr lang="zh-CN" altLang="en-US" dirty="0"/>
              <a:t>稳、准、快</a:t>
            </a:r>
            <a:r>
              <a:rPr lang="en-US" altLang="zh-CN" dirty="0"/>
              <a:t>)</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1605">
                                            <p:txEl>
                                              <p:pRg st="0" end="0"/>
                                            </p:txEl>
                                          </p:spTgt>
                                        </p:tgtEl>
                                        <p:attrNameLst>
                                          <p:attrName>style.visibility</p:attrName>
                                        </p:attrNameLst>
                                      </p:cBhvr>
                                      <p:to>
                                        <p:strVal val="visible"/>
                                      </p:to>
                                    </p:set>
                                    <p:animEffect transition="in" filter="wipe(left)">
                                      <p:cBhvr>
                                        <p:cTn id="7" dur="500"/>
                                        <p:tgtEl>
                                          <p:spTgt spid="15616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1605">
                                            <p:txEl>
                                              <p:pRg st="1" end="1"/>
                                            </p:txEl>
                                          </p:spTgt>
                                        </p:tgtEl>
                                        <p:attrNameLst>
                                          <p:attrName>style.visibility</p:attrName>
                                        </p:attrNameLst>
                                      </p:cBhvr>
                                      <p:to>
                                        <p:strVal val="visible"/>
                                      </p:to>
                                    </p:set>
                                    <p:animEffect transition="in" filter="wipe(left)">
                                      <p:cBhvr>
                                        <p:cTn id="12" dur="500"/>
                                        <p:tgtEl>
                                          <p:spTgt spid="15616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1605">
                                            <p:txEl>
                                              <p:pRg st="2" end="2"/>
                                            </p:txEl>
                                          </p:spTgt>
                                        </p:tgtEl>
                                        <p:attrNameLst>
                                          <p:attrName>style.visibility</p:attrName>
                                        </p:attrNameLst>
                                      </p:cBhvr>
                                      <p:to>
                                        <p:strVal val="visible"/>
                                      </p:to>
                                    </p:set>
                                    <p:animEffect transition="in" filter="wipe(left)">
                                      <p:cBhvr>
                                        <p:cTn id="17" dur="500"/>
                                        <p:tgtEl>
                                          <p:spTgt spid="15616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61605">
                                            <p:txEl>
                                              <p:pRg st="3" end="3"/>
                                            </p:txEl>
                                          </p:spTgt>
                                        </p:tgtEl>
                                        <p:attrNameLst>
                                          <p:attrName>style.visibility</p:attrName>
                                        </p:attrNameLst>
                                      </p:cBhvr>
                                      <p:to>
                                        <p:strVal val="visible"/>
                                      </p:to>
                                    </p:set>
                                    <p:animEffect transition="in" filter="wipe(left)">
                                      <p:cBhvr>
                                        <p:cTn id="22" dur="500"/>
                                        <p:tgtEl>
                                          <p:spTgt spid="15616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1605">
                                            <p:txEl>
                                              <p:pRg st="4" end="4"/>
                                            </p:txEl>
                                          </p:spTgt>
                                        </p:tgtEl>
                                        <p:attrNameLst>
                                          <p:attrName>style.visibility</p:attrName>
                                        </p:attrNameLst>
                                      </p:cBhvr>
                                      <p:to>
                                        <p:strVal val="visible"/>
                                      </p:to>
                                    </p:set>
                                    <p:animEffect transition="in" filter="wipe(left)">
                                      <p:cBhvr>
                                        <p:cTn id="27" dur="500"/>
                                        <p:tgtEl>
                                          <p:spTgt spid="156160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61605">
                                            <p:txEl>
                                              <p:pRg st="5" end="5"/>
                                            </p:txEl>
                                          </p:spTgt>
                                        </p:tgtEl>
                                        <p:attrNameLst>
                                          <p:attrName>style.visibility</p:attrName>
                                        </p:attrNameLst>
                                      </p:cBhvr>
                                      <p:to>
                                        <p:strVal val="visible"/>
                                      </p:to>
                                    </p:set>
                                    <p:animEffect transition="in" filter="wipe(left)">
                                      <p:cBhvr>
                                        <p:cTn id="32" dur="500"/>
                                        <p:tgtEl>
                                          <p:spTgt spid="156160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160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7463" name="标题 1427462"/>
          <p:cNvSpPr txBox="1">
            <a:spLocks noGrp="1"/>
          </p:cNvSpPr>
          <p:nvPr>
            <p:ph type="title"/>
          </p:nvPr>
        </p:nvSpPr>
        <p:spPr>
          <a:xfrm>
            <a:off x="1106488" y="106363"/>
            <a:ext cx="4953000" cy="685800"/>
          </a:xfrm>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1">
                <a:ln>
                  <a:noFill/>
                </a:ln>
                <a:effectLst>
                  <a:outerShdw blurRad="38100" dist="38100" dir="2700000">
                    <a:srgbClr val="C0C0C0"/>
                  </a:outerShdw>
                </a:effectLst>
                <a:uLnTx/>
                <a:uFillTx/>
                <a:latin typeface="+mj-lt"/>
                <a:ea typeface="+mj-ea"/>
                <a:cs typeface="+mj-cs"/>
              </a:rPr>
              <a:t>3.2 </a:t>
            </a:r>
            <a:r>
              <a:rPr kumimoji="0" lang="zh-CN" altLang="en-US" sz="3200" b="1" i="0" u="none" strike="noStrike" kern="1200" cap="none" spc="0" normalizeH="0" baseline="0" noProof="1">
                <a:ln>
                  <a:noFill/>
                </a:ln>
                <a:effectLst>
                  <a:outerShdw blurRad="38100" dist="38100" dir="2700000">
                    <a:srgbClr val="C0C0C0"/>
                  </a:outerShdw>
                </a:effectLst>
                <a:uLnTx/>
                <a:uFillTx/>
                <a:latin typeface="+mj-lt"/>
                <a:ea typeface="+mj-ea"/>
                <a:cs typeface="+mj-cs"/>
              </a:rPr>
              <a:t>一阶系统的时域分析</a:t>
            </a:r>
          </a:p>
        </p:txBody>
      </p:sp>
      <p:sp>
        <p:nvSpPr>
          <p:cNvPr id="1427458" name="文本占位符 1427457"/>
          <p:cNvSpPr>
            <a:spLocks noGrp="1"/>
          </p:cNvSpPr>
          <p:nvPr>
            <p:ph type="body" sz="half" idx="1"/>
          </p:nvPr>
        </p:nvSpPr>
        <p:spPr>
          <a:xfrm>
            <a:off x="831742" y="761934"/>
            <a:ext cx="6203627" cy="402752"/>
          </a:xfrm>
        </p:spPr>
        <p:txBody>
          <a:bodyPr vert="horz" wrap="square" lIns="91440" tIns="45720" rIns="91440" bIns="45720" anchor="t" anchorCtr="0">
            <a:normAutofit fontScale="92500" lnSpcReduction="10000"/>
          </a:bodyPr>
          <a:lstStyle/>
          <a:p>
            <a:pPr eaLnBrk="1" hangingPunct="1">
              <a:buClr>
                <a:schemeClr val="accent1"/>
              </a:buClr>
              <a:buSzPct val="100000"/>
              <a:buFont typeface="Wingdings" panose="05000000000000000000" pitchFamily="2" charset="2"/>
              <a:buNone/>
            </a:pPr>
            <a:r>
              <a:rPr lang="zh-CN" altLang="en-US" b="1" dirty="0"/>
              <a:t>凡是可用一阶微分方程描述的系统，称为一阶系统。</a:t>
            </a:r>
          </a:p>
        </p:txBody>
      </p:sp>
      <p:sp>
        <p:nvSpPr>
          <p:cNvPr id="1427460" name="文本框 1427459"/>
          <p:cNvSpPr txBox="1"/>
          <p:nvPr/>
        </p:nvSpPr>
        <p:spPr>
          <a:xfrm>
            <a:off x="108989" y="2246429"/>
            <a:ext cx="4845444" cy="1109857"/>
          </a:xfrm>
          <a:prstGeom prst="rect">
            <a:avLst/>
          </a:prstGeom>
          <a:noFill/>
          <a:ln w="9525">
            <a:noFill/>
          </a:ln>
        </p:spPr>
        <p:txBody>
          <a:bodyPr wrap="square">
            <a:spAutoFit/>
          </a:bodyPr>
          <a:lstStyle/>
          <a:p>
            <a:pPr marR="0" defTabSz="914400">
              <a:lnSpc>
                <a:spcPct val="120000"/>
              </a:lnSpc>
              <a:spcBef>
                <a:spcPct val="0"/>
              </a:spcBef>
              <a:buClrTx/>
              <a:buSzTx/>
              <a:buFontTx/>
              <a:buNone/>
              <a:defRPr/>
            </a:pPr>
            <a:r>
              <a:rPr kumimoji="0" lang="en-US" altLang="zh-CN" sz="28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RC</a:t>
            </a: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，时间常数。</a:t>
            </a:r>
          </a:p>
          <a:p>
            <a:pPr marR="0" defTabSz="914400">
              <a:lnSpc>
                <a:spcPct val="120000"/>
              </a:lnSpc>
              <a:spcBef>
                <a:spcPct val="0"/>
              </a:spcBef>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其典型传递函数及结构图为：</a:t>
            </a:r>
          </a:p>
        </p:txBody>
      </p:sp>
      <p:graphicFrame>
        <p:nvGraphicFramePr>
          <p:cNvPr id="1427461" name="对象 1427460"/>
          <p:cNvGraphicFramePr/>
          <p:nvPr/>
        </p:nvGraphicFramePr>
        <p:xfrm>
          <a:off x="900113" y="1196975"/>
          <a:ext cx="2886075" cy="912813"/>
        </p:xfrm>
        <a:graphic>
          <a:graphicData uri="http://schemas.openxmlformats.org/presentationml/2006/ole">
            <mc:AlternateContent xmlns:mc="http://schemas.openxmlformats.org/markup-compatibility/2006">
              <mc:Choice xmlns:v="urn:schemas-microsoft-com:vml" Requires="v">
                <p:oleObj spid="_x0000_s12303" r:id="rId3" imgW="1268730" imgH="405765" progId="Equation.3">
                  <p:embed/>
                </p:oleObj>
              </mc:Choice>
              <mc:Fallback>
                <p:oleObj r:id="rId3" imgW="1268730" imgH="405765" progId="Equation.3">
                  <p:embed/>
                  <p:pic>
                    <p:nvPicPr>
                      <p:cNvPr id="0" name="图片 3075"/>
                      <p:cNvPicPr/>
                      <p:nvPr/>
                    </p:nvPicPr>
                    <p:blipFill>
                      <a:blip r:embed="rId4"/>
                      <a:stretch>
                        <a:fillRect/>
                      </a:stretch>
                    </p:blipFill>
                    <p:spPr>
                      <a:xfrm>
                        <a:off x="900113" y="1196975"/>
                        <a:ext cx="2886075" cy="912813"/>
                      </a:xfrm>
                      <a:prstGeom prst="rect">
                        <a:avLst/>
                      </a:prstGeom>
                      <a:noFill/>
                      <a:ln w="38100">
                        <a:noFill/>
                        <a:miter/>
                      </a:ln>
                    </p:spPr>
                  </p:pic>
                </p:oleObj>
              </mc:Fallback>
            </mc:AlternateContent>
          </a:graphicData>
        </a:graphic>
      </p:graphicFrame>
      <p:graphicFrame>
        <p:nvGraphicFramePr>
          <p:cNvPr id="1427462" name="对象 1427461"/>
          <p:cNvGraphicFramePr/>
          <p:nvPr>
            <p:extLst>
              <p:ext uri="{D42A27DB-BD31-4B8C-83A1-F6EECF244321}">
                <p14:modId xmlns:p14="http://schemas.microsoft.com/office/powerpoint/2010/main" val="539155751"/>
              </p:ext>
            </p:extLst>
          </p:nvPr>
        </p:nvGraphicFramePr>
        <p:xfrm>
          <a:off x="659333" y="3499173"/>
          <a:ext cx="3030537" cy="968375"/>
        </p:xfrm>
        <a:graphic>
          <a:graphicData uri="http://schemas.openxmlformats.org/presentationml/2006/ole">
            <mc:AlternateContent xmlns:mc="http://schemas.openxmlformats.org/markup-compatibility/2006">
              <mc:Choice xmlns:v="urn:schemas-microsoft-com:vml" Requires="v">
                <p:oleObj spid="_x0000_s12304" r:id="rId5" imgW="1345565" imgH="431800" progId="Equation.3">
                  <p:embed/>
                </p:oleObj>
              </mc:Choice>
              <mc:Fallback>
                <p:oleObj r:id="rId5" imgW="1345565" imgH="431800" progId="Equation.3">
                  <p:embed/>
                  <p:pic>
                    <p:nvPicPr>
                      <p:cNvPr id="0" name="图片 3076"/>
                      <p:cNvPicPr/>
                      <p:nvPr/>
                    </p:nvPicPr>
                    <p:blipFill>
                      <a:blip r:embed="rId6"/>
                      <a:stretch>
                        <a:fillRect/>
                      </a:stretch>
                    </p:blipFill>
                    <p:spPr>
                      <a:xfrm>
                        <a:off x="659333" y="3499173"/>
                        <a:ext cx="3030537" cy="968375"/>
                      </a:xfrm>
                      <a:prstGeom prst="rect">
                        <a:avLst/>
                      </a:prstGeom>
                      <a:noFill/>
                      <a:ln w="38100">
                        <a:noFill/>
                        <a:miter/>
                      </a:ln>
                    </p:spPr>
                  </p:pic>
                </p:oleObj>
              </mc:Fallback>
            </mc:AlternateContent>
          </a:graphicData>
        </a:graphic>
      </p:graphicFrame>
      <p:grpSp>
        <p:nvGrpSpPr>
          <p:cNvPr id="1427464" name="组合 1427463"/>
          <p:cNvGrpSpPr/>
          <p:nvPr/>
        </p:nvGrpSpPr>
        <p:grpSpPr>
          <a:xfrm>
            <a:off x="5322093" y="1698606"/>
            <a:ext cx="3995737" cy="1782763"/>
            <a:chOff x="2725" y="916"/>
            <a:chExt cx="2517" cy="1123"/>
          </a:xfrm>
        </p:grpSpPr>
        <p:grpSp>
          <p:nvGrpSpPr>
            <p:cNvPr id="22562" name="组合 1427464"/>
            <p:cNvGrpSpPr/>
            <p:nvPr/>
          </p:nvGrpSpPr>
          <p:grpSpPr>
            <a:xfrm>
              <a:off x="2873" y="916"/>
              <a:ext cx="2016" cy="1123"/>
              <a:chOff x="3206" y="728"/>
              <a:chExt cx="2489" cy="1315"/>
            </a:xfrm>
          </p:grpSpPr>
          <p:sp>
            <p:nvSpPr>
              <p:cNvPr id="22567" name="直接连接符 1427465"/>
              <p:cNvSpPr/>
              <p:nvPr/>
            </p:nvSpPr>
            <p:spPr>
              <a:xfrm>
                <a:off x="3358" y="823"/>
                <a:ext cx="652" cy="0"/>
              </a:xfrm>
              <a:prstGeom prst="line">
                <a:avLst/>
              </a:prstGeom>
              <a:ln w="57150" cap="sq" cmpd="sng">
                <a:solidFill>
                  <a:schemeClr val="tx1"/>
                </a:solidFill>
                <a:prstDash val="solid"/>
                <a:headEnd type="none" w="med" len="med"/>
                <a:tailEnd type="none" w="med" len="med"/>
              </a:ln>
            </p:spPr>
          </p:sp>
          <p:sp>
            <p:nvSpPr>
              <p:cNvPr id="22568" name="矩形 1427466"/>
              <p:cNvSpPr/>
              <p:nvPr/>
            </p:nvSpPr>
            <p:spPr>
              <a:xfrm>
                <a:off x="4010" y="728"/>
                <a:ext cx="609" cy="218"/>
              </a:xfrm>
              <a:prstGeom prst="rect">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22569" name="直接连接符 1427467"/>
              <p:cNvSpPr/>
              <p:nvPr/>
            </p:nvSpPr>
            <p:spPr>
              <a:xfrm flipV="1">
                <a:off x="4628" y="823"/>
                <a:ext cx="915" cy="0"/>
              </a:xfrm>
              <a:prstGeom prst="line">
                <a:avLst/>
              </a:prstGeom>
              <a:ln w="57150" cap="sq" cmpd="sng">
                <a:solidFill>
                  <a:schemeClr val="tx1"/>
                </a:solidFill>
                <a:prstDash val="solid"/>
                <a:headEnd type="none" w="med" len="med"/>
                <a:tailEnd type="none" w="med" len="med"/>
              </a:ln>
            </p:spPr>
          </p:sp>
          <p:sp>
            <p:nvSpPr>
              <p:cNvPr id="22570" name="直接连接符 1427468"/>
              <p:cNvSpPr/>
              <p:nvPr/>
            </p:nvSpPr>
            <p:spPr>
              <a:xfrm flipV="1">
                <a:off x="3378" y="1975"/>
                <a:ext cx="2165" cy="0"/>
              </a:xfrm>
              <a:prstGeom prst="line">
                <a:avLst/>
              </a:prstGeom>
              <a:ln w="57150" cap="sq" cmpd="sng">
                <a:solidFill>
                  <a:schemeClr val="tx1"/>
                </a:solidFill>
                <a:prstDash val="solid"/>
                <a:headEnd type="none" w="med" len="med"/>
                <a:tailEnd type="none" w="med" len="med"/>
              </a:ln>
            </p:spPr>
          </p:sp>
          <p:sp>
            <p:nvSpPr>
              <p:cNvPr id="22571" name="直接连接符 1427469"/>
              <p:cNvSpPr/>
              <p:nvPr/>
            </p:nvSpPr>
            <p:spPr>
              <a:xfrm>
                <a:off x="4977" y="1301"/>
                <a:ext cx="391" cy="0"/>
              </a:xfrm>
              <a:prstGeom prst="line">
                <a:avLst/>
              </a:prstGeom>
              <a:ln w="57150" cap="sq" cmpd="sng">
                <a:solidFill>
                  <a:schemeClr val="tx1"/>
                </a:solidFill>
                <a:prstDash val="solid"/>
                <a:headEnd type="none" w="med" len="med"/>
                <a:tailEnd type="none" w="med" len="med"/>
              </a:ln>
            </p:spPr>
          </p:sp>
          <p:sp>
            <p:nvSpPr>
              <p:cNvPr id="22572" name="直接连接符 1427470"/>
              <p:cNvSpPr/>
              <p:nvPr/>
            </p:nvSpPr>
            <p:spPr>
              <a:xfrm>
                <a:off x="4978" y="1453"/>
                <a:ext cx="391" cy="0"/>
              </a:xfrm>
              <a:prstGeom prst="line">
                <a:avLst/>
              </a:prstGeom>
              <a:ln w="57150" cap="sq" cmpd="sng">
                <a:solidFill>
                  <a:schemeClr val="tx1"/>
                </a:solidFill>
                <a:prstDash val="solid"/>
                <a:headEnd type="none" w="med" len="med"/>
                <a:tailEnd type="none" w="med" len="med"/>
              </a:ln>
            </p:spPr>
          </p:sp>
          <p:sp>
            <p:nvSpPr>
              <p:cNvPr id="22573" name="直接连接符 1427471"/>
              <p:cNvSpPr/>
              <p:nvPr/>
            </p:nvSpPr>
            <p:spPr>
              <a:xfrm flipV="1">
                <a:off x="5184" y="1464"/>
                <a:ext cx="0" cy="481"/>
              </a:xfrm>
              <a:prstGeom prst="line">
                <a:avLst/>
              </a:prstGeom>
              <a:ln w="57150" cap="sq" cmpd="sng">
                <a:solidFill>
                  <a:schemeClr val="tx1"/>
                </a:solidFill>
                <a:prstDash val="solid"/>
                <a:headEnd type="none" w="med" len="med"/>
                <a:tailEnd type="none" w="med" len="med"/>
              </a:ln>
            </p:spPr>
          </p:sp>
          <p:sp>
            <p:nvSpPr>
              <p:cNvPr id="22574" name="直接连接符 1427472"/>
              <p:cNvSpPr/>
              <p:nvPr/>
            </p:nvSpPr>
            <p:spPr>
              <a:xfrm flipV="1">
                <a:off x="5184" y="823"/>
                <a:ext cx="0" cy="481"/>
              </a:xfrm>
              <a:prstGeom prst="line">
                <a:avLst/>
              </a:prstGeom>
              <a:ln w="57150" cap="sq" cmpd="sng">
                <a:solidFill>
                  <a:schemeClr val="tx1"/>
                </a:solidFill>
                <a:prstDash val="solid"/>
                <a:headEnd type="none" w="med" len="med"/>
                <a:tailEnd type="none" w="med" len="med"/>
              </a:ln>
            </p:spPr>
          </p:sp>
          <p:sp>
            <p:nvSpPr>
              <p:cNvPr id="22575" name="椭圆 1427473"/>
              <p:cNvSpPr/>
              <p:nvPr/>
            </p:nvSpPr>
            <p:spPr>
              <a:xfrm>
                <a:off x="5543" y="747"/>
                <a:ext cx="152" cy="152"/>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2576" name="椭圆 1427474"/>
              <p:cNvSpPr/>
              <p:nvPr/>
            </p:nvSpPr>
            <p:spPr>
              <a:xfrm>
                <a:off x="3206" y="747"/>
                <a:ext cx="152" cy="152"/>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2577" name="椭圆 1427475"/>
              <p:cNvSpPr/>
              <p:nvPr/>
            </p:nvSpPr>
            <p:spPr>
              <a:xfrm>
                <a:off x="3206" y="1891"/>
                <a:ext cx="152" cy="152"/>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2578" name="椭圆 1427476"/>
              <p:cNvSpPr/>
              <p:nvPr/>
            </p:nvSpPr>
            <p:spPr>
              <a:xfrm>
                <a:off x="5543" y="1891"/>
                <a:ext cx="152" cy="152"/>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grpSp>
        <p:sp>
          <p:nvSpPr>
            <p:cNvPr id="22563" name="文本框 1427477"/>
            <p:cNvSpPr txBox="1"/>
            <p:nvPr/>
          </p:nvSpPr>
          <p:spPr>
            <a:xfrm>
              <a:off x="3589" y="1085"/>
              <a:ext cx="371"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 R</a:t>
              </a:r>
            </a:p>
          </p:txBody>
        </p:sp>
        <p:sp>
          <p:nvSpPr>
            <p:cNvPr id="22564" name="文本框 1427478"/>
            <p:cNvSpPr txBox="1"/>
            <p:nvPr/>
          </p:nvSpPr>
          <p:spPr>
            <a:xfrm>
              <a:off x="3969" y="1291"/>
              <a:ext cx="371"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 C</a:t>
              </a:r>
            </a:p>
          </p:txBody>
        </p:sp>
        <p:sp>
          <p:nvSpPr>
            <p:cNvPr id="22565" name="文本框 1427479"/>
            <p:cNvSpPr txBox="1"/>
            <p:nvPr/>
          </p:nvSpPr>
          <p:spPr>
            <a:xfrm>
              <a:off x="2725" y="1267"/>
              <a:ext cx="491" cy="327"/>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p>
          </p:txBody>
        </p:sp>
        <p:sp>
          <p:nvSpPr>
            <p:cNvPr id="22566" name="文本框 1427480"/>
            <p:cNvSpPr txBox="1"/>
            <p:nvPr/>
          </p:nvSpPr>
          <p:spPr>
            <a:xfrm>
              <a:off x="4691" y="1267"/>
              <a:ext cx="551"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 c</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p>
          </p:txBody>
        </p:sp>
      </p:grpSp>
      <p:grpSp>
        <p:nvGrpSpPr>
          <p:cNvPr id="1427482" name="组合 1427481"/>
          <p:cNvGrpSpPr/>
          <p:nvPr/>
        </p:nvGrpSpPr>
        <p:grpSpPr>
          <a:xfrm>
            <a:off x="4572000" y="4130355"/>
            <a:ext cx="4556125" cy="1825625"/>
            <a:chOff x="2512" y="2450"/>
            <a:chExt cx="2870" cy="1150"/>
          </a:xfrm>
        </p:grpSpPr>
        <p:sp>
          <p:nvSpPr>
            <p:cNvPr id="22545" name="流程图: 过程 1427482"/>
            <p:cNvSpPr/>
            <p:nvPr/>
          </p:nvSpPr>
          <p:spPr>
            <a:xfrm>
              <a:off x="3958" y="2458"/>
              <a:ext cx="628" cy="624"/>
            </a:xfrm>
            <a:prstGeom prst="flowChartProcess">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22546" name="直接连接符 1427483"/>
            <p:cNvSpPr/>
            <p:nvPr/>
          </p:nvSpPr>
          <p:spPr>
            <a:xfrm>
              <a:off x="4038" y="2784"/>
              <a:ext cx="410" cy="0"/>
            </a:xfrm>
            <a:prstGeom prst="line">
              <a:avLst/>
            </a:prstGeom>
            <a:ln w="38100" cap="sq" cmpd="sng">
              <a:solidFill>
                <a:schemeClr val="tx1"/>
              </a:solidFill>
              <a:prstDash val="solid"/>
              <a:headEnd type="none" w="med" len="med"/>
              <a:tailEnd type="none" w="med" len="med"/>
            </a:ln>
          </p:spPr>
        </p:sp>
        <p:sp>
          <p:nvSpPr>
            <p:cNvPr id="22547" name="矩形 1427484"/>
            <p:cNvSpPr/>
            <p:nvPr/>
          </p:nvSpPr>
          <p:spPr>
            <a:xfrm>
              <a:off x="4083" y="2458"/>
              <a:ext cx="340" cy="650"/>
            </a:xfrm>
            <a:prstGeom prst="rect">
              <a:avLst/>
            </a:prstGeom>
            <a:noFill/>
            <a:ln w="9525">
              <a:noFill/>
            </a:ln>
          </p:spPr>
          <p:txBody>
            <a:bodyPr wrap="none">
              <a:spAutoFit/>
            </a:bodyPr>
            <a:lstStyle/>
            <a:p>
              <a:pPr>
                <a:lnSpc>
                  <a:spcPct val="110000"/>
                </a:lnSpc>
                <a:spcBef>
                  <a:spcPct val="0"/>
                </a:spcBef>
              </a:pPr>
              <a:r>
                <a:rPr lang="en-US" altLang="zh-CN" sz="2800" dirty="0">
                  <a:solidFill>
                    <a:schemeClr val="tx1"/>
                  </a:solidFill>
                  <a:latin typeface="Times New Roman" panose="02020603050405020304" pitchFamily="18" charset="0"/>
                </a:rPr>
                <a:t> 1</a:t>
              </a:r>
            </a:p>
            <a:p>
              <a:pPr>
                <a:lnSpc>
                  <a:spcPct val="110000"/>
                </a:lnSpc>
                <a:spcBef>
                  <a:spcPct val="0"/>
                </a:spcBef>
              </a:pPr>
              <a:r>
                <a:rPr lang="en-US" altLang="zh-CN" sz="2800" i="1" dirty="0">
                  <a:solidFill>
                    <a:schemeClr val="tx1"/>
                  </a:solidFill>
                  <a:latin typeface="Times New Roman" panose="02020603050405020304" pitchFamily="18" charset="0"/>
                </a:rPr>
                <a:t>Ts</a:t>
              </a:r>
            </a:p>
          </p:txBody>
        </p:sp>
        <p:sp>
          <p:nvSpPr>
            <p:cNvPr id="22548" name="直接连接符 1427485"/>
            <p:cNvSpPr/>
            <p:nvPr/>
          </p:nvSpPr>
          <p:spPr>
            <a:xfrm>
              <a:off x="3552" y="2784"/>
              <a:ext cx="384" cy="0"/>
            </a:xfrm>
            <a:prstGeom prst="line">
              <a:avLst/>
            </a:prstGeom>
            <a:ln w="57150" cap="sq" cmpd="sng">
              <a:solidFill>
                <a:schemeClr val="tx1"/>
              </a:solidFill>
              <a:prstDash val="solid"/>
              <a:headEnd type="none" w="med" len="med"/>
              <a:tailEnd type="triangle" w="med" len="med"/>
            </a:ln>
          </p:spPr>
        </p:sp>
        <p:sp>
          <p:nvSpPr>
            <p:cNvPr id="22549" name="直接连接符 1427486"/>
            <p:cNvSpPr/>
            <p:nvPr/>
          </p:nvSpPr>
          <p:spPr>
            <a:xfrm>
              <a:off x="2528" y="2787"/>
              <a:ext cx="529" cy="0"/>
            </a:xfrm>
            <a:prstGeom prst="line">
              <a:avLst/>
            </a:prstGeom>
            <a:ln w="57150" cap="sq" cmpd="sng">
              <a:solidFill>
                <a:schemeClr val="tx1"/>
              </a:solidFill>
              <a:prstDash val="solid"/>
              <a:headEnd type="none" w="med" len="med"/>
              <a:tailEnd type="triangle" w="med" len="med"/>
            </a:ln>
          </p:spPr>
        </p:sp>
        <p:sp>
          <p:nvSpPr>
            <p:cNvPr id="22550" name="直接连接符 1427487"/>
            <p:cNvSpPr/>
            <p:nvPr/>
          </p:nvSpPr>
          <p:spPr>
            <a:xfrm>
              <a:off x="4601" y="2784"/>
              <a:ext cx="781" cy="0"/>
            </a:xfrm>
            <a:prstGeom prst="line">
              <a:avLst/>
            </a:prstGeom>
            <a:ln w="57150" cap="sq" cmpd="sng">
              <a:solidFill>
                <a:schemeClr val="tx1"/>
              </a:solidFill>
              <a:prstDash val="solid"/>
              <a:headEnd type="none" w="med" len="med"/>
              <a:tailEnd type="triangle" w="med" len="med"/>
            </a:ln>
          </p:spPr>
        </p:sp>
        <p:sp>
          <p:nvSpPr>
            <p:cNvPr id="22551" name="直接连接符 1427488"/>
            <p:cNvSpPr/>
            <p:nvPr/>
          </p:nvSpPr>
          <p:spPr>
            <a:xfrm>
              <a:off x="4992" y="2784"/>
              <a:ext cx="0" cy="816"/>
            </a:xfrm>
            <a:prstGeom prst="line">
              <a:avLst/>
            </a:prstGeom>
            <a:ln w="57150" cap="sq" cmpd="sng">
              <a:solidFill>
                <a:schemeClr val="tx1"/>
              </a:solidFill>
              <a:prstDash val="solid"/>
              <a:headEnd type="none" w="med" len="med"/>
              <a:tailEnd type="none" w="med" len="med"/>
            </a:ln>
          </p:spPr>
        </p:sp>
        <p:sp>
          <p:nvSpPr>
            <p:cNvPr id="22552" name="直接连接符 1427489"/>
            <p:cNvSpPr/>
            <p:nvPr/>
          </p:nvSpPr>
          <p:spPr>
            <a:xfrm flipV="1">
              <a:off x="3312" y="3600"/>
              <a:ext cx="1680" cy="0"/>
            </a:xfrm>
            <a:prstGeom prst="line">
              <a:avLst/>
            </a:prstGeom>
            <a:ln w="57150" cap="sq" cmpd="sng">
              <a:solidFill>
                <a:schemeClr val="tx1"/>
              </a:solidFill>
              <a:prstDash val="solid"/>
              <a:headEnd type="none" w="med" len="med"/>
              <a:tailEnd type="none" w="med" len="med"/>
            </a:ln>
          </p:spPr>
        </p:sp>
        <p:sp>
          <p:nvSpPr>
            <p:cNvPr id="22553" name="直接连接符 1427490"/>
            <p:cNvSpPr/>
            <p:nvPr/>
          </p:nvSpPr>
          <p:spPr>
            <a:xfrm>
              <a:off x="3312" y="3004"/>
              <a:ext cx="0" cy="596"/>
            </a:xfrm>
            <a:prstGeom prst="line">
              <a:avLst/>
            </a:prstGeom>
            <a:ln w="57150" cap="sq" cmpd="sng">
              <a:solidFill>
                <a:schemeClr val="tx1"/>
              </a:solidFill>
              <a:prstDash val="solid"/>
              <a:headEnd type="triangle" w="med" len="med"/>
              <a:tailEnd type="none" w="med" len="med"/>
            </a:ln>
          </p:spPr>
        </p:sp>
        <p:grpSp>
          <p:nvGrpSpPr>
            <p:cNvPr id="22554" name="组合 1427491"/>
            <p:cNvGrpSpPr/>
            <p:nvPr/>
          </p:nvGrpSpPr>
          <p:grpSpPr>
            <a:xfrm>
              <a:off x="3072" y="2544"/>
              <a:ext cx="460" cy="538"/>
              <a:chOff x="720" y="3552"/>
              <a:chExt cx="460" cy="538"/>
            </a:xfrm>
          </p:grpSpPr>
          <p:sp>
            <p:nvSpPr>
              <p:cNvPr id="22557" name="文本框 1427492"/>
              <p:cNvSpPr txBox="1"/>
              <p:nvPr/>
            </p:nvSpPr>
            <p:spPr>
              <a:xfrm>
                <a:off x="768" y="3686"/>
                <a:ext cx="384" cy="404"/>
              </a:xfrm>
              <a:prstGeom prst="rect">
                <a:avLst/>
              </a:prstGeom>
              <a:noFill/>
              <a:ln w="9525">
                <a:noFill/>
              </a:ln>
            </p:spPr>
            <p:txBody>
              <a:bodyPr>
                <a:spAutoFit/>
              </a:bodyPr>
              <a:lstStyle/>
              <a:p>
                <a:r>
                  <a:rPr lang="zh-CN" altLang="en-US" sz="3600" dirty="0">
                    <a:solidFill>
                      <a:schemeClr val="tx1"/>
                    </a:solidFill>
                    <a:latin typeface="Times New Roman" panose="02020603050405020304" pitchFamily="18" charset="0"/>
                  </a:rPr>
                  <a:t>﹣</a:t>
                </a:r>
                <a:endParaRPr lang="zh-CN" altLang="en-US" sz="3600" b="0" dirty="0">
                  <a:solidFill>
                    <a:schemeClr val="tx1"/>
                  </a:solidFill>
                  <a:latin typeface="Times New Roman" panose="02020603050405020304" pitchFamily="18" charset="0"/>
                </a:endParaRPr>
              </a:p>
            </p:txBody>
          </p:sp>
          <p:sp>
            <p:nvSpPr>
              <p:cNvPr id="22558" name="椭圆 1427493"/>
              <p:cNvSpPr/>
              <p:nvPr/>
            </p:nvSpPr>
            <p:spPr>
              <a:xfrm>
                <a:off x="720" y="3552"/>
                <a:ext cx="460" cy="460"/>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2559" name="直接连接符 1427494"/>
              <p:cNvSpPr/>
              <p:nvPr/>
            </p:nvSpPr>
            <p:spPr>
              <a:xfrm flipH="1">
                <a:off x="816" y="3648"/>
                <a:ext cx="288" cy="288"/>
              </a:xfrm>
              <a:prstGeom prst="line">
                <a:avLst/>
              </a:prstGeom>
              <a:ln w="57150" cap="sq" cmpd="sng">
                <a:solidFill>
                  <a:schemeClr val="tx1"/>
                </a:solidFill>
                <a:prstDash val="solid"/>
                <a:headEnd type="none" w="med" len="med"/>
                <a:tailEnd type="none" w="med" len="med"/>
              </a:ln>
            </p:spPr>
          </p:sp>
          <p:sp>
            <p:nvSpPr>
              <p:cNvPr id="22560" name="直接连接符 1427495"/>
              <p:cNvSpPr/>
              <p:nvPr/>
            </p:nvSpPr>
            <p:spPr>
              <a:xfrm>
                <a:off x="816" y="3648"/>
                <a:ext cx="288" cy="288"/>
              </a:xfrm>
              <a:prstGeom prst="line">
                <a:avLst/>
              </a:prstGeom>
              <a:ln w="57150" cap="sq" cmpd="sng">
                <a:solidFill>
                  <a:schemeClr val="tx1"/>
                </a:solidFill>
                <a:prstDash val="solid"/>
                <a:headEnd type="none" w="med" len="med"/>
                <a:tailEnd type="none" w="med" len="med"/>
              </a:ln>
            </p:spPr>
          </p:sp>
          <p:sp>
            <p:nvSpPr>
              <p:cNvPr id="22561" name="文本框 1427496"/>
              <p:cNvSpPr txBox="1"/>
              <p:nvPr/>
            </p:nvSpPr>
            <p:spPr>
              <a:xfrm>
                <a:off x="768" y="3648"/>
                <a:ext cx="144" cy="269"/>
              </a:xfrm>
              <a:prstGeom prst="rect">
                <a:avLst/>
              </a:prstGeom>
              <a:noFill/>
              <a:ln w="9525">
                <a:noFill/>
              </a:ln>
            </p:spPr>
            <p:txBody>
              <a:bodyPr lIns="0" tIns="0" rIns="0" bIns="0">
                <a:spAutoFit/>
              </a:bodyPr>
              <a:lstStyle/>
              <a:p>
                <a:r>
                  <a:rPr lang="en-US" altLang="zh-CN" sz="2800" dirty="0">
                    <a:solidFill>
                      <a:schemeClr val="tx1"/>
                    </a:solidFill>
                    <a:latin typeface="Times New Roman" panose="02020603050405020304" pitchFamily="18" charset="0"/>
                  </a:rPr>
                  <a:t>+</a:t>
                </a:r>
              </a:p>
            </p:txBody>
          </p:sp>
        </p:grpSp>
        <p:sp>
          <p:nvSpPr>
            <p:cNvPr id="22555" name="文本框 1427497"/>
            <p:cNvSpPr txBox="1"/>
            <p:nvPr/>
          </p:nvSpPr>
          <p:spPr>
            <a:xfrm>
              <a:off x="2512" y="2450"/>
              <a:ext cx="413"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22556" name="文本框 1427498"/>
            <p:cNvSpPr txBox="1"/>
            <p:nvPr/>
          </p:nvSpPr>
          <p:spPr>
            <a:xfrm>
              <a:off x="4747" y="2458"/>
              <a:ext cx="489"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grpSp>
      <p:grpSp>
        <p:nvGrpSpPr>
          <p:cNvPr id="1427520" name="组合 1427519"/>
          <p:cNvGrpSpPr/>
          <p:nvPr/>
        </p:nvGrpSpPr>
        <p:grpSpPr>
          <a:xfrm>
            <a:off x="697029" y="4816475"/>
            <a:ext cx="3168650" cy="1031875"/>
            <a:chOff x="476" y="3430"/>
            <a:chExt cx="1996" cy="650"/>
          </a:xfrm>
        </p:grpSpPr>
        <p:sp>
          <p:nvSpPr>
            <p:cNvPr id="22538" name="流程图: 过程 1427501"/>
            <p:cNvSpPr/>
            <p:nvPr/>
          </p:nvSpPr>
          <p:spPr>
            <a:xfrm>
              <a:off x="1061" y="3430"/>
              <a:ext cx="730" cy="624"/>
            </a:xfrm>
            <a:prstGeom prst="flowChartProcess">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22539" name="任意多边形 1427502"/>
            <p:cNvSpPr/>
            <p:nvPr/>
          </p:nvSpPr>
          <p:spPr>
            <a:xfrm>
              <a:off x="1141" y="3756"/>
              <a:ext cx="587" cy="4"/>
            </a:xfrm>
            <a:custGeom>
              <a:avLst/>
              <a:gdLst/>
              <a:ahLst/>
              <a:cxnLst>
                <a:cxn ang="0">
                  <a:pos x="0" y="0"/>
                </a:cxn>
                <a:cxn ang="0">
                  <a:pos x="587" y="4"/>
                </a:cxn>
              </a:cxnLst>
              <a:rect l="0" t="0" r="0" b="0"/>
              <a:pathLst>
                <a:path w="587" h="4">
                  <a:moveTo>
                    <a:pt x="0" y="0"/>
                  </a:moveTo>
                  <a:lnTo>
                    <a:pt x="587" y="4"/>
                  </a:lnTo>
                </a:path>
              </a:pathLst>
            </a:custGeom>
            <a:noFill/>
            <a:ln w="38100" cap="sq" cmpd="sng">
              <a:solidFill>
                <a:schemeClr val="tx1">
                  <a:alpha val="100000"/>
                </a:schemeClr>
              </a:solidFill>
              <a:prstDash val="solid"/>
              <a:round/>
              <a:headEnd type="none" w="med" len="med"/>
              <a:tailEnd type="none" w="med" len="med"/>
            </a:ln>
          </p:spPr>
          <p:txBody>
            <a:bodyPr/>
            <a:lstStyle/>
            <a:p>
              <a:endParaRPr lang="zh-CN" altLang="en-US"/>
            </a:p>
          </p:txBody>
        </p:sp>
        <p:sp>
          <p:nvSpPr>
            <p:cNvPr id="22540" name="矩形 1427503"/>
            <p:cNvSpPr/>
            <p:nvPr/>
          </p:nvSpPr>
          <p:spPr>
            <a:xfrm>
              <a:off x="1111" y="3430"/>
              <a:ext cx="655" cy="650"/>
            </a:xfrm>
            <a:prstGeom prst="rect">
              <a:avLst/>
            </a:prstGeom>
            <a:noFill/>
            <a:ln w="9525">
              <a:noFill/>
            </a:ln>
          </p:spPr>
          <p:txBody>
            <a:bodyPr>
              <a:spAutoFit/>
            </a:bodyPr>
            <a:lstStyle/>
            <a:p>
              <a:pPr>
                <a:lnSpc>
                  <a:spcPct val="110000"/>
                </a:lnSpc>
                <a:spcBef>
                  <a:spcPct val="0"/>
                </a:spcBef>
              </a:pPr>
              <a:r>
                <a:rPr lang="en-US" altLang="zh-CN" sz="2800" dirty="0">
                  <a:solidFill>
                    <a:schemeClr val="tx1"/>
                  </a:solidFill>
                  <a:latin typeface="Times New Roman" panose="02020603050405020304" pitchFamily="18" charset="0"/>
                </a:rPr>
                <a:t>   1</a:t>
              </a:r>
            </a:p>
            <a:p>
              <a:pPr>
                <a:lnSpc>
                  <a:spcPct val="110000"/>
                </a:lnSpc>
                <a:spcBef>
                  <a:spcPct val="0"/>
                </a:spcBef>
              </a:pPr>
              <a:r>
                <a:rPr lang="en-US" altLang="zh-CN" sz="2800" i="1" dirty="0">
                  <a:solidFill>
                    <a:schemeClr val="tx1"/>
                  </a:solidFill>
                  <a:latin typeface="Times New Roman" panose="02020603050405020304" pitchFamily="18" charset="0"/>
                </a:rPr>
                <a:t>Ts+1</a:t>
              </a:r>
            </a:p>
          </p:txBody>
        </p:sp>
        <p:sp>
          <p:nvSpPr>
            <p:cNvPr id="22541" name="直接连接符 1427504"/>
            <p:cNvSpPr/>
            <p:nvPr/>
          </p:nvSpPr>
          <p:spPr>
            <a:xfrm flipV="1">
              <a:off x="476" y="3756"/>
              <a:ext cx="563" cy="7"/>
            </a:xfrm>
            <a:prstGeom prst="line">
              <a:avLst/>
            </a:prstGeom>
            <a:ln w="57150" cap="sq" cmpd="sng">
              <a:solidFill>
                <a:schemeClr val="tx1"/>
              </a:solidFill>
              <a:prstDash val="solid"/>
              <a:headEnd type="none" w="med" len="med"/>
              <a:tailEnd type="triangle" w="med" len="med"/>
            </a:ln>
          </p:spPr>
        </p:sp>
        <p:sp>
          <p:nvSpPr>
            <p:cNvPr id="22542" name="直接连接符 1427506"/>
            <p:cNvSpPr/>
            <p:nvPr/>
          </p:nvSpPr>
          <p:spPr>
            <a:xfrm>
              <a:off x="1837" y="3756"/>
              <a:ext cx="586" cy="7"/>
            </a:xfrm>
            <a:prstGeom prst="line">
              <a:avLst/>
            </a:prstGeom>
            <a:ln w="57150" cap="sq" cmpd="sng">
              <a:solidFill>
                <a:schemeClr val="tx1"/>
              </a:solidFill>
              <a:prstDash val="solid"/>
              <a:headEnd type="none" w="med" len="med"/>
              <a:tailEnd type="triangle" w="med" len="med"/>
            </a:ln>
          </p:spPr>
        </p:sp>
        <p:sp>
          <p:nvSpPr>
            <p:cNvPr id="22543" name="文本框 1427516"/>
            <p:cNvSpPr txBox="1"/>
            <p:nvPr/>
          </p:nvSpPr>
          <p:spPr>
            <a:xfrm>
              <a:off x="476" y="3438"/>
              <a:ext cx="413"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22544" name="文本框 1427517"/>
            <p:cNvSpPr txBox="1"/>
            <p:nvPr/>
          </p:nvSpPr>
          <p:spPr>
            <a:xfrm>
              <a:off x="1983" y="3430"/>
              <a:ext cx="489"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27458">
                                            <p:txEl>
                                              <p:pRg st="0" end="0"/>
                                            </p:txEl>
                                          </p:spTgt>
                                        </p:tgtEl>
                                        <p:attrNameLst>
                                          <p:attrName>style.visibility</p:attrName>
                                        </p:attrNameLst>
                                      </p:cBhvr>
                                      <p:to>
                                        <p:strVal val="visible"/>
                                      </p:to>
                                    </p:set>
                                    <p:anim calcmode="lin" valueType="num">
                                      <p:cBhvr additive="base">
                                        <p:cTn id="7" dur="500" fill="hold"/>
                                        <p:tgtEl>
                                          <p:spTgt spid="14274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74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27464"/>
                                        </p:tgtEl>
                                        <p:attrNameLst>
                                          <p:attrName>style.visibility</p:attrName>
                                        </p:attrNameLst>
                                      </p:cBhvr>
                                      <p:to>
                                        <p:strVal val="visible"/>
                                      </p:to>
                                    </p:set>
                                    <p:animEffect transition="in" filter="dissolve">
                                      <p:cBhvr>
                                        <p:cTn id="13" dur="500"/>
                                        <p:tgtEl>
                                          <p:spTgt spid="142746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27461"/>
                                        </p:tgtEl>
                                        <p:attrNameLst>
                                          <p:attrName>style.visibility</p:attrName>
                                        </p:attrNameLst>
                                      </p:cBhvr>
                                      <p:to>
                                        <p:strVal val="visible"/>
                                      </p:to>
                                    </p:set>
                                    <p:animEffect transition="in" filter="dissolve">
                                      <p:cBhvr>
                                        <p:cTn id="18" dur="500"/>
                                        <p:tgtEl>
                                          <p:spTgt spid="142746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27460">
                                            <p:txEl>
                                              <p:pRg st="0" end="0"/>
                                            </p:txEl>
                                          </p:spTgt>
                                        </p:tgtEl>
                                        <p:attrNameLst>
                                          <p:attrName>style.visibility</p:attrName>
                                        </p:attrNameLst>
                                      </p:cBhvr>
                                      <p:to>
                                        <p:strVal val="visible"/>
                                      </p:to>
                                    </p:set>
                                    <p:animEffect transition="in" filter="dissolve">
                                      <p:cBhvr>
                                        <p:cTn id="23" dur="500"/>
                                        <p:tgtEl>
                                          <p:spTgt spid="142746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427460">
                                            <p:txEl>
                                              <p:pRg st="1" end="1"/>
                                            </p:txEl>
                                          </p:spTgt>
                                        </p:tgtEl>
                                        <p:attrNameLst>
                                          <p:attrName>style.visibility</p:attrName>
                                        </p:attrNameLst>
                                      </p:cBhvr>
                                      <p:to>
                                        <p:strVal val="visible"/>
                                      </p:to>
                                    </p:set>
                                    <p:animEffect transition="in" filter="dissolve">
                                      <p:cBhvr>
                                        <p:cTn id="28" dur="500"/>
                                        <p:tgtEl>
                                          <p:spTgt spid="1427460">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427462"/>
                                        </p:tgtEl>
                                        <p:attrNameLst>
                                          <p:attrName>style.visibility</p:attrName>
                                        </p:attrNameLst>
                                      </p:cBhvr>
                                      <p:to>
                                        <p:strVal val="visible"/>
                                      </p:to>
                                    </p:set>
                                    <p:animEffect transition="in" filter="dissolve">
                                      <p:cBhvr>
                                        <p:cTn id="33" dur="500"/>
                                        <p:tgtEl>
                                          <p:spTgt spid="142746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27520"/>
                                        </p:tgtEl>
                                        <p:attrNameLst>
                                          <p:attrName>style.visibility</p:attrName>
                                        </p:attrNameLst>
                                      </p:cBhvr>
                                      <p:to>
                                        <p:strVal val="visible"/>
                                      </p:to>
                                    </p:set>
                                    <p:animEffect transition="in" filter="wipe(left)">
                                      <p:cBhvr>
                                        <p:cTn id="38" dur="1000"/>
                                        <p:tgtEl>
                                          <p:spTgt spid="1427520"/>
                                        </p:tgtEl>
                                      </p:cBhvr>
                                    </p:animEffect>
                                  </p:childTnLst>
                                </p:cTn>
                              </p:par>
                            </p:childTnLst>
                          </p:cTn>
                        </p:par>
                        <p:par>
                          <p:cTn id="39" fill="hold">
                            <p:stCondLst>
                              <p:cond delay="1000"/>
                            </p:stCondLst>
                            <p:childTnLst>
                              <p:par>
                                <p:cTn id="40" presetID="9" presetClass="entr" presetSubtype="0" fill="hold" nodeType="afterEffect">
                                  <p:stCondLst>
                                    <p:cond delay="0"/>
                                  </p:stCondLst>
                                  <p:childTnLst>
                                    <p:set>
                                      <p:cBhvr>
                                        <p:cTn id="41" dur="1" fill="hold">
                                          <p:stCondLst>
                                            <p:cond delay="0"/>
                                          </p:stCondLst>
                                        </p:cTn>
                                        <p:tgtEl>
                                          <p:spTgt spid="1427482"/>
                                        </p:tgtEl>
                                        <p:attrNameLst>
                                          <p:attrName>style.visibility</p:attrName>
                                        </p:attrNameLst>
                                      </p:cBhvr>
                                      <p:to>
                                        <p:strVal val="visible"/>
                                      </p:to>
                                    </p:set>
                                    <p:animEffect transition="in" filter="dissolve">
                                      <p:cBhvr>
                                        <p:cTn id="42" dur="2000"/>
                                        <p:tgtEl>
                                          <p:spTgt spid="1427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7458" grpId="0" build="p"/>
      <p:bldP spid="142746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28482" name="组合 1428481"/>
          <p:cNvGrpSpPr/>
          <p:nvPr/>
        </p:nvGrpSpPr>
        <p:grpSpPr>
          <a:xfrm>
            <a:off x="954088" y="2333625"/>
            <a:ext cx="4267200" cy="3114675"/>
            <a:chOff x="601" y="1935"/>
            <a:chExt cx="2688" cy="1962"/>
          </a:xfrm>
        </p:grpSpPr>
        <p:sp>
          <p:nvSpPr>
            <p:cNvPr id="23578" name="直接连接符 1428482"/>
            <p:cNvSpPr/>
            <p:nvPr/>
          </p:nvSpPr>
          <p:spPr>
            <a:xfrm flipV="1">
              <a:off x="610" y="2034"/>
              <a:ext cx="0" cy="1704"/>
            </a:xfrm>
            <a:prstGeom prst="line">
              <a:avLst/>
            </a:prstGeom>
            <a:ln w="57150" cap="sq" cmpd="sng">
              <a:solidFill>
                <a:schemeClr val="tx1"/>
              </a:solidFill>
              <a:prstDash val="solid"/>
              <a:headEnd type="none" w="med" len="med"/>
              <a:tailEnd type="triangle" w="med" len="med"/>
            </a:ln>
          </p:spPr>
        </p:sp>
        <p:sp>
          <p:nvSpPr>
            <p:cNvPr id="23579" name="直接连接符 1428483"/>
            <p:cNvSpPr/>
            <p:nvPr/>
          </p:nvSpPr>
          <p:spPr>
            <a:xfrm>
              <a:off x="601" y="3756"/>
              <a:ext cx="2480" cy="0"/>
            </a:xfrm>
            <a:prstGeom prst="line">
              <a:avLst/>
            </a:prstGeom>
            <a:ln w="57150" cap="sq" cmpd="sng">
              <a:solidFill>
                <a:schemeClr val="tx1"/>
              </a:solidFill>
              <a:prstDash val="solid"/>
              <a:headEnd type="none" w="med" len="med"/>
              <a:tailEnd type="triangle" w="med" len="med"/>
            </a:ln>
          </p:spPr>
        </p:sp>
        <p:sp>
          <p:nvSpPr>
            <p:cNvPr id="23580" name="矩形 1428484"/>
            <p:cNvSpPr/>
            <p:nvPr/>
          </p:nvSpPr>
          <p:spPr>
            <a:xfrm>
              <a:off x="3120" y="3609"/>
              <a:ext cx="169" cy="28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3581" name="矩形 1428485"/>
            <p:cNvSpPr/>
            <p:nvPr/>
          </p:nvSpPr>
          <p:spPr>
            <a:xfrm>
              <a:off x="680" y="1935"/>
              <a:ext cx="382" cy="288"/>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grpSp>
      <p:sp>
        <p:nvSpPr>
          <p:cNvPr id="1428487" name="文本框 1428486"/>
          <p:cNvSpPr txBox="1"/>
          <p:nvPr/>
        </p:nvSpPr>
        <p:spPr>
          <a:xfrm>
            <a:off x="509588" y="5351463"/>
            <a:ext cx="5503862" cy="457200"/>
          </a:xfrm>
          <a:prstGeom prst="rect">
            <a:avLst/>
          </a:prstGeom>
          <a:noFill/>
          <a:ln w="9525">
            <a:noFill/>
          </a:ln>
        </p:spPr>
        <p:txBody>
          <a:bodyPr>
            <a:spAutoFit/>
          </a:bodyPr>
          <a:lstStyle/>
          <a:p>
            <a:r>
              <a:rPr lang="zh-CN" altLang="en-US" sz="2400" b="0" dirty="0">
                <a:solidFill>
                  <a:schemeClr val="tx1"/>
                </a:solidFill>
                <a:latin typeface="Times New Roman" panose="02020603050405020304" pitchFamily="18" charset="0"/>
              </a:rPr>
              <a:t>　</a:t>
            </a:r>
            <a:r>
              <a:rPr lang="zh-CN" altLang="en-US" sz="2400" dirty="0">
                <a:solidFill>
                  <a:schemeClr val="tx1"/>
                </a:solidFill>
                <a:latin typeface="Times New Roman" panose="02020603050405020304" pitchFamily="18" charset="0"/>
              </a:rPr>
              <a:t>０　  </a:t>
            </a:r>
            <a:r>
              <a:rPr lang="en-US" altLang="zh-CN" sz="2400" i="1" dirty="0">
                <a:solidFill>
                  <a:schemeClr val="tx1"/>
                </a:solidFill>
                <a:latin typeface="Times New Roman" panose="02020603050405020304" pitchFamily="18" charset="0"/>
              </a:rPr>
              <a:t>T</a:t>
            </a:r>
            <a:r>
              <a:rPr lang="zh-CN" altLang="en-US"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2</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3</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4</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a:t>
            </a:r>
            <a:endParaRPr lang="en-US" altLang="zh-CN" sz="2400" i="1" dirty="0">
              <a:solidFill>
                <a:schemeClr val="tx1"/>
              </a:solidFill>
              <a:latin typeface="Times New Roman" panose="02020603050405020304" pitchFamily="18" charset="0"/>
            </a:endParaRPr>
          </a:p>
        </p:txBody>
      </p:sp>
      <p:sp>
        <p:nvSpPr>
          <p:cNvPr id="1428488" name="矩形 1428487"/>
          <p:cNvSpPr/>
          <p:nvPr/>
        </p:nvSpPr>
        <p:spPr>
          <a:xfrm>
            <a:off x="112965" y="530589"/>
            <a:ext cx="9144000" cy="673100"/>
          </a:xfrm>
          <a:prstGeom prst="rect">
            <a:avLst/>
          </a:prstGeom>
          <a:noFill/>
          <a:ln w="12700">
            <a:noFill/>
          </a:ln>
        </p:spPr>
        <p:txBody>
          <a:bodyPr/>
          <a:lstStyle/>
          <a:p>
            <a:pPr marL="342900" indent="-342900" fontAlgn="ctr">
              <a:lnSpc>
                <a:spcPct val="120000"/>
              </a:lnSpc>
              <a:spcBef>
                <a:spcPct val="20000"/>
              </a:spcBef>
              <a:buClr>
                <a:schemeClr val="tx2"/>
              </a:buClr>
              <a:buSzPct val="90000"/>
              <a:buFont typeface="Symbol" panose="05050102010706020507" pitchFamily="18" charset="2"/>
            </a:pPr>
            <a:r>
              <a:rPr lang="en-US" altLang="zh-CN" sz="2800" b="0" dirty="0">
                <a:solidFill>
                  <a:schemeClr val="tx1"/>
                </a:solidFill>
                <a:latin typeface="宋体" panose="02010600030101010101" pitchFamily="2" charset="-122"/>
              </a:rPr>
              <a:t>    </a:t>
            </a:r>
            <a:r>
              <a:rPr lang="zh-CN" altLang="en-US" sz="2400" dirty="0">
                <a:solidFill>
                  <a:schemeClr val="tx1"/>
                </a:solidFill>
                <a:latin typeface="宋体" panose="02010600030101010101" pitchFamily="2" charset="-122"/>
              </a:rPr>
              <a:t>当输入信号</a:t>
            </a:r>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rPr>
              <a:t>1(</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r>
              <a:rPr lang="zh-CN" altLang="en-US" sz="2400" dirty="0">
                <a:solidFill>
                  <a:schemeClr val="tx1"/>
                </a:solidFill>
                <a:latin typeface="宋体" panose="02010600030101010101" pitchFamily="2" charset="-122"/>
              </a:rPr>
              <a:t>时，系统的响应</a:t>
            </a: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r>
              <a:rPr lang="zh-CN" altLang="en-US" sz="2400" dirty="0">
                <a:solidFill>
                  <a:schemeClr val="tx1"/>
                </a:solidFill>
                <a:latin typeface="宋体" panose="02010600030101010101" pitchFamily="2" charset="-122"/>
              </a:rPr>
              <a:t>称作其单位阶跃响应。</a:t>
            </a:r>
            <a:endParaRPr lang="zh-CN" altLang="en-US" sz="2400" dirty="0">
              <a:solidFill>
                <a:schemeClr val="tx1"/>
              </a:solidFill>
              <a:latin typeface="Times New Roman" panose="02020603050405020304" pitchFamily="18" charset="0"/>
            </a:endParaRPr>
          </a:p>
        </p:txBody>
      </p:sp>
      <p:graphicFrame>
        <p:nvGraphicFramePr>
          <p:cNvPr id="1428489" name="对象 1428488"/>
          <p:cNvGraphicFramePr/>
          <p:nvPr/>
        </p:nvGraphicFramePr>
        <p:xfrm>
          <a:off x="2341563" y="2012950"/>
          <a:ext cx="3836987" cy="769938"/>
        </p:xfrm>
        <a:graphic>
          <a:graphicData uri="http://schemas.openxmlformats.org/presentationml/2006/ole">
            <mc:AlternateContent xmlns:mc="http://schemas.openxmlformats.org/markup-compatibility/2006">
              <mc:Choice xmlns:v="urn:schemas-microsoft-com:vml" Requires="v">
                <p:oleObj spid="_x0000_s13327" r:id="rId3" imgW="1713865" imgH="342900" progId="Equation.3">
                  <p:embed/>
                </p:oleObj>
              </mc:Choice>
              <mc:Fallback>
                <p:oleObj r:id="rId3" imgW="1713865" imgH="342900" progId="Equation.3">
                  <p:embed/>
                  <p:pic>
                    <p:nvPicPr>
                      <p:cNvPr id="0" name="图片 3082"/>
                      <p:cNvPicPr/>
                      <p:nvPr/>
                    </p:nvPicPr>
                    <p:blipFill>
                      <a:blip r:embed="rId4"/>
                      <a:stretch>
                        <a:fillRect/>
                      </a:stretch>
                    </p:blipFill>
                    <p:spPr>
                      <a:xfrm>
                        <a:off x="2341563" y="2012950"/>
                        <a:ext cx="3836987" cy="769938"/>
                      </a:xfrm>
                      <a:prstGeom prst="rect">
                        <a:avLst/>
                      </a:prstGeom>
                      <a:solidFill>
                        <a:srgbClr val="FFCCCC"/>
                      </a:solidFill>
                      <a:ln w="38100">
                        <a:noFill/>
                        <a:miter/>
                      </a:ln>
                    </p:spPr>
                  </p:pic>
                </p:oleObj>
              </mc:Fallback>
            </mc:AlternateContent>
          </a:graphicData>
        </a:graphic>
      </p:graphicFrame>
      <p:graphicFrame>
        <p:nvGraphicFramePr>
          <p:cNvPr id="1428490" name="对象 1428489"/>
          <p:cNvGraphicFramePr/>
          <p:nvPr>
            <p:extLst>
              <p:ext uri="{D42A27DB-BD31-4B8C-83A1-F6EECF244321}">
                <p14:modId xmlns:p14="http://schemas.microsoft.com/office/powerpoint/2010/main" val="3849821222"/>
              </p:ext>
            </p:extLst>
          </p:nvPr>
        </p:nvGraphicFramePr>
        <p:xfrm>
          <a:off x="1347788" y="1030289"/>
          <a:ext cx="5969595" cy="1300162"/>
        </p:xfrm>
        <a:graphic>
          <a:graphicData uri="http://schemas.openxmlformats.org/presentationml/2006/ole">
            <mc:AlternateContent xmlns:mc="http://schemas.openxmlformats.org/markup-compatibility/2006">
              <mc:Choice xmlns:v="urn:schemas-microsoft-com:vml" Requires="v">
                <p:oleObj spid="_x0000_s13328" r:id="rId5" imgW="2565400" imgH="596900" progId="Equation.3">
                  <p:embed/>
                </p:oleObj>
              </mc:Choice>
              <mc:Fallback>
                <p:oleObj r:id="rId5" imgW="2565400" imgH="596900" progId="Equation.3">
                  <p:embed/>
                  <p:pic>
                    <p:nvPicPr>
                      <p:cNvPr id="0" name="图片 3081"/>
                      <p:cNvPicPr/>
                      <p:nvPr/>
                    </p:nvPicPr>
                    <p:blipFill>
                      <a:blip r:embed="rId6"/>
                      <a:stretch>
                        <a:fillRect/>
                      </a:stretch>
                    </p:blipFill>
                    <p:spPr>
                      <a:xfrm>
                        <a:off x="1347788" y="1030289"/>
                        <a:ext cx="5969595" cy="1300162"/>
                      </a:xfrm>
                      <a:prstGeom prst="rect">
                        <a:avLst/>
                      </a:prstGeom>
                      <a:noFill/>
                      <a:ln w="38100">
                        <a:noFill/>
                        <a:miter/>
                      </a:ln>
                    </p:spPr>
                  </p:pic>
                </p:oleObj>
              </mc:Fallback>
            </mc:AlternateContent>
          </a:graphicData>
        </a:graphic>
      </p:graphicFrame>
      <p:sp>
        <p:nvSpPr>
          <p:cNvPr id="1428491" name="文本框 1428490"/>
          <p:cNvSpPr txBox="1"/>
          <p:nvPr/>
        </p:nvSpPr>
        <p:spPr>
          <a:xfrm>
            <a:off x="1385665" y="58737"/>
            <a:ext cx="3276600" cy="519113"/>
          </a:xfrm>
          <a:prstGeom prst="rect">
            <a:avLst/>
          </a:prstGeom>
          <a:noFill/>
          <a:ln w="12700">
            <a:noFill/>
          </a:ln>
        </p:spPr>
        <p:txBody>
          <a:bodyPr>
            <a:spAutoFit/>
          </a:bodyPr>
          <a:lstStyle/>
          <a:p>
            <a:pPr marR="0" defTabSz="914400">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3.2.1  </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单位阶跃响应</a:t>
            </a:r>
          </a:p>
        </p:txBody>
      </p:sp>
      <p:sp>
        <p:nvSpPr>
          <p:cNvPr id="1428493" name="直接连接符 1428492"/>
          <p:cNvSpPr/>
          <p:nvPr/>
        </p:nvSpPr>
        <p:spPr>
          <a:xfrm>
            <a:off x="922338" y="3978275"/>
            <a:ext cx="850900" cy="1588"/>
          </a:xfrm>
          <a:prstGeom prst="line">
            <a:avLst/>
          </a:prstGeom>
          <a:ln w="38100" cap="flat" cmpd="sng">
            <a:solidFill>
              <a:schemeClr val="tx1"/>
            </a:solidFill>
            <a:prstDash val="dash"/>
            <a:headEnd type="none" w="med" len="med"/>
            <a:tailEnd type="none" w="med" len="med"/>
          </a:ln>
        </p:spPr>
      </p:sp>
      <p:sp>
        <p:nvSpPr>
          <p:cNvPr id="1428494" name="直接连接符 1428493"/>
          <p:cNvSpPr/>
          <p:nvPr/>
        </p:nvSpPr>
        <p:spPr>
          <a:xfrm>
            <a:off x="942975" y="3554413"/>
            <a:ext cx="1477963" cy="1587"/>
          </a:xfrm>
          <a:prstGeom prst="line">
            <a:avLst/>
          </a:prstGeom>
          <a:ln w="38100" cap="flat" cmpd="sng">
            <a:solidFill>
              <a:schemeClr val="tx1"/>
            </a:solidFill>
            <a:prstDash val="dash"/>
            <a:headEnd type="none" w="med" len="med"/>
            <a:tailEnd type="none" w="med" len="med"/>
          </a:ln>
        </p:spPr>
      </p:sp>
      <p:sp>
        <p:nvSpPr>
          <p:cNvPr id="1428495" name="直接连接符 1428494"/>
          <p:cNvSpPr/>
          <p:nvPr/>
        </p:nvSpPr>
        <p:spPr>
          <a:xfrm>
            <a:off x="1006475" y="3143250"/>
            <a:ext cx="4216400" cy="1588"/>
          </a:xfrm>
          <a:prstGeom prst="line">
            <a:avLst/>
          </a:prstGeom>
          <a:ln w="57150" cap="flat" cmpd="sng">
            <a:solidFill>
              <a:schemeClr val="tx1"/>
            </a:solidFill>
            <a:prstDash val="solid"/>
            <a:headEnd type="none" w="med" len="med"/>
            <a:tailEnd type="none" w="med" len="med"/>
          </a:ln>
        </p:spPr>
      </p:sp>
      <p:sp>
        <p:nvSpPr>
          <p:cNvPr id="1428496" name="直接连接符 1428495"/>
          <p:cNvSpPr/>
          <p:nvPr/>
        </p:nvSpPr>
        <p:spPr>
          <a:xfrm flipV="1">
            <a:off x="3932238" y="3216275"/>
            <a:ext cx="1587" cy="1987550"/>
          </a:xfrm>
          <a:prstGeom prst="line">
            <a:avLst/>
          </a:prstGeom>
          <a:ln w="38100" cap="flat" cmpd="sng">
            <a:solidFill>
              <a:schemeClr val="tx1"/>
            </a:solidFill>
            <a:prstDash val="sysDot"/>
            <a:headEnd type="none" w="med" len="med"/>
            <a:tailEnd type="none" w="med" len="med"/>
          </a:ln>
        </p:spPr>
      </p:sp>
      <p:sp>
        <p:nvSpPr>
          <p:cNvPr id="1428497" name="直接连接符 1428496"/>
          <p:cNvSpPr/>
          <p:nvPr/>
        </p:nvSpPr>
        <p:spPr>
          <a:xfrm flipV="1">
            <a:off x="3189288" y="3287713"/>
            <a:ext cx="1587" cy="1920875"/>
          </a:xfrm>
          <a:prstGeom prst="line">
            <a:avLst/>
          </a:prstGeom>
          <a:ln w="38100" cap="flat" cmpd="sng">
            <a:solidFill>
              <a:schemeClr val="tx1"/>
            </a:solidFill>
            <a:prstDash val="sysDot"/>
            <a:headEnd type="none" w="med" len="med"/>
            <a:tailEnd type="none" w="med" len="med"/>
          </a:ln>
        </p:spPr>
      </p:sp>
      <p:sp>
        <p:nvSpPr>
          <p:cNvPr id="1428498" name="直接连接符 1428497"/>
          <p:cNvSpPr/>
          <p:nvPr/>
        </p:nvSpPr>
        <p:spPr>
          <a:xfrm flipV="1">
            <a:off x="2449513" y="3503613"/>
            <a:ext cx="1587" cy="1752600"/>
          </a:xfrm>
          <a:prstGeom prst="line">
            <a:avLst/>
          </a:prstGeom>
          <a:ln w="38100" cap="flat" cmpd="sng">
            <a:solidFill>
              <a:schemeClr val="tx1"/>
            </a:solidFill>
            <a:prstDash val="sysDot"/>
            <a:headEnd type="none" w="med" len="med"/>
            <a:tailEnd type="none" w="med" len="med"/>
          </a:ln>
        </p:spPr>
      </p:sp>
      <p:sp>
        <p:nvSpPr>
          <p:cNvPr id="1428499" name="直接连接符 1428498"/>
          <p:cNvSpPr/>
          <p:nvPr/>
        </p:nvSpPr>
        <p:spPr>
          <a:xfrm flipH="1">
            <a:off x="1728788" y="4008438"/>
            <a:ext cx="1587" cy="1270000"/>
          </a:xfrm>
          <a:prstGeom prst="line">
            <a:avLst/>
          </a:prstGeom>
          <a:ln w="38100" cap="flat" cmpd="sng">
            <a:solidFill>
              <a:schemeClr val="tx1"/>
            </a:solidFill>
            <a:prstDash val="sysDot"/>
            <a:headEnd type="none" w="med" len="med"/>
            <a:tailEnd type="none" w="med" len="med"/>
          </a:ln>
        </p:spPr>
      </p:sp>
      <p:sp>
        <p:nvSpPr>
          <p:cNvPr id="1428500" name="任意多边形 1428499"/>
          <p:cNvSpPr/>
          <p:nvPr/>
        </p:nvSpPr>
        <p:spPr>
          <a:xfrm>
            <a:off x="977900" y="3216275"/>
            <a:ext cx="3838575" cy="2028825"/>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1913" h="1043">
                <a:moveTo>
                  <a:pt x="0" y="1043"/>
                </a:moveTo>
                <a:cubicBezTo>
                  <a:pt x="54" y="914"/>
                  <a:pt x="109" y="786"/>
                  <a:pt x="174" y="674"/>
                </a:cubicBezTo>
                <a:cubicBezTo>
                  <a:pt x="239" y="562"/>
                  <a:pt x="293" y="462"/>
                  <a:pt x="391" y="370"/>
                </a:cubicBezTo>
                <a:cubicBezTo>
                  <a:pt x="489" y="278"/>
                  <a:pt x="638" y="174"/>
                  <a:pt x="761" y="120"/>
                </a:cubicBezTo>
                <a:cubicBezTo>
                  <a:pt x="884" y="66"/>
                  <a:pt x="1011" y="62"/>
                  <a:pt x="1130" y="44"/>
                </a:cubicBezTo>
                <a:cubicBezTo>
                  <a:pt x="1249" y="26"/>
                  <a:pt x="1348" y="18"/>
                  <a:pt x="1478" y="11"/>
                </a:cubicBezTo>
                <a:cubicBezTo>
                  <a:pt x="1608" y="4"/>
                  <a:pt x="1832" y="2"/>
                  <a:pt x="1913"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1428501" name="文本框 1428500"/>
          <p:cNvSpPr txBox="1"/>
          <p:nvPr/>
        </p:nvSpPr>
        <p:spPr>
          <a:xfrm>
            <a:off x="17463" y="3824288"/>
            <a:ext cx="1052512" cy="420687"/>
          </a:xfrm>
          <a:prstGeom prst="rect">
            <a:avLst/>
          </a:prstGeom>
          <a:noFill/>
          <a:ln w="9525">
            <a:noFill/>
          </a:ln>
        </p:spPr>
        <p:txBody>
          <a:bodyPr>
            <a:spAutoFit/>
          </a:bodyPr>
          <a:lstStyle/>
          <a:p>
            <a:pPr algn="ctr">
              <a:lnSpc>
                <a:spcPct val="90000"/>
              </a:lnSpc>
            </a:pPr>
            <a:r>
              <a:rPr lang="en-US" altLang="zh-CN" sz="2400" dirty="0">
                <a:solidFill>
                  <a:schemeClr val="tx1"/>
                </a:solidFill>
                <a:latin typeface="Times New Roman" panose="02020603050405020304" pitchFamily="18" charset="0"/>
              </a:rPr>
              <a:t>0.632</a:t>
            </a:r>
          </a:p>
        </p:txBody>
      </p:sp>
      <p:sp>
        <p:nvSpPr>
          <p:cNvPr id="1428502" name="矩形 1428501"/>
          <p:cNvSpPr/>
          <p:nvPr/>
        </p:nvSpPr>
        <p:spPr>
          <a:xfrm>
            <a:off x="3159125" y="3332163"/>
            <a:ext cx="717550" cy="457200"/>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0.95</a:t>
            </a:r>
          </a:p>
        </p:txBody>
      </p:sp>
      <p:sp>
        <p:nvSpPr>
          <p:cNvPr id="1428503" name="矩形 1428502"/>
          <p:cNvSpPr/>
          <p:nvPr/>
        </p:nvSpPr>
        <p:spPr>
          <a:xfrm>
            <a:off x="3962400" y="3317875"/>
            <a:ext cx="869950" cy="457200"/>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0.982</a:t>
            </a:r>
          </a:p>
        </p:txBody>
      </p:sp>
      <p:sp>
        <p:nvSpPr>
          <p:cNvPr id="1428504" name="椭圆 1428503"/>
          <p:cNvSpPr/>
          <p:nvPr/>
        </p:nvSpPr>
        <p:spPr>
          <a:xfrm>
            <a:off x="1636713" y="3917950"/>
            <a:ext cx="173037" cy="173038"/>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428505" name="椭圆 1428504"/>
          <p:cNvSpPr/>
          <p:nvPr/>
        </p:nvSpPr>
        <p:spPr>
          <a:xfrm>
            <a:off x="2382838" y="3432175"/>
            <a:ext cx="173037" cy="173038"/>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428506" name="椭圆 1428505"/>
          <p:cNvSpPr/>
          <p:nvPr/>
        </p:nvSpPr>
        <p:spPr>
          <a:xfrm>
            <a:off x="3103563" y="3216275"/>
            <a:ext cx="173037" cy="173038"/>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428507" name="椭圆 1428506"/>
          <p:cNvSpPr/>
          <p:nvPr/>
        </p:nvSpPr>
        <p:spPr>
          <a:xfrm>
            <a:off x="3829050" y="3143250"/>
            <a:ext cx="173038" cy="173038"/>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428508" name="文本框 1428507"/>
          <p:cNvSpPr txBox="1"/>
          <p:nvPr/>
        </p:nvSpPr>
        <p:spPr>
          <a:xfrm>
            <a:off x="0" y="3348038"/>
            <a:ext cx="1052513" cy="420687"/>
          </a:xfrm>
          <a:prstGeom prst="rect">
            <a:avLst/>
          </a:prstGeom>
          <a:noFill/>
          <a:ln w="9525">
            <a:noFill/>
          </a:ln>
        </p:spPr>
        <p:txBody>
          <a:bodyPr>
            <a:spAutoFit/>
          </a:bodyPr>
          <a:lstStyle/>
          <a:p>
            <a:pPr algn="ctr">
              <a:lnSpc>
                <a:spcPct val="90000"/>
              </a:lnSpc>
            </a:pPr>
            <a:r>
              <a:rPr lang="en-US" altLang="zh-CN" sz="2400" dirty="0">
                <a:solidFill>
                  <a:schemeClr val="tx1"/>
                </a:solidFill>
                <a:latin typeface="Times New Roman" panose="02020603050405020304" pitchFamily="18" charset="0"/>
              </a:rPr>
              <a:t>0.865</a:t>
            </a:r>
          </a:p>
        </p:txBody>
      </p:sp>
      <p:sp>
        <p:nvSpPr>
          <p:cNvPr id="1428509" name="文本框 1428508"/>
          <p:cNvSpPr txBox="1"/>
          <p:nvPr/>
        </p:nvSpPr>
        <p:spPr>
          <a:xfrm>
            <a:off x="381000" y="2927350"/>
            <a:ext cx="638175" cy="420688"/>
          </a:xfrm>
          <a:prstGeom prst="rect">
            <a:avLst/>
          </a:prstGeom>
          <a:noFill/>
          <a:ln w="9525">
            <a:noFill/>
          </a:ln>
        </p:spPr>
        <p:txBody>
          <a:bodyPr>
            <a:spAutoFit/>
          </a:bodyPr>
          <a:lstStyle/>
          <a:p>
            <a:pPr>
              <a:lnSpc>
                <a:spcPct val="90000"/>
              </a:lnSpc>
            </a:pPr>
            <a:r>
              <a:rPr lang="en-US" altLang="zh-CN" sz="2400" dirty="0">
                <a:solidFill>
                  <a:schemeClr val="tx1"/>
                </a:solidFill>
                <a:latin typeface="Times New Roman" panose="02020603050405020304" pitchFamily="18" charset="0"/>
              </a:rPr>
              <a:t>1.0</a:t>
            </a:r>
          </a:p>
        </p:txBody>
      </p:sp>
      <p:grpSp>
        <p:nvGrpSpPr>
          <p:cNvPr id="2" name="组合 1">
            <a:extLst>
              <a:ext uri="{FF2B5EF4-FFF2-40B4-BE49-F238E27FC236}">
                <a16:creationId xmlns:a16="http://schemas.microsoft.com/office/drawing/2014/main" id="{58BD1430-0C5D-4C87-948C-EC7ED88DF2B2}"/>
              </a:ext>
            </a:extLst>
          </p:cNvPr>
          <p:cNvGrpSpPr/>
          <p:nvPr/>
        </p:nvGrpSpPr>
        <p:grpSpPr>
          <a:xfrm>
            <a:off x="5308599" y="2909887"/>
            <a:ext cx="3922711" cy="2807227"/>
            <a:chOff x="5308599" y="2909887"/>
            <a:chExt cx="3922711" cy="2807227"/>
          </a:xfrm>
        </p:grpSpPr>
        <p:sp>
          <p:nvSpPr>
            <p:cNvPr id="1428492" name="文本框 1428491"/>
            <p:cNvSpPr txBox="1"/>
            <p:nvPr/>
          </p:nvSpPr>
          <p:spPr>
            <a:xfrm>
              <a:off x="5410200" y="3006725"/>
              <a:ext cx="3821110" cy="2098075"/>
            </a:xfrm>
            <a:prstGeom prst="rect">
              <a:avLst/>
            </a:prstGeom>
            <a:noFill/>
            <a:ln w="9525">
              <a:noFill/>
            </a:ln>
          </p:spPr>
          <p:txBody>
            <a:bodyPr wrap="square">
              <a:spAutoFit/>
            </a:bodyPr>
            <a:lstStyle/>
            <a:p>
              <a:pPr>
                <a:lnSpc>
                  <a:spcPct val="140000"/>
                </a:lnSpc>
                <a:spcBef>
                  <a:spcPct val="0"/>
                </a:spcBef>
              </a:pPr>
              <a:r>
                <a:rPr lang="en-US" altLang="zh-CN" sz="2000" b="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响应曲线在</a:t>
              </a:r>
              <a:r>
                <a:rPr lang="en-US" altLang="zh-CN" sz="2400" dirty="0">
                  <a:solidFill>
                    <a:schemeClr val="tx1"/>
                  </a:solidFill>
                  <a:latin typeface="Times New Roman" panose="02020603050405020304" pitchFamily="18" charset="0"/>
                </a:rPr>
                <a:t>[0</a:t>
              </a:r>
              <a:r>
                <a:rPr lang="zh-CN" altLang="en-US" sz="2400"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sym typeface="Symbol" panose="05050102010706020507" pitchFamily="18" charset="2"/>
                </a:rPr>
                <a:t></a:t>
              </a:r>
              <a:r>
                <a:rPr lang="zh-CN" altLang="en-US" sz="2400" dirty="0">
                  <a:solidFill>
                    <a:schemeClr val="tx1"/>
                  </a:solidFill>
                  <a:latin typeface="Times New Roman" panose="02020603050405020304" pitchFamily="18" charset="0"/>
                  <a:sym typeface="Symbol" panose="05050102010706020507" pitchFamily="18" charset="2"/>
                </a:rPr>
                <a:t>）</a:t>
              </a:r>
              <a:r>
                <a:rPr lang="zh-CN" altLang="en-US" sz="2400" dirty="0">
                  <a:solidFill>
                    <a:schemeClr val="tx1"/>
                  </a:solidFill>
                  <a:latin typeface="Arial" panose="020B0604020202020204" pitchFamily="34" charset="0"/>
                </a:rPr>
                <a:t> 的时间区间中始终不会超过其稳态值，把这样的响应称为</a:t>
              </a:r>
              <a:r>
                <a:rPr lang="zh-CN" altLang="en-US" sz="2400" dirty="0">
                  <a:solidFill>
                    <a:srgbClr val="FF0000"/>
                  </a:solidFill>
                  <a:latin typeface="Arial" panose="020B0604020202020204" pitchFamily="34" charset="0"/>
                </a:rPr>
                <a:t>非周期响应</a:t>
              </a:r>
              <a:r>
                <a:rPr lang="zh-CN" altLang="en-US" sz="2400" dirty="0">
                  <a:solidFill>
                    <a:schemeClr val="tx1"/>
                  </a:solidFill>
                  <a:latin typeface="Arial" panose="020B0604020202020204" pitchFamily="34" charset="0"/>
                </a:rPr>
                <a:t>。</a:t>
              </a:r>
              <a:r>
                <a:rPr lang="zh-CN" altLang="en-US" sz="2400" dirty="0">
                  <a:solidFill>
                    <a:schemeClr val="tx2"/>
                  </a:solidFill>
                  <a:latin typeface="Arial" panose="020B0604020202020204" pitchFamily="34" charset="0"/>
                </a:rPr>
                <a:t>无振荡</a:t>
              </a:r>
            </a:p>
          </p:txBody>
        </p:sp>
        <p:sp>
          <p:nvSpPr>
            <p:cNvPr id="30" name="Freeform 56">
              <a:extLst>
                <a:ext uri="{FF2B5EF4-FFF2-40B4-BE49-F238E27FC236}">
                  <a16:creationId xmlns:a16="http://schemas.microsoft.com/office/drawing/2014/main" id="{CB7890BA-AF56-4672-AD7B-AA309A7E6E92}"/>
                </a:ext>
              </a:extLst>
            </p:cNvPr>
            <p:cNvSpPr>
              <a:spLocks/>
            </p:cNvSpPr>
            <p:nvPr/>
          </p:nvSpPr>
          <p:spPr bwMode="auto">
            <a:xfrm>
              <a:off x="5308599" y="2909887"/>
              <a:ext cx="3727889" cy="2807227"/>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28491"/>
                                        </p:tgtEl>
                                        <p:attrNameLst>
                                          <p:attrName>style.visibility</p:attrName>
                                        </p:attrNameLst>
                                      </p:cBhvr>
                                      <p:to>
                                        <p:strVal val="visible"/>
                                      </p:to>
                                    </p:set>
                                    <p:anim calcmode="lin" valueType="num">
                                      <p:cBhvr additive="base">
                                        <p:cTn id="7" dur="500" fill="hold"/>
                                        <p:tgtEl>
                                          <p:spTgt spid="1428491"/>
                                        </p:tgtEl>
                                        <p:attrNameLst>
                                          <p:attrName>ppt_x</p:attrName>
                                        </p:attrNameLst>
                                      </p:cBhvr>
                                      <p:tavLst>
                                        <p:tav tm="0">
                                          <p:val>
                                            <p:strVal val="#ppt_x"/>
                                          </p:val>
                                        </p:tav>
                                        <p:tav tm="100000">
                                          <p:val>
                                            <p:strVal val="#ppt_x"/>
                                          </p:val>
                                        </p:tav>
                                      </p:tavLst>
                                    </p:anim>
                                    <p:anim calcmode="lin" valueType="num">
                                      <p:cBhvr additive="base">
                                        <p:cTn id="8" dur="500" fill="hold"/>
                                        <p:tgtEl>
                                          <p:spTgt spid="142849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428488"/>
                                        </p:tgtEl>
                                        <p:attrNameLst>
                                          <p:attrName>style.visibility</p:attrName>
                                        </p:attrNameLst>
                                      </p:cBhvr>
                                      <p:to>
                                        <p:strVal val="visible"/>
                                      </p:to>
                                    </p:set>
                                    <p:animEffect transition="in" filter="dissolve">
                                      <p:cBhvr>
                                        <p:cTn id="13" dur="500"/>
                                        <p:tgtEl>
                                          <p:spTgt spid="142848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28490"/>
                                        </p:tgtEl>
                                        <p:attrNameLst>
                                          <p:attrName>style.visibility</p:attrName>
                                        </p:attrNameLst>
                                      </p:cBhvr>
                                      <p:to>
                                        <p:strVal val="visible"/>
                                      </p:to>
                                    </p:set>
                                    <p:animEffect transition="in" filter="dissolve">
                                      <p:cBhvr>
                                        <p:cTn id="18" dur="500"/>
                                        <p:tgtEl>
                                          <p:spTgt spid="142849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28489"/>
                                        </p:tgtEl>
                                        <p:attrNameLst>
                                          <p:attrName>style.visibility</p:attrName>
                                        </p:attrNameLst>
                                      </p:cBhvr>
                                      <p:to>
                                        <p:strVal val="visible"/>
                                      </p:to>
                                    </p:set>
                                    <p:animEffect transition="in" filter="dissolve">
                                      <p:cBhvr>
                                        <p:cTn id="23" dur="500"/>
                                        <p:tgtEl>
                                          <p:spTgt spid="142848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428482"/>
                                        </p:tgtEl>
                                        <p:attrNameLst>
                                          <p:attrName>style.visibility</p:attrName>
                                        </p:attrNameLst>
                                      </p:cBhvr>
                                      <p:to>
                                        <p:strVal val="visible"/>
                                      </p:to>
                                    </p:set>
                                    <p:animEffect transition="in" filter="dissolve">
                                      <p:cBhvr>
                                        <p:cTn id="28" dur="500"/>
                                        <p:tgtEl>
                                          <p:spTgt spid="1428482"/>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1428487"/>
                                        </p:tgtEl>
                                        <p:attrNameLst>
                                          <p:attrName>style.visibility</p:attrName>
                                        </p:attrNameLst>
                                      </p:cBhvr>
                                      <p:to>
                                        <p:strVal val="visible"/>
                                      </p:to>
                                    </p:set>
                                    <p:animEffect transition="in" filter="dissolve">
                                      <p:cBhvr>
                                        <p:cTn id="32" dur="500"/>
                                        <p:tgtEl>
                                          <p:spTgt spid="1428487"/>
                                        </p:tgtEl>
                                      </p:cBhvr>
                                    </p:animEffect>
                                  </p:childTnLst>
                                </p:cTn>
                              </p:par>
                            </p:childTnLst>
                          </p:cTn>
                        </p:par>
                        <p:par>
                          <p:cTn id="33" fill="hold">
                            <p:stCondLst>
                              <p:cond delay="1000"/>
                            </p:stCondLst>
                            <p:childTnLst>
                              <p:par>
                                <p:cTn id="34" presetID="9" presetClass="entr" presetSubtype="0" fill="hold" grpId="0" nodeType="afterEffect">
                                  <p:stCondLst>
                                    <p:cond delay="1000"/>
                                  </p:stCondLst>
                                  <p:childTnLst>
                                    <p:set>
                                      <p:cBhvr>
                                        <p:cTn id="35" dur="1" fill="hold">
                                          <p:stCondLst>
                                            <p:cond delay="0"/>
                                          </p:stCondLst>
                                        </p:cTn>
                                        <p:tgtEl>
                                          <p:spTgt spid="1428509"/>
                                        </p:tgtEl>
                                        <p:attrNameLst>
                                          <p:attrName>style.visibility</p:attrName>
                                        </p:attrNameLst>
                                      </p:cBhvr>
                                      <p:to>
                                        <p:strVal val="visible"/>
                                      </p:to>
                                    </p:set>
                                    <p:animEffect transition="in" filter="dissolve">
                                      <p:cBhvr>
                                        <p:cTn id="36" dur="500"/>
                                        <p:tgtEl>
                                          <p:spTgt spid="1428509"/>
                                        </p:tgtEl>
                                      </p:cBhvr>
                                    </p:animEffect>
                                  </p:childTnLst>
                                </p:cTn>
                              </p:par>
                            </p:childTnLst>
                          </p:cTn>
                        </p:par>
                        <p:par>
                          <p:cTn id="37" fill="hold">
                            <p:stCondLst>
                              <p:cond delay="2500"/>
                            </p:stCondLst>
                            <p:childTnLst>
                              <p:par>
                                <p:cTn id="38" presetID="9" presetClass="entr" presetSubtype="0" fill="hold" nodeType="afterEffect">
                                  <p:stCondLst>
                                    <p:cond delay="0"/>
                                  </p:stCondLst>
                                  <p:childTnLst>
                                    <p:set>
                                      <p:cBhvr>
                                        <p:cTn id="39" dur="1" fill="hold">
                                          <p:stCondLst>
                                            <p:cond delay="0"/>
                                          </p:stCondLst>
                                        </p:cTn>
                                        <p:tgtEl>
                                          <p:spTgt spid="1428495"/>
                                        </p:tgtEl>
                                        <p:attrNameLst>
                                          <p:attrName>style.visibility</p:attrName>
                                        </p:attrNameLst>
                                      </p:cBhvr>
                                      <p:to>
                                        <p:strVal val="visible"/>
                                      </p:to>
                                    </p:set>
                                    <p:animEffect transition="in" filter="dissolve">
                                      <p:cBhvr>
                                        <p:cTn id="40" dur="500"/>
                                        <p:tgtEl>
                                          <p:spTgt spid="142849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428499"/>
                                        </p:tgtEl>
                                        <p:attrNameLst>
                                          <p:attrName>style.visibility</p:attrName>
                                        </p:attrNameLst>
                                      </p:cBhvr>
                                      <p:to>
                                        <p:strVal val="visible"/>
                                      </p:to>
                                    </p:set>
                                    <p:animEffect transition="in" filter="dissolve">
                                      <p:cBhvr>
                                        <p:cTn id="45" dur="500"/>
                                        <p:tgtEl>
                                          <p:spTgt spid="1428499"/>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1428504"/>
                                        </p:tgtEl>
                                        <p:attrNameLst>
                                          <p:attrName>style.visibility</p:attrName>
                                        </p:attrNameLst>
                                      </p:cBhvr>
                                      <p:to>
                                        <p:strVal val="visible"/>
                                      </p:to>
                                    </p:set>
                                    <p:animEffect transition="in" filter="dissolve">
                                      <p:cBhvr>
                                        <p:cTn id="49" dur="500"/>
                                        <p:tgtEl>
                                          <p:spTgt spid="1428504"/>
                                        </p:tgtEl>
                                      </p:cBhvr>
                                    </p:animEffect>
                                  </p:childTnLst>
                                </p:cTn>
                              </p:par>
                            </p:childTnLst>
                          </p:cTn>
                        </p:par>
                        <p:par>
                          <p:cTn id="50" fill="hold">
                            <p:stCondLst>
                              <p:cond delay="1000"/>
                            </p:stCondLst>
                            <p:childTnLst>
                              <p:par>
                                <p:cTn id="51" presetID="9" presetClass="entr" presetSubtype="0" fill="hold" nodeType="afterEffect">
                                  <p:stCondLst>
                                    <p:cond delay="0"/>
                                  </p:stCondLst>
                                  <p:childTnLst>
                                    <p:set>
                                      <p:cBhvr>
                                        <p:cTn id="52" dur="1" fill="hold">
                                          <p:stCondLst>
                                            <p:cond delay="0"/>
                                          </p:stCondLst>
                                        </p:cTn>
                                        <p:tgtEl>
                                          <p:spTgt spid="1428493"/>
                                        </p:tgtEl>
                                        <p:attrNameLst>
                                          <p:attrName>style.visibility</p:attrName>
                                        </p:attrNameLst>
                                      </p:cBhvr>
                                      <p:to>
                                        <p:strVal val="visible"/>
                                      </p:to>
                                    </p:set>
                                    <p:animEffect transition="in" filter="dissolve">
                                      <p:cBhvr>
                                        <p:cTn id="53" dur="500"/>
                                        <p:tgtEl>
                                          <p:spTgt spid="1428493"/>
                                        </p:tgtEl>
                                      </p:cBhvr>
                                    </p:animEffect>
                                  </p:childTnLst>
                                </p:cTn>
                              </p:par>
                            </p:childTnLst>
                          </p:cTn>
                        </p:par>
                        <p:par>
                          <p:cTn id="54" fill="hold">
                            <p:stCondLst>
                              <p:cond delay="1500"/>
                            </p:stCondLst>
                            <p:childTnLst>
                              <p:par>
                                <p:cTn id="55" presetID="9" presetClass="entr" presetSubtype="0" fill="hold" grpId="0" nodeType="afterEffect">
                                  <p:stCondLst>
                                    <p:cond delay="0"/>
                                  </p:stCondLst>
                                  <p:childTnLst>
                                    <p:set>
                                      <p:cBhvr>
                                        <p:cTn id="56" dur="1" fill="hold">
                                          <p:stCondLst>
                                            <p:cond delay="0"/>
                                          </p:stCondLst>
                                        </p:cTn>
                                        <p:tgtEl>
                                          <p:spTgt spid="1428501"/>
                                        </p:tgtEl>
                                        <p:attrNameLst>
                                          <p:attrName>style.visibility</p:attrName>
                                        </p:attrNameLst>
                                      </p:cBhvr>
                                      <p:to>
                                        <p:strVal val="visible"/>
                                      </p:to>
                                    </p:set>
                                    <p:animEffect transition="in" filter="dissolve">
                                      <p:cBhvr>
                                        <p:cTn id="57" dur="500"/>
                                        <p:tgtEl>
                                          <p:spTgt spid="1428501"/>
                                        </p:tgtEl>
                                      </p:cBhvr>
                                    </p:animEffect>
                                  </p:childTnLst>
                                </p:cTn>
                              </p:par>
                            </p:childTnLst>
                          </p:cTn>
                        </p:par>
                        <p:par>
                          <p:cTn id="58" fill="hold">
                            <p:stCondLst>
                              <p:cond delay="2000"/>
                            </p:stCondLst>
                            <p:childTnLst>
                              <p:par>
                                <p:cTn id="59" presetID="9" presetClass="entr" presetSubtype="0" fill="hold" nodeType="afterEffect">
                                  <p:stCondLst>
                                    <p:cond delay="3000"/>
                                  </p:stCondLst>
                                  <p:childTnLst>
                                    <p:set>
                                      <p:cBhvr>
                                        <p:cTn id="60" dur="1" fill="hold">
                                          <p:stCondLst>
                                            <p:cond delay="0"/>
                                          </p:stCondLst>
                                        </p:cTn>
                                        <p:tgtEl>
                                          <p:spTgt spid="1428498"/>
                                        </p:tgtEl>
                                        <p:attrNameLst>
                                          <p:attrName>style.visibility</p:attrName>
                                        </p:attrNameLst>
                                      </p:cBhvr>
                                      <p:to>
                                        <p:strVal val="visible"/>
                                      </p:to>
                                    </p:set>
                                    <p:animEffect transition="in" filter="dissolve">
                                      <p:cBhvr>
                                        <p:cTn id="61" dur="500"/>
                                        <p:tgtEl>
                                          <p:spTgt spid="1428498"/>
                                        </p:tgtEl>
                                      </p:cBhvr>
                                    </p:animEffect>
                                  </p:childTnLst>
                                </p:cTn>
                              </p:par>
                            </p:childTnLst>
                          </p:cTn>
                        </p:par>
                        <p:par>
                          <p:cTn id="62" fill="hold">
                            <p:stCondLst>
                              <p:cond delay="5500"/>
                            </p:stCondLst>
                            <p:childTnLst>
                              <p:par>
                                <p:cTn id="63" presetID="9" presetClass="entr" presetSubtype="0" fill="hold" nodeType="afterEffect">
                                  <p:stCondLst>
                                    <p:cond delay="0"/>
                                  </p:stCondLst>
                                  <p:childTnLst>
                                    <p:set>
                                      <p:cBhvr>
                                        <p:cTn id="64" dur="1" fill="hold">
                                          <p:stCondLst>
                                            <p:cond delay="0"/>
                                          </p:stCondLst>
                                        </p:cTn>
                                        <p:tgtEl>
                                          <p:spTgt spid="1428505"/>
                                        </p:tgtEl>
                                        <p:attrNameLst>
                                          <p:attrName>style.visibility</p:attrName>
                                        </p:attrNameLst>
                                      </p:cBhvr>
                                      <p:to>
                                        <p:strVal val="visible"/>
                                      </p:to>
                                    </p:set>
                                    <p:animEffect transition="in" filter="dissolve">
                                      <p:cBhvr>
                                        <p:cTn id="65" dur="500"/>
                                        <p:tgtEl>
                                          <p:spTgt spid="1428505"/>
                                        </p:tgtEl>
                                      </p:cBhvr>
                                    </p:animEffect>
                                  </p:childTnLst>
                                </p:cTn>
                              </p:par>
                            </p:childTnLst>
                          </p:cTn>
                        </p:par>
                        <p:par>
                          <p:cTn id="66" fill="hold">
                            <p:stCondLst>
                              <p:cond delay="6000"/>
                            </p:stCondLst>
                            <p:childTnLst>
                              <p:par>
                                <p:cTn id="67" presetID="9" presetClass="entr" presetSubtype="0" fill="hold" nodeType="afterEffect">
                                  <p:stCondLst>
                                    <p:cond delay="0"/>
                                  </p:stCondLst>
                                  <p:childTnLst>
                                    <p:set>
                                      <p:cBhvr>
                                        <p:cTn id="68" dur="1" fill="hold">
                                          <p:stCondLst>
                                            <p:cond delay="0"/>
                                          </p:stCondLst>
                                        </p:cTn>
                                        <p:tgtEl>
                                          <p:spTgt spid="1428494"/>
                                        </p:tgtEl>
                                        <p:attrNameLst>
                                          <p:attrName>style.visibility</p:attrName>
                                        </p:attrNameLst>
                                      </p:cBhvr>
                                      <p:to>
                                        <p:strVal val="visible"/>
                                      </p:to>
                                    </p:set>
                                    <p:animEffect transition="in" filter="dissolve">
                                      <p:cBhvr>
                                        <p:cTn id="69" dur="500"/>
                                        <p:tgtEl>
                                          <p:spTgt spid="1428494"/>
                                        </p:tgtEl>
                                      </p:cBhvr>
                                    </p:animEffect>
                                  </p:childTnLst>
                                </p:cTn>
                              </p:par>
                            </p:childTnLst>
                          </p:cTn>
                        </p:par>
                        <p:par>
                          <p:cTn id="70" fill="hold">
                            <p:stCondLst>
                              <p:cond delay="6500"/>
                            </p:stCondLst>
                            <p:childTnLst>
                              <p:par>
                                <p:cTn id="71" presetID="9" presetClass="entr" presetSubtype="0" fill="hold" grpId="0" nodeType="afterEffect">
                                  <p:stCondLst>
                                    <p:cond delay="0"/>
                                  </p:stCondLst>
                                  <p:childTnLst>
                                    <p:set>
                                      <p:cBhvr>
                                        <p:cTn id="72" dur="1" fill="hold">
                                          <p:stCondLst>
                                            <p:cond delay="0"/>
                                          </p:stCondLst>
                                        </p:cTn>
                                        <p:tgtEl>
                                          <p:spTgt spid="1428508"/>
                                        </p:tgtEl>
                                        <p:attrNameLst>
                                          <p:attrName>style.visibility</p:attrName>
                                        </p:attrNameLst>
                                      </p:cBhvr>
                                      <p:to>
                                        <p:strVal val="visible"/>
                                      </p:to>
                                    </p:set>
                                    <p:animEffect transition="in" filter="dissolve">
                                      <p:cBhvr>
                                        <p:cTn id="73" dur="500"/>
                                        <p:tgtEl>
                                          <p:spTgt spid="1428508"/>
                                        </p:tgtEl>
                                      </p:cBhvr>
                                    </p:animEffect>
                                  </p:childTnLst>
                                </p:cTn>
                              </p:par>
                            </p:childTnLst>
                          </p:cTn>
                        </p:par>
                        <p:par>
                          <p:cTn id="74" fill="hold">
                            <p:stCondLst>
                              <p:cond delay="7000"/>
                            </p:stCondLst>
                            <p:childTnLst>
                              <p:par>
                                <p:cTn id="75" presetID="9" presetClass="entr" presetSubtype="0" fill="hold" nodeType="afterEffect">
                                  <p:stCondLst>
                                    <p:cond delay="3000"/>
                                  </p:stCondLst>
                                  <p:childTnLst>
                                    <p:set>
                                      <p:cBhvr>
                                        <p:cTn id="76" dur="1" fill="hold">
                                          <p:stCondLst>
                                            <p:cond delay="0"/>
                                          </p:stCondLst>
                                        </p:cTn>
                                        <p:tgtEl>
                                          <p:spTgt spid="1428497"/>
                                        </p:tgtEl>
                                        <p:attrNameLst>
                                          <p:attrName>style.visibility</p:attrName>
                                        </p:attrNameLst>
                                      </p:cBhvr>
                                      <p:to>
                                        <p:strVal val="visible"/>
                                      </p:to>
                                    </p:set>
                                    <p:animEffect transition="in" filter="dissolve">
                                      <p:cBhvr>
                                        <p:cTn id="77" dur="500"/>
                                        <p:tgtEl>
                                          <p:spTgt spid="1428497"/>
                                        </p:tgtEl>
                                      </p:cBhvr>
                                    </p:animEffect>
                                  </p:childTnLst>
                                </p:cTn>
                              </p:par>
                            </p:childTnLst>
                          </p:cTn>
                        </p:par>
                        <p:par>
                          <p:cTn id="78" fill="hold">
                            <p:stCondLst>
                              <p:cond delay="10500"/>
                            </p:stCondLst>
                            <p:childTnLst>
                              <p:par>
                                <p:cTn id="79" presetID="9" presetClass="entr" presetSubtype="0" fill="hold" nodeType="afterEffect">
                                  <p:stCondLst>
                                    <p:cond delay="0"/>
                                  </p:stCondLst>
                                  <p:childTnLst>
                                    <p:set>
                                      <p:cBhvr>
                                        <p:cTn id="80" dur="1" fill="hold">
                                          <p:stCondLst>
                                            <p:cond delay="0"/>
                                          </p:stCondLst>
                                        </p:cTn>
                                        <p:tgtEl>
                                          <p:spTgt spid="1428506"/>
                                        </p:tgtEl>
                                        <p:attrNameLst>
                                          <p:attrName>style.visibility</p:attrName>
                                        </p:attrNameLst>
                                      </p:cBhvr>
                                      <p:to>
                                        <p:strVal val="visible"/>
                                      </p:to>
                                    </p:set>
                                    <p:animEffect transition="in" filter="dissolve">
                                      <p:cBhvr>
                                        <p:cTn id="81" dur="500"/>
                                        <p:tgtEl>
                                          <p:spTgt spid="1428506"/>
                                        </p:tgtEl>
                                      </p:cBhvr>
                                    </p:animEffect>
                                  </p:childTnLst>
                                </p:cTn>
                              </p:par>
                            </p:childTnLst>
                          </p:cTn>
                        </p:par>
                        <p:par>
                          <p:cTn id="82" fill="hold">
                            <p:stCondLst>
                              <p:cond delay="11000"/>
                            </p:stCondLst>
                            <p:childTnLst>
                              <p:par>
                                <p:cTn id="83" presetID="9" presetClass="entr" presetSubtype="0" fill="hold" grpId="0" nodeType="afterEffect">
                                  <p:stCondLst>
                                    <p:cond delay="0"/>
                                  </p:stCondLst>
                                  <p:childTnLst>
                                    <p:set>
                                      <p:cBhvr>
                                        <p:cTn id="84" dur="1" fill="hold">
                                          <p:stCondLst>
                                            <p:cond delay="0"/>
                                          </p:stCondLst>
                                        </p:cTn>
                                        <p:tgtEl>
                                          <p:spTgt spid="1428502"/>
                                        </p:tgtEl>
                                        <p:attrNameLst>
                                          <p:attrName>style.visibility</p:attrName>
                                        </p:attrNameLst>
                                      </p:cBhvr>
                                      <p:to>
                                        <p:strVal val="visible"/>
                                      </p:to>
                                    </p:set>
                                    <p:animEffect transition="in" filter="dissolve">
                                      <p:cBhvr>
                                        <p:cTn id="85" dur="500"/>
                                        <p:tgtEl>
                                          <p:spTgt spid="1428502"/>
                                        </p:tgtEl>
                                      </p:cBhvr>
                                    </p:animEffect>
                                  </p:childTnLst>
                                </p:cTn>
                              </p:par>
                            </p:childTnLst>
                          </p:cTn>
                        </p:par>
                        <p:par>
                          <p:cTn id="86" fill="hold">
                            <p:stCondLst>
                              <p:cond delay="11500"/>
                            </p:stCondLst>
                            <p:childTnLst>
                              <p:par>
                                <p:cTn id="87" presetID="9" presetClass="entr" presetSubtype="0" fill="hold" nodeType="afterEffect">
                                  <p:stCondLst>
                                    <p:cond delay="3000"/>
                                  </p:stCondLst>
                                  <p:childTnLst>
                                    <p:set>
                                      <p:cBhvr>
                                        <p:cTn id="88" dur="1" fill="hold">
                                          <p:stCondLst>
                                            <p:cond delay="0"/>
                                          </p:stCondLst>
                                        </p:cTn>
                                        <p:tgtEl>
                                          <p:spTgt spid="1428496"/>
                                        </p:tgtEl>
                                        <p:attrNameLst>
                                          <p:attrName>style.visibility</p:attrName>
                                        </p:attrNameLst>
                                      </p:cBhvr>
                                      <p:to>
                                        <p:strVal val="visible"/>
                                      </p:to>
                                    </p:set>
                                    <p:animEffect transition="in" filter="dissolve">
                                      <p:cBhvr>
                                        <p:cTn id="89" dur="500"/>
                                        <p:tgtEl>
                                          <p:spTgt spid="1428496"/>
                                        </p:tgtEl>
                                      </p:cBhvr>
                                    </p:animEffect>
                                  </p:childTnLst>
                                </p:cTn>
                              </p:par>
                            </p:childTnLst>
                          </p:cTn>
                        </p:par>
                        <p:par>
                          <p:cTn id="90" fill="hold">
                            <p:stCondLst>
                              <p:cond delay="15000"/>
                            </p:stCondLst>
                            <p:childTnLst>
                              <p:par>
                                <p:cTn id="91" presetID="9" presetClass="entr" presetSubtype="0" fill="hold" nodeType="afterEffect">
                                  <p:stCondLst>
                                    <p:cond delay="0"/>
                                  </p:stCondLst>
                                  <p:childTnLst>
                                    <p:set>
                                      <p:cBhvr>
                                        <p:cTn id="92" dur="1" fill="hold">
                                          <p:stCondLst>
                                            <p:cond delay="0"/>
                                          </p:stCondLst>
                                        </p:cTn>
                                        <p:tgtEl>
                                          <p:spTgt spid="1428507"/>
                                        </p:tgtEl>
                                        <p:attrNameLst>
                                          <p:attrName>style.visibility</p:attrName>
                                        </p:attrNameLst>
                                      </p:cBhvr>
                                      <p:to>
                                        <p:strVal val="visible"/>
                                      </p:to>
                                    </p:set>
                                    <p:animEffect transition="in" filter="dissolve">
                                      <p:cBhvr>
                                        <p:cTn id="93" dur="500"/>
                                        <p:tgtEl>
                                          <p:spTgt spid="1428507"/>
                                        </p:tgtEl>
                                      </p:cBhvr>
                                    </p:animEffect>
                                  </p:childTnLst>
                                </p:cTn>
                              </p:par>
                            </p:childTnLst>
                          </p:cTn>
                        </p:par>
                        <p:par>
                          <p:cTn id="94" fill="hold">
                            <p:stCondLst>
                              <p:cond delay="15500"/>
                            </p:stCondLst>
                            <p:childTnLst>
                              <p:par>
                                <p:cTn id="95" presetID="9" presetClass="entr" presetSubtype="0" fill="hold" grpId="0" nodeType="afterEffect">
                                  <p:stCondLst>
                                    <p:cond delay="0"/>
                                  </p:stCondLst>
                                  <p:childTnLst>
                                    <p:set>
                                      <p:cBhvr>
                                        <p:cTn id="96" dur="1" fill="hold">
                                          <p:stCondLst>
                                            <p:cond delay="0"/>
                                          </p:stCondLst>
                                        </p:cTn>
                                        <p:tgtEl>
                                          <p:spTgt spid="1428503"/>
                                        </p:tgtEl>
                                        <p:attrNameLst>
                                          <p:attrName>style.visibility</p:attrName>
                                        </p:attrNameLst>
                                      </p:cBhvr>
                                      <p:to>
                                        <p:strVal val="visible"/>
                                      </p:to>
                                    </p:set>
                                    <p:animEffect transition="in" filter="dissolve">
                                      <p:cBhvr>
                                        <p:cTn id="97" dur="500"/>
                                        <p:tgtEl>
                                          <p:spTgt spid="1428503"/>
                                        </p:tgtEl>
                                      </p:cBhvr>
                                    </p:animEffect>
                                  </p:childTnLst>
                                </p:cTn>
                              </p:par>
                            </p:childTnLst>
                          </p:cTn>
                        </p:par>
                        <p:par>
                          <p:cTn id="98" fill="hold">
                            <p:stCondLst>
                              <p:cond delay="16000"/>
                            </p:stCondLst>
                            <p:childTnLst>
                              <p:par>
                                <p:cTn id="99" presetID="22" presetClass="entr" presetSubtype="8" fill="hold" nodeType="afterEffect">
                                  <p:stCondLst>
                                    <p:cond delay="3000"/>
                                  </p:stCondLst>
                                  <p:childTnLst>
                                    <p:set>
                                      <p:cBhvr>
                                        <p:cTn id="100" dur="1" fill="hold">
                                          <p:stCondLst>
                                            <p:cond delay="0"/>
                                          </p:stCondLst>
                                        </p:cTn>
                                        <p:tgtEl>
                                          <p:spTgt spid="1428500"/>
                                        </p:tgtEl>
                                        <p:attrNameLst>
                                          <p:attrName>style.visibility</p:attrName>
                                        </p:attrNameLst>
                                      </p:cBhvr>
                                      <p:to>
                                        <p:strVal val="visible"/>
                                      </p:to>
                                    </p:set>
                                    <p:animEffect transition="in" filter="wipe(left)">
                                      <p:cBhvr>
                                        <p:cTn id="101" dur="500"/>
                                        <p:tgtEl>
                                          <p:spTgt spid="1428500"/>
                                        </p:tgtEl>
                                      </p:cBhvr>
                                    </p:animEffect>
                                  </p:childTnLst>
                                </p:cTn>
                              </p:par>
                            </p:childTnLst>
                          </p:cTn>
                        </p:par>
                      </p:childTnLst>
                    </p:cTn>
                  </p:par>
                  <p:par>
                    <p:cTn id="102" fill="hold">
                      <p:stCondLst>
                        <p:cond delay="indefinite"/>
                      </p:stCondLst>
                      <p:childTnLst>
                        <p:par>
                          <p:cTn id="103" fill="hold">
                            <p:stCondLst>
                              <p:cond delay="0"/>
                            </p:stCondLst>
                            <p:childTnLst>
                              <p:par>
                                <p:cTn id="104" presetID="6" presetClass="entr" presetSubtype="16" fill="hold" nodeType="clickEffect">
                                  <p:stCondLst>
                                    <p:cond delay="0"/>
                                  </p:stCondLst>
                                  <p:childTnLst>
                                    <p:set>
                                      <p:cBhvr>
                                        <p:cTn id="105" dur="1" fill="hold">
                                          <p:stCondLst>
                                            <p:cond delay="0"/>
                                          </p:stCondLst>
                                        </p:cTn>
                                        <p:tgtEl>
                                          <p:spTgt spid="2"/>
                                        </p:tgtEl>
                                        <p:attrNameLst>
                                          <p:attrName>style.visibility</p:attrName>
                                        </p:attrNameLst>
                                      </p:cBhvr>
                                      <p:to>
                                        <p:strVal val="visible"/>
                                      </p:to>
                                    </p:set>
                                    <p:animEffect transition="in" filter="circle(in)">
                                      <p:cBhvr>
                                        <p:cTn id="10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8487" grpId="0"/>
      <p:bldP spid="1428488" grpId="0"/>
      <p:bldP spid="1428491" grpId="0"/>
      <p:bldP spid="1428501" grpId="0"/>
      <p:bldP spid="1428502" grpId="0"/>
      <p:bldP spid="1428503" grpId="0"/>
      <p:bldP spid="1428508" grpId="0"/>
      <p:bldP spid="142850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506" name="文本框 1429505"/>
          <p:cNvSpPr txBox="1"/>
          <p:nvPr/>
        </p:nvSpPr>
        <p:spPr>
          <a:xfrm>
            <a:off x="0" y="3690099"/>
            <a:ext cx="6375003" cy="1152367"/>
          </a:xfrm>
          <a:prstGeom prst="rect">
            <a:avLst/>
          </a:prstGeom>
          <a:noFill/>
          <a:ln w="9525">
            <a:noFill/>
          </a:ln>
        </p:spPr>
        <p:txBody>
          <a:bodyPr wrap="square">
            <a:spAutoFit/>
          </a:bodyPr>
          <a:lstStyle/>
          <a:p>
            <a:pPr marR="0" defTabSz="914400">
              <a:lnSpc>
                <a:spcPct val="130000"/>
              </a:lnSpc>
              <a:spcBef>
                <a:spcPct val="0"/>
              </a:spcBef>
              <a:buClrTx/>
              <a:buSzTx/>
              <a:buFontTx/>
              <a:buNone/>
              <a:defRPr/>
            </a:pPr>
            <a:r>
              <a:rPr kumimoji="0" lang="zh-CN" altLang="en-US" sz="28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一阶系统的瞬态响应指标调整时间</a:t>
            </a:r>
            <a:r>
              <a:rPr kumimoji="0" lang="en-US" altLang="zh-CN" sz="2800" i="1" kern="1200" cap="none" spc="0" normalizeH="0" baseline="0" noProof="1">
                <a:solidFill>
                  <a:schemeClr val="tx2"/>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a:t>
            </a:r>
            <a:r>
              <a:rPr kumimoji="0" lang="en-US" altLang="zh-CN" sz="2400" i="1" kern="1200" cap="none" spc="0" normalizeH="0" baseline="-30000" noProof="1">
                <a:solidFill>
                  <a:schemeClr val="tx2"/>
                </a:solidFill>
                <a:effectLst>
                  <a:outerShdw blurRad="38100" dist="38100" dir="2700000">
                    <a:srgbClr val="C0C0C0"/>
                  </a:outerShdw>
                </a:effectLst>
                <a:latin typeface="Times New Roman" panose="02020603050405020304" pitchFamily="18" charset="0"/>
                <a:ea typeface="宋体" panose="02010600030101010101" pitchFamily="2" charset="-122"/>
                <a:cs typeface="Times New Roman" panose="02020603050405020304" pitchFamily="18" charset="0"/>
              </a:rPr>
              <a:t>s </a:t>
            </a:r>
            <a:endParaRPr kumimoji="0" lang="en-US" altLang="zh-CN" sz="28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R="0" defTabSz="914400">
              <a:lnSpc>
                <a:spcPct val="130000"/>
              </a:lnSpc>
              <a:spcBef>
                <a:spcPct val="0"/>
              </a:spcBef>
              <a:buClrTx/>
              <a:buSzTx/>
              <a:buFontTx/>
              <a:buNone/>
              <a:defRPr/>
            </a:pP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定义：︱</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c</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t</a:t>
            </a:r>
            <a:r>
              <a:rPr kumimoji="0" lang="en-US" altLang="zh-CN" sz="2800" i="1" kern="1200" cap="none" spc="0" normalizeH="0" baseline="-25000" noProof="1">
                <a:solidFill>
                  <a:schemeClr val="tx1"/>
                </a:solidFill>
                <a:latin typeface="Times New Roman" panose="02020603050405020304" pitchFamily="18" charset="0"/>
                <a:ea typeface="宋体" panose="02010600030101010101" pitchFamily="2" charset="-122"/>
                <a:cs typeface="+mn-cs"/>
              </a:rPr>
              <a:t>s</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1 </a:t>
            </a:r>
            <a:r>
              <a:rPr kumimoji="0" lang="zh-CN" altLang="en-US" sz="28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    ( </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zh-CN" altLang="en-US"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取</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5%</a:t>
            </a:r>
            <a:r>
              <a:rPr kumimoji="0" lang="zh-CN" altLang="en-US"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或</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2%</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a:t>
            </a:r>
            <a:endParaRPr kumimoji="0" lang="en-US" altLang="zh-CN" sz="2800" i="1" kern="1200" cap="none" spc="0" normalizeH="0" baseline="3000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endParaRPr>
          </a:p>
        </p:txBody>
      </p:sp>
      <p:graphicFrame>
        <p:nvGraphicFramePr>
          <p:cNvPr id="1429507" name="对象 1429506"/>
          <p:cNvGraphicFramePr/>
          <p:nvPr>
            <p:extLst>
              <p:ext uri="{D42A27DB-BD31-4B8C-83A1-F6EECF244321}">
                <p14:modId xmlns:p14="http://schemas.microsoft.com/office/powerpoint/2010/main" val="1579887576"/>
              </p:ext>
            </p:extLst>
          </p:nvPr>
        </p:nvGraphicFramePr>
        <p:xfrm>
          <a:off x="225697" y="5003926"/>
          <a:ext cx="1171575" cy="714375"/>
        </p:xfrm>
        <a:graphic>
          <a:graphicData uri="http://schemas.openxmlformats.org/presentationml/2006/ole">
            <mc:AlternateContent xmlns:mc="http://schemas.openxmlformats.org/markup-compatibility/2006">
              <mc:Choice xmlns:v="urn:schemas-microsoft-com:vml" Requires="v">
                <p:oleObj spid="_x0000_s14358" r:id="rId3" imgW="520065" imgH="317500" progId="Equation.3">
                  <p:embed/>
                </p:oleObj>
              </mc:Choice>
              <mc:Fallback>
                <p:oleObj r:id="rId3" imgW="520065" imgH="317500" progId="Equation.3">
                  <p:embed/>
                  <p:pic>
                    <p:nvPicPr>
                      <p:cNvPr id="0" name="图片 3085"/>
                      <p:cNvPicPr/>
                      <p:nvPr/>
                    </p:nvPicPr>
                    <p:blipFill>
                      <a:blip r:embed="rId4"/>
                      <a:stretch>
                        <a:fillRect/>
                      </a:stretch>
                    </p:blipFill>
                    <p:spPr>
                      <a:xfrm>
                        <a:off x="225697" y="5003926"/>
                        <a:ext cx="1171575" cy="714375"/>
                      </a:xfrm>
                      <a:prstGeom prst="rect">
                        <a:avLst/>
                      </a:prstGeom>
                      <a:noFill/>
                      <a:ln w="38100">
                        <a:noFill/>
                        <a:miter/>
                      </a:ln>
                    </p:spPr>
                  </p:pic>
                </p:oleObj>
              </mc:Fallback>
            </mc:AlternateContent>
          </a:graphicData>
        </a:graphic>
      </p:graphicFrame>
      <p:graphicFrame>
        <p:nvGraphicFramePr>
          <p:cNvPr id="1429508" name="对象 1429507"/>
          <p:cNvGraphicFramePr/>
          <p:nvPr>
            <p:extLst>
              <p:ext uri="{D42A27DB-BD31-4B8C-83A1-F6EECF244321}">
                <p14:modId xmlns:p14="http://schemas.microsoft.com/office/powerpoint/2010/main" val="1938232041"/>
              </p:ext>
            </p:extLst>
          </p:nvPr>
        </p:nvGraphicFramePr>
        <p:xfrm>
          <a:off x="1397272" y="4980218"/>
          <a:ext cx="2627312" cy="1084263"/>
        </p:xfrm>
        <a:graphic>
          <a:graphicData uri="http://schemas.openxmlformats.org/presentationml/2006/ole">
            <mc:AlternateContent xmlns:mc="http://schemas.openxmlformats.org/markup-compatibility/2006">
              <mc:Choice xmlns:v="urn:schemas-microsoft-com:vml" Requires="v">
                <p:oleObj spid="_x0000_s14359" r:id="rId5" imgW="1167765" imgH="482600" progId="Equation.3">
                  <p:embed/>
                </p:oleObj>
              </mc:Choice>
              <mc:Fallback>
                <p:oleObj r:id="rId5" imgW="1167765" imgH="482600" progId="Equation.3">
                  <p:embed/>
                  <p:pic>
                    <p:nvPicPr>
                      <p:cNvPr id="0" name="图片 3084"/>
                      <p:cNvPicPr/>
                      <p:nvPr/>
                    </p:nvPicPr>
                    <p:blipFill>
                      <a:blip r:embed="rId6"/>
                      <a:stretch>
                        <a:fillRect/>
                      </a:stretch>
                    </p:blipFill>
                    <p:spPr>
                      <a:xfrm>
                        <a:off x="1397272" y="4980218"/>
                        <a:ext cx="2627312" cy="1084263"/>
                      </a:xfrm>
                      <a:prstGeom prst="rect">
                        <a:avLst/>
                      </a:prstGeom>
                      <a:noFill/>
                      <a:ln w="38100">
                        <a:noFill/>
                        <a:miter/>
                      </a:ln>
                    </p:spPr>
                  </p:pic>
                </p:oleObj>
              </mc:Fallback>
            </mc:AlternateContent>
          </a:graphicData>
        </a:graphic>
      </p:graphicFrame>
      <p:sp>
        <p:nvSpPr>
          <p:cNvPr id="1429509" name="直接连接符 1429508"/>
          <p:cNvSpPr/>
          <p:nvPr/>
        </p:nvSpPr>
        <p:spPr>
          <a:xfrm flipH="1">
            <a:off x="1692275" y="871538"/>
            <a:ext cx="0" cy="2133600"/>
          </a:xfrm>
          <a:prstGeom prst="line">
            <a:avLst/>
          </a:prstGeom>
          <a:ln w="57150" cap="flat" cmpd="sng">
            <a:solidFill>
              <a:srgbClr val="000080"/>
            </a:solidFill>
            <a:prstDash val="sysDot"/>
            <a:headEnd type="none" w="med" len="med"/>
            <a:tailEnd type="none" w="med" len="med"/>
          </a:ln>
        </p:spPr>
      </p:sp>
      <p:sp>
        <p:nvSpPr>
          <p:cNvPr id="1429510" name="直接连接符 1429509"/>
          <p:cNvSpPr/>
          <p:nvPr/>
        </p:nvSpPr>
        <p:spPr>
          <a:xfrm flipV="1">
            <a:off x="1234554" y="587375"/>
            <a:ext cx="858837" cy="2397125"/>
          </a:xfrm>
          <a:prstGeom prst="line">
            <a:avLst/>
          </a:prstGeom>
          <a:ln w="76200" cap="sq" cmpd="sng">
            <a:solidFill>
              <a:srgbClr val="000080"/>
            </a:solidFill>
            <a:prstDash val="solid"/>
            <a:headEnd type="none" w="med" len="med"/>
            <a:tailEnd type="none" w="med" len="med"/>
          </a:ln>
        </p:spPr>
      </p:sp>
      <p:sp>
        <p:nvSpPr>
          <p:cNvPr id="1429511" name="文本框 1429510"/>
          <p:cNvSpPr txBox="1"/>
          <p:nvPr/>
        </p:nvSpPr>
        <p:spPr>
          <a:xfrm>
            <a:off x="5377133" y="54037"/>
            <a:ext cx="3712097" cy="934679"/>
          </a:xfrm>
          <a:prstGeom prst="rect">
            <a:avLst/>
          </a:prstGeom>
          <a:noFill/>
          <a:ln w="12700">
            <a:noFill/>
          </a:ln>
        </p:spPr>
        <p:txBody>
          <a:bodyPr wrap="square">
            <a:spAutoFit/>
          </a:bodyPr>
          <a:lstStyle/>
          <a:p>
            <a:pPr marR="0" defTabSz="914400">
              <a:lnSpc>
                <a:spcPct val="120000"/>
              </a:lnSpc>
              <a:spcBef>
                <a:spcPct val="0"/>
              </a:spcBef>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一阶系统响应具备两个重要的特点：</a:t>
            </a:r>
          </a:p>
        </p:txBody>
      </p:sp>
      <p:grpSp>
        <p:nvGrpSpPr>
          <p:cNvPr id="24584" name="组合 1429511"/>
          <p:cNvGrpSpPr/>
          <p:nvPr/>
        </p:nvGrpSpPr>
        <p:grpSpPr>
          <a:xfrm>
            <a:off x="285229" y="115888"/>
            <a:ext cx="5222875" cy="3351212"/>
            <a:chOff x="0" y="0"/>
            <a:chExt cx="3290" cy="2111"/>
          </a:xfrm>
        </p:grpSpPr>
        <p:sp>
          <p:nvSpPr>
            <p:cNvPr id="24587" name="文本框 1429512"/>
            <p:cNvSpPr txBox="1"/>
            <p:nvPr/>
          </p:nvSpPr>
          <p:spPr>
            <a:xfrm>
              <a:off x="210" y="1823"/>
              <a:ext cx="2521" cy="288"/>
            </a:xfrm>
            <a:prstGeom prst="rect">
              <a:avLst/>
            </a:prstGeom>
            <a:noFill/>
            <a:ln w="9525">
              <a:noFill/>
            </a:ln>
          </p:spPr>
          <p:txBody>
            <a:bodyPr>
              <a:spAutoFit/>
            </a:bodyPr>
            <a:lstStyle/>
            <a:p>
              <a:r>
                <a:rPr lang="zh-CN" altLang="en-US" sz="2400" b="0" dirty="0">
                  <a:solidFill>
                    <a:schemeClr val="tx1"/>
                  </a:solidFill>
                  <a:latin typeface="Times New Roman" panose="02020603050405020304" pitchFamily="18" charset="0"/>
                </a:rPr>
                <a:t>　</a:t>
              </a:r>
              <a:r>
                <a:rPr lang="zh-CN" altLang="en-US" sz="2400" dirty="0">
                  <a:solidFill>
                    <a:schemeClr val="tx1"/>
                  </a:solidFill>
                  <a:latin typeface="Times New Roman" panose="02020603050405020304" pitchFamily="18" charset="0"/>
                </a:rPr>
                <a:t>０　  </a:t>
              </a:r>
              <a:r>
                <a:rPr lang="en-US" altLang="zh-CN" sz="2400" i="1" dirty="0">
                  <a:solidFill>
                    <a:schemeClr val="tx1"/>
                  </a:solidFill>
                  <a:latin typeface="Times New Roman" panose="02020603050405020304" pitchFamily="18" charset="0"/>
                </a:rPr>
                <a:t>T</a:t>
              </a:r>
              <a:r>
                <a:rPr lang="zh-CN" altLang="en-US"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2</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3</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4</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a:t>
              </a:r>
              <a:endParaRPr lang="en-US" altLang="zh-CN" sz="2400" i="1" dirty="0">
                <a:solidFill>
                  <a:schemeClr val="tx1"/>
                </a:solidFill>
                <a:latin typeface="Times New Roman" panose="02020603050405020304" pitchFamily="18" charset="0"/>
              </a:endParaRPr>
            </a:p>
          </p:txBody>
        </p:sp>
        <p:grpSp>
          <p:nvGrpSpPr>
            <p:cNvPr id="24588" name="组合 1429513"/>
            <p:cNvGrpSpPr/>
            <p:nvPr/>
          </p:nvGrpSpPr>
          <p:grpSpPr>
            <a:xfrm>
              <a:off x="591" y="0"/>
              <a:ext cx="2492" cy="2055"/>
              <a:chOff x="1242" y="-33"/>
              <a:chExt cx="2492" cy="2055"/>
            </a:xfrm>
          </p:grpSpPr>
          <p:sp>
            <p:nvSpPr>
              <p:cNvPr id="24606" name="直接连接符 1429514"/>
              <p:cNvSpPr/>
              <p:nvPr/>
            </p:nvSpPr>
            <p:spPr>
              <a:xfrm flipV="1">
                <a:off x="1251" y="66"/>
                <a:ext cx="0" cy="1704"/>
              </a:xfrm>
              <a:prstGeom prst="line">
                <a:avLst/>
              </a:prstGeom>
              <a:ln w="57150" cap="sq" cmpd="sng">
                <a:solidFill>
                  <a:schemeClr val="tx1"/>
                </a:solidFill>
                <a:prstDash val="solid"/>
                <a:headEnd type="none" w="med" len="med"/>
                <a:tailEnd type="triangle" w="med" len="med"/>
              </a:ln>
            </p:spPr>
          </p:sp>
          <p:sp>
            <p:nvSpPr>
              <p:cNvPr id="24607" name="直接连接符 1429515"/>
              <p:cNvSpPr/>
              <p:nvPr/>
            </p:nvSpPr>
            <p:spPr>
              <a:xfrm>
                <a:off x="1242" y="1788"/>
                <a:ext cx="2448" cy="0"/>
              </a:xfrm>
              <a:prstGeom prst="line">
                <a:avLst/>
              </a:prstGeom>
              <a:ln w="57150" cap="sq" cmpd="sng">
                <a:solidFill>
                  <a:schemeClr val="tx1"/>
                </a:solidFill>
                <a:prstDash val="solid"/>
                <a:headEnd type="none" w="med" len="med"/>
                <a:tailEnd type="triangle" w="med" len="med"/>
              </a:ln>
            </p:spPr>
          </p:sp>
          <p:sp>
            <p:nvSpPr>
              <p:cNvPr id="24608" name="矩形 1429516"/>
              <p:cNvSpPr/>
              <p:nvPr/>
            </p:nvSpPr>
            <p:spPr>
              <a:xfrm>
                <a:off x="3565" y="1734"/>
                <a:ext cx="169" cy="28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4609" name="矩形 1429517"/>
              <p:cNvSpPr/>
              <p:nvPr/>
            </p:nvSpPr>
            <p:spPr>
              <a:xfrm>
                <a:off x="1321" y="-33"/>
                <a:ext cx="382" cy="288"/>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grpSp>
        <p:sp>
          <p:nvSpPr>
            <p:cNvPr id="24589" name="直接连接符 1429518"/>
            <p:cNvSpPr/>
            <p:nvPr/>
          </p:nvSpPr>
          <p:spPr>
            <a:xfrm>
              <a:off x="581" y="994"/>
              <a:ext cx="536" cy="0"/>
            </a:xfrm>
            <a:prstGeom prst="line">
              <a:avLst/>
            </a:prstGeom>
            <a:ln w="38100" cap="flat" cmpd="sng">
              <a:solidFill>
                <a:schemeClr val="tx1"/>
              </a:solidFill>
              <a:prstDash val="dash"/>
              <a:headEnd type="none" w="med" len="med"/>
              <a:tailEnd type="none" w="med" len="med"/>
            </a:ln>
          </p:spPr>
        </p:sp>
        <p:sp>
          <p:nvSpPr>
            <p:cNvPr id="24590" name="直接连接符 1429519"/>
            <p:cNvSpPr/>
            <p:nvPr/>
          </p:nvSpPr>
          <p:spPr>
            <a:xfrm>
              <a:off x="594" y="727"/>
              <a:ext cx="931" cy="0"/>
            </a:xfrm>
            <a:prstGeom prst="line">
              <a:avLst/>
            </a:prstGeom>
            <a:ln w="38100" cap="flat" cmpd="sng">
              <a:solidFill>
                <a:schemeClr val="tx1"/>
              </a:solidFill>
              <a:prstDash val="dash"/>
              <a:headEnd type="none" w="med" len="med"/>
              <a:tailEnd type="none" w="med" len="med"/>
            </a:ln>
          </p:spPr>
        </p:sp>
        <p:sp>
          <p:nvSpPr>
            <p:cNvPr id="24591" name="直接连接符 1429520"/>
            <p:cNvSpPr/>
            <p:nvPr/>
          </p:nvSpPr>
          <p:spPr>
            <a:xfrm>
              <a:off x="634" y="514"/>
              <a:ext cx="2656" cy="0"/>
            </a:xfrm>
            <a:prstGeom prst="line">
              <a:avLst/>
            </a:prstGeom>
            <a:ln w="57150" cap="flat" cmpd="sng">
              <a:solidFill>
                <a:schemeClr val="tx1"/>
              </a:solidFill>
              <a:prstDash val="solid"/>
              <a:headEnd type="none" w="med" len="med"/>
              <a:tailEnd type="none" w="med" len="med"/>
            </a:ln>
          </p:spPr>
        </p:sp>
        <p:sp>
          <p:nvSpPr>
            <p:cNvPr id="24592" name="直接连接符 1429521"/>
            <p:cNvSpPr/>
            <p:nvPr/>
          </p:nvSpPr>
          <p:spPr>
            <a:xfrm flipV="1">
              <a:off x="2477" y="567"/>
              <a:ext cx="0" cy="1252"/>
            </a:xfrm>
            <a:prstGeom prst="line">
              <a:avLst/>
            </a:prstGeom>
            <a:ln w="38100" cap="flat" cmpd="sng">
              <a:solidFill>
                <a:schemeClr val="tx1"/>
              </a:solidFill>
              <a:prstDash val="sysDot"/>
              <a:headEnd type="none" w="med" len="med"/>
              <a:tailEnd type="none" w="med" len="med"/>
            </a:ln>
          </p:spPr>
        </p:sp>
        <p:sp>
          <p:nvSpPr>
            <p:cNvPr id="24593" name="直接连接符 1429522"/>
            <p:cNvSpPr/>
            <p:nvPr/>
          </p:nvSpPr>
          <p:spPr>
            <a:xfrm flipV="1">
              <a:off x="2009" y="594"/>
              <a:ext cx="0" cy="1210"/>
            </a:xfrm>
            <a:prstGeom prst="line">
              <a:avLst/>
            </a:prstGeom>
            <a:ln w="38100" cap="flat" cmpd="sng">
              <a:solidFill>
                <a:schemeClr val="tx1"/>
              </a:solidFill>
              <a:prstDash val="sysDot"/>
              <a:headEnd type="none" w="med" len="med"/>
              <a:tailEnd type="none" w="med" len="med"/>
            </a:ln>
          </p:spPr>
        </p:sp>
        <p:sp>
          <p:nvSpPr>
            <p:cNvPr id="24594" name="直接连接符 1429523"/>
            <p:cNvSpPr/>
            <p:nvPr/>
          </p:nvSpPr>
          <p:spPr>
            <a:xfrm flipV="1">
              <a:off x="1543" y="714"/>
              <a:ext cx="0" cy="1104"/>
            </a:xfrm>
            <a:prstGeom prst="line">
              <a:avLst/>
            </a:prstGeom>
            <a:ln w="38100" cap="flat" cmpd="sng">
              <a:solidFill>
                <a:schemeClr val="tx1"/>
              </a:solidFill>
              <a:prstDash val="sysDot"/>
              <a:headEnd type="none" w="med" len="med"/>
              <a:tailEnd type="none" w="med" len="med"/>
            </a:ln>
          </p:spPr>
        </p:sp>
        <p:sp>
          <p:nvSpPr>
            <p:cNvPr id="24595" name="任意多边形 1429524"/>
            <p:cNvSpPr/>
            <p:nvPr/>
          </p:nvSpPr>
          <p:spPr>
            <a:xfrm>
              <a:off x="616" y="542"/>
              <a:ext cx="2418" cy="1278"/>
            </a:xfrm>
            <a:custGeom>
              <a:avLst/>
              <a:gdLst/>
              <a:ahLst/>
              <a:cxnLst>
                <a:cxn ang="0">
                  <a:pos x="0" y="1919"/>
                </a:cxn>
                <a:cxn ang="0">
                  <a:pos x="351" y="1240"/>
                </a:cxn>
                <a:cxn ang="0">
                  <a:pos x="789" y="680"/>
                </a:cxn>
                <a:cxn ang="0">
                  <a:pos x="1537" y="221"/>
                </a:cxn>
                <a:cxn ang="0">
                  <a:pos x="2281" y="81"/>
                </a:cxn>
                <a:cxn ang="0">
                  <a:pos x="2984" y="20"/>
                </a:cxn>
                <a:cxn ang="0">
                  <a:pos x="3863" y="0"/>
                </a:cxn>
              </a:cxnLst>
              <a:rect l="0" t="0" r="0" b="0"/>
              <a:pathLst>
                <a:path w="1913" h="1043">
                  <a:moveTo>
                    <a:pt x="0" y="1043"/>
                  </a:moveTo>
                  <a:cubicBezTo>
                    <a:pt x="54" y="914"/>
                    <a:pt x="109" y="786"/>
                    <a:pt x="174" y="674"/>
                  </a:cubicBezTo>
                  <a:cubicBezTo>
                    <a:pt x="239" y="562"/>
                    <a:pt x="293" y="462"/>
                    <a:pt x="391" y="370"/>
                  </a:cubicBezTo>
                  <a:cubicBezTo>
                    <a:pt x="489" y="278"/>
                    <a:pt x="638" y="174"/>
                    <a:pt x="761" y="120"/>
                  </a:cubicBezTo>
                  <a:cubicBezTo>
                    <a:pt x="884" y="66"/>
                    <a:pt x="1011" y="62"/>
                    <a:pt x="1130" y="44"/>
                  </a:cubicBezTo>
                  <a:cubicBezTo>
                    <a:pt x="1249" y="26"/>
                    <a:pt x="1348" y="18"/>
                    <a:pt x="1478" y="11"/>
                  </a:cubicBezTo>
                  <a:cubicBezTo>
                    <a:pt x="1608" y="4"/>
                    <a:pt x="1832" y="2"/>
                    <a:pt x="1913"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24596" name="文本框 1429525"/>
            <p:cNvSpPr txBox="1"/>
            <p:nvPr/>
          </p:nvSpPr>
          <p:spPr>
            <a:xfrm>
              <a:off x="11" y="897"/>
              <a:ext cx="663" cy="265"/>
            </a:xfrm>
            <a:prstGeom prst="rect">
              <a:avLst/>
            </a:prstGeom>
            <a:noFill/>
            <a:ln w="9525">
              <a:noFill/>
            </a:ln>
          </p:spPr>
          <p:txBody>
            <a:bodyPr>
              <a:spAutoFit/>
            </a:bodyPr>
            <a:lstStyle/>
            <a:p>
              <a:pPr algn="ctr">
                <a:lnSpc>
                  <a:spcPct val="90000"/>
                </a:lnSpc>
              </a:pPr>
              <a:r>
                <a:rPr lang="en-US" altLang="zh-CN" sz="2400" dirty="0">
                  <a:solidFill>
                    <a:schemeClr val="tx1"/>
                  </a:solidFill>
                  <a:latin typeface="Times New Roman" panose="02020603050405020304" pitchFamily="18" charset="0"/>
                </a:rPr>
                <a:t>0.632</a:t>
              </a:r>
            </a:p>
          </p:txBody>
        </p:sp>
        <p:sp>
          <p:nvSpPr>
            <p:cNvPr id="24597" name="矩形 1429526"/>
            <p:cNvSpPr/>
            <p:nvPr/>
          </p:nvSpPr>
          <p:spPr>
            <a:xfrm>
              <a:off x="1990" y="587"/>
              <a:ext cx="452"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0.95</a:t>
              </a:r>
            </a:p>
          </p:txBody>
        </p:sp>
        <p:sp>
          <p:nvSpPr>
            <p:cNvPr id="24598" name="矩形 1429527"/>
            <p:cNvSpPr/>
            <p:nvPr/>
          </p:nvSpPr>
          <p:spPr>
            <a:xfrm>
              <a:off x="2496" y="533"/>
              <a:ext cx="548"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0.982</a:t>
              </a:r>
            </a:p>
          </p:txBody>
        </p:sp>
        <p:sp>
          <p:nvSpPr>
            <p:cNvPr id="24599" name="椭圆 1429528"/>
            <p:cNvSpPr/>
            <p:nvPr/>
          </p:nvSpPr>
          <p:spPr>
            <a:xfrm>
              <a:off x="1031" y="956"/>
              <a:ext cx="109" cy="109"/>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4600" name="椭圆 1429529"/>
            <p:cNvSpPr/>
            <p:nvPr/>
          </p:nvSpPr>
          <p:spPr>
            <a:xfrm>
              <a:off x="1444" y="682"/>
              <a:ext cx="109" cy="109"/>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4601" name="椭圆 1429530"/>
            <p:cNvSpPr/>
            <p:nvPr/>
          </p:nvSpPr>
          <p:spPr>
            <a:xfrm>
              <a:off x="1955" y="541"/>
              <a:ext cx="109" cy="109"/>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4602" name="椭圆 1429531"/>
            <p:cNvSpPr/>
            <p:nvPr/>
          </p:nvSpPr>
          <p:spPr>
            <a:xfrm>
              <a:off x="2412" y="498"/>
              <a:ext cx="109" cy="109"/>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4603" name="文本框 1429532"/>
            <p:cNvSpPr txBox="1"/>
            <p:nvPr/>
          </p:nvSpPr>
          <p:spPr>
            <a:xfrm>
              <a:off x="0" y="597"/>
              <a:ext cx="663" cy="265"/>
            </a:xfrm>
            <a:prstGeom prst="rect">
              <a:avLst/>
            </a:prstGeom>
            <a:noFill/>
            <a:ln w="9525">
              <a:noFill/>
            </a:ln>
          </p:spPr>
          <p:txBody>
            <a:bodyPr>
              <a:spAutoFit/>
            </a:bodyPr>
            <a:lstStyle/>
            <a:p>
              <a:pPr algn="ctr">
                <a:lnSpc>
                  <a:spcPct val="90000"/>
                </a:lnSpc>
              </a:pPr>
              <a:r>
                <a:rPr lang="en-US" altLang="zh-CN" sz="2400" dirty="0">
                  <a:solidFill>
                    <a:schemeClr val="tx1"/>
                  </a:solidFill>
                  <a:latin typeface="Times New Roman" panose="02020603050405020304" pitchFamily="18" charset="0"/>
                </a:rPr>
                <a:t>0.865</a:t>
              </a:r>
            </a:p>
          </p:txBody>
        </p:sp>
        <p:sp>
          <p:nvSpPr>
            <p:cNvPr id="24604" name="文本框 1429533"/>
            <p:cNvSpPr txBox="1"/>
            <p:nvPr/>
          </p:nvSpPr>
          <p:spPr>
            <a:xfrm>
              <a:off x="240" y="357"/>
              <a:ext cx="402" cy="265"/>
            </a:xfrm>
            <a:prstGeom prst="rect">
              <a:avLst/>
            </a:prstGeom>
            <a:noFill/>
            <a:ln w="9525">
              <a:noFill/>
            </a:ln>
          </p:spPr>
          <p:txBody>
            <a:bodyPr>
              <a:spAutoFit/>
            </a:bodyPr>
            <a:lstStyle/>
            <a:p>
              <a:pPr>
                <a:lnSpc>
                  <a:spcPct val="90000"/>
                </a:lnSpc>
              </a:pPr>
              <a:r>
                <a:rPr lang="en-US" altLang="zh-CN" sz="2400" dirty="0">
                  <a:solidFill>
                    <a:schemeClr val="tx1"/>
                  </a:solidFill>
                  <a:latin typeface="Times New Roman" panose="02020603050405020304" pitchFamily="18" charset="0"/>
                </a:rPr>
                <a:t>1.0</a:t>
              </a:r>
            </a:p>
          </p:txBody>
        </p:sp>
        <p:sp>
          <p:nvSpPr>
            <p:cNvPr id="24605" name="直接连接符 1429534"/>
            <p:cNvSpPr/>
            <p:nvPr/>
          </p:nvSpPr>
          <p:spPr>
            <a:xfrm flipH="1">
              <a:off x="1089" y="999"/>
              <a:ext cx="0" cy="844"/>
            </a:xfrm>
            <a:prstGeom prst="line">
              <a:avLst/>
            </a:prstGeom>
            <a:ln w="38100" cap="flat" cmpd="sng">
              <a:solidFill>
                <a:srgbClr val="000080"/>
              </a:solidFill>
              <a:prstDash val="sysDot"/>
              <a:headEnd type="none" w="med" len="med"/>
              <a:tailEnd type="none" w="med" len="med"/>
            </a:ln>
          </p:spPr>
        </p:sp>
      </p:grpSp>
      <p:sp>
        <p:nvSpPr>
          <p:cNvPr id="1429536" name="文本框 1429535"/>
          <p:cNvSpPr txBox="1"/>
          <p:nvPr/>
        </p:nvSpPr>
        <p:spPr>
          <a:xfrm>
            <a:off x="6375003" y="3666153"/>
            <a:ext cx="2884492" cy="2308324"/>
          </a:xfrm>
          <a:prstGeom prst="rect">
            <a:avLst/>
          </a:prstGeom>
          <a:noFill/>
          <a:ln w="9525">
            <a:noFill/>
          </a:ln>
        </p:spPr>
        <p:txBody>
          <a:bodyPr wrap="square">
            <a:spAutoFit/>
          </a:bodyPr>
          <a:lstStyle/>
          <a:p>
            <a:pPr>
              <a:buFont typeface="Wingdings" panose="05000000000000000000" pitchFamily="2" charset="2"/>
            </a:pPr>
            <a:r>
              <a:rPr lang="en-US" altLang="zh-CN" sz="2400" dirty="0">
                <a:latin typeface="Arial" panose="020B0604020202020204" pitchFamily="34" charset="0"/>
              </a:rPr>
              <a:t>T</a:t>
            </a:r>
            <a:r>
              <a:rPr lang="zh-CN" altLang="en-US" sz="2400" dirty="0">
                <a:latin typeface="Arial" panose="020B0604020202020204" pitchFamily="34" charset="0"/>
              </a:rPr>
              <a:t>反映了系统的惯性</a:t>
            </a:r>
          </a:p>
          <a:p>
            <a:pPr>
              <a:buFont typeface="Wingdings" panose="05000000000000000000" pitchFamily="2" charset="2"/>
            </a:pPr>
            <a:r>
              <a:rPr lang="en-US" altLang="zh-CN" sz="2400" dirty="0">
                <a:latin typeface="Arial" panose="020B0604020202020204" pitchFamily="34" charset="0"/>
              </a:rPr>
              <a:t>T</a:t>
            </a:r>
            <a:r>
              <a:rPr lang="zh-CN" altLang="en-US" sz="2400" dirty="0">
                <a:latin typeface="Arial" panose="020B0604020202020204" pitchFamily="34" charset="0"/>
              </a:rPr>
              <a:t>越小惯性越小， 响应快！</a:t>
            </a:r>
            <a:endParaRPr lang="en-US" altLang="zh-CN" sz="2400" dirty="0">
              <a:latin typeface="Arial" panose="020B0604020202020204" pitchFamily="34" charset="0"/>
            </a:endParaRPr>
          </a:p>
          <a:p>
            <a:pPr>
              <a:buFont typeface="Wingdings" panose="05000000000000000000" pitchFamily="2" charset="2"/>
            </a:pPr>
            <a:r>
              <a:rPr lang="en-US" altLang="zh-CN" sz="2400" dirty="0">
                <a:latin typeface="Arial" panose="020B0604020202020204" pitchFamily="34" charset="0"/>
              </a:rPr>
              <a:t>T</a:t>
            </a:r>
            <a:r>
              <a:rPr lang="zh-CN" altLang="en-US" sz="2400" dirty="0">
                <a:latin typeface="Arial" panose="020B0604020202020204" pitchFamily="34" charset="0"/>
              </a:rPr>
              <a:t>越大，惯性越大，响应慢。</a:t>
            </a:r>
          </a:p>
        </p:txBody>
      </p:sp>
      <p:graphicFrame>
        <p:nvGraphicFramePr>
          <p:cNvPr id="24586" name="内容占位符 1429536"/>
          <p:cNvGraphicFramePr>
            <a:graphicFrameLocks noGrp="1"/>
          </p:cNvGraphicFramePr>
          <p:nvPr>
            <p:ph/>
            <p:extLst>
              <p:ext uri="{D42A27DB-BD31-4B8C-83A1-F6EECF244321}">
                <p14:modId xmlns:p14="http://schemas.microsoft.com/office/powerpoint/2010/main" val="1388886061"/>
              </p:ext>
            </p:extLst>
          </p:nvPr>
        </p:nvGraphicFramePr>
        <p:xfrm>
          <a:off x="2590279" y="331788"/>
          <a:ext cx="2147887" cy="430212"/>
        </p:xfrm>
        <a:graphic>
          <a:graphicData uri="http://schemas.openxmlformats.org/presentationml/2006/ole">
            <mc:AlternateContent xmlns:mc="http://schemas.openxmlformats.org/markup-compatibility/2006">
              <mc:Choice xmlns:v="urn:schemas-microsoft-com:vml" Requires="v">
                <p:oleObj spid="_x0000_s14360" r:id="rId7" imgW="1713865" imgH="342900" progId="Equation.3">
                  <p:embed/>
                </p:oleObj>
              </mc:Choice>
              <mc:Fallback>
                <p:oleObj r:id="rId7" imgW="1713865" imgH="342900" progId="Equation.3">
                  <p:embed/>
                  <p:pic>
                    <p:nvPicPr>
                      <p:cNvPr id="0" name="图片 3087"/>
                      <p:cNvPicPr/>
                      <p:nvPr/>
                    </p:nvPicPr>
                    <p:blipFill>
                      <a:blip r:embed="rId8"/>
                      <a:srcRect/>
                      <a:stretch>
                        <a:fillRect/>
                      </a:stretch>
                    </p:blipFill>
                    <p:spPr>
                      <a:xfrm>
                        <a:off x="2590279" y="331788"/>
                        <a:ext cx="2147887" cy="430212"/>
                      </a:xfrm>
                      <a:prstGeom prst="rect">
                        <a:avLst/>
                      </a:prstGeom>
                      <a:noFill/>
                      <a:ln w="38100">
                        <a:miter/>
                      </a:ln>
                    </p:spPr>
                  </p:pic>
                </p:oleObj>
              </mc:Fallback>
            </mc:AlternateContent>
          </a:graphicData>
        </a:graphic>
      </p:graphicFrame>
      <p:grpSp>
        <p:nvGrpSpPr>
          <p:cNvPr id="2" name="组合 1">
            <a:extLst>
              <a:ext uri="{FF2B5EF4-FFF2-40B4-BE49-F238E27FC236}">
                <a16:creationId xmlns:a16="http://schemas.microsoft.com/office/drawing/2014/main" id="{F2EEA3E1-D5C2-4367-AC5B-7547173E3F01}"/>
              </a:ext>
            </a:extLst>
          </p:cNvPr>
          <p:cNvGrpSpPr/>
          <p:nvPr/>
        </p:nvGrpSpPr>
        <p:grpSpPr>
          <a:xfrm>
            <a:off x="5392635" y="948068"/>
            <a:ext cx="3859885" cy="2701882"/>
            <a:chOff x="5392635" y="948068"/>
            <a:chExt cx="3859885" cy="2701882"/>
          </a:xfrm>
        </p:grpSpPr>
        <p:sp>
          <p:nvSpPr>
            <p:cNvPr id="34" name="椭圆 31">
              <a:extLst>
                <a:ext uri="{FF2B5EF4-FFF2-40B4-BE49-F238E27FC236}">
                  <a16:creationId xmlns:a16="http://schemas.microsoft.com/office/drawing/2014/main" id="{2287EE43-4F4A-46E8-82B4-0CB7FCD79D68}"/>
                </a:ext>
              </a:extLst>
            </p:cNvPr>
            <p:cNvSpPr/>
            <p:nvPr/>
          </p:nvSpPr>
          <p:spPr>
            <a:xfrm rot="5400000">
              <a:off x="5874324" y="481235"/>
              <a:ext cx="2701882" cy="3635547"/>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5" fmla="*/ 51067 w 648099"/>
                <a:gd name="connsiteY5" fmla="*/ 18182 h 565791"/>
                <a:gd name="connsiteX0" fmla="*/ 95107 w 692139"/>
                <a:gd name="connsiteY0" fmla="*/ 44563 h 592172"/>
                <a:gd name="connsiteX1" fmla="*/ 661045 w 692139"/>
                <a:gd name="connsiteY1" fmla="*/ 58081 h 592172"/>
                <a:gd name="connsiteX2" fmla="*/ 665753 w 692139"/>
                <a:gd name="connsiteY2" fmla="*/ 561730 h 592172"/>
                <a:gd name="connsiteX3" fmla="*/ 56577 w 692139"/>
                <a:gd name="connsiteY3" fmla="*/ 524353 h 592172"/>
                <a:gd name="connsiteX4" fmla="*/ 95107 w 692139"/>
                <a:gd name="connsiteY4" fmla="*/ 44563 h 59217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10474 h 567526"/>
                <a:gd name="connsiteX1" fmla="*/ 668271 w 726505"/>
                <a:gd name="connsiteY1" fmla="*/ 33435 h 567526"/>
                <a:gd name="connsiteX2" fmla="*/ 672979 w 726505"/>
                <a:gd name="connsiteY2" fmla="*/ 537084 h 567526"/>
                <a:gd name="connsiteX3" fmla="*/ 63803 w 726505"/>
                <a:gd name="connsiteY3" fmla="*/ 499707 h 567526"/>
                <a:gd name="connsiteX4" fmla="*/ 84274 w 726505"/>
                <a:gd name="connsiteY4" fmla="*/ 10474 h 567526"/>
                <a:gd name="connsiteX0" fmla="*/ 84274 w 747243"/>
                <a:gd name="connsiteY0" fmla="*/ 23576 h 595793"/>
                <a:gd name="connsiteX1" fmla="*/ 671883 w 747243"/>
                <a:gd name="connsiteY1" fmla="*/ 24503 h 595793"/>
                <a:gd name="connsiteX2" fmla="*/ 672979 w 747243"/>
                <a:gd name="connsiteY2" fmla="*/ 550186 h 595793"/>
                <a:gd name="connsiteX3" fmla="*/ 63803 w 747243"/>
                <a:gd name="connsiteY3" fmla="*/ 512809 h 595793"/>
                <a:gd name="connsiteX4" fmla="*/ 84274 w 747243"/>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672979"/>
                <a:gd name="connsiteY0" fmla="*/ 23576 h 595793"/>
                <a:gd name="connsiteX1" fmla="*/ 671883 w 672979"/>
                <a:gd name="connsiteY1" fmla="*/ 24503 h 595793"/>
                <a:gd name="connsiteX2" fmla="*/ 672979 w 672979"/>
                <a:gd name="connsiteY2" fmla="*/ 550186 h 595793"/>
                <a:gd name="connsiteX3" fmla="*/ 63803 w 672979"/>
                <a:gd name="connsiteY3" fmla="*/ 512809 h 595793"/>
                <a:gd name="connsiteX4" fmla="*/ 84274 w 672979"/>
                <a:gd name="connsiteY4" fmla="*/ 23576 h 595793"/>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60608"/>
                <a:gd name="connsiteX1" fmla="*/ 671883 w 672979"/>
                <a:gd name="connsiteY1" fmla="*/ 24503 h 560608"/>
                <a:gd name="connsiteX2" fmla="*/ 672979 w 672979"/>
                <a:gd name="connsiteY2" fmla="*/ 550186 h 560608"/>
                <a:gd name="connsiteX3" fmla="*/ 63803 w 672979"/>
                <a:gd name="connsiteY3" fmla="*/ 512809 h 560608"/>
                <a:gd name="connsiteX4" fmla="*/ 84274 w 672979"/>
                <a:gd name="connsiteY4" fmla="*/ 23576 h 560608"/>
                <a:gd name="connsiteX0" fmla="*/ 84274 w 672979"/>
                <a:gd name="connsiteY0" fmla="*/ 23576 h 567351"/>
                <a:gd name="connsiteX1" fmla="*/ 671883 w 672979"/>
                <a:gd name="connsiteY1" fmla="*/ 24503 h 567351"/>
                <a:gd name="connsiteX2" fmla="*/ 672979 w 672979"/>
                <a:gd name="connsiteY2" fmla="*/ 550186 h 567351"/>
                <a:gd name="connsiteX3" fmla="*/ 63803 w 672979"/>
                <a:gd name="connsiteY3" fmla="*/ 512809 h 567351"/>
                <a:gd name="connsiteX4" fmla="*/ 84274 w 672979"/>
                <a:gd name="connsiteY4" fmla="*/ 23576 h 567351"/>
                <a:gd name="connsiteX0" fmla="*/ 72869 w 661574"/>
                <a:gd name="connsiteY0" fmla="*/ 23576 h 567351"/>
                <a:gd name="connsiteX1" fmla="*/ 660478 w 661574"/>
                <a:gd name="connsiteY1" fmla="*/ 24503 h 567351"/>
                <a:gd name="connsiteX2" fmla="*/ 661574 w 661574"/>
                <a:gd name="connsiteY2" fmla="*/ 550186 h 567351"/>
                <a:gd name="connsiteX3" fmla="*/ 52398 w 661574"/>
                <a:gd name="connsiteY3" fmla="*/ 512809 h 567351"/>
                <a:gd name="connsiteX4" fmla="*/ 72869 w 661574"/>
                <a:gd name="connsiteY4" fmla="*/ 23576 h 567351"/>
                <a:gd name="connsiteX0" fmla="*/ 72869 w 661574"/>
                <a:gd name="connsiteY0" fmla="*/ 13918 h 557693"/>
                <a:gd name="connsiteX1" fmla="*/ 660478 w 661574"/>
                <a:gd name="connsiteY1" fmla="*/ 14845 h 557693"/>
                <a:gd name="connsiteX2" fmla="*/ 661574 w 661574"/>
                <a:gd name="connsiteY2" fmla="*/ 540528 h 557693"/>
                <a:gd name="connsiteX3" fmla="*/ 52398 w 661574"/>
                <a:gd name="connsiteY3" fmla="*/ 503151 h 557693"/>
                <a:gd name="connsiteX4" fmla="*/ 72869 w 661574"/>
                <a:gd name="connsiteY4" fmla="*/ 13918 h 557693"/>
                <a:gd name="connsiteX0" fmla="*/ 84755 w 673460"/>
                <a:gd name="connsiteY0" fmla="*/ 13918 h 568883"/>
                <a:gd name="connsiteX1" fmla="*/ 672364 w 673460"/>
                <a:gd name="connsiteY1" fmla="*/ 14845 h 568883"/>
                <a:gd name="connsiteX2" fmla="*/ 673460 w 673460"/>
                <a:gd name="connsiteY2" fmla="*/ 540528 h 568883"/>
                <a:gd name="connsiteX3" fmla="*/ 43142 w 673460"/>
                <a:gd name="connsiteY3" fmla="*/ 525832 h 568883"/>
                <a:gd name="connsiteX4" fmla="*/ 84755 w 673460"/>
                <a:gd name="connsiteY4" fmla="*/ 13918 h 568883"/>
                <a:gd name="connsiteX0" fmla="*/ 84755 w 673460"/>
                <a:gd name="connsiteY0" fmla="*/ 13918 h 559604"/>
                <a:gd name="connsiteX1" fmla="*/ 672364 w 673460"/>
                <a:gd name="connsiteY1" fmla="*/ 14845 h 559604"/>
                <a:gd name="connsiteX2" fmla="*/ 673460 w 673460"/>
                <a:gd name="connsiteY2" fmla="*/ 540528 h 559604"/>
                <a:gd name="connsiteX3" fmla="*/ 43142 w 673460"/>
                <a:gd name="connsiteY3" fmla="*/ 525832 h 559604"/>
                <a:gd name="connsiteX4" fmla="*/ 84755 w 673460"/>
                <a:gd name="connsiteY4" fmla="*/ 13918 h 559604"/>
                <a:gd name="connsiteX0" fmla="*/ 84755 w 675575"/>
                <a:gd name="connsiteY0" fmla="*/ 13918 h 562548"/>
                <a:gd name="connsiteX1" fmla="*/ 672364 w 675575"/>
                <a:gd name="connsiteY1" fmla="*/ 14845 h 562548"/>
                <a:gd name="connsiteX2" fmla="*/ 675575 w 675575"/>
                <a:gd name="connsiteY2" fmla="*/ 545971 h 562548"/>
                <a:gd name="connsiteX3" fmla="*/ 43142 w 675575"/>
                <a:gd name="connsiteY3" fmla="*/ 525832 h 562548"/>
                <a:gd name="connsiteX4" fmla="*/ 84755 w 675575"/>
                <a:gd name="connsiteY4" fmla="*/ 13918 h 562548"/>
                <a:gd name="connsiteX0" fmla="*/ 84755 w 680821"/>
                <a:gd name="connsiteY0" fmla="*/ 13918 h 562548"/>
                <a:gd name="connsiteX1" fmla="*/ 680821 w 680821"/>
                <a:gd name="connsiteY1" fmla="*/ 14845 h 562548"/>
                <a:gd name="connsiteX2" fmla="*/ 675575 w 680821"/>
                <a:gd name="connsiteY2" fmla="*/ 545971 h 562548"/>
                <a:gd name="connsiteX3" fmla="*/ 43142 w 680821"/>
                <a:gd name="connsiteY3" fmla="*/ 525832 h 562548"/>
                <a:gd name="connsiteX4" fmla="*/ 84755 w 680821"/>
                <a:gd name="connsiteY4" fmla="*/ 13918 h 562548"/>
                <a:gd name="connsiteX0" fmla="*/ 72868 w 690076"/>
                <a:gd name="connsiteY0" fmla="*/ 20358 h 559916"/>
                <a:gd name="connsiteX1" fmla="*/ 690076 w 690076"/>
                <a:gd name="connsiteY1" fmla="*/ 12213 h 559916"/>
                <a:gd name="connsiteX2" fmla="*/ 684830 w 690076"/>
                <a:gd name="connsiteY2" fmla="*/ 543339 h 559916"/>
                <a:gd name="connsiteX3" fmla="*/ 52397 w 690076"/>
                <a:gd name="connsiteY3" fmla="*/ 523200 h 559916"/>
                <a:gd name="connsiteX4" fmla="*/ 72868 w 690076"/>
                <a:gd name="connsiteY4" fmla="*/ 20358 h 559916"/>
                <a:gd name="connsiteX0" fmla="*/ 72868 w 690076"/>
                <a:gd name="connsiteY0" fmla="*/ 22718 h 562276"/>
                <a:gd name="connsiteX1" fmla="*/ 690076 w 690076"/>
                <a:gd name="connsiteY1" fmla="*/ 14573 h 562276"/>
                <a:gd name="connsiteX2" fmla="*/ 684830 w 690076"/>
                <a:gd name="connsiteY2" fmla="*/ 545699 h 562276"/>
                <a:gd name="connsiteX3" fmla="*/ 52397 w 690076"/>
                <a:gd name="connsiteY3" fmla="*/ 525560 h 562276"/>
                <a:gd name="connsiteX4" fmla="*/ 72868 w 690076"/>
                <a:gd name="connsiteY4" fmla="*/ 22718 h 562276"/>
                <a:gd name="connsiteX0" fmla="*/ 59152 w 676360"/>
                <a:gd name="connsiteY0" fmla="*/ 22718 h 562276"/>
                <a:gd name="connsiteX1" fmla="*/ 676360 w 676360"/>
                <a:gd name="connsiteY1" fmla="*/ 14573 h 562276"/>
                <a:gd name="connsiteX2" fmla="*/ 671114 w 676360"/>
                <a:gd name="connsiteY2" fmla="*/ 545699 h 562276"/>
                <a:gd name="connsiteX3" fmla="*/ 38681 w 676360"/>
                <a:gd name="connsiteY3" fmla="*/ 525560 h 562276"/>
                <a:gd name="connsiteX4" fmla="*/ 103808 w 676360"/>
                <a:gd name="connsiteY4" fmla="*/ 279153 h 562276"/>
                <a:gd name="connsiteX5" fmla="*/ 59152 w 676360"/>
                <a:gd name="connsiteY5" fmla="*/ 22718 h 562276"/>
                <a:gd name="connsiteX0" fmla="*/ 41341 w 658549"/>
                <a:gd name="connsiteY0" fmla="*/ 22718 h 562276"/>
                <a:gd name="connsiteX1" fmla="*/ 658549 w 658549"/>
                <a:gd name="connsiteY1" fmla="*/ 14573 h 562276"/>
                <a:gd name="connsiteX2" fmla="*/ 653303 w 658549"/>
                <a:gd name="connsiteY2" fmla="*/ 545699 h 562276"/>
                <a:gd name="connsiteX3" fmla="*/ 20870 w 658549"/>
                <a:gd name="connsiteY3" fmla="*/ 525560 h 562276"/>
                <a:gd name="connsiteX4" fmla="*/ 85997 w 658549"/>
                <a:gd name="connsiteY4" fmla="*/ 279153 h 562276"/>
                <a:gd name="connsiteX5" fmla="*/ 41341 w 658549"/>
                <a:gd name="connsiteY5" fmla="*/ 22718 h 562276"/>
                <a:gd name="connsiteX0" fmla="*/ 23542 w 640750"/>
                <a:gd name="connsiteY0" fmla="*/ 22718 h 562276"/>
                <a:gd name="connsiteX1" fmla="*/ 640750 w 640750"/>
                <a:gd name="connsiteY1" fmla="*/ 14573 h 562276"/>
                <a:gd name="connsiteX2" fmla="*/ 635504 w 640750"/>
                <a:gd name="connsiteY2" fmla="*/ 545699 h 562276"/>
                <a:gd name="connsiteX3" fmla="*/ 3071 w 640750"/>
                <a:gd name="connsiteY3" fmla="*/ 525560 h 562276"/>
                <a:gd name="connsiteX4" fmla="*/ 68198 w 640750"/>
                <a:gd name="connsiteY4" fmla="*/ 279153 h 562276"/>
                <a:gd name="connsiteX5" fmla="*/ 23542 w 640750"/>
                <a:gd name="connsiteY5" fmla="*/ 22718 h 562276"/>
                <a:gd name="connsiteX0" fmla="*/ 24044 w 641252"/>
                <a:gd name="connsiteY0" fmla="*/ 22718 h 562276"/>
                <a:gd name="connsiteX1" fmla="*/ 641252 w 641252"/>
                <a:gd name="connsiteY1" fmla="*/ 14573 h 562276"/>
                <a:gd name="connsiteX2" fmla="*/ 636006 w 641252"/>
                <a:gd name="connsiteY2" fmla="*/ 545699 h 562276"/>
                <a:gd name="connsiteX3" fmla="*/ 3573 w 641252"/>
                <a:gd name="connsiteY3" fmla="*/ 525560 h 562276"/>
                <a:gd name="connsiteX4" fmla="*/ 68700 w 641252"/>
                <a:gd name="connsiteY4" fmla="*/ 279153 h 562276"/>
                <a:gd name="connsiteX5" fmla="*/ 24044 w 641252"/>
                <a:gd name="connsiteY5" fmla="*/ 22718 h 562276"/>
                <a:gd name="connsiteX0" fmla="*/ 31476 w 648684"/>
                <a:gd name="connsiteY0" fmla="*/ 22718 h 562276"/>
                <a:gd name="connsiteX1" fmla="*/ 648684 w 648684"/>
                <a:gd name="connsiteY1" fmla="*/ 14573 h 562276"/>
                <a:gd name="connsiteX2" fmla="*/ 643438 w 648684"/>
                <a:gd name="connsiteY2" fmla="*/ 545699 h 562276"/>
                <a:gd name="connsiteX3" fmla="*/ 11005 w 648684"/>
                <a:gd name="connsiteY3" fmla="*/ 525560 h 562276"/>
                <a:gd name="connsiteX4" fmla="*/ 76132 w 648684"/>
                <a:gd name="connsiteY4" fmla="*/ 279153 h 562276"/>
                <a:gd name="connsiteX5" fmla="*/ 31476 w 648684"/>
                <a:gd name="connsiteY5" fmla="*/ 22718 h 562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84" h="562276">
                  <a:moveTo>
                    <a:pt x="31476" y="22718"/>
                  </a:moveTo>
                  <a:cubicBezTo>
                    <a:pt x="149400" y="4275"/>
                    <a:pt x="424155" y="-13389"/>
                    <a:pt x="648684" y="14573"/>
                  </a:cubicBezTo>
                  <a:cubicBezTo>
                    <a:pt x="609553" y="92898"/>
                    <a:pt x="618372" y="432838"/>
                    <a:pt x="643438" y="545699"/>
                  </a:cubicBezTo>
                  <a:cubicBezTo>
                    <a:pt x="542091" y="567277"/>
                    <a:pt x="109269" y="574431"/>
                    <a:pt x="11005" y="525560"/>
                  </a:cubicBezTo>
                  <a:cubicBezTo>
                    <a:pt x="-33861" y="453465"/>
                    <a:pt x="72720" y="362960"/>
                    <a:pt x="76132" y="279153"/>
                  </a:cubicBezTo>
                  <a:cubicBezTo>
                    <a:pt x="79544" y="195346"/>
                    <a:pt x="-41749" y="78155"/>
                    <a:pt x="31476" y="22718"/>
                  </a:cubicBezTo>
                  <a:close/>
                </a:path>
              </a:pathLst>
            </a:custGeom>
            <a:noFill/>
            <a:ln w="25400"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38" name="文本框 37">
              <a:extLst>
                <a:ext uri="{FF2B5EF4-FFF2-40B4-BE49-F238E27FC236}">
                  <a16:creationId xmlns:a16="http://schemas.microsoft.com/office/drawing/2014/main" id="{199E6BE0-4A20-4B47-A58B-0FB68F5460C2}"/>
                </a:ext>
              </a:extLst>
            </p:cNvPr>
            <p:cNvSpPr txBox="1"/>
            <p:nvPr/>
          </p:nvSpPr>
          <p:spPr>
            <a:xfrm>
              <a:off x="5392635" y="1511605"/>
              <a:ext cx="1889125" cy="1821076"/>
            </a:xfrm>
            <a:prstGeom prst="rect">
              <a:avLst/>
            </a:prstGeom>
            <a:noFill/>
          </p:spPr>
          <p:txBody>
            <a:bodyPr wrap="square">
              <a:spAutoFit/>
            </a:bodyPr>
            <a:lstStyle/>
            <a:p>
              <a:pPr marR="0" defTabSz="914400">
                <a:lnSpc>
                  <a:spcPct val="120000"/>
                </a:lnSpc>
                <a:spcBef>
                  <a:spcPct val="0"/>
                </a:spcBef>
                <a:buClrTx/>
                <a:buSzTx/>
                <a:buFontTx/>
                <a:buNone/>
                <a:defRPr/>
              </a:pPr>
              <a:r>
                <a:rPr kumimoji="0" lang="en-US" altLang="zh-CN"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①</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可以用时间常数</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sym typeface="Wingdings" panose="05000000000000000000" pitchFamily="2" charset="2"/>
                </a:rPr>
                <a:t>T</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去度量系统输出量的数值。</a:t>
              </a:r>
            </a:p>
          </p:txBody>
        </p:sp>
        <p:sp>
          <p:nvSpPr>
            <p:cNvPr id="40" name="文本框 39">
              <a:extLst>
                <a:ext uri="{FF2B5EF4-FFF2-40B4-BE49-F238E27FC236}">
                  <a16:creationId xmlns:a16="http://schemas.microsoft.com/office/drawing/2014/main" id="{AE5B31F7-D191-42A8-BC93-4EFD494AE69A}"/>
                </a:ext>
              </a:extLst>
            </p:cNvPr>
            <p:cNvSpPr txBox="1"/>
            <p:nvPr/>
          </p:nvSpPr>
          <p:spPr>
            <a:xfrm>
              <a:off x="7363395" y="1677711"/>
              <a:ext cx="1889125" cy="1388028"/>
            </a:xfrm>
            <a:prstGeom prst="rect">
              <a:avLst/>
            </a:prstGeom>
            <a:noFill/>
          </p:spPr>
          <p:txBody>
            <a:bodyPr wrap="square">
              <a:spAutoFit/>
            </a:bodyPr>
            <a:lstStyle/>
            <a:p>
              <a:pPr marR="0" defTabSz="914400">
                <a:lnSpc>
                  <a:spcPct val="120000"/>
                </a:lnSpc>
                <a:spcBef>
                  <a:spcPct val="0"/>
                </a:spcBef>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Wingdings" panose="05000000000000000000" pitchFamily="2" charset="2"/>
                </a:rPr>
                <a:t>②</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Wingdings" panose="05000000000000000000" pitchFamily="2" charset="2"/>
                </a:rPr>
                <a:t>响应曲线的初始斜率等于</a:t>
              </a:r>
              <a:r>
                <a:rPr kumimoji="0" lang="en-US" altLang="zh-CN"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Wingdings" panose="05000000000000000000" pitchFamily="2" charset="2"/>
                </a:rPr>
                <a:t>1/</a:t>
              </a:r>
              <a:r>
                <a:rPr kumimoji="0" lang="en-US" altLang="zh-CN" sz="24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sym typeface="Wingdings" panose="05000000000000000000" pitchFamily="2" charset="2"/>
                </a:rPr>
                <a:t>T</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Wingdings" panose="05000000000000000000" pitchFamily="2" charset="2"/>
                </a:rPr>
                <a:t>。</a:t>
              </a:r>
            </a:p>
          </p:txBody>
        </p:sp>
        <p:sp>
          <p:nvSpPr>
            <p:cNvPr id="41" name="直接连接符 1429522">
              <a:extLst>
                <a:ext uri="{FF2B5EF4-FFF2-40B4-BE49-F238E27FC236}">
                  <a16:creationId xmlns:a16="http://schemas.microsoft.com/office/drawing/2014/main" id="{C83D29D5-EEFC-486D-AA65-59FFBD2E982F}"/>
                </a:ext>
              </a:extLst>
            </p:cNvPr>
            <p:cNvSpPr/>
            <p:nvPr/>
          </p:nvSpPr>
          <p:spPr>
            <a:xfrm flipH="1" flipV="1">
              <a:off x="7242442" y="1317624"/>
              <a:ext cx="65862" cy="2133963"/>
            </a:xfrm>
            <a:prstGeom prst="line">
              <a:avLst/>
            </a:prstGeom>
            <a:ln w="38100" cap="flat" cmpd="sng">
              <a:solidFill>
                <a:schemeClr val="tx1"/>
              </a:solidFill>
              <a:prstDash val="sysDot"/>
              <a:headEnd type="none" w="med" len="med"/>
              <a:tailEnd type="none" w="med" len="med"/>
            </a:ln>
          </p:spPr>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9511">
                                            <p:txEl>
                                              <p:pRg st="0" end="0"/>
                                            </p:txEl>
                                          </p:spTgt>
                                        </p:tgtEl>
                                        <p:attrNameLst>
                                          <p:attrName>style.visibility</p:attrName>
                                        </p:attrNameLst>
                                      </p:cBhvr>
                                      <p:to>
                                        <p:strVal val="visible"/>
                                      </p:to>
                                    </p:set>
                                    <p:animEffect transition="in" filter="blinds(horizontal)">
                                      <p:cBhvr>
                                        <p:cTn id="7" dur="500"/>
                                        <p:tgtEl>
                                          <p:spTgt spid="14295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29510"/>
                                        </p:tgtEl>
                                        <p:attrNameLst>
                                          <p:attrName>style.visibility</p:attrName>
                                        </p:attrNameLst>
                                      </p:cBhvr>
                                      <p:to>
                                        <p:strVal val="visible"/>
                                      </p:to>
                                    </p:set>
                                    <p:animEffect transition="in" filter="wipe(down)">
                                      <p:cBhvr>
                                        <p:cTn id="12" dur="500"/>
                                        <p:tgtEl>
                                          <p:spTgt spid="1429510"/>
                                        </p:tgtEl>
                                      </p:cBhvr>
                                    </p:animEffect>
                                  </p:childTnLst>
                                </p:cTn>
                              </p:par>
                            </p:childTnLst>
                          </p:cTn>
                        </p:par>
                        <p:par>
                          <p:cTn id="13" fill="hold">
                            <p:stCondLst>
                              <p:cond delay="500"/>
                            </p:stCondLst>
                            <p:childTnLst>
                              <p:par>
                                <p:cTn id="14" presetID="22" presetClass="entr" presetSubtype="4" fill="hold" nodeType="afterEffect">
                                  <p:stCondLst>
                                    <p:cond delay="2000"/>
                                  </p:stCondLst>
                                  <p:childTnLst>
                                    <p:set>
                                      <p:cBhvr>
                                        <p:cTn id="15" dur="1" fill="hold">
                                          <p:stCondLst>
                                            <p:cond delay="0"/>
                                          </p:stCondLst>
                                        </p:cTn>
                                        <p:tgtEl>
                                          <p:spTgt spid="1429509"/>
                                        </p:tgtEl>
                                        <p:attrNameLst>
                                          <p:attrName>style.visibility</p:attrName>
                                        </p:attrNameLst>
                                      </p:cBhvr>
                                      <p:to>
                                        <p:strVal val="visible"/>
                                      </p:to>
                                    </p:set>
                                    <p:animEffect transition="in" filter="wipe(down)">
                                      <p:cBhvr>
                                        <p:cTn id="16" dur="500"/>
                                        <p:tgtEl>
                                          <p:spTgt spid="1429509"/>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ircle(in)">
                                      <p:cBhvr>
                                        <p:cTn id="21" dur="2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429506">
                                            <p:txEl>
                                              <p:pRg st="0" end="0"/>
                                            </p:txEl>
                                          </p:spTgt>
                                        </p:tgtEl>
                                        <p:attrNameLst>
                                          <p:attrName>style.visibility</p:attrName>
                                        </p:attrNameLst>
                                      </p:cBhvr>
                                      <p:to>
                                        <p:strVal val="visible"/>
                                      </p:to>
                                    </p:set>
                                    <p:animEffect transition="in" filter="blinds(horizontal)">
                                      <p:cBhvr>
                                        <p:cTn id="26" dur="500"/>
                                        <p:tgtEl>
                                          <p:spTgt spid="142950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29506">
                                            <p:txEl>
                                              <p:pRg st="1" end="1"/>
                                            </p:txEl>
                                          </p:spTgt>
                                        </p:tgtEl>
                                        <p:attrNameLst>
                                          <p:attrName>style.visibility</p:attrName>
                                        </p:attrNameLst>
                                      </p:cBhvr>
                                      <p:to>
                                        <p:strVal val="visible"/>
                                      </p:to>
                                    </p:set>
                                    <p:animEffect transition="in" filter="blinds(horizontal)">
                                      <p:cBhvr>
                                        <p:cTn id="31" dur="500"/>
                                        <p:tgtEl>
                                          <p:spTgt spid="1429506">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29507"/>
                                        </p:tgtEl>
                                        <p:attrNameLst>
                                          <p:attrName>style.visibility</p:attrName>
                                        </p:attrNameLst>
                                      </p:cBhvr>
                                      <p:to>
                                        <p:strVal val="visible"/>
                                      </p:to>
                                    </p:set>
                                    <p:animEffect transition="in" filter="dissolve">
                                      <p:cBhvr>
                                        <p:cTn id="36" dur="500"/>
                                        <p:tgtEl>
                                          <p:spTgt spid="1429507"/>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429508"/>
                                        </p:tgtEl>
                                        <p:attrNameLst>
                                          <p:attrName>style.visibility</p:attrName>
                                        </p:attrNameLst>
                                      </p:cBhvr>
                                      <p:to>
                                        <p:strVal val="visible"/>
                                      </p:to>
                                    </p:set>
                                    <p:animEffect transition="in" filter="dissolve">
                                      <p:cBhvr>
                                        <p:cTn id="41" dur="500"/>
                                        <p:tgtEl>
                                          <p:spTgt spid="1429508"/>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429536"/>
                                        </p:tgtEl>
                                        <p:attrNameLst>
                                          <p:attrName>style.visibility</p:attrName>
                                        </p:attrNameLst>
                                      </p:cBhvr>
                                      <p:to>
                                        <p:strVal val="visible"/>
                                      </p:to>
                                    </p:set>
                                    <p:animEffect transition="in" filter="circle(in)">
                                      <p:cBhvr>
                                        <p:cTn id="46" dur="2000"/>
                                        <p:tgtEl>
                                          <p:spTgt spid="1429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9506" grpId="0" build="p"/>
      <p:bldP spid="1429511" grpId="0" build="p"/>
      <p:bldP spid="142953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2400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graphicFrame>
        <p:nvGraphicFramePr>
          <p:cNvPr id="1430531" name="对象 1430530"/>
          <p:cNvGraphicFramePr/>
          <p:nvPr/>
        </p:nvGraphicFramePr>
        <p:xfrm>
          <a:off x="1484313" y="554038"/>
          <a:ext cx="5103812" cy="1146175"/>
        </p:xfrm>
        <a:graphic>
          <a:graphicData uri="http://schemas.openxmlformats.org/presentationml/2006/ole">
            <mc:AlternateContent xmlns:mc="http://schemas.openxmlformats.org/markup-compatibility/2006">
              <mc:Choice xmlns:v="urn:schemas-microsoft-com:vml" Requires="v">
                <p:oleObj spid="_x0000_s15382" r:id="rId3" imgW="2260600" imgH="508000" progId="Equation.3">
                  <p:embed/>
                </p:oleObj>
              </mc:Choice>
              <mc:Fallback>
                <p:oleObj r:id="rId3" imgW="2260600" imgH="508000" progId="Equation.3">
                  <p:embed/>
                  <p:pic>
                    <p:nvPicPr>
                      <p:cNvPr id="0" name="图片 3088"/>
                      <p:cNvPicPr/>
                      <p:nvPr/>
                    </p:nvPicPr>
                    <p:blipFill>
                      <a:blip r:embed="rId4"/>
                      <a:stretch>
                        <a:fillRect/>
                      </a:stretch>
                    </p:blipFill>
                    <p:spPr>
                      <a:xfrm>
                        <a:off x="1484313" y="554038"/>
                        <a:ext cx="5103812" cy="1146175"/>
                      </a:xfrm>
                      <a:prstGeom prst="rect">
                        <a:avLst/>
                      </a:prstGeom>
                      <a:noFill/>
                      <a:ln w="38100">
                        <a:noFill/>
                        <a:miter/>
                      </a:ln>
                    </p:spPr>
                  </p:pic>
                </p:oleObj>
              </mc:Fallback>
            </mc:AlternateContent>
          </a:graphicData>
        </a:graphic>
      </p:graphicFrame>
      <p:graphicFrame>
        <p:nvGraphicFramePr>
          <p:cNvPr id="1430532" name="对象 1430531"/>
          <p:cNvGraphicFramePr/>
          <p:nvPr/>
        </p:nvGraphicFramePr>
        <p:xfrm>
          <a:off x="1908175" y="1700213"/>
          <a:ext cx="4459288" cy="515937"/>
        </p:xfrm>
        <a:graphic>
          <a:graphicData uri="http://schemas.openxmlformats.org/presentationml/2006/ole">
            <mc:AlternateContent xmlns:mc="http://schemas.openxmlformats.org/markup-compatibility/2006">
              <mc:Choice xmlns:v="urn:schemas-microsoft-com:vml" Requires="v">
                <p:oleObj spid="_x0000_s15383" r:id="rId5" imgW="1981200" imgH="228600" progId="Equation.3">
                  <p:embed/>
                </p:oleObj>
              </mc:Choice>
              <mc:Fallback>
                <p:oleObj r:id="rId5" imgW="1981200" imgH="228600" progId="Equation.3">
                  <p:embed/>
                  <p:pic>
                    <p:nvPicPr>
                      <p:cNvPr id="0" name="图片 3086"/>
                      <p:cNvPicPr/>
                      <p:nvPr/>
                    </p:nvPicPr>
                    <p:blipFill>
                      <a:blip r:embed="rId6"/>
                      <a:stretch>
                        <a:fillRect/>
                      </a:stretch>
                    </p:blipFill>
                    <p:spPr>
                      <a:xfrm>
                        <a:off x="1908175" y="1700213"/>
                        <a:ext cx="4459288" cy="515937"/>
                      </a:xfrm>
                      <a:prstGeom prst="rect">
                        <a:avLst/>
                      </a:prstGeom>
                      <a:noFill/>
                      <a:ln w="38100">
                        <a:noFill/>
                        <a:miter/>
                      </a:ln>
                    </p:spPr>
                  </p:pic>
                </p:oleObj>
              </mc:Fallback>
            </mc:AlternateContent>
          </a:graphicData>
        </a:graphic>
      </p:graphicFrame>
      <p:grpSp>
        <p:nvGrpSpPr>
          <p:cNvPr id="1430533" name="组合 1430532"/>
          <p:cNvGrpSpPr/>
          <p:nvPr/>
        </p:nvGrpSpPr>
        <p:grpSpPr>
          <a:xfrm>
            <a:off x="1606550" y="2181225"/>
            <a:ext cx="4410075" cy="3305175"/>
            <a:chOff x="664" y="1755"/>
            <a:chExt cx="2778" cy="2082"/>
          </a:xfrm>
        </p:grpSpPr>
        <p:sp>
          <p:nvSpPr>
            <p:cNvPr id="25620" name="直接连接符 1430533"/>
            <p:cNvSpPr/>
            <p:nvPr/>
          </p:nvSpPr>
          <p:spPr>
            <a:xfrm flipV="1">
              <a:off x="763" y="1854"/>
              <a:ext cx="0" cy="1704"/>
            </a:xfrm>
            <a:prstGeom prst="line">
              <a:avLst/>
            </a:prstGeom>
            <a:ln w="57150" cap="sq" cmpd="sng">
              <a:solidFill>
                <a:schemeClr val="tx1"/>
              </a:solidFill>
              <a:prstDash val="solid"/>
              <a:headEnd type="none" w="med" len="med"/>
              <a:tailEnd type="triangle" w="med" len="med"/>
            </a:ln>
          </p:spPr>
        </p:sp>
        <p:sp>
          <p:nvSpPr>
            <p:cNvPr id="25621" name="直接连接符 1430534"/>
            <p:cNvSpPr/>
            <p:nvPr/>
          </p:nvSpPr>
          <p:spPr>
            <a:xfrm>
              <a:off x="754" y="3576"/>
              <a:ext cx="2480" cy="0"/>
            </a:xfrm>
            <a:prstGeom prst="line">
              <a:avLst/>
            </a:prstGeom>
            <a:ln w="57150" cap="sq" cmpd="sng">
              <a:solidFill>
                <a:schemeClr val="tx1"/>
              </a:solidFill>
              <a:prstDash val="solid"/>
              <a:headEnd type="none" w="med" len="med"/>
              <a:tailEnd type="triangle" w="med" len="med"/>
            </a:ln>
          </p:spPr>
        </p:sp>
        <p:sp>
          <p:nvSpPr>
            <p:cNvPr id="25622" name="矩形 1430535"/>
            <p:cNvSpPr/>
            <p:nvPr/>
          </p:nvSpPr>
          <p:spPr>
            <a:xfrm>
              <a:off x="3273" y="3429"/>
              <a:ext cx="169" cy="28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5623" name="矩形 1430536"/>
            <p:cNvSpPr/>
            <p:nvPr/>
          </p:nvSpPr>
          <p:spPr>
            <a:xfrm>
              <a:off x="833" y="1755"/>
              <a:ext cx="382" cy="288"/>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25624" name="矩形 1430537"/>
            <p:cNvSpPr/>
            <p:nvPr/>
          </p:nvSpPr>
          <p:spPr>
            <a:xfrm>
              <a:off x="664" y="3549"/>
              <a:ext cx="212" cy="288"/>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430539" name="直接连接符 1430538"/>
          <p:cNvSpPr/>
          <p:nvPr/>
        </p:nvSpPr>
        <p:spPr>
          <a:xfrm flipV="1">
            <a:off x="3055938" y="2492896"/>
            <a:ext cx="2587625" cy="2587625"/>
          </a:xfrm>
          <a:prstGeom prst="line">
            <a:avLst/>
          </a:prstGeom>
          <a:ln w="76200" cap="flat" cmpd="sng">
            <a:solidFill>
              <a:schemeClr val="tx1"/>
            </a:solidFill>
            <a:prstDash val="sysDot"/>
            <a:headEnd type="none" w="med" len="med"/>
            <a:tailEnd type="none" w="med" len="med"/>
          </a:ln>
        </p:spPr>
      </p:sp>
      <p:sp>
        <p:nvSpPr>
          <p:cNvPr id="1430540" name="直接连接符 1430539"/>
          <p:cNvSpPr/>
          <p:nvPr/>
        </p:nvSpPr>
        <p:spPr>
          <a:xfrm flipV="1">
            <a:off x="1778000" y="2257425"/>
            <a:ext cx="2774950" cy="2774950"/>
          </a:xfrm>
          <a:prstGeom prst="line">
            <a:avLst/>
          </a:prstGeom>
          <a:ln w="57150" cap="sq" cmpd="sng">
            <a:solidFill>
              <a:srgbClr val="333399"/>
            </a:solidFill>
            <a:prstDash val="solid"/>
            <a:headEnd type="none" w="med" len="med"/>
            <a:tailEnd type="none" w="med" len="med"/>
          </a:ln>
        </p:spPr>
      </p:sp>
      <p:sp>
        <p:nvSpPr>
          <p:cNvPr id="1430541" name="任意多边形 1430540"/>
          <p:cNvSpPr/>
          <p:nvPr/>
        </p:nvSpPr>
        <p:spPr>
          <a:xfrm>
            <a:off x="1778000" y="2659063"/>
            <a:ext cx="3657600" cy="2395537"/>
          </a:xfrm>
          <a:custGeom>
            <a:avLst/>
            <a:gdLst/>
            <a:ahLst/>
            <a:cxnLst>
              <a:cxn ang="0">
                <a:pos x="0" y="2147483647"/>
              </a:cxn>
              <a:cxn ang="0">
                <a:pos x="2147483647" y="2147483647"/>
              </a:cxn>
              <a:cxn ang="0">
                <a:pos x="2147483647" y="2147483647"/>
              </a:cxn>
              <a:cxn ang="0">
                <a:pos x="2147483647" y="0"/>
              </a:cxn>
            </a:cxnLst>
            <a:rect l="0" t="0" r="0" b="0"/>
            <a:pathLst>
              <a:path w="2228" h="1543">
                <a:moveTo>
                  <a:pt x="0" y="1543"/>
                </a:moveTo>
                <a:cubicBezTo>
                  <a:pt x="210" y="1533"/>
                  <a:pt x="420" y="1523"/>
                  <a:pt x="608" y="1456"/>
                </a:cubicBezTo>
                <a:cubicBezTo>
                  <a:pt x="796" y="1389"/>
                  <a:pt x="860" y="1384"/>
                  <a:pt x="1130" y="1141"/>
                </a:cubicBezTo>
                <a:cubicBezTo>
                  <a:pt x="1400" y="898"/>
                  <a:pt x="2045" y="190"/>
                  <a:pt x="2228"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1430542" name="矩形 1430541"/>
          <p:cNvSpPr/>
          <p:nvPr/>
        </p:nvSpPr>
        <p:spPr>
          <a:xfrm rot="-2464487">
            <a:off x="2500313" y="3281363"/>
            <a:ext cx="923925" cy="457200"/>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t</a:t>
            </a:r>
          </a:p>
        </p:txBody>
      </p:sp>
      <p:sp>
        <p:nvSpPr>
          <p:cNvPr id="1430543" name="矩形 1430542"/>
          <p:cNvSpPr/>
          <p:nvPr/>
        </p:nvSpPr>
        <p:spPr>
          <a:xfrm>
            <a:off x="4645025" y="3570288"/>
            <a:ext cx="2951163" cy="457200"/>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 </a:t>
            </a:r>
            <a:r>
              <a:rPr lang="en-US" altLang="zh-CN" sz="2400" i="1" dirty="0">
                <a:solidFill>
                  <a:schemeClr val="tx1"/>
                </a:solidFill>
                <a:latin typeface="Times New Roman" panose="02020603050405020304" pitchFamily="18" charset="0"/>
              </a:rPr>
              <a:t>t </a:t>
            </a:r>
            <a:r>
              <a:rPr lang="zh-CN" altLang="en-US"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 + Te</a:t>
            </a:r>
            <a:r>
              <a:rPr lang="zh-CN" altLang="en-US" sz="2400" baseline="30000" dirty="0">
                <a:solidFill>
                  <a:schemeClr val="tx1"/>
                </a:solidFill>
                <a:latin typeface="Times New Roman" panose="02020603050405020304" pitchFamily="18" charset="0"/>
              </a:rPr>
              <a:t>﹣</a:t>
            </a:r>
            <a:r>
              <a:rPr lang="en-US" altLang="zh-CN" sz="2400" i="1" baseline="30000" dirty="0">
                <a:solidFill>
                  <a:schemeClr val="tx1"/>
                </a:solidFill>
                <a:latin typeface="Times New Roman" panose="02020603050405020304" pitchFamily="18" charset="0"/>
              </a:rPr>
              <a:t>t</a:t>
            </a:r>
            <a:r>
              <a:rPr lang="en-US" altLang="zh-CN" sz="2400" baseline="30000" dirty="0">
                <a:solidFill>
                  <a:schemeClr val="tx1"/>
                </a:solidFill>
                <a:latin typeface="Times New Roman" panose="02020603050405020304" pitchFamily="18" charset="0"/>
              </a:rPr>
              <a:t>/</a:t>
            </a:r>
            <a:r>
              <a:rPr lang="en-US" altLang="zh-CN" sz="2400" i="1" baseline="30000" dirty="0">
                <a:solidFill>
                  <a:schemeClr val="tx1"/>
                </a:solidFill>
                <a:latin typeface="Times New Roman" panose="02020603050405020304" pitchFamily="18" charset="0"/>
              </a:rPr>
              <a:t>T</a:t>
            </a:r>
          </a:p>
        </p:txBody>
      </p:sp>
      <p:sp>
        <p:nvSpPr>
          <p:cNvPr id="1430544" name="文本框 1430543"/>
          <p:cNvSpPr txBox="1"/>
          <p:nvPr/>
        </p:nvSpPr>
        <p:spPr>
          <a:xfrm>
            <a:off x="0" y="5742561"/>
            <a:ext cx="9152880" cy="1146176"/>
          </a:xfrm>
          <a:prstGeom prst="rect">
            <a:avLst/>
          </a:prstGeom>
          <a:solidFill>
            <a:srgbClr val="00B0F0"/>
          </a:solidFill>
          <a:ln w="9525">
            <a:noFill/>
          </a:ln>
        </p:spPr>
        <p:txBody>
          <a:bodyPr wrap="square">
            <a:spAutoFit/>
          </a:bodyPr>
          <a:lstStyle/>
          <a:p>
            <a:pPr marR="0" defTabSz="914400">
              <a:lnSpc>
                <a:spcPct val="130000"/>
              </a:lnSpc>
              <a:spcBef>
                <a:spcPct val="0"/>
              </a:spcBef>
              <a:buClrTx/>
              <a:buSzTx/>
              <a:buFontTx/>
              <a:buNone/>
              <a:defRPr/>
            </a:pPr>
            <a:r>
              <a:rPr kumimoji="0" lang="en-US" altLang="zh-CN" sz="2000" b="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en-US" altLang="zh-CN" sz="2000" b="0" kern="1200" cap="none" spc="0" normalizeH="0" baseline="0" noProof="1">
                <a:solidFill>
                  <a:srgbClr val="C00000"/>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rgbClr val="C00000"/>
                </a:solidFill>
                <a:effectLst>
                  <a:outerShdw blurRad="38100" dist="38100" dir="2700000">
                    <a:srgbClr val="C0C0C0"/>
                  </a:outerShdw>
                </a:effectLst>
                <a:latin typeface="Arial" panose="020B0604020202020204" pitchFamily="34" charset="0"/>
                <a:ea typeface="宋体" panose="02010600030101010101" pitchFamily="2" charset="-122"/>
                <a:cs typeface="+mn-cs"/>
              </a:rPr>
              <a:t>稳态响应</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是一个与输入斜坡函数斜率相同但在时间上迟后了一个时间常数</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T</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的斜坡函数。</a:t>
            </a:r>
          </a:p>
        </p:txBody>
      </p:sp>
      <p:sp>
        <p:nvSpPr>
          <p:cNvPr id="1430545" name="直接连接符 1430544"/>
          <p:cNvSpPr/>
          <p:nvPr/>
        </p:nvSpPr>
        <p:spPr>
          <a:xfrm>
            <a:off x="4295775" y="2570163"/>
            <a:ext cx="0" cy="1208087"/>
          </a:xfrm>
          <a:prstGeom prst="line">
            <a:avLst/>
          </a:prstGeom>
          <a:ln w="57150" cap="sq" cmpd="sng">
            <a:solidFill>
              <a:schemeClr val="tx1"/>
            </a:solidFill>
            <a:prstDash val="solid"/>
            <a:headEnd type="triangle" w="med" len="med"/>
            <a:tailEnd type="triangle" w="med" len="med"/>
          </a:ln>
        </p:spPr>
      </p:sp>
      <p:sp>
        <p:nvSpPr>
          <p:cNvPr id="1430546" name="直接连接符 1430545"/>
          <p:cNvSpPr/>
          <p:nvPr/>
        </p:nvSpPr>
        <p:spPr>
          <a:xfrm>
            <a:off x="3657600" y="3135313"/>
            <a:ext cx="0" cy="1208087"/>
          </a:xfrm>
          <a:prstGeom prst="line">
            <a:avLst/>
          </a:prstGeom>
          <a:ln w="57150" cap="sq" cmpd="sng">
            <a:solidFill>
              <a:schemeClr val="tx1"/>
            </a:solidFill>
            <a:prstDash val="solid"/>
            <a:headEnd type="triangle" w="med" len="med"/>
            <a:tailEnd type="triangle" w="med" len="med"/>
          </a:ln>
        </p:spPr>
      </p:sp>
      <p:sp>
        <p:nvSpPr>
          <p:cNvPr id="1430547" name="矩形 1430546"/>
          <p:cNvSpPr/>
          <p:nvPr/>
        </p:nvSpPr>
        <p:spPr>
          <a:xfrm>
            <a:off x="2760663" y="5056188"/>
            <a:ext cx="522287" cy="457200"/>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T</a:t>
            </a:r>
          </a:p>
        </p:txBody>
      </p:sp>
      <p:sp>
        <p:nvSpPr>
          <p:cNvPr id="1430548" name="矩形 1430547"/>
          <p:cNvSpPr/>
          <p:nvPr/>
        </p:nvSpPr>
        <p:spPr>
          <a:xfrm>
            <a:off x="4295775" y="2824163"/>
            <a:ext cx="522288" cy="457200"/>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T</a:t>
            </a:r>
          </a:p>
        </p:txBody>
      </p:sp>
      <p:sp>
        <p:nvSpPr>
          <p:cNvPr id="1430549" name="云形标注 1430548"/>
          <p:cNvSpPr/>
          <p:nvPr/>
        </p:nvSpPr>
        <p:spPr>
          <a:xfrm>
            <a:off x="5720731" y="2228989"/>
            <a:ext cx="3025775" cy="935037"/>
          </a:xfrm>
          <a:prstGeom prst="cloudCallout">
            <a:avLst>
              <a:gd name="adj1" fmla="val -47796"/>
              <a:gd name="adj2" fmla="val 104500"/>
            </a:avLst>
          </a:prstGeom>
          <a:solidFill>
            <a:schemeClr val="accent1"/>
          </a:solidFill>
          <a:ln w="9525" cap="flat" cmpd="sng">
            <a:solidFill>
              <a:schemeClr val="tx1"/>
            </a:solidFill>
            <a:prstDash val="solid"/>
            <a:headEnd type="none" w="med" len="med"/>
            <a:tailEnd type="none" w="med" len="med"/>
          </a:ln>
        </p:spPr>
        <p:txBody>
          <a:bodyPr/>
          <a:lstStyle/>
          <a:p>
            <a:pPr marL="342900" indent="-342900" algn="ctr">
              <a:buFont typeface="Wingdings" panose="05000000000000000000" pitchFamily="2" charset="2"/>
            </a:pPr>
            <a:r>
              <a:rPr lang="zh-CN" altLang="en-US" sz="2000" b="0" dirty="0">
                <a:latin typeface="Arial" panose="020B0604020202020204" pitchFamily="34" charset="0"/>
                <a:ea typeface="黑体" panose="02010609060101010101" pitchFamily="49" charset="-122"/>
              </a:rPr>
              <a:t>稳态分量（跟踪项</a:t>
            </a:r>
            <a:r>
              <a:rPr lang="en-US" altLang="zh-CN" sz="2000" b="0" dirty="0">
                <a:latin typeface="Arial" panose="020B0604020202020204" pitchFamily="34" charset="0"/>
                <a:ea typeface="黑体" panose="02010609060101010101" pitchFamily="49" charset="-122"/>
              </a:rPr>
              <a:t>+</a:t>
            </a:r>
            <a:r>
              <a:rPr lang="zh-CN" altLang="en-US" sz="2000" b="0" dirty="0">
                <a:latin typeface="Arial" panose="020B0604020202020204" pitchFamily="34" charset="0"/>
                <a:ea typeface="黑体" panose="02010609060101010101" pitchFamily="49" charset="-122"/>
              </a:rPr>
              <a:t>常值）</a:t>
            </a:r>
          </a:p>
        </p:txBody>
      </p:sp>
      <p:sp>
        <p:nvSpPr>
          <p:cNvPr id="25617" name="云形标注 1430549"/>
          <p:cNvSpPr/>
          <p:nvPr/>
        </p:nvSpPr>
        <p:spPr>
          <a:xfrm rot="10646781">
            <a:off x="6563399" y="4368977"/>
            <a:ext cx="2001077" cy="716153"/>
          </a:xfrm>
          <a:prstGeom prst="cloudCallout">
            <a:avLst>
              <a:gd name="adj1" fmla="val 35167"/>
              <a:gd name="adj2" fmla="val 107944"/>
            </a:avLst>
          </a:prstGeom>
          <a:solidFill>
            <a:srgbClr val="FFCCCC"/>
          </a:solidFill>
          <a:ln w="9525" cap="flat" cmpd="sng">
            <a:solidFill>
              <a:schemeClr val="tx1"/>
            </a:solidFill>
            <a:prstDash val="solid"/>
            <a:headEnd type="none" w="med" len="med"/>
            <a:tailEnd type="none" w="med" len="med"/>
          </a:ln>
        </p:spPr>
        <p:txBody>
          <a:bodyPr rot="10800000"/>
          <a:lstStyle/>
          <a:p>
            <a:pPr marL="342900" indent="-342900" algn="ctr">
              <a:buFont typeface="Wingdings" panose="05000000000000000000" pitchFamily="2" charset="2"/>
            </a:pPr>
            <a:r>
              <a:rPr lang="zh-CN" altLang="en-US" sz="2000" b="0" dirty="0">
                <a:latin typeface="Arial" panose="020B0604020202020204" pitchFamily="34" charset="0"/>
                <a:ea typeface="黑体" panose="02010609060101010101" pitchFamily="49" charset="-122"/>
              </a:rPr>
              <a:t>暂态分量</a:t>
            </a:r>
          </a:p>
        </p:txBody>
      </p:sp>
      <p:graphicFrame>
        <p:nvGraphicFramePr>
          <p:cNvPr id="1430551" name="内容占位符 1430550"/>
          <p:cNvGraphicFramePr>
            <a:graphicFrameLocks noGrp="1"/>
          </p:cNvGraphicFramePr>
          <p:nvPr>
            <p:ph idx="4294967295"/>
            <p:extLst>
              <p:ext uri="{D42A27DB-BD31-4B8C-83A1-F6EECF244321}">
                <p14:modId xmlns:p14="http://schemas.microsoft.com/office/powerpoint/2010/main" val="524404148"/>
              </p:ext>
            </p:extLst>
          </p:nvPr>
        </p:nvGraphicFramePr>
        <p:xfrm>
          <a:off x="662805" y="3135313"/>
          <a:ext cx="787400" cy="203200"/>
        </p:xfrm>
        <a:graphic>
          <a:graphicData uri="http://schemas.openxmlformats.org/presentationml/2006/ole">
            <mc:AlternateContent xmlns:mc="http://schemas.openxmlformats.org/markup-compatibility/2006">
              <mc:Choice xmlns:v="urn:schemas-microsoft-com:vml" Requires="v">
                <p:oleObj spid="_x0000_s15384" r:id="rId7" imgW="786765" imgH="203200" progId="Equation.3">
                  <p:embed/>
                </p:oleObj>
              </mc:Choice>
              <mc:Fallback>
                <p:oleObj r:id="rId7" imgW="786765" imgH="203200" progId="Equation.3">
                  <p:embed/>
                  <p:pic>
                    <p:nvPicPr>
                      <p:cNvPr id="0" name="图片 3089"/>
                      <p:cNvPicPr/>
                      <p:nvPr/>
                    </p:nvPicPr>
                    <p:blipFill>
                      <a:blip r:embed="rId8"/>
                      <a:srcRect/>
                      <a:stretch>
                        <a:fillRect/>
                      </a:stretch>
                    </p:blipFill>
                    <p:spPr>
                      <a:xfrm>
                        <a:off x="662805" y="3135313"/>
                        <a:ext cx="787400" cy="203200"/>
                      </a:xfrm>
                      <a:prstGeom prst="rect">
                        <a:avLst/>
                      </a:prstGeom>
                      <a:noFill/>
                      <a:ln w="38100">
                        <a:miter/>
                      </a:ln>
                    </p:spPr>
                  </p:pic>
                </p:oleObj>
              </mc:Fallback>
            </mc:AlternateContent>
          </a:graphicData>
        </a:graphic>
      </p:graphicFrame>
      <p:sp>
        <p:nvSpPr>
          <p:cNvPr id="1430553" name="直接连接符 1430552"/>
          <p:cNvSpPr/>
          <p:nvPr/>
        </p:nvSpPr>
        <p:spPr>
          <a:xfrm>
            <a:off x="5580063" y="4005263"/>
            <a:ext cx="720725" cy="0"/>
          </a:xfrm>
          <a:prstGeom prst="line">
            <a:avLst/>
          </a:prstGeom>
          <a:ln w="38100" cap="flat" cmpd="sng">
            <a:solidFill>
              <a:srgbClr val="FF0000"/>
            </a:solidFill>
            <a:prstDash val="solid"/>
            <a:headEnd type="none" w="med" len="med"/>
            <a:tailEnd type="none" w="med" len="med"/>
          </a:ln>
        </p:spPr>
      </p:sp>
      <p:sp>
        <p:nvSpPr>
          <p:cNvPr id="27" name="文本框 26">
            <a:extLst>
              <a:ext uri="{FF2B5EF4-FFF2-40B4-BE49-F238E27FC236}">
                <a16:creationId xmlns:a16="http://schemas.microsoft.com/office/drawing/2014/main" id="{7AD91765-E5F5-4EA3-A2D1-DA41711B87E2}"/>
              </a:ext>
            </a:extLst>
          </p:cNvPr>
          <p:cNvSpPr txBox="1"/>
          <p:nvPr/>
        </p:nvSpPr>
        <p:spPr>
          <a:xfrm>
            <a:off x="1123682" y="-128319"/>
            <a:ext cx="7120726" cy="584775"/>
          </a:xfrm>
          <a:prstGeom prst="rect">
            <a:avLst/>
          </a:prstGeom>
          <a:noFill/>
        </p:spPr>
        <p:txBody>
          <a:bodyPr wrap="square">
            <a:spAutoFit/>
          </a:bodyPr>
          <a:lstStyle/>
          <a:p>
            <a:pPr marR="0" defTabSz="914400">
              <a:spcBef>
                <a:spcPct val="0"/>
              </a:spcBef>
              <a:buClrTx/>
              <a:buSzTx/>
              <a:buFontTx/>
              <a:buNone/>
              <a:defRPr/>
            </a:pPr>
            <a:r>
              <a:rPr kumimoji="0" lang="en-US" altLang="zh-CN"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3.2.2 </a:t>
            </a:r>
            <a:r>
              <a:rPr kumimoji="0" lang="zh-CN" altLang="en-US"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单位斜坡响应</a:t>
            </a:r>
            <a:r>
              <a:rPr kumimoji="0" lang="zh-CN" altLang="en-US" sz="32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32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3200" i="1" kern="1200" cap="none" spc="0" normalizeH="0" baseline="0" noProof="1">
                <a:solidFill>
                  <a:schemeClr val="tx1"/>
                </a:solidFill>
                <a:latin typeface="Times New Roman" panose="02020603050405020304" pitchFamily="18" charset="0"/>
                <a:ea typeface="宋体" panose="02010600030101010101" pitchFamily="2" charset="-122"/>
                <a:cs typeface="+mn-cs"/>
              </a:rPr>
              <a:t>r</a:t>
            </a:r>
            <a:r>
              <a:rPr kumimoji="0" lang="en-US" altLang="zh-CN" sz="32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3200" i="1" kern="1200" cap="none" spc="0" normalizeH="0" baseline="0" noProof="1">
                <a:solidFill>
                  <a:schemeClr val="tx1"/>
                </a:solidFill>
                <a:latin typeface="Times New Roman" panose="02020603050405020304" pitchFamily="18" charset="0"/>
                <a:ea typeface="宋体" panose="02010600030101010101" pitchFamily="2" charset="-122"/>
                <a:cs typeface="+mn-cs"/>
              </a:rPr>
              <a:t>t</a:t>
            </a:r>
            <a:r>
              <a:rPr kumimoji="0" lang="en-US" altLang="zh-CN" sz="3200" kern="1200" cap="none" spc="0" normalizeH="0" baseline="0" noProof="1">
                <a:solidFill>
                  <a:schemeClr val="tx1"/>
                </a:solidFill>
                <a:latin typeface="Times New Roman" panose="02020603050405020304" pitchFamily="18" charset="0"/>
                <a:ea typeface="宋体" panose="02010600030101010101" pitchFamily="2" charset="-122"/>
                <a:cs typeface="+mn-cs"/>
              </a:rPr>
              <a:t>) = </a:t>
            </a:r>
            <a:r>
              <a:rPr kumimoji="0" lang="en-US" altLang="zh-CN" sz="3200" i="1" kern="1200" cap="none" spc="0" normalizeH="0" baseline="0" noProof="1">
                <a:solidFill>
                  <a:schemeClr val="tx1"/>
                </a:solidFill>
                <a:latin typeface="Times New Roman" panose="02020603050405020304" pitchFamily="18" charset="0"/>
                <a:ea typeface="宋体" panose="02010600030101010101" pitchFamily="2" charset="-122"/>
                <a:cs typeface="+mn-cs"/>
              </a:rPr>
              <a:t>t </a:t>
            </a:r>
            <a:r>
              <a:rPr kumimoji="0" lang="en-US" altLang="zh-CN" sz="3200" kern="1200" cap="none" spc="0" normalizeH="0" baseline="0" noProof="1">
                <a:solidFill>
                  <a:schemeClr val="tx1"/>
                </a:solidFill>
                <a:latin typeface="Arial" panose="020B0604020202020204" pitchFamily="34" charset="0"/>
                <a:ea typeface="宋体" panose="02010600030101010101" pitchFamily="2" charset="-122"/>
                <a:cs typeface="+mn-cs"/>
              </a:rPr>
              <a:t>] </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0531"/>
                                        </p:tgtEl>
                                        <p:attrNameLst>
                                          <p:attrName>style.visibility</p:attrName>
                                        </p:attrNameLst>
                                      </p:cBhvr>
                                      <p:to>
                                        <p:strVal val="visible"/>
                                      </p:to>
                                    </p:set>
                                    <p:animEffect transition="in" filter="dissolve">
                                      <p:cBhvr>
                                        <p:cTn id="7" dur="500"/>
                                        <p:tgtEl>
                                          <p:spTgt spid="14305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0532"/>
                                        </p:tgtEl>
                                        <p:attrNameLst>
                                          <p:attrName>style.visibility</p:attrName>
                                        </p:attrNameLst>
                                      </p:cBhvr>
                                      <p:to>
                                        <p:strVal val="visible"/>
                                      </p:to>
                                    </p:set>
                                    <p:animEffect transition="in" filter="dissolve">
                                      <p:cBhvr>
                                        <p:cTn id="12" dur="500"/>
                                        <p:tgtEl>
                                          <p:spTgt spid="14305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30533"/>
                                        </p:tgtEl>
                                        <p:attrNameLst>
                                          <p:attrName>style.visibility</p:attrName>
                                        </p:attrNameLst>
                                      </p:cBhvr>
                                      <p:to>
                                        <p:strVal val="visible"/>
                                      </p:to>
                                    </p:set>
                                    <p:animEffect transition="in" filter="dissolve">
                                      <p:cBhvr>
                                        <p:cTn id="17" dur="500"/>
                                        <p:tgtEl>
                                          <p:spTgt spid="14305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30540"/>
                                        </p:tgtEl>
                                        <p:attrNameLst>
                                          <p:attrName>style.visibility</p:attrName>
                                        </p:attrNameLst>
                                      </p:cBhvr>
                                      <p:to>
                                        <p:strVal val="visible"/>
                                      </p:to>
                                    </p:set>
                                    <p:animEffect transition="in" filter="wipe(down)">
                                      <p:cBhvr>
                                        <p:cTn id="22" dur="500"/>
                                        <p:tgtEl>
                                          <p:spTgt spid="1430540"/>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1430542"/>
                                        </p:tgtEl>
                                        <p:attrNameLst>
                                          <p:attrName>style.visibility</p:attrName>
                                        </p:attrNameLst>
                                      </p:cBhvr>
                                      <p:to>
                                        <p:strVal val="visible"/>
                                      </p:to>
                                    </p:set>
                                    <p:animEffect transition="in" filter="dissolve">
                                      <p:cBhvr>
                                        <p:cTn id="26" dur="500"/>
                                        <p:tgtEl>
                                          <p:spTgt spid="14305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430541"/>
                                        </p:tgtEl>
                                        <p:attrNameLst>
                                          <p:attrName>style.visibility</p:attrName>
                                        </p:attrNameLst>
                                      </p:cBhvr>
                                      <p:to>
                                        <p:strVal val="visible"/>
                                      </p:to>
                                    </p:set>
                                    <p:animEffect transition="in" filter="wipe(left)">
                                      <p:cBhvr>
                                        <p:cTn id="31" dur="500"/>
                                        <p:tgtEl>
                                          <p:spTgt spid="1430541"/>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430543"/>
                                        </p:tgtEl>
                                        <p:attrNameLst>
                                          <p:attrName>style.visibility</p:attrName>
                                        </p:attrNameLst>
                                      </p:cBhvr>
                                      <p:to>
                                        <p:strVal val="visible"/>
                                      </p:to>
                                    </p:set>
                                    <p:animEffect transition="in" filter="dissolve">
                                      <p:cBhvr>
                                        <p:cTn id="35" dur="500"/>
                                        <p:tgtEl>
                                          <p:spTgt spid="1430543"/>
                                        </p:tgtEl>
                                      </p:cBhvr>
                                    </p:animEffect>
                                  </p:childTnLst>
                                </p:cTn>
                              </p:par>
                            </p:childTnLst>
                          </p:cTn>
                        </p:par>
                        <p:par>
                          <p:cTn id="36" fill="hold">
                            <p:stCondLst>
                              <p:cond delay="1000"/>
                            </p:stCondLst>
                            <p:childTnLst>
                              <p:par>
                                <p:cTn id="37" presetID="22" presetClass="entr" presetSubtype="8" fill="hold" nodeType="afterEffect">
                                  <p:stCondLst>
                                    <p:cond delay="0"/>
                                  </p:stCondLst>
                                  <p:childTnLst>
                                    <p:set>
                                      <p:cBhvr>
                                        <p:cTn id="38" dur="1" fill="hold">
                                          <p:stCondLst>
                                            <p:cond delay="0"/>
                                          </p:stCondLst>
                                        </p:cTn>
                                        <p:tgtEl>
                                          <p:spTgt spid="1430553"/>
                                        </p:tgtEl>
                                        <p:attrNameLst>
                                          <p:attrName>style.visibility</p:attrName>
                                        </p:attrNameLst>
                                      </p:cBhvr>
                                      <p:to>
                                        <p:strVal val="visible"/>
                                      </p:to>
                                    </p:set>
                                    <p:animEffect transition="in" filter="wipe(left)">
                                      <p:cBhvr>
                                        <p:cTn id="39" dur="500"/>
                                        <p:tgtEl>
                                          <p:spTgt spid="143055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43054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25617"/>
                                        </p:tgtEl>
                                        <p:attrNameLst>
                                          <p:attrName>style.visibility</p:attrName>
                                        </p:attrNameLst>
                                      </p:cBhvr>
                                      <p:to>
                                        <p:strVal val="visible"/>
                                      </p:to>
                                    </p:set>
                                    <p:anim calcmode="lin" valueType="num">
                                      <p:cBhvr additive="base">
                                        <p:cTn id="48" dur="500" fill="hold"/>
                                        <p:tgtEl>
                                          <p:spTgt spid="25617"/>
                                        </p:tgtEl>
                                        <p:attrNameLst>
                                          <p:attrName>ppt_x</p:attrName>
                                        </p:attrNameLst>
                                      </p:cBhvr>
                                      <p:tavLst>
                                        <p:tav tm="0">
                                          <p:val>
                                            <p:strVal val="1+#ppt_w/2"/>
                                          </p:val>
                                        </p:tav>
                                        <p:tav tm="100000">
                                          <p:val>
                                            <p:strVal val="#ppt_x"/>
                                          </p:val>
                                        </p:tav>
                                      </p:tavLst>
                                    </p:anim>
                                    <p:anim calcmode="lin" valueType="num">
                                      <p:cBhvr additive="base">
                                        <p:cTn id="49" dur="500" fill="hold"/>
                                        <p:tgtEl>
                                          <p:spTgt spid="2561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6" presetClass="entr" presetSubtype="0" fill="hold" nodeType="clickEffect">
                                  <p:stCondLst>
                                    <p:cond delay="0"/>
                                  </p:stCondLst>
                                  <p:childTnLst>
                                    <p:set>
                                      <p:cBhvr>
                                        <p:cTn id="53" dur="1" fill="hold">
                                          <p:stCondLst>
                                            <p:cond delay="0"/>
                                          </p:stCondLst>
                                        </p:cTn>
                                        <p:tgtEl>
                                          <p:spTgt spid="1430551"/>
                                        </p:tgtEl>
                                        <p:attrNameLst>
                                          <p:attrName>style.visibility</p:attrName>
                                        </p:attrNameLst>
                                      </p:cBhvr>
                                      <p:to>
                                        <p:strVal val="visible"/>
                                      </p:to>
                                    </p:set>
                                    <p:animEffect transition="in" filter="wipe(down)">
                                      <p:cBhvr>
                                        <p:cTn id="54" dur="580">
                                          <p:stCondLst>
                                            <p:cond delay="0"/>
                                          </p:stCondLst>
                                        </p:cTn>
                                        <p:tgtEl>
                                          <p:spTgt spid="1430551"/>
                                        </p:tgtEl>
                                      </p:cBhvr>
                                    </p:animEffect>
                                    <p:anim calcmode="lin" valueType="num">
                                      <p:cBhvr>
                                        <p:cTn id="55" dur="1822" tmFilter="0,0; 0.14,0.36; 0.43,0.73; 0.71,0.91; 1.0,1.0">
                                          <p:stCondLst>
                                            <p:cond delay="0"/>
                                          </p:stCondLst>
                                        </p:cTn>
                                        <p:tgtEl>
                                          <p:spTgt spid="1430551"/>
                                        </p:tgtEl>
                                        <p:attrNameLst>
                                          <p:attrName>ppt_x</p:attrName>
                                        </p:attrNameLst>
                                      </p:cBhvr>
                                      <p:tavLst>
                                        <p:tav tm="0">
                                          <p:val>
                                            <p:strVal val="#ppt_x-0.25"/>
                                          </p:val>
                                        </p:tav>
                                        <p:tav tm="100000">
                                          <p:val>
                                            <p:strVal val="#ppt_x"/>
                                          </p:val>
                                        </p:tav>
                                      </p:tavLst>
                                    </p:anim>
                                    <p:anim calcmode="lin" valueType="num">
                                      <p:cBhvr>
                                        <p:cTn id="56" dur="664" tmFilter="0.0,0.0; 0.25,0.07; 0.50,0.2; 0.75,0.467; 1.0,1.0">
                                          <p:stCondLst>
                                            <p:cond delay="0"/>
                                          </p:stCondLst>
                                        </p:cTn>
                                        <p:tgtEl>
                                          <p:spTgt spid="1430551"/>
                                        </p:tgtEl>
                                        <p:attrNameLst>
                                          <p:attrName>ppt_y</p:attrName>
                                        </p:attrNameLst>
                                      </p:cBhvr>
                                      <p:tavLst>
                                        <p:tav tm="0" fmla="#ppt_y-sin(pi*$)/3">
                                          <p:val>
                                            <p:fltVal val="0.5"/>
                                          </p:val>
                                        </p:tav>
                                        <p:tav tm="100000">
                                          <p:val>
                                            <p:fltVal val="1"/>
                                          </p:val>
                                        </p:tav>
                                      </p:tavLst>
                                    </p:anim>
                                    <p:anim calcmode="lin" valueType="num">
                                      <p:cBhvr>
                                        <p:cTn id="57" dur="664" tmFilter="0, 0; 0.125,0.2665; 0.25,0.4; 0.375,0.465; 0.5,0.5;  0.625,0.535; 0.75,0.6; 0.875,0.7335; 1,1">
                                          <p:stCondLst>
                                            <p:cond delay="664"/>
                                          </p:stCondLst>
                                        </p:cTn>
                                        <p:tgtEl>
                                          <p:spTgt spid="1430551"/>
                                        </p:tgtEl>
                                        <p:attrNameLst>
                                          <p:attrName>ppt_y</p:attrName>
                                        </p:attrNameLst>
                                      </p:cBhvr>
                                      <p:tavLst>
                                        <p:tav tm="0" fmla="#ppt_y-sin(pi*$)/9">
                                          <p:val>
                                            <p:fltVal val="0"/>
                                          </p:val>
                                        </p:tav>
                                        <p:tav tm="100000">
                                          <p:val>
                                            <p:fltVal val="1"/>
                                          </p:val>
                                        </p:tav>
                                      </p:tavLst>
                                    </p:anim>
                                    <p:anim calcmode="lin" valueType="num">
                                      <p:cBhvr>
                                        <p:cTn id="58" dur="332" tmFilter="0, 0; 0.125,0.2665; 0.25,0.4; 0.375,0.465; 0.5,0.5;  0.625,0.535; 0.75,0.6; 0.875,0.7335; 1,1">
                                          <p:stCondLst>
                                            <p:cond delay="1324"/>
                                          </p:stCondLst>
                                        </p:cTn>
                                        <p:tgtEl>
                                          <p:spTgt spid="1430551"/>
                                        </p:tgtEl>
                                        <p:attrNameLst>
                                          <p:attrName>ppt_y</p:attrName>
                                        </p:attrNameLst>
                                      </p:cBhvr>
                                      <p:tavLst>
                                        <p:tav tm="0" fmla="#ppt_y-sin(pi*$)/27">
                                          <p:val>
                                            <p:fltVal val="0"/>
                                          </p:val>
                                        </p:tav>
                                        <p:tav tm="100000">
                                          <p:val>
                                            <p:fltVal val="1"/>
                                          </p:val>
                                        </p:tav>
                                      </p:tavLst>
                                    </p:anim>
                                    <p:anim calcmode="lin" valueType="num">
                                      <p:cBhvr>
                                        <p:cTn id="59" dur="164" tmFilter="0, 0; 0.125,0.2665; 0.25,0.4; 0.375,0.465; 0.5,0.5;  0.625,0.535; 0.75,0.6; 0.875,0.7335; 1,1">
                                          <p:stCondLst>
                                            <p:cond delay="1656"/>
                                          </p:stCondLst>
                                        </p:cTn>
                                        <p:tgtEl>
                                          <p:spTgt spid="1430551"/>
                                        </p:tgtEl>
                                        <p:attrNameLst>
                                          <p:attrName>ppt_y</p:attrName>
                                        </p:attrNameLst>
                                      </p:cBhvr>
                                      <p:tavLst>
                                        <p:tav tm="0" fmla="#ppt_y-sin(pi*$)/81">
                                          <p:val>
                                            <p:fltVal val="0"/>
                                          </p:val>
                                        </p:tav>
                                        <p:tav tm="100000">
                                          <p:val>
                                            <p:fltVal val="1"/>
                                          </p:val>
                                        </p:tav>
                                      </p:tavLst>
                                    </p:anim>
                                    <p:animScale>
                                      <p:cBhvr>
                                        <p:cTn id="60" dur="26">
                                          <p:stCondLst>
                                            <p:cond delay="650"/>
                                          </p:stCondLst>
                                        </p:cTn>
                                        <p:tgtEl>
                                          <p:spTgt spid="1430551"/>
                                        </p:tgtEl>
                                      </p:cBhvr>
                                      <p:to x="100000" y="60000"/>
                                    </p:animScale>
                                    <p:animScale>
                                      <p:cBhvr>
                                        <p:cTn id="61" dur="166" decel="50000">
                                          <p:stCondLst>
                                            <p:cond delay="676"/>
                                          </p:stCondLst>
                                        </p:cTn>
                                        <p:tgtEl>
                                          <p:spTgt spid="1430551"/>
                                        </p:tgtEl>
                                      </p:cBhvr>
                                      <p:to x="100000" y="100000"/>
                                    </p:animScale>
                                    <p:animScale>
                                      <p:cBhvr>
                                        <p:cTn id="62" dur="26">
                                          <p:stCondLst>
                                            <p:cond delay="1312"/>
                                          </p:stCondLst>
                                        </p:cTn>
                                        <p:tgtEl>
                                          <p:spTgt spid="1430551"/>
                                        </p:tgtEl>
                                      </p:cBhvr>
                                      <p:to x="100000" y="80000"/>
                                    </p:animScale>
                                    <p:animScale>
                                      <p:cBhvr>
                                        <p:cTn id="63" dur="166" decel="50000">
                                          <p:stCondLst>
                                            <p:cond delay="1338"/>
                                          </p:stCondLst>
                                        </p:cTn>
                                        <p:tgtEl>
                                          <p:spTgt spid="1430551"/>
                                        </p:tgtEl>
                                      </p:cBhvr>
                                      <p:to x="100000" y="100000"/>
                                    </p:animScale>
                                    <p:animScale>
                                      <p:cBhvr>
                                        <p:cTn id="64" dur="26">
                                          <p:stCondLst>
                                            <p:cond delay="1642"/>
                                          </p:stCondLst>
                                        </p:cTn>
                                        <p:tgtEl>
                                          <p:spTgt spid="1430551"/>
                                        </p:tgtEl>
                                      </p:cBhvr>
                                      <p:to x="100000" y="90000"/>
                                    </p:animScale>
                                    <p:animScale>
                                      <p:cBhvr>
                                        <p:cTn id="65" dur="166" decel="50000">
                                          <p:stCondLst>
                                            <p:cond delay="1668"/>
                                          </p:stCondLst>
                                        </p:cTn>
                                        <p:tgtEl>
                                          <p:spTgt spid="1430551"/>
                                        </p:tgtEl>
                                      </p:cBhvr>
                                      <p:to x="100000" y="100000"/>
                                    </p:animScale>
                                    <p:animScale>
                                      <p:cBhvr>
                                        <p:cTn id="66" dur="26">
                                          <p:stCondLst>
                                            <p:cond delay="1808"/>
                                          </p:stCondLst>
                                        </p:cTn>
                                        <p:tgtEl>
                                          <p:spTgt spid="1430551"/>
                                        </p:tgtEl>
                                      </p:cBhvr>
                                      <p:to x="100000" y="95000"/>
                                    </p:animScale>
                                    <p:animScale>
                                      <p:cBhvr>
                                        <p:cTn id="67" dur="166" decel="50000">
                                          <p:stCondLst>
                                            <p:cond delay="1834"/>
                                          </p:stCondLst>
                                        </p:cTn>
                                        <p:tgtEl>
                                          <p:spTgt spid="1430551"/>
                                        </p:tgtEl>
                                      </p:cBhvr>
                                      <p:to x="100000" y="100000"/>
                                    </p:animScale>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grpId="0" nodeType="clickEffect">
                                  <p:stCondLst>
                                    <p:cond delay="0"/>
                                  </p:stCondLst>
                                  <p:childTnLst>
                                    <p:set>
                                      <p:cBhvr>
                                        <p:cTn id="71" dur="1" fill="hold">
                                          <p:stCondLst>
                                            <p:cond delay="0"/>
                                          </p:stCondLst>
                                        </p:cTn>
                                        <p:tgtEl>
                                          <p:spTgt spid="1430544">
                                            <p:bg/>
                                          </p:spTgt>
                                        </p:tgtEl>
                                        <p:attrNameLst>
                                          <p:attrName>style.visibility</p:attrName>
                                        </p:attrNameLst>
                                      </p:cBhvr>
                                      <p:to>
                                        <p:strVal val="visible"/>
                                      </p:to>
                                    </p:set>
                                    <p:animEffect transition="in" filter="barn(outHorizontal)">
                                      <p:cBhvr>
                                        <p:cTn id="72" dur="500"/>
                                        <p:tgtEl>
                                          <p:spTgt spid="1430544">
                                            <p:bg/>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grpId="0" nodeType="clickEffect">
                                  <p:stCondLst>
                                    <p:cond delay="0"/>
                                  </p:stCondLst>
                                  <p:childTnLst>
                                    <p:set>
                                      <p:cBhvr>
                                        <p:cTn id="76" dur="1" fill="hold">
                                          <p:stCondLst>
                                            <p:cond delay="0"/>
                                          </p:stCondLst>
                                        </p:cTn>
                                        <p:tgtEl>
                                          <p:spTgt spid="1430544">
                                            <p:txEl>
                                              <p:pRg st="0" end="0"/>
                                            </p:txEl>
                                          </p:spTgt>
                                        </p:tgtEl>
                                        <p:attrNameLst>
                                          <p:attrName>style.visibility</p:attrName>
                                        </p:attrNameLst>
                                      </p:cBhvr>
                                      <p:to>
                                        <p:strVal val="visible"/>
                                      </p:to>
                                    </p:set>
                                    <p:animEffect transition="in" filter="barn(outHorizontal)">
                                      <p:cBhvr>
                                        <p:cTn id="77" dur="500"/>
                                        <p:tgtEl>
                                          <p:spTgt spid="1430544">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1430539"/>
                                        </p:tgtEl>
                                        <p:attrNameLst>
                                          <p:attrName>style.visibility</p:attrName>
                                        </p:attrNameLst>
                                      </p:cBhvr>
                                      <p:to>
                                        <p:strVal val="visible"/>
                                      </p:to>
                                    </p:set>
                                    <p:animEffect transition="in" filter="dissolve">
                                      <p:cBhvr>
                                        <p:cTn id="82" dur="500"/>
                                        <p:tgtEl>
                                          <p:spTgt spid="1430539"/>
                                        </p:tgtEl>
                                      </p:cBhvr>
                                    </p:animEffect>
                                  </p:childTnLst>
                                </p:cTn>
                              </p:par>
                            </p:childTnLst>
                          </p:cTn>
                        </p:par>
                        <p:par>
                          <p:cTn id="83" fill="hold">
                            <p:stCondLst>
                              <p:cond delay="500"/>
                            </p:stCondLst>
                            <p:childTnLst>
                              <p:par>
                                <p:cTn id="84" presetID="9" presetClass="entr" presetSubtype="0" fill="hold" grpId="0" nodeType="afterEffect">
                                  <p:stCondLst>
                                    <p:cond delay="1000"/>
                                  </p:stCondLst>
                                  <p:childTnLst>
                                    <p:set>
                                      <p:cBhvr>
                                        <p:cTn id="85" dur="1" fill="hold">
                                          <p:stCondLst>
                                            <p:cond delay="0"/>
                                          </p:stCondLst>
                                        </p:cTn>
                                        <p:tgtEl>
                                          <p:spTgt spid="1430547"/>
                                        </p:tgtEl>
                                        <p:attrNameLst>
                                          <p:attrName>style.visibility</p:attrName>
                                        </p:attrNameLst>
                                      </p:cBhvr>
                                      <p:to>
                                        <p:strVal val="visible"/>
                                      </p:to>
                                    </p:set>
                                    <p:animEffect transition="in" filter="dissolve">
                                      <p:cBhvr>
                                        <p:cTn id="86" dur="500"/>
                                        <p:tgtEl>
                                          <p:spTgt spid="1430547"/>
                                        </p:tgtEl>
                                      </p:cBhvr>
                                    </p:animEffect>
                                  </p:childTnLst>
                                </p:cTn>
                              </p:par>
                            </p:childTnLst>
                          </p:cTn>
                        </p:par>
                        <p:par>
                          <p:cTn id="87" fill="hold">
                            <p:stCondLst>
                              <p:cond delay="2000"/>
                            </p:stCondLst>
                            <p:childTnLst>
                              <p:par>
                                <p:cTn id="88" presetID="17" presetClass="entr" presetSubtype="10" fill="hold" nodeType="afterEffect">
                                  <p:stCondLst>
                                    <p:cond delay="0"/>
                                  </p:stCondLst>
                                  <p:childTnLst>
                                    <p:set>
                                      <p:cBhvr>
                                        <p:cTn id="89" dur="1" fill="hold">
                                          <p:stCondLst>
                                            <p:cond delay="0"/>
                                          </p:stCondLst>
                                        </p:cTn>
                                        <p:tgtEl>
                                          <p:spTgt spid="1430545"/>
                                        </p:tgtEl>
                                        <p:attrNameLst>
                                          <p:attrName>style.visibility</p:attrName>
                                        </p:attrNameLst>
                                      </p:cBhvr>
                                      <p:to>
                                        <p:strVal val="visible"/>
                                      </p:to>
                                    </p:set>
                                    <p:anim calcmode="lin" valueType="num">
                                      <p:cBhvr>
                                        <p:cTn id="90" dur="500" fill="hold"/>
                                        <p:tgtEl>
                                          <p:spTgt spid="1430545"/>
                                        </p:tgtEl>
                                        <p:attrNameLst>
                                          <p:attrName>ppt_w</p:attrName>
                                        </p:attrNameLst>
                                      </p:cBhvr>
                                      <p:tavLst>
                                        <p:tav tm="0">
                                          <p:val>
                                            <p:fltVal val="0"/>
                                          </p:val>
                                        </p:tav>
                                        <p:tav tm="100000">
                                          <p:val>
                                            <p:strVal val="#ppt_w"/>
                                          </p:val>
                                        </p:tav>
                                      </p:tavLst>
                                    </p:anim>
                                    <p:anim calcmode="lin" valueType="num">
                                      <p:cBhvr>
                                        <p:cTn id="91" dur="500" fill="hold"/>
                                        <p:tgtEl>
                                          <p:spTgt spid="1430545"/>
                                        </p:tgtEl>
                                        <p:attrNameLst>
                                          <p:attrName>ppt_h</p:attrName>
                                        </p:attrNameLst>
                                      </p:cBhvr>
                                      <p:tavLst>
                                        <p:tav tm="0">
                                          <p:val>
                                            <p:strVal val="#ppt_h"/>
                                          </p:val>
                                        </p:tav>
                                        <p:tav tm="100000">
                                          <p:val>
                                            <p:strVal val="#ppt_h"/>
                                          </p:val>
                                        </p:tav>
                                      </p:tavLst>
                                    </p:anim>
                                  </p:childTnLst>
                                </p:cTn>
                              </p:par>
                            </p:childTnLst>
                          </p:cTn>
                        </p:par>
                        <p:par>
                          <p:cTn id="92" fill="hold">
                            <p:stCondLst>
                              <p:cond delay="2500"/>
                            </p:stCondLst>
                            <p:childTnLst>
                              <p:par>
                                <p:cTn id="93" presetID="17" presetClass="entr" presetSubtype="10" fill="hold" nodeType="afterEffect">
                                  <p:stCondLst>
                                    <p:cond delay="0"/>
                                  </p:stCondLst>
                                  <p:childTnLst>
                                    <p:set>
                                      <p:cBhvr>
                                        <p:cTn id="94" dur="1" fill="hold">
                                          <p:stCondLst>
                                            <p:cond delay="0"/>
                                          </p:stCondLst>
                                        </p:cTn>
                                        <p:tgtEl>
                                          <p:spTgt spid="1430546"/>
                                        </p:tgtEl>
                                        <p:attrNameLst>
                                          <p:attrName>style.visibility</p:attrName>
                                        </p:attrNameLst>
                                      </p:cBhvr>
                                      <p:to>
                                        <p:strVal val="visible"/>
                                      </p:to>
                                    </p:set>
                                    <p:anim calcmode="lin" valueType="num">
                                      <p:cBhvr>
                                        <p:cTn id="95" dur="500" fill="hold"/>
                                        <p:tgtEl>
                                          <p:spTgt spid="1430546"/>
                                        </p:tgtEl>
                                        <p:attrNameLst>
                                          <p:attrName>ppt_w</p:attrName>
                                        </p:attrNameLst>
                                      </p:cBhvr>
                                      <p:tavLst>
                                        <p:tav tm="0">
                                          <p:val>
                                            <p:fltVal val="0"/>
                                          </p:val>
                                        </p:tav>
                                        <p:tav tm="100000">
                                          <p:val>
                                            <p:strVal val="#ppt_w"/>
                                          </p:val>
                                        </p:tav>
                                      </p:tavLst>
                                    </p:anim>
                                    <p:anim calcmode="lin" valueType="num">
                                      <p:cBhvr>
                                        <p:cTn id="96" dur="500" fill="hold"/>
                                        <p:tgtEl>
                                          <p:spTgt spid="1430546"/>
                                        </p:tgtEl>
                                        <p:attrNameLst>
                                          <p:attrName>ppt_h</p:attrName>
                                        </p:attrNameLst>
                                      </p:cBhvr>
                                      <p:tavLst>
                                        <p:tav tm="0">
                                          <p:val>
                                            <p:strVal val="#ppt_h"/>
                                          </p:val>
                                        </p:tav>
                                        <p:tav tm="100000">
                                          <p:val>
                                            <p:strVal val="#ppt_h"/>
                                          </p:val>
                                        </p:tav>
                                      </p:tavLst>
                                    </p:anim>
                                  </p:childTnLst>
                                </p:cTn>
                              </p:par>
                            </p:childTnLst>
                          </p:cTn>
                        </p:par>
                        <p:par>
                          <p:cTn id="97" fill="hold">
                            <p:stCondLst>
                              <p:cond delay="3000"/>
                            </p:stCondLst>
                            <p:childTnLst>
                              <p:par>
                                <p:cTn id="98" presetID="9" presetClass="entr" presetSubtype="0" fill="hold" grpId="0" nodeType="afterEffect">
                                  <p:stCondLst>
                                    <p:cond delay="0"/>
                                  </p:stCondLst>
                                  <p:childTnLst>
                                    <p:set>
                                      <p:cBhvr>
                                        <p:cTn id="99" dur="1" fill="hold">
                                          <p:stCondLst>
                                            <p:cond delay="0"/>
                                          </p:stCondLst>
                                        </p:cTn>
                                        <p:tgtEl>
                                          <p:spTgt spid="1430548"/>
                                        </p:tgtEl>
                                        <p:attrNameLst>
                                          <p:attrName>style.visibility</p:attrName>
                                        </p:attrNameLst>
                                      </p:cBhvr>
                                      <p:to>
                                        <p:strVal val="visible"/>
                                      </p:to>
                                    </p:set>
                                    <p:animEffect transition="in" filter="dissolve">
                                      <p:cBhvr>
                                        <p:cTn id="100" dur="500"/>
                                        <p:tgtEl>
                                          <p:spTgt spid="1430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0542" grpId="0"/>
      <p:bldP spid="1430543" grpId="0"/>
      <p:bldP spid="1430544" grpId="0" build="p" animBg="1"/>
      <p:bldP spid="1430547" grpId="0"/>
      <p:bldP spid="1430548" grpId="0"/>
      <p:bldP spid="1430549" grpId="0" animBg="1"/>
      <p:bldP spid="256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B18398A-B044-4558-87F8-E63F495E98E7}"/>
              </a:ext>
            </a:extLst>
          </p:cNvPr>
          <p:cNvSpPr txBox="1"/>
          <p:nvPr/>
        </p:nvSpPr>
        <p:spPr>
          <a:xfrm>
            <a:off x="-19393" y="6102814"/>
            <a:ext cx="9199905" cy="822325"/>
          </a:xfrm>
          <a:prstGeom prst="rect">
            <a:avLst/>
          </a:prstGeom>
          <a:solidFill>
            <a:schemeClr val="bg2"/>
          </a:solidFill>
        </p:spPr>
        <p:txBody>
          <a:bodyPr wrap="square" rtlCol="0">
            <a:spAutoFit/>
          </a:bodyPr>
          <a:lstStyle/>
          <a:p>
            <a:endParaRPr lang="zh-CN" altLang="en-US" dirty="0">
              <a:solidFill>
                <a:srgbClr val="000099"/>
              </a:solidFill>
            </a:endParaRPr>
          </a:p>
        </p:txBody>
      </p:sp>
      <p:grpSp>
        <p:nvGrpSpPr>
          <p:cNvPr id="1431556" name="组合 1431555"/>
          <p:cNvGrpSpPr/>
          <p:nvPr/>
        </p:nvGrpSpPr>
        <p:grpSpPr>
          <a:xfrm>
            <a:off x="171127" y="1223170"/>
            <a:ext cx="4002087" cy="2674937"/>
            <a:chOff x="265" y="925"/>
            <a:chExt cx="2521" cy="1685"/>
          </a:xfrm>
        </p:grpSpPr>
        <p:sp>
          <p:nvSpPr>
            <p:cNvPr id="26644" name="文本框 1431556"/>
            <p:cNvSpPr txBox="1"/>
            <p:nvPr/>
          </p:nvSpPr>
          <p:spPr>
            <a:xfrm>
              <a:off x="529" y="2092"/>
              <a:ext cx="344" cy="518"/>
            </a:xfrm>
            <a:prstGeom prst="rect">
              <a:avLst/>
            </a:prstGeom>
            <a:noFill/>
            <a:ln w="9525">
              <a:noFill/>
            </a:ln>
          </p:spPr>
          <p:txBody>
            <a:bodyPr>
              <a:spAutoFit/>
            </a:bodyPr>
            <a:lstStyle/>
            <a:p>
              <a:r>
                <a:rPr lang="zh-CN" altLang="en-US" sz="2400" b="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0     </a:t>
              </a:r>
              <a:endParaRPr lang="en-US" altLang="zh-CN" sz="2400" i="1" dirty="0">
                <a:solidFill>
                  <a:schemeClr val="tx1"/>
                </a:solidFill>
                <a:latin typeface="Times New Roman" panose="02020603050405020304" pitchFamily="18" charset="0"/>
              </a:endParaRPr>
            </a:p>
          </p:txBody>
        </p:sp>
        <p:grpSp>
          <p:nvGrpSpPr>
            <p:cNvPr id="26645" name="组合 1431557"/>
            <p:cNvGrpSpPr/>
            <p:nvPr/>
          </p:nvGrpSpPr>
          <p:grpSpPr>
            <a:xfrm>
              <a:off x="619" y="925"/>
              <a:ext cx="2166" cy="1590"/>
              <a:chOff x="1242" y="-33"/>
              <a:chExt cx="2698" cy="2043"/>
            </a:xfrm>
          </p:grpSpPr>
          <p:sp>
            <p:nvSpPr>
              <p:cNvPr id="26650" name="直接连接符 1431558"/>
              <p:cNvSpPr/>
              <p:nvPr/>
            </p:nvSpPr>
            <p:spPr>
              <a:xfrm flipV="1">
                <a:off x="1251" y="66"/>
                <a:ext cx="0" cy="1704"/>
              </a:xfrm>
              <a:prstGeom prst="line">
                <a:avLst/>
              </a:prstGeom>
              <a:ln w="57150" cap="sq" cmpd="sng">
                <a:solidFill>
                  <a:schemeClr val="tx1"/>
                </a:solidFill>
                <a:prstDash val="solid"/>
                <a:headEnd type="none" w="med" len="med"/>
                <a:tailEnd type="triangle" w="med" len="med"/>
              </a:ln>
            </p:spPr>
          </p:sp>
          <p:sp>
            <p:nvSpPr>
              <p:cNvPr id="26651" name="直接连接符 1431559"/>
              <p:cNvSpPr/>
              <p:nvPr/>
            </p:nvSpPr>
            <p:spPr>
              <a:xfrm>
                <a:off x="1242" y="1788"/>
                <a:ext cx="2448" cy="0"/>
              </a:xfrm>
              <a:prstGeom prst="line">
                <a:avLst/>
              </a:prstGeom>
              <a:ln w="57150" cap="sq" cmpd="sng">
                <a:solidFill>
                  <a:schemeClr val="tx1"/>
                </a:solidFill>
                <a:prstDash val="solid"/>
                <a:headEnd type="none" w="med" len="med"/>
                <a:tailEnd type="triangle" w="med" len="med"/>
              </a:ln>
            </p:spPr>
          </p:sp>
          <p:sp>
            <p:nvSpPr>
              <p:cNvPr id="26652" name="矩形 1431560"/>
              <p:cNvSpPr/>
              <p:nvPr/>
            </p:nvSpPr>
            <p:spPr>
              <a:xfrm>
                <a:off x="3729" y="1640"/>
                <a:ext cx="211" cy="370"/>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6653" name="矩形 1431561"/>
              <p:cNvSpPr/>
              <p:nvPr/>
            </p:nvSpPr>
            <p:spPr>
              <a:xfrm>
                <a:off x="1275" y="-33"/>
                <a:ext cx="476" cy="370"/>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grpSp>
        <p:sp>
          <p:nvSpPr>
            <p:cNvPr id="26646" name="直接连接符 1431562"/>
            <p:cNvSpPr/>
            <p:nvPr/>
          </p:nvSpPr>
          <p:spPr>
            <a:xfrm>
              <a:off x="653" y="1325"/>
              <a:ext cx="2133" cy="0"/>
            </a:xfrm>
            <a:prstGeom prst="line">
              <a:avLst/>
            </a:prstGeom>
            <a:ln w="57150" cap="flat" cmpd="sng">
              <a:solidFill>
                <a:schemeClr val="tx1"/>
              </a:solidFill>
              <a:prstDash val="solid"/>
              <a:headEnd type="none" w="med" len="med"/>
              <a:tailEnd type="none" w="med" len="med"/>
            </a:ln>
          </p:spPr>
        </p:sp>
        <p:sp>
          <p:nvSpPr>
            <p:cNvPr id="26647" name="任意多边形 1431563"/>
            <p:cNvSpPr/>
            <p:nvPr/>
          </p:nvSpPr>
          <p:spPr>
            <a:xfrm>
              <a:off x="639" y="1347"/>
              <a:ext cx="1941" cy="995"/>
            </a:xfrm>
            <a:custGeom>
              <a:avLst/>
              <a:gdLst/>
              <a:ahLst/>
              <a:cxnLst>
                <a:cxn ang="0">
                  <a:pos x="0" y="905"/>
                </a:cxn>
                <a:cxn ang="0">
                  <a:pos x="183" y="585"/>
                </a:cxn>
                <a:cxn ang="0">
                  <a:pos x="409" y="321"/>
                </a:cxn>
                <a:cxn ang="0">
                  <a:pos x="794" y="104"/>
                </a:cxn>
                <a:cxn ang="0">
                  <a:pos x="1181" y="38"/>
                </a:cxn>
                <a:cxn ang="0">
                  <a:pos x="1544" y="10"/>
                </a:cxn>
                <a:cxn ang="0">
                  <a:pos x="1998" y="0"/>
                </a:cxn>
              </a:cxnLst>
              <a:rect l="0" t="0" r="0" b="0"/>
              <a:pathLst>
                <a:path w="1913" h="1043">
                  <a:moveTo>
                    <a:pt x="0" y="1043"/>
                  </a:moveTo>
                  <a:cubicBezTo>
                    <a:pt x="54" y="914"/>
                    <a:pt x="109" y="786"/>
                    <a:pt x="174" y="674"/>
                  </a:cubicBezTo>
                  <a:cubicBezTo>
                    <a:pt x="239" y="562"/>
                    <a:pt x="293" y="462"/>
                    <a:pt x="391" y="370"/>
                  </a:cubicBezTo>
                  <a:cubicBezTo>
                    <a:pt x="489" y="278"/>
                    <a:pt x="638" y="174"/>
                    <a:pt x="761" y="120"/>
                  </a:cubicBezTo>
                  <a:cubicBezTo>
                    <a:pt x="884" y="66"/>
                    <a:pt x="1011" y="62"/>
                    <a:pt x="1130" y="44"/>
                  </a:cubicBezTo>
                  <a:cubicBezTo>
                    <a:pt x="1249" y="26"/>
                    <a:pt x="1348" y="18"/>
                    <a:pt x="1478" y="11"/>
                  </a:cubicBezTo>
                  <a:cubicBezTo>
                    <a:pt x="1608" y="4"/>
                    <a:pt x="1832" y="2"/>
                    <a:pt x="1913"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26648" name="椭圆 1431564"/>
            <p:cNvSpPr/>
            <p:nvPr/>
          </p:nvSpPr>
          <p:spPr>
            <a:xfrm>
              <a:off x="2081" y="1313"/>
              <a:ext cx="87" cy="84"/>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6649" name="文本框 1431565"/>
            <p:cNvSpPr txBox="1"/>
            <p:nvPr/>
          </p:nvSpPr>
          <p:spPr>
            <a:xfrm>
              <a:off x="265" y="1203"/>
              <a:ext cx="395" cy="265"/>
            </a:xfrm>
            <a:prstGeom prst="rect">
              <a:avLst/>
            </a:prstGeom>
            <a:noFill/>
            <a:ln w="9525">
              <a:noFill/>
            </a:ln>
          </p:spPr>
          <p:txBody>
            <a:bodyPr>
              <a:spAutoFit/>
            </a:bodyPr>
            <a:lstStyle/>
            <a:p>
              <a:pPr>
                <a:lnSpc>
                  <a:spcPct val="90000"/>
                </a:lnSpc>
              </a:pPr>
              <a:r>
                <a:rPr lang="en-US" altLang="zh-CN" sz="2400" dirty="0">
                  <a:solidFill>
                    <a:schemeClr val="tx1"/>
                  </a:solidFill>
                  <a:latin typeface="Times New Roman" panose="02020603050405020304" pitchFamily="18" charset="0"/>
                </a:rPr>
                <a:t>1.0</a:t>
              </a:r>
            </a:p>
          </p:txBody>
        </p:sp>
      </p:grpSp>
      <p:grpSp>
        <p:nvGrpSpPr>
          <p:cNvPr id="1431567" name="组合 1431566"/>
          <p:cNvGrpSpPr/>
          <p:nvPr/>
        </p:nvGrpSpPr>
        <p:grpSpPr>
          <a:xfrm>
            <a:off x="5114932" y="1392238"/>
            <a:ext cx="3687763" cy="2562225"/>
            <a:chOff x="3076" y="1009"/>
            <a:chExt cx="2323" cy="1614"/>
          </a:xfrm>
        </p:grpSpPr>
        <p:grpSp>
          <p:nvGrpSpPr>
            <p:cNvPr id="26630" name="组合 1431567"/>
            <p:cNvGrpSpPr/>
            <p:nvPr/>
          </p:nvGrpSpPr>
          <p:grpSpPr>
            <a:xfrm>
              <a:off x="3076" y="1009"/>
              <a:ext cx="2323" cy="1602"/>
              <a:chOff x="641" y="1755"/>
              <a:chExt cx="2819" cy="2188"/>
            </a:xfrm>
          </p:grpSpPr>
          <p:sp>
            <p:nvSpPr>
              <p:cNvPr id="26639" name="直接连接符 1431568"/>
              <p:cNvSpPr/>
              <p:nvPr/>
            </p:nvSpPr>
            <p:spPr>
              <a:xfrm flipV="1">
                <a:off x="763" y="1854"/>
                <a:ext cx="0" cy="1704"/>
              </a:xfrm>
              <a:prstGeom prst="line">
                <a:avLst/>
              </a:prstGeom>
              <a:ln w="57150" cap="sq" cmpd="sng">
                <a:solidFill>
                  <a:schemeClr val="tx1"/>
                </a:solidFill>
                <a:prstDash val="solid"/>
                <a:headEnd type="none" w="med" len="med"/>
                <a:tailEnd type="triangle" w="med" len="med"/>
              </a:ln>
            </p:spPr>
          </p:sp>
          <p:sp>
            <p:nvSpPr>
              <p:cNvPr id="26640" name="直接连接符 1431569"/>
              <p:cNvSpPr/>
              <p:nvPr/>
            </p:nvSpPr>
            <p:spPr>
              <a:xfrm>
                <a:off x="754" y="3576"/>
                <a:ext cx="2480" cy="0"/>
              </a:xfrm>
              <a:prstGeom prst="line">
                <a:avLst/>
              </a:prstGeom>
              <a:ln w="57150" cap="sq" cmpd="sng">
                <a:solidFill>
                  <a:schemeClr val="tx1"/>
                </a:solidFill>
                <a:prstDash val="solid"/>
                <a:headEnd type="none" w="med" len="med"/>
                <a:tailEnd type="triangle" w="med" len="med"/>
              </a:ln>
            </p:spPr>
          </p:sp>
          <p:sp>
            <p:nvSpPr>
              <p:cNvPr id="26641" name="矩形 1431570"/>
              <p:cNvSpPr/>
              <p:nvPr/>
            </p:nvSpPr>
            <p:spPr>
              <a:xfrm>
                <a:off x="3255" y="3430"/>
                <a:ext cx="205" cy="393"/>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6642" name="矩形 1431571"/>
              <p:cNvSpPr/>
              <p:nvPr/>
            </p:nvSpPr>
            <p:spPr>
              <a:xfrm>
                <a:off x="793" y="1755"/>
                <a:ext cx="463" cy="393"/>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26643" name="矩形 1431572"/>
              <p:cNvSpPr/>
              <p:nvPr/>
            </p:nvSpPr>
            <p:spPr>
              <a:xfrm>
                <a:off x="641" y="3549"/>
                <a:ext cx="258" cy="394"/>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26631" name="直接连接符 1431573"/>
            <p:cNvSpPr/>
            <p:nvPr/>
          </p:nvSpPr>
          <p:spPr>
            <a:xfrm flipV="1">
              <a:off x="3847" y="1163"/>
              <a:ext cx="1344" cy="1194"/>
            </a:xfrm>
            <a:prstGeom prst="line">
              <a:avLst/>
            </a:prstGeom>
            <a:ln w="76200" cap="flat" cmpd="sng">
              <a:solidFill>
                <a:schemeClr val="tx1"/>
              </a:solidFill>
              <a:prstDash val="sysDot"/>
              <a:headEnd type="none" w="med" len="med"/>
              <a:tailEnd type="none" w="med" len="med"/>
            </a:ln>
          </p:spPr>
        </p:sp>
        <p:sp>
          <p:nvSpPr>
            <p:cNvPr id="26632" name="直接连接符 1431574"/>
            <p:cNvSpPr/>
            <p:nvPr/>
          </p:nvSpPr>
          <p:spPr>
            <a:xfrm flipV="1">
              <a:off x="3184" y="1044"/>
              <a:ext cx="1440" cy="1280"/>
            </a:xfrm>
            <a:prstGeom prst="line">
              <a:avLst/>
            </a:prstGeom>
            <a:ln w="57150" cap="sq" cmpd="sng">
              <a:solidFill>
                <a:srgbClr val="333399"/>
              </a:solidFill>
              <a:prstDash val="solid"/>
              <a:headEnd type="none" w="med" len="med"/>
              <a:tailEnd type="none" w="med" len="med"/>
            </a:ln>
          </p:spPr>
        </p:sp>
        <p:sp>
          <p:nvSpPr>
            <p:cNvPr id="26633" name="任意多边形 1431575"/>
            <p:cNvSpPr/>
            <p:nvPr/>
          </p:nvSpPr>
          <p:spPr>
            <a:xfrm>
              <a:off x="3184" y="1229"/>
              <a:ext cx="1899" cy="1105"/>
            </a:xfrm>
            <a:custGeom>
              <a:avLst/>
              <a:gdLst/>
              <a:ahLst/>
              <a:cxnLst>
                <a:cxn ang="0">
                  <a:pos x="0" y="566"/>
                </a:cxn>
                <a:cxn ang="0">
                  <a:pos x="377" y="535"/>
                </a:cxn>
                <a:cxn ang="0">
                  <a:pos x="700" y="419"/>
                </a:cxn>
                <a:cxn ang="0">
                  <a:pos x="1380" y="0"/>
                </a:cxn>
              </a:cxnLst>
              <a:rect l="0" t="0" r="0" b="0"/>
              <a:pathLst>
                <a:path w="2228" h="1543">
                  <a:moveTo>
                    <a:pt x="0" y="1543"/>
                  </a:moveTo>
                  <a:cubicBezTo>
                    <a:pt x="210" y="1533"/>
                    <a:pt x="420" y="1523"/>
                    <a:pt x="608" y="1456"/>
                  </a:cubicBezTo>
                  <a:cubicBezTo>
                    <a:pt x="796" y="1389"/>
                    <a:pt x="860" y="1384"/>
                    <a:pt x="1130" y="1141"/>
                  </a:cubicBezTo>
                  <a:cubicBezTo>
                    <a:pt x="1400" y="898"/>
                    <a:pt x="2045" y="190"/>
                    <a:pt x="2228"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26634" name="矩形 1431576"/>
            <p:cNvSpPr/>
            <p:nvPr/>
          </p:nvSpPr>
          <p:spPr>
            <a:xfrm rot="-2464487">
              <a:off x="3486" y="1423"/>
              <a:ext cx="663" cy="288"/>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t</a:t>
              </a:r>
            </a:p>
          </p:txBody>
        </p:sp>
        <p:sp>
          <p:nvSpPr>
            <p:cNvPr id="26635" name="直接连接符 1431577"/>
            <p:cNvSpPr/>
            <p:nvPr/>
          </p:nvSpPr>
          <p:spPr>
            <a:xfrm>
              <a:off x="4491" y="1188"/>
              <a:ext cx="0" cy="557"/>
            </a:xfrm>
            <a:prstGeom prst="line">
              <a:avLst/>
            </a:prstGeom>
            <a:ln w="57150" cap="sq" cmpd="sng">
              <a:solidFill>
                <a:schemeClr val="tx1"/>
              </a:solidFill>
              <a:prstDash val="solid"/>
              <a:headEnd type="triangle" w="med" len="med"/>
              <a:tailEnd type="triangle" w="med" len="med"/>
            </a:ln>
          </p:spPr>
        </p:sp>
        <p:sp>
          <p:nvSpPr>
            <p:cNvPr id="26636" name="直接连接符 1431578"/>
            <p:cNvSpPr/>
            <p:nvPr/>
          </p:nvSpPr>
          <p:spPr>
            <a:xfrm>
              <a:off x="4160" y="1449"/>
              <a:ext cx="0" cy="557"/>
            </a:xfrm>
            <a:prstGeom prst="line">
              <a:avLst/>
            </a:prstGeom>
            <a:ln w="57150" cap="sq" cmpd="sng">
              <a:solidFill>
                <a:schemeClr val="tx1"/>
              </a:solidFill>
              <a:prstDash val="solid"/>
              <a:headEnd type="triangle" w="med" len="med"/>
              <a:tailEnd type="triangle" w="med" len="med"/>
            </a:ln>
          </p:spPr>
        </p:sp>
        <p:sp>
          <p:nvSpPr>
            <p:cNvPr id="26637" name="矩形 1431579"/>
            <p:cNvSpPr/>
            <p:nvPr/>
          </p:nvSpPr>
          <p:spPr>
            <a:xfrm>
              <a:off x="3694" y="2335"/>
              <a:ext cx="271" cy="288"/>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T</a:t>
              </a:r>
            </a:p>
          </p:txBody>
        </p:sp>
        <p:sp>
          <p:nvSpPr>
            <p:cNvPr id="26638" name="矩形 1431580"/>
            <p:cNvSpPr/>
            <p:nvPr/>
          </p:nvSpPr>
          <p:spPr>
            <a:xfrm>
              <a:off x="4491" y="1305"/>
              <a:ext cx="271" cy="288"/>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T</a:t>
              </a:r>
            </a:p>
          </p:txBody>
        </p:sp>
      </p:grpSp>
      <p:grpSp>
        <p:nvGrpSpPr>
          <p:cNvPr id="2" name="组合 1">
            <a:extLst>
              <a:ext uri="{FF2B5EF4-FFF2-40B4-BE49-F238E27FC236}">
                <a16:creationId xmlns:a16="http://schemas.microsoft.com/office/drawing/2014/main" id="{A835EADE-4751-4DEA-813E-A27A2656A975}"/>
              </a:ext>
            </a:extLst>
          </p:cNvPr>
          <p:cNvGrpSpPr/>
          <p:nvPr/>
        </p:nvGrpSpPr>
        <p:grpSpPr>
          <a:xfrm>
            <a:off x="36905" y="3894591"/>
            <a:ext cx="9144000" cy="3067618"/>
            <a:chOff x="36905" y="3894591"/>
            <a:chExt cx="9144000" cy="3067618"/>
          </a:xfrm>
        </p:grpSpPr>
        <p:sp>
          <p:nvSpPr>
            <p:cNvPr id="1431555" name="文本框 1431554"/>
            <p:cNvSpPr txBox="1"/>
            <p:nvPr/>
          </p:nvSpPr>
          <p:spPr>
            <a:xfrm>
              <a:off x="36905" y="3894591"/>
              <a:ext cx="9144000" cy="2720975"/>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en-US" altLang="zh-CN" sz="2400" kern="1200" cap="none" spc="0" normalizeH="0" baseline="0" noProof="1">
                  <a:solidFill>
                    <a:schemeClr val="tx1"/>
                  </a:solidFill>
                  <a:latin typeface="楷体_GB2312" pitchFamily="49" charset="-122"/>
                  <a:ea typeface="楷体_GB2312" pitchFamily="49" charset="-122"/>
                  <a:cs typeface="+mn-cs"/>
                </a:rPr>
                <a:t>    </a:t>
              </a:r>
              <a:r>
                <a:rPr kumimoji="0" lang="zh-CN" altLang="en-US" sz="2400" kern="1200" cap="none" spc="0" normalizeH="0" baseline="0" noProof="1">
                  <a:solidFill>
                    <a:schemeClr val="tx1"/>
                  </a:solidFill>
                  <a:latin typeface="楷体_GB2312" pitchFamily="49" charset="-122"/>
                  <a:ea typeface="楷体_GB2312" pitchFamily="49" charset="-122"/>
                  <a:cs typeface="+mn-cs"/>
                </a:rPr>
                <a:t>在阶跃响应中，输出量与输入量之间的位置误差随时间而减小，最终趋于</a:t>
              </a:r>
              <a:r>
                <a:rPr kumimoji="0" lang="en-US" altLang="zh-CN" sz="2400" kern="1200" cap="none" spc="0" normalizeH="0" baseline="0" noProof="1">
                  <a:solidFill>
                    <a:schemeClr val="tx1"/>
                  </a:solidFill>
                  <a:latin typeface="楷体_GB2312" pitchFamily="49" charset="-122"/>
                  <a:ea typeface="楷体_GB2312" pitchFamily="49" charset="-122"/>
                  <a:cs typeface="+mn-cs"/>
                </a:rPr>
                <a:t>0</a:t>
              </a:r>
              <a:r>
                <a:rPr kumimoji="0" lang="zh-CN" altLang="en-US" sz="2400" kern="1200" cap="none" spc="0" normalizeH="0" baseline="0" noProof="1">
                  <a:solidFill>
                    <a:schemeClr val="tx1"/>
                  </a:solidFill>
                  <a:latin typeface="楷体_GB2312" pitchFamily="49" charset="-122"/>
                  <a:ea typeface="楷体_GB2312" pitchFamily="49" charset="-122"/>
                  <a:cs typeface="+mn-cs"/>
                </a:rPr>
                <a:t>，而在初始状态下，位置误差最大，响应曲线的斜率也最大；</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楷体_GB2312" pitchFamily="49" charset="-122"/>
                  <a:cs typeface="+mn-cs"/>
                </a:rPr>
                <a:t>无差跟踪</a:t>
              </a:r>
              <a:endParaRPr kumimoji="0" lang="zh-CN" altLang="en-US" sz="2400" kern="1200" cap="none" spc="0" normalizeH="0" baseline="0" noProof="1">
                <a:solidFill>
                  <a:schemeClr val="tx1"/>
                </a:solidFill>
                <a:latin typeface="楷体_GB2312" pitchFamily="49" charset="-122"/>
                <a:ea typeface="楷体_GB2312" pitchFamily="49" charset="-122"/>
                <a:cs typeface="+mn-cs"/>
              </a:endParaRPr>
            </a:p>
            <a:p>
              <a:pPr marR="0" defTabSz="914400">
                <a:lnSpc>
                  <a:spcPct val="120000"/>
                </a:lnSpc>
                <a:spcBef>
                  <a:spcPct val="0"/>
                </a:spcBef>
                <a:buClrTx/>
                <a:buSzTx/>
                <a:buFontTx/>
                <a:buNone/>
                <a:defRPr/>
              </a:pPr>
              <a:r>
                <a:rPr kumimoji="0" lang="zh-CN" altLang="en-US" sz="2400" kern="1200" cap="none" spc="0" normalizeH="0" baseline="0" noProof="1">
                  <a:solidFill>
                    <a:schemeClr val="tx1"/>
                  </a:solidFill>
                  <a:latin typeface="楷体_GB2312" pitchFamily="49" charset="-122"/>
                  <a:ea typeface="楷体_GB2312" pitchFamily="49" charset="-122"/>
                  <a:cs typeface="+mn-cs"/>
                </a:rPr>
                <a:t>    </a:t>
              </a:r>
              <a:r>
                <a:rPr kumimoji="0" lang="zh-CN" altLang="en-US" sz="2400" kern="1200" cap="none" spc="0" normalizeH="0" baseline="0" noProof="1">
                  <a:solidFill>
                    <a:srgbClr val="000099"/>
                  </a:solidFill>
                  <a:latin typeface="楷体_GB2312" pitchFamily="49" charset="-122"/>
                  <a:ea typeface="楷体_GB2312" pitchFamily="49" charset="-122"/>
                  <a:cs typeface="+mn-cs"/>
                </a:rPr>
                <a:t>在斜坡响应中，输出量与输入量之间的位置误差随时间而增大，最终趋于常值</a:t>
              </a:r>
              <a:r>
                <a:rPr kumimoji="0" lang="en-US" altLang="zh-CN" sz="2400" i="1" kern="1200" cap="none" spc="0" normalizeH="0" baseline="0" noProof="1">
                  <a:solidFill>
                    <a:srgbClr val="000099"/>
                  </a:solidFill>
                  <a:latin typeface="楷体_GB2312" pitchFamily="49" charset="-122"/>
                  <a:ea typeface="楷体_GB2312" pitchFamily="49" charset="-122"/>
                  <a:cs typeface="+mn-cs"/>
                </a:rPr>
                <a:t>T</a:t>
              </a:r>
              <a:r>
                <a:rPr kumimoji="0" lang="zh-CN" altLang="en-US" sz="2400" kern="1200" cap="none" spc="0" normalizeH="0" baseline="0" noProof="1">
                  <a:solidFill>
                    <a:srgbClr val="000099"/>
                  </a:solidFill>
                  <a:latin typeface="楷体_GB2312" pitchFamily="49" charset="-122"/>
                  <a:ea typeface="楷体_GB2312" pitchFamily="49" charset="-122"/>
                  <a:cs typeface="+mn-cs"/>
                </a:rPr>
                <a:t>，在初始状态下，位置误差和响应曲线的斜率均等于</a:t>
              </a:r>
              <a:r>
                <a:rPr kumimoji="0" lang="en-US" altLang="zh-CN" sz="2400" kern="1200" cap="none" spc="0" normalizeH="0" baseline="0" noProof="1">
                  <a:solidFill>
                    <a:srgbClr val="000099"/>
                  </a:solidFill>
                  <a:latin typeface="楷体_GB2312" pitchFamily="49" charset="-122"/>
                  <a:ea typeface="楷体_GB2312" pitchFamily="49" charset="-122"/>
                  <a:cs typeface="+mn-cs"/>
                </a:rPr>
                <a:t>0</a:t>
              </a:r>
              <a:r>
                <a:rPr kumimoji="0" lang="zh-CN" altLang="en-US" sz="2400" kern="1200" cap="none" spc="0" normalizeH="0" baseline="0" noProof="1">
                  <a:solidFill>
                    <a:srgbClr val="000099"/>
                  </a:solidFill>
                  <a:latin typeface="楷体_GB2312" pitchFamily="49" charset="-122"/>
                  <a:ea typeface="楷体_GB2312" pitchFamily="49" charset="-122"/>
                  <a:cs typeface="+mn-cs"/>
                </a:rPr>
                <a:t>。</a:t>
              </a:r>
              <a:r>
                <a:rPr kumimoji="0" lang="zh-CN" altLang="en-US" sz="240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有差跟踪</a:t>
              </a:r>
              <a:endParaRPr kumimoji="0" lang="zh-CN" altLang="en-US" sz="2400" kern="1200" cap="none" spc="0" normalizeH="0" baseline="0" noProof="1">
                <a:solidFill>
                  <a:srgbClr val="000099"/>
                </a:solidFill>
                <a:latin typeface="楷体_GB2312" pitchFamily="49" charset="-122"/>
                <a:ea typeface="楷体_GB2312" pitchFamily="49" charset="-122"/>
                <a:cs typeface="+mn-cs"/>
              </a:endParaRPr>
            </a:p>
          </p:txBody>
        </p:sp>
        <p:sp>
          <p:nvSpPr>
            <p:cNvPr id="30" name="任意多边形 4">
              <a:extLst>
                <a:ext uri="{FF2B5EF4-FFF2-40B4-BE49-F238E27FC236}">
                  <a16:creationId xmlns:a16="http://schemas.microsoft.com/office/drawing/2014/main" id="{E421A138-067B-453D-8D0D-2BFC8939C029}"/>
                </a:ext>
              </a:extLst>
            </p:cNvPr>
            <p:cNvSpPr/>
            <p:nvPr/>
          </p:nvSpPr>
          <p:spPr>
            <a:xfrm rot="13500000">
              <a:off x="1073098" y="4445071"/>
              <a:ext cx="1195128" cy="1167138"/>
            </a:xfrm>
            <a:custGeom>
              <a:avLst/>
              <a:gdLst>
                <a:gd name="connsiteX0" fmla="*/ 1505547 w 2858060"/>
                <a:gd name="connsiteY0" fmla="*/ 407485 h 2823157"/>
                <a:gd name="connsiteX1" fmla="*/ 550204 w 2858060"/>
                <a:gd name="connsiteY1" fmla="*/ 1362828 h 2823157"/>
                <a:gd name="connsiteX2" fmla="*/ 58884 w 2858060"/>
                <a:gd name="connsiteY2" fmla="*/ 2017921 h 2823157"/>
                <a:gd name="connsiteX3" fmla="*/ 58884 w 2858060"/>
                <a:gd name="connsiteY3" fmla="*/ 2481945 h 2823157"/>
                <a:gd name="connsiteX4" fmla="*/ 509260 w 2858060"/>
                <a:gd name="connsiteY4" fmla="*/ 2823139 h 2823157"/>
                <a:gd name="connsiteX5" fmla="*/ 1205296 w 2858060"/>
                <a:gd name="connsiteY5" fmla="*/ 2468297 h 2823157"/>
                <a:gd name="connsiteX6" fmla="*/ 2665607 w 2858060"/>
                <a:gd name="connsiteY6" fmla="*/ 980691 h 2823157"/>
                <a:gd name="connsiteX7" fmla="*/ 2802084 w 2858060"/>
                <a:gd name="connsiteY7" fmla="*/ 175473 h 2823157"/>
                <a:gd name="connsiteX8" fmla="*/ 2297117 w 2858060"/>
                <a:gd name="connsiteY8" fmla="*/ 11700 h 2823157"/>
                <a:gd name="connsiteX9" fmla="*/ 1505547 w 2858060"/>
                <a:gd name="connsiteY9" fmla="*/ 407485 h 282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8060" h="2823157">
                  <a:moveTo>
                    <a:pt x="1505547" y="407485"/>
                  </a:moveTo>
                  <a:cubicBezTo>
                    <a:pt x="1214395" y="632673"/>
                    <a:pt x="791314" y="1094422"/>
                    <a:pt x="550204" y="1362828"/>
                  </a:cubicBezTo>
                  <a:cubicBezTo>
                    <a:pt x="309094" y="1631234"/>
                    <a:pt x="140771" y="1831402"/>
                    <a:pt x="58884" y="2017921"/>
                  </a:cubicBezTo>
                  <a:cubicBezTo>
                    <a:pt x="-23003" y="2204441"/>
                    <a:pt x="-16179" y="2347742"/>
                    <a:pt x="58884" y="2481945"/>
                  </a:cubicBezTo>
                  <a:cubicBezTo>
                    <a:pt x="133947" y="2616148"/>
                    <a:pt x="318191" y="2825414"/>
                    <a:pt x="509260" y="2823139"/>
                  </a:cubicBezTo>
                  <a:cubicBezTo>
                    <a:pt x="700329" y="2820864"/>
                    <a:pt x="845905" y="2775372"/>
                    <a:pt x="1205296" y="2468297"/>
                  </a:cubicBezTo>
                  <a:cubicBezTo>
                    <a:pt x="1564687" y="2161222"/>
                    <a:pt x="2399476" y="1362828"/>
                    <a:pt x="2665607" y="980691"/>
                  </a:cubicBezTo>
                  <a:cubicBezTo>
                    <a:pt x="2931738" y="598554"/>
                    <a:pt x="2863499" y="336971"/>
                    <a:pt x="2802084" y="175473"/>
                  </a:cubicBezTo>
                  <a:cubicBezTo>
                    <a:pt x="2740669" y="13975"/>
                    <a:pt x="2510932" y="-22419"/>
                    <a:pt x="2297117" y="11700"/>
                  </a:cubicBezTo>
                  <a:cubicBezTo>
                    <a:pt x="2083302" y="45819"/>
                    <a:pt x="1796699" y="182297"/>
                    <a:pt x="1505547" y="407485"/>
                  </a:cubicBezTo>
                  <a:close/>
                </a:path>
              </a:pathLst>
            </a:cu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cs typeface="+mn-ea"/>
                <a:sym typeface="+mn-lt"/>
              </a:endParaRPr>
            </a:p>
          </p:txBody>
        </p:sp>
        <p:sp>
          <p:nvSpPr>
            <p:cNvPr id="31" name="任意多边形 4">
              <a:extLst>
                <a:ext uri="{FF2B5EF4-FFF2-40B4-BE49-F238E27FC236}">
                  <a16:creationId xmlns:a16="http://schemas.microsoft.com/office/drawing/2014/main" id="{2E36BB61-E238-41A0-B182-AB7F5F1A81FE}"/>
                </a:ext>
              </a:extLst>
            </p:cNvPr>
            <p:cNvSpPr/>
            <p:nvPr/>
          </p:nvSpPr>
          <p:spPr>
            <a:xfrm rot="13500000">
              <a:off x="967144" y="5781075"/>
              <a:ext cx="1202292" cy="1159975"/>
            </a:xfrm>
            <a:custGeom>
              <a:avLst/>
              <a:gdLst>
                <a:gd name="connsiteX0" fmla="*/ 1505547 w 2858060"/>
                <a:gd name="connsiteY0" fmla="*/ 407485 h 2823157"/>
                <a:gd name="connsiteX1" fmla="*/ 550204 w 2858060"/>
                <a:gd name="connsiteY1" fmla="*/ 1362828 h 2823157"/>
                <a:gd name="connsiteX2" fmla="*/ 58884 w 2858060"/>
                <a:gd name="connsiteY2" fmla="*/ 2017921 h 2823157"/>
                <a:gd name="connsiteX3" fmla="*/ 58884 w 2858060"/>
                <a:gd name="connsiteY3" fmla="*/ 2481945 h 2823157"/>
                <a:gd name="connsiteX4" fmla="*/ 509260 w 2858060"/>
                <a:gd name="connsiteY4" fmla="*/ 2823139 h 2823157"/>
                <a:gd name="connsiteX5" fmla="*/ 1205296 w 2858060"/>
                <a:gd name="connsiteY5" fmla="*/ 2468297 h 2823157"/>
                <a:gd name="connsiteX6" fmla="*/ 2665607 w 2858060"/>
                <a:gd name="connsiteY6" fmla="*/ 980691 h 2823157"/>
                <a:gd name="connsiteX7" fmla="*/ 2802084 w 2858060"/>
                <a:gd name="connsiteY7" fmla="*/ 175473 h 2823157"/>
                <a:gd name="connsiteX8" fmla="*/ 2297117 w 2858060"/>
                <a:gd name="connsiteY8" fmla="*/ 11700 h 2823157"/>
                <a:gd name="connsiteX9" fmla="*/ 1505547 w 2858060"/>
                <a:gd name="connsiteY9" fmla="*/ 407485 h 282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8060" h="2823157">
                  <a:moveTo>
                    <a:pt x="1505547" y="407485"/>
                  </a:moveTo>
                  <a:cubicBezTo>
                    <a:pt x="1214395" y="632673"/>
                    <a:pt x="791314" y="1094422"/>
                    <a:pt x="550204" y="1362828"/>
                  </a:cubicBezTo>
                  <a:cubicBezTo>
                    <a:pt x="309094" y="1631234"/>
                    <a:pt x="140771" y="1831402"/>
                    <a:pt x="58884" y="2017921"/>
                  </a:cubicBezTo>
                  <a:cubicBezTo>
                    <a:pt x="-23003" y="2204441"/>
                    <a:pt x="-16179" y="2347742"/>
                    <a:pt x="58884" y="2481945"/>
                  </a:cubicBezTo>
                  <a:cubicBezTo>
                    <a:pt x="133947" y="2616148"/>
                    <a:pt x="318191" y="2825414"/>
                    <a:pt x="509260" y="2823139"/>
                  </a:cubicBezTo>
                  <a:cubicBezTo>
                    <a:pt x="700329" y="2820864"/>
                    <a:pt x="845905" y="2775372"/>
                    <a:pt x="1205296" y="2468297"/>
                  </a:cubicBezTo>
                  <a:cubicBezTo>
                    <a:pt x="1564687" y="2161222"/>
                    <a:pt x="2399476" y="1362828"/>
                    <a:pt x="2665607" y="980691"/>
                  </a:cubicBezTo>
                  <a:cubicBezTo>
                    <a:pt x="2931738" y="598554"/>
                    <a:pt x="2863499" y="336971"/>
                    <a:pt x="2802084" y="175473"/>
                  </a:cubicBezTo>
                  <a:cubicBezTo>
                    <a:pt x="2740669" y="13975"/>
                    <a:pt x="2510932" y="-22419"/>
                    <a:pt x="2297117" y="11700"/>
                  </a:cubicBezTo>
                  <a:cubicBezTo>
                    <a:pt x="2083302" y="45819"/>
                    <a:pt x="1796699" y="182297"/>
                    <a:pt x="1505547" y="407485"/>
                  </a:cubicBezTo>
                  <a:close/>
                </a:path>
              </a:pathLst>
            </a:cu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cs typeface="+mn-ea"/>
                <a:sym typeface="+mn-lt"/>
              </a:endParaRPr>
            </a:p>
          </p:txBody>
        </p:sp>
      </p:grpSp>
      <p:pic>
        <p:nvPicPr>
          <p:cNvPr id="32" name="图片 31">
            <a:extLst>
              <a:ext uri="{FF2B5EF4-FFF2-40B4-BE49-F238E27FC236}">
                <a16:creationId xmlns:a16="http://schemas.microsoft.com/office/drawing/2014/main" id="{AB13D26B-0DCD-423B-B93F-00CF2A7A07B4}"/>
              </a:ext>
            </a:extLst>
          </p:cNvPr>
          <p:cNvPicPr>
            <a:picLocks noChangeAspect="1"/>
          </p:cNvPicPr>
          <p:nvPr/>
        </p:nvPicPr>
        <p:blipFill rotWithShape="1">
          <a:blip r:embed="rId2">
            <a:extLst>
              <a:ext uri="{28A0092B-C50C-407E-A947-70E740481C1C}">
                <a14:useLocalDpi xmlns:a14="http://schemas.microsoft.com/office/drawing/2010/main" val="0"/>
              </a:ext>
            </a:extLst>
          </a:blip>
          <a:srcRect l="5973" t="7759" r="9562" b="2000"/>
          <a:stretch/>
        </p:blipFill>
        <p:spPr>
          <a:xfrm>
            <a:off x="-19393" y="0"/>
            <a:ext cx="1133528" cy="984303"/>
          </a:xfrm>
          <a:prstGeom prst="flowChartConnector">
            <a:avLst/>
          </a:prstGeom>
        </p:spPr>
      </p:pic>
      <p:sp>
        <p:nvSpPr>
          <p:cNvPr id="34" name="文本框 33">
            <a:extLst>
              <a:ext uri="{FF2B5EF4-FFF2-40B4-BE49-F238E27FC236}">
                <a16:creationId xmlns:a16="http://schemas.microsoft.com/office/drawing/2014/main" id="{4F936707-E556-4422-B930-43F97A380EBB}"/>
              </a:ext>
            </a:extLst>
          </p:cNvPr>
          <p:cNvSpPr txBox="1"/>
          <p:nvPr/>
        </p:nvSpPr>
        <p:spPr>
          <a:xfrm>
            <a:off x="1144722" y="-134930"/>
            <a:ext cx="7753182" cy="1476366"/>
          </a:xfrm>
          <a:prstGeom prst="rect">
            <a:avLst/>
          </a:prstGeom>
          <a:noFill/>
        </p:spPr>
        <p:txBody>
          <a:bodyPr wrap="square">
            <a:spAutoFit/>
          </a:bodyPr>
          <a:lstStyle/>
          <a:p>
            <a:pPr marR="0" defTabSz="914400">
              <a:spcBef>
                <a:spcPct val="0"/>
              </a:spcBef>
              <a:buClrTx/>
              <a:buSzTx/>
              <a:buFontTx/>
              <a:buNone/>
              <a:defRPr/>
            </a:pPr>
            <a:r>
              <a:rPr kumimoji="0" lang="en-US" altLang="zh-CN" sz="40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表明过渡过程结束后，其稳态输出与单位斜坡输入之间，在位置上仍有误差，一般叫做</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跟踪误差</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a:t>
            </a:r>
          </a:p>
          <a:p>
            <a:pPr marR="0" defTabSz="914400">
              <a:lnSpc>
                <a:spcPct val="120000"/>
              </a:lnSpc>
              <a:spcBef>
                <a:spcPct val="0"/>
              </a:spcBef>
              <a:buClrTx/>
              <a:buSzTx/>
              <a:buFontTx/>
              <a:buNone/>
              <a:defRPr/>
            </a:pPr>
            <a:r>
              <a:rPr kumimoji="0" lang="zh-CN" altLang="en-US" sz="2400" i="1" u="sng" kern="1200" cap="none" spc="0" normalizeH="0" baseline="0" noProof="1">
                <a:solidFill>
                  <a:schemeClr val="tx1"/>
                </a:solidFill>
                <a:effectLst>
                  <a:outerShdw blurRad="38100" dist="38100" dir="2700000">
                    <a:srgbClr val="C0C0C0"/>
                  </a:outerShdw>
                </a:effectLst>
                <a:latin typeface="Arial" panose="020B0604020202020204" pitchFamily="34" charset="0"/>
                <a:ea typeface="黑体" panose="02010609060101010101" pitchFamily="49" charset="-122"/>
                <a:cs typeface="+mn-cs"/>
              </a:rPr>
              <a:t>比较阶跃响应曲线和</a:t>
            </a:r>
            <a:r>
              <a:rPr kumimoji="0" lang="zh-CN" altLang="en-US" sz="2400" i="1" u="sng" kern="1200" cap="none" spc="0" normalizeH="0" baseline="0" noProof="1">
                <a:solidFill>
                  <a:srgbClr val="000099"/>
                </a:solidFill>
                <a:effectLst>
                  <a:outerShdw blurRad="38100" dist="38100" dir="2700000">
                    <a:srgbClr val="C0C0C0"/>
                  </a:outerShdw>
                </a:effectLst>
                <a:latin typeface="Arial" panose="020B0604020202020204" pitchFamily="34" charset="0"/>
                <a:ea typeface="黑体" panose="02010609060101010101" pitchFamily="49" charset="-122"/>
                <a:cs typeface="+mn-cs"/>
              </a:rPr>
              <a:t>斜坡响应曲线</a:t>
            </a:r>
            <a:r>
              <a:rPr kumimoji="0" lang="zh-CN" altLang="en-US" sz="2400" i="1" u="sng" kern="1200" cap="none" spc="0" normalizeH="0" baseline="0" noProof="1">
                <a:solidFill>
                  <a:schemeClr val="tx1"/>
                </a:solidFill>
                <a:effectLst>
                  <a:outerShdw blurRad="38100" dist="38100" dir="2700000">
                    <a:srgbClr val="C0C0C0"/>
                  </a:outerShdw>
                </a:effectLst>
                <a:latin typeface="Arial" panose="020B0604020202020204" pitchFamily="34" charset="0"/>
                <a:ea typeface="黑体" panose="02010609060101010101" pitchFamily="49" charset="-122"/>
                <a:cs typeface="+mn-cs"/>
              </a:rPr>
              <a:t>：</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1431556"/>
                                        </p:tgtEl>
                                        <p:attrNameLst>
                                          <p:attrName>style.visibility</p:attrName>
                                        </p:attrNameLst>
                                      </p:cBhvr>
                                      <p:to>
                                        <p:strVal val="visible"/>
                                      </p:to>
                                    </p:set>
                                    <p:animEffect transition="in" filter="checkerboard(down)">
                                      <p:cBhvr>
                                        <p:cTn id="7" dur="500"/>
                                        <p:tgtEl>
                                          <p:spTgt spid="143155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nodeType="clickEffect">
                                  <p:stCondLst>
                                    <p:cond delay="0"/>
                                  </p:stCondLst>
                                  <p:childTnLst>
                                    <p:set>
                                      <p:cBhvr>
                                        <p:cTn id="11" dur="1" fill="hold">
                                          <p:stCondLst>
                                            <p:cond delay="0"/>
                                          </p:stCondLst>
                                        </p:cTn>
                                        <p:tgtEl>
                                          <p:spTgt spid="1431567"/>
                                        </p:tgtEl>
                                        <p:attrNameLst>
                                          <p:attrName>style.visibility</p:attrName>
                                        </p:attrNameLst>
                                      </p:cBhvr>
                                      <p:to>
                                        <p:strVal val="visible"/>
                                      </p:to>
                                    </p:set>
                                    <p:animEffect transition="in" filter="checkerboard(down)">
                                      <p:cBhvr>
                                        <p:cTn id="12" dur="500"/>
                                        <p:tgtEl>
                                          <p:spTgt spid="1431567"/>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ircle(in)">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0B4401C-3EEB-4A0A-96C0-76132B3E8116}"/>
              </a:ext>
            </a:extLst>
          </p:cNvPr>
          <p:cNvSpPr txBox="1"/>
          <p:nvPr/>
        </p:nvSpPr>
        <p:spPr>
          <a:xfrm>
            <a:off x="0" y="6064172"/>
            <a:ext cx="9144000" cy="731044"/>
          </a:xfrm>
          <a:prstGeom prst="rect">
            <a:avLst/>
          </a:prstGeom>
          <a:solidFill>
            <a:schemeClr val="bg2"/>
          </a:solidFill>
        </p:spPr>
        <p:txBody>
          <a:bodyPr wrap="square" rtlCol="0">
            <a:spAutoFit/>
          </a:bodyPr>
          <a:lstStyle/>
          <a:p>
            <a:endParaRPr lang="zh-CN" altLang="en-US" dirty="0"/>
          </a:p>
        </p:txBody>
      </p:sp>
      <p:graphicFrame>
        <p:nvGraphicFramePr>
          <p:cNvPr id="1432579" name="对象 1432578"/>
          <p:cNvGraphicFramePr/>
          <p:nvPr>
            <p:extLst>
              <p:ext uri="{D42A27DB-BD31-4B8C-83A1-F6EECF244321}">
                <p14:modId xmlns:p14="http://schemas.microsoft.com/office/powerpoint/2010/main" val="4052666143"/>
              </p:ext>
            </p:extLst>
          </p:nvPr>
        </p:nvGraphicFramePr>
        <p:xfrm>
          <a:off x="2384174" y="483395"/>
          <a:ext cx="1939925" cy="912812"/>
        </p:xfrm>
        <a:graphic>
          <a:graphicData uri="http://schemas.openxmlformats.org/presentationml/2006/ole">
            <mc:AlternateContent xmlns:mc="http://schemas.openxmlformats.org/markup-compatibility/2006">
              <mc:Choice xmlns:v="urn:schemas-microsoft-com:vml" Requires="v">
                <p:oleObj spid="_x0000_s16427" r:id="rId3" imgW="862965" imgH="405765" progId="Equation.3">
                  <p:embed/>
                </p:oleObj>
              </mc:Choice>
              <mc:Fallback>
                <p:oleObj r:id="rId3" imgW="862965" imgH="405765" progId="Equation.3">
                  <p:embed/>
                  <p:pic>
                    <p:nvPicPr>
                      <p:cNvPr id="0" name="图片 3093"/>
                      <p:cNvPicPr/>
                      <p:nvPr/>
                    </p:nvPicPr>
                    <p:blipFill>
                      <a:blip r:embed="rId4"/>
                      <a:stretch>
                        <a:fillRect/>
                      </a:stretch>
                    </p:blipFill>
                    <p:spPr>
                      <a:xfrm>
                        <a:off x="2384174" y="483395"/>
                        <a:ext cx="1939925" cy="912812"/>
                      </a:xfrm>
                      <a:prstGeom prst="rect">
                        <a:avLst/>
                      </a:prstGeom>
                      <a:noFill/>
                      <a:ln w="38100">
                        <a:noFill/>
                        <a:miter/>
                      </a:ln>
                    </p:spPr>
                  </p:pic>
                </p:oleObj>
              </mc:Fallback>
            </mc:AlternateContent>
          </a:graphicData>
        </a:graphic>
      </p:graphicFrame>
      <p:sp>
        <p:nvSpPr>
          <p:cNvPr id="1432580" name="文本框 1432579"/>
          <p:cNvSpPr txBox="1"/>
          <p:nvPr/>
        </p:nvSpPr>
        <p:spPr>
          <a:xfrm>
            <a:off x="0" y="1438275"/>
            <a:ext cx="5010150" cy="1630363"/>
          </a:xfrm>
          <a:prstGeom prst="rect">
            <a:avLst/>
          </a:prstGeom>
          <a:noFill/>
          <a:ln w="9525">
            <a:noFill/>
          </a:ln>
        </p:spPr>
        <p:txBody>
          <a:bodyPr>
            <a:spAutoFit/>
          </a:bodyPr>
          <a:lstStyle/>
          <a:p>
            <a:pPr>
              <a:lnSpc>
                <a:spcPct val="120000"/>
              </a:lnSpc>
              <a:spcBef>
                <a:spcPct val="0"/>
              </a:spcBef>
            </a:pPr>
            <a:r>
              <a:rPr lang="en-US" altLang="zh-CN" sz="2800" b="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它恰是系统的闭环传函，这时输出称为脉冲（冲激）响应函数，以</a:t>
            </a:r>
            <a:r>
              <a:rPr lang="en-US" altLang="zh-CN" sz="2800" i="1" dirty="0">
                <a:solidFill>
                  <a:schemeClr val="tx1"/>
                </a:solidFill>
                <a:latin typeface="Times New Roman" panose="02020603050405020304" pitchFamily="18" charset="0"/>
              </a:rPr>
              <a:t>h</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Arial" panose="020B0604020202020204" pitchFamily="34" charset="0"/>
              </a:rPr>
              <a:t>标志。</a:t>
            </a:r>
          </a:p>
        </p:txBody>
      </p:sp>
      <p:graphicFrame>
        <p:nvGraphicFramePr>
          <p:cNvPr id="1432581" name="对象 1432580"/>
          <p:cNvGraphicFramePr/>
          <p:nvPr/>
        </p:nvGraphicFramePr>
        <p:xfrm>
          <a:off x="1336675" y="2863850"/>
          <a:ext cx="3198813" cy="969963"/>
        </p:xfrm>
        <a:graphic>
          <a:graphicData uri="http://schemas.openxmlformats.org/presentationml/2006/ole">
            <mc:AlternateContent xmlns:mc="http://schemas.openxmlformats.org/markup-compatibility/2006">
              <mc:Choice xmlns:v="urn:schemas-microsoft-com:vml" Requires="v">
                <p:oleObj spid="_x0000_s16428" r:id="rId5" imgW="1421765" imgH="431800" progId="Equation.3">
                  <p:embed/>
                </p:oleObj>
              </mc:Choice>
              <mc:Fallback>
                <p:oleObj r:id="rId5" imgW="1421765" imgH="431800" progId="Equation.3">
                  <p:embed/>
                  <p:pic>
                    <p:nvPicPr>
                      <p:cNvPr id="0" name="图片 3090"/>
                      <p:cNvPicPr/>
                      <p:nvPr/>
                    </p:nvPicPr>
                    <p:blipFill>
                      <a:blip r:embed="rId6"/>
                      <a:stretch>
                        <a:fillRect/>
                      </a:stretch>
                    </p:blipFill>
                    <p:spPr>
                      <a:xfrm>
                        <a:off x="1336675" y="2863850"/>
                        <a:ext cx="3198813" cy="969963"/>
                      </a:xfrm>
                      <a:prstGeom prst="rect">
                        <a:avLst/>
                      </a:prstGeom>
                      <a:noFill/>
                      <a:ln w="38100">
                        <a:noFill/>
                        <a:miter/>
                      </a:ln>
                    </p:spPr>
                  </p:pic>
                </p:oleObj>
              </mc:Fallback>
            </mc:AlternateContent>
          </a:graphicData>
        </a:graphic>
      </p:graphicFrame>
      <p:sp>
        <p:nvSpPr>
          <p:cNvPr id="1432582" name="文本框 1432581"/>
          <p:cNvSpPr txBox="1"/>
          <p:nvPr/>
        </p:nvSpPr>
        <p:spPr>
          <a:xfrm>
            <a:off x="0" y="3829050"/>
            <a:ext cx="8964613" cy="1041400"/>
          </a:xfrm>
          <a:prstGeom prst="rect">
            <a:avLst/>
          </a:prstGeom>
          <a:noFill/>
          <a:ln w="9525">
            <a:noFill/>
          </a:ln>
        </p:spPr>
        <p:txBody>
          <a:bodyPr>
            <a:spAutoFit/>
          </a:bodyPr>
          <a:lstStyle/>
          <a:p>
            <a:pPr marR="0" defTabSz="914400">
              <a:lnSpc>
                <a:spcPct val="130000"/>
              </a:lnSpc>
              <a:spcBef>
                <a:spcPct val="0"/>
              </a:spcBef>
              <a:buClrTx/>
              <a:buSzTx/>
              <a:buFontTx/>
              <a:buNone/>
              <a:defRPr/>
            </a:pPr>
            <a:r>
              <a:rPr kumimoji="0" lang="en-US" altLang="zh-CN" sz="24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求系统闭环传递函数提供了实验方法，以单位脉冲输入信号作用于系统，测定出系统的单位脉冲响应，可以得到闭环传函数。</a:t>
            </a:r>
          </a:p>
        </p:txBody>
      </p:sp>
      <p:graphicFrame>
        <p:nvGraphicFramePr>
          <p:cNvPr id="1432583" name="对象 1432582"/>
          <p:cNvGraphicFramePr/>
          <p:nvPr/>
        </p:nvGraphicFramePr>
        <p:xfrm>
          <a:off x="1633538" y="4884738"/>
          <a:ext cx="2913062" cy="912812"/>
        </p:xfrm>
        <a:graphic>
          <a:graphicData uri="http://schemas.openxmlformats.org/presentationml/2006/ole">
            <mc:AlternateContent xmlns:mc="http://schemas.openxmlformats.org/markup-compatibility/2006">
              <mc:Choice xmlns:v="urn:schemas-microsoft-com:vml" Requires="v">
                <p:oleObj spid="_x0000_s16429" r:id="rId7" imgW="1294130" imgH="405765" progId="Equation.3">
                  <p:embed/>
                </p:oleObj>
              </mc:Choice>
              <mc:Fallback>
                <p:oleObj r:id="rId7" imgW="1294130" imgH="405765" progId="Equation.3">
                  <p:embed/>
                  <p:pic>
                    <p:nvPicPr>
                      <p:cNvPr id="0" name="图片 3083"/>
                      <p:cNvPicPr/>
                      <p:nvPr/>
                    </p:nvPicPr>
                    <p:blipFill>
                      <a:blip r:embed="rId8"/>
                      <a:stretch>
                        <a:fillRect/>
                      </a:stretch>
                    </p:blipFill>
                    <p:spPr>
                      <a:xfrm>
                        <a:off x="1633538" y="4884738"/>
                        <a:ext cx="2913062" cy="912812"/>
                      </a:xfrm>
                      <a:prstGeom prst="rect">
                        <a:avLst/>
                      </a:prstGeom>
                      <a:noFill/>
                      <a:ln w="38100">
                        <a:noFill/>
                        <a:miter/>
                      </a:ln>
                    </p:spPr>
                  </p:pic>
                </p:oleObj>
              </mc:Fallback>
            </mc:AlternateContent>
          </a:graphicData>
        </a:graphic>
      </p:graphicFrame>
      <p:graphicFrame>
        <p:nvGraphicFramePr>
          <p:cNvPr id="1432584" name="对象 1432583"/>
          <p:cNvGraphicFramePr/>
          <p:nvPr/>
        </p:nvGraphicFramePr>
        <p:xfrm>
          <a:off x="4762500" y="4864100"/>
          <a:ext cx="2913063" cy="912813"/>
        </p:xfrm>
        <a:graphic>
          <a:graphicData uri="http://schemas.openxmlformats.org/presentationml/2006/ole">
            <mc:AlternateContent xmlns:mc="http://schemas.openxmlformats.org/markup-compatibility/2006">
              <mc:Choice xmlns:v="urn:schemas-microsoft-com:vml" Requires="v">
                <p:oleObj spid="_x0000_s16430" r:id="rId9" imgW="1294130" imgH="405765" progId="Equation.3">
                  <p:embed/>
                </p:oleObj>
              </mc:Choice>
              <mc:Fallback>
                <p:oleObj r:id="rId9" imgW="1294130" imgH="405765" progId="Equation.3">
                  <p:embed/>
                  <p:pic>
                    <p:nvPicPr>
                      <p:cNvPr id="0" name="图片 3094"/>
                      <p:cNvPicPr/>
                      <p:nvPr/>
                    </p:nvPicPr>
                    <p:blipFill>
                      <a:blip r:embed="rId10"/>
                      <a:stretch>
                        <a:fillRect/>
                      </a:stretch>
                    </p:blipFill>
                    <p:spPr>
                      <a:xfrm>
                        <a:off x="4762500" y="4864100"/>
                        <a:ext cx="2913063" cy="912813"/>
                      </a:xfrm>
                      <a:prstGeom prst="rect">
                        <a:avLst/>
                      </a:prstGeom>
                      <a:noFill/>
                      <a:ln w="38100">
                        <a:noFill/>
                        <a:miter/>
                      </a:ln>
                    </p:spPr>
                  </p:pic>
                </p:oleObj>
              </mc:Fallback>
            </mc:AlternateContent>
          </a:graphicData>
        </a:graphic>
      </p:graphicFrame>
      <p:graphicFrame>
        <p:nvGraphicFramePr>
          <p:cNvPr id="1432585" name="对象 1432584"/>
          <p:cNvGraphicFramePr/>
          <p:nvPr/>
        </p:nvGraphicFramePr>
        <p:xfrm>
          <a:off x="1763713" y="5697538"/>
          <a:ext cx="2655887" cy="912812"/>
        </p:xfrm>
        <a:graphic>
          <a:graphicData uri="http://schemas.openxmlformats.org/presentationml/2006/ole">
            <mc:AlternateContent xmlns:mc="http://schemas.openxmlformats.org/markup-compatibility/2006">
              <mc:Choice xmlns:v="urn:schemas-microsoft-com:vml" Requires="v">
                <p:oleObj spid="_x0000_s16431" r:id="rId11" imgW="1179830" imgH="405765" progId="Equation.3">
                  <p:embed/>
                </p:oleObj>
              </mc:Choice>
              <mc:Fallback>
                <p:oleObj r:id="rId11" imgW="1179830" imgH="405765" progId="Equation.3">
                  <p:embed/>
                  <p:pic>
                    <p:nvPicPr>
                      <p:cNvPr id="0" name="图片 3091"/>
                      <p:cNvPicPr/>
                      <p:nvPr/>
                    </p:nvPicPr>
                    <p:blipFill>
                      <a:blip r:embed="rId12"/>
                      <a:stretch>
                        <a:fillRect/>
                      </a:stretch>
                    </p:blipFill>
                    <p:spPr>
                      <a:xfrm>
                        <a:off x="1763713" y="5697538"/>
                        <a:ext cx="2655887" cy="912812"/>
                      </a:xfrm>
                      <a:prstGeom prst="rect">
                        <a:avLst/>
                      </a:prstGeom>
                      <a:noFill/>
                      <a:ln w="38100">
                        <a:noFill/>
                        <a:miter/>
                      </a:ln>
                    </p:spPr>
                  </p:pic>
                </p:oleObj>
              </mc:Fallback>
            </mc:AlternateContent>
          </a:graphicData>
        </a:graphic>
      </p:graphicFrame>
      <p:graphicFrame>
        <p:nvGraphicFramePr>
          <p:cNvPr id="1432586" name="对象 1432585"/>
          <p:cNvGraphicFramePr/>
          <p:nvPr/>
        </p:nvGraphicFramePr>
        <p:xfrm>
          <a:off x="4921250" y="5661025"/>
          <a:ext cx="2655888" cy="912813"/>
        </p:xfrm>
        <a:graphic>
          <a:graphicData uri="http://schemas.openxmlformats.org/presentationml/2006/ole">
            <mc:AlternateContent xmlns:mc="http://schemas.openxmlformats.org/markup-compatibility/2006">
              <mc:Choice xmlns:v="urn:schemas-microsoft-com:vml" Requires="v">
                <p:oleObj spid="_x0000_s16432" r:id="rId13" imgW="1179830" imgH="405765" progId="Equation.3">
                  <p:embed/>
                </p:oleObj>
              </mc:Choice>
              <mc:Fallback>
                <p:oleObj r:id="rId13" imgW="1179830" imgH="405765" progId="Equation.3">
                  <p:embed/>
                  <p:pic>
                    <p:nvPicPr>
                      <p:cNvPr id="0" name="图片 3092"/>
                      <p:cNvPicPr/>
                      <p:nvPr/>
                    </p:nvPicPr>
                    <p:blipFill>
                      <a:blip r:embed="rId14"/>
                      <a:stretch>
                        <a:fillRect/>
                      </a:stretch>
                    </p:blipFill>
                    <p:spPr>
                      <a:xfrm>
                        <a:off x="4921250" y="5661025"/>
                        <a:ext cx="2655888" cy="912813"/>
                      </a:xfrm>
                      <a:prstGeom prst="rect">
                        <a:avLst/>
                      </a:prstGeom>
                      <a:noFill/>
                      <a:ln w="38100">
                        <a:noFill/>
                        <a:miter/>
                      </a:ln>
                    </p:spPr>
                  </p:pic>
                </p:oleObj>
              </mc:Fallback>
            </mc:AlternateContent>
          </a:graphicData>
        </a:graphic>
      </p:graphicFrame>
      <p:sp>
        <p:nvSpPr>
          <p:cNvPr id="1432587" name="文本框 1432586"/>
          <p:cNvSpPr txBox="1"/>
          <p:nvPr/>
        </p:nvSpPr>
        <p:spPr>
          <a:xfrm>
            <a:off x="838200" y="5981700"/>
            <a:ext cx="800100" cy="457200"/>
          </a:xfrm>
          <a:prstGeom prst="rect">
            <a:avLst/>
          </a:prstGeom>
          <a:noFill/>
          <a:ln w="9525">
            <a:noFill/>
          </a:ln>
        </p:spPr>
        <p:txBody>
          <a:bodyPr wrap="none">
            <a:spAutoFit/>
          </a:bodyPr>
          <a:lstStyle/>
          <a:p>
            <a:pPr>
              <a:spcBef>
                <a:spcPct val="0"/>
              </a:spcBef>
            </a:pPr>
            <a:r>
              <a:rPr lang="zh-CN" altLang="en-US" sz="2400" dirty="0">
                <a:solidFill>
                  <a:schemeClr val="tx1"/>
                </a:solidFill>
                <a:latin typeface="Arial" panose="020B0604020202020204" pitchFamily="34" charset="0"/>
              </a:rPr>
              <a:t>对应</a:t>
            </a:r>
          </a:p>
        </p:txBody>
      </p:sp>
      <p:grpSp>
        <p:nvGrpSpPr>
          <p:cNvPr id="1432588" name="组合 1432587"/>
          <p:cNvGrpSpPr/>
          <p:nvPr/>
        </p:nvGrpSpPr>
        <p:grpSpPr>
          <a:xfrm>
            <a:off x="5010150" y="541338"/>
            <a:ext cx="4225925" cy="3149600"/>
            <a:chOff x="3098" y="201"/>
            <a:chExt cx="2662" cy="1984"/>
          </a:xfrm>
        </p:grpSpPr>
        <p:sp>
          <p:nvSpPr>
            <p:cNvPr id="27661" name="矩形 1432588"/>
            <p:cNvSpPr/>
            <p:nvPr/>
          </p:nvSpPr>
          <p:spPr>
            <a:xfrm>
              <a:off x="3760" y="1897"/>
              <a:ext cx="1319" cy="288"/>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rPr>
                <a:t>T       </a:t>
              </a:r>
              <a:r>
                <a:rPr lang="en-US" altLang="zh-CN" sz="2400" dirty="0">
                  <a:solidFill>
                    <a:schemeClr val="tx1"/>
                  </a:solidFill>
                  <a:latin typeface="Times New Roman" panose="02020603050405020304" pitchFamily="18" charset="0"/>
                </a:rPr>
                <a:t>2</a:t>
              </a:r>
              <a:r>
                <a:rPr lang="en-US" altLang="zh-CN" sz="2400" i="1" dirty="0">
                  <a:solidFill>
                    <a:schemeClr val="tx1"/>
                  </a:solidFill>
                  <a:latin typeface="Times New Roman" panose="02020603050405020304" pitchFamily="18" charset="0"/>
                </a:rPr>
                <a:t>T     </a:t>
              </a:r>
              <a:r>
                <a:rPr lang="en-US" altLang="zh-CN" sz="2400" dirty="0">
                  <a:solidFill>
                    <a:schemeClr val="tx1"/>
                  </a:solidFill>
                  <a:latin typeface="Times New Roman" panose="02020603050405020304" pitchFamily="18" charset="0"/>
                </a:rPr>
                <a:t>3</a:t>
              </a:r>
              <a:r>
                <a:rPr lang="en-US" altLang="zh-CN" sz="2400" i="1" dirty="0">
                  <a:solidFill>
                    <a:schemeClr val="tx1"/>
                  </a:solidFill>
                  <a:latin typeface="Times New Roman" panose="02020603050405020304" pitchFamily="18" charset="0"/>
                </a:rPr>
                <a:t>T</a:t>
              </a:r>
            </a:p>
          </p:txBody>
        </p:sp>
        <p:sp>
          <p:nvSpPr>
            <p:cNvPr id="27662" name="任意多边形 1432589"/>
            <p:cNvSpPr/>
            <p:nvPr/>
          </p:nvSpPr>
          <p:spPr>
            <a:xfrm>
              <a:off x="3505" y="551"/>
              <a:ext cx="1835" cy="1294"/>
            </a:xfrm>
            <a:custGeom>
              <a:avLst/>
              <a:gdLst/>
              <a:ahLst/>
              <a:cxnLst>
                <a:cxn ang="0">
                  <a:pos x="0" y="0"/>
                </a:cxn>
                <a:cxn ang="0">
                  <a:pos x="92" y="288"/>
                </a:cxn>
                <a:cxn ang="0">
                  <a:pos x="197" y="473"/>
                </a:cxn>
                <a:cxn ang="0">
                  <a:pos x="318" y="618"/>
                </a:cxn>
                <a:cxn ang="0">
                  <a:pos x="419" y="709"/>
                </a:cxn>
                <a:cxn ang="0">
                  <a:pos x="641" y="825"/>
                </a:cxn>
                <a:cxn ang="0">
                  <a:pos x="972" y="848"/>
                </a:cxn>
              </a:cxnLst>
              <a:rect l="0" t="0" r="0" b="0"/>
              <a:pathLst>
                <a:path w="2521" h="1598">
                  <a:moveTo>
                    <a:pt x="0" y="0"/>
                  </a:moveTo>
                  <a:cubicBezTo>
                    <a:pt x="77" y="197"/>
                    <a:pt x="154" y="394"/>
                    <a:pt x="239" y="543"/>
                  </a:cubicBezTo>
                  <a:cubicBezTo>
                    <a:pt x="324" y="692"/>
                    <a:pt x="413" y="788"/>
                    <a:pt x="511" y="891"/>
                  </a:cubicBezTo>
                  <a:cubicBezTo>
                    <a:pt x="609" y="994"/>
                    <a:pt x="730" y="1089"/>
                    <a:pt x="826" y="1163"/>
                  </a:cubicBezTo>
                  <a:cubicBezTo>
                    <a:pt x="922" y="1237"/>
                    <a:pt x="948" y="1271"/>
                    <a:pt x="1087" y="1336"/>
                  </a:cubicBezTo>
                  <a:cubicBezTo>
                    <a:pt x="1226" y="1401"/>
                    <a:pt x="1424" y="1510"/>
                    <a:pt x="1663" y="1554"/>
                  </a:cubicBezTo>
                  <a:cubicBezTo>
                    <a:pt x="1902" y="1598"/>
                    <a:pt x="2378" y="1590"/>
                    <a:pt x="2521" y="1597"/>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27663" name="直接连接符 1432590"/>
            <p:cNvSpPr/>
            <p:nvPr/>
          </p:nvSpPr>
          <p:spPr>
            <a:xfrm flipV="1">
              <a:off x="3488" y="247"/>
              <a:ext cx="0" cy="1642"/>
            </a:xfrm>
            <a:prstGeom prst="line">
              <a:avLst/>
            </a:prstGeom>
            <a:ln w="57150" cap="sq" cmpd="sng">
              <a:solidFill>
                <a:schemeClr val="tx1"/>
              </a:solidFill>
              <a:prstDash val="solid"/>
              <a:headEnd type="none" w="med" len="med"/>
              <a:tailEnd type="triangle" w="med" len="med"/>
            </a:ln>
          </p:spPr>
        </p:sp>
        <p:sp>
          <p:nvSpPr>
            <p:cNvPr id="27664" name="直接连接符 1432591"/>
            <p:cNvSpPr/>
            <p:nvPr/>
          </p:nvSpPr>
          <p:spPr>
            <a:xfrm flipV="1">
              <a:off x="3481" y="1894"/>
              <a:ext cx="2132" cy="10"/>
            </a:xfrm>
            <a:prstGeom prst="line">
              <a:avLst/>
            </a:prstGeom>
            <a:ln w="57150" cap="sq" cmpd="sng">
              <a:solidFill>
                <a:schemeClr val="tx1"/>
              </a:solidFill>
              <a:prstDash val="solid"/>
              <a:headEnd type="none" w="med" len="med"/>
              <a:tailEnd type="triangle" w="med" len="med"/>
            </a:ln>
          </p:spPr>
        </p:sp>
        <p:sp>
          <p:nvSpPr>
            <p:cNvPr id="27665" name="矩形 1432592"/>
            <p:cNvSpPr/>
            <p:nvPr/>
          </p:nvSpPr>
          <p:spPr>
            <a:xfrm>
              <a:off x="5591" y="1772"/>
              <a:ext cx="169" cy="288"/>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27666" name="矩形 1432593"/>
            <p:cNvSpPr/>
            <p:nvPr/>
          </p:nvSpPr>
          <p:spPr>
            <a:xfrm>
              <a:off x="3512" y="201"/>
              <a:ext cx="404" cy="288"/>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h</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27667" name="矩形 1432594"/>
            <p:cNvSpPr/>
            <p:nvPr/>
          </p:nvSpPr>
          <p:spPr>
            <a:xfrm>
              <a:off x="3388" y="1882"/>
              <a:ext cx="212" cy="288"/>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sp>
          <p:nvSpPr>
            <p:cNvPr id="27668" name="直接连接符 1432595"/>
            <p:cNvSpPr/>
            <p:nvPr/>
          </p:nvSpPr>
          <p:spPr>
            <a:xfrm>
              <a:off x="3928" y="1326"/>
              <a:ext cx="0" cy="602"/>
            </a:xfrm>
            <a:prstGeom prst="line">
              <a:avLst/>
            </a:prstGeom>
            <a:ln w="57150" cap="flat" cmpd="sng">
              <a:solidFill>
                <a:srgbClr val="993300"/>
              </a:solidFill>
              <a:prstDash val="sysDot"/>
              <a:headEnd type="none" w="med" len="med"/>
              <a:tailEnd type="none" w="med" len="med"/>
            </a:ln>
          </p:spPr>
        </p:sp>
        <p:sp>
          <p:nvSpPr>
            <p:cNvPr id="27669" name="直接连接符 1432596"/>
            <p:cNvSpPr/>
            <p:nvPr/>
          </p:nvSpPr>
          <p:spPr>
            <a:xfrm>
              <a:off x="4371" y="1645"/>
              <a:ext cx="0" cy="283"/>
            </a:xfrm>
            <a:prstGeom prst="line">
              <a:avLst/>
            </a:prstGeom>
            <a:ln w="57150" cap="flat" cmpd="sng">
              <a:solidFill>
                <a:srgbClr val="993300"/>
              </a:solidFill>
              <a:prstDash val="sysDot"/>
              <a:headEnd type="none" w="med" len="med"/>
              <a:tailEnd type="none" w="med" len="med"/>
            </a:ln>
          </p:spPr>
        </p:sp>
        <p:sp>
          <p:nvSpPr>
            <p:cNvPr id="27670" name="直接连接符 1432597"/>
            <p:cNvSpPr/>
            <p:nvPr/>
          </p:nvSpPr>
          <p:spPr>
            <a:xfrm>
              <a:off x="4807" y="1815"/>
              <a:ext cx="7" cy="113"/>
            </a:xfrm>
            <a:prstGeom prst="line">
              <a:avLst/>
            </a:prstGeom>
            <a:ln w="57150" cap="flat" cmpd="sng">
              <a:solidFill>
                <a:srgbClr val="993300"/>
              </a:solidFill>
              <a:prstDash val="sysDot"/>
              <a:headEnd type="none" w="med" len="med"/>
              <a:tailEnd type="none" w="med" len="med"/>
            </a:ln>
          </p:spPr>
        </p:sp>
        <p:sp>
          <p:nvSpPr>
            <p:cNvPr id="27671" name="矩形 1432598"/>
            <p:cNvSpPr/>
            <p:nvPr/>
          </p:nvSpPr>
          <p:spPr>
            <a:xfrm>
              <a:off x="3098" y="425"/>
              <a:ext cx="419" cy="288"/>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rPr>
                <a:t>1/T</a:t>
              </a:r>
            </a:p>
          </p:txBody>
        </p:sp>
        <p:sp>
          <p:nvSpPr>
            <p:cNvPr id="27672" name="矩形 1432599"/>
            <p:cNvSpPr/>
            <p:nvPr/>
          </p:nvSpPr>
          <p:spPr>
            <a:xfrm>
              <a:off x="3824" y="997"/>
              <a:ext cx="837"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0.368/</a:t>
              </a:r>
              <a:r>
                <a:rPr lang="en-US" altLang="zh-CN" sz="2400" i="1" dirty="0">
                  <a:solidFill>
                    <a:schemeClr val="tx1"/>
                  </a:solidFill>
                  <a:latin typeface="Times New Roman" panose="02020603050405020304" pitchFamily="18" charset="0"/>
                </a:rPr>
                <a:t>T</a:t>
              </a:r>
            </a:p>
          </p:txBody>
        </p:sp>
        <p:sp>
          <p:nvSpPr>
            <p:cNvPr id="27673" name="矩形 1432600"/>
            <p:cNvSpPr/>
            <p:nvPr/>
          </p:nvSpPr>
          <p:spPr>
            <a:xfrm>
              <a:off x="4218" y="1353"/>
              <a:ext cx="777"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0.135/</a:t>
              </a:r>
              <a:r>
                <a:rPr lang="en-US" altLang="zh-CN" sz="2400" i="1" dirty="0">
                  <a:solidFill>
                    <a:schemeClr val="tx1"/>
                  </a:solidFill>
                  <a:latin typeface="Times New Roman" panose="02020603050405020304" pitchFamily="18" charset="0"/>
                </a:rPr>
                <a:t>T</a:t>
              </a:r>
            </a:p>
          </p:txBody>
        </p:sp>
        <p:sp>
          <p:nvSpPr>
            <p:cNvPr id="27674" name="矩形 1432601"/>
            <p:cNvSpPr/>
            <p:nvPr/>
          </p:nvSpPr>
          <p:spPr>
            <a:xfrm>
              <a:off x="4701" y="1572"/>
              <a:ext cx="799"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0.05/</a:t>
              </a:r>
              <a:r>
                <a:rPr lang="en-US" altLang="zh-CN" sz="2400" i="1" dirty="0">
                  <a:solidFill>
                    <a:schemeClr val="tx1"/>
                  </a:solidFill>
                  <a:latin typeface="Times New Roman" panose="02020603050405020304" pitchFamily="18" charset="0"/>
                </a:rPr>
                <a:t>T</a:t>
              </a:r>
            </a:p>
          </p:txBody>
        </p:sp>
      </p:grpSp>
      <p:sp>
        <p:nvSpPr>
          <p:cNvPr id="28" name="文本框 27">
            <a:extLst>
              <a:ext uri="{FF2B5EF4-FFF2-40B4-BE49-F238E27FC236}">
                <a16:creationId xmlns:a16="http://schemas.microsoft.com/office/drawing/2014/main" id="{B575EB09-6D33-47E5-92CF-CF836C031FC3}"/>
              </a:ext>
            </a:extLst>
          </p:cNvPr>
          <p:cNvSpPr txBox="1"/>
          <p:nvPr/>
        </p:nvSpPr>
        <p:spPr>
          <a:xfrm>
            <a:off x="1049672" y="-24355"/>
            <a:ext cx="6318093" cy="523220"/>
          </a:xfrm>
          <a:prstGeom prst="rect">
            <a:avLst/>
          </a:prstGeom>
          <a:noFill/>
        </p:spPr>
        <p:txBody>
          <a:bodyPr wrap="square">
            <a:spAutoFit/>
          </a:bodyPr>
          <a:lstStyle/>
          <a:p>
            <a:pPr marR="0" defTabSz="914400">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3.2.3</a:t>
            </a: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　单位脉冲响应</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en-US" altLang="zh-CN"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R</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)=1]</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2579"/>
                                        </p:tgtEl>
                                        <p:attrNameLst>
                                          <p:attrName>style.visibility</p:attrName>
                                        </p:attrNameLst>
                                      </p:cBhvr>
                                      <p:to>
                                        <p:strVal val="visible"/>
                                      </p:to>
                                    </p:set>
                                    <p:animEffect transition="in" filter="dissolve">
                                      <p:cBhvr>
                                        <p:cTn id="7" dur="500"/>
                                        <p:tgtEl>
                                          <p:spTgt spid="143257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32580"/>
                                        </p:tgtEl>
                                        <p:attrNameLst>
                                          <p:attrName>style.visibility</p:attrName>
                                        </p:attrNameLst>
                                      </p:cBhvr>
                                      <p:to>
                                        <p:strVal val="visible"/>
                                      </p:to>
                                    </p:set>
                                    <p:anim calcmode="lin" valueType="num">
                                      <p:cBhvr additive="base">
                                        <p:cTn id="12" dur="500" fill="hold"/>
                                        <p:tgtEl>
                                          <p:spTgt spid="1432580"/>
                                        </p:tgtEl>
                                        <p:attrNameLst>
                                          <p:attrName>ppt_x</p:attrName>
                                        </p:attrNameLst>
                                      </p:cBhvr>
                                      <p:tavLst>
                                        <p:tav tm="0">
                                          <p:val>
                                            <p:strVal val="0-#ppt_w/2"/>
                                          </p:val>
                                        </p:tav>
                                        <p:tav tm="100000">
                                          <p:val>
                                            <p:strVal val="#ppt_x"/>
                                          </p:val>
                                        </p:tav>
                                      </p:tavLst>
                                    </p:anim>
                                    <p:anim calcmode="lin" valueType="num">
                                      <p:cBhvr additive="base">
                                        <p:cTn id="13" dur="500" fill="hold"/>
                                        <p:tgtEl>
                                          <p:spTgt spid="143258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32581"/>
                                        </p:tgtEl>
                                        <p:attrNameLst>
                                          <p:attrName>style.visibility</p:attrName>
                                        </p:attrNameLst>
                                      </p:cBhvr>
                                      <p:to>
                                        <p:strVal val="visible"/>
                                      </p:to>
                                    </p:set>
                                    <p:animEffect transition="in" filter="dissolve">
                                      <p:cBhvr>
                                        <p:cTn id="18" dur="500"/>
                                        <p:tgtEl>
                                          <p:spTgt spid="143258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32588"/>
                                        </p:tgtEl>
                                        <p:attrNameLst>
                                          <p:attrName>style.visibility</p:attrName>
                                        </p:attrNameLst>
                                      </p:cBhvr>
                                      <p:to>
                                        <p:strVal val="visible"/>
                                      </p:to>
                                    </p:set>
                                    <p:animEffect transition="in" filter="dissolve">
                                      <p:cBhvr>
                                        <p:cTn id="23" dur="500"/>
                                        <p:tgtEl>
                                          <p:spTgt spid="143258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432582">
                                            <p:txEl>
                                              <p:pRg st="0" end="0"/>
                                            </p:txEl>
                                          </p:spTgt>
                                        </p:tgtEl>
                                        <p:attrNameLst>
                                          <p:attrName>style.visibility</p:attrName>
                                        </p:attrNameLst>
                                      </p:cBhvr>
                                      <p:to>
                                        <p:strVal val="visible"/>
                                      </p:to>
                                    </p:set>
                                    <p:anim calcmode="lin" valueType="num">
                                      <p:cBhvr additive="base">
                                        <p:cTn id="28" dur="500" fill="hold"/>
                                        <p:tgtEl>
                                          <p:spTgt spid="1432582">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4325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432583"/>
                                        </p:tgtEl>
                                        <p:attrNameLst>
                                          <p:attrName>style.visibility</p:attrName>
                                        </p:attrNameLst>
                                      </p:cBhvr>
                                      <p:to>
                                        <p:strVal val="visible"/>
                                      </p:to>
                                    </p:set>
                                    <p:animEffect transition="in" filter="dissolve">
                                      <p:cBhvr>
                                        <p:cTn id="34" dur="500"/>
                                        <p:tgtEl>
                                          <p:spTgt spid="1432583"/>
                                        </p:tgtEl>
                                      </p:cBhvr>
                                    </p:animEffect>
                                  </p:childTnLst>
                                </p:cTn>
                              </p:par>
                            </p:childTnLst>
                          </p:cTn>
                        </p:par>
                        <p:par>
                          <p:cTn id="35" fill="hold">
                            <p:stCondLst>
                              <p:cond delay="500"/>
                            </p:stCondLst>
                            <p:childTnLst>
                              <p:par>
                                <p:cTn id="36" presetID="2" presetClass="entr" presetSubtype="8" fill="hold" grpId="0" nodeType="afterEffect">
                                  <p:stCondLst>
                                    <p:cond delay="0"/>
                                  </p:stCondLst>
                                  <p:childTnLst>
                                    <p:set>
                                      <p:cBhvr>
                                        <p:cTn id="37" dur="1" fill="hold">
                                          <p:stCondLst>
                                            <p:cond delay="0"/>
                                          </p:stCondLst>
                                        </p:cTn>
                                        <p:tgtEl>
                                          <p:spTgt spid="1432587"/>
                                        </p:tgtEl>
                                        <p:attrNameLst>
                                          <p:attrName>style.visibility</p:attrName>
                                        </p:attrNameLst>
                                      </p:cBhvr>
                                      <p:to>
                                        <p:strVal val="visible"/>
                                      </p:to>
                                    </p:set>
                                    <p:anim calcmode="lin" valueType="num">
                                      <p:cBhvr additive="base">
                                        <p:cTn id="38" dur="500" fill="hold"/>
                                        <p:tgtEl>
                                          <p:spTgt spid="1432587"/>
                                        </p:tgtEl>
                                        <p:attrNameLst>
                                          <p:attrName>ppt_x</p:attrName>
                                        </p:attrNameLst>
                                      </p:cBhvr>
                                      <p:tavLst>
                                        <p:tav tm="0">
                                          <p:val>
                                            <p:strVal val="0-#ppt_w/2"/>
                                          </p:val>
                                        </p:tav>
                                        <p:tav tm="100000">
                                          <p:val>
                                            <p:strVal val="#ppt_x"/>
                                          </p:val>
                                        </p:tav>
                                      </p:tavLst>
                                    </p:anim>
                                    <p:anim calcmode="lin" valueType="num">
                                      <p:cBhvr additive="base">
                                        <p:cTn id="39" dur="500" fill="hold"/>
                                        <p:tgtEl>
                                          <p:spTgt spid="1432587"/>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ID="9" presetClass="entr" presetSubtype="0" fill="hold" nodeType="afterEffect">
                                  <p:stCondLst>
                                    <p:cond delay="2000"/>
                                  </p:stCondLst>
                                  <p:childTnLst>
                                    <p:set>
                                      <p:cBhvr>
                                        <p:cTn id="42" dur="1" fill="hold">
                                          <p:stCondLst>
                                            <p:cond delay="0"/>
                                          </p:stCondLst>
                                        </p:cTn>
                                        <p:tgtEl>
                                          <p:spTgt spid="1432585"/>
                                        </p:tgtEl>
                                        <p:attrNameLst>
                                          <p:attrName>style.visibility</p:attrName>
                                        </p:attrNameLst>
                                      </p:cBhvr>
                                      <p:to>
                                        <p:strVal val="visible"/>
                                      </p:to>
                                    </p:set>
                                    <p:animEffect transition="in" filter="dissolve">
                                      <p:cBhvr>
                                        <p:cTn id="43" dur="500"/>
                                        <p:tgtEl>
                                          <p:spTgt spid="143258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432584"/>
                                        </p:tgtEl>
                                        <p:attrNameLst>
                                          <p:attrName>style.visibility</p:attrName>
                                        </p:attrNameLst>
                                      </p:cBhvr>
                                      <p:to>
                                        <p:strVal val="visible"/>
                                      </p:to>
                                    </p:set>
                                    <p:animEffect transition="in" filter="dissolve">
                                      <p:cBhvr>
                                        <p:cTn id="48" dur="500"/>
                                        <p:tgtEl>
                                          <p:spTgt spid="1432584"/>
                                        </p:tgtEl>
                                      </p:cBhvr>
                                    </p:animEffect>
                                  </p:childTnLst>
                                </p:cTn>
                              </p:par>
                            </p:childTnLst>
                          </p:cTn>
                        </p:par>
                        <p:par>
                          <p:cTn id="49" fill="hold">
                            <p:stCondLst>
                              <p:cond delay="500"/>
                            </p:stCondLst>
                            <p:childTnLst>
                              <p:par>
                                <p:cTn id="50" presetID="9" presetClass="entr" presetSubtype="0" fill="hold" nodeType="afterEffect">
                                  <p:stCondLst>
                                    <p:cond delay="2000"/>
                                  </p:stCondLst>
                                  <p:childTnLst>
                                    <p:set>
                                      <p:cBhvr>
                                        <p:cTn id="51" dur="1" fill="hold">
                                          <p:stCondLst>
                                            <p:cond delay="0"/>
                                          </p:stCondLst>
                                        </p:cTn>
                                        <p:tgtEl>
                                          <p:spTgt spid="1432586"/>
                                        </p:tgtEl>
                                        <p:attrNameLst>
                                          <p:attrName>style.visibility</p:attrName>
                                        </p:attrNameLst>
                                      </p:cBhvr>
                                      <p:to>
                                        <p:strVal val="visible"/>
                                      </p:to>
                                    </p:set>
                                    <p:animEffect transition="in" filter="dissolve">
                                      <p:cBhvr>
                                        <p:cTn id="52" dur="500"/>
                                        <p:tgtEl>
                                          <p:spTgt spid="1432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2580" grpId="0"/>
      <p:bldP spid="1432582" grpId="0" build="p"/>
      <p:bldP spid="143258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59BC3D1-2024-47C8-9592-FD9795C74D2D}"/>
              </a:ext>
            </a:extLst>
          </p:cNvPr>
          <p:cNvSpPr txBox="1"/>
          <p:nvPr/>
        </p:nvSpPr>
        <p:spPr>
          <a:xfrm>
            <a:off x="0" y="6018213"/>
            <a:ext cx="9144000" cy="839787"/>
          </a:xfrm>
          <a:prstGeom prst="rect">
            <a:avLst/>
          </a:prstGeom>
          <a:solidFill>
            <a:schemeClr val="bg2"/>
          </a:solidFill>
        </p:spPr>
        <p:txBody>
          <a:bodyPr wrap="square" rtlCol="0">
            <a:spAutoFit/>
          </a:bodyPr>
          <a:lstStyle/>
          <a:p>
            <a:endParaRPr lang="zh-CN" altLang="en-US" dirty="0"/>
          </a:p>
        </p:txBody>
      </p:sp>
      <p:graphicFrame>
        <p:nvGraphicFramePr>
          <p:cNvPr id="1433603" name="对象 1433602"/>
          <p:cNvGraphicFramePr/>
          <p:nvPr/>
        </p:nvGraphicFramePr>
        <p:xfrm>
          <a:off x="1993900" y="1611313"/>
          <a:ext cx="2570163" cy="485775"/>
        </p:xfrm>
        <a:graphic>
          <a:graphicData uri="http://schemas.openxmlformats.org/presentationml/2006/ole">
            <mc:AlternateContent xmlns:mc="http://schemas.openxmlformats.org/markup-compatibility/2006">
              <mc:Choice xmlns:v="urn:schemas-microsoft-com:vml" Requires="v">
                <p:oleObj spid="_x0000_s17451" r:id="rId3" imgW="1141730" imgH="215900" progId="Equation.3">
                  <p:embed/>
                </p:oleObj>
              </mc:Choice>
              <mc:Fallback>
                <p:oleObj r:id="rId3" imgW="1141730" imgH="215900" progId="Equation.3">
                  <p:embed/>
                  <p:pic>
                    <p:nvPicPr>
                      <p:cNvPr id="0" name="图片 3095"/>
                      <p:cNvPicPr/>
                      <p:nvPr/>
                    </p:nvPicPr>
                    <p:blipFill>
                      <a:blip r:embed="rId4"/>
                      <a:stretch>
                        <a:fillRect/>
                      </a:stretch>
                    </p:blipFill>
                    <p:spPr>
                      <a:xfrm>
                        <a:off x="1993900" y="1611313"/>
                        <a:ext cx="2570163" cy="485775"/>
                      </a:xfrm>
                      <a:prstGeom prst="rect">
                        <a:avLst/>
                      </a:prstGeom>
                      <a:noFill/>
                      <a:ln w="38100">
                        <a:noFill/>
                        <a:miter/>
                      </a:ln>
                    </p:spPr>
                  </p:pic>
                </p:oleObj>
              </mc:Fallback>
            </mc:AlternateContent>
          </a:graphicData>
        </a:graphic>
      </p:graphicFrame>
      <p:graphicFrame>
        <p:nvGraphicFramePr>
          <p:cNvPr id="1433604" name="对象 1433603"/>
          <p:cNvGraphicFramePr/>
          <p:nvPr/>
        </p:nvGraphicFramePr>
        <p:xfrm>
          <a:off x="1366838" y="2001838"/>
          <a:ext cx="6426200" cy="912812"/>
        </p:xfrm>
        <a:graphic>
          <a:graphicData uri="http://schemas.openxmlformats.org/presentationml/2006/ole">
            <mc:AlternateContent xmlns:mc="http://schemas.openxmlformats.org/markup-compatibility/2006">
              <mc:Choice xmlns:v="urn:schemas-microsoft-com:vml" Requires="v">
                <p:oleObj spid="_x0000_s17452" r:id="rId5" imgW="2854960" imgH="405765" progId="Equation.3">
                  <p:embed/>
                </p:oleObj>
              </mc:Choice>
              <mc:Fallback>
                <p:oleObj r:id="rId5" imgW="2854960" imgH="405765" progId="Equation.3">
                  <p:embed/>
                  <p:pic>
                    <p:nvPicPr>
                      <p:cNvPr id="0" name="图片 3096"/>
                      <p:cNvPicPr/>
                      <p:nvPr/>
                    </p:nvPicPr>
                    <p:blipFill>
                      <a:blip r:embed="rId6"/>
                      <a:stretch>
                        <a:fillRect/>
                      </a:stretch>
                    </p:blipFill>
                    <p:spPr>
                      <a:xfrm>
                        <a:off x="1366838" y="2001838"/>
                        <a:ext cx="6426200" cy="912812"/>
                      </a:xfrm>
                      <a:prstGeom prst="rect">
                        <a:avLst/>
                      </a:prstGeom>
                      <a:noFill/>
                      <a:ln w="38100">
                        <a:noFill/>
                        <a:miter/>
                      </a:ln>
                    </p:spPr>
                  </p:pic>
                </p:oleObj>
              </mc:Fallback>
            </mc:AlternateContent>
          </a:graphicData>
        </a:graphic>
      </p:graphicFrame>
      <p:graphicFrame>
        <p:nvGraphicFramePr>
          <p:cNvPr id="1433605" name="对象 1433604"/>
          <p:cNvGraphicFramePr/>
          <p:nvPr/>
        </p:nvGraphicFramePr>
        <p:xfrm>
          <a:off x="1352550" y="3067050"/>
          <a:ext cx="457200" cy="415925"/>
        </p:xfrm>
        <a:graphic>
          <a:graphicData uri="http://schemas.openxmlformats.org/presentationml/2006/ole">
            <mc:AlternateContent xmlns:mc="http://schemas.openxmlformats.org/markup-compatibility/2006">
              <mc:Choice xmlns:v="urn:schemas-microsoft-com:vml" Requires="v">
                <p:oleObj spid="_x0000_s17453" r:id="rId7" imgW="139700" imgH="127000" progId="Equation.3">
                  <p:embed/>
                </p:oleObj>
              </mc:Choice>
              <mc:Fallback>
                <p:oleObj r:id="rId7" imgW="139700" imgH="127000" progId="Equation.3">
                  <p:embed/>
                  <p:pic>
                    <p:nvPicPr>
                      <p:cNvPr id="0" name="图片 3100"/>
                      <p:cNvPicPr/>
                      <p:nvPr/>
                    </p:nvPicPr>
                    <p:blipFill>
                      <a:blip r:embed="rId8"/>
                      <a:stretch>
                        <a:fillRect/>
                      </a:stretch>
                    </p:blipFill>
                    <p:spPr>
                      <a:xfrm>
                        <a:off x="1352550" y="3067050"/>
                        <a:ext cx="457200" cy="415925"/>
                      </a:xfrm>
                      <a:prstGeom prst="rect">
                        <a:avLst/>
                      </a:prstGeom>
                      <a:noFill/>
                      <a:ln w="38100">
                        <a:noFill/>
                        <a:miter/>
                      </a:ln>
                    </p:spPr>
                  </p:pic>
                </p:oleObj>
              </mc:Fallback>
            </mc:AlternateContent>
          </a:graphicData>
        </a:graphic>
      </p:graphicFrame>
      <p:graphicFrame>
        <p:nvGraphicFramePr>
          <p:cNvPr id="1433606" name="对象 1433605"/>
          <p:cNvGraphicFramePr/>
          <p:nvPr/>
        </p:nvGraphicFramePr>
        <p:xfrm>
          <a:off x="1936750" y="2794000"/>
          <a:ext cx="1852613" cy="912813"/>
        </p:xfrm>
        <a:graphic>
          <a:graphicData uri="http://schemas.openxmlformats.org/presentationml/2006/ole">
            <mc:AlternateContent xmlns:mc="http://schemas.openxmlformats.org/markup-compatibility/2006">
              <mc:Choice xmlns:v="urn:schemas-microsoft-com:vml" Requires="v">
                <p:oleObj spid="_x0000_s17454" r:id="rId9" imgW="824865" imgH="405765" progId="Equation.3">
                  <p:embed/>
                </p:oleObj>
              </mc:Choice>
              <mc:Fallback>
                <p:oleObj r:id="rId9" imgW="824865" imgH="405765" progId="Equation.3">
                  <p:embed/>
                  <p:pic>
                    <p:nvPicPr>
                      <p:cNvPr id="0" name="图片 3097"/>
                      <p:cNvPicPr/>
                      <p:nvPr/>
                    </p:nvPicPr>
                    <p:blipFill>
                      <a:blip r:embed="rId10"/>
                      <a:stretch>
                        <a:fillRect/>
                      </a:stretch>
                    </p:blipFill>
                    <p:spPr>
                      <a:xfrm>
                        <a:off x="1936750" y="2794000"/>
                        <a:ext cx="1852613" cy="912813"/>
                      </a:xfrm>
                      <a:prstGeom prst="rect">
                        <a:avLst/>
                      </a:prstGeom>
                      <a:noFill/>
                      <a:ln w="38100">
                        <a:noFill/>
                        <a:miter/>
                      </a:ln>
                    </p:spPr>
                  </p:pic>
                </p:oleObj>
              </mc:Fallback>
            </mc:AlternateContent>
          </a:graphicData>
        </a:graphic>
      </p:graphicFrame>
      <p:sp>
        <p:nvSpPr>
          <p:cNvPr id="1433607" name="文本框 1433606"/>
          <p:cNvSpPr txBox="1"/>
          <p:nvPr/>
        </p:nvSpPr>
        <p:spPr>
          <a:xfrm>
            <a:off x="0" y="3613150"/>
            <a:ext cx="9144000" cy="1630363"/>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en-US" altLang="zh-CN" sz="24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2400" kern="1200" cap="none" spc="0" normalizeH="0" baseline="0" noProof="1">
                <a:solidFill>
                  <a:schemeClr val="tx1"/>
                </a:solidFill>
                <a:latin typeface="Arial" panose="020B0604020202020204" pitchFamily="34" charset="0"/>
                <a:ea typeface="宋体" panose="02010600030101010101" pitchFamily="2" charset="-122"/>
                <a:cs typeface="+mn-cs"/>
              </a:rPr>
              <a:t>2. </a:t>
            </a:r>
            <a:r>
              <a:rPr kumimoji="0" lang="zh-CN" altLang="en-US" sz="28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在零初始条件下，当系统输入信号为原来输入信号时间的积分时，系统的输出则为原来输出对时间的积分，积分常数由零初始条件决定。</a:t>
            </a:r>
          </a:p>
        </p:txBody>
      </p:sp>
      <p:graphicFrame>
        <p:nvGraphicFramePr>
          <p:cNvPr id="1433608" name="对象 1433607"/>
          <p:cNvGraphicFramePr/>
          <p:nvPr>
            <p:extLst>
              <p:ext uri="{D42A27DB-BD31-4B8C-83A1-F6EECF244321}">
                <p14:modId xmlns:p14="http://schemas.microsoft.com/office/powerpoint/2010/main" val="3758661687"/>
              </p:ext>
            </p:extLst>
          </p:nvPr>
        </p:nvGraphicFramePr>
        <p:xfrm>
          <a:off x="1743869" y="5066507"/>
          <a:ext cx="6650038" cy="914400"/>
        </p:xfrm>
        <a:graphic>
          <a:graphicData uri="http://schemas.openxmlformats.org/presentationml/2006/ole">
            <mc:AlternateContent xmlns:mc="http://schemas.openxmlformats.org/markup-compatibility/2006">
              <mc:Choice xmlns:v="urn:schemas-microsoft-com:vml" Requires="v">
                <p:oleObj spid="_x0000_s17455" r:id="rId11" imgW="2956560" imgH="405765" progId="Equation.3">
                  <p:embed/>
                </p:oleObj>
              </mc:Choice>
              <mc:Fallback>
                <p:oleObj r:id="rId11" imgW="2956560" imgH="405765" progId="Equation.3">
                  <p:embed/>
                  <p:pic>
                    <p:nvPicPr>
                      <p:cNvPr id="0" name="图片 3098"/>
                      <p:cNvPicPr/>
                      <p:nvPr/>
                    </p:nvPicPr>
                    <p:blipFill>
                      <a:blip r:embed="rId12"/>
                      <a:stretch>
                        <a:fillRect/>
                      </a:stretch>
                    </p:blipFill>
                    <p:spPr>
                      <a:xfrm>
                        <a:off x="1743869" y="5066507"/>
                        <a:ext cx="6650038" cy="914400"/>
                      </a:xfrm>
                      <a:prstGeom prst="rect">
                        <a:avLst/>
                      </a:prstGeom>
                      <a:noFill/>
                      <a:ln w="38100">
                        <a:noFill/>
                        <a:miter/>
                      </a:ln>
                    </p:spPr>
                  </p:pic>
                </p:oleObj>
              </mc:Fallback>
            </mc:AlternateContent>
          </a:graphicData>
        </a:graphic>
      </p:graphicFrame>
      <p:graphicFrame>
        <p:nvGraphicFramePr>
          <p:cNvPr id="1433609" name="对象 1433608"/>
          <p:cNvGraphicFramePr/>
          <p:nvPr>
            <p:extLst>
              <p:ext uri="{D42A27DB-BD31-4B8C-83A1-F6EECF244321}">
                <p14:modId xmlns:p14="http://schemas.microsoft.com/office/powerpoint/2010/main" val="642448212"/>
              </p:ext>
            </p:extLst>
          </p:nvPr>
        </p:nvGraphicFramePr>
        <p:xfrm>
          <a:off x="3942556" y="5877272"/>
          <a:ext cx="2252663" cy="657225"/>
        </p:xfrm>
        <a:graphic>
          <a:graphicData uri="http://schemas.openxmlformats.org/presentationml/2006/ole">
            <mc:AlternateContent xmlns:mc="http://schemas.openxmlformats.org/markup-compatibility/2006">
              <mc:Choice xmlns:v="urn:schemas-microsoft-com:vml" Requires="v">
                <p:oleObj spid="_x0000_s17456" r:id="rId13" imgW="1002665" imgH="292100" progId="Equation.3">
                  <p:embed/>
                </p:oleObj>
              </mc:Choice>
              <mc:Fallback>
                <p:oleObj r:id="rId13" imgW="1002665" imgH="292100" progId="Equation.3">
                  <p:embed/>
                  <p:pic>
                    <p:nvPicPr>
                      <p:cNvPr id="0" name="图片 3099"/>
                      <p:cNvPicPr/>
                      <p:nvPr/>
                    </p:nvPicPr>
                    <p:blipFill>
                      <a:blip r:embed="rId14"/>
                      <a:stretch>
                        <a:fillRect/>
                      </a:stretch>
                    </p:blipFill>
                    <p:spPr>
                      <a:xfrm>
                        <a:off x="3942556" y="5877272"/>
                        <a:ext cx="2252663" cy="657225"/>
                      </a:xfrm>
                      <a:prstGeom prst="rect">
                        <a:avLst/>
                      </a:prstGeom>
                      <a:noFill/>
                      <a:ln w="38100">
                        <a:noFill/>
                        <a:miter/>
                      </a:ln>
                    </p:spPr>
                  </p:pic>
                </p:oleObj>
              </mc:Fallback>
            </mc:AlternateContent>
          </a:graphicData>
        </a:graphic>
      </p:graphicFrame>
      <p:sp>
        <p:nvSpPr>
          <p:cNvPr id="1433610" name="文本框 1433609"/>
          <p:cNvSpPr txBox="1"/>
          <p:nvPr/>
        </p:nvSpPr>
        <p:spPr>
          <a:xfrm>
            <a:off x="251520" y="559772"/>
            <a:ext cx="9144000" cy="1117600"/>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en-US" altLang="zh-CN" sz="24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2800" kern="1200" cap="none" spc="0" normalizeH="0" baseline="0" noProof="1">
                <a:solidFill>
                  <a:schemeClr val="tx1"/>
                </a:solidFill>
                <a:latin typeface="Arial" panose="020B0604020202020204" pitchFamily="34" charset="0"/>
                <a:ea typeface="宋体" panose="02010600030101010101" pitchFamily="2" charset="-122"/>
                <a:cs typeface="+mn-cs"/>
              </a:rPr>
              <a:t>1.</a:t>
            </a:r>
            <a:r>
              <a:rPr kumimoji="0" lang="zh-CN" altLang="en-US" sz="28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当系统输入信号为原来输入信号的导数时，这时系统的输出则为原来输出的导数</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a:t>
            </a:r>
          </a:p>
        </p:txBody>
      </p:sp>
      <p:sp>
        <p:nvSpPr>
          <p:cNvPr id="12" name="文本框 11">
            <a:extLst>
              <a:ext uri="{FF2B5EF4-FFF2-40B4-BE49-F238E27FC236}">
                <a16:creationId xmlns:a16="http://schemas.microsoft.com/office/drawing/2014/main" id="{F1412A08-6575-48DC-A135-B2BBE4D37686}"/>
              </a:ext>
            </a:extLst>
          </p:cNvPr>
          <p:cNvSpPr txBox="1"/>
          <p:nvPr/>
        </p:nvSpPr>
        <p:spPr>
          <a:xfrm>
            <a:off x="1115616" y="-61912"/>
            <a:ext cx="5880974" cy="646331"/>
          </a:xfrm>
          <a:prstGeom prst="rect">
            <a:avLst/>
          </a:prstGeom>
          <a:noFill/>
        </p:spPr>
        <p:txBody>
          <a:bodyPr wrap="square">
            <a:spAutoFit/>
          </a:bodyPr>
          <a:lstStyle/>
          <a:p>
            <a:pPr marR="0" defTabSz="914400">
              <a:spcBef>
                <a:spcPct val="0"/>
              </a:spcBef>
              <a:buClrTx/>
              <a:buSzTx/>
              <a:buFontTx/>
              <a:buNone/>
              <a:defRPr/>
            </a:pPr>
            <a:r>
              <a:rPr kumimoji="0" lang="zh-CN" altLang="en-US" sz="36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线性定常系统的重要性质</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610">
                                            <p:txEl>
                                              <p:pRg st="0" end="0"/>
                                            </p:txEl>
                                          </p:spTgt>
                                        </p:tgtEl>
                                        <p:attrNameLst>
                                          <p:attrName>style.visibility</p:attrName>
                                        </p:attrNameLst>
                                      </p:cBhvr>
                                      <p:to>
                                        <p:strVal val="visible"/>
                                      </p:to>
                                    </p:set>
                                    <p:animEffect transition="in" filter="blinds(horizontal)">
                                      <p:cBhvr>
                                        <p:cTn id="7" dur="500"/>
                                        <p:tgtEl>
                                          <p:spTgt spid="14336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3603"/>
                                        </p:tgtEl>
                                        <p:attrNameLst>
                                          <p:attrName>style.visibility</p:attrName>
                                        </p:attrNameLst>
                                      </p:cBhvr>
                                      <p:to>
                                        <p:strVal val="visible"/>
                                      </p:to>
                                    </p:set>
                                    <p:animEffect transition="in" filter="dissolve">
                                      <p:cBhvr>
                                        <p:cTn id="12" dur="500"/>
                                        <p:tgtEl>
                                          <p:spTgt spid="143360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33604"/>
                                        </p:tgtEl>
                                        <p:attrNameLst>
                                          <p:attrName>style.visibility</p:attrName>
                                        </p:attrNameLst>
                                      </p:cBhvr>
                                      <p:to>
                                        <p:strVal val="visible"/>
                                      </p:to>
                                    </p:set>
                                    <p:animEffect transition="in" filter="dissolve">
                                      <p:cBhvr>
                                        <p:cTn id="17" dur="500"/>
                                        <p:tgtEl>
                                          <p:spTgt spid="143360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33605"/>
                                        </p:tgtEl>
                                        <p:attrNameLst>
                                          <p:attrName>style.visibility</p:attrName>
                                        </p:attrNameLst>
                                      </p:cBhvr>
                                      <p:to>
                                        <p:strVal val="visible"/>
                                      </p:to>
                                    </p:set>
                                    <p:animEffect transition="in" filter="dissolve">
                                      <p:cBhvr>
                                        <p:cTn id="22" dur="500"/>
                                        <p:tgtEl>
                                          <p:spTgt spid="1433605"/>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433606"/>
                                        </p:tgtEl>
                                        <p:attrNameLst>
                                          <p:attrName>style.visibility</p:attrName>
                                        </p:attrNameLst>
                                      </p:cBhvr>
                                      <p:to>
                                        <p:strVal val="visible"/>
                                      </p:to>
                                    </p:set>
                                    <p:animEffect transition="in" filter="dissolve">
                                      <p:cBhvr>
                                        <p:cTn id="26" dur="500"/>
                                        <p:tgtEl>
                                          <p:spTgt spid="143360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33607">
                                            <p:txEl>
                                              <p:pRg st="0" end="0"/>
                                            </p:txEl>
                                          </p:spTgt>
                                        </p:tgtEl>
                                        <p:attrNameLst>
                                          <p:attrName>style.visibility</p:attrName>
                                        </p:attrNameLst>
                                      </p:cBhvr>
                                      <p:to>
                                        <p:strVal val="visible"/>
                                      </p:to>
                                    </p:set>
                                    <p:animEffect transition="in" filter="blinds(horizontal)">
                                      <p:cBhvr>
                                        <p:cTn id="31" dur="500"/>
                                        <p:tgtEl>
                                          <p:spTgt spid="143360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33608"/>
                                        </p:tgtEl>
                                        <p:attrNameLst>
                                          <p:attrName>style.visibility</p:attrName>
                                        </p:attrNameLst>
                                      </p:cBhvr>
                                      <p:to>
                                        <p:strVal val="visible"/>
                                      </p:to>
                                    </p:set>
                                    <p:animEffect transition="in" filter="dissolve">
                                      <p:cBhvr>
                                        <p:cTn id="36" dur="500"/>
                                        <p:tgtEl>
                                          <p:spTgt spid="143360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433609"/>
                                        </p:tgtEl>
                                        <p:attrNameLst>
                                          <p:attrName>style.visibility</p:attrName>
                                        </p:attrNameLst>
                                      </p:cBhvr>
                                      <p:to>
                                        <p:strVal val="visible"/>
                                      </p:to>
                                    </p:set>
                                    <p:animEffect transition="in" filter="dissolve">
                                      <p:cBhvr>
                                        <p:cTn id="41" dur="500"/>
                                        <p:tgtEl>
                                          <p:spTgt spid="1433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07" grpId="0" build="p"/>
      <p:bldP spid="14336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5892780-0254-4237-8091-FF47AE781F5E}"/>
              </a:ext>
            </a:extLst>
          </p:cNvPr>
          <p:cNvSpPr txBox="1"/>
          <p:nvPr/>
        </p:nvSpPr>
        <p:spPr>
          <a:xfrm>
            <a:off x="0" y="6093296"/>
            <a:ext cx="9144000" cy="764704"/>
          </a:xfrm>
          <a:prstGeom prst="rect">
            <a:avLst/>
          </a:prstGeom>
          <a:solidFill>
            <a:schemeClr val="bg2"/>
          </a:solidFill>
        </p:spPr>
        <p:txBody>
          <a:bodyPr wrap="square" rtlCol="0">
            <a:spAutoFit/>
          </a:bodyPr>
          <a:lstStyle/>
          <a:p>
            <a:endParaRPr lang="zh-CN" altLang="en-US" dirty="0"/>
          </a:p>
        </p:txBody>
      </p:sp>
      <p:sp>
        <p:nvSpPr>
          <p:cNvPr id="1434626" name="文本框 1434625"/>
          <p:cNvSpPr txBox="1"/>
          <p:nvPr/>
        </p:nvSpPr>
        <p:spPr>
          <a:xfrm>
            <a:off x="1835696" y="694398"/>
            <a:ext cx="4551676" cy="1078950"/>
          </a:xfrm>
          <a:prstGeom prst="rect">
            <a:avLst/>
          </a:prstGeom>
          <a:noFill/>
          <a:ln w="9525">
            <a:noFill/>
          </a:ln>
        </p:spPr>
        <p:txBody>
          <a:bodyPr wrap="square">
            <a:spAutoFit/>
          </a:bodyPr>
          <a:lstStyle/>
          <a:p>
            <a:pPr marR="0" defTabSz="914400">
              <a:lnSpc>
                <a:spcPct val="120000"/>
              </a:lnSpc>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3.3.1 </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二阶系统的数学模型</a:t>
            </a:r>
          </a:p>
          <a:p>
            <a:pPr marR="0" defTabSz="914400">
              <a:lnSpc>
                <a:spcPct val="120000"/>
              </a:lnSpc>
              <a:spcBef>
                <a:spcPct val="0"/>
              </a:spcBef>
              <a:buClrTx/>
              <a:buSzTx/>
              <a:buFontTx/>
              <a:buNone/>
              <a:defRPr/>
            </a:pP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  </a:t>
            </a:r>
            <a:endParaRPr kumimoji="0" lang="zh-CN" altLang="en-US" sz="2000" kern="1200" cap="none" spc="0" normalizeH="0" baseline="0" noProof="1">
              <a:solidFill>
                <a:schemeClr val="tx1"/>
              </a:solidFill>
              <a:latin typeface="Arial" panose="020B0604020202020204" pitchFamily="34" charset="0"/>
              <a:ea typeface="宋体" panose="02010600030101010101" pitchFamily="2" charset="-122"/>
              <a:cs typeface="+mn-cs"/>
            </a:endParaRPr>
          </a:p>
        </p:txBody>
      </p:sp>
      <p:sp>
        <p:nvSpPr>
          <p:cNvPr id="1434627" name="文本框 1434626"/>
          <p:cNvSpPr txBox="1"/>
          <p:nvPr/>
        </p:nvSpPr>
        <p:spPr>
          <a:xfrm>
            <a:off x="258763" y="4422775"/>
            <a:ext cx="2800350" cy="519113"/>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闭环传递函数为</a:t>
            </a:r>
          </a:p>
        </p:txBody>
      </p:sp>
      <p:graphicFrame>
        <p:nvGraphicFramePr>
          <p:cNvPr id="1434628" name="对象 1434627"/>
          <p:cNvGraphicFramePr/>
          <p:nvPr>
            <p:extLst>
              <p:ext uri="{D42A27DB-BD31-4B8C-83A1-F6EECF244321}">
                <p14:modId xmlns:p14="http://schemas.microsoft.com/office/powerpoint/2010/main" val="1267020592"/>
              </p:ext>
            </p:extLst>
          </p:nvPr>
        </p:nvGraphicFramePr>
        <p:xfrm>
          <a:off x="2903537" y="3709036"/>
          <a:ext cx="5916612" cy="1971675"/>
        </p:xfrm>
        <a:graphic>
          <a:graphicData uri="http://schemas.openxmlformats.org/presentationml/2006/ole">
            <mc:AlternateContent xmlns:mc="http://schemas.openxmlformats.org/markup-compatibility/2006">
              <mc:Choice xmlns:v="urn:schemas-microsoft-com:vml" Requires="v">
                <p:oleObj spid="_x0000_s18440" r:id="rId3" imgW="2628900" imgH="876300" progId="Equation.3">
                  <p:embed/>
                </p:oleObj>
              </mc:Choice>
              <mc:Fallback>
                <p:oleObj r:id="rId3" imgW="2628900" imgH="876300" progId="Equation.3">
                  <p:embed/>
                  <p:pic>
                    <p:nvPicPr>
                      <p:cNvPr id="0" name="图片 3101"/>
                      <p:cNvPicPr/>
                      <p:nvPr/>
                    </p:nvPicPr>
                    <p:blipFill>
                      <a:blip r:embed="rId4"/>
                      <a:stretch>
                        <a:fillRect/>
                      </a:stretch>
                    </p:blipFill>
                    <p:spPr>
                      <a:xfrm>
                        <a:off x="2903537" y="3709036"/>
                        <a:ext cx="5916612" cy="1971675"/>
                      </a:xfrm>
                      <a:prstGeom prst="rect">
                        <a:avLst/>
                      </a:prstGeom>
                      <a:noFill/>
                      <a:ln w="38100">
                        <a:noFill/>
                        <a:miter/>
                      </a:ln>
                    </p:spPr>
                  </p:pic>
                </p:oleObj>
              </mc:Fallback>
            </mc:AlternateContent>
          </a:graphicData>
        </a:graphic>
      </p:graphicFrame>
      <p:sp>
        <p:nvSpPr>
          <p:cNvPr id="1434629" name="文本框 1434628"/>
          <p:cNvSpPr txBox="1"/>
          <p:nvPr/>
        </p:nvSpPr>
        <p:spPr>
          <a:xfrm>
            <a:off x="0" y="5776913"/>
            <a:ext cx="9324975" cy="965200"/>
          </a:xfrm>
          <a:prstGeom prst="rect">
            <a:avLst/>
          </a:prstGeom>
          <a:noFill/>
          <a:ln w="9525">
            <a:noFill/>
          </a:ln>
        </p:spPr>
        <p:txBody>
          <a:bodyPr>
            <a:spAutoFit/>
          </a:bodyPr>
          <a:lstStyle/>
          <a:p>
            <a:pPr>
              <a:lnSpc>
                <a:spcPct val="110000"/>
              </a:lnSpc>
              <a:spcBef>
                <a:spcPct val="0"/>
              </a:spcBef>
            </a:pPr>
            <a:r>
              <a:rPr lang="en-US" altLang="zh-CN" sz="2400" b="0" dirty="0">
                <a:solidFill>
                  <a:schemeClr val="tx1"/>
                </a:solidFill>
                <a:latin typeface="Arial" panose="020B0604020202020204" pitchFamily="34" charset="0"/>
              </a:rPr>
              <a:t>   </a:t>
            </a:r>
            <a:r>
              <a:rPr lang="zh-CN" altLang="en-US" sz="2600" dirty="0">
                <a:solidFill>
                  <a:schemeClr val="tx2"/>
                </a:solidFill>
                <a:latin typeface="华文新魏" panose="02010800040101010101" pitchFamily="2" charset="-122"/>
                <a:ea typeface="华文新魏" panose="02010800040101010101" pitchFamily="2" charset="-122"/>
              </a:rPr>
              <a:t>二阶系统有两个结构参数</a:t>
            </a:r>
            <a:r>
              <a:rPr lang="en-US" altLang="zh-CN" sz="2600" i="1" dirty="0">
                <a:solidFill>
                  <a:schemeClr val="tx2"/>
                </a:solidFill>
                <a:latin typeface="华文新魏" panose="02010800040101010101" pitchFamily="2" charset="-122"/>
                <a:ea typeface="华文新魏" panose="02010800040101010101" pitchFamily="2" charset="-122"/>
              </a:rPr>
              <a:t>ξ </a:t>
            </a:r>
            <a:r>
              <a:rPr lang="en-US" altLang="zh-CN" sz="2600"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a:t>
            </a:r>
            <a:r>
              <a:rPr lang="zh-CN" altLang="en-US" sz="2600" dirty="0">
                <a:solidFill>
                  <a:srgbClr val="FF0000"/>
                </a:solidFill>
                <a:latin typeface="华文新魏" panose="02010800040101010101" pitchFamily="2" charset="-122"/>
                <a:ea typeface="华文新魏" panose="02010800040101010101" pitchFamily="2" charset="-122"/>
                <a:sym typeface="Symbol" panose="05050102010706020507" pitchFamily="18" charset="2"/>
              </a:rPr>
              <a:t>阻尼比</a:t>
            </a:r>
            <a:r>
              <a:rPr lang="en-US" altLang="zh-CN" sz="2600"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a:t>
            </a:r>
            <a:r>
              <a:rPr lang="zh-CN" altLang="en-US" sz="2600" dirty="0">
                <a:solidFill>
                  <a:schemeClr val="tx2"/>
                </a:solidFill>
                <a:latin typeface="华文新魏" panose="02010800040101010101" pitchFamily="2" charset="-122"/>
                <a:ea typeface="华文新魏" panose="02010800040101010101" pitchFamily="2" charset="-122"/>
              </a:rPr>
              <a:t>和</a:t>
            </a:r>
            <a:r>
              <a:rPr lang="en-US" altLang="zh-CN" sz="2600" i="1"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2600" i="1" baseline="-25000"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n</a:t>
            </a:r>
            <a:r>
              <a:rPr lang="en-US" altLang="zh-CN" sz="2600"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a:t>
            </a:r>
            <a:r>
              <a:rPr lang="zh-CN" altLang="en-US" sz="2600" dirty="0">
                <a:solidFill>
                  <a:srgbClr val="FF0000"/>
                </a:solidFill>
                <a:latin typeface="华文新魏" panose="02010800040101010101" pitchFamily="2" charset="-122"/>
                <a:ea typeface="华文新魏" panose="02010800040101010101" pitchFamily="2" charset="-122"/>
                <a:sym typeface="Symbol" panose="05050102010706020507" pitchFamily="18" charset="2"/>
              </a:rPr>
              <a:t>无阻尼振荡频率</a:t>
            </a:r>
            <a:r>
              <a:rPr lang="en-US" altLang="zh-CN" sz="2600"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2600" i="1" dirty="0">
                <a:solidFill>
                  <a:schemeClr val="tx2"/>
                </a:solidFill>
                <a:latin typeface="华文新魏" panose="02010800040101010101" pitchFamily="2" charset="-122"/>
                <a:ea typeface="华文新魏" panose="02010800040101010101" pitchFamily="2" charset="-122"/>
                <a:sym typeface="Symbol" panose="05050102010706020507" pitchFamily="18" charset="2"/>
              </a:rPr>
              <a:t> </a:t>
            </a:r>
            <a:r>
              <a:rPr lang="zh-CN" altLang="en-US" sz="2600" dirty="0">
                <a:solidFill>
                  <a:schemeClr val="tx2"/>
                </a:solidFill>
                <a:latin typeface="华文新魏" panose="02010800040101010101" pitchFamily="2" charset="-122"/>
                <a:ea typeface="华文新魏" panose="02010800040101010101" pitchFamily="2" charset="-122"/>
              </a:rPr>
              <a:t>。二阶系统的性能分析和描述，都是用这两个参数表示的。</a:t>
            </a:r>
          </a:p>
        </p:txBody>
      </p:sp>
      <p:sp>
        <p:nvSpPr>
          <p:cNvPr id="1434630" name="标题 1434629"/>
          <p:cNvSpPr txBox="1">
            <a:spLocks noGrp="1"/>
          </p:cNvSpPr>
          <p:nvPr>
            <p:ph type="title" idx="4294967295"/>
          </p:nvPr>
        </p:nvSpPr>
        <p:spPr>
          <a:xfrm>
            <a:off x="1043608" y="38533"/>
            <a:ext cx="4777169" cy="728161"/>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200" b="1" i="0" u="none" strike="noStrike" kern="1200" cap="none" spc="0" normalizeH="0" baseline="0" noProof="1">
                <a:ln>
                  <a:noFill/>
                </a:ln>
                <a:solidFill>
                  <a:srgbClr val="FF0000"/>
                </a:solidFill>
                <a:effectLst>
                  <a:outerShdw blurRad="38100" dist="38100" dir="2700000">
                    <a:srgbClr val="C0C0C0"/>
                  </a:outerShdw>
                </a:effectLst>
                <a:uLnTx/>
                <a:uFillTx/>
                <a:latin typeface="+mj-lt"/>
                <a:ea typeface="+mj-ea"/>
                <a:cs typeface="+mj-cs"/>
              </a:rPr>
              <a:t>3.3  </a:t>
            </a:r>
            <a:r>
              <a:rPr kumimoji="0" lang="zh-CN" altLang="en-US" sz="3200" b="1" i="0" u="none" strike="noStrike" kern="1200" cap="none" spc="0" normalizeH="0" baseline="0" noProof="1">
                <a:ln>
                  <a:noFill/>
                </a:ln>
                <a:solidFill>
                  <a:srgbClr val="FF0000"/>
                </a:solidFill>
                <a:effectLst>
                  <a:outerShdw blurRad="38100" dist="38100" dir="2700000">
                    <a:srgbClr val="C0C0C0"/>
                  </a:outerShdw>
                </a:effectLst>
                <a:uLnTx/>
                <a:uFillTx/>
                <a:latin typeface="+mj-lt"/>
                <a:ea typeface="+mj-ea"/>
                <a:cs typeface="+mj-cs"/>
              </a:rPr>
              <a:t>二阶系统的时域分析</a:t>
            </a:r>
          </a:p>
        </p:txBody>
      </p:sp>
      <p:grpSp>
        <p:nvGrpSpPr>
          <p:cNvPr id="1434631" name="组合 1434630"/>
          <p:cNvGrpSpPr/>
          <p:nvPr/>
        </p:nvGrpSpPr>
        <p:grpSpPr>
          <a:xfrm>
            <a:off x="1182688" y="1844675"/>
            <a:ext cx="6269037" cy="1800225"/>
            <a:chOff x="445" y="1047"/>
            <a:chExt cx="3534" cy="1212"/>
          </a:xfrm>
        </p:grpSpPr>
        <p:sp>
          <p:nvSpPr>
            <p:cNvPr id="29706" name="流程图: 过程 1434631"/>
            <p:cNvSpPr/>
            <p:nvPr/>
          </p:nvSpPr>
          <p:spPr>
            <a:xfrm>
              <a:off x="1997" y="1047"/>
              <a:ext cx="1230" cy="794"/>
            </a:xfrm>
            <a:prstGeom prst="flowChartProcess">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29707" name="直接连接符 1434632"/>
            <p:cNvSpPr/>
            <p:nvPr/>
          </p:nvSpPr>
          <p:spPr>
            <a:xfrm>
              <a:off x="2086" y="1436"/>
              <a:ext cx="1052" cy="0"/>
            </a:xfrm>
            <a:prstGeom prst="line">
              <a:avLst/>
            </a:prstGeom>
            <a:ln w="38100" cap="sq" cmpd="sng">
              <a:solidFill>
                <a:schemeClr val="tx1"/>
              </a:solidFill>
              <a:prstDash val="solid"/>
              <a:headEnd type="none" w="med" len="med"/>
              <a:tailEnd type="none" w="med" len="med"/>
            </a:ln>
          </p:spPr>
        </p:sp>
        <p:sp>
          <p:nvSpPr>
            <p:cNvPr id="29708" name="矩形 1434633"/>
            <p:cNvSpPr/>
            <p:nvPr/>
          </p:nvSpPr>
          <p:spPr>
            <a:xfrm>
              <a:off x="2173" y="1444"/>
              <a:ext cx="959" cy="349"/>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2</a:t>
              </a:r>
              <a:r>
                <a:rPr lang="en-US" altLang="zh-CN" sz="2800" i="1" dirty="0">
                  <a:solidFill>
                    <a:schemeClr val="tx1"/>
                  </a:solidFill>
                  <a:latin typeface="Times New Roman" panose="02020603050405020304" pitchFamily="18" charset="0"/>
                </a:rPr>
                <a:t>ξ</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25000" dirty="0">
                  <a:solidFill>
                    <a:schemeClr val="tx1"/>
                  </a:solidFill>
                  <a:latin typeface="Times New Roman" panose="02020603050405020304" pitchFamily="18" charset="0"/>
                  <a:sym typeface="Symbol" panose="05050102010706020507" pitchFamily="18" charset="2"/>
                </a:rPr>
                <a:t>n</a:t>
              </a:r>
              <a:r>
                <a:rPr lang="en-US" altLang="zh-CN" sz="2800" dirty="0">
                  <a:solidFill>
                    <a:schemeClr val="tx1"/>
                  </a:solidFill>
                  <a:latin typeface="Times New Roman" panose="02020603050405020304" pitchFamily="18" charset="0"/>
                </a:rPr>
                <a:t>)</a:t>
              </a:r>
            </a:p>
          </p:txBody>
        </p:sp>
        <p:sp>
          <p:nvSpPr>
            <p:cNvPr id="29709" name="直接连接符 1434634"/>
            <p:cNvSpPr/>
            <p:nvPr/>
          </p:nvSpPr>
          <p:spPr>
            <a:xfrm>
              <a:off x="1468" y="1422"/>
              <a:ext cx="529" cy="0"/>
            </a:xfrm>
            <a:prstGeom prst="line">
              <a:avLst/>
            </a:prstGeom>
            <a:ln w="57150" cap="sq" cmpd="sng">
              <a:solidFill>
                <a:schemeClr val="tx1"/>
              </a:solidFill>
              <a:prstDash val="solid"/>
              <a:headEnd type="none" w="med" len="med"/>
              <a:tailEnd type="triangle" w="med" len="med"/>
            </a:ln>
          </p:spPr>
        </p:sp>
        <p:sp>
          <p:nvSpPr>
            <p:cNvPr id="29710" name="直接连接符 1434635"/>
            <p:cNvSpPr/>
            <p:nvPr/>
          </p:nvSpPr>
          <p:spPr>
            <a:xfrm>
              <a:off x="449" y="1422"/>
              <a:ext cx="529" cy="0"/>
            </a:xfrm>
            <a:prstGeom prst="line">
              <a:avLst/>
            </a:prstGeom>
            <a:ln w="57150" cap="sq" cmpd="sng">
              <a:solidFill>
                <a:schemeClr val="tx1"/>
              </a:solidFill>
              <a:prstDash val="solid"/>
              <a:headEnd type="none" w="med" len="med"/>
              <a:tailEnd type="triangle" w="med" len="med"/>
            </a:ln>
          </p:spPr>
        </p:sp>
        <p:sp>
          <p:nvSpPr>
            <p:cNvPr id="29711" name="直接连接符 1434636"/>
            <p:cNvSpPr/>
            <p:nvPr/>
          </p:nvSpPr>
          <p:spPr>
            <a:xfrm>
              <a:off x="3258" y="1422"/>
              <a:ext cx="721" cy="0"/>
            </a:xfrm>
            <a:prstGeom prst="line">
              <a:avLst/>
            </a:prstGeom>
            <a:ln w="57150" cap="sq" cmpd="sng">
              <a:solidFill>
                <a:schemeClr val="tx1"/>
              </a:solidFill>
              <a:prstDash val="solid"/>
              <a:headEnd type="none" w="med" len="med"/>
              <a:tailEnd type="triangle" w="med" len="med"/>
            </a:ln>
          </p:spPr>
        </p:sp>
        <p:sp>
          <p:nvSpPr>
            <p:cNvPr id="29712" name="直接连接符 1434637"/>
            <p:cNvSpPr/>
            <p:nvPr/>
          </p:nvSpPr>
          <p:spPr>
            <a:xfrm>
              <a:off x="3627" y="1418"/>
              <a:ext cx="0" cy="825"/>
            </a:xfrm>
            <a:prstGeom prst="line">
              <a:avLst/>
            </a:prstGeom>
            <a:ln w="57150" cap="sq" cmpd="sng">
              <a:solidFill>
                <a:schemeClr val="tx1"/>
              </a:solidFill>
              <a:prstDash val="solid"/>
              <a:headEnd type="none" w="med" len="med"/>
              <a:tailEnd type="none" w="med" len="med"/>
            </a:ln>
          </p:spPr>
        </p:sp>
        <p:sp>
          <p:nvSpPr>
            <p:cNvPr id="29713" name="直接连接符 1434638"/>
            <p:cNvSpPr/>
            <p:nvPr/>
          </p:nvSpPr>
          <p:spPr>
            <a:xfrm>
              <a:off x="1252" y="2259"/>
              <a:ext cx="2376" cy="0"/>
            </a:xfrm>
            <a:prstGeom prst="line">
              <a:avLst/>
            </a:prstGeom>
            <a:ln w="57150" cap="sq" cmpd="sng">
              <a:solidFill>
                <a:schemeClr val="tx1"/>
              </a:solidFill>
              <a:prstDash val="solid"/>
              <a:headEnd type="none" w="med" len="med"/>
              <a:tailEnd type="none" w="med" len="med"/>
            </a:ln>
          </p:spPr>
        </p:sp>
        <p:sp>
          <p:nvSpPr>
            <p:cNvPr id="29714" name="直接连接符 1434639"/>
            <p:cNvSpPr/>
            <p:nvPr/>
          </p:nvSpPr>
          <p:spPr>
            <a:xfrm>
              <a:off x="1228" y="1635"/>
              <a:ext cx="0" cy="624"/>
            </a:xfrm>
            <a:prstGeom prst="line">
              <a:avLst/>
            </a:prstGeom>
            <a:ln w="57150" cap="sq" cmpd="sng">
              <a:solidFill>
                <a:schemeClr val="tx1"/>
              </a:solidFill>
              <a:prstDash val="solid"/>
              <a:headEnd type="triangle" w="med" len="med"/>
              <a:tailEnd type="none" w="med" len="med"/>
            </a:ln>
          </p:spPr>
        </p:sp>
        <p:sp>
          <p:nvSpPr>
            <p:cNvPr id="29715" name="文本框 1434640"/>
            <p:cNvSpPr txBox="1"/>
            <p:nvPr/>
          </p:nvSpPr>
          <p:spPr>
            <a:xfrm>
              <a:off x="445" y="1085"/>
              <a:ext cx="413" cy="30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29716" name="文本框 1434641"/>
            <p:cNvSpPr txBox="1"/>
            <p:nvPr/>
          </p:nvSpPr>
          <p:spPr>
            <a:xfrm>
              <a:off x="3379" y="1072"/>
              <a:ext cx="489" cy="307"/>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29717" name="矩形 1434642"/>
            <p:cNvSpPr/>
            <p:nvPr/>
          </p:nvSpPr>
          <p:spPr>
            <a:xfrm>
              <a:off x="2396" y="1077"/>
              <a:ext cx="436" cy="349"/>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25000" dirty="0">
                  <a:solidFill>
                    <a:schemeClr val="tx1"/>
                  </a:solidFill>
                  <a:latin typeface="Times New Roman" panose="02020603050405020304" pitchFamily="18" charset="0"/>
                  <a:sym typeface="Symbol" panose="05050102010706020507" pitchFamily="18" charset="2"/>
                </a:rPr>
                <a:t>n</a:t>
              </a:r>
              <a:r>
                <a:rPr lang="en-US" altLang="zh-CN" sz="2800" baseline="30000" dirty="0">
                  <a:solidFill>
                    <a:schemeClr val="tx1"/>
                  </a:solidFill>
                  <a:latin typeface="Times New Roman" panose="02020603050405020304" pitchFamily="18" charset="0"/>
                </a:rPr>
                <a:t>2</a:t>
              </a:r>
              <a:r>
                <a:rPr lang="en-US" altLang="zh-CN" sz="2800" i="1" dirty="0">
                  <a:solidFill>
                    <a:schemeClr val="tx1"/>
                  </a:solidFill>
                  <a:latin typeface="Times New Roman" panose="02020603050405020304" pitchFamily="18" charset="0"/>
                  <a:sym typeface="Symbol" panose="05050102010706020507" pitchFamily="18" charset="2"/>
                </a:rPr>
                <a:t> </a:t>
              </a:r>
              <a:endParaRPr lang="en-US" altLang="zh-CN" sz="2800" baseline="30000" dirty="0">
                <a:solidFill>
                  <a:schemeClr val="tx1"/>
                </a:solidFill>
                <a:latin typeface="Times New Roman" panose="02020603050405020304" pitchFamily="18" charset="0"/>
                <a:sym typeface="Symbol" panose="05050102010706020507" pitchFamily="18" charset="2"/>
              </a:endParaRPr>
            </a:p>
          </p:txBody>
        </p:sp>
        <p:grpSp>
          <p:nvGrpSpPr>
            <p:cNvPr id="29718" name="组合 1434643"/>
            <p:cNvGrpSpPr/>
            <p:nvPr/>
          </p:nvGrpSpPr>
          <p:grpSpPr>
            <a:xfrm>
              <a:off x="980" y="1174"/>
              <a:ext cx="460" cy="566"/>
              <a:chOff x="720" y="3552"/>
              <a:chExt cx="460" cy="566"/>
            </a:xfrm>
          </p:grpSpPr>
          <p:sp>
            <p:nvSpPr>
              <p:cNvPr id="29719" name="文本框 1434644"/>
              <p:cNvSpPr txBox="1"/>
              <p:nvPr/>
            </p:nvSpPr>
            <p:spPr>
              <a:xfrm>
                <a:off x="768" y="3686"/>
                <a:ext cx="384" cy="432"/>
              </a:xfrm>
              <a:prstGeom prst="rect">
                <a:avLst/>
              </a:prstGeom>
              <a:noFill/>
              <a:ln w="9525">
                <a:noFill/>
              </a:ln>
            </p:spPr>
            <p:txBody>
              <a:bodyPr>
                <a:spAutoFit/>
              </a:bodyPr>
              <a:lstStyle/>
              <a:p>
                <a:r>
                  <a:rPr lang="zh-CN" altLang="en-US" sz="3600" dirty="0">
                    <a:solidFill>
                      <a:schemeClr val="tx1"/>
                    </a:solidFill>
                    <a:latin typeface="Times New Roman" panose="02020603050405020304" pitchFamily="18" charset="0"/>
                  </a:rPr>
                  <a:t>﹣</a:t>
                </a:r>
                <a:endParaRPr lang="zh-CN" altLang="en-US" sz="3600" b="0" dirty="0">
                  <a:solidFill>
                    <a:schemeClr val="tx1"/>
                  </a:solidFill>
                  <a:latin typeface="Times New Roman" panose="02020603050405020304" pitchFamily="18" charset="0"/>
                </a:endParaRPr>
              </a:p>
            </p:txBody>
          </p:sp>
          <p:sp>
            <p:nvSpPr>
              <p:cNvPr id="29720" name="椭圆 1434645"/>
              <p:cNvSpPr/>
              <p:nvPr/>
            </p:nvSpPr>
            <p:spPr>
              <a:xfrm>
                <a:off x="720" y="3552"/>
                <a:ext cx="460" cy="460"/>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9721" name="直接连接符 1434646"/>
              <p:cNvSpPr/>
              <p:nvPr/>
            </p:nvSpPr>
            <p:spPr>
              <a:xfrm flipH="1">
                <a:off x="816" y="3648"/>
                <a:ext cx="288" cy="288"/>
              </a:xfrm>
              <a:prstGeom prst="line">
                <a:avLst/>
              </a:prstGeom>
              <a:ln w="57150" cap="sq" cmpd="sng">
                <a:solidFill>
                  <a:schemeClr val="tx1"/>
                </a:solidFill>
                <a:prstDash val="solid"/>
                <a:headEnd type="none" w="med" len="med"/>
                <a:tailEnd type="none" w="med" len="med"/>
              </a:ln>
            </p:spPr>
          </p:sp>
          <p:sp>
            <p:nvSpPr>
              <p:cNvPr id="29722" name="直接连接符 1434647"/>
              <p:cNvSpPr/>
              <p:nvPr/>
            </p:nvSpPr>
            <p:spPr>
              <a:xfrm>
                <a:off x="816" y="3648"/>
                <a:ext cx="288" cy="288"/>
              </a:xfrm>
              <a:prstGeom prst="line">
                <a:avLst/>
              </a:prstGeom>
              <a:ln w="57150" cap="sq" cmpd="sng">
                <a:solidFill>
                  <a:schemeClr val="tx1"/>
                </a:solidFill>
                <a:prstDash val="solid"/>
                <a:headEnd type="none" w="med" len="med"/>
                <a:tailEnd type="none" w="med" len="med"/>
              </a:ln>
            </p:spPr>
          </p:sp>
          <p:sp>
            <p:nvSpPr>
              <p:cNvPr id="29723" name="文本框 1434648"/>
              <p:cNvSpPr txBox="1"/>
              <p:nvPr/>
            </p:nvSpPr>
            <p:spPr>
              <a:xfrm>
                <a:off x="768" y="3648"/>
                <a:ext cx="144" cy="288"/>
              </a:xfrm>
              <a:prstGeom prst="rect">
                <a:avLst/>
              </a:prstGeom>
              <a:noFill/>
              <a:ln w="9525">
                <a:noFill/>
              </a:ln>
            </p:spPr>
            <p:txBody>
              <a:bodyPr lIns="0" tIns="0" rIns="0" bIns="0">
                <a:spAutoFit/>
              </a:bodyPr>
              <a:lstStyle/>
              <a:p>
                <a:r>
                  <a:rPr lang="en-US" altLang="zh-CN" sz="2800" dirty="0">
                    <a:solidFill>
                      <a:schemeClr val="tx1"/>
                    </a:solidFill>
                    <a:latin typeface="Times New Roman" panose="02020603050405020304" pitchFamily="18" charset="0"/>
                  </a:rPr>
                  <a:t>+</a:t>
                </a:r>
              </a:p>
            </p:txBody>
          </p:sp>
        </p:grpSp>
      </p:grpSp>
      <p:sp>
        <p:nvSpPr>
          <p:cNvPr id="32" name="文本框 31">
            <a:extLst>
              <a:ext uri="{FF2B5EF4-FFF2-40B4-BE49-F238E27FC236}">
                <a16:creationId xmlns:a16="http://schemas.microsoft.com/office/drawing/2014/main" id="{317650C0-65A4-4DBB-BD27-99E965C485BE}"/>
              </a:ext>
            </a:extLst>
          </p:cNvPr>
          <p:cNvSpPr txBox="1"/>
          <p:nvPr/>
        </p:nvSpPr>
        <p:spPr>
          <a:xfrm>
            <a:off x="1" y="1081846"/>
            <a:ext cx="4248024" cy="707886"/>
          </a:xfrm>
          <a:prstGeom prst="rect">
            <a:avLst/>
          </a:prstGeom>
          <a:noFill/>
        </p:spPr>
        <p:txBody>
          <a:bodyPr wrap="square">
            <a:spAutoFit/>
          </a:bodyPr>
          <a:lstStyle/>
          <a:p>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标准化二阶系统的结构图为</a:t>
            </a:r>
            <a:r>
              <a:rPr kumimoji="0" lang="zh-CN" altLang="en-US" sz="40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3200" kern="1200" cap="none" spc="0" normalizeH="0" baseline="0" noProof="1">
                <a:solidFill>
                  <a:schemeClr val="tx1"/>
                </a:solidFill>
                <a:latin typeface="Arial" panose="020B0604020202020204" pitchFamily="34" charset="0"/>
                <a:ea typeface="宋体" panose="02010600030101010101" pitchFamily="2" charset="-122"/>
                <a:cs typeface="+mn-cs"/>
              </a:rPr>
              <a:t>　</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626">
                                            <p:txEl>
                                              <p:pRg st="0" end="0"/>
                                            </p:txEl>
                                          </p:spTgt>
                                        </p:tgtEl>
                                        <p:attrNameLst>
                                          <p:attrName>style.visibility</p:attrName>
                                        </p:attrNameLst>
                                      </p:cBhvr>
                                      <p:to>
                                        <p:strVal val="visible"/>
                                      </p:to>
                                    </p:set>
                                    <p:animEffect transition="in" filter="blinds(horizontal)">
                                      <p:cBhvr>
                                        <p:cTn id="7" dur="500"/>
                                        <p:tgtEl>
                                          <p:spTgt spid="14346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4626">
                                            <p:txEl>
                                              <p:pRg st="1" end="1"/>
                                            </p:txEl>
                                          </p:spTgt>
                                        </p:tgtEl>
                                        <p:attrNameLst>
                                          <p:attrName>style.visibility</p:attrName>
                                        </p:attrNameLst>
                                      </p:cBhvr>
                                      <p:to>
                                        <p:strVal val="visible"/>
                                      </p:to>
                                    </p:set>
                                    <p:animEffect transition="in" filter="blinds(horizontal)">
                                      <p:cBhvr>
                                        <p:cTn id="12" dur="500"/>
                                        <p:tgtEl>
                                          <p:spTgt spid="1434626">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2000"/>
                                  </p:stCondLst>
                                  <p:childTnLst>
                                    <p:set>
                                      <p:cBhvr>
                                        <p:cTn id="15" dur="1" fill="hold">
                                          <p:stCondLst>
                                            <p:cond delay="0"/>
                                          </p:stCondLst>
                                        </p:cTn>
                                        <p:tgtEl>
                                          <p:spTgt spid="1434631"/>
                                        </p:tgtEl>
                                        <p:attrNameLst>
                                          <p:attrName>style.visibility</p:attrName>
                                        </p:attrNameLst>
                                      </p:cBhvr>
                                      <p:to>
                                        <p:strVal val="visible"/>
                                      </p:to>
                                    </p:set>
                                    <p:animEffect transition="in" filter="dissolve">
                                      <p:cBhvr>
                                        <p:cTn id="16" dur="500"/>
                                        <p:tgtEl>
                                          <p:spTgt spid="143463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434627"/>
                                        </p:tgtEl>
                                        <p:attrNameLst>
                                          <p:attrName>style.visibility</p:attrName>
                                        </p:attrNameLst>
                                      </p:cBhvr>
                                      <p:to>
                                        <p:strVal val="visible"/>
                                      </p:to>
                                    </p:set>
                                    <p:animEffect transition="in" filter="dissolve">
                                      <p:cBhvr>
                                        <p:cTn id="21" dur="500"/>
                                        <p:tgtEl>
                                          <p:spTgt spid="143462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434628"/>
                                        </p:tgtEl>
                                        <p:attrNameLst>
                                          <p:attrName>style.visibility</p:attrName>
                                        </p:attrNameLst>
                                      </p:cBhvr>
                                      <p:to>
                                        <p:strVal val="visible"/>
                                      </p:to>
                                    </p:set>
                                    <p:animEffect transition="in" filter="dissolve">
                                      <p:cBhvr>
                                        <p:cTn id="26" dur="500"/>
                                        <p:tgtEl>
                                          <p:spTgt spid="1434628"/>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34629">
                                            <p:txEl>
                                              <p:pRg st="0" end="0"/>
                                            </p:txEl>
                                          </p:spTgt>
                                        </p:tgtEl>
                                        <p:attrNameLst>
                                          <p:attrName>style.visibility</p:attrName>
                                        </p:attrNameLst>
                                      </p:cBhvr>
                                      <p:to>
                                        <p:strVal val="visible"/>
                                      </p:to>
                                    </p:set>
                                    <p:anim calcmode="lin" valueType="num">
                                      <p:cBhvr additive="base">
                                        <p:cTn id="31" dur="500" fill="hold"/>
                                        <p:tgtEl>
                                          <p:spTgt spid="143462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3462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626" grpId="0" build="p"/>
      <p:bldP spid="1434627" grpId="0"/>
      <p:bldP spid="143462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650" name="内容占位符 1435649"/>
          <p:cNvSpPr>
            <a:spLocks noGrp="1"/>
          </p:cNvSpPr>
          <p:nvPr>
            <p:ph idx="4294967295"/>
          </p:nvPr>
        </p:nvSpPr>
        <p:spPr>
          <a:xfrm>
            <a:off x="0" y="1295400"/>
            <a:ext cx="3094038" cy="693738"/>
          </a:xfrm>
        </p:spPr>
        <p:txBody>
          <a:bodyPr vert="horz" wrap="square" lIns="91440" tIns="45720" rIns="91440" bIns="45720" anchor="t" anchorCtr="0"/>
          <a:lstStyle/>
          <a:p>
            <a:pPr eaLnBrk="1" hangingPunct="1">
              <a:lnSpc>
                <a:spcPct val="120000"/>
              </a:lnSpc>
              <a:buFont typeface="Wingdings" panose="05000000000000000000" pitchFamily="2" charset="2"/>
              <a:buNone/>
            </a:pPr>
            <a:r>
              <a:rPr lang="zh-CN" altLang="en-US" sz="2800" b="1" dirty="0"/>
              <a:t>微分方程式为：</a:t>
            </a:r>
          </a:p>
        </p:txBody>
      </p:sp>
      <p:sp>
        <p:nvSpPr>
          <p:cNvPr id="1435651" name="文本框 1435650"/>
          <p:cNvSpPr txBox="1"/>
          <p:nvPr/>
        </p:nvSpPr>
        <p:spPr>
          <a:xfrm>
            <a:off x="0" y="5075238"/>
            <a:ext cx="8907463" cy="946150"/>
          </a:xfrm>
          <a:prstGeom prst="rect">
            <a:avLst/>
          </a:prstGeom>
          <a:noFill/>
          <a:ln w="12700">
            <a:noFill/>
          </a:ln>
        </p:spPr>
        <p:txBody>
          <a:bodyPr>
            <a:spAutoFit/>
          </a:bodyPr>
          <a:lstStyle/>
          <a:p>
            <a:pPr marR="0" defTabSz="914400">
              <a:buClrTx/>
              <a:buSzTx/>
              <a:buFontTx/>
              <a:buNone/>
              <a:defRPr/>
            </a:pPr>
            <a:r>
              <a:rPr kumimoji="0" lang="en-US" altLang="zh-CN" sz="2800" b="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对于不同的二阶系统，阻尼比和无阻尼振荡频率的含义是不同的。</a:t>
            </a:r>
          </a:p>
        </p:txBody>
      </p:sp>
      <p:graphicFrame>
        <p:nvGraphicFramePr>
          <p:cNvPr id="1435652" name="对象 1435651"/>
          <p:cNvGraphicFramePr/>
          <p:nvPr/>
        </p:nvGraphicFramePr>
        <p:xfrm>
          <a:off x="466725" y="2124075"/>
          <a:ext cx="4897438" cy="944563"/>
        </p:xfrm>
        <a:graphic>
          <a:graphicData uri="http://schemas.openxmlformats.org/presentationml/2006/ole">
            <mc:AlternateContent xmlns:mc="http://schemas.openxmlformats.org/markup-compatibility/2006">
              <mc:Choice xmlns:v="urn:schemas-microsoft-com:vml" Requires="v">
                <p:oleObj spid="_x0000_s19492" r:id="rId3" imgW="2171700" imgH="419100" progId="Equation.3">
                  <p:embed/>
                </p:oleObj>
              </mc:Choice>
              <mc:Fallback>
                <p:oleObj r:id="rId3" imgW="2171700" imgH="419100" progId="Equation.3">
                  <p:embed/>
                  <p:pic>
                    <p:nvPicPr>
                      <p:cNvPr id="0" name="图片 3103"/>
                      <p:cNvPicPr/>
                      <p:nvPr/>
                    </p:nvPicPr>
                    <p:blipFill>
                      <a:blip r:embed="rId4"/>
                      <a:stretch>
                        <a:fillRect/>
                      </a:stretch>
                    </p:blipFill>
                    <p:spPr>
                      <a:xfrm>
                        <a:off x="466725" y="2124075"/>
                        <a:ext cx="4897438" cy="944563"/>
                      </a:xfrm>
                      <a:prstGeom prst="rect">
                        <a:avLst/>
                      </a:prstGeom>
                      <a:noFill/>
                      <a:ln w="38100">
                        <a:noFill/>
                        <a:miter/>
                      </a:ln>
                    </p:spPr>
                  </p:pic>
                </p:oleObj>
              </mc:Fallback>
            </mc:AlternateContent>
          </a:graphicData>
        </a:graphic>
      </p:graphicFrame>
      <p:graphicFrame>
        <p:nvGraphicFramePr>
          <p:cNvPr id="1435653" name="对象 1435652"/>
          <p:cNvGraphicFramePr/>
          <p:nvPr>
            <p:extLst>
              <p:ext uri="{D42A27DB-BD31-4B8C-83A1-F6EECF244321}">
                <p14:modId xmlns:p14="http://schemas.microsoft.com/office/powerpoint/2010/main" val="1379964826"/>
              </p:ext>
            </p:extLst>
          </p:nvPr>
        </p:nvGraphicFramePr>
        <p:xfrm>
          <a:off x="231543" y="3063875"/>
          <a:ext cx="7802563" cy="1030287"/>
        </p:xfrm>
        <a:graphic>
          <a:graphicData uri="http://schemas.openxmlformats.org/presentationml/2006/ole">
            <mc:AlternateContent xmlns:mc="http://schemas.openxmlformats.org/markup-compatibility/2006">
              <mc:Choice xmlns:v="urn:schemas-microsoft-com:vml" Requires="v">
                <p:oleObj spid="_x0000_s19493" r:id="rId5" imgW="3492500" imgH="457200" progId="Equation.3">
                  <p:embed/>
                </p:oleObj>
              </mc:Choice>
              <mc:Fallback>
                <p:oleObj r:id="rId5" imgW="3492500" imgH="457200" progId="Equation.3">
                  <p:embed/>
                  <p:pic>
                    <p:nvPicPr>
                      <p:cNvPr id="0" name="图片 3104"/>
                      <p:cNvPicPr/>
                      <p:nvPr/>
                    </p:nvPicPr>
                    <p:blipFill>
                      <a:blip r:embed="rId6"/>
                      <a:stretch>
                        <a:fillRect/>
                      </a:stretch>
                    </p:blipFill>
                    <p:spPr>
                      <a:xfrm>
                        <a:off x="231543" y="3063875"/>
                        <a:ext cx="7802563" cy="1030287"/>
                      </a:xfrm>
                      <a:prstGeom prst="rect">
                        <a:avLst/>
                      </a:prstGeom>
                      <a:noFill/>
                      <a:ln w="38100">
                        <a:noFill/>
                        <a:miter/>
                      </a:ln>
                    </p:spPr>
                  </p:pic>
                </p:oleObj>
              </mc:Fallback>
            </mc:AlternateContent>
          </a:graphicData>
        </a:graphic>
      </p:graphicFrame>
      <p:graphicFrame>
        <p:nvGraphicFramePr>
          <p:cNvPr id="1435654" name="对象 1435653"/>
          <p:cNvGraphicFramePr/>
          <p:nvPr/>
        </p:nvGraphicFramePr>
        <p:xfrm>
          <a:off x="904875" y="4425950"/>
          <a:ext cx="1414463" cy="512763"/>
        </p:xfrm>
        <a:graphic>
          <a:graphicData uri="http://schemas.openxmlformats.org/presentationml/2006/ole">
            <mc:AlternateContent xmlns:mc="http://schemas.openxmlformats.org/markup-compatibility/2006">
              <mc:Choice xmlns:v="urn:schemas-microsoft-com:vml" Requires="v">
                <p:oleObj spid="_x0000_s19494" r:id="rId7" imgW="635000" imgH="228600" progId="Equation.3">
                  <p:embed/>
                </p:oleObj>
              </mc:Choice>
              <mc:Fallback>
                <p:oleObj r:id="rId7" imgW="635000" imgH="228600" progId="Equation.3">
                  <p:embed/>
                  <p:pic>
                    <p:nvPicPr>
                      <p:cNvPr id="0" name="图片 3102"/>
                      <p:cNvPicPr/>
                      <p:nvPr/>
                    </p:nvPicPr>
                    <p:blipFill>
                      <a:blip r:embed="rId8"/>
                      <a:stretch>
                        <a:fillRect/>
                      </a:stretch>
                    </p:blipFill>
                    <p:spPr>
                      <a:xfrm>
                        <a:off x="904875" y="4425950"/>
                        <a:ext cx="1414463" cy="512763"/>
                      </a:xfrm>
                      <a:prstGeom prst="rect">
                        <a:avLst/>
                      </a:prstGeom>
                      <a:noFill/>
                      <a:ln w="38100">
                        <a:noFill/>
                        <a:miter/>
                      </a:ln>
                    </p:spPr>
                  </p:pic>
                </p:oleObj>
              </mc:Fallback>
            </mc:AlternateContent>
          </a:graphicData>
        </a:graphic>
      </p:graphicFrame>
      <p:graphicFrame>
        <p:nvGraphicFramePr>
          <p:cNvPr id="1435655" name="对象 1435654"/>
          <p:cNvGraphicFramePr/>
          <p:nvPr/>
        </p:nvGraphicFramePr>
        <p:xfrm>
          <a:off x="4832350" y="4168775"/>
          <a:ext cx="1554163" cy="995363"/>
        </p:xfrm>
        <a:graphic>
          <a:graphicData uri="http://schemas.openxmlformats.org/presentationml/2006/ole">
            <mc:AlternateContent xmlns:mc="http://schemas.openxmlformats.org/markup-compatibility/2006">
              <mc:Choice xmlns:v="urn:schemas-microsoft-com:vml" Requires="v">
                <p:oleObj spid="_x0000_s19495" r:id="rId9" imgW="698500" imgH="444500" progId="Equation.3">
                  <p:embed/>
                </p:oleObj>
              </mc:Choice>
              <mc:Fallback>
                <p:oleObj r:id="rId9" imgW="698500" imgH="444500" progId="Equation.3">
                  <p:embed/>
                  <p:pic>
                    <p:nvPicPr>
                      <p:cNvPr id="0" name="图片 3105"/>
                      <p:cNvPicPr/>
                      <p:nvPr/>
                    </p:nvPicPr>
                    <p:blipFill>
                      <a:blip r:embed="rId10"/>
                      <a:stretch>
                        <a:fillRect/>
                      </a:stretch>
                    </p:blipFill>
                    <p:spPr>
                      <a:xfrm>
                        <a:off x="4832350" y="4168775"/>
                        <a:ext cx="1554163" cy="995363"/>
                      </a:xfrm>
                      <a:prstGeom prst="rect">
                        <a:avLst/>
                      </a:prstGeom>
                      <a:noFill/>
                      <a:ln w="38100">
                        <a:noFill/>
                        <a:miter/>
                      </a:ln>
                    </p:spPr>
                  </p:pic>
                </p:oleObj>
              </mc:Fallback>
            </mc:AlternateContent>
          </a:graphicData>
        </a:graphic>
      </p:graphicFrame>
      <p:graphicFrame>
        <p:nvGraphicFramePr>
          <p:cNvPr id="1435656" name="对象 1435655"/>
          <p:cNvGraphicFramePr/>
          <p:nvPr/>
        </p:nvGraphicFramePr>
        <p:xfrm>
          <a:off x="2755900" y="4449763"/>
          <a:ext cx="1612900" cy="517525"/>
        </p:xfrm>
        <a:graphic>
          <a:graphicData uri="http://schemas.openxmlformats.org/presentationml/2006/ole">
            <mc:AlternateContent xmlns:mc="http://schemas.openxmlformats.org/markup-compatibility/2006">
              <mc:Choice xmlns:v="urn:schemas-microsoft-com:vml" Requires="v">
                <p:oleObj spid="_x0000_s19496" r:id="rId11" imgW="635000" imgH="228600" progId="Equation.3">
                  <p:embed/>
                </p:oleObj>
              </mc:Choice>
              <mc:Fallback>
                <p:oleObj r:id="rId11" imgW="635000" imgH="228600" progId="Equation.3">
                  <p:embed/>
                  <p:pic>
                    <p:nvPicPr>
                      <p:cNvPr id="0" name="图片 3106"/>
                      <p:cNvPicPr/>
                      <p:nvPr/>
                    </p:nvPicPr>
                    <p:blipFill>
                      <a:blip r:embed="rId12"/>
                      <a:stretch>
                        <a:fillRect/>
                      </a:stretch>
                    </p:blipFill>
                    <p:spPr>
                      <a:xfrm>
                        <a:off x="2755900" y="4449763"/>
                        <a:ext cx="1612900" cy="517525"/>
                      </a:xfrm>
                      <a:prstGeom prst="rect">
                        <a:avLst/>
                      </a:prstGeom>
                      <a:noFill/>
                      <a:ln w="38100">
                        <a:noFill/>
                        <a:miter/>
                      </a:ln>
                    </p:spPr>
                  </p:pic>
                </p:oleObj>
              </mc:Fallback>
            </mc:AlternateContent>
          </a:graphicData>
        </a:graphic>
      </p:graphicFrame>
      <p:sp>
        <p:nvSpPr>
          <p:cNvPr id="1435657" name="矩形 1435656"/>
          <p:cNvSpPr/>
          <p:nvPr/>
        </p:nvSpPr>
        <p:spPr>
          <a:xfrm>
            <a:off x="941388" y="186815"/>
            <a:ext cx="3094038" cy="617537"/>
          </a:xfrm>
          <a:prstGeom prst="rect">
            <a:avLst/>
          </a:prstGeom>
          <a:noFill/>
          <a:ln w="12700">
            <a:noFill/>
          </a:ln>
        </p:spPr>
        <p:txBody>
          <a:bodyPr/>
          <a:lstStyle/>
          <a:p>
            <a:pPr marL="342900" indent="-342900">
              <a:lnSpc>
                <a:spcPct val="120000"/>
              </a:lnSpc>
              <a:spcBef>
                <a:spcPct val="20000"/>
              </a:spcBef>
              <a:buClr>
                <a:schemeClr val="tx2"/>
              </a:buClr>
              <a:buSzPct val="90000"/>
              <a:buFont typeface="Symbol" panose="05050102010706020507" pitchFamily="18" charset="2"/>
            </a:pP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例如</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RLC</a:t>
            </a:r>
            <a:r>
              <a:rPr lang="zh-CN" altLang="en-US" sz="2800" dirty="0">
                <a:solidFill>
                  <a:schemeClr val="tx1"/>
                </a:solidFill>
                <a:latin typeface="Times New Roman" panose="02020603050405020304" pitchFamily="18" charset="0"/>
              </a:rPr>
              <a:t>电路</a:t>
            </a:r>
          </a:p>
        </p:txBody>
      </p:sp>
      <p:grpSp>
        <p:nvGrpSpPr>
          <p:cNvPr id="1435658" name="组合 1435657"/>
          <p:cNvGrpSpPr/>
          <p:nvPr/>
        </p:nvGrpSpPr>
        <p:grpSpPr>
          <a:xfrm>
            <a:off x="4930775" y="268288"/>
            <a:ext cx="4178300" cy="2008187"/>
            <a:chOff x="2804" y="247"/>
            <a:chExt cx="2632" cy="1265"/>
          </a:xfrm>
        </p:grpSpPr>
        <p:sp>
          <p:nvSpPr>
            <p:cNvPr id="30731" name="直接连接符 1435658"/>
            <p:cNvSpPr/>
            <p:nvPr/>
          </p:nvSpPr>
          <p:spPr>
            <a:xfrm>
              <a:off x="3086" y="392"/>
              <a:ext cx="297" cy="1"/>
            </a:xfrm>
            <a:prstGeom prst="line">
              <a:avLst/>
            </a:prstGeom>
            <a:ln w="57150" cap="sq" cmpd="sng">
              <a:solidFill>
                <a:schemeClr val="tx1"/>
              </a:solidFill>
              <a:prstDash val="solid"/>
              <a:headEnd type="none" w="med" len="med"/>
              <a:tailEnd type="none" w="med" len="med"/>
            </a:ln>
          </p:spPr>
        </p:sp>
        <p:sp>
          <p:nvSpPr>
            <p:cNvPr id="30732" name="矩形 1435659"/>
            <p:cNvSpPr/>
            <p:nvPr/>
          </p:nvSpPr>
          <p:spPr>
            <a:xfrm>
              <a:off x="3397" y="305"/>
              <a:ext cx="407" cy="199"/>
            </a:xfrm>
            <a:prstGeom prst="rect">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30733" name="直接连接符 1435660"/>
            <p:cNvSpPr/>
            <p:nvPr/>
          </p:nvSpPr>
          <p:spPr>
            <a:xfrm flipV="1">
              <a:off x="4572" y="402"/>
              <a:ext cx="466" cy="0"/>
            </a:xfrm>
            <a:prstGeom prst="line">
              <a:avLst/>
            </a:prstGeom>
            <a:ln w="57150" cap="sq" cmpd="sng">
              <a:solidFill>
                <a:schemeClr val="tx1"/>
              </a:solidFill>
              <a:prstDash val="solid"/>
              <a:headEnd type="none" w="med" len="med"/>
              <a:tailEnd type="none" w="med" len="med"/>
            </a:ln>
          </p:spPr>
        </p:sp>
        <p:sp>
          <p:nvSpPr>
            <p:cNvPr id="30734" name="直接连接符 1435661"/>
            <p:cNvSpPr/>
            <p:nvPr/>
          </p:nvSpPr>
          <p:spPr>
            <a:xfrm flipV="1">
              <a:off x="3099" y="1445"/>
              <a:ext cx="1939" cy="0"/>
            </a:xfrm>
            <a:prstGeom prst="line">
              <a:avLst/>
            </a:prstGeom>
            <a:ln w="57150" cap="sq" cmpd="sng">
              <a:solidFill>
                <a:schemeClr val="tx1"/>
              </a:solidFill>
              <a:prstDash val="solid"/>
              <a:headEnd type="none" w="med" len="med"/>
              <a:tailEnd type="none" w="med" len="med"/>
            </a:ln>
          </p:spPr>
        </p:sp>
        <p:sp>
          <p:nvSpPr>
            <p:cNvPr id="30735" name="直接连接符 1435662"/>
            <p:cNvSpPr/>
            <p:nvPr/>
          </p:nvSpPr>
          <p:spPr>
            <a:xfrm>
              <a:off x="4623" y="834"/>
              <a:ext cx="334" cy="0"/>
            </a:xfrm>
            <a:prstGeom prst="line">
              <a:avLst/>
            </a:prstGeom>
            <a:ln w="57150" cap="sq" cmpd="sng">
              <a:solidFill>
                <a:schemeClr val="tx1"/>
              </a:solidFill>
              <a:prstDash val="solid"/>
              <a:headEnd type="none" w="med" len="med"/>
              <a:tailEnd type="none" w="med" len="med"/>
            </a:ln>
          </p:spPr>
        </p:sp>
        <p:sp>
          <p:nvSpPr>
            <p:cNvPr id="30736" name="直接连接符 1435663"/>
            <p:cNvSpPr/>
            <p:nvPr/>
          </p:nvSpPr>
          <p:spPr>
            <a:xfrm flipV="1">
              <a:off x="4798" y="982"/>
              <a:ext cx="0" cy="435"/>
            </a:xfrm>
            <a:prstGeom prst="line">
              <a:avLst/>
            </a:prstGeom>
            <a:ln w="57150" cap="sq" cmpd="sng">
              <a:solidFill>
                <a:schemeClr val="tx1"/>
              </a:solidFill>
              <a:prstDash val="solid"/>
              <a:headEnd type="none" w="med" len="med"/>
              <a:tailEnd type="none" w="med" len="med"/>
            </a:ln>
          </p:spPr>
        </p:sp>
        <p:sp>
          <p:nvSpPr>
            <p:cNvPr id="30737" name="直接连接符 1435664"/>
            <p:cNvSpPr/>
            <p:nvPr/>
          </p:nvSpPr>
          <p:spPr>
            <a:xfrm flipV="1">
              <a:off x="4798" y="402"/>
              <a:ext cx="0" cy="387"/>
            </a:xfrm>
            <a:prstGeom prst="line">
              <a:avLst/>
            </a:prstGeom>
            <a:ln w="57150" cap="sq" cmpd="sng">
              <a:solidFill>
                <a:schemeClr val="tx1"/>
              </a:solidFill>
              <a:prstDash val="solid"/>
              <a:headEnd type="none" w="med" len="med"/>
              <a:tailEnd type="none" w="med" len="med"/>
            </a:ln>
          </p:spPr>
        </p:sp>
        <p:sp>
          <p:nvSpPr>
            <p:cNvPr id="30738" name="文本框 1435665"/>
            <p:cNvSpPr txBox="1"/>
            <p:nvPr/>
          </p:nvSpPr>
          <p:spPr>
            <a:xfrm>
              <a:off x="3470" y="441"/>
              <a:ext cx="307"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R</a:t>
              </a:r>
            </a:p>
          </p:txBody>
        </p:sp>
        <p:sp>
          <p:nvSpPr>
            <p:cNvPr id="30739" name="文本框 1435666"/>
            <p:cNvSpPr txBox="1"/>
            <p:nvPr/>
          </p:nvSpPr>
          <p:spPr>
            <a:xfrm>
              <a:off x="4321" y="740"/>
              <a:ext cx="305"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C</a:t>
              </a:r>
            </a:p>
          </p:txBody>
        </p:sp>
        <p:sp>
          <p:nvSpPr>
            <p:cNvPr id="30740" name="文本框 1435667"/>
            <p:cNvSpPr txBox="1"/>
            <p:nvPr/>
          </p:nvSpPr>
          <p:spPr>
            <a:xfrm>
              <a:off x="2804" y="707"/>
              <a:ext cx="413"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p>
          </p:txBody>
        </p:sp>
        <p:sp>
          <p:nvSpPr>
            <p:cNvPr id="30741" name="文本框 1435668"/>
            <p:cNvSpPr txBox="1"/>
            <p:nvPr/>
          </p:nvSpPr>
          <p:spPr>
            <a:xfrm>
              <a:off x="4987" y="705"/>
              <a:ext cx="449"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c</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p>
          </p:txBody>
        </p:sp>
        <p:sp>
          <p:nvSpPr>
            <p:cNvPr id="30742" name="直接连接符 1435669"/>
            <p:cNvSpPr/>
            <p:nvPr/>
          </p:nvSpPr>
          <p:spPr>
            <a:xfrm>
              <a:off x="3811" y="392"/>
              <a:ext cx="204" cy="1"/>
            </a:xfrm>
            <a:prstGeom prst="line">
              <a:avLst/>
            </a:prstGeom>
            <a:ln w="57150" cap="sq" cmpd="sng">
              <a:solidFill>
                <a:schemeClr val="tx1"/>
              </a:solidFill>
              <a:prstDash val="solid"/>
              <a:headEnd type="none" w="med" len="med"/>
              <a:tailEnd type="none" w="med" len="med"/>
            </a:ln>
          </p:spPr>
        </p:sp>
        <p:grpSp>
          <p:nvGrpSpPr>
            <p:cNvPr id="30743" name="组合 1435670"/>
            <p:cNvGrpSpPr/>
            <p:nvPr/>
          </p:nvGrpSpPr>
          <p:grpSpPr>
            <a:xfrm>
              <a:off x="4008" y="247"/>
              <a:ext cx="544" cy="145"/>
              <a:chOff x="1923" y="2969"/>
              <a:chExt cx="1859" cy="313"/>
            </a:xfrm>
          </p:grpSpPr>
          <p:sp>
            <p:nvSpPr>
              <p:cNvPr id="30750" name="任意多边形 1435671"/>
              <p:cNvSpPr/>
              <p:nvPr/>
            </p:nvSpPr>
            <p:spPr>
              <a:xfrm>
                <a:off x="1923" y="2975"/>
                <a:ext cx="618" cy="302"/>
              </a:xfrm>
              <a:custGeom>
                <a:avLst/>
                <a:gdLst/>
                <a:ahLst/>
                <a:cxnLst>
                  <a:cxn ang="0">
                    <a:pos x="0" y="77"/>
                  </a:cxn>
                  <a:cxn ang="0">
                    <a:pos x="17" y="40"/>
                  </a:cxn>
                  <a:cxn ang="0">
                    <a:pos x="56" y="8"/>
                  </a:cxn>
                  <a:cxn ang="0">
                    <a:pos x="107" y="2"/>
                  </a:cxn>
                  <a:cxn ang="0">
                    <a:pos x="165" y="15"/>
                  </a:cxn>
                  <a:cxn ang="0">
                    <a:pos x="196" y="45"/>
                  </a:cxn>
                  <a:cxn ang="0">
                    <a:pos x="204" y="78"/>
                  </a:cxn>
                </a:cxnLst>
                <a:rect l="0" t="0" r="0" b="0"/>
                <a:pathLst>
                  <a:path w="1076" h="595">
                    <a:moveTo>
                      <a:pt x="0" y="585"/>
                    </a:moveTo>
                    <a:cubicBezTo>
                      <a:pt x="19" y="487"/>
                      <a:pt x="38" y="389"/>
                      <a:pt x="87" y="302"/>
                    </a:cubicBezTo>
                    <a:cubicBezTo>
                      <a:pt x="136" y="215"/>
                      <a:pt x="214" y="112"/>
                      <a:pt x="294" y="63"/>
                    </a:cubicBezTo>
                    <a:cubicBezTo>
                      <a:pt x="374" y="14"/>
                      <a:pt x="469" y="0"/>
                      <a:pt x="565" y="9"/>
                    </a:cubicBezTo>
                    <a:cubicBezTo>
                      <a:pt x="661" y="18"/>
                      <a:pt x="792" y="61"/>
                      <a:pt x="870" y="117"/>
                    </a:cubicBezTo>
                    <a:cubicBezTo>
                      <a:pt x="948" y="173"/>
                      <a:pt x="999" y="265"/>
                      <a:pt x="1033" y="345"/>
                    </a:cubicBezTo>
                    <a:cubicBezTo>
                      <a:pt x="1067" y="425"/>
                      <a:pt x="1069" y="553"/>
                      <a:pt x="1076" y="595"/>
                    </a:cubicBezTo>
                  </a:path>
                </a:pathLst>
              </a:custGeom>
              <a:noFill/>
              <a:ln w="57150" cap="sq" cmpd="sng">
                <a:solidFill>
                  <a:schemeClr val="tx1">
                    <a:alpha val="100000"/>
                  </a:schemeClr>
                </a:solidFill>
                <a:prstDash val="solid"/>
                <a:round/>
                <a:headEnd type="none" w="med" len="med"/>
                <a:tailEnd type="none" w="med" len="med"/>
              </a:ln>
            </p:spPr>
            <p:txBody>
              <a:bodyPr/>
              <a:lstStyle/>
              <a:p>
                <a:endParaRPr lang="zh-CN" altLang="en-US"/>
              </a:p>
            </p:txBody>
          </p:sp>
          <p:sp>
            <p:nvSpPr>
              <p:cNvPr id="30751" name="任意多边形 1435672"/>
              <p:cNvSpPr/>
              <p:nvPr/>
            </p:nvSpPr>
            <p:spPr>
              <a:xfrm>
                <a:off x="2547" y="2969"/>
                <a:ext cx="617" cy="302"/>
              </a:xfrm>
              <a:custGeom>
                <a:avLst/>
                <a:gdLst/>
                <a:ahLst/>
                <a:cxnLst>
                  <a:cxn ang="0">
                    <a:pos x="0" y="77"/>
                  </a:cxn>
                  <a:cxn ang="0">
                    <a:pos x="17" y="40"/>
                  </a:cxn>
                  <a:cxn ang="0">
                    <a:pos x="56" y="8"/>
                  </a:cxn>
                  <a:cxn ang="0">
                    <a:pos x="107" y="2"/>
                  </a:cxn>
                  <a:cxn ang="0">
                    <a:pos x="164" y="15"/>
                  </a:cxn>
                  <a:cxn ang="0">
                    <a:pos x="194" y="45"/>
                  </a:cxn>
                  <a:cxn ang="0">
                    <a:pos x="203" y="78"/>
                  </a:cxn>
                </a:cxnLst>
                <a:rect l="0" t="0" r="0" b="0"/>
                <a:pathLst>
                  <a:path w="1076" h="595">
                    <a:moveTo>
                      <a:pt x="0" y="585"/>
                    </a:moveTo>
                    <a:cubicBezTo>
                      <a:pt x="19" y="487"/>
                      <a:pt x="38" y="389"/>
                      <a:pt x="87" y="302"/>
                    </a:cubicBezTo>
                    <a:cubicBezTo>
                      <a:pt x="136" y="215"/>
                      <a:pt x="214" y="112"/>
                      <a:pt x="294" y="63"/>
                    </a:cubicBezTo>
                    <a:cubicBezTo>
                      <a:pt x="374" y="14"/>
                      <a:pt x="469" y="0"/>
                      <a:pt x="565" y="9"/>
                    </a:cubicBezTo>
                    <a:cubicBezTo>
                      <a:pt x="661" y="18"/>
                      <a:pt x="792" y="61"/>
                      <a:pt x="870" y="117"/>
                    </a:cubicBezTo>
                    <a:cubicBezTo>
                      <a:pt x="948" y="173"/>
                      <a:pt x="999" y="265"/>
                      <a:pt x="1033" y="345"/>
                    </a:cubicBezTo>
                    <a:cubicBezTo>
                      <a:pt x="1067" y="425"/>
                      <a:pt x="1069" y="553"/>
                      <a:pt x="1076" y="595"/>
                    </a:cubicBezTo>
                  </a:path>
                </a:pathLst>
              </a:custGeom>
              <a:noFill/>
              <a:ln w="57150" cap="sq" cmpd="sng">
                <a:solidFill>
                  <a:schemeClr val="tx1">
                    <a:alpha val="100000"/>
                  </a:schemeClr>
                </a:solidFill>
                <a:prstDash val="solid"/>
                <a:round/>
                <a:headEnd type="none" w="med" len="med"/>
                <a:tailEnd type="none" w="med" len="med"/>
              </a:ln>
            </p:spPr>
            <p:txBody>
              <a:bodyPr/>
              <a:lstStyle/>
              <a:p>
                <a:endParaRPr lang="zh-CN" altLang="en-US"/>
              </a:p>
            </p:txBody>
          </p:sp>
          <p:sp>
            <p:nvSpPr>
              <p:cNvPr id="30752" name="任意多边形 1435673"/>
              <p:cNvSpPr/>
              <p:nvPr/>
            </p:nvSpPr>
            <p:spPr>
              <a:xfrm>
                <a:off x="3164" y="2980"/>
                <a:ext cx="618" cy="302"/>
              </a:xfrm>
              <a:custGeom>
                <a:avLst/>
                <a:gdLst/>
                <a:ahLst/>
                <a:cxnLst>
                  <a:cxn ang="0">
                    <a:pos x="0" y="77"/>
                  </a:cxn>
                  <a:cxn ang="0">
                    <a:pos x="17" y="40"/>
                  </a:cxn>
                  <a:cxn ang="0">
                    <a:pos x="56" y="8"/>
                  </a:cxn>
                  <a:cxn ang="0">
                    <a:pos x="107" y="2"/>
                  </a:cxn>
                  <a:cxn ang="0">
                    <a:pos x="165" y="15"/>
                  </a:cxn>
                  <a:cxn ang="0">
                    <a:pos x="196" y="45"/>
                  </a:cxn>
                  <a:cxn ang="0">
                    <a:pos x="204" y="78"/>
                  </a:cxn>
                </a:cxnLst>
                <a:rect l="0" t="0" r="0" b="0"/>
                <a:pathLst>
                  <a:path w="1076" h="595">
                    <a:moveTo>
                      <a:pt x="0" y="585"/>
                    </a:moveTo>
                    <a:cubicBezTo>
                      <a:pt x="19" y="487"/>
                      <a:pt x="38" y="389"/>
                      <a:pt x="87" y="302"/>
                    </a:cubicBezTo>
                    <a:cubicBezTo>
                      <a:pt x="136" y="215"/>
                      <a:pt x="214" y="112"/>
                      <a:pt x="294" y="63"/>
                    </a:cubicBezTo>
                    <a:cubicBezTo>
                      <a:pt x="374" y="14"/>
                      <a:pt x="469" y="0"/>
                      <a:pt x="565" y="9"/>
                    </a:cubicBezTo>
                    <a:cubicBezTo>
                      <a:pt x="661" y="18"/>
                      <a:pt x="792" y="61"/>
                      <a:pt x="870" y="117"/>
                    </a:cubicBezTo>
                    <a:cubicBezTo>
                      <a:pt x="948" y="173"/>
                      <a:pt x="999" y="265"/>
                      <a:pt x="1033" y="345"/>
                    </a:cubicBezTo>
                    <a:cubicBezTo>
                      <a:pt x="1067" y="425"/>
                      <a:pt x="1069" y="553"/>
                      <a:pt x="1076" y="595"/>
                    </a:cubicBezTo>
                  </a:path>
                </a:pathLst>
              </a:custGeom>
              <a:noFill/>
              <a:ln w="57150" cap="sq" cmpd="sng">
                <a:solidFill>
                  <a:schemeClr val="tx1">
                    <a:alpha val="100000"/>
                  </a:schemeClr>
                </a:solidFill>
                <a:prstDash val="solid"/>
                <a:round/>
                <a:headEnd type="none" w="med" len="med"/>
                <a:tailEnd type="none" w="med" len="med"/>
              </a:ln>
            </p:spPr>
            <p:txBody>
              <a:bodyPr/>
              <a:lstStyle/>
              <a:p>
                <a:endParaRPr lang="zh-CN" altLang="en-US"/>
              </a:p>
            </p:txBody>
          </p:sp>
        </p:grpSp>
        <p:sp>
          <p:nvSpPr>
            <p:cNvPr id="30744" name="文本框 1435674"/>
            <p:cNvSpPr txBox="1"/>
            <p:nvPr/>
          </p:nvSpPr>
          <p:spPr>
            <a:xfrm>
              <a:off x="4124" y="356"/>
              <a:ext cx="377"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L</a:t>
              </a:r>
            </a:p>
          </p:txBody>
        </p:sp>
        <p:sp>
          <p:nvSpPr>
            <p:cNvPr id="30745" name="椭圆 1435675"/>
            <p:cNvSpPr/>
            <p:nvPr/>
          </p:nvSpPr>
          <p:spPr>
            <a:xfrm>
              <a:off x="5052" y="1380"/>
              <a:ext cx="132" cy="132"/>
            </a:xfrm>
            <a:prstGeom prst="ellipse">
              <a:avLst/>
            </a:prstGeom>
            <a:noFill/>
            <a:ln w="571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30746" name="椭圆 1435676"/>
            <p:cNvSpPr/>
            <p:nvPr/>
          </p:nvSpPr>
          <p:spPr>
            <a:xfrm>
              <a:off x="5052" y="324"/>
              <a:ext cx="132" cy="132"/>
            </a:xfrm>
            <a:prstGeom prst="ellipse">
              <a:avLst/>
            </a:prstGeom>
            <a:noFill/>
            <a:ln w="571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30747" name="椭圆 1435677"/>
            <p:cNvSpPr/>
            <p:nvPr/>
          </p:nvSpPr>
          <p:spPr>
            <a:xfrm>
              <a:off x="2916" y="324"/>
              <a:ext cx="132" cy="132"/>
            </a:xfrm>
            <a:prstGeom prst="ellipse">
              <a:avLst/>
            </a:prstGeom>
            <a:noFill/>
            <a:ln w="571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30748" name="椭圆 1435678"/>
            <p:cNvSpPr/>
            <p:nvPr/>
          </p:nvSpPr>
          <p:spPr>
            <a:xfrm>
              <a:off x="2940" y="1380"/>
              <a:ext cx="132" cy="132"/>
            </a:xfrm>
            <a:prstGeom prst="ellipse">
              <a:avLst/>
            </a:prstGeom>
            <a:noFill/>
            <a:ln w="571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30749" name="直接连接符 1435679"/>
            <p:cNvSpPr/>
            <p:nvPr/>
          </p:nvSpPr>
          <p:spPr>
            <a:xfrm>
              <a:off x="4635" y="978"/>
              <a:ext cx="334" cy="0"/>
            </a:xfrm>
            <a:prstGeom prst="line">
              <a:avLst/>
            </a:prstGeom>
            <a:ln w="57150" cap="sq" cmpd="sng">
              <a:solidFill>
                <a:schemeClr val="tx1"/>
              </a:solidFill>
              <a:prstDash val="solid"/>
              <a:headEnd type="none" w="med" len="med"/>
              <a:tailEnd type="none" w="med" len="med"/>
            </a:ln>
          </p:spPr>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5657">
                                            <p:txEl>
                                              <p:pRg st="0" end="0"/>
                                            </p:txEl>
                                          </p:spTgt>
                                        </p:tgtEl>
                                        <p:attrNameLst>
                                          <p:attrName>style.visibility</p:attrName>
                                        </p:attrNameLst>
                                      </p:cBhvr>
                                      <p:to>
                                        <p:strVal val="visible"/>
                                      </p:to>
                                    </p:set>
                                    <p:anim calcmode="lin" valueType="num">
                                      <p:cBhvr additive="base">
                                        <p:cTn id="7" dur="500" fill="hold"/>
                                        <p:tgtEl>
                                          <p:spTgt spid="14356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565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2000"/>
                                  </p:stCondLst>
                                  <p:childTnLst>
                                    <p:set>
                                      <p:cBhvr>
                                        <p:cTn id="11" dur="1" fill="hold">
                                          <p:stCondLst>
                                            <p:cond delay="0"/>
                                          </p:stCondLst>
                                        </p:cTn>
                                        <p:tgtEl>
                                          <p:spTgt spid="1435658"/>
                                        </p:tgtEl>
                                        <p:attrNameLst>
                                          <p:attrName>style.visibility</p:attrName>
                                        </p:attrNameLst>
                                      </p:cBhvr>
                                      <p:to>
                                        <p:strVal val="visible"/>
                                      </p:to>
                                    </p:set>
                                    <p:animEffect transition="in" filter="dissolve">
                                      <p:cBhvr>
                                        <p:cTn id="12" dur="500"/>
                                        <p:tgtEl>
                                          <p:spTgt spid="143565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35650">
                                            <p:txEl>
                                              <p:pRg st="0" end="0"/>
                                            </p:txEl>
                                          </p:spTgt>
                                        </p:tgtEl>
                                        <p:attrNameLst>
                                          <p:attrName>style.visibility</p:attrName>
                                        </p:attrNameLst>
                                      </p:cBhvr>
                                      <p:to>
                                        <p:strVal val="visible"/>
                                      </p:to>
                                    </p:set>
                                    <p:anim calcmode="lin" valueType="num">
                                      <p:cBhvr additive="base">
                                        <p:cTn id="17" dur="500" fill="hold"/>
                                        <p:tgtEl>
                                          <p:spTgt spid="1435650">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35650">
                                            <p:txEl>
                                              <p:pRg st="0" end="0"/>
                                            </p:txEl>
                                          </p:spTgt>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9" presetClass="entr" presetSubtype="0" fill="hold" nodeType="afterEffect">
                                  <p:stCondLst>
                                    <p:cond delay="2000"/>
                                  </p:stCondLst>
                                  <p:childTnLst>
                                    <p:set>
                                      <p:cBhvr>
                                        <p:cTn id="21" dur="1" fill="hold">
                                          <p:stCondLst>
                                            <p:cond delay="0"/>
                                          </p:stCondLst>
                                        </p:cTn>
                                        <p:tgtEl>
                                          <p:spTgt spid="1435652"/>
                                        </p:tgtEl>
                                        <p:attrNameLst>
                                          <p:attrName>style.visibility</p:attrName>
                                        </p:attrNameLst>
                                      </p:cBhvr>
                                      <p:to>
                                        <p:strVal val="visible"/>
                                      </p:to>
                                    </p:set>
                                    <p:animEffect transition="in" filter="dissolve">
                                      <p:cBhvr>
                                        <p:cTn id="22" dur="500"/>
                                        <p:tgtEl>
                                          <p:spTgt spid="143565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35653"/>
                                        </p:tgtEl>
                                        <p:attrNameLst>
                                          <p:attrName>style.visibility</p:attrName>
                                        </p:attrNameLst>
                                      </p:cBhvr>
                                      <p:to>
                                        <p:strVal val="visible"/>
                                      </p:to>
                                    </p:set>
                                    <p:animEffect transition="in" filter="dissolve">
                                      <p:cBhvr>
                                        <p:cTn id="27" dur="500"/>
                                        <p:tgtEl>
                                          <p:spTgt spid="143565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35654"/>
                                        </p:tgtEl>
                                        <p:attrNameLst>
                                          <p:attrName>style.visibility</p:attrName>
                                        </p:attrNameLst>
                                      </p:cBhvr>
                                      <p:to>
                                        <p:strVal val="visible"/>
                                      </p:to>
                                    </p:set>
                                    <p:animEffect transition="in" filter="dissolve">
                                      <p:cBhvr>
                                        <p:cTn id="32" dur="500"/>
                                        <p:tgtEl>
                                          <p:spTgt spid="1435654"/>
                                        </p:tgtEl>
                                      </p:cBhvr>
                                    </p:animEffect>
                                  </p:childTnLst>
                                </p:cTn>
                              </p:par>
                            </p:childTnLst>
                          </p:cTn>
                        </p:par>
                        <p:par>
                          <p:cTn id="33" fill="hold">
                            <p:stCondLst>
                              <p:cond delay="500"/>
                            </p:stCondLst>
                            <p:childTnLst>
                              <p:par>
                                <p:cTn id="34" presetID="9" presetClass="entr" presetSubtype="0" fill="hold" nodeType="afterEffect">
                                  <p:stCondLst>
                                    <p:cond delay="2000"/>
                                  </p:stCondLst>
                                  <p:childTnLst>
                                    <p:set>
                                      <p:cBhvr>
                                        <p:cTn id="35" dur="1" fill="hold">
                                          <p:stCondLst>
                                            <p:cond delay="0"/>
                                          </p:stCondLst>
                                        </p:cTn>
                                        <p:tgtEl>
                                          <p:spTgt spid="1435656"/>
                                        </p:tgtEl>
                                        <p:attrNameLst>
                                          <p:attrName>style.visibility</p:attrName>
                                        </p:attrNameLst>
                                      </p:cBhvr>
                                      <p:to>
                                        <p:strVal val="visible"/>
                                      </p:to>
                                    </p:set>
                                    <p:animEffect transition="in" filter="dissolve">
                                      <p:cBhvr>
                                        <p:cTn id="36" dur="500"/>
                                        <p:tgtEl>
                                          <p:spTgt spid="1435656"/>
                                        </p:tgtEl>
                                      </p:cBhvr>
                                    </p:animEffect>
                                  </p:childTnLst>
                                </p:cTn>
                              </p:par>
                            </p:childTnLst>
                          </p:cTn>
                        </p:par>
                        <p:par>
                          <p:cTn id="37" fill="hold">
                            <p:stCondLst>
                              <p:cond delay="3000"/>
                            </p:stCondLst>
                            <p:childTnLst>
                              <p:par>
                                <p:cTn id="38" presetID="9" presetClass="entr" presetSubtype="0" fill="hold" nodeType="afterEffect">
                                  <p:stCondLst>
                                    <p:cond delay="2000"/>
                                  </p:stCondLst>
                                  <p:childTnLst>
                                    <p:set>
                                      <p:cBhvr>
                                        <p:cTn id="39" dur="1" fill="hold">
                                          <p:stCondLst>
                                            <p:cond delay="0"/>
                                          </p:stCondLst>
                                        </p:cTn>
                                        <p:tgtEl>
                                          <p:spTgt spid="1435655"/>
                                        </p:tgtEl>
                                        <p:attrNameLst>
                                          <p:attrName>style.visibility</p:attrName>
                                        </p:attrNameLst>
                                      </p:cBhvr>
                                      <p:to>
                                        <p:strVal val="visible"/>
                                      </p:to>
                                    </p:set>
                                    <p:animEffect transition="in" filter="dissolve">
                                      <p:cBhvr>
                                        <p:cTn id="40" dur="500"/>
                                        <p:tgtEl>
                                          <p:spTgt spid="143565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435651">
                                            <p:txEl>
                                              <p:pRg st="0" end="0"/>
                                            </p:txEl>
                                          </p:spTgt>
                                        </p:tgtEl>
                                        <p:attrNameLst>
                                          <p:attrName>style.visibility</p:attrName>
                                        </p:attrNameLst>
                                      </p:cBhvr>
                                      <p:to>
                                        <p:strVal val="visible"/>
                                      </p:to>
                                    </p:set>
                                    <p:animEffect transition="in" filter="dissolve">
                                      <p:cBhvr>
                                        <p:cTn id="45" dur="500"/>
                                        <p:tgtEl>
                                          <p:spTgt spid="1435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650" grpId="0" build="p"/>
      <p:bldP spid="1435651" grpId="0" build="p"/>
      <p:bldP spid="143565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6674" name="组合 1436673"/>
          <p:cNvGrpSpPr/>
          <p:nvPr/>
        </p:nvGrpSpPr>
        <p:grpSpPr>
          <a:xfrm>
            <a:off x="5361433" y="3215034"/>
            <a:ext cx="3675063" cy="2662238"/>
            <a:chOff x="2919" y="2551"/>
            <a:chExt cx="2315" cy="1677"/>
          </a:xfrm>
        </p:grpSpPr>
        <p:sp>
          <p:nvSpPr>
            <p:cNvPr id="31761" name="直接连接符 1436674"/>
            <p:cNvSpPr/>
            <p:nvPr/>
          </p:nvSpPr>
          <p:spPr>
            <a:xfrm flipH="1" flipV="1">
              <a:off x="4549" y="2551"/>
              <a:ext cx="0" cy="1677"/>
            </a:xfrm>
            <a:prstGeom prst="line">
              <a:avLst/>
            </a:prstGeom>
            <a:ln w="57150" cap="sq" cmpd="sng">
              <a:solidFill>
                <a:schemeClr val="tx1"/>
              </a:solidFill>
              <a:prstDash val="solid"/>
              <a:headEnd type="none" w="med" len="med"/>
              <a:tailEnd type="triangle" w="med" len="med"/>
            </a:ln>
          </p:spPr>
        </p:sp>
        <p:sp>
          <p:nvSpPr>
            <p:cNvPr id="31762" name="直接连接符 1436675"/>
            <p:cNvSpPr/>
            <p:nvPr/>
          </p:nvSpPr>
          <p:spPr>
            <a:xfrm>
              <a:off x="2919" y="3647"/>
              <a:ext cx="2107" cy="0"/>
            </a:xfrm>
            <a:prstGeom prst="line">
              <a:avLst/>
            </a:prstGeom>
            <a:ln w="57150" cap="sq" cmpd="sng">
              <a:solidFill>
                <a:schemeClr val="tx1"/>
              </a:solidFill>
              <a:prstDash val="solid"/>
              <a:headEnd type="none" w="med" len="med"/>
              <a:tailEnd type="triangle" w="med" len="med"/>
            </a:ln>
          </p:spPr>
        </p:sp>
        <p:sp>
          <p:nvSpPr>
            <p:cNvPr id="31763" name="矩形 1436676"/>
            <p:cNvSpPr/>
            <p:nvPr/>
          </p:nvSpPr>
          <p:spPr>
            <a:xfrm>
              <a:off x="4424" y="255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1764" name="矩形 1436677"/>
            <p:cNvSpPr/>
            <p:nvPr/>
          </p:nvSpPr>
          <p:spPr>
            <a:xfrm>
              <a:off x="4954" y="3485"/>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1765" name="矩形 1436678"/>
            <p:cNvSpPr/>
            <p:nvPr/>
          </p:nvSpPr>
          <p:spPr>
            <a:xfrm>
              <a:off x="4522" y="3680"/>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1436680" name="文本框 1436679"/>
          <p:cNvSpPr txBox="1"/>
          <p:nvPr/>
        </p:nvSpPr>
        <p:spPr>
          <a:xfrm>
            <a:off x="1104106" y="136525"/>
            <a:ext cx="5326063"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3.3.2</a:t>
            </a: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　二阶系统的闭环极点</a:t>
            </a:r>
          </a:p>
        </p:txBody>
      </p:sp>
      <p:sp>
        <p:nvSpPr>
          <p:cNvPr id="1436681" name="文本框 1436680"/>
          <p:cNvSpPr txBox="1"/>
          <p:nvPr/>
        </p:nvSpPr>
        <p:spPr>
          <a:xfrm>
            <a:off x="952501" y="685800"/>
            <a:ext cx="6592887" cy="946150"/>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二阶系统的闭环特征方程，即</a:t>
            </a:r>
          </a:p>
          <a:p>
            <a:pPr>
              <a:spcBef>
                <a:spcPct val="0"/>
              </a:spcBef>
            </a:pPr>
            <a:r>
              <a:rPr lang="zh-CN" altLang="en-US" sz="28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s </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rPr>
              <a:t>+ 2</a:t>
            </a:r>
            <a:r>
              <a:rPr lang="en-US" altLang="zh-CN" sz="2800" i="1" dirty="0">
                <a:solidFill>
                  <a:schemeClr val="tx1"/>
                </a:solidFill>
                <a:latin typeface="Times New Roman" panose="02020603050405020304" pitchFamily="18" charset="0"/>
              </a:rPr>
              <a:t>ξ</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 </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rPr>
              <a:t>= 0</a:t>
            </a:r>
          </a:p>
        </p:txBody>
      </p:sp>
      <p:sp>
        <p:nvSpPr>
          <p:cNvPr id="1436682" name="文本框 1436681"/>
          <p:cNvSpPr txBox="1"/>
          <p:nvPr/>
        </p:nvSpPr>
        <p:spPr>
          <a:xfrm>
            <a:off x="738188" y="1758950"/>
            <a:ext cx="3028950" cy="519113"/>
          </a:xfrm>
          <a:prstGeom prst="rect">
            <a:avLst/>
          </a:prstGeom>
          <a:noFill/>
          <a:ln w="9525">
            <a:noFill/>
          </a:ln>
        </p:spPr>
        <p:txBody>
          <a:bodyPr wrap="none">
            <a:spAutoFit/>
          </a:bodyPr>
          <a:lstStyle/>
          <a:p>
            <a:pPr>
              <a:spcBef>
                <a:spcPct val="0"/>
              </a:spcBef>
            </a:pPr>
            <a:r>
              <a:rPr lang="zh-CN" altLang="en-US" sz="2800" dirty="0">
                <a:solidFill>
                  <a:schemeClr val="tx1"/>
                </a:solidFill>
                <a:latin typeface="Arial" panose="020B0604020202020204" pitchFamily="34" charset="0"/>
              </a:rPr>
              <a:t>其两个特征根为：</a:t>
            </a:r>
          </a:p>
        </p:txBody>
      </p:sp>
      <p:graphicFrame>
        <p:nvGraphicFramePr>
          <p:cNvPr id="1436683" name="对象 1436682"/>
          <p:cNvGraphicFramePr/>
          <p:nvPr/>
        </p:nvGraphicFramePr>
        <p:xfrm>
          <a:off x="3659188" y="1692275"/>
          <a:ext cx="3433762" cy="658813"/>
        </p:xfrm>
        <a:graphic>
          <a:graphicData uri="http://schemas.openxmlformats.org/presentationml/2006/ole">
            <mc:AlternateContent xmlns:mc="http://schemas.openxmlformats.org/markup-compatibility/2006">
              <mc:Choice xmlns:v="urn:schemas-microsoft-com:vml" Requires="v">
                <p:oleObj spid="_x0000_s20488" r:id="rId3" imgW="1523365" imgH="292100" progId="Equation.3">
                  <p:embed/>
                </p:oleObj>
              </mc:Choice>
              <mc:Fallback>
                <p:oleObj r:id="rId3" imgW="1523365" imgH="292100" progId="Equation.3">
                  <p:embed/>
                  <p:pic>
                    <p:nvPicPr>
                      <p:cNvPr id="0" name="图片 3107"/>
                      <p:cNvPicPr/>
                      <p:nvPr/>
                    </p:nvPicPr>
                    <p:blipFill>
                      <a:blip r:embed="rId4"/>
                      <a:stretch>
                        <a:fillRect/>
                      </a:stretch>
                    </p:blipFill>
                    <p:spPr>
                      <a:xfrm>
                        <a:off x="3659188" y="1692275"/>
                        <a:ext cx="3433762" cy="658813"/>
                      </a:xfrm>
                      <a:prstGeom prst="rect">
                        <a:avLst/>
                      </a:prstGeom>
                      <a:noFill/>
                      <a:ln w="38100">
                        <a:noFill/>
                        <a:miter/>
                      </a:ln>
                    </p:spPr>
                  </p:pic>
                </p:oleObj>
              </mc:Fallback>
            </mc:AlternateContent>
          </a:graphicData>
        </a:graphic>
      </p:graphicFrame>
      <p:sp>
        <p:nvSpPr>
          <p:cNvPr id="1436684" name="文本框 1436683"/>
          <p:cNvSpPr txBox="1"/>
          <p:nvPr/>
        </p:nvSpPr>
        <p:spPr>
          <a:xfrm>
            <a:off x="25646" y="2310306"/>
            <a:ext cx="7786713" cy="1569544"/>
          </a:xfrm>
          <a:prstGeom prst="rect">
            <a:avLst/>
          </a:prstGeom>
          <a:noFill/>
          <a:ln w="9525">
            <a:noFill/>
          </a:ln>
        </p:spPr>
        <p:txBody>
          <a:bodyPr wrap="square">
            <a:spAutoFit/>
          </a:bodyPr>
          <a:lstStyle/>
          <a:p>
            <a:pPr>
              <a:lnSpc>
                <a:spcPct val="130000"/>
              </a:lnSpc>
              <a:spcBef>
                <a:spcPct val="0"/>
              </a:spcBef>
            </a:pPr>
            <a:r>
              <a:rPr lang="en-US" altLang="zh-CN" sz="2800" b="0" dirty="0">
                <a:solidFill>
                  <a:schemeClr val="tx1"/>
                </a:solidFill>
                <a:latin typeface="Arial" panose="020B0604020202020204" pitchFamily="34" charset="0"/>
              </a:rPr>
              <a:t>       </a:t>
            </a:r>
            <a:r>
              <a:rPr lang="zh-CN" altLang="en-US" sz="2400" dirty="0">
                <a:solidFill>
                  <a:srgbClr val="000099"/>
                </a:solidFill>
                <a:latin typeface="黑体" panose="02010609060101010101" pitchFamily="49" charset="-122"/>
                <a:ea typeface="黑体" panose="02010609060101010101" pitchFamily="49" charset="-122"/>
              </a:rPr>
              <a:t>上述二阶系统的特征根表达式中，随着阻尼比</a:t>
            </a:r>
            <a:r>
              <a:rPr lang="en-US" altLang="zh-CN" sz="2400" i="1" dirty="0">
                <a:solidFill>
                  <a:srgbClr val="000099"/>
                </a:solidFill>
                <a:latin typeface="黑体" panose="02010609060101010101" pitchFamily="49" charset="-122"/>
                <a:ea typeface="黑体" panose="02010609060101010101" pitchFamily="49" charset="-122"/>
              </a:rPr>
              <a:t>ξ</a:t>
            </a:r>
            <a:r>
              <a:rPr lang="en-US" altLang="zh-CN" sz="2400" dirty="0">
                <a:solidFill>
                  <a:srgbClr val="000099"/>
                </a:solidFill>
                <a:latin typeface="黑体" panose="02010609060101010101" pitchFamily="49" charset="-122"/>
                <a:ea typeface="黑体" panose="02010609060101010101" pitchFamily="49" charset="-122"/>
              </a:rPr>
              <a:t> </a:t>
            </a:r>
            <a:r>
              <a:rPr lang="zh-CN" altLang="en-US" sz="2400" dirty="0">
                <a:solidFill>
                  <a:srgbClr val="000099"/>
                </a:solidFill>
                <a:latin typeface="黑体" panose="02010609060101010101" pitchFamily="49" charset="-122"/>
                <a:ea typeface="黑体" panose="02010609060101010101" pitchFamily="49" charset="-122"/>
              </a:rPr>
              <a:t>的不同取值，特征根有不同类型的值，或者说在</a:t>
            </a:r>
            <a:r>
              <a:rPr lang="en-US" altLang="zh-CN" sz="2400" i="1" dirty="0">
                <a:solidFill>
                  <a:srgbClr val="000099"/>
                </a:solidFill>
                <a:latin typeface="黑体" panose="02010609060101010101" pitchFamily="49" charset="-122"/>
                <a:ea typeface="黑体" panose="02010609060101010101" pitchFamily="49" charset="-122"/>
              </a:rPr>
              <a:t>s</a:t>
            </a:r>
            <a:r>
              <a:rPr lang="zh-CN" altLang="en-US" sz="2400" dirty="0">
                <a:solidFill>
                  <a:srgbClr val="000099"/>
                </a:solidFill>
                <a:latin typeface="黑体" panose="02010609060101010101" pitchFamily="49" charset="-122"/>
                <a:ea typeface="黑体" panose="02010609060101010101" pitchFamily="49" charset="-122"/>
              </a:rPr>
              <a:t>平面上有</a:t>
            </a:r>
          </a:p>
          <a:p>
            <a:pPr>
              <a:lnSpc>
                <a:spcPct val="130000"/>
              </a:lnSpc>
              <a:spcBef>
                <a:spcPct val="0"/>
              </a:spcBef>
            </a:pPr>
            <a:r>
              <a:rPr lang="zh-CN" altLang="en-US" sz="2400" dirty="0">
                <a:solidFill>
                  <a:srgbClr val="000099"/>
                </a:solidFill>
                <a:latin typeface="黑体" panose="02010609060101010101" pitchFamily="49" charset="-122"/>
                <a:ea typeface="黑体" panose="02010609060101010101" pitchFamily="49" charset="-122"/>
              </a:rPr>
              <a:t>不同的分布规律。分述如下：</a:t>
            </a:r>
          </a:p>
        </p:txBody>
      </p:sp>
      <p:grpSp>
        <p:nvGrpSpPr>
          <p:cNvPr id="1436685" name="组合 1436684"/>
          <p:cNvGrpSpPr/>
          <p:nvPr/>
        </p:nvGrpSpPr>
        <p:grpSpPr>
          <a:xfrm>
            <a:off x="5727352" y="4822455"/>
            <a:ext cx="287338" cy="290513"/>
            <a:chOff x="4023" y="3338"/>
            <a:chExt cx="181" cy="183"/>
          </a:xfrm>
        </p:grpSpPr>
        <p:sp>
          <p:nvSpPr>
            <p:cNvPr id="31759" name="直接连接符 1436685"/>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1760" name="直接连接符 1436686"/>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6688" name="组合 1436687"/>
          <p:cNvGrpSpPr/>
          <p:nvPr/>
        </p:nvGrpSpPr>
        <p:grpSpPr>
          <a:xfrm>
            <a:off x="7198965" y="4809755"/>
            <a:ext cx="287337" cy="290513"/>
            <a:chOff x="4023" y="3338"/>
            <a:chExt cx="181" cy="183"/>
          </a:xfrm>
        </p:grpSpPr>
        <p:sp>
          <p:nvSpPr>
            <p:cNvPr id="31757" name="直接连接符 1436688"/>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1758" name="直接连接符 1436689"/>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1436691" name="矩形 1436690"/>
          <p:cNvSpPr/>
          <p:nvPr/>
        </p:nvSpPr>
        <p:spPr>
          <a:xfrm>
            <a:off x="7176740" y="5027243"/>
            <a:ext cx="442912" cy="519112"/>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1436692" name="矩形 1436691"/>
          <p:cNvSpPr/>
          <p:nvPr/>
        </p:nvSpPr>
        <p:spPr>
          <a:xfrm>
            <a:off x="5700365" y="5068518"/>
            <a:ext cx="442912" cy="519112"/>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grpSp>
        <p:nvGrpSpPr>
          <p:cNvPr id="2" name="组合 1">
            <a:extLst>
              <a:ext uri="{FF2B5EF4-FFF2-40B4-BE49-F238E27FC236}">
                <a16:creationId xmlns:a16="http://schemas.microsoft.com/office/drawing/2014/main" id="{1974BF8E-88CA-4B75-9DD9-80A4D170208C}"/>
              </a:ext>
            </a:extLst>
          </p:cNvPr>
          <p:cNvGrpSpPr/>
          <p:nvPr/>
        </p:nvGrpSpPr>
        <p:grpSpPr>
          <a:xfrm>
            <a:off x="25645" y="3772324"/>
            <a:ext cx="4934942" cy="2244300"/>
            <a:chOff x="25645" y="3772324"/>
            <a:chExt cx="4934942" cy="2244300"/>
          </a:xfrm>
        </p:grpSpPr>
        <p:sp>
          <p:nvSpPr>
            <p:cNvPr id="1436693" name="文本框 1436692"/>
            <p:cNvSpPr txBox="1"/>
            <p:nvPr/>
          </p:nvSpPr>
          <p:spPr>
            <a:xfrm>
              <a:off x="201262" y="3914404"/>
              <a:ext cx="4759325" cy="1990725"/>
            </a:xfrm>
            <a:prstGeom prst="rect">
              <a:avLst/>
            </a:prstGeom>
            <a:noFill/>
            <a:ln w="9525">
              <a:noFill/>
            </a:ln>
          </p:spPr>
          <p:txBody>
            <a:bodyPr>
              <a:spAutoFit/>
            </a:bodyPr>
            <a:lstStyle/>
            <a:p>
              <a:pPr marL="457200" indent="-457200">
                <a:lnSpc>
                  <a:spcPct val="130000"/>
                </a:lnSpc>
                <a:spcBef>
                  <a:spcPct val="0"/>
                </a:spcBef>
                <a:buAutoNum type="arabicParenBoth"/>
              </a:pPr>
              <a:r>
                <a:rPr lang="en-US" altLang="zh-CN" sz="2400" i="1" dirty="0">
                  <a:solidFill>
                    <a:schemeClr val="tx1"/>
                  </a:solidFill>
                  <a:latin typeface="Times New Roman" panose="02020603050405020304" pitchFamily="18" charset="0"/>
                </a:rPr>
                <a:t>ξ</a:t>
              </a:r>
              <a:r>
                <a:rPr lang="en-US" altLang="zh-CN" sz="2400" dirty="0">
                  <a:solidFill>
                    <a:schemeClr val="tx1"/>
                  </a:solidFill>
                  <a:latin typeface="Times New Roman" panose="02020603050405020304" pitchFamily="18" charset="0"/>
                  <a:sym typeface="Symbol" panose="05050102010706020507" pitchFamily="18" charset="2"/>
                </a:rPr>
                <a:t> &gt;1 </a:t>
              </a:r>
              <a:r>
                <a:rPr lang="zh-CN" altLang="en-US" sz="2400" dirty="0">
                  <a:solidFill>
                    <a:schemeClr val="tx1"/>
                  </a:solidFill>
                  <a:latin typeface="Arial" panose="020B0604020202020204" pitchFamily="34" charset="0"/>
                </a:rPr>
                <a:t>时，特征根为一对不等值的负实根，位于</a:t>
              </a:r>
              <a:r>
                <a:rPr lang="en-US" altLang="zh-CN" sz="2400" i="1" dirty="0">
                  <a:solidFill>
                    <a:schemeClr val="tx1"/>
                  </a:solidFill>
                  <a:latin typeface="Times New Roman" panose="02020603050405020304" pitchFamily="18" charset="0"/>
                </a:rPr>
                <a:t>s </a:t>
              </a:r>
              <a:r>
                <a:rPr lang="zh-CN" altLang="en-US" sz="2400" dirty="0">
                  <a:solidFill>
                    <a:schemeClr val="tx1"/>
                  </a:solidFill>
                  <a:latin typeface="Arial" panose="020B0604020202020204" pitchFamily="34" charset="0"/>
                </a:rPr>
                <a:t>平面的负实轴上，使得系统的响应表现为</a:t>
              </a:r>
              <a:r>
                <a:rPr lang="zh-CN" altLang="en-US" sz="2400" dirty="0">
                  <a:solidFill>
                    <a:srgbClr val="C00000"/>
                  </a:solidFill>
                  <a:latin typeface="Arial" panose="020B0604020202020204" pitchFamily="34" charset="0"/>
                </a:rPr>
                <a:t>过阻尼</a:t>
              </a:r>
              <a:r>
                <a:rPr lang="zh-CN" altLang="en-US" sz="2400" dirty="0">
                  <a:solidFill>
                    <a:schemeClr val="tx1"/>
                  </a:solidFill>
                  <a:latin typeface="Arial" panose="020B0604020202020204" pitchFamily="34" charset="0"/>
                </a:rPr>
                <a:t>的。</a:t>
              </a:r>
              <a:endParaRPr lang="zh-CN" altLang="en-US" sz="2400" b="0" dirty="0">
                <a:solidFill>
                  <a:schemeClr val="tx1"/>
                </a:solidFill>
                <a:latin typeface="Times New Roman" panose="02020603050405020304" pitchFamily="18" charset="0"/>
              </a:endParaRPr>
            </a:p>
          </p:txBody>
        </p:sp>
        <p:sp>
          <p:nvSpPr>
            <p:cNvPr id="22" name="Freeform 56">
              <a:extLst>
                <a:ext uri="{FF2B5EF4-FFF2-40B4-BE49-F238E27FC236}">
                  <a16:creationId xmlns:a16="http://schemas.microsoft.com/office/drawing/2014/main" id="{8F4205D7-A4FA-4842-854E-0E986CBC5611}"/>
                </a:ext>
              </a:extLst>
            </p:cNvPr>
            <p:cNvSpPr>
              <a:spLocks/>
            </p:cNvSpPr>
            <p:nvPr/>
          </p:nvSpPr>
          <p:spPr bwMode="auto">
            <a:xfrm>
              <a:off x="25645" y="3772324"/>
              <a:ext cx="4873029" cy="2244300"/>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36680"/>
                                        </p:tgtEl>
                                        <p:attrNameLst>
                                          <p:attrName>style.visibility</p:attrName>
                                        </p:attrNameLst>
                                      </p:cBhvr>
                                      <p:to>
                                        <p:strVal val="visible"/>
                                      </p:to>
                                    </p:set>
                                    <p:anim calcmode="lin" valueType="num">
                                      <p:cBhvr additive="base">
                                        <p:cTn id="7" dur="500" fill="hold"/>
                                        <p:tgtEl>
                                          <p:spTgt spid="1436680"/>
                                        </p:tgtEl>
                                        <p:attrNameLst>
                                          <p:attrName>ppt_x</p:attrName>
                                        </p:attrNameLst>
                                      </p:cBhvr>
                                      <p:tavLst>
                                        <p:tav tm="0">
                                          <p:val>
                                            <p:strVal val="#ppt_x"/>
                                          </p:val>
                                        </p:tav>
                                        <p:tav tm="100000">
                                          <p:val>
                                            <p:strVal val="#ppt_x"/>
                                          </p:val>
                                        </p:tav>
                                      </p:tavLst>
                                    </p:anim>
                                    <p:anim calcmode="lin" valueType="num">
                                      <p:cBhvr additive="base">
                                        <p:cTn id="8" dur="500" fill="hold"/>
                                        <p:tgtEl>
                                          <p:spTgt spid="143668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436681">
                                            <p:txEl>
                                              <p:pRg st="0" end="0"/>
                                            </p:txEl>
                                          </p:spTgt>
                                        </p:tgtEl>
                                        <p:attrNameLst>
                                          <p:attrName>style.visibility</p:attrName>
                                        </p:attrNameLst>
                                      </p:cBhvr>
                                      <p:to>
                                        <p:strVal val="visible"/>
                                      </p:to>
                                    </p:set>
                                    <p:animEffect transition="in" filter="blinds(horizontal)">
                                      <p:cBhvr>
                                        <p:cTn id="13" dur="500"/>
                                        <p:tgtEl>
                                          <p:spTgt spid="143668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36681">
                                            <p:txEl>
                                              <p:pRg st="1" end="1"/>
                                            </p:txEl>
                                          </p:spTgt>
                                        </p:tgtEl>
                                        <p:attrNameLst>
                                          <p:attrName>style.visibility</p:attrName>
                                        </p:attrNameLst>
                                      </p:cBhvr>
                                      <p:to>
                                        <p:strVal val="visible"/>
                                      </p:to>
                                    </p:set>
                                    <p:animEffect transition="in" filter="blinds(horizontal)">
                                      <p:cBhvr>
                                        <p:cTn id="18" dur="500"/>
                                        <p:tgtEl>
                                          <p:spTgt spid="143668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436682"/>
                                        </p:tgtEl>
                                        <p:attrNameLst>
                                          <p:attrName>style.visibility</p:attrName>
                                        </p:attrNameLst>
                                      </p:cBhvr>
                                      <p:to>
                                        <p:strVal val="visible"/>
                                      </p:to>
                                    </p:set>
                                    <p:anim calcmode="lin" valueType="num">
                                      <p:cBhvr additive="base">
                                        <p:cTn id="23" dur="500" fill="hold"/>
                                        <p:tgtEl>
                                          <p:spTgt spid="1436682"/>
                                        </p:tgtEl>
                                        <p:attrNameLst>
                                          <p:attrName>ppt_x</p:attrName>
                                        </p:attrNameLst>
                                      </p:cBhvr>
                                      <p:tavLst>
                                        <p:tav tm="0">
                                          <p:val>
                                            <p:strVal val="0-#ppt_w/2"/>
                                          </p:val>
                                        </p:tav>
                                        <p:tav tm="100000">
                                          <p:val>
                                            <p:strVal val="#ppt_x"/>
                                          </p:val>
                                        </p:tav>
                                      </p:tavLst>
                                    </p:anim>
                                    <p:anim calcmode="lin" valueType="num">
                                      <p:cBhvr additive="base">
                                        <p:cTn id="24" dur="500" fill="hold"/>
                                        <p:tgtEl>
                                          <p:spTgt spid="143668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436683"/>
                                        </p:tgtEl>
                                        <p:attrNameLst>
                                          <p:attrName>style.visibility</p:attrName>
                                        </p:attrNameLst>
                                      </p:cBhvr>
                                      <p:to>
                                        <p:strVal val="visible"/>
                                      </p:to>
                                    </p:set>
                                    <p:animEffect transition="in" filter="dissolve">
                                      <p:cBhvr>
                                        <p:cTn id="29" dur="500"/>
                                        <p:tgtEl>
                                          <p:spTgt spid="143668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36684">
                                            <p:txEl>
                                              <p:pRg st="0" end="0"/>
                                            </p:txEl>
                                          </p:spTgt>
                                        </p:tgtEl>
                                        <p:attrNameLst>
                                          <p:attrName>style.visibility</p:attrName>
                                        </p:attrNameLst>
                                      </p:cBhvr>
                                      <p:to>
                                        <p:strVal val="visible"/>
                                      </p:to>
                                    </p:set>
                                    <p:animEffect transition="in" filter="dissolve">
                                      <p:cBhvr>
                                        <p:cTn id="34" dur="500"/>
                                        <p:tgtEl>
                                          <p:spTgt spid="1436684">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36684">
                                            <p:txEl>
                                              <p:pRg st="1" end="1"/>
                                            </p:txEl>
                                          </p:spTgt>
                                        </p:tgtEl>
                                        <p:attrNameLst>
                                          <p:attrName>style.visibility</p:attrName>
                                        </p:attrNameLst>
                                      </p:cBhvr>
                                      <p:to>
                                        <p:strVal val="visible"/>
                                      </p:to>
                                    </p:set>
                                    <p:animEffect transition="in" filter="dissolve">
                                      <p:cBhvr>
                                        <p:cTn id="39" dur="500"/>
                                        <p:tgtEl>
                                          <p:spTgt spid="1436684">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circle(in)">
                                      <p:cBhvr>
                                        <p:cTn id="44" dur="2000"/>
                                        <p:tgtEl>
                                          <p:spTgt spid="2"/>
                                        </p:tgtEl>
                                      </p:cBhvr>
                                    </p:animEffect>
                                  </p:childTnLst>
                                </p:cTn>
                              </p:par>
                            </p:childTnLst>
                          </p:cTn>
                        </p:par>
                        <p:par>
                          <p:cTn id="45" fill="hold">
                            <p:stCondLst>
                              <p:cond delay="2000"/>
                            </p:stCondLst>
                            <p:childTnLst>
                              <p:par>
                                <p:cTn id="46" presetID="9" presetClass="entr" presetSubtype="0" fill="hold" nodeType="afterEffect">
                                  <p:stCondLst>
                                    <p:cond delay="0"/>
                                  </p:stCondLst>
                                  <p:childTnLst>
                                    <p:set>
                                      <p:cBhvr>
                                        <p:cTn id="47" dur="1" fill="hold">
                                          <p:stCondLst>
                                            <p:cond delay="0"/>
                                          </p:stCondLst>
                                        </p:cTn>
                                        <p:tgtEl>
                                          <p:spTgt spid="1436674"/>
                                        </p:tgtEl>
                                        <p:attrNameLst>
                                          <p:attrName>style.visibility</p:attrName>
                                        </p:attrNameLst>
                                      </p:cBhvr>
                                      <p:to>
                                        <p:strVal val="visible"/>
                                      </p:to>
                                    </p:set>
                                    <p:animEffect transition="in" filter="dissolve">
                                      <p:cBhvr>
                                        <p:cTn id="48" dur="500"/>
                                        <p:tgtEl>
                                          <p:spTgt spid="1436674"/>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1436688"/>
                                        </p:tgtEl>
                                        <p:attrNameLst>
                                          <p:attrName>style.visibility</p:attrName>
                                        </p:attrNameLst>
                                      </p:cBhvr>
                                      <p:to>
                                        <p:strVal val="visible"/>
                                      </p:to>
                                    </p:set>
                                    <p:animEffect transition="in" filter="dissolve">
                                      <p:cBhvr>
                                        <p:cTn id="53" dur="500"/>
                                        <p:tgtEl>
                                          <p:spTgt spid="1436688"/>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1436691"/>
                                        </p:tgtEl>
                                        <p:attrNameLst>
                                          <p:attrName>style.visibility</p:attrName>
                                        </p:attrNameLst>
                                      </p:cBhvr>
                                      <p:to>
                                        <p:strVal val="visible"/>
                                      </p:to>
                                    </p:set>
                                    <p:animEffect transition="in" filter="dissolve">
                                      <p:cBhvr>
                                        <p:cTn id="57" dur="500"/>
                                        <p:tgtEl>
                                          <p:spTgt spid="1436691"/>
                                        </p:tgtEl>
                                      </p:cBhvr>
                                    </p:animEffect>
                                  </p:childTnLst>
                                </p:cTn>
                              </p:par>
                            </p:childTnLst>
                          </p:cTn>
                        </p:par>
                        <p:par>
                          <p:cTn id="58" fill="hold">
                            <p:stCondLst>
                              <p:cond delay="1000"/>
                            </p:stCondLst>
                            <p:childTnLst>
                              <p:par>
                                <p:cTn id="59" presetID="9" presetClass="entr" presetSubtype="0" fill="hold" nodeType="afterEffect">
                                  <p:stCondLst>
                                    <p:cond delay="2000"/>
                                  </p:stCondLst>
                                  <p:childTnLst>
                                    <p:set>
                                      <p:cBhvr>
                                        <p:cTn id="60" dur="1" fill="hold">
                                          <p:stCondLst>
                                            <p:cond delay="0"/>
                                          </p:stCondLst>
                                        </p:cTn>
                                        <p:tgtEl>
                                          <p:spTgt spid="1436685"/>
                                        </p:tgtEl>
                                        <p:attrNameLst>
                                          <p:attrName>style.visibility</p:attrName>
                                        </p:attrNameLst>
                                      </p:cBhvr>
                                      <p:to>
                                        <p:strVal val="visible"/>
                                      </p:to>
                                    </p:set>
                                    <p:animEffect transition="in" filter="dissolve">
                                      <p:cBhvr>
                                        <p:cTn id="61" dur="500"/>
                                        <p:tgtEl>
                                          <p:spTgt spid="1436685"/>
                                        </p:tgtEl>
                                      </p:cBhvr>
                                    </p:animEffect>
                                  </p:childTnLst>
                                </p:cTn>
                              </p:par>
                            </p:childTnLst>
                          </p:cTn>
                        </p:par>
                        <p:par>
                          <p:cTn id="62" fill="hold">
                            <p:stCondLst>
                              <p:cond delay="3500"/>
                            </p:stCondLst>
                            <p:childTnLst>
                              <p:par>
                                <p:cTn id="63" presetID="9" presetClass="entr" presetSubtype="0" fill="hold" grpId="0" nodeType="afterEffect">
                                  <p:stCondLst>
                                    <p:cond delay="0"/>
                                  </p:stCondLst>
                                  <p:childTnLst>
                                    <p:set>
                                      <p:cBhvr>
                                        <p:cTn id="64" dur="1" fill="hold">
                                          <p:stCondLst>
                                            <p:cond delay="0"/>
                                          </p:stCondLst>
                                        </p:cTn>
                                        <p:tgtEl>
                                          <p:spTgt spid="1436692"/>
                                        </p:tgtEl>
                                        <p:attrNameLst>
                                          <p:attrName>style.visibility</p:attrName>
                                        </p:attrNameLst>
                                      </p:cBhvr>
                                      <p:to>
                                        <p:strVal val="visible"/>
                                      </p:to>
                                    </p:set>
                                    <p:animEffect transition="in" filter="dissolve">
                                      <p:cBhvr>
                                        <p:cTn id="65" dur="500"/>
                                        <p:tgtEl>
                                          <p:spTgt spid="143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680" grpId="0"/>
      <p:bldP spid="1436681" grpId="0" build="p"/>
      <p:bldP spid="1436682" grpId="0"/>
      <p:bldP spid="1436684" grpId="0" build="p"/>
      <p:bldP spid="1436691" grpId="0"/>
      <p:bldP spid="143669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1FC1795-1410-4DDB-AD65-6A046179C1C1}"/>
              </a:ext>
            </a:extLst>
          </p:cNvPr>
          <p:cNvSpPr txBox="1"/>
          <p:nvPr/>
        </p:nvSpPr>
        <p:spPr>
          <a:xfrm>
            <a:off x="0" y="6099175"/>
            <a:ext cx="9144000" cy="758825"/>
          </a:xfrm>
          <a:prstGeom prst="rect">
            <a:avLst/>
          </a:prstGeom>
          <a:solidFill>
            <a:schemeClr val="bg2"/>
          </a:solidFill>
        </p:spPr>
        <p:txBody>
          <a:bodyPr wrap="square" rtlCol="0">
            <a:spAutoFit/>
          </a:bodyPr>
          <a:lstStyle/>
          <a:p>
            <a:endParaRPr lang="zh-CN" altLang="en-US" dirty="0"/>
          </a:p>
        </p:txBody>
      </p:sp>
      <p:sp>
        <p:nvSpPr>
          <p:cNvPr id="1437699" name="内容占位符 1437698"/>
          <p:cNvSpPr>
            <a:spLocks noGrp="1"/>
          </p:cNvSpPr>
          <p:nvPr>
            <p:ph idx="4294967295"/>
          </p:nvPr>
        </p:nvSpPr>
        <p:spPr>
          <a:xfrm>
            <a:off x="275431" y="1178719"/>
            <a:ext cx="8617049" cy="983457"/>
          </a:xfrm>
        </p:spPr>
        <p:txBody>
          <a:bodyPr vert="horz" wrap="square" lIns="91440" tIns="45720" rIns="91440" bIns="45720" anchor="t" anchorCtr="0"/>
          <a:lstStyle/>
          <a:p>
            <a:pPr marL="533400" indent="-533400" eaLnBrk="1" hangingPunct="1">
              <a:lnSpc>
                <a:spcPct val="130000"/>
              </a:lnSpc>
              <a:spcBef>
                <a:spcPct val="0"/>
              </a:spcBef>
              <a:buClrTx/>
              <a:buFontTx/>
              <a:buNone/>
            </a:pPr>
            <a:r>
              <a:rPr lang="en-US" altLang="zh-CN" b="1" dirty="0">
                <a:sym typeface="Symbol" panose="05050102010706020507" pitchFamily="18" charset="2"/>
              </a:rPr>
              <a:t>(2) </a:t>
            </a:r>
            <a:r>
              <a:rPr lang="en-US" altLang="zh-CN" b="1" i="1" dirty="0"/>
              <a:t>ξ</a:t>
            </a:r>
            <a:r>
              <a:rPr lang="en-US" altLang="zh-CN" b="1" dirty="0">
                <a:sym typeface="Symbol" panose="05050102010706020507" pitchFamily="18" charset="2"/>
              </a:rPr>
              <a:t>=1</a:t>
            </a:r>
            <a:r>
              <a:rPr lang="zh-CN" altLang="en-US" b="1" dirty="0"/>
              <a:t>时，特征根为一对等值的负实根，位于</a:t>
            </a:r>
            <a:r>
              <a:rPr lang="en-US" altLang="zh-CN" b="1" i="1" dirty="0"/>
              <a:t>s </a:t>
            </a:r>
            <a:r>
              <a:rPr lang="zh-CN" altLang="en-US" b="1" dirty="0"/>
              <a:t>平面的负实轴上，使得系统的响应表现为</a:t>
            </a:r>
            <a:r>
              <a:rPr lang="zh-CN" altLang="en-US" b="1" dirty="0">
                <a:solidFill>
                  <a:srgbClr val="FF0000"/>
                </a:solidFill>
              </a:rPr>
              <a:t>临界阻尼</a:t>
            </a:r>
            <a:r>
              <a:rPr lang="zh-CN" altLang="en-US" b="1" dirty="0"/>
              <a:t>的。</a:t>
            </a:r>
          </a:p>
        </p:txBody>
      </p:sp>
      <p:grpSp>
        <p:nvGrpSpPr>
          <p:cNvPr id="1437700" name="组合 1437699"/>
          <p:cNvGrpSpPr/>
          <p:nvPr/>
        </p:nvGrpSpPr>
        <p:grpSpPr>
          <a:xfrm>
            <a:off x="316708" y="4151138"/>
            <a:ext cx="3675062" cy="2662238"/>
            <a:chOff x="2919" y="2551"/>
            <a:chExt cx="2315" cy="1677"/>
          </a:xfrm>
        </p:grpSpPr>
        <p:sp>
          <p:nvSpPr>
            <p:cNvPr id="32804" name="直接连接符 1437700"/>
            <p:cNvSpPr/>
            <p:nvPr/>
          </p:nvSpPr>
          <p:spPr>
            <a:xfrm flipH="1" flipV="1">
              <a:off x="4549" y="2551"/>
              <a:ext cx="0" cy="1677"/>
            </a:xfrm>
            <a:prstGeom prst="line">
              <a:avLst/>
            </a:prstGeom>
            <a:ln w="57150" cap="sq" cmpd="sng">
              <a:solidFill>
                <a:schemeClr val="tx1"/>
              </a:solidFill>
              <a:prstDash val="solid"/>
              <a:headEnd type="none" w="med" len="med"/>
              <a:tailEnd type="triangle" w="med" len="med"/>
            </a:ln>
          </p:spPr>
        </p:sp>
        <p:sp>
          <p:nvSpPr>
            <p:cNvPr id="32805" name="直接连接符 1437701"/>
            <p:cNvSpPr/>
            <p:nvPr/>
          </p:nvSpPr>
          <p:spPr>
            <a:xfrm>
              <a:off x="2919" y="3647"/>
              <a:ext cx="2107" cy="0"/>
            </a:xfrm>
            <a:prstGeom prst="line">
              <a:avLst/>
            </a:prstGeom>
            <a:ln w="57150" cap="sq" cmpd="sng">
              <a:solidFill>
                <a:schemeClr val="tx1"/>
              </a:solidFill>
              <a:prstDash val="solid"/>
              <a:headEnd type="none" w="med" len="med"/>
              <a:tailEnd type="triangle" w="med" len="med"/>
            </a:ln>
          </p:spPr>
        </p:sp>
        <p:sp>
          <p:nvSpPr>
            <p:cNvPr id="32806" name="矩形 1437702"/>
            <p:cNvSpPr/>
            <p:nvPr/>
          </p:nvSpPr>
          <p:spPr>
            <a:xfrm>
              <a:off x="4424" y="255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2807" name="矩形 1437703"/>
            <p:cNvSpPr/>
            <p:nvPr/>
          </p:nvSpPr>
          <p:spPr>
            <a:xfrm>
              <a:off x="4954" y="3485"/>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2808" name="矩形 1437704"/>
            <p:cNvSpPr/>
            <p:nvPr/>
          </p:nvSpPr>
          <p:spPr>
            <a:xfrm>
              <a:off x="4522" y="3680"/>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pSp>
        <p:nvGrpSpPr>
          <p:cNvPr id="1437706" name="组合 1437705"/>
          <p:cNvGrpSpPr/>
          <p:nvPr/>
        </p:nvGrpSpPr>
        <p:grpSpPr>
          <a:xfrm>
            <a:off x="692150" y="5705301"/>
            <a:ext cx="287338" cy="290513"/>
            <a:chOff x="4023" y="3338"/>
            <a:chExt cx="181" cy="183"/>
          </a:xfrm>
        </p:grpSpPr>
        <p:sp>
          <p:nvSpPr>
            <p:cNvPr id="32802" name="直接连接符 1437706"/>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2803" name="直接连接符 1437707"/>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7709" name="组合 1437708"/>
          <p:cNvGrpSpPr/>
          <p:nvPr/>
        </p:nvGrpSpPr>
        <p:grpSpPr>
          <a:xfrm>
            <a:off x="873125" y="5735464"/>
            <a:ext cx="287338" cy="290512"/>
            <a:chOff x="4023" y="3338"/>
            <a:chExt cx="181" cy="183"/>
          </a:xfrm>
        </p:grpSpPr>
        <p:sp>
          <p:nvSpPr>
            <p:cNvPr id="32800" name="直接连接符 1437709"/>
            <p:cNvSpPr/>
            <p:nvPr/>
          </p:nvSpPr>
          <p:spPr>
            <a:xfrm>
              <a:off x="4025" y="3343"/>
              <a:ext cx="178" cy="178"/>
            </a:xfrm>
            <a:prstGeom prst="line">
              <a:avLst/>
            </a:prstGeom>
            <a:ln w="76200" cap="sq" cmpd="sng">
              <a:solidFill>
                <a:srgbClr val="333399"/>
              </a:solidFill>
              <a:prstDash val="solid"/>
              <a:headEnd type="none" w="med" len="med"/>
              <a:tailEnd type="none" w="med" len="med"/>
            </a:ln>
          </p:spPr>
        </p:sp>
        <p:sp>
          <p:nvSpPr>
            <p:cNvPr id="32801" name="直接连接符 1437710"/>
            <p:cNvSpPr/>
            <p:nvPr/>
          </p:nvSpPr>
          <p:spPr>
            <a:xfrm flipH="1">
              <a:off x="4023" y="3338"/>
              <a:ext cx="181" cy="181"/>
            </a:xfrm>
            <a:prstGeom prst="line">
              <a:avLst/>
            </a:prstGeom>
            <a:ln w="76200" cap="sq" cmpd="sng">
              <a:solidFill>
                <a:srgbClr val="333399"/>
              </a:solidFill>
              <a:prstDash val="solid"/>
              <a:headEnd type="none" w="med" len="med"/>
              <a:tailEnd type="none" w="med" len="med"/>
            </a:ln>
          </p:spPr>
        </p:sp>
      </p:grpSp>
      <p:sp>
        <p:nvSpPr>
          <p:cNvPr id="1437712" name="矩形 1437711"/>
          <p:cNvSpPr/>
          <p:nvPr/>
        </p:nvSpPr>
        <p:spPr>
          <a:xfrm>
            <a:off x="292100" y="5981526"/>
            <a:ext cx="2457450" cy="808038"/>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r>
              <a:rPr lang="en-US" altLang="zh-CN" sz="2800" i="1" dirty="0">
                <a:solidFill>
                  <a:schemeClr val="tx1"/>
                </a:solidFill>
                <a:latin typeface="Times New Roman" panose="02020603050405020304" pitchFamily="18" charset="0"/>
                <a:sym typeface="Symbol" panose="05050102010706020507" pitchFamily="18" charset="2"/>
              </a:rPr>
              <a:t>= s</a:t>
            </a:r>
            <a:r>
              <a:rPr lang="en-US" altLang="zh-CN" sz="2800" baseline="-30000" dirty="0">
                <a:solidFill>
                  <a:schemeClr val="tx1"/>
                </a:solidFill>
                <a:latin typeface="Times New Roman" panose="02020603050405020304" pitchFamily="18" charset="0"/>
                <a:sym typeface="Symbol" panose="05050102010706020507" pitchFamily="18" charset="2"/>
              </a:rPr>
              <a:t>2 </a:t>
            </a:r>
            <a:r>
              <a:rPr lang="en-US" altLang="zh-CN" sz="2800" i="1" dirty="0">
                <a:solidFill>
                  <a:schemeClr val="tx1"/>
                </a:solidFill>
                <a:latin typeface="Times New Roman" panose="02020603050405020304" pitchFamily="18" charset="0"/>
                <a:sym typeface="Symbol" panose="05050102010706020507" pitchFamily="18" charset="2"/>
              </a:rPr>
              <a:t>= </a:t>
            </a:r>
            <a:r>
              <a:rPr lang="en-US" altLang="zh-CN" sz="2800" baseline="-30000" dirty="0">
                <a:solidFill>
                  <a:schemeClr val="tx1"/>
                </a:solidFill>
                <a:latin typeface="Times New Roman" panose="02020603050405020304" pitchFamily="18" charset="0"/>
                <a:sym typeface="Symbol" panose="05050102010706020507" pitchFamily="18" charset="2"/>
              </a:rPr>
              <a:t> </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a:p>
            <a:pPr>
              <a:spcBef>
                <a:spcPct val="0"/>
              </a:spcBef>
            </a:pPr>
            <a:endParaRPr lang="en-US" altLang="zh-CN" sz="2800" i="1" baseline="-30000" dirty="0">
              <a:solidFill>
                <a:schemeClr val="tx1"/>
              </a:solidFill>
              <a:latin typeface="Times New Roman" panose="02020603050405020304" pitchFamily="18" charset="0"/>
              <a:sym typeface="Symbol" panose="05050102010706020507" pitchFamily="18" charset="2"/>
            </a:endParaRPr>
          </a:p>
        </p:txBody>
      </p:sp>
      <p:sp>
        <p:nvSpPr>
          <p:cNvPr id="1437713" name="直接连接符 1437712"/>
          <p:cNvSpPr/>
          <p:nvPr/>
        </p:nvSpPr>
        <p:spPr>
          <a:xfrm>
            <a:off x="6167438" y="4249117"/>
            <a:ext cx="1165225" cy="0"/>
          </a:xfrm>
          <a:prstGeom prst="line">
            <a:avLst/>
          </a:prstGeom>
          <a:ln w="38100" cap="flat" cmpd="sng">
            <a:solidFill>
              <a:schemeClr val="tx1"/>
            </a:solidFill>
            <a:prstDash val="dash"/>
            <a:headEnd type="none" w="med" len="med"/>
            <a:tailEnd type="none" w="med" len="med"/>
          </a:ln>
        </p:spPr>
      </p:sp>
      <p:sp>
        <p:nvSpPr>
          <p:cNvPr id="1437714" name="直接连接符 1437713"/>
          <p:cNvSpPr/>
          <p:nvPr/>
        </p:nvSpPr>
        <p:spPr>
          <a:xfrm>
            <a:off x="6186488" y="4212605"/>
            <a:ext cx="0" cy="1219200"/>
          </a:xfrm>
          <a:prstGeom prst="line">
            <a:avLst/>
          </a:prstGeom>
          <a:ln w="38100" cap="flat" cmpd="sng">
            <a:solidFill>
              <a:schemeClr val="tx1"/>
            </a:solidFill>
            <a:prstDash val="dash"/>
            <a:headEnd type="none" w="med" len="med"/>
            <a:tailEnd type="none" w="med" len="med"/>
          </a:ln>
        </p:spPr>
      </p:sp>
      <p:sp>
        <p:nvSpPr>
          <p:cNvPr id="1437715" name="直接连接符 1437714"/>
          <p:cNvSpPr/>
          <p:nvPr/>
        </p:nvSpPr>
        <p:spPr>
          <a:xfrm flipV="1">
            <a:off x="6202363" y="5968380"/>
            <a:ext cx="0" cy="682625"/>
          </a:xfrm>
          <a:prstGeom prst="line">
            <a:avLst/>
          </a:prstGeom>
          <a:ln w="38100" cap="flat" cmpd="sng">
            <a:solidFill>
              <a:schemeClr val="tx1"/>
            </a:solidFill>
            <a:prstDash val="dash"/>
            <a:headEnd type="none" w="med" len="med"/>
            <a:tailEnd type="none" w="med" len="med"/>
          </a:ln>
        </p:spPr>
      </p:sp>
      <p:sp>
        <p:nvSpPr>
          <p:cNvPr id="1437716" name="直接连接符 1437715"/>
          <p:cNvSpPr/>
          <p:nvPr/>
        </p:nvSpPr>
        <p:spPr>
          <a:xfrm flipH="1" flipV="1">
            <a:off x="6202363" y="4266580"/>
            <a:ext cx="1130300" cy="1182687"/>
          </a:xfrm>
          <a:prstGeom prst="line">
            <a:avLst/>
          </a:prstGeom>
          <a:ln w="38100" cap="flat" cmpd="sng">
            <a:solidFill>
              <a:schemeClr val="tx1"/>
            </a:solidFill>
            <a:prstDash val="dash"/>
            <a:headEnd type="none" w="med" len="med"/>
            <a:tailEnd type="none" w="med" len="med"/>
          </a:ln>
        </p:spPr>
      </p:sp>
      <p:sp>
        <p:nvSpPr>
          <p:cNvPr id="1437717" name="直接连接符 1437716"/>
          <p:cNvSpPr/>
          <p:nvPr/>
        </p:nvSpPr>
        <p:spPr>
          <a:xfrm flipH="1">
            <a:off x="6221413" y="5468317"/>
            <a:ext cx="1111250" cy="1200150"/>
          </a:xfrm>
          <a:prstGeom prst="line">
            <a:avLst/>
          </a:prstGeom>
          <a:ln w="38100" cap="flat" cmpd="sng">
            <a:solidFill>
              <a:schemeClr val="tx1"/>
            </a:solidFill>
            <a:prstDash val="dash"/>
            <a:headEnd type="none" w="med" len="med"/>
            <a:tailEnd type="none" w="med" len="med"/>
          </a:ln>
        </p:spPr>
      </p:sp>
      <p:grpSp>
        <p:nvGrpSpPr>
          <p:cNvPr id="1437718" name="组合 1437717"/>
          <p:cNvGrpSpPr/>
          <p:nvPr/>
        </p:nvGrpSpPr>
        <p:grpSpPr>
          <a:xfrm>
            <a:off x="6027738" y="4115767"/>
            <a:ext cx="287337" cy="290513"/>
            <a:chOff x="4023" y="3338"/>
            <a:chExt cx="181" cy="183"/>
          </a:xfrm>
        </p:grpSpPr>
        <p:sp>
          <p:nvSpPr>
            <p:cNvPr id="32798" name="直接连接符 1437718"/>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2799" name="直接连接符 1437719"/>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7721" name="组合 1437720"/>
          <p:cNvGrpSpPr/>
          <p:nvPr/>
        </p:nvGrpSpPr>
        <p:grpSpPr>
          <a:xfrm>
            <a:off x="6064250" y="6554167"/>
            <a:ext cx="287338" cy="290513"/>
            <a:chOff x="4023" y="3338"/>
            <a:chExt cx="181" cy="183"/>
          </a:xfrm>
        </p:grpSpPr>
        <p:sp>
          <p:nvSpPr>
            <p:cNvPr id="32796" name="直接连接符 1437721"/>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2797" name="直接连接符 1437722"/>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1437724" name="矩形 1437723"/>
          <p:cNvSpPr/>
          <p:nvPr/>
        </p:nvSpPr>
        <p:spPr>
          <a:xfrm>
            <a:off x="6653213" y="4338017"/>
            <a:ext cx="563562" cy="519113"/>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p:txBody>
      </p:sp>
      <p:sp>
        <p:nvSpPr>
          <p:cNvPr id="1437725" name="矩形 1437724"/>
          <p:cNvSpPr/>
          <p:nvPr/>
        </p:nvSpPr>
        <p:spPr>
          <a:xfrm>
            <a:off x="5564188" y="3964955"/>
            <a:ext cx="442912" cy="519112"/>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1437726" name="矩形 1437725"/>
          <p:cNvSpPr/>
          <p:nvPr/>
        </p:nvSpPr>
        <p:spPr>
          <a:xfrm>
            <a:off x="5564188" y="6438280"/>
            <a:ext cx="442912" cy="519112"/>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sp>
        <p:nvSpPr>
          <p:cNvPr id="1437727" name="矩形 1437726"/>
          <p:cNvSpPr/>
          <p:nvPr/>
        </p:nvSpPr>
        <p:spPr>
          <a:xfrm>
            <a:off x="7099300" y="3741738"/>
            <a:ext cx="1022350" cy="519112"/>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d</a:t>
            </a:r>
            <a:r>
              <a:rPr lang="en-US" altLang="zh-CN" sz="2400" dirty="0">
                <a:solidFill>
                  <a:schemeClr val="tx1"/>
                </a:solidFill>
                <a:latin typeface="Arial" panose="020B0604020202020204" pitchFamily="34" charset="0"/>
              </a:rPr>
              <a:t> </a:t>
            </a:r>
          </a:p>
        </p:txBody>
      </p:sp>
      <p:sp>
        <p:nvSpPr>
          <p:cNvPr id="1437728" name="矩形 1437727"/>
          <p:cNvSpPr/>
          <p:nvPr/>
        </p:nvSpPr>
        <p:spPr>
          <a:xfrm>
            <a:off x="5364163" y="5412755"/>
            <a:ext cx="1403350" cy="457200"/>
          </a:xfrm>
          <a:prstGeom prst="rect">
            <a:avLst/>
          </a:prstGeom>
          <a:noFill/>
          <a:ln w="9525">
            <a:noFill/>
          </a:ln>
        </p:spPr>
        <p:txBody>
          <a:bodyPr>
            <a:spAutoFit/>
          </a:bodyPr>
          <a:lstStyle/>
          <a:p>
            <a:pPr algn="ctr">
              <a:spcBef>
                <a:spcPct val="0"/>
              </a:spcBef>
            </a:pPr>
            <a:r>
              <a:rPr lang="en-US" altLang="zh-CN" sz="2400" i="1" dirty="0">
                <a:solidFill>
                  <a:schemeClr val="tx1"/>
                </a:solidFill>
                <a:latin typeface="Times New Roman" panose="02020603050405020304" pitchFamily="18" charset="0"/>
                <a:sym typeface="Symbol" panose="05050102010706020507" pitchFamily="18" charset="2"/>
              </a:rPr>
              <a:t> </a:t>
            </a:r>
            <a:r>
              <a:rPr lang="en-US" altLang="zh-CN" sz="2400" i="1" dirty="0">
                <a:solidFill>
                  <a:schemeClr val="tx1"/>
                </a:solidFill>
                <a:latin typeface="Times New Roman" panose="02020603050405020304" pitchFamily="18" charset="0"/>
              </a:rPr>
              <a:t>ξ</a:t>
            </a:r>
            <a:r>
              <a:rPr lang="en-US" altLang="zh-CN" sz="2400" i="1" dirty="0">
                <a:solidFill>
                  <a:schemeClr val="tx1"/>
                </a:solidFill>
                <a:latin typeface="Times New Roman" panose="02020603050405020304" pitchFamily="18" charset="0"/>
                <a:sym typeface="Symbol" panose="05050102010706020507" pitchFamily="18" charset="2"/>
              </a:rPr>
              <a:t></a:t>
            </a:r>
            <a:r>
              <a:rPr lang="en-US" altLang="zh-CN" sz="2400" i="1" baseline="-30000" dirty="0">
                <a:solidFill>
                  <a:schemeClr val="tx1"/>
                </a:solidFill>
                <a:latin typeface="Times New Roman" panose="02020603050405020304" pitchFamily="18" charset="0"/>
                <a:sym typeface="Symbol" panose="05050102010706020507" pitchFamily="18" charset="2"/>
              </a:rPr>
              <a:t>n</a:t>
            </a:r>
          </a:p>
        </p:txBody>
      </p:sp>
      <p:grpSp>
        <p:nvGrpSpPr>
          <p:cNvPr id="1437729" name="组合 1437728"/>
          <p:cNvGrpSpPr/>
          <p:nvPr/>
        </p:nvGrpSpPr>
        <p:grpSpPr>
          <a:xfrm>
            <a:off x="5537823" y="3430168"/>
            <a:ext cx="2898774" cy="3396222"/>
            <a:chOff x="3415" y="1768"/>
            <a:chExt cx="1909" cy="2359"/>
          </a:xfrm>
        </p:grpSpPr>
        <p:sp>
          <p:nvSpPr>
            <p:cNvPr id="32791" name="直接连接符 1437729"/>
            <p:cNvSpPr/>
            <p:nvPr/>
          </p:nvSpPr>
          <p:spPr>
            <a:xfrm flipV="1">
              <a:off x="4598" y="1847"/>
              <a:ext cx="0" cy="2280"/>
            </a:xfrm>
            <a:prstGeom prst="line">
              <a:avLst/>
            </a:prstGeom>
            <a:ln w="57150" cap="sq" cmpd="sng">
              <a:solidFill>
                <a:schemeClr val="tx1"/>
              </a:solidFill>
              <a:prstDash val="solid"/>
              <a:headEnd type="none" w="med" len="med"/>
              <a:tailEnd type="triangle" w="med" len="med"/>
            </a:ln>
          </p:spPr>
        </p:sp>
        <p:sp>
          <p:nvSpPr>
            <p:cNvPr id="32792" name="直接连接符 1437730"/>
            <p:cNvSpPr/>
            <p:nvPr/>
          </p:nvSpPr>
          <p:spPr>
            <a:xfrm>
              <a:off x="3415" y="3184"/>
              <a:ext cx="1701" cy="0"/>
            </a:xfrm>
            <a:prstGeom prst="line">
              <a:avLst/>
            </a:prstGeom>
            <a:ln w="57150" cap="sq" cmpd="sng">
              <a:solidFill>
                <a:schemeClr val="tx1"/>
              </a:solidFill>
              <a:prstDash val="solid"/>
              <a:headEnd type="none" w="med" len="med"/>
              <a:tailEnd type="triangle" w="med" len="med"/>
            </a:ln>
          </p:spPr>
        </p:sp>
        <p:sp>
          <p:nvSpPr>
            <p:cNvPr id="32793" name="矩形 1437731"/>
            <p:cNvSpPr/>
            <p:nvPr/>
          </p:nvSpPr>
          <p:spPr>
            <a:xfrm>
              <a:off x="4474" y="176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2794" name="矩形 1437732"/>
            <p:cNvSpPr/>
            <p:nvPr/>
          </p:nvSpPr>
          <p:spPr>
            <a:xfrm>
              <a:off x="5044" y="3022"/>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2795" name="矩形 1437733"/>
            <p:cNvSpPr/>
            <p:nvPr/>
          </p:nvSpPr>
          <p:spPr>
            <a:xfrm>
              <a:off x="4559" y="3204"/>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aphicFrame>
        <p:nvGraphicFramePr>
          <p:cNvPr id="32790" name="对象 1437734"/>
          <p:cNvGraphicFramePr/>
          <p:nvPr/>
        </p:nvGraphicFramePr>
        <p:xfrm>
          <a:off x="2411413" y="188913"/>
          <a:ext cx="4872037" cy="933450"/>
        </p:xfrm>
        <a:graphic>
          <a:graphicData uri="http://schemas.openxmlformats.org/presentationml/2006/ole">
            <mc:AlternateContent xmlns:mc="http://schemas.openxmlformats.org/markup-compatibility/2006">
              <mc:Choice xmlns:v="urn:schemas-microsoft-com:vml" Requires="v">
                <p:oleObj spid="_x0000_s21512" r:id="rId3" imgW="1523365" imgH="292100" progId="Equation.3">
                  <p:embed/>
                </p:oleObj>
              </mc:Choice>
              <mc:Fallback>
                <p:oleObj r:id="rId3" imgW="1523365" imgH="292100" progId="Equation.3">
                  <p:embed/>
                  <p:pic>
                    <p:nvPicPr>
                      <p:cNvPr id="0" name="图片 3108"/>
                      <p:cNvPicPr/>
                      <p:nvPr/>
                    </p:nvPicPr>
                    <p:blipFill>
                      <a:blip r:embed="rId4"/>
                      <a:stretch>
                        <a:fillRect/>
                      </a:stretch>
                    </p:blipFill>
                    <p:spPr>
                      <a:xfrm>
                        <a:off x="2411413" y="188913"/>
                        <a:ext cx="4872037" cy="933450"/>
                      </a:xfrm>
                      <a:prstGeom prst="rect">
                        <a:avLst/>
                      </a:prstGeom>
                      <a:noFill/>
                      <a:ln w="38100">
                        <a:noFill/>
                        <a:miter/>
                      </a:ln>
                    </p:spPr>
                  </p:pic>
                </p:oleObj>
              </mc:Fallback>
            </mc:AlternateContent>
          </a:graphicData>
        </a:graphic>
      </p:graphicFrame>
      <p:sp>
        <p:nvSpPr>
          <p:cNvPr id="42" name="Freeform 56">
            <a:extLst>
              <a:ext uri="{FF2B5EF4-FFF2-40B4-BE49-F238E27FC236}">
                <a16:creationId xmlns:a16="http://schemas.microsoft.com/office/drawing/2014/main" id="{B50E8995-9A50-43D6-B3F4-CD71BFA9F31F}"/>
              </a:ext>
            </a:extLst>
          </p:cNvPr>
          <p:cNvSpPr>
            <a:spLocks/>
          </p:cNvSpPr>
          <p:nvPr/>
        </p:nvSpPr>
        <p:spPr bwMode="auto">
          <a:xfrm>
            <a:off x="0" y="1010076"/>
            <a:ext cx="9144000" cy="135053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nvGrpSpPr>
          <p:cNvPr id="3" name="组合 2">
            <a:extLst>
              <a:ext uri="{FF2B5EF4-FFF2-40B4-BE49-F238E27FC236}">
                <a16:creationId xmlns:a16="http://schemas.microsoft.com/office/drawing/2014/main" id="{0B989CB6-C8D3-4273-B441-51E95114BBFD}"/>
              </a:ext>
            </a:extLst>
          </p:cNvPr>
          <p:cNvGrpSpPr/>
          <p:nvPr/>
        </p:nvGrpSpPr>
        <p:grpSpPr>
          <a:xfrm>
            <a:off x="5930" y="2494755"/>
            <a:ext cx="5681101" cy="1594293"/>
            <a:chOff x="5930" y="2494755"/>
            <a:chExt cx="5681101" cy="1594293"/>
          </a:xfrm>
        </p:grpSpPr>
        <p:sp>
          <p:nvSpPr>
            <p:cNvPr id="1437698" name="文本框 1437697"/>
            <p:cNvSpPr txBox="1"/>
            <p:nvPr/>
          </p:nvSpPr>
          <p:spPr>
            <a:xfrm>
              <a:off x="149208" y="2494755"/>
              <a:ext cx="5537823" cy="1481111"/>
            </a:xfrm>
            <a:prstGeom prst="rect">
              <a:avLst/>
            </a:prstGeom>
            <a:noFill/>
            <a:ln w="9525">
              <a:noFill/>
            </a:ln>
          </p:spPr>
          <p:txBody>
            <a:bodyPr wrap="square">
              <a:spAutoFit/>
            </a:bodyPr>
            <a:lstStyle/>
            <a:p>
              <a:pPr>
                <a:lnSpc>
                  <a:spcPct val="130000"/>
                </a:lnSpc>
                <a:spcBef>
                  <a:spcPct val="0"/>
                </a:spcBef>
              </a:pPr>
              <a:r>
                <a:rPr lang="en-US" altLang="zh-CN" sz="2400" dirty="0">
                  <a:solidFill>
                    <a:schemeClr val="tx1"/>
                  </a:solidFill>
                  <a:latin typeface="Times New Roman" panose="02020603050405020304" pitchFamily="18" charset="0"/>
                </a:rPr>
                <a:t>(3)</a:t>
              </a:r>
              <a:r>
                <a:rPr lang="en-US" altLang="zh-CN" sz="2400" dirty="0">
                  <a:solidFill>
                    <a:schemeClr val="tx1"/>
                  </a:solidFill>
                  <a:latin typeface="Arial" panose="020B0604020202020204" pitchFamily="34" charset="0"/>
                </a:rPr>
                <a:t> </a:t>
              </a:r>
              <a:r>
                <a:rPr lang="en-US" altLang="zh-CN" sz="2400" dirty="0">
                  <a:solidFill>
                    <a:schemeClr val="tx1"/>
                  </a:solidFill>
                  <a:latin typeface="Times New Roman" panose="02020603050405020304" pitchFamily="18" charset="0"/>
                </a:rPr>
                <a:t>0 &lt; </a:t>
              </a:r>
              <a:r>
                <a:rPr lang="en-US" altLang="zh-CN" sz="2400" i="1" dirty="0">
                  <a:solidFill>
                    <a:schemeClr val="tx1"/>
                  </a:solidFill>
                  <a:latin typeface="Times New Roman" panose="02020603050405020304" pitchFamily="18" charset="0"/>
                </a:rPr>
                <a:t>ξ</a:t>
              </a:r>
              <a:r>
                <a:rPr lang="en-US" altLang="zh-CN" sz="2400" i="1" dirty="0">
                  <a:solidFill>
                    <a:schemeClr val="tx1"/>
                  </a:solidFill>
                  <a:latin typeface="Arial" panose="020B0604020202020204" pitchFamily="34" charset="0"/>
                </a:rPr>
                <a:t> </a:t>
              </a:r>
              <a:r>
                <a:rPr lang="en-US" altLang="zh-CN" sz="2400" i="1" dirty="0">
                  <a:solidFill>
                    <a:schemeClr val="tx1"/>
                  </a:solidFill>
                  <a:latin typeface="Times New Roman" panose="02020603050405020304" pitchFamily="18" charset="0"/>
                  <a:sym typeface="Symbol" panose="05050102010706020507" pitchFamily="18" charset="2"/>
                </a:rPr>
                <a:t>&lt; </a:t>
              </a:r>
              <a:r>
                <a:rPr lang="en-US" altLang="zh-CN" sz="2400" dirty="0">
                  <a:solidFill>
                    <a:schemeClr val="tx1"/>
                  </a:solidFill>
                  <a:latin typeface="Times New Roman" panose="02020603050405020304" pitchFamily="18" charset="0"/>
                  <a:sym typeface="Symbol" panose="05050102010706020507" pitchFamily="18" charset="2"/>
                </a:rPr>
                <a:t>1</a:t>
              </a:r>
              <a:r>
                <a:rPr lang="en-US" altLang="zh-CN" sz="240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时，特征根为一对具有负实部的共轭复根，位于</a:t>
              </a:r>
              <a:r>
                <a:rPr lang="en-US" altLang="zh-CN" sz="2400" i="1" dirty="0">
                  <a:solidFill>
                    <a:schemeClr val="tx1"/>
                  </a:solidFill>
                  <a:latin typeface="Times New Roman" panose="02020603050405020304" pitchFamily="18" charset="0"/>
                </a:rPr>
                <a:t>s</a:t>
              </a:r>
              <a:r>
                <a:rPr lang="zh-CN" altLang="en-US" sz="2400" dirty="0">
                  <a:solidFill>
                    <a:schemeClr val="tx1"/>
                  </a:solidFill>
                  <a:latin typeface="Arial" panose="020B0604020202020204" pitchFamily="34" charset="0"/>
                </a:rPr>
                <a:t>平面 的左半平面上，使得系统的响应表现为</a:t>
              </a:r>
              <a:r>
                <a:rPr lang="zh-CN" altLang="en-US" sz="2400" dirty="0">
                  <a:solidFill>
                    <a:srgbClr val="FF0000"/>
                  </a:solidFill>
                  <a:latin typeface="Arial" panose="020B0604020202020204" pitchFamily="34" charset="0"/>
                </a:rPr>
                <a:t>欠阻尼</a:t>
              </a:r>
              <a:r>
                <a:rPr lang="zh-CN" altLang="en-US" sz="2400" dirty="0">
                  <a:solidFill>
                    <a:schemeClr val="tx1"/>
                  </a:solidFill>
                  <a:latin typeface="Arial" panose="020B0604020202020204" pitchFamily="34" charset="0"/>
                </a:rPr>
                <a:t>的。</a:t>
              </a:r>
              <a:endParaRPr lang="zh-CN" altLang="en-US" sz="2400" b="0" dirty="0">
                <a:solidFill>
                  <a:schemeClr val="tx1"/>
                </a:solidFill>
                <a:latin typeface="Times New Roman" panose="02020603050405020304" pitchFamily="18" charset="0"/>
              </a:endParaRPr>
            </a:p>
          </p:txBody>
        </p:sp>
        <p:sp>
          <p:nvSpPr>
            <p:cNvPr id="43" name="Freeform 56">
              <a:extLst>
                <a:ext uri="{FF2B5EF4-FFF2-40B4-BE49-F238E27FC236}">
                  <a16:creationId xmlns:a16="http://schemas.microsoft.com/office/drawing/2014/main" id="{A6E6C854-81F2-4F6F-A145-0664AFD1E0AB}"/>
                </a:ext>
              </a:extLst>
            </p:cNvPr>
            <p:cNvSpPr>
              <a:spLocks/>
            </p:cNvSpPr>
            <p:nvPr/>
          </p:nvSpPr>
          <p:spPr bwMode="auto">
            <a:xfrm>
              <a:off x="5930" y="2530894"/>
              <a:ext cx="5681099" cy="1558154"/>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7699">
                                            <p:txEl>
                                              <p:pRg st="0" end="0"/>
                                            </p:txEl>
                                          </p:spTgt>
                                        </p:tgtEl>
                                        <p:attrNameLst>
                                          <p:attrName>style.visibility</p:attrName>
                                        </p:attrNameLst>
                                      </p:cBhvr>
                                      <p:to>
                                        <p:strVal val="visible"/>
                                      </p:to>
                                    </p:set>
                                    <p:animEffect transition="in" filter="wipe(left)">
                                      <p:cBhvr>
                                        <p:cTn id="7" dur="500"/>
                                        <p:tgtEl>
                                          <p:spTgt spid="1437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7700"/>
                                        </p:tgtEl>
                                        <p:attrNameLst>
                                          <p:attrName>style.visibility</p:attrName>
                                        </p:attrNameLst>
                                      </p:cBhvr>
                                      <p:to>
                                        <p:strVal val="visible"/>
                                      </p:to>
                                    </p:set>
                                    <p:animEffect transition="in" filter="dissolve">
                                      <p:cBhvr>
                                        <p:cTn id="12" dur="500"/>
                                        <p:tgtEl>
                                          <p:spTgt spid="14377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37709"/>
                                        </p:tgtEl>
                                        <p:attrNameLst>
                                          <p:attrName>style.visibility</p:attrName>
                                        </p:attrNameLst>
                                      </p:cBhvr>
                                      <p:to>
                                        <p:strVal val="visible"/>
                                      </p:to>
                                    </p:set>
                                    <p:animEffect transition="in" filter="dissolve">
                                      <p:cBhvr>
                                        <p:cTn id="17" dur="500"/>
                                        <p:tgtEl>
                                          <p:spTgt spid="143770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437706"/>
                                        </p:tgtEl>
                                        <p:attrNameLst>
                                          <p:attrName>style.visibility</p:attrName>
                                        </p:attrNameLst>
                                      </p:cBhvr>
                                      <p:to>
                                        <p:strVal val="visible"/>
                                      </p:to>
                                    </p:set>
                                    <p:animEffect transition="in" filter="dissolve">
                                      <p:cBhvr>
                                        <p:cTn id="21" dur="500"/>
                                        <p:tgtEl>
                                          <p:spTgt spid="1437706"/>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1437712"/>
                                        </p:tgtEl>
                                        <p:attrNameLst>
                                          <p:attrName>style.visibility</p:attrName>
                                        </p:attrNameLst>
                                      </p:cBhvr>
                                      <p:to>
                                        <p:strVal val="visible"/>
                                      </p:to>
                                    </p:set>
                                    <p:animEffect transition="in" filter="dissolve">
                                      <p:cBhvr>
                                        <p:cTn id="25" dur="500"/>
                                        <p:tgtEl>
                                          <p:spTgt spid="1437712"/>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circle(in)">
                                      <p:cBhvr>
                                        <p:cTn id="30" dur="20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437729"/>
                                        </p:tgtEl>
                                        <p:attrNameLst>
                                          <p:attrName>style.visibility</p:attrName>
                                        </p:attrNameLst>
                                      </p:cBhvr>
                                      <p:to>
                                        <p:strVal val="visible"/>
                                      </p:to>
                                    </p:set>
                                    <p:animEffect transition="in" filter="dissolve">
                                      <p:cBhvr>
                                        <p:cTn id="35" dur="500"/>
                                        <p:tgtEl>
                                          <p:spTgt spid="1437729"/>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437714"/>
                                        </p:tgtEl>
                                        <p:attrNameLst>
                                          <p:attrName>style.visibility</p:attrName>
                                        </p:attrNameLst>
                                      </p:cBhvr>
                                      <p:to>
                                        <p:strVal val="visible"/>
                                      </p:to>
                                    </p:set>
                                    <p:animEffect transition="in" filter="dissolve">
                                      <p:cBhvr>
                                        <p:cTn id="40" dur="500"/>
                                        <p:tgtEl>
                                          <p:spTgt spid="1437714"/>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1437728"/>
                                        </p:tgtEl>
                                        <p:attrNameLst>
                                          <p:attrName>style.visibility</p:attrName>
                                        </p:attrNameLst>
                                      </p:cBhvr>
                                      <p:to>
                                        <p:strVal val="visible"/>
                                      </p:to>
                                    </p:set>
                                    <p:animEffect transition="in" filter="dissolve">
                                      <p:cBhvr>
                                        <p:cTn id="44" dur="500"/>
                                        <p:tgtEl>
                                          <p:spTgt spid="1437728"/>
                                        </p:tgtEl>
                                      </p:cBhvr>
                                    </p:animEffect>
                                  </p:childTnLst>
                                </p:cTn>
                              </p:par>
                            </p:childTnLst>
                          </p:cTn>
                        </p:par>
                        <p:par>
                          <p:cTn id="45" fill="hold">
                            <p:stCondLst>
                              <p:cond delay="1000"/>
                            </p:stCondLst>
                            <p:childTnLst>
                              <p:par>
                                <p:cTn id="46" presetID="9" presetClass="entr" presetSubtype="0" fill="hold" nodeType="afterEffect">
                                  <p:stCondLst>
                                    <p:cond delay="0"/>
                                  </p:stCondLst>
                                  <p:childTnLst>
                                    <p:set>
                                      <p:cBhvr>
                                        <p:cTn id="47" dur="1" fill="hold">
                                          <p:stCondLst>
                                            <p:cond delay="0"/>
                                          </p:stCondLst>
                                        </p:cTn>
                                        <p:tgtEl>
                                          <p:spTgt spid="1437715"/>
                                        </p:tgtEl>
                                        <p:attrNameLst>
                                          <p:attrName>style.visibility</p:attrName>
                                        </p:attrNameLst>
                                      </p:cBhvr>
                                      <p:to>
                                        <p:strVal val="visible"/>
                                      </p:to>
                                    </p:set>
                                    <p:animEffect transition="in" filter="dissolve">
                                      <p:cBhvr>
                                        <p:cTn id="48" dur="500"/>
                                        <p:tgtEl>
                                          <p:spTgt spid="1437715"/>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437727"/>
                                        </p:tgtEl>
                                        <p:attrNameLst>
                                          <p:attrName>style.visibility</p:attrName>
                                        </p:attrNameLst>
                                      </p:cBhvr>
                                      <p:to>
                                        <p:strVal val="visible"/>
                                      </p:to>
                                    </p:set>
                                    <p:animEffect transition="in" filter="dissolve">
                                      <p:cBhvr>
                                        <p:cTn id="53" dur="500"/>
                                        <p:tgtEl>
                                          <p:spTgt spid="1437727"/>
                                        </p:tgtEl>
                                      </p:cBhvr>
                                    </p:animEffect>
                                  </p:childTnLst>
                                </p:cTn>
                              </p:par>
                            </p:childTnLst>
                          </p:cTn>
                        </p:par>
                        <p:par>
                          <p:cTn id="54" fill="hold">
                            <p:stCondLst>
                              <p:cond delay="500"/>
                            </p:stCondLst>
                            <p:childTnLst>
                              <p:par>
                                <p:cTn id="55" presetID="9" presetClass="entr" presetSubtype="0" fill="hold" nodeType="afterEffect">
                                  <p:stCondLst>
                                    <p:cond delay="0"/>
                                  </p:stCondLst>
                                  <p:childTnLst>
                                    <p:set>
                                      <p:cBhvr>
                                        <p:cTn id="56" dur="1" fill="hold">
                                          <p:stCondLst>
                                            <p:cond delay="0"/>
                                          </p:stCondLst>
                                        </p:cTn>
                                        <p:tgtEl>
                                          <p:spTgt spid="1437713"/>
                                        </p:tgtEl>
                                        <p:attrNameLst>
                                          <p:attrName>style.visibility</p:attrName>
                                        </p:attrNameLst>
                                      </p:cBhvr>
                                      <p:to>
                                        <p:strVal val="visible"/>
                                      </p:to>
                                    </p:set>
                                    <p:animEffect transition="in" filter="dissolve">
                                      <p:cBhvr>
                                        <p:cTn id="57" dur="500"/>
                                        <p:tgtEl>
                                          <p:spTgt spid="1437713"/>
                                        </p:tgtEl>
                                      </p:cBhvr>
                                    </p:animEffect>
                                  </p:childTnLst>
                                </p:cTn>
                              </p:par>
                            </p:childTnLst>
                          </p:cTn>
                        </p:par>
                        <p:par>
                          <p:cTn id="58" fill="hold">
                            <p:stCondLst>
                              <p:cond delay="1000"/>
                            </p:stCondLst>
                            <p:childTnLst>
                              <p:par>
                                <p:cTn id="59" presetID="9" presetClass="entr" presetSubtype="0" fill="hold" nodeType="afterEffect">
                                  <p:stCondLst>
                                    <p:cond delay="2000"/>
                                  </p:stCondLst>
                                  <p:childTnLst>
                                    <p:set>
                                      <p:cBhvr>
                                        <p:cTn id="60" dur="1" fill="hold">
                                          <p:stCondLst>
                                            <p:cond delay="0"/>
                                          </p:stCondLst>
                                        </p:cTn>
                                        <p:tgtEl>
                                          <p:spTgt spid="1437718"/>
                                        </p:tgtEl>
                                        <p:attrNameLst>
                                          <p:attrName>style.visibility</p:attrName>
                                        </p:attrNameLst>
                                      </p:cBhvr>
                                      <p:to>
                                        <p:strVal val="visible"/>
                                      </p:to>
                                    </p:set>
                                    <p:animEffect transition="in" filter="dissolve">
                                      <p:cBhvr>
                                        <p:cTn id="61" dur="500"/>
                                        <p:tgtEl>
                                          <p:spTgt spid="1437718"/>
                                        </p:tgtEl>
                                      </p:cBhvr>
                                    </p:animEffect>
                                  </p:childTnLst>
                                </p:cTn>
                              </p:par>
                            </p:childTnLst>
                          </p:cTn>
                        </p:par>
                        <p:par>
                          <p:cTn id="62" fill="hold">
                            <p:stCondLst>
                              <p:cond delay="3500"/>
                            </p:stCondLst>
                            <p:childTnLst>
                              <p:par>
                                <p:cTn id="63" presetID="9" presetClass="entr" presetSubtype="0" fill="hold" grpId="0" nodeType="afterEffect">
                                  <p:stCondLst>
                                    <p:cond delay="0"/>
                                  </p:stCondLst>
                                  <p:childTnLst>
                                    <p:set>
                                      <p:cBhvr>
                                        <p:cTn id="64" dur="1" fill="hold">
                                          <p:stCondLst>
                                            <p:cond delay="0"/>
                                          </p:stCondLst>
                                        </p:cTn>
                                        <p:tgtEl>
                                          <p:spTgt spid="1437725"/>
                                        </p:tgtEl>
                                        <p:attrNameLst>
                                          <p:attrName>style.visibility</p:attrName>
                                        </p:attrNameLst>
                                      </p:cBhvr>
                                      <p:to>
                                        <p:strVal val="visible"/>
                                      </p:to>
                                    </p:set>
                                    <p:animEffect transition="in" filter="dissolve">
                                      <p:cBhvr>
                                        <p:cTn id="65" dur="500"/>
                                        <p:tgtEl>
                                          <p:spTgt spid="1437725"/>
                                        </p:tgtEl>
                                      </p:cBhvr>
                                    </p:animEffect>
                                  </p:childTnLst>
                                </p:cTn>
                              </p:par>
                            </p:childTnLst>
                          </p:cTn>
                        </p:par>
                        <p:par>
                          <p:cTn id="66" fill="hold">
                            <p:stCondLst>
                              <p:cond delay="4000"/>
                            </p:stCondLst>
                            <p:childTnLst>
                              <p:par>
                                <p:cTn id="67" presetID="9" presetClass="entr" presetSubtype="0" fill="hold" nodeType="afterEffect">
                                  <p:stCondLst>
                                    <p:cond delay="2000"/>
                                  </p:stCondLst>
                                  <p:childTnLst>
                                    <p:set>
                                      <p:cBhvr>
                                        <p:cTn id="68" dur="1" fill="hold">
                                          <p:stCondLst>
                                            <p:cond delay="0"/>
                                          </p:stCondLst>
                                        </p:cTn>
                                        <p:tgtEl>
                                          <p:spTgt spid="1437721"/>
                                        </p:tgtEl>
                                        <p:attrNameLst>
                                          <p:attrName>style.visibility</p:attrName>
                                        </p:attrNameLst>
                                      </p:cBhvr>
                                      <p:to>
                                        <p:strVal val="visible"/>
                                      </p:to>
                                    </p:set>
                                    <p:animEffect transition="in" filter="dissolve">
                                      <p:cBhvr>
                                        <p:cTn id="69" dur="500"/>
                                        <p:tgtEl>
                                          <p:spTgt spid="1437721"/>
                                        </p:tgtEl>
                                      </p:cBhvr>
                                    </p:animEffect>
                                  </p:childTnLst>
                                </p:cTn>
                              </p:par>
                            </p:childTnLst>
                          </p:cTn>
                        </p:par>
                        <p:par>
                          <p:cTn id="70" fill="hold">
                            <p:stCondLst>
                              <p:cond delay="6500"/>
                            </p:stCondLst>
                            <p:childTnLst>
                              <p:par>
                                <p:cTn id="71" presetID="9" presetClass="entr" presetSubtype="0" fill="hold" grpId="0" nodeType="afterEffect">
                                  <p:stCondLst>
                                    <p:cond delay="0"/>
                                  </p:stCondLst>
                                  <p:childTnLst>
                                    <p:set>
                                      <p:cBhvr>
                                        <p:cTn id="72" dur="1" fill="hold">
                                          <p:stCondLst>
                                            <p:cond delay="0"/>
                                          </p:stCondLst>
                                        </p:cTn>
                                        <p:tgtEl>
                                          <p:spTgt spid="1437726"/>
                                        </p:tgtEl>
                                        <p:attrNameLst>
                                          <p:attrName>style.visibility</p:attrName>
                                        </p:attrNameLst>
                                      </p:cBhvr>
                                      <p:to>
                                        <p:strVal val="visible"/>
                                      </p:to>
                                    </p:set>
                                    <p:animEffect transition="in" filter="dissolve">
                                      <p:cBhvr>
                                        <p:cTn id="73" dur="500"/>
                                        <p:tgtEl>
                                          <p:spTgt spid="1437726"/>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1437716"/>
                                        </p:tgtEl>
                                        <p:attrNameLst>
                                          <p:attrName>style.visibility</p:attrName>
                                        </p:attrNameLst>
                                      </p:cBhvr>
                                      <p:to>
                                        <p:strVal val="visible"/>
                                      </p:to>
                                    </p:set>
                                    <p:animEffect transition="in" filter="dissolve">
                                      <p:cBhvr>
                                        <p:cTn id="78" dur="500"/>
                                        <p:tgtEl>
                                          <p:spTgt spid="1437716"/>
                                        </p:tgtEl>
                                      </p:cBhvr>
                                    </p:animEffect>
                                  </p:childTnLst>
                                </p:cTn>
                              </p:par>
                            </p:childTnLst>
                          </p:cTn>
                        </p:par>
                        <p:par>
                          <p:cTn id="79" fill="hold">
                            <p:stCondLst>
                              <p:cond delay="500"/>
                            </p:stCondLst>
                            <p:childTnLst>
                              <p:par>
                                <p:cTn id="80" presetID="9" presetClass="entr" presetSubtype="0" fill="hold" nodeType="afterEffect">
                                  <p:stCondLst>
                                    <p:cond delay="0"/>
                                  </p:stCondLst>
                                  <p:childTnLst>
                                    <p:set>
                                      <p:cBhvr>
                                        <p:cTn id="81" dur="1" fill="hold">
                                          <p:stCondLst>
                                            <p:cond delay="0"/>
                                          </p:stCondLst>
                                        </p:cTn>
                                        <p:tgtEl>
                                          <p:spTgt spid="1437717"/>
                                        </p:tgtEl>
                                        <p:attrNameLst>
                                          <p:attrName>style.visibility</p:attrName>
                                        </p:attrNameLst>
                                      </p:cBhvr>
                                      <p:to>
                                        <p:strVal val="visible"/>
                                      </p:to>
                                    </p:set>
                                    <p:animEffect transition="in" filter="dissolve">
                                      <p:cBhvr>
                                        <p:cTn id="82" dur="500"/>
                                        <p:tgtEl>
                                          <p:spTgt spid="1437717"/>
                                        </p:tgtEl>
                                      </p:cBhvr>
                                    </p:animEffect>
                                  </p:childTnLst>
                                </p:cTn>
                              </p:par>
                            </p:childTnLst>
                          </p:cTn>
                        </p:par>
                        <p:par>
                          <p:cTn id="83" fill="hold">
                            <p:stCondLst>
                              <p:cond delay="1000"/>
                            </p:stCondLst>
                            <p:childTnLst>
                              <p:par>
                                <p:cTn id="84" presetID="9" presetClass="entr" presetSubtype="0" fill="hold" grpId="0" nodeType="afterEffect">
                                  <p:stCondLst>
                                    <p:cond delay="0"/>
                                  </p:stCondLst>
                                  <p:childTnLst>
                                    <p:set>
                                      <p:cBhvr>
                                        <p:cTn id="85" dur="1" fill="hold">
                                          <p:stCondLst>
                                            <p:cond delay="0"/>
                                          </p:stCondLst>
                                        </p:cTn>
                                        <p:tgtEl>
                                          <p:spTgt spid="1437724"/>
                                        </p:tgtEl>
                                        <p:attrNameLst>
                                          <p:attrName>style.visibility</p:attrName>
                                        </p:attrNameLst>
                                      </p:cBhvr>
                                      <p:to>
                                        <p:strVal val="visible"/>
                                      </p:to>
                                    </p:set>
                                    <p:animEffect transition="in" filter="dissolve">
                                      <p:cBhvr>
                                        <p:cTn id="86" dur="500"/>
                                        <p:tgtEl>
                                          <p:spTgt spid="1437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699" grpId="0" build="p"/>
      <p:bldP spid="1437712" grpId="0"/>
      <p:bldP spid="1437724" grpId="0"/>
      <p:bldP spid="1437725" grpId="0"/>
      <p:bldP spid="1437726" grpId="0"/>
      <p:bldP spid="1437727" grpId="0"/>
      <p:bldP spid="143772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8722" name="组合 1438721"/>
          <p:cNvGrpSpPr/>
          <p:nvPr/>
        </p:nvGrpSpPr>
        <p:grpSpPr>
          <a:xfrm>
            <a:off x="729632" y="3247200"/>
            <a:ext cx="2906264" cy="2774086"/>
            <a:chOff x="607" y="1776"/>
            <a:chExt cx="1909" cy="2380"/>
          </a:xfrm>
        </p:grpSpPr>
        <p:sp>
          <p:nvSpPr>
            <p:cNvPr id="33820" name="直接连接符 1438722"/>
            <p:cNvSpPr/>
            <p:nvPr/>
          </p:nvSpPr>
          <p:spPr>
            <a:xfrm flipV="1">
              <a:off x="1574" y="1855"/>
              <a:ext cx="0" cy="2301"/>
            </a:xfrm>
            <a:prstGeom prst="line">
              <a:avLst/>
            </a:prstGeom>
            <a:ln w="57150" cap="sq" cmpd="sng">
              <a:solidFill>
                <a:schemeClr val="tx1"/>
              </a:solidFill>
              <a:prstDash val="solid"/>
              <a:headEnd type="none" w="med" len="med"/>
              <a:tailEnd type="triangle" w="med" len="med"/>
            </a:ln>
          </p:spPr>
        </p:sp>
        <p:sp>
          <p:nvSpPr>
            <p:cNvPr id="33821" name="直接连接符 1438723"/>
            <p:cNvSpPr/>
            <p:nvPr/>
          </p:nvSpPr>
          <p:spPr>
            <a:xfrm>
              <a:off x="607" y="3212"/>
              <a:ext cx="1701" cy="0"/>
            </a:xfrm>
            <a:prstGeom prst="line">
              <a:avLst/>
            </a:prstGeom>
            <a:ln w="57150" cap="sq" cmpd="sng">
              <a:solidFill>
                <a:schemeClr val="tx1"/>
              </a:solidFill>
              <a:prstDash val="solid"/>
              <a:headEnd type="none" w="med" len="med"/>
              <a:tailEnd type="triangle" w="med" len="med"/>
            </a:ln>
          </p:spPr>
        </p:sp>
        <p:sp>
          <p:nvSpPr>
            <p:cNvPr id="33822" name="矩形 1438724"/>
            <p:cNvSpPr/>
            <p:nvPr/>
          </p:nvSpPr>
          <p:spPr>
            <a:xfrm>
              <a:off x="1450" y="1776"/>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3823" name="矩形 1438725"/>
            <p:cNvSpPr/>
            <p:nvPr/>
          </p:nvSpPr>
          <p:spPr>
            <a:xfrm>
              <a:off x="2236" y="3050"/>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3824" name="矩形 1438726"/>
            <p:cNvSpPr/>
            <p:nvPr/>
          </p:nvSpPr>
          <p:spPr>
            <a:xfrm>
              <a:off x="1535" y="3212"/>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1438728" name="内容占位符 1438727"/>
          <p:cNvSpPr>
            <a:spLocks noGrp="1"/>
          </p:cNvSpPr>
          <p:nvPr>
            <p:ph idx="4294967295"/>
          </p:nvPr>
        </p:nvSpPr>
        <p:spPr>
          <a:xfrm>
            <a:off x="0" y="862014"/>
            <a:ext cx="8794750" cy="1354138"/>
          </a:xfrm>
        </p:spPr>
        <p:txBody>
          <a:bodyPr vert="horz" wrap="square" lIns="91440" tIns="45720" rIns="91440" bIns="45720" anchor="t" anchorCtr="0"/>
          <a:lstStyle/>
          <a:p>
            <a:pPr eaLnBrk="1" hangingPunct="1">
              <a:lnSpc>
                <a:spcPct val="120000"/>
              </a:lnSpc>
              <a:spcBef>
                <a:spcPct val="0"/>
              </a:spcBef>
              <a:buClrTx/>
              <a:buFontTx/>
              <a:buNone/>
            </a:pPr>
            <a:r>
              <a:rPr lang="en-US" altLang="zh-CN" sz="2800" b="1" dirty="0">
                <a:sym typeface="Symbol" panose="05050102010706020507" pitchFamily="18" charset="2"/>
              </a:rPr>
              <a:t>   </a:t>
            </a:r>
            <a:r>
              <a:rPr lang="en-US" altLang="zh-CN" b="1" dirty="0">
                <a:latin typeface="宋体" panose="02010600030101010101" pitchFamily="2" charset="-122"/>
                <a:sym typeface="Symbol" panose="05050102010706020507" pitchFamily="18" charset="2"/>
              </a:rPr>
              <a:t>(4) </a:t>
            </a:r>
            <a:r>
              <a:rPr lang="en-US" altLang="zh-CN" b="1" i="1" dirty="0">
                <a:latin typeface="宋体" panose="02010600030101010101" pitchFamily="2" charset="-122"/>
              </a:rPr>
              <a:t>ξ</a:t>
            </a:r>
            <a:r>
              <a:rPr lang="en-US" altLang="zh-CN" b="1" dirty="0">
                <a:latin typeface="宋体" panose="02010600030101010101" pitchFamily="2" charset="-122"/>
                <a:sym typeface="Symbol" panose="05050102010706020507" pitchFamily="18" charset="2"/>
              </a:rPr>
              <a:t>=0 </a:t>
            </a:r>
            <a:r>
              <a:rPr lang="zh-CN" altLang="en-US" b="1" dirty="0">
                <a:latin typeface="宋体" panose="02010600030101010101" pitchFamily="2" charset="-122"/>
              </a:rPr>
              <a:t>时，特征根为一对幅值相等的虚根，位于</a:t>
            </a:r>
            <a:r>
              <a:rPr lang="en-US" altLang="zh-CN" b="1" i="1" dirty="0">
                <a:latin typeface="宋体" panose="02010600030101010101" pitchFamily="2" charset="-122"/>
              </a:rPr>
              <a:t>s</a:t>
            </a:r>
            <a:r>
              <a:rPr lang="zh-CN" altLang="en-US" b="1" dirty="0">
                <a:latin typeface="宋体" panose="02010600030101010101" pitchFamily="2" charset="-122"/>
              </a:rPr>
              <a:t>平面的虚轴上，使得系统的响应表现为无阻尼的</a:t>
            </a:r>
            <a:r>
              <a:rPr lang="zh-CN" altLang="en-US" b="1" dirty="0">
                <a:solidFill>
                  <a:srgbClr val="FF0000"/>
                </a:solidFill>
                <a:latin typeface="宋体" panose="02010600030101010101" pitchFamily="2" charset="-122"/>
              </a:rPr>
              <a:t>等幅振荡</a:t>
            </a:r>
            <a:r>
              <a:rPr lang="zh-CN" altLang="en-US" b="1" dirty="0">
                <a:latin typeface="宋体" panose="02010600030101010101" pitchFamily="2" charset="-122"/>
              </a:rPr>
              <a:t>过程。 </a:t>
            </a:r>
            <a:endParaRPr lang="zh-CN" altLang="en-US" dirty="0">
              <a:latin typeface="宋体" panose="02010600030101010101" pitchFamily="2" charset="-122"/>
            </a:endParaRPr>
          </a:p>
        </p:txBody>
      </p:sp>
      <p:grpSp>
        <p:nvGrpSpPr>
          <p:cNvPr id="1438729" name="组合 1438728"/>
          <p:cNvGrpSpPr/>
          <p:nvPr/>
        </p:nvGrpSpPr>
        <p:grpSpPr>
          <a:xfrm>
            <a:off x="2049463" y="4016375"/>
            <a:ext cx="287337" cy="290513"/>
            <a:chOff x="4023" y="3338"/>
            <a:chExt cx="181" cy="183"/>
          </a:xfrm>
        </p:grpSpPr>
        <p:sp>
          <p:nvSpPr>
            <p:cNvPr id="33818" name="直接连接符 1438729"/>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3819" name="直接连接符 1438730"/>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8732" name="组合 1438731"/>
          <p:cNvGrpSpPr/>
          <p:nvPr/>
        </p:nvGrpSpPr>
        <p:grpSpPr>
          <a:xfrm>
            <a:off x="2024434" y="5409653"/>
            <a:ext cx="287337" cy="290513"/>
            <a:chOff x="4023" y="3338"/>
            <a:chExt cx="181" cy="183"/>
          </a:xfrm>
        </p:grpSpPr>
        <p:sp>
          <p:nvSpPr>
            <p:cNvPr id="33816" name="直接连接符 1438732"/>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3817" name="直接连接符 1438733"/>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1438735" name="矩形 1438734"/>
          <p:cNvSpPr/>
          <p:nvPr/>
        </p:nvSpPr>
        <p:spPr>
          <a:xfrm>
            <a:off x="2133600" y="3913188"/>
            <a:ext cx="1028700" cy="519112"/>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r>
              <a:rPr lang="en-US" altLang="zh-CN" sz="2400" i="1" dirty="0">
                <a:solidFill>
                  <a:schemeClr val="tx1"/>
                </a:solidFill>
                <a:latin typeface="Times New Roman" panose="02020603050405020304" pitchFamily="18" charset="0"/>
              </a:rPr>
              <a:t> </a:t>
            </a:r>
            <a:endParaRPr lang="en-US" altLang="zh-CN" sz="2400" dirty="0">
              <a:solidFill>
                <a:schemeClr val="tx1"/>
              </a:solidFill>
              <a:latin typeface="Arial" panose="020B0604020202020204" pitchFamily="34" charset="0"/>
            </a:endParaRPr>
          </a:p>
        </p:txBody>
      </p:sp>
      <p:grpSp>
        <p:nvGrpSpPr>
          <p:cNvPr id="1438736" name="组合 1438735"/>
          <p:cNvGrpSpPr/>
          <p:nvPr/>
        </p:nvGrpSpPr>
        <p:grpSpPr>
          <a:xfrm>
            <a:off x="7362775" y="3678238"/>
            <a:ext cx="287337" cy="290512"/>
            <a:chOff x="4023" y="3338"/>
            <a:chExt cx="181" cy="183"/>
          </a:xfrm>
        </p:grpSpPr>
        <p:sp>
          <p:nvSpPr>
            <p:cNvPr id="33814" name="直接连接符 1438736"/>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3815" name="直接连接符 1438737"/>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8739" name="组合 1438738"/>
          <p:cNvGrpSpPr/>
          <p:nvPr/>
        </p:nvGrpSpPr>
        <p:grpSpPr>
          <a:xfrm flipH="1">
            <a:off x="7380312" y="5638700"/>
            <a:ext cx="287337" cy="290513"/>
            <a:chOff x="4023" y="3338"/>
            <a:chExt cx="181" cy="183"/>
          </a:xfrm>
        </p:grpSpPr>
        <p:sp>
          <p:nvSpPr>
            <p:cNvPr id="33812" name="直接连接符 1438739"/>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3813" name="直接连接符 1438740"/>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1438742" name="组合 1438741"/>
          <p:cNvGrpSpPr/>
          <p:nvPr/>
        </p:nvGrpSpPr>
        <p:grpSpPr>
          <a:xfrm>
            <a:off x="6039034" y="2969021"/>
            <a:ext cx="2997431" cy="3114279"/>
            <a:chOff x="3220" y="1797"/>
            <a:chExt cx="2267" cy="2359"/>
          </a:xfrm>
        </p:grpSpPr>
        <p:sp>
          <p:nvSpPr>
            <p:cNvPr id="33807" name="直接连接符 1438742"/>
            <p:cNvSpPr/>
            <p:nvPr/>
          </p:nvSpPr>
          <p:spPr>
            <a:xfrm flipV="1">
              <a:off x="3818" y="1876"/>
              <a:ext cx="0" cy="2280"/>
            </a:xfrm>
            <a:prstGeom prst="line">
              <a:avLst/>
            </a:prstGeom>
            <a:ln w="57150" cap="sq" cmpd="sng">
              <a:solidFill>
                <a:schemeClr val="tx1"/>
              </a:solidFill>
              <a:prstDash val="solid"/>
              <a:headEnd type="none" w="med" len="med"/>
              <a:tailEnd type="triangle" w="med" len="med"/>
            </a:ln>
          </p:spPr>
        </p:sp>
        <p:sp>
          <p:nvSpPr>
            <p:cNvPr id="33808" name="直接连接符 1438743"/>
            <p:cNvSpPr/>
            <p:nvPr/>
          </p:nvSpPr>
          <p:spPr>
            <a:xfrm>
              <a:off x="3220" y="3213"/>
              <a:ext cx="1987" cy="0"/>
            </a:xfrm>
            <a:prstGeom prst="line">
              <a:avLst/>
            </a:prstGeom>
            <a:ln w="57150" cap="sq" cmpd="sng">
              <a:solidFill>
                <a:schemeClr val="tx1"/>
              </a:solidFill>
              <a:prstDash val="solid"/>
              <a:headEnd type="none" w="med" len="med"/>
              <a:tailEnd type="triangle" w="med" len="med"/>
            </a:ln>
          </p:spPr>
        </p:sp>
        <p:sp>
          <p:nvSpPr>
            <p:cNvPr id="33809" name="矩形 1438744"/>
            <p:cNvSpPr/>
            <p:nvPr/>
          </p:nvSpPr>
          <p:spPr>
            <a:xfrm>
              <a:off x="3694" y="1797"/>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3810" name="矩形 1438745"/>
            <p:cNvSpPr/>
            <p:nvPr/>
          </p:nvSpPr>
          <p:spPr>
            <a:xfrm>
              <a:off x="5207" y="3051"/>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3811" name="矩形 1438746"/>
            <p:cNvSpPr/>
            <p:nvPr/>
          </p:nvSpPr>
          <p:spPr>
            <a:xfrm flipH="1">
              <a:off x="3779" y="3233"/>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aphicFrame>
        <p:nvGraphicFramePr>
          <p:cNvPr id="33804" name="对象 1438748"/>
          <p:cNvGraphicFramePr/>
          <p:nvPr/>
        </p:nvGraphicFramePr>
        <p:xfrm>
          <a:off x="2700338" y="79375"/>
          <a:ext cx="4535487" cy="871538"/>
        </p:xfrm>
        <a:graphic>
          <a:graphicData uri="http://schemas.openxmlformats.org/presentationml/2006/ole">
            <mc:AlternateContent xmlns:mc="http://schemas.openxmlformats.org/markup-compatibility/2006">
              <mc:Choice xmlns:v="urn:schemas-microsoft-com:vml" Requires="v">
                <p:oleObj spid="_x0000_s22536" r:id="rId3" imgW="1319530" imgH="254000" progId="Equation.3">
                  <p:embed/>
                </p:oleObj>
              </mc:Choice>
              <mc:Fallback>
                <p:oleObj r:id="rId3" imgW="1319530" imgH="254000" progId="Equation.3">
                  <p:embed/>
                  <p:pic>
                    <p:nvPicPr>
                      <p:cNvPr id="0" name="图片 3109"/>
                      <p:cNvPicPr/>
                      <p:nvPr/>
                    </p:nvPicPr>
                    <p:blipFill>
                      <a:blip r:embed="rId4"/>
                      <a:stretch>
                        <a:fillRect/>
                      </a:stretch>
                    </p:blipFill>
                    <p:spPr>
                      <a:xfrm>
                        <a:off x="2700338" y="79375"/>
                        <a:ext cx="4535487" cy="871538"/>
                      </a:xfrm>
                      <a:prstGeom prst="rect">
                        <a:avLst/>
                      </a:prstGeom>
                      <a:noFill/>
                      <a:ln w="38100">
                        <a:noFill/>
                        <a:miter/>
                      </a:ln>
                    </p:spPr>
                  </p:pic>
                </p:oleObj>
              </mc:Fallback>
            </mc:AlternateContent>
          </a:graphicData>
        </a:graphic>
      </p:graphicFrame>
      <p:sp>
        <p:nvSpPr>
          <p:cNvPr id="1438750" name="矩形 1438749"/>
          <p:cNvSpPr/>
          <p:nvPr/>
        </p:nvSpPr>
        <p:spPr>
          <a:xfrm>
            <a:off x="7729487" y="3500438"/>
            <a:ext cx="442913" cy="519112"/>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1438751" name="矩形 1438750"/>
          <p:cNvSpPr/>
          <p:nvPr/>
        </p:nvSpPr>
        <p:spPr>
          <a:xfrm>
            <a:off x="7826399" y="5502175"/>
            <a:ext cx="442913" cy="519113"/>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sp>
        <p:nvSpPr>
          <p:cNvPr id="33" name="Freeform 56">
            <a:extLst>
              <a:ext uri="{FF2B5EF4-FFF2-40B4-BE49-F238E27FC236}">
                <a16:creationId xmlns:a16="http://schemas.microsoft.com/office/drawing/2014/main" id="{2347B057-5646-40B9-B47D-461DB28EB3FA}"/>
              </a:ext>
            </a:extLst>
          </p:cNvPr>
          <p:cNvSpPr>
            <a:spLocks/>
          </p:cNvSpPr>
          <p:nvPr/>
        </p:nvSpPr>
        <p:spPr bwMode="auto">
          <a:xfrm>
            <a:off x="0" y="958912"/>
            <a:ext cx="9036496" cy="105804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nvGrpSpPr>
          <p:cNvPr id="2" name="组合 1">
            <a:extLst>
              <a:ext uri="{FF2B5EF4-FFF2-40B4-BE49-F238E27FC236}">
                <a16:creationId xmlns:a16="http://schemas.microsoft.com/office/drawing/2014/main" id="{7A07E7F3-4380-4257-BAA0-6D325FA70466}"/>
              </a:ext>
            </a:extLst>
          </p:cNvPr>
          <p:cNvGrpSpPr/>
          <p:nvPr/>
        </p:nvGrpSpPr>
        <p:grpSpPr>
          <a:xfrm>
            <a:off x="42633" y="2069284"/>
            <a:ext cx="6558192" cy="1283296"/>
            <a:chOff x="42633" y="2069284"/>
            <a:chExt cx="6558192" cy="1283296"/>
          </a:xfrm>
        </p:grpSpPr>
        <p:sp>
          <p:nvSpPr>
            <p:cNvPr id="1438748" name="文本框 1438747"/>
            <p:cNvSpPr txBox="1"/>
            <p:nvPr/>
          </p:nvSpPr>
          <p:spPr>
            <a:xfrm>
              <a:off x="104775" y="2070980"/>
              <a:ext cx="6496050" cy="1081002"/>
            </a:xfrm>
            <a:prstGeom prst="rect">
              <a:avLst/>
            </a:prstGeom>
            <a:noFill/>
            <a:ln w="9525">
              <a:noFill/>
            </a:ln>
          </p:spPr>
          <p:txBody>
            <a:bodyPr wrap="square">
              <a:spAutoFit/>
            </a:bodyPr>
            <a:lstStyle/>
            <a:p>
              <a:pPr>
                <a:lnSpc>
                  <a:spcPct val="130000"/>
                </a:lnSpc>
                <a:spcBef>
                  <a:spcPct val="0"/>
                </a:spcBef>
              </a:pP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400" dirty="0">
                  <a:solidFill>
                    <a:schemeClr val="tx1"/>
                  </a:solidFill>
                  <a:latin typeface="Times New Roman" panose="02020603050405020304" pitchFamily="18" charset="0"/>
                  <a:sym typeface="Symbol" panose="05050102010706020507" pitchFamily="18" charset="2"/>
                </a:rPr>
                <a:t>(5) </a:t>
              </a:r>
              <a:r>
                <a:rPr lang="en-US" altLang="zh-CN" sz="2400" i="1" dirty="0">
                  <a:solidFill>
                    <a:schemeClr val="tx1"/>
                  </a:solidFill>
                  <a:latin typeface="Times New Roman" panose="02020603050405020304" pitchFamily="18" charset="0"/>
                </a:rPr>
                <a:t>ξ</a:t>
              </a:r>
              <a:r>
                <a:rPr lang="en-US" altLang="zh-CN" sz="2400" dirty="0">
                  <a:solidFill>
                    <a:schemeClr val="tx1"/>
                  </a:solidFill>
                  <a:latin typeface="Times New Roman" panose="02020603050405020304" pitchFamily="18" charset="0"/>
                  <a:sym typeface="Symbol" panose="05050102010706020507" pitchFamily="18" charset="2"/>
                </a:rPr>
                <a:t> &lt; 0 </a:t>
              </a:r>
              <a:r>
                <a:rPr lang="zh-CN" altLang="en-US" sz="2400" dirty="0">
                  <a:solidFill>
                    <a:schemeClr val="tx1"/>
                  </a:solidFill>
                  <a:latin typeface="Times New Roman" panose="02020603050405020304" pitchFamily="18" charset="0"/>
                </a:rPr>
                <a:t>时，特征根位于</a:t>
              </a:r>
              <a:r>
                <a:rPr lang="en-US" altLang="zh-CN" sz="2400" i="1" dirty="0">
                  <a:solidFill>
                    <a:schemeClr val="tx1"/>
                  </a:solidFill>
                  <a:latin typeface="Times New Roman" panose="02020603050405020304" pitchFamily="18" charset="0"/>
                </a:rPr>
                <a:t>s</a:t>
              </a:r>
              <a:r>
                <a:rPr lang="zh-CN" altLang="en-US" sz="2400" dirty="0">
                  <a:solidFill>
                    <a:schemeClr val="tx1"/>
                  </a:solidFill>
                  <a:latin typeface="Times New Roman" panose="02020603050405020304" pitchFamily="18" charset="0"/>
                </a:rPr>
                <a:t>平面的右半平面，使得系统的响应表现为幅值随时间增加而</a:t>
              </a:r>
              <a:r>
                <a:rPr lang="zh-CN" altLang="en-US" sz="2400" dirty="0">
                  <a:solidFill>
                    <a:srgbClr val="FF0000"/>
                  </a:solidFill>
                  <a:latin typeface="Times New Roman" panose="02020603050405020304" pitchFamily="18" charset="0"/>
                </a:rPr>
                <a:t>发散</a:t>
              </a:r>
              <a:r>
                <a:rPr lang="zh-CN" altLang="en-US" sz="2400" dirty="0">
                  <a:solidFill>
                    <a:schemeClr val="tx1"/>
                  </a:solidFill>
                  <a:latin typeface="Times New Roman" panose="02020603050405020304" pitchFamily="18" charset="0"/>
                </a:rPr>
                <a:t>。</a:t>
              </a:r>
              <a:endParaRPr lang="zh-CN" altLang="en-US" sz="2400" b="0" dirty="0">
                <a:solidFill>
                  <a:schemeClr val="tx1"/>
                </a:solidFill>
                <a:latin typeface="Times New Roman" panose="02020603050405020304" pitchFamily="18" charset="0"/>
              </a:endParaRPr>
            </a:p>
          </p:txBody>
        </p:sp>
        <p:sp>
          <p:nvSpPr>
            <p:cNvPr id="34" name="Freeform 56">
              <a:extLst>
                <a:ext uri="{FF2B5EF4-FFF2-40B4-BE49-F238E27FC236}">
                  <a16:creationId xmlns:a16="http://schemas.microsoft.com/office/drawing/2014/main" id="{426E9657-3C31-4ED8-AC78-F71491055986}"/>
                </a:ext>
              </a:extLst>
            </p:cNvPr>
            <p:cNvSpPr>
              <a:spLocks/>
            </p:cNvSpPr>
            <p:nvPr/>
          </p:nvSpPr>
          <p:spPr bwMode="auto">
            <a:xfrm>
              <a:off x="42633" y="2069284"/>
              <a:ext cx="6494873" cy="128329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8728"/>
                                        </p:tgtEl>
                                        <p:attrNameLst>
                                          <p:attrName>style.visibility</p:attrName>
                                        </p:attrNameLst>
                                      </p:cBhvr>
                                      <p:to>
                                        <p:strVal val="visible"/>
                                      </p:to>
                                    </p:set>
                                    <p:animEffect transition="in" filter="blinds(horizontal)">
                                      <p:cBhvr>
                                        <p:cTn id="7" dur="500"/>
                                        <p:tgtEl>
                                          <p:spTgt spid="14387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8722"/>
                                        </p:tgtEl>
                                        <p:attrNameLst>
                                          <p:attrName>style.visibility</p:attrName>
                                        </p:attrNameLst>
                                      </p:cBhvr>
                                      <p:to>
                                        <p:strVal val="visible"/>
                                      </p:to>
                                    </p:set>
                                    <p:animEffect transition="in" filter="dissolve">
                                      <p:cBhvr>
                                        <p:cTn id="12" dur="500"/>
                                        <p:tgtEl>
                                          <p:spTgt spid="143872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38729"/>
                                        </p:tgtEl>
                                        <p:attrNameLst>
                                          <p:attrName>style.visibility</p:attrName>
                                        </p:attrNameLst>
                                      </p:cBhvr>
                                      <p:to>
                                        <p:strVal val="visible"/>
                                      </p:to>
                                    </p:set>
                                    <p:animEffect transition="in" filter="dissolve">
                                      <p:cBhvr>
                                        <p:cTn id="17" dur="500"/>
                                        <p:tgtEl>
                                          <p:spTgt spid="1438729"/>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438735"/>
                                        </p:tgtEl>
                                        <p:attrNameLst>
                                          <p:attrName>style.visibility</p:attrName>
                                        </p:attrNameLst>
                                      </p:cBhvr>
                                      <p:to>
                                        <p:strVal val="visible"/>
                                      </p:to>
                                    </p:set>
                                    <p:animEffect transition="in" filter="dissolve">
                                      <p:cBhvr>
                                        <p:cTn id="21" dur="500"/>
                                        <p:tgtEl>
                                          <p:spTgt spid="1438735"/>
                                        </p:tgtEl>
                                      </p:cBhvr>
                                    </p:animEffect>
                                  </p:childTnLst>
                                </p:cTn>
                              </p:par>
                            </p:childTnLst>
                          </p:cTn>
                        </p:par>
                        <p:par>
                          <p:cTn id="22" fill="hold">
                            <p:stCondLst>
                              <p:cond delay="1000"/>
                            </p:stCondLst>
                            <p:childTnLst>
                              <p:par>
                                <p:cTn id="23" presetID="9" presetClass="entr" presetSubtype="0" fill="hold" nodeType="afterEffect">
                                  <p:stCondLst>
                                    <p:cond delay="2000"/>
                                  </p:stCondLst>
                                  <p:childTnLst>
                                    <p:set>
                                      <p:cBhvr>
                                        <p:cTn id="24" dur="1" fill="hold">
                                          <p:stCondLst>
                                            <p:cond delay="0"/>
                                          </p:stCondLst>
                                        </p:cTn>
                                        <p:tgtEl>
                                          <p:spTgt spid="1438732"/>
                                        </p:tgtEl>
                                        <p:attrNameLst>
                                          <p:attrName>style.visibility</p:attrName>
                                        </p:attrNameLst>
                                      </p:cBhvr>
                                      <p:to>
                                        <p:strVal val="visible"/>
                                      </p:to>
                                    </p:set>
                                    <p:animEffect transition="in" filter="dissolve">
                                      <p:cBhvr>
                                        <p:cTn id="25" dur="500"/>
                                        <p:tgtEl>
                                          <p:spTgt spid="1438732"/>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circle(in)">
                                      <p:cBhvr>
                                        <p:cTn id="30" dur="20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438742"/>
                                        </p:tgtEl>
                                        <p:attrNameLst>
                                          <p:attrName>style.visibility</p:attrName>
                                        </p:attrNameLst>
                                      </p:cBhvr>
                                      <p:to>
                                        <p:strVal val="visible"/>
                                      </p:to>
                                    </p:set>
                                    <p:animEffect transition="in" filter="dissolve">
                                      <p:cBhvr>
                                        <p:cTn id="35" dur="500"/>
                                        <p:tgtEl>
                                          <p:spTgt spid="1438742"/>
                                        </p:tgtEl>
                                      </p:cBhvr>
                                    </p:animEffect>
                                  </p:childTnLst>
                                </p:cTn>
                              </p:par>
                            </p:childTnLst>
                          </p:cTn>
                        </p:par>
                        <p:par>
                          <p:cTn id="36" fill="hold">
                            <p:stCondLst>
                              <p:cond delay="500"/>
                            </p:stCondLst>
                            <p:childTnLst>
                              <p:par>
                                <p:cTn id="37" presetID="9" presetClass="entr" presetSubtype="0" fill="hold" nodeType="afterEffect">
                                  <p:stCondLst>
                                    <p:cond delay="2000"/>
                                  </p:stCondLst>
                                  <p:childTnLst>
                                    <p:set>
                                      <p:cBhvr>
                                        <p:cTn id="38" dur="1" fill="hold">
                                          <p:stCondLst>
                                            <p:cond delay="0"/>
                                          </p:stCondLst>
                                        </p:cTn>
                                        <p:tgtEl>
                                          <p:spTgt spid="1438736"/>
                                        </p:tgtEl>
                                        <p:attrNameLst>
                                          <p:attrName>style.visibility</p:attrName>
                                        </p:attrNameLst>
                                      </p:cBhvr>
                                      <p:to>
                                        <p:strVal val="visible"/>
                                      </p:to>
                                    </p:set>
                                    <p:animEffect transition="in" filter="dissolve">
                                      <p:cBhvr>
                                        <p:cTn id="39" dur="500"/>
                                        <p:tgtEl>
                                          <p:spTgt spid="1438736"/>
                                        </p:tgtEl>
                                      </p:cBhvr>
                                    </p:animEffect>
                                  </p:childTnLst>
                                </p:cTn>
                              </p:par>
                            </p:childTnLst>
                          </p:cTn>
                        </p:par>
                        <p:par>
                          <p:cTn id="40" fill="hold">
                            <p:stCondLst>
                              <p:cond delay="3000"/>
                            </p:stCondLst>
                            <p:childTnLst>
                              <p:par>
                                <p:cTn id="41" presetID="9" presetClass="entr" presetSubtype="0" fill="hold" nodeType="afterEffect">
                                  <p:stCondLst>
                                    <p:cond delay="0"/>
                                  </p:stCondLst>
                                  <p:childTnLst>
                                    <p:set>
                                      <p:cBhvr>
                                        <p:cTn id="42" dur="1" fill="hold">
                                          <p:stCondLst>
                                            <p:cond delay="0"/>
                                          </p:stCondLst>
                                        </p:cTn>
                                        <p:tgtEl>
                                          <p:spTgt spid="1438739"/>
                                        </p:tgtEl>
                                        <p:attrNameLst>
                                          <p:attrName>style.visibility</p:attrName>
                                        </p:attrNameLst>
                                      </p:cBhvr>
                                      <p:to>
                                        <p:strVal val="visible"/>
                                      </p:to>
                                    </p:set>
                                    <p:animEffect transition="in" filter="dissolve">
                                      <p:cBhvr>
                                        <p:cTn id="43" dur="500"/>
                                        <p:tgtEl>
                                          <p:spTgt spid="1438739"/>
                                        </p:tgtEl>
                                      </p:cBhvr>
                                    </p:animEffect>
                                  </p:childTnLst>
                                </p:cTn>
                              </p:par>
                            </p:childTnLst>
                          </p:cTn>
                        </p:par>
                        <p:par>
                          <p:cTn id="44" fill="hold">
                            <p:stCondLst>
                              <p:cond delay="3500"/>
                            </p:stCondLst>
                            <p:childTnLst>
                              <p:par>
                                <p:cTn id="45" presetID="9" presetClass="entr" presetSubtype="0" fill="hold" grpId="0" nodeType="afterEffect">
                                  <p:stCondLst>
                                    <p:cond delay="0"/>
                                  </p:stCondLst>
                                  <p:childTnLst>
                                    <p:set>
                                      <p:cBhvr>
                                        <p:cTn id="46" dur="1" fill="hold">
                                          <p:stCondLst>
                                            <p:cond delay="0"/>
                                          </p:stCondLst>
                                        </p:cTn>
                                        <p:tgtEl>
                                          <p:spTgt spid="1438750"/>
                                        </p:tgtEl>
                                        <p:attrNameLst>
                                          <p:attrName>style.visibility</p:attrName>
                                        </p:attrNameLst>
                                      </p:cBhvr>
                                      <p:to>
                                        <p:strVal val="visible"/>
                                      </p:to>
                                    </p:set>
                                    <p:animEffect transition="in" filter="dissolve">
                                      <p:cBhvr>
                                        <p:cTn id="47" dur="500"/>
                                        <p:tgtEl>
                                          <p:spTgt spid="1438750"/>
                                        </p:tgtEl>
                                      </p:cBhvr>
                                    </p:animEffect>
                                  </p:childTnLst>
                                </p:cTn>
                              </p:par>
                            </p:childTnLst>
                          </p:cTn>
                        </p:par>
                        <p:par>
                          <p:cTn id="48" fill="hold">
                            <p:stCondLst>
                              <p:cond delay="4000"/>
                            </p:stCondLst>
                            <p:childTnLst>
                              <p:par>
                                <p:cTn id="49" presetID="9" presetClass="entr" presetSubtype="0" fill="hold" grpId="0" nodeType="afterEffect">
                                  <p:stCondLst>
                                    <p:cond delay="0"/>
                                  </p:stCondLst>
                                  <p:childTnLst>
                                    <p:set>
                                      <p:cBhvr>
                                        <p:cTn id="50" dur="1" fill="hold">
                                          <p:stCondLst>
                                            <p:cond delay="0"/>
                                          </p:stCondLst>
                                        </p:cTn>
                                        <p:tgtEl>
                                          <p:spTgt spid="1438751"/>
                                        </p:tgtEl>
                                        <p:attrNameLst>
                                          <p:attrName>style.visibility</p:attrName>
                                        </p:attrNameLst>
                                      </p:cBhvr>
                                      <p:to>
                                        <p:strVal val="visible"/>
                                      </p:to>
                                    </p:set>
                                    <p:animEffect transition="in" filter="dissolve">
                                      <p:cBhvr>
                                        <p:cTn id="51" dur="500"/>
                                        <p:tgtEl>
                                          <p:spTgt spid="1438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728" grpId="0"/>
      <p:bldP spid="1438735" grpId="0"/>
      <p:bldP spid="1438750" grpId="0"/>
      <p:bldP spid="143875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a:extLst>
              <a:ext uri="{FF2B5EF4-FFF2-40B4-BE49-F238E27FC236}">
                <a16:creationId xmlns:a16="http://schemas.microsoft.com/office/drawing/2014/main" id="{02F53409-EC3B-456E-AF7D-AEA0087034AE}"/>
              </a:ext>
            </a:extLst>
          </p:cNvPr>
          <p:cNvSpPr txBox="1"/>
          <p:nvPr/>
        </p:nvSpPr>
        <p:spPr>
          <a:xfrm>
            <a:off x="0" y="6099175"/>
            <a:ext cx="9144000" cy="758825"/>
          </a:xfrm>
          <a:prstGeom prst="rect">
            <a:avLst/>
          </a:prstGeom>
          <a:solidFill>
            <a:schemeClr val="bg2"/>
          </a:solidFill>
        </p:spPr>
        <p:txBody>
          <a:bodyPr wrap="square" rtlCol="0">
            <a:spAutoFit/>
          </a:bodyPr>
          <a:lstStyle/>
          <a:p>
            <a:endParaRPr lang="zh-CN" altLang="en-US" dirty="0"/>
          </a:p>
        </p:txBody>
      </p:sp>
      <p:grpSp>
        <p:nvGrpSpPr>
          <p:cNvPr id="2" name="组合 1">
            <a:extLst>
              <a:ext uri="{FF2B5EF4-FFF2-40B4-BE49-F238E27FC236}">
                <a16:creationId xmlns:a16="http://schemas.microsoft.com/office/drawing/2014/main" id="{5EB8375B-8397-42CC-B15B-65E48ED8CD22}"/>
              </a:ext>
            </a:extLst>
          </p:cNvPr>
          <p:cNvGrpSpPr/>
          <p:nvPr/>
        </p:nvGrpSpPr>
        <p:grpSpPr>
          <a:xfrm>
            <a:off x="163513" y="10912"/>
            <a:ext cx="3675062" cy="2802138"/>
            <a:chOff x="163513" y="10912"/>
            <a:chExt cx="3675062" cy="2802138"/>
          </a:xfrm>
        </p:grpSpPr>
        <p:grpSp>
          <p:nvGrpSpPr>
            <p:cNvPr id="1439746" name="组合 1439745"/>
            <p:cNvGrpSpPr/>
            <p:nvPr/>
          </p:nvGrpSpPr>
          <p:grpSpPr>
            <a:xfrm>
              <a:off x="163513" y="150813"/>
              <a:ext cx="3675062" cy="2662237"/>
              <a:chOff x="-96" y="665"/>
              <a:chExt cx="2315" cy="1677"/>
            </a:xfrm>
          </p:grpSpPr>
          <p:grpSp>
            <p:nvGrpSpPr>
              <p:cNvPr id="34876" name="组合 1439746"/>
              <p:cNvGrpSpPr/>
              <p:nvPr/>
            </p:nvGrpSpPr>
            <p:grpSpPr>
              <a:xfrm>
                <a:off x="-96" y="665"/>
                <a:ext cx="2315" cy="1677"/>
                <a:chOff x="2919" y="2551"/>
                <a:chExt cx="2315" cy="1677"/>
              </a:xfrm>
            </p:grpSpPr>
            <p:sp>
              <p:nvSpPr>
                <p:cNvPr id="34885" name="直接连接符 1439747"/>
                <p:cNvSpPr/>
                <p:nvPr/>
              </p:nvSpPr>
              <p:spPr>
                <a:xfrm flipH="1" flipV="1">
                  <a:off x="4549" y="2551"/>
                  <a:ext cx="0" cy="1677"/>
                </a:xfrm>
                <a:prstGeom prst="line">
                  <a:avLst/>
                </a:prstGeom>
                <a:ln w="57150" cap="sq" cmpd="sng">
                  <a:solidFill>
                    <a:schemeClr val="tx1"/>
                  </a:solidFill>
                  <a:prstDash val="solid"/>
                  <a:headEnd type="none" w="med" len="med"/>
                  <a:tailEnd type="triangle" w="med" len="med"/>
                </a:ln>
              </p:spPr>
            </p:sp>
            <p:sp>
              <p:nvSpPr>
                <p:cNvPr id="34886" name="直接连接符 1439748"/>
                <p:cNvSpPr/>
                <p:nvPr/>
              </p:nvSpPr>
              <p:spPr>
                <a:xfrm>
                  <a:off x="2919" y="3647"/>
                  <a:ext cx="2107" cy="0"/>
                </a:xfrm>
                <a:prstGeom prst="line">
                  <a:avLst/>
                </a:prstGeom>
                <a:ln w="57150" cap="sq" cmpd="sng">
                  <a:solidFill>
                    <a:schemeClr val="tx1"/>
                  </a:solidFill>
                  <a:prstDash val="solid"/>
                  <a:headEnd type="none" w="med" len="med"/>
                  <a:tailEnd type="triangle" w="med" len="med"/>
                </a:ln>
              </p:spPr>
            </p:sp>
            <p:sp>
              <p:nvSpPr>
                <p:cNvPr id="34887" name="矩形 1439749"/>
                <p:cNvSpPr/>
                <p:nvPr/>
              </p:nvSpPr>
              <p:spPr>
                <a:xfrm>
                  <a:off x="4424" y="255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4888" name="矩形 1439750"/>
                <p:cNvSpPr/>
                <p:nvPr/>
              </p:nvSpPr>
              <p:spPr>
                <a:xfrm>
                  <a:off x="4954" y="3485"/>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4889" name="矩形 1439751"/>
                <p:cNvSpPr/>
                <p:nvPr/>
              </p:nvSpPr>
              <p:spPr>
                <a:xfrm>
                  <a:off x="4522" y="3680"/>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pSp>
            <p:nvGrpSpPr>
              <p:cNvPr id="34877" name="组合 1439752"/>
              <p:cNvGrpSpPr/>
              <p:nvPr/>
            </p:nvGrpSpPr>
            <p:grpSpPr>
              <a:xfrm>
                <a:off x="147" y="1685"/>
                <a:ext cx="181" cy="183"/>
                <a:chOff x="4023" y="3338"/>
                <a:chExt cx="181" cy="183"/>
              </a:xfrm>
            </p:grpSpPr>
            <p:sp>
              <p:nvSpPr>
                <p:cNvPr id="34883" name="直接连接符 1439753"/>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84" name="直接连接符 1439754"/>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34878" name="组合 1439755"/>
              <p:cNvGrpSpPr/>
              <p:nvPr/>
            </p:nvGrpSpPr>
            <p:grpSpPr>
              <a:xfrm>
                <a:off x="1074" y="1677"/>
                <a:ext cx="181" cy="183"/>
                <a:chOff x="4023" y="3338"/>
                <a:chExt cx="181" cy="183"/>
              </a:xfrm>
            </p:grpSpPr>
            <p:sp>
              <p:nvSpPr>
                <p:cNvPr id="34881" name="直接连接符 1439756"/>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82" name="直接连接符 1439757"/>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34879" name="矩形 1439758"/>
              <p:cNvSpPr/>
              <p:nvPr/>
            </p:nvSpPr>
            <p:spPr>
              <a:xfrm>
                <a:off x="1060" y="1814"/>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34880" name="矩形 1439759"/>
              <p:cNvSpPr/>
              <p:nvPr/>
            </p:nvSpPr>
            <p:spPr>
              <a:xfrm>
                <a:off x="130" y="1840"/>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grpSp>
        <p:sp>
          <p:nvSpPr>
            <p:cNvPr id="34824" name="矩形 1439813"/>
            <p:cNvSpPr/>
            <p:nvPr/>
          </p:nvSpPr>
          <p:spPr>
            <a:xfrm>
              <a:off x="1250552" y="254835"/>
              <a:ext cx="1023144" cy="400110"/>
            </a:xfrm>
            <a:prstGeom prst="rect">
              <a:avLst/>
            </a:prstGeom>
            <a:noFill/>
            <a:ln w="9525">
              <a:noFill/>
            </a:ln>
          </p:spPr>
          <p:txBody>
            <a:bodyPr wrap="square">
              <a:spAutoFit/>
            </a:bodyPr>
            <a:lstStyle/>
            <a:p>
              <a:pPr marL="342900" indent="-342900">
                <a:buFont typeface="Wingdings" panose="05000000000000000000" pitchFamily="2" charset="2"/>
              </a:pPr>
              <a:r>
                <a:rPr lang="en-US" altLang="zh-CN" sz="2000" i="1" dirty="0">
                  <a:solidFill>
                    <a:srgbClr val="000099"/>
                  </a:solidFill>
                  <a:latin typeface="Arial" panose="020B0604020202020204" pitchFamily="34" charset="0"/>
                </a:rPr>
                <a:t>ξ</a:t>
              </a:r>
              <a:r>
                <a:rPr lang="en-US" altLang="zh-CN" sz="2000" dirty="0">
                  <a:solidFill>
                    <a:srgbClr val="000099"/>
                  </a:solidFill>
                  <a:latin typeface="Arial" panose="020B0604020202020204" pitchFamily="34" charset="0"/>
                  <a:sym typeface="Symbol" panose="05050102010706020507" pitchFamily="18" charset="2"/>
                </a:rPr>
                <a:t> &gt; 1</a:t>
              </a:r>
            </a:p>
          </p:txBody>
        </p:sp>
        <p:sp>
          <p:nvSpPr>
            <p:cNvPr id="77" name="椭圆 9">
              <a:extLst>
                <a:ext uri="{FF2B5EF4-FFF2-40B4-BE49-F238E27FC236}">
                  <a16:creationId xmlns:a16="http://schemas.microsoft.com/office/drawing/2014/main" id="{BABCCCB9-7F31-41EC-8708-AD45E0225BD7}"/>
                </a:ext>
              </a:extLst>
            </p:cNvPr>
            <p:cNvSpPr>
              <a:spLocks noChangeArrowheads="1"/>
            </p:cNvSpPr>
            <p:nvPr/>
          </p:nvSpPr>
          <p:spPr bwMode="auto">
            <a:xfrm>
              <a:off x="1163836" y="10912"/>
              <a:ext cx="863205" cy="863205"/>
            </a:xfrm>
            <a:prstGeom prst="ellipse">
              <a:avLst/>
            </a:prstGeom>
            <a:noFill/>
            <a:ln/>
          </p:spPr>
          <p:style>
            <a:lnRef idx="2">
              <a:schemeClr val="dk1"/>
            </a:lnRef>
            <a:fillRef idx="1">
              <a:schemeClr val="lt1"/>
            </a:fillRef>
            <a:effectRef idx="0">
              <a:schemeClr val="dk1"/>
            </a:effectRef>
            <a:fontRef idx="minor">
              <a:schemeClr val="dk1"/>
            </a:fontRef>
          </p:style>
          <p:txBody>
            <a:bodyPr anchor="ctr"/>
            <a:lstStyle/>
            <a:p>
              <a:pPr algn="ctr"/>
              <a:endParaRPr lang="zh-CN" altLang="en-US" dirty="0"/>
            </a:p>
          </p:txBody>
        </p:sp>
      </p:grpSp>
      <p:grpSp>
        <p:nvGrpSpPr>
          <p:cNvPr id="3" name="组合 2">
            <a:extLst>
              <a:ext uri="{FF2B5EF4-FFF2-40B4-BE49-F238E27FC236}">
                <a16:creationId xmlns:a16="http://schemas.microsoft.com/office/drawing/2014/main" id="{651A3296-B727-4484-8F70-C638D4CD77E9}"/>
              </a:ext>
            </a:extLst>
          </p:cNvPr>
          <p:cNvGrpSpPr/>
          <p:nvPr/>
        </p:nvGrpSpPr>
        <p:grpSpPr>
          <a:xfrm>
            <a:off x="4175125" y="17660"/>
            <a:ext cx="3675063" cy="2762053"/>
            <a:chOff x="4175125" y="17660"/>
            <a:chExt cx="3675063" cy="2762053"/>
          </a:xfrm>
        </p:grpSpPr>
        <p:grpSp>
          <p:nvGrpSpPr>
            <p:cNvPr id="1439761" name="组合 1439760"/>
            <p:cNvGrpSpPr/>
            <p:nvPr/>
          </p:nvGrpSpPr>
          <p:grpSpPr>
            <a:xfrm>
              <a:off x="4175125" y="117475"/>
              <a:ext cx="3675063" cy="2662238"/>
              <a:chOff x="157" y="2093"/>
              <a:chExt cx="2315" cy="1677"/>
            </a:xfrm>
          </p:grpSpPr>
          <p:grpSp>
            <p:nvGrpSpPr>
              <p:cNvPr id="34863" name="组合 1439761"/>
              <p:cNvGrpSpPr/>
              <p:nvPr/>
            </p:nvGrpSpPr>
            <p:grpSpPr>
              <a:xfrm>
                <a:off x="157" y="2093"/>
                <a:ext cx="2315" cy="1677"/>
                <a:chOff x="2919" y="2551"/>
                <a:chExt cx="2315" cy="1677"/>
              </a:xfrm>
            </p:grpSpPr>
            <p:sp>
              <p:nvSpPr>
                <p:cNvPr id="34871" name="直接连接符 1439762"/>
                <p:cNvSpPr/>
                <p:nvPr/>
              </p:nvSpPr>
              <p:spPr>
                <a:xfrm flipH="1" flipV="1">
                  <a:off x="4549" y="2551"/>
                  <a:ext cx="0" cy="1677"/>
                </a:xfrm>
                <a:prstGeom prst="line">
                  <a:avLst/>
                </a:prstGeom>
                <a:ln w="57150" cap="sq" cmpd="sng">
                  <a:solidFill>
                    <a:schemeClr val="tx1"/>
                  </a:solidFill>
                  <a:prstDash val="solid"/>
                  <a:headEnd type="none" w="med" len="med"/>
                  <a:tailEnd type="triangle" w="med" len="med"/>
                </a:ln>
              </p:spPr>
            </p:sp>
            <p:sp>
              <p:nvSpPr>
                <p:cNvPr id="34872" name="直接连接符 1439763"/>
                <p:cNvSpPr/>
                <p:nvPr/>
              </p:nvSpPr>
              <p:spPr>
                <a:xfrm>
                  <a:off x="2919" y="3647"/>
                  <a:ext cx="2107" cy="0"/>
                </a:xfrm>
                <a:prstGeom prst="line">
                  <a:avLst/>
                </a:prstGeom>
                <a:ln w="57150" cap="sq" cmpd="sng">
                  <a:solidFill>
                    <a:schemeClr val="tx1"/>
                  </a:solidFill>
                  <a:prstDash val="solid"/>
                  <a:headEnd type="none" w="med" len="med"/>
                  <a:tailEnd type="triangle" w="med" len="med"/>
                </a:ln>
              </p:spPr>
            </p:sp>
            <p:sp>
              <p:nvSpPr>
                <p:cNvPr id="34873" name="矩形 1439764"/>
                <p:cNvSpPr/>
                <p:nvPr/>
              </p:nvSpPr>
              <p:spPr>
                <a:xfrm>
                  <a:off x="4424" y="255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4874" name="矩形 1439765"/>
                <p:cNvSpPr/>
                <p:nvPr/>
              </p:nvSpPr>
              <p:spPr>
                <a:xfrm>
                  <a:off x="4954" y="3485"/>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4875" name="矩形 1439766"/>
                <p:cNvSpPr/>
                <p:nvPr/>
              </p:nvSpPr>
              <p:spPr>
                <a:xfrm>
                  <a:off x="4522" y="3680"/>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pSp>
            <p:nvGrpSpPr>
              <p:cNvPr id="34864" name="组合 1439767"/>
              <p:cNvGrpSpPr/>
              <p:nvPr/>
            </p:nvGrpSpPr>
            <p:grpSpPr>
              <a:xfrm>
                <a:off x="400" y="3113"/>
                <a:ext cx="181" cy="183"/>
                <a:chOff x="4023" y="3338"/>
                <a:chExt cx="181" cy="183"/>
              </a:xfrm>
            </p:grpSpPr>
            <p:sp>
              <p:nvSpPr>
                <p:cNvPr id="34869" name="直接连接符 1439768"/>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70" name="直接连接符 1439769"/>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34865" name="组合 1439770"/>
              <p:cNvGrpSpPr/>
              <p:nvPr/>
            </p:nvGrpSpPr>
            <p:grpSpPr>
              <a:xfrm>
                <a:off x="514" y="3132"/>
                <a:ext cx="181" cy="183"/>
                <a:chOff x="4023" y="3338"/>
                <a:chExt cx="181" cy="183"/>
              </a:xfrm>
            </p:grpSpPr>
            <p:sp>
              <p:nvSpPr>
                <p:cNvPr id="34867" name="直接连接符 1439771"/>
                <p:cNvSpPr/>
                <p:nvPr/>
              </p:nvSpPr>
              <p:spPr>
                <a:xfrm>
                  <a:off x="4025" y="3343"/>
                  <a:ext cx="178" cy="178"/>
                </a:xfrm>
                <a:prstGeom prst="line">
                  <a:avLst/>
                </a:prstGeom>
                <a:ln w="76200" cap="sq" cmpd="sng">
                  <a:solidFill>
                    <a:srgbClr val="333399"/>
                  </a:solidFill>
                  <a:prstDash val="solid"/>
                  <a:headEnd type="none" w="med" len="med"/>
                  <a:tailEnd type="none" w="med" len="med"/>
                </a:ln>
              </p:spPr>
            </p:sp>
            <p:sp>
              <p:nvSpPr>
                <p:cNvPr id="34868" name="直接连接符 1439772"/>
                <p:cNvSpPr/>
                <p:nvPr/>
              </p:nvSpPr>
              <p:spPr>
                <a:xfrm flipH="1">
                  <a:off x="4023" y="3338"/>
                  <a:ext cx="181" cy="181"/>
                </a:xfrm>
                <a:prstGeom prst="line">
                  <a:avLst/>
                </a:prstGeom>
                <a:ln w="76200" cap="sq" cmpd="sng">
                  <a:solidFill>
                    <a:srgbClr val="333399"/>
                  </a:solidFill>
                  <a:prstDash val="solid"/>
                  <a:headEnd type="none" w="med" len="med"/>
                  <a:tailEnd type="none" w="med" len="med"/>
                </a:ln>
              </p:spPr>
            </p:sp>
          </p:grpSp>
          <p:sp>
            <p:nvSpPr>
              <p:cNvPr id="34866" name="矩形 1439773"/>
              <p:cNvSpPr/>
              <p:nvPr/>
            </p:nvSpPr>
            <p:spPr>
              <a:xfrm>
                <a:off x="292" y="3347"/>
                <a:ext cx="672" cy="327"/>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grpSp>
        <p:sp>
          <p:nvSpPr>
            <p:cNvPr id="34825" name="矩形 1439814"/>
            <p:cNvSpPr/>
            <p:nvPr/>
          </p:nvSpPr>
          <p:spPr>
            <a:xfrm>
              <a:off x="5118101" y="250826"/>
              <a:ext cx="1008063" cy="396875"/>
            </a:xfrm>
            <a:prstGeom prst="rect">
              <a:avLst/>
            </a:prstGeom>
            <a:noFill/>
            <a:ln w="9525">
              <a:noFill/>
            </a:ln>
          </p:spPr>
          <p:txBody>
            <a:bodyPr>
              <a:spAutoFit/>
            </a:bodyPr>
            <a:lstStyle/>
            <a:p>
              <a:pPr marL="342900" indent="-342900">
                <a:buFont typeface="Wingdings" panose="05000000000000000000" pitchFamily="2" charset="2"/>
              </a:pPr>
              <a:r>
                <a:rPr lang="en-US" altLang="zh-CN" sz="2000" i="1" dirty="0">
                  <a:solidFill>
                    <a:srgbClr val="000099"/>
                  </a:solidFill>
                  <a:latin typeface="Arial" panose="020B0604020202020204" pitchFamily="34" charset="0"/>
                </a:rPr>
                <a:t>ξ</a:t>
              </a:r>
              <a:r>
                <a:rPr lang="en-US" altLang="zh-CN" sz="2000" dirty="0">
                  <a:solidFill>
                    <a:srgbClr val="000099"/>
                  </a:solidFill>
                  <a:latin typeface="Arial" panose="020B0604020202020204" pitchFamily="34" charset="0"/>
                  <a:sym typeface="Symbol" panose="05050102010706020507" pitchFamily="18" charset="2"/>
                </a:rPr>
                <a:t> = 1</a:t>
              </a:r>
            </a:p>
          </p:txBody>
        </p:sp>
        <p:sp>
          <p:nvSpPr>
            <p:cNvPr id="78" name="椭圆 9">
              <a:extLst>
                <a:ext uri="{FF2B5EF4-FFF2-40B4-BE49-F238E27FC236}">
                  <a16:creationId xmlns:a16="http://schemas.microsoft.com/office/drawing/2014/main" id="{FBA2A44E-6E78-42BA-9965-1F745248A03A}"/>
                </a:ext>
              </a:extLst>
            </p:cNvPr>
            <p:cNvSpPr>
              <a:spLocks noChangeArrowheads="1"/>
            </p:cNvSpPr>
            <p:nvPr/>
          </p:nvSpPr>
          <p:spPr bwMode="auto">
            <a:xfrm>
              <a:off x="5035747" y="17660"/>
              <a:ext cx="863205" cy="863205"/>
            </a:xfrm>
            <a:prstGeom prst="ellipse">
              <a:avLst/>
            </a:prstGeom>
            <a:noFill/>
            <a:ln/>
          </p:spPr>
          <p:style>
            <a:lnRef idx="2">
              <a:schemeClr val="dk1"/>
            </a:lnRef>
            <a:fillRef idx="1">
              <a:schemeClr val="lt1"/>
            </a:fillRef>
            <a:effectRef idx="0">
              <a:schemeClr val="dk1"/>
            </a:effectRef>
            <a:fontRef idx="minor">
              <a:schemeClr val="dk1"/>
            </a:fontRef>
          </p:style>
          <p:txBody>
            <a:bodyPr anchor="ctr"/>
            <a:lstStyle/>
            <a:p>
              <a:pPr algn="ctr"/>
              <a:endParaRPr lang="zh-CN" altLang="en-US" dirty="0"/>
            </a:p>
          </p:txBody>
        </p:sp>
      </p:grpSp>
      <p:grpSp>
        <p:nvGrpSpPr>
          <p:cNvPr id="5" name="组合 4">
            <a:extLst>
              <a:ext uri="{FF2B5EF4-FFF2-40B4-BE49-F238E27FC236}">
                <a16:creationId xmlns:a16="http://schemas.microsoft.com/office/drawing/2014/main" id="{8341C5E8-FA34-4281-812D-013812F4EE19}"/>
              </a:ext>
            </a:extLst>
          </p:cNvPr>
          <p:cNvGrpSpPr/>
          <p:nvPr/>
        </p:nvGrpSpPr>
        <p:grpSpPr>
          <a:xfrm>
            <a:off x="188043" y="2720339"/>
            <a:ext cx="7732712" cy="4075709"/>
            <a:chOff x="73026" y="2737841"/>
            <a:chExt cx="7732712" cy="4075709"/>
          </a:xfrm>
        </p:grpSpPr>
        <p:grpSp>
          <p:nvGrpSpPr>
            <p:cNvPr id="1439798" name="组合 1439797"/>
            <p:cNvGrpSpPr/>
            <p:nvPr/>
          </p:nvGrpSpPr>
          <p:grpSpPr>
            <a:xfrm>
              <a:off x="4775200" y="3035300"/>
              <a:ext cx="3030538" cy="3778250"/>
              <a:chOff x="2062" y="1888"/>
              <a:chExt cx="1909" cy="2380"/>
            </a:xfrm>
          </p:grpSpPr>
          <p:grpSp>
            <p:nvGrpSpPr>
              <p:cNvPr id="34828" name="组合 1439798"/>
              <p:cNvGrpSpPr/>
              <p:nvPr/>
            </p:nvGrpSpPr>
            <p:grpSpPr>
              <a:xfrm>
                <a:off x="2062" y="1888"/>
                <a:ext cx="1909" cy="2380"/>
                <a:chOff x="607" y="1776"/>
                <a:chExt cx="1909" cy="2380"/>
              </a:xfrm>
            </p:grpSpPr>
            <p:sp>
              <p:nvSpPr>
                <p:cNvPr id="34836" name="直接连接符 1439799"/>
                <p:cNvSpPr/>
                <p:nvPr/>
              </p:nvSpPr>
              <p:spPr>
                <a:xfrm flipV="1">
                  <a:off x="1574" y="1855"/>
                  <a:ext cx="0" cy="2301"/>
                </a:xfrm>
                <a:prstGeom prst="line">
                  <a:avLst/>
                </a:prstGeom>
                <a:ln w="57150" cap="sq" cmpd="sng">
                  <a:solidFill>
                    <a:schemeClr val="tx1"/>
                  </a:solidFill>
                  <a:prstDash val="solid"/>
                  <a:headEnd type="none" w="med" len="med"/>
                  <a:tailEnd type="triangle" w="med" len="med"/>
                </a:ln>
              </p:spPr>
            </p:sp>
            <p:sp>
              <p:nvSpPr>
                <p:cNvPr id="34837" name="直接连接符 1439800"/>
                <p:cNvSpPr/>
                <p:nvPr/>
              </p:nvSpPr>
              <p:spPr>
                <a:xfrm>
                  <a:off x="607" y="3212"/>
                  <a:ext cx="1701" cy="0"/>
                </a:xfrm>
                <a:prstGeom prst="line">
                  <a:avLst/>
                </a:prstGeom>
                <a:ln w="57150" cap="sq" cmpd="sng">
                  <a:solidFill>
                    <a:schemeClr val="tx1"/>
                  </a:solidFill>
                  <a:prstDash val="solid"/>
                  <a:headEnd type="none" w="med" len="med"/>
                  <a:tailEnd type="triangle" w="med" len="med"/>
                </a:ln>
              </p:spPr>
            </p:sp>
            <p:sp>
              <p:nvSpPr>
                <p:cNvPr id="34838" name="矩形 1439801"/>
                <p:cNvSpPr/>
                <p:nvPr/>
              </p:nvSpPr>
              <p:spPr>
                <a:xfrm>
                  <a:off x="1450" y="1776"/>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4839" name="矩形 1439802"/>
                <p:cNvSpPr/>
                <p:nvPr/>
              </p:nvSpPr>
              <p:spPr>
                <a:xfrm>
                  <a:off x="2236" y="3050"/>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4840" name="矩形 1439803"/>
                <p:cNvSpPr/>
                <p:nvPr/>
              </p:nvSpPr>
              <p:spPr>
                <a:xfrm>
                  <a:off x="1535" y="3212"/>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pSp>
            <p:nvGrpSpPr>
              <p:cNvPr id="34829" name="组合 1439804"/>
              <p:cNvGrpSpPr/>
              <p:nvPr/>
            </p:nvGrpSpPr>
            <p:grpSpPr>
              <a:xfrm>
                <a:off x="2942" y="2542"/>
                <a:ext cx="181" cy="183"/>
                <a:chOff x="4023" y="3338"/>
                <a:chExt cx="181" cy="183"/>
              </a:xfrm>
            </p:grpSpPr>
            <p:sp>
              <p:nvSpPr>
                <p:cNvPr id="34834" name="直接连接符 1439805"/>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35" name="直接连接符 1439806"/>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34830" name="组合 1439807"/>
              <p:cNvGrpSpPr/>
              <p:nvPr/>
            </p:nvGrpSpPr>
            <p:grpSpPr>
              <a:xfrm>
                <a:off x="2940" y="3922"/>
                <a:ext cx="181" cy="183"/>
                <a:chOff x="4023" y="3338"/>
                <a:chExt cx="181" cy="183"/>
              </a:xfrm>
            </p:grpSpPr>
            <p:sp>
              <p:nvSpPr>
                <p:cNvPr id="34832" name="直接连接符 1439808"/>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33" name="直接连接符 1439809"/>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34831" name="矩形 1439810"/>
              <p:cNvSpPr/>
              <p:nvPr/>
            </p:nvSpPr>
            <p:spPr>
              <a:xfrm>
                <a:off x="2995" y="2477"/>
                <a:ext cx="648"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r>
                  <a:rPr lang="en-US" altLang="zh-CN" sz="2400" i="1" dirty="0">
                    <a:solidFill>
                      <a:schemeClr val="tx1"/>
                    </a:solidFill>
                    <a:latin typeface="Times New Roman" panose="02020603050405020304" pitchFamily="18" charset="0"/>
                  </a:rPr>
                  <a:t> </a:t>
                </a:r>
              </a:p>
            </p:txBody>
          </p:sp>
        </p:grpSp>
        <p:sp>
          <p:nvSpPr>
            <p:cNvPr id="34827" name="矩形 1439817"/>
            <p:cNvSpPr/>
            <p:nvPr/>
          </p:nvSpPr>
          <p:spPr>
            <a:xfrm>
              <a:off x="4595812" y="2947603"/>
              <a:ext cx="1008062" cy="396875"/>
            </a:xfrm>
            <a:prstGeom prst="rect">
              <a:avLst/>
            </a:prstGeom>
            <a:noFill/>
            <a:ln w="9525">
              <a:noFill/>
            </a:ln>
          </p:spPr>
          <p:txBody>
            <a:bodyPr>
              <a:spAutoFit/>
            </a:bodyPr>
            <a:lstStyle/>
            <a:p>
              <a:pPr marL="342900" indent="-342900">
                <a:buFont typeface="Wingdings" panose="05000000000000000000" pitchFamily="2" charset="2"/>
              </a:pPr>
              <a:r>
                <a:rPr lang="en-US" altLang="zh-CN" sz="2000" i="1" dirty="0">
                  <a:solidFill>
                    <a:srgbClr val="000099"/>
                  </a:solidFill>
                  <a:latin typeface="Arial" panose="020B0604020202020204" pitchFamily="34" charset="0"/>
                </a:rPr>
                <a:t>ξ</a:t>
              </a:r>
              <a:r>
                <a:rPr lang="en-US" altLang="zh-CN" sz="2000" dirty="0">
                  <a:solidFill>
                    <a:srgbClr val="000099"/>
                  </a:solidFill>
                  <a:latin typeface="Arial" panose="020B0604020202020204" pitchFamily="34" charset="0"/>
                  <a:sym typeface="Symbol" panose="05050102010706020507" pitchFamily="18" charset="2"/>
                </a:rPr>
                <a:t> = 0</a:t>
              </a:r>
            </a:p>
          </p:txBody>
        </p:sp>
        <p:grpSp>
          <p:nvGrpSpPr>
            <p:cNvPr id="4" name="组合 3">
              <a:extLst>
                <a:ext uri="{FF2B5EF4-FFF2-40B4-BE49-F238E27FC236}">
                  <a16:creationId xmlns:a16="http://schemas.microsoft.com/office/drawing/2014/main" id="{37B0D1D3-1111-4755-B7BB-6715FC4D05F8}"/>
                </a:ext>
              </a:extLst>
            </p:cNvPr>
            <p:cNvGrpSpPr/>
            <p:nvPr/>
          </p:nvGrpSpPr>
          <p:grpSpPr>
            <a:xfrm>
              <a:off x="73026" y="2737841"/>
              <a:ext cx="3727449" cy="3931247"/>
              <a:chOff x="73026" y="2737841"/>
              <a:chExt cx="3727449" cy="3931247"/>
            </a:xfrm>
          </p:grpSpPr>
          <p:grpSp>
            <p:nvGrpSpPr>
              <p:cNvPr id="1439775" name="组合 1439774"/>
              <p:cNvGrpSpPr/>
              <p:nvPr/>
            </p:nvGrpSpPr>
            <p:grpSpPr>
              <a:xfrm>
                <a:off x="769938" y="2909888"/>
                <a:ext cx="3030537" cy="3759200"/>
                <a:chOff x="485" y="1759"/>
                <a:chExt cx="1909" cy="2368"/>
              </a:xfrm>
            </p:grpSpPr>
            <p:sp>
              <p:nvSpPr>
                <p:cNvPr id="34841" name="直接连接符 1439775"/>
                <p:cNvSpPr/>
                <p:nvPr/>
              </p:nvSpPr>
              <p:spPr>
                <a:xfrm>
                  <a:off x="955" y="2421"/>
                  <a:ext cx="734" cy="0"/>
                </a:xfrm>
                <a:prstGeom prst="line">
                  <a:avLst/>
                </a:prstGeom>
                <a:ln w="38100" cap="flat" cmpd="sng">
                  <a:solidFill>
                    <a:schemeClr val="tx1"/>
                  </a:solidFill>
                  <a:prstDash val="dash"/>
                  <a:headEnd type="none" w="med" len="med"/>
                  <a:tailEnd type="none" w="med" len="med"/>
                </a:ln>
              </p:spPr>
            </p:sp>
            <p:sp>
              <p:nvSpPr>
                <p:cNvPr id="34842" name="直接连接符 1439776"/>
                <p:cNvSpPr/>
                <p:nvPr/>
              </p:nvSpPr>
              <p:spPr>
                <a:xfrm>
                  <a:off x="967" y="2398"/>
                  <a:ext cx="0" cy="768"/>
                </a:xfrm>
                <a:prstGeom prst="line">
                  <a:avLst/>
                </a:prstGeom>
                <a:ln w="38100" cap="flat" cmpd="sng">
                  <a:solidFill>
                    <a:schemeClr val="tx1"/>
                  </a:solidFill>
                  <a:prstDash val="dash"/>
                  <a:headEnd type="none" w="med" len="med"/>
                  <a:tailEnd type="none" w="med" len="med"/>
                </a:ln>
              </p:spPr>
            </p:sp>
            <p:sp>
              <p:nvSpPr>
                <p:cNvPr id="34843" name="直接连接符 1439777"/>
                <p:cNvSpPr/>
                <p:nvPr/>
              </p:nvSpPr>
              <p:spPr>
                <a:xfrm flipV="1">
                  <a:off x="977" y="3504"/>
                  <a:ext cx="0" cy="430"/>
                </a:xfrm>
                <a:prstGeom prst="line">
                  <a:avLst/>
                </a:prstGeom>
                <a:ln w="38100" cap="flat" cmpd="sng">
                  <a:solidFill>
                    <a:schemeClr val="tx1"/>
                  </a:solidFill>
                  <a:prstDash val="dash"/>
                  <a:headEnd type="none" w="med" len="med"/>
                  <a:tailEnd type="none" w="med" len="med"/>
                </a:ln>
              </p:spPr>
            </p:sp>
            <p:sp>
              <p:nvSpPr>
                <p:cNvPr id="34844" name="直接连接符 1439778"/>
                <p:cNvSpPr/>
                <p:nvPr/>
              </p:nvSpPr>
              <p:spPr>
                <a:xfrm flipH="1" flipV="1">
                  <a:off x="977" y="2432"/>
                  <a:ext cx="712" cy="745"/>
                </a:xfrm>
                <a:prstGeom prst="line">
                  <a:avLst/>
                </a:prstGeom>
                <a:ln w="38100" cap="flat" cmpd="sng">
                  <a:solidFill>
                    <a:schemeClr val="tx1"/>
                  </a:solidFill>
                  <a:prstDash val="dash"/>
                  <a:headEnd type="none" w="med" len="med"/>
                  <a:tailEnd type="none" w="med" len="med"/>
                </a:ln>
              </p:spPr>
            </p:sp>
            <p:sp>
              <p:nvSpPr>
                <p:cNvPr id="34845" name="直接连接符 1439779"/>
                <p:cNvSpPr/>
                <p:nvPr/>
              </p:nvSpPr>
              <p:spPr>
                <a:xfrm flipH="1">
                  <a:off x="989" y="3189"/>
                  <a:ext cx="700" cy="756"/>
                </a:xfrm>
                <a:prstGeom prst="line">
                  <a:avLst/>
                </a:prstGeom>
                <a:ln w="38100" cap="flat" cmpd="sng">
                  <a:solidFill>
                    <a:schemeClr val="tx1"/>
                  </a:solidFill>
                  <a:prstDash val="dash"/>
                  <a:headEnd type="none" w="med" len="med"/>
                  <a:tailEnd type="none" w="med" len="med"/>
                </a:ln>
              </p:spPr>
            </p:sp>
            <p:grpSp>
              <p:nvGrpSpPr>
                <p:cNvPr id="34846" name="组合 1439780"/>
                <p:cNvGrpSpPr/>
                <p:nvPr/>
              </p:nvGrpSpPr>
              <p:grpSpPr>
                <a:xfrm>
                  <a:off x="867" y="2337"/>
                  <a:ext cx="181" cy="183"/>
                  <a:chOff x="4023" y="3338"/>
                  <a:chExt cx="181" cy="183"/>
                </a:xfrm>
              </p:grpSpPr>
              <p:sp>
                <p:nvSpPr>
                  <p:cNvPr id="34861" name="直接连接符 1439781"/>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62" name="直接连接符 1439782"/>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grpSp>
              <p:nvGrpSpPr>
                <p:cNvPr id="34847" name="组合 1439783"/>
                <p:cNvGrpSpPr/>
                <p:nvPr/>
              </p:nvGrpSpPr>
              <p:grpSpPr>
                <a:xfrm>
                  <a:off x="890" y="3873"/>
                  <a:ext cx="181" cy="183"/>
                  <a:chOff x="4023" y="3338"/>
                  <a:chExt cx="181" cy="183"/>
                </a:xfrm>
              </p:grpSpPr>
              <p:sp>
                <p:nvSpPr>
                  <p:cNvPr id="34859" name="直接连接符 1439784"/>
                  <p:cNvSpPr/>
                  <p:nvPr/>
                </p:nvSpPr>
                <p:spPr>
                  <a:xfrm>
                    <a:off x="4025" y="3343"/>
                    <a:ext cx="178" cy="178"/>
                  </a:xfrm>
                  <a:prstGeom prst="line">
                    <a:avLst/>
                  </a:prstGeom>
                  <a:ln w="76200" cap="sq" cmpd="sng">
                    <a:solidFill>
                      <a:srgbClr val="993300"/>
                    </a:solidFill>
                    <a:prstDash val="solid"/>
                    <a:headEnd type="none" w="med" len="med"/>
                    <a:tailEnd type="none" w="med" len="med"/>
                  </a:ln>
                </p:spPr>
              </p:sp>
              <p:sp>
                <p:nvSpPr>
                  <p:cNvPr id="34860" name="直接连接符 1439785"/>
                  <p:cNvSpPr/>
                  <p:nvPr/>
                </p:nvSpPr>
                <p:spPr>
                  <a:xfrm flipH="1">
                    <a:off x="4023" y="3338"/>
                    <a:ext cx="181" cy="181"/>
                  </a:xfrm>
                  <a:prstGeom prst="line">
                    <a:avLst/>
                  </a:prstGeom>
                  <a:ln w="76200" cap="sq" cmpd="sng">
                    <a:solidFill>
                      <a:srgbClr val="993300"/>
                    </a:solidFill>
                    <a:prstDash val="solid"/>
                    <a:headEnd type="none" w="med" len="med"/>
                    <a:tailEnd type="none" w="med" len="med"/>
                  </a:ln>
                </p:spPr>
              </p:sp>
            </p:grpSp>
            <p:sp>
              <p:nvSpPr>
                <p:cNvPr id="34848" name="矩形 1439786"/>
                <p:cNvSpPr/>
                <p:nvPr/>
              </p:nvSpPr>
              <p:spPr>
                <a:xfrm>
                  <a:off x="1261" y="2477"/>
                  <a:ext cx="355"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p:txBody>
            </p:sp>
            <p:sp>
              <p:nvSpPr>
                <p:cNvPr id="34849" name="矩形 1439787"/>
                <p:cNvSpPr/>
                <p:nvPr/>
              </p:nvSpPr>
              <p:spPr>
                <a:xfrm>
                  <a:off x="575" y="2242"/>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34850" name="矩形 1439788"/>
                <p:cNvSpPr/>
                <p:nvPr/>
              </p:nvSpPr>
              <p:spPr>
                <a:xfrm>
                  <a:off x="575" y="3800"/>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sp>
              <p:nvSpPr>
                <p:cNvPr id="34851" name="矩形 1439789"/>
                <p:cNvSpPr/>
                <p:nvPr/>
              </p:nvSpPr>
              <p:spPr>
                <a:xfrm>
                  <a:off x="1542" y="2234"/>
                  <a:ext cx="644"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d</a:t>
                  </a:r>
                  <a:r>
                    <a:rPr lang="en-US" altLang="zh-CN" sz="2400" dirty="0">
                      <a:solidFill>
                        <a:schemeClr val="tx1"/>
                      </a:solidFill>
                      <a:latin typeface="Arial" panose="020B0604020202020204" pitchFamily="34" charset="0"/>
                    </a:rPr>
                    <a:t> </a:t>
                  </a:r>
                </a:p>
              </p:txBody>
            </p:sp>
            <p:sp>
              <p:nvSpPr>
                <p:cNvPr id="34852" name="矩形 1439790"/>
                <p:cNvSpPr/>
                <p:nvPr/>
              </p:nvSpPr>
              <p:spPr>
                <a:xfrm>
                  <a:off x="603" y="3156"/>
                  <a:ext cx="703"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ξ</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p:txBody>
            </p:sp>
            <p:grpSp>
              <p:nvGrpSpPr>
                <p:cNvPr id="34853" name="组合 1439791"/>
                <p:cNvGrpSpPr/>
                <p:nvPr/>
              </p:nvGrpSpPr>
              <p:grpSpPr>
                <a:xfrm>
                  <a:off x="485" y="1759"/>
                  <a:ext cx="1909" cy="2359"/>
                  <a:chOff x="3415" y="1768"/>
                  <a:chExt cx="1909" cy="2359"/>
                </a:xfrm>
              </p:grpSpPr>
              <p:sp>
                <p:nvSpPr>
                  <p:cNvPr id="34854" name="直接连接符 1439792"/>
                  <p:cNvSpPr/>
                  <p:nvPr/>
                </p:nvSpPr>
                <p:spPr>
                  <a:xfrm flipV="1">
                    <a:off x="4598" y="1847"/>
                    <a:ext cx="0" cy="2280"/>
                  </a:xfrm>
                  <a:prstGeom prst="line">
                    <a:avLst/>
                  </a:prstGeom>
                  <a:ln w="57150" cap="sq" cmpd="sng">
                    <a:solidFill>
                      <a:schemeClr val="tx1"/>
                    </a:solidFill>
                    <a:prstDash val="solid"/>
                    <a:headEnd type="none" w="med" len="med"/>
                    <a:tailEnd type="triangle" w="med" len="med"/>
                  </a:ln>
                </p:spPr>
              </p:sp>
              <p:sp>
                <p:nvSpPr>
                  <p:cNvPr id="34855" name="直接连接符 1439793"/>
                  <p:cNvSpPr/>
                  <p:nvPr/>
                </p:nvSpPr>
                <p:spPr>
                  <a:xfrm>
                    <a:off x="3415" y="3184"/>
                    <a:ext cx="1701" cy="0"/>
                  </a:xfrm>
                  <a:prstGeom prst="line">
                    <a:avLst/>
                  </a:prstGeom>
                  <a:ln w="57150" cap="sq" cmpd="sng">
                    <a:solidFill>
                      <a:schemeClr val="tx1"/>
                    </a:solidFill>
                    <a:prstDash val="solid"/>
                    <a:headEnd type="none" w="med" len="med"/>
                    <a:tailEnd type="triangle" w="med" len="med"/>
                  </a:ln>
                </p:spPr>
              </p:sp>
              <p:sp>
                <p:nvSpPr>
                  <p:cNvPr id="34856" name="矩形 1439794"/>
                  <p:cNvSpPr/>
                  <p:nvPr/>
                </p:nvSpPr>
                <p:spPr>
                  <a:xfrm>
                    <a:off x="4474" y="1768"/>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4857" name="矩形 1439795"/>
                  <p:cNvSpPr/>
                  <p:nvPr/>
                </p:nvSpPr>
                <p:spPr>
                  <a:xfrm>
                    <a:off x="5044" y="3022"/>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4858" name="矩形 1439796"/>
                  <p:cNvSpPr/>
                  <p:nvPr/>
                </p:nvSpPr>
                <p:spPr>
                  <a:xfrm>
                    <a:off x="4559" y="3204"/>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grpSp>
          <p:sp>
            <p:nvSpPr>
              <p:cNvPr id="34826" name="矩形 1439815"/>
              <p:cNvSpPr/>
              <p:nvPr/>
            </p:nvSpPr>
            <p:spPr>
              <a:xfrm>
                <a:off x="73026" y="2910151"/>
                <a:ext cx="1295400" cy="396875"/>
              </a:xfrm>
              <a:prstGeom prst="rect">
                <a:avLst/>
              </a:prstGeom>
              <a:noFill/>
              <a:ln w="9525">
                <a:noFill/>
              </a:ln>
            </p:spPr>
            <p:txBody>
              <a:bodyPr>
                <a:spAutoFit/>
              </a:bodyPr>
              <a:lstStyle/>
              <a:p>
                <a:pPr marL="342900" indent="-342900">
                  <a:buFont typeface="Wingdings" panose="05000000000000000000" pitchFamily="2" charset="2"/>
                </a:pPr>
                <a:r>
                  <a:rPr lang="en-US" altLang="zh-CN" sz="2000" i="1" dirty="0">
                    <a:solidFill>
                      <a:srgbClr val="000099"/>
                    </a:solidFill>
                    <a:latin typeface="Arial" panose="020B0604020202020204" pitchFamily="34" charset="0"/>
                  </a:rPr>
                  <a:t>0&lt;ξ</a:t>
                </a:r>
                <a:r>
                  <a:rPr lang="en-US" altLang="zh-CN" sz="2000" dirty="0">
                    <a:solidFill>
                      <a:srgbClr val="000099"/>
                    </a:solidFill>
                    <a:latin typeface="Arial" panose="020B0604020202020204" pitchFamily="34" charset="0"/>
                    <a:sym typeface="Symbol" panose="05050102010706020507" pitchFamily="18" charset="2"/>
                  </a:rPr>
                  <a:t> &lt; 1</a:t>
                </a:r>
              </a:p>
            </p:txBody>
          </p:sp>
          <p:sp>
            <p:nvSpPr>
              <p:cNvPr id="79" name="椭圆 9">
                <a:extLst>
                  <a:ext uri="{FF2B5EF4-FFF2-40B4-BE49-F238E27FC236}">
                    <a16:creationId xmlns:a16="http://schemas.microsoft.com/office/drawing/2014/main" id="{A038D030-9EC6-4AF5-AA0C-3D1BDDB28246}"/>
                  </a:ext>
                </a:extLst>
              </p:cNvPr>
              <p:cNvSpPr>
                <a:spLocks noChangeArrowheads="1"/>
              </p:cNvSpPr>
              <p:nvPr/>
            </p:nvSpPr>
            <p:spPr bwMode="auto">
              <a:xfrm>
                <a:off x="73420" y="2737841"/>
                <a:ext cx="1039418" cy="863205"/>
              </a:xfrm>
              <a:prstGeom prst="ellipse">
                <a:avLst/>
              </a:prstGeom>
              <a:noFill/>
              <a:ln/>
            </p:spPr>
            <p:style>
              <a:lnRef idx="2">
                <a:schemeClr val="dk1"/>
              </a:lnRef>
              <a:fillRef idx="1">
                <a:schemeClr val="lt1"/>
              </a:fillRef>
              <a:effectRef idx="0">
                <a:schemeClr val="dk1"/>
              </a:effectRef>
              <a:fontRef idx="minor">
                <a:schemeClr val="dk1"/>
              </a:fontRef>
            </p:style>
            <p:txBody>
              <a:bodyPr anchor="ctr"/>
              <a:lstStyle/>
              <a:p>
                <a:pPr algn="ctr"/>
                <a:endParaRPr lang="zh-CN" altLang="en-US" dirty="0"/>
              </a:p>
            </p:txBody>
          </p:sp>
        </p:grpSp>
        <p:sp>
          <p:nvSpPr>
            <p:cNvPr id="80" name="椭圆 9">
              <a:extLst>
                <a:ext uri="{FF2B5EF4-FFF2-40B4-BE49-F238E27FC236}">
                  <a16:creationId xmlns:a16="http://schemas.microsoft.com/office/drawing/2014/main" id="{77C077D7-A6F6-40FF-8ED8-4E012193B3B6}"/>
                </a:ext>
              </a:extLst>
            </p:cNvPr>
            <p:cNvSpPr>
              <a:spLocks noChangeArrowheads="1"/>
            </p:cNvSpPr>
            <p:nvPr/>
          </p:nvSpPr>
          <p:spPr bwMode="auto">
            <a:xfrm>
              <a:off x="4510953" y="2775588"/>
              <a:ext cx="863205" cy="863205"/>
            </a:xfrm>
            <a:prstGeom prst="ellipse">
              <a:avLst/>
            </a:prstGeom>
            <a:noFill/>
            <a:ln/>
          </p:spPr>
          <p:style>
            <a:lnRef idx="2">
              <a:schemeClr val="dk1"/>
            </a:lnRef>
            <a:fillRef idx="1">
              <a:schemeClr val="lt1"/>
            </a:fillRef>
            <a:effectRef idx="0">
              <a:schemeClr val="dk1"/>
            </a:effectRef>
            <a:fontRef idx="minor">
              <a:schemeClr val="dk1"/>
            </a:fontRef>
          </p:style>
          <p:txBody>
            <a:bodyPr anchor="ctr"/>
            <a:lstStyle/>
            <a:p>
              <a:pPr algn="ctr"/>
              <a:endParaRPr lang="zh-CN" altLang="en-US" dirty="0"/>
            </a:p>
          </p:txBody>
        </p:sp>
      </p:grpSp>
      <p:grpSp>
        <p:nvGrpSpPr>
          <p:cNvPr id="6" name="组合 5">
            <a:extLst>
              <a:ext uri="{FF2B5EF4-FFF2-40B4-BE49-F238E27FC236}">
                <a16:creationId xmlns:a16="http://schemas.microsoft.com/office/drawing/2014/main" id="{5A16C2DB-AF04-433F-99F6-3BF1C6C80651}"/>
              </a:ext>
            </a:extLst>
          </p:cNvPr>
          <p:cNvGrpSpPr/>
          <p:nvPr/>
        </p:nvGrpSpPr>
        <p:grpSpPr>
          <a:xfrm>
            <a:off x="7872258" y="19791"/>
            <a:ext cx="1463677" cy="6838209"/>
            <a:chOff x="7872258" y="19791"/>
            <a:chExt cx="1463677" cy="6838209"/>
          </a:xfrm>
        </p:grpSpPr>
        <p:sp>
          <p:nvSpPr>
            <p:cNvPr id="82" name="Freeform 2524">
              <a:extLst>
                <a:ext uri="{FF2B5EF4-FFF2-40B4-BE49-F238E27FC236}">
                  <a16:creationId xmlns:a16="http://schemas.microsoft.com/office/drawing/2014/main" id="{8D8D861D-1BD5-4DBE-ACD9-0FB30C1E6C2E}"/>
                </a:ext>
              </a:extLst>
            </p:cNvPr>
            <p:cNvSpPr>
              <a:spLocks noEditPoints="1"/>
            </p:cNvSpPr>
            <p:nvPr/>
          </p:nvSpPr>
          <p:spPr bwMode="auto">
            <a:xfrm>
              <a:off x="7872258" y="19791"/>
              <a:ext cx="1298884" cy="6838209"/>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solidFill>
              <a:srgbClr val="0070C0"/>
            </a:solidFill>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84" name="文本框 83">
              <a:extLst>
                <a:ext uri="{FF2B5EF4-FFF2-40B4-BE49-F238E27FC236}">
                  <a16:creationId xmlns:a16="http://schemas.microsoft.com/office/drawing/2014/main" id="{7DC552BD-7C98-42AC-A680-696750230DA1}"/>
                </a:ext>
              </a:extLst>
            </p:cNvPr>
            <p:cNvSpPr txBox="1"/>
            <p:nvPr/>
          </p:nvSpPr>
          <p:spPr>
            <a:xfrm>
              <a:off x="7969252" y="755392"/>
              <a:ext cx="1366683" cy="5016758"/>
            </a:xfrm>
            <a:prstGeom prst="rect">
              <a:avLst/>
            </a:prstGeom>
            <a:noFill/>
          </p:spPr>
          <p:txBody>
            <a:bodyPr wrap="square">
              <a:spAutoFit/>
            </a:bodyPr>
            <a:lstStyle/>
            <a:p>
              <a:r>
                <a:rPr kumimoji="0" lang="zh-CN" altLang="en-US" sz="4000" kern="1200" cap="none" spc="0" normalizeH="0" baseline="0" noProof="0" dirty="0">
                  <a:solidFill>
                    <a:schemeClr val="tx1"/>
                  </a:solidFill>
                  <a:latin typeface="Arial" panose="020B0604020202020204" pitchFamily="34" charset="0"/>
                  <a:ea typeface="宋体" panose="02010600030101010101" pitchFamily="2" charset="-122"/>
                  <a:cs typeface="+mn-cs"/>
                </a:rPr>
                <a:t>阻尼比取不同值时二阶系统根的分布</a:t>
              </a:r>
              <a:endParaRPr lang="zh-CN" altLang="en-US" dirty="0"/>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70" name="文本框 1440769"/>
          <p:cNvSpPr txBox="1"/>
          <p:nvPr/>
        </p:nvSpPr>
        <p:spPr>
          <a:xfrm>
            <a:off x="1076287" y="127622"/>
            <a:ext cx="3467100" cy="519113"/>
          </a:xfrm>
          <a:prstGeom prst="rect">
            <a:avLst/>
          </a:prstGeom>
          <a:noFill/>
          <a:ln w="9525">
            <a:noFill/>
          </a:ln>
        </p:spPr>
        <p:txBody>
          <a:bodyPr wrap="none">
            <a:spAutoFit/>
          </a:bodyPr>
          <a:lstStyle/>
          <a:p>
            <a:pPr marR="0" defTabSz="914400">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3.3.3</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单位阶跃响应</a:t>
            </a:r>
          </a:p>
        </p:txBody>
      </p:sp>
      <p:graphicFrame>
        <p:nvGraphicFramePr>
          <p:cNvPr id="1440771" name="对象 1440770"/>
          <p:cNvGraphicFramePr/>
          <p:nvPr/>
        </p:nvGraphicFramePr>
        <p:xfrm>
          <a:off x="1709738" y="554038"/>
          <a:ext cx="3289300" cy="995362"/>
        </p:xfrm>
        <a:graphic>
          <a:graphicData uri="http://schemas.openxmlformats.org/presentationml/2006/ole">
            <mc:AlternateContent xmlns:mc="http://schemas.openxmlformats.org/markup-compatibility/2006">
              <mc:Choice xmlns:v="urn:schemas-microsoft-com:vml" Requires="v">
                <p:oleObj spid="_x0000_s23574" r:id="rId3" imgW="1511300" imgH="457200" progId="Equation.3">
                  <p:embed/>
                </p:oleObj>
              </mc:Choice>
              <mc:Fallback>
                <p:oleObj r:id="rId3" imgW="1511300" imgH="457200" progId="Equation.3">
                  <p:embed/>
                  <p:pic>
                    <p:nvPicPr>
                      <p:cNvPr id="0" name="图片 3112"/>
                      <p:cNvPicPr/>
                      <p:nvPr/>
                    </p:nvPicPr>
                    <p:blipFill>
                      <a:blip r:embed="rId4"/>
                      <a:stretch>
                        <a:fillRect/>
                      </a:stretch>
                    </p:blipFill>
                    <p:spPr>
                      <a:xfrm>
                        <a:off x="1709738" y="554038"/>
                        <a:ext cx="3289300" cy="995362"/>
                      </a:xfrm>
                      <a:prstGeom prst="rect">
                        <a:avLst/>
                      </a:prstGeom>
                      <a:noFill/>
                      <a:ln w="38100">
                        <a:noFill/>
                        <a:miter/>
                      </a:ln>
                    </p:spPr>
                  </p:pic>
                </p:oleObj>
              </mc:Fallback>
            </mc:AlternateContent>
          </a:graphicData>
        </a:graphic>
      </p:graphicFrame>
      <p:sp>
        <p:nvSpPr>
          <p:cNvPr id="1440772" name="文本框 1440771"/>
          <p:cNvSpPr txBox="1"/>
          <p:nvPr/>
        </p:nvSpPr>
        <p:spPr>
          <a:xfrm>
            <a:off x="831850" y="757238"/>
            <a:ext cx="895350" cy="519112"/>
          </a:xfrm>
          <a:prstGeom prst="rect">
            <a:avLst/>
          </a:prstGeom>
          <a:noFill/>
          <a:ln w="9525">
            <a:noFill/>
          </a:ln>
        </p:spPr>
        <p:txBody>
          <a:bodyPr wrap="none">
            <a:spAutoFit/>
          </a:bodyPr>
          <a:lstStyle/>
          <a:p>
            <a:pPr>
              <a:spcBef>
                <a:spcPct val="0"/>
              </a:spcBef>
            </a:pPr>
            <a:r>
              <a:rPr lang="zh-CN" altLang="en-US" sz="2800" dirty="0">
                <a:solidFill>
                  <a:schemeClr val="tx1"/>
                </a:solidFill>
                <a:latin typeface="Arial" panose="020B0604020202020204" pitchFamily="34" charset="0"/>
              </a:rPr>
              <a:t>由式</a:t>
            </a:r>
          </a:p>
        </p:txBody>
      </p:sp>
      <p:sp>
        <p:nvSpPr>
          <p:cNvPr id="1440773" name="文本框 1440772"/>
          <p:cNvSpPr txBox="1"/>
          <p:nvPr/>
        </p:nvSpPr>
        <p:spPr>
          <a:xfrm>
            <a:off x="4876800" y="801688"/>
            <a:ext cx="3638550" cy="519112"/>
          </a:xfrm>
          <a:prstGeom prst="rect">
            <a:avLst/>
          </a:prstGeom>
          <a:noFill/>
          <a:ln w="9525">
            <a:noFill/>
          </a:ln>
        </p:spPr>
        <p:txBody>
          <a:bodyPr wrap="none">
            <a:spAutoFit/>
          </a:bodyPr>
          <a:lstStyle/>
          <a:p>
            <a:pPr>
              <a:spcBef>
                <a:spcPct val="0"/>
              </a:spcBef>
            </a:pPr>
            <a:r>
              <a:rPr lang="zh-CN" altLang="en-US" sz="2000" b="0" dirty="0">
                <a:solidFill>
                  <a:schemeClr val="tx1"/>
                </a:solidFill>
                <a:latin typeface="Arial" panose="020B0604020202020204" pitchFamily="34" charset="0"/>
              </a:rPr>
              <a:t>，</a:t>
            </a:r>
            <a:r>
              <a:rPr lang="zh-CN" altLang="en-US" sz="2800" dirty="0">
                <a:solidFill>
                  <a:schemeClr val="tx1"/>
                </a:solidFill>
                <a:latin typeface="Arial" panose="020B0604020202020204" pitchFamily="34" charset="0"/>
              </a:rPr>
              <a:t>其输出的拉氏变换为</a:t>
            </a:r>
          </a:p>
        </p:txBody>
      </p:sp>
      <p:graphicFrame>
        <p:nvGraphicFramePr>
          <p:cNvPr id="1440774" name="对象 1440773"/>
          <p:cNvGraphicFramePr/>
          <p:nvPr/>
        </p:nvGraphicFramePr>
        <p:xfrm>
          <a:off x="1414463" y="1601788"/>
          <a:ext cx="5534025" cy="1028700"/>
        </p:xfrm>
        <a:graphic>
          <a:graphicData uri="http://schemas.openxmlformats.org/presentationml/2006/ole">
            <mc:AlternateContent xmlns:mc="http://schemas.openxmlformats.org/markup-compatibility/2006">
              <mc:Choice xmlns:v="urn:schemas-microsoft-com:vml" Requires="v">
                <p:oleObj spid="_x0000_s23575" r:id="rId5" imgW="2463800" imgH="457200" progId="Equation.3">
                  <p:embed/>
                </p:oleObj>
              </mc:Choice>
              <mc:Fallback>
                <p:oleObj r:id="rId5" imgW="2463800" imgH="457200" progId="Equation.3">
                  <p:embed/>
                  <p:pic>
                    <p:nvPicPr>
                      <p:cNvPr id="0" name="图片 3111"/>
                      <p:cNvPicPr/>
                      <p:nvPr/>
                    </p:nvPicPr>
                    <p:blipFill>
                      <a:blip r:embed="rId6"/>
                      <a:stretch>
                        <a:fillRect/>
                      </a:stretch>
                    </p:blipFill>
                    <p:spPr>
                      <a:xfrm>
                        <a:off x="1414463" y="1601788"/>
                        <a:ext cx="5534025" cy="1028700"/>
                      </a:xfrm>
                      <a:prstGeom prst="rect">
                        <a:avLst/>
                      </a:prstGeom>
                      <a:noFill/>
                      <a:ln w="38100">
                        <a:noFill/>
                        <a:miter/>
                      </a:ln>
                    </p:spPr>
                  </p:pic>
                </p:oleObj>
              </mc:Fallback>
            </mc:AlternateContent>
          </a:graphicData>
        </a:graphic>
      </p:graphicFrame>
      <p:graphicFrame>
        <p:nvGraphicFramePr>
          <p:cNvPr id="1440775" name="对象 1440774"/>
          <p:cNvGraphicFramePr/>
          <p:nvPr/>
        </p:nvGraphicFramePr>
        <p:xfrm>
          <a:off x="1393825" y="2611438"/>
          <a:ext cx="3306763" cy="1027112"/>
        </p:xfrm>
        <a:graphic>
          <a:graphicData uri="http://schemas.openxmlformats.org/presentationml/2006/ole">
            <mc:AlternateContent xmlns:mc="http://schemas.openxmlformats.org/markup-compatibility/2006">
              <mc:Choice xmlns:v="urn:schemas-microsoft-com:vml" Requires="v">
                <p:oleObj spid="_x0000_s23576" r:id="rId7" imgW="1473200" imgH="457200" progId="Equation.3">
                  <p:embed/>
                </p:oleObj>
              </mc:Choice>
              <mc:Fallback>
                <p:oleObj r:id="rId7" imgW="1473200" imgH="457200" progId="Equation.3">
                  <p:embed/>
                  <p:pic>
                    <p:nvPicPr>
                      <p:cNvPr id="0" name="图片 3110"/>
                      <p:cNvPicPr/>
                      <p:nvPr/>
                    </p:nvPicPr>
                    <p:blipFill>
                      <a:blip r:embed="rId8"/>
                      <a:stretch>
                        <a:fillRect/>
                      </a:stretch>
                    </p:blipFill>
                    <p:spPr>
                      <a:xfrm>
                        <a:off x="1393825" y="2611438"/>
                        <a:ext cx="3306763" cy="1027112"/>
                      </a:xfrm>
                      <a:prstGeom prst="rect">
                        <a:avLst/>
                      </a:prstGeom>
                      <a:noFill/>
                      <a:ln w="38100">
                        <a:noFill/>
                        <a:miter/>
                      </a:ln>
                    </p:spPr>
                  </p:pic>
                </p:oleObj>
              </mc:Fallback>
            </mc:AlternateContent>
          </a:graphicData>
        </a:graphic>
      </p:graphicFrame>
      <p:sp>
        <p:nvSpPr>
          <p:cNvPr id="1440776" name="文本框 1440775"/>
          <p:cNvSpPr txBox="1"/>
          <p:nvPr/>
        </p:nvSpPr>
        <p:spPr>
          <a:xfrm>
            <a:off x="539552" y="3626961"/>
            <a:ext cx="5197475" cy="457200"/>
          </a:xfrm>
          <a:prstGeom prst="rect">
            <a:avLst/>
          </a:prstGeom>
          <a:noFill/>
          <a:ln w="9525">
            <a:noFill/>
          </a:ln>
        </p:spPr>
        <p:txBody>
          <a:bodyPr wrap="none">
            <a:spAutoFit/>
          </a:bodyPr>
          <a:lstStyle/>
          <a:p>
            <a:pPr>
              <a:spcBef>
                <a:spcPct val="0"/>
              </a:spcBef>
            </a:pPr>
            <a:r>
              <a:rPr lang="zh-CN" altLang="en-US" sz="2400" dirty="0">
                <a:solidFill>
                  <a:schemeClr val="tx1"/>
                </a:solidFill>
                <a:latin typeface="Arial" panose="020B0604020202020204" pitchFamily="34" charset="0"/>
              </a:rPr>
              <a:t>式中</a:t>
            </a:r>
            <a:r>
              <a:rPr lang="en-US" altLang="zh-CN" sz="2400" i="1" dirty="0">
                <a:solidFill>
                  <a:schemeClr val="tx1"/>
                </a:solidFill>
                <a:latin typeface="Times New Roman" panose="02020603050405020304" pitchFamily="18" charset="0"/>
              </a:rPr>
              <a:t>s</a:t>
            </a:r>
            <a:r>
              <a:rPr lang="en-US" altLang="zh-CN" sz="2400" baseline="-25000" dirty="0">
                <a:solidFill>
                  <a:schemeClr val="tx1"/>
                </a:solidFill>
                <a:latin typeface="Times New Roman" panose="02020603050405020304" pitchFamily="18" charset="0"/>
              </a:rPr>
              <a:t>1</a:t>
            </a:r>
            <a:r>
              <a:rPr lang="zh-CN" altLang="en-US"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baseline="-25000" dirty="0">
                <a:solidFill>
                  <a:schemeClr val="tx1"/>
                </a:solidFill>
                <a:latin typeface="Times New Roman" panose="02020603050405020304" pitchFamily="18" charset="0"/>
              </a:rPr>
              <a:t>2</a:t>
            </a:r>
            <a:r>
              <a:rPr lang="zh-CN" altLang="en-US" sz="2400" dirty="0">
                <a:solidFill>
                  <a:schemeClr val="tx1"/>
                </a:solidFill>
                <a:latin typeface="Arial" panose="020B0604020202020204" pitchFamily="34" charset="0"/>
              </a:rPr>
              <a:t>是系统的两个闭环特征根。</a:t>
            </a:r>
          </a:p>
        </p:txBody>
      </p:sp>
      <p:grpSp>
        <p:nvGrpSpPr>
          <p:cNvPr id="3" name="组合 2">
            <a:extLst>
              <a:ext uri="{FF2B5EF4-FFF2-40B4-BE49-F238E27FC236}">
                <a16:creationId xmlns:a16="http://schemas.microsoft.com/office/drawing/2014/main" id="{7D04971A-E276-4D9B-AC5F-1A1235382392}"/>
              </a:ext>
            </a:extLst>
          </p:cNvPr>
          <p:cNvGrpSpPr/>
          <p:nvPr/>
        </p:nvGrpSpPr>
        <p:grpSpPr>
          <a:xfrm>
            <a:off x="35496" y="4084161"/>
            <a:ext cx="9183206" cy="1827552"/>
            <a:chOff x="35496" y="4084161"/>
            <a:chExt cx="9183206" cy="1827552"/>
          </a:xfrm>
        </p:grpSpPr>
        <p:sp>
          <p:nvSpPr>
            <p:cNvPr id="1440777" name="文本框 1440776"/>
            <p:cNvSpPr txBox="1"/>
            <p:nvPr/>
          </p:nvSpPr>
          <p:spPr>
            <a:xfrm>
              <a:off x="323528" y="4084161"/>
              <a:ext cx="8895174" cy="1827552"/>
            </a:xfrm>
            <a:prstGeom prst="rect">
              <a:avLst/>
            </a:prstGeom>
            <a:noFill/>
            <a:ln w="9525">
              <a:noFill/>
            </a:ln>
          </p:spPr>
          <p:txBody>
            <a:bodyPr wrap="square">
              <a:spAutoFit/>
            </a:bodyPr>
            <a:lstStyle/>
            <a:p>
              <a:pPr>
                <a:lnSpc>
                  <a:spcPct val="120000"/>
                </a:lnSpc>
                <a:spcBef>
                  <a:spcPct val="0"/>
                </a:spcBef>
              </a:pPr>
              <a:r>
                <a:rPr lang="zh-CN" altLang="en-US" sz="2400" dirty="0">
                  <a:solidFill>
                    <a:schemeClr val="tx2"/>
                  </a:solidFill>
                  <a:latin typeface="楷体_GB2312" pitchFamily="49" charset="-122"/>
                  <a:ea typeface="楷体_GB2312" pitchFamily="49" charset="-122"/>
                </a:rPr>
                <a:t>对上式两端取拉氏反变换，可以求出系统的单位阶跃响应表达式。</a:t>
              </a:r>
              <a:r>
                <a:rPr lang="zh-CN" altLang="en-US" sz="2400" dirty="0">
                  <a:solidFill>
                    <a:srgbClr val="FF0000"/>
                  </a:solidFill>
                  <a:latin typeface="楷体_GB2312" pitchFamily="49" charset="-122"/>
                  <a:ea typeface="楷体_GB2312" pitchFamily="49" charset="-122"/>
                </a:rPr>
                <a:t>阻尼比在不同的范围内取值时，二阶系统的特征根在</a:t>
              </a:r>
              <a:r>
                <a:rPr lang="en-US" altLang="zh-CN" sz="2400" i="1" dirty="0">
                  <a:solidFill>
                    <a:srgbClr val="FF0000"/>
                  </a:solidFill>
                  <a:latin typeface="楷体_GB2312" pitchFamily="49" charset="-122"/>
                  <a:ea typeface="楷体_GB2312" pitchFamily="49" charset="-122"/>
                </a:rPr>
                <a:t>s </a:t>
              </a:r>
              <a:r>
                <a:rPr lang="zh-CN" altLang="en-US" sz="2400" dirty="0">
                  <a:solidFill>
                    <a:srgbClr val="FF0000"/>
                  </a:solidFill>
                  <a:latin typeface="楷体_GB2312" pitchFamily="49" charset="-122"/>
                  <a:ea typeface="楷体_GB2312" pitchFamily="49" charset="-122"/>
                </a:rPr>
                <a:t>平面上的位置不同，二阶系统的时间响应对应有不同的运动规律</a:t>
              </a:r>
              <a:r>
                <a:rPr lang="zh-CN" altLang="en-US" sz="2400" dirty="0">
                  <a:solidFill>
                    <a:schemeClr val="tx2"/>
                  </a:solidFill>
                  <a:latin typeface="楷体_GB2312" pitchFamily="49" charset="-122"/>
                  <a:ea typeface="楷体_GB2312" pitchFamily="49" charset="-122"/>
                </a:rPr>
                <a:t>。</a:t>
              </a:r>
              <a:endParaRPr lang="en-US" altLang="zh-CN" sz="2400" dirty="0">
                <a:solidFill>
                  <a:schemeClr val="tx2"/>
                </a:solidFill>
                <a:latin typeface="楷体_GB2312" pitchFamily="49" charset="-122"/>
                <a:ea typeface="楷体_GB2312" pitchFamily="49" charset="-122"/>
              </a:endParaRPr>
            </a:p>
            <a:p>
              <a:pPr>
                <a:lnSpc>
                  <a:spcPct val="120000"/>
                </a:lnSpc>
                <a:spcBef>
                  <a:spcPct val="0"/>
                </a:spcBef>
              </a:pPr>
              <a:r>
                <a:rPr lang="zh-CN" altLang="en-US" sz="2400" dirty="0">
                  <a:solidFill>
                    <a:schemeClr val="tx2"/>
                  </a:solidFill>
                  <a:latin typeface="楷体_GB2312" pitchFamily="49" charset="-122"/>
                  <a:ea typeface="楷体_GB2312" pitchFamily="49" charset="-122"/>
                </a:rPr>
                <a:t>下面分别加以讨论。</a:t>
              </a:r>
            </a:p>
          </p:txBody>
        </p:sp>
        <p:sp>
          <p:nvSpPr>
            <p:cNvPr id="10" name="椭圆 31">
              <a:extLst>
                <a:ext uri="{FF2B5EF4-FFF2-40B4-BE49-F238E27FC236}">
                  <a16:creationId xmlns:a16="http://schemas.microsoft.com/office/drawing/2014/main" id="{2CDF2E04-EE7C-4DBA-9384-0155F7A1E405}"/>
                </a:ext>
              </a:extLst>
            </p:cNvPr>
            <p:cNvSpPr/>
            <p:nvPr/>
          </p:nvSpPr>
          <p:spPr>
            <a:xfrm rot="5400000">
              <a:off x="4107733" y="426898"/>
              <a:ext cx="894716" cy="9039190"/>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5" fmla="*/ 51067 w 648099"/>
                <a:gd name="connsiteY5" fmla="*/ 18182 h 565791"/>
                <a:gd name="connsiteX0" fmla="*/ 95107 w 692139"/>
                <a:gd name="connsiteY0" fmla="*/ 44563 h 592172"/>
                <a:gd name="connsiteX1" fmla="*/ 661045 w 692139"/>
                <a:gd name="connsiteY1" fmla="*/ 58081 h 592172"/>
                <a:gd name="connsiteX2" fmla="*/ 665753 w 692139"/>
                <a:gd name="connsiteY2" fmla="*/ 561730 h 592172"/>
                <a:gd name="connsiteX3" fmla="*/ 56577 w 692139"/>
                <a:gd name="connsiteY3" fmla="*/ 524353 h 592172"/>
                <a:gd name="connsiteX4" fmla="*/ 95107 w 692139"/>
                <a:gd name="connsiteY4" fmla="*/ 44563 h 59217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10474 h 567526"/>
                <a:gd name="connsiteX1" fmla="*/ 668271 w 726505"/>
                <a:gd name="connsiteY1" fmla="*/ 33435 h 567526"/>
                <a:gd name="connsiteX2" fmla="*/ 672979 w 726505"/>
                <a:gd name="connsiteY2" fmla="*/ 537084 h 567526"/>
                <a:gd name="connsiteX3" fmla="*/ 63803 w 726505"/>
                <a:gd name="connsiteY3" fmla="*/ 499707 h 567526"/>
                <a:gd name="connsiteX4" fmla="*/ 84274 w 726505"/>
                <a:gd name="connsiteY4" fmla="*/ 10474 h 567526"/>
                <a:gd name="connsiteX0" fmla="*/ 84274 w 747243"/>
                <a:gd name="connsiteY0" fmla="*/ 23576 h 595793"/>
                <a:gd name="connsiteX1" fmla="*/ 671883 w 747243"/>
                <a:gd name="connsiteY1" fmla="*/ 24503 h 595793"/>
                <a:gd name="connsiteX2" fmla="*/ 672979 w 747243"/>
                <a:gd name="connsiteY2" fmla="*/ 550186 h 595793"/>
                <a:gd name="connsiteX3" fmla="*/ 63803 w 747243"/>
                <a:gd name="connsiteY3" fmla="*/ 512809 h 595793"/>
                <a:gd name="connsiteX4" fmla="*/ 84274 w 747243"/>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672979"/>
                <a:gd name="connsiteY0" fmla="*/ 23576 h 595793"/>
                <a:gd name="connsiteX1" fmla="*/ 671883 w 672979"/>
                <a:gd name="connsiteY1" fmla="*/ 24503 h 595793"/>
                <a:gd name="connsiteX2" fmla="*/ 672979 w 672979"/>
                <a:gd name="connsiteY2" fmla="*/ 550186 h 595793"/>
                <a:gd name="connsiteX3" fmla="*/ 63803 w 672979"/>
                <a:gd name="connsiteY3" fmla="*/ 512809 h 595793"/>
                <a:gd name="connsiteX4" fmla="*/ 84274 w 672979"/>
                <a:gd name="connsiteY4" fmla="*/ 23576 h 595793"/>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60608"/>
                <a:gd name="connsiteX1" fmla="*/ 671883 w 672979"/>
                <a:gd name="connsiteY1" fmla="*/ 24503 h 560608"/>
                <a:gd name="connsiteX2" fmla="*/ 672979 w 672979"/>
                <a:gd name="connsiteY2" fmla="*/ 550186 h 560608"/>
                <a:gd name="connsiteX3" fmla="*/ 63803 w 672979"/>
                <a:gd name="connsiteY3" fmla="*/ 512809 h 560608"/>
                <a:gd name="connsiteX4" fmla="*/ 84274 w 672979"/>
                <a:gd name="connsiteY4" fmla="*/ 23576 h 560608"/>
                <a:gd name="connsiteX0" fmla="*/ 84274 w 672979"/>
                <a:gd name="connsiteY0" fmla="*/ 23576 h 567351"/>
                <a:gd name="connsiteX1" fmla="*/ 671883 w 672979"/>
                <a:gd name="connsiteY1" fmla="*/ 24503 h 567351"/>
                <a:gd name="connsiteX2" fmla="*/ 672979 w 672979"/>
                <a:gd name="connsiteY2" fmla="*/ 550186 h 567351"/>
                <a:gd name="connsiteX3" fmla="*/ 63803 w 672979"/>
                <a:gd name="connsiteY3" fmla="*/ 512809 h 567351"/>
                <a:gd name="connsiteX4" fmla="*/ 84274 w 672979"/>
                <a:gd name="connsiteY4" fmla="*/ 23576 h 567351"/>
                <a:gd name="connsiteX0" fmla="*/ 72869 w 661574"/>
                <a:gd name="connsiteY0" fmla="*/ 23576 h 567351"/>
                <a:gd name="connsiteX1" fmla="*/ 660478 w 661574"/>
                <a:gd name="connsiteY1" fmla="*/ 24503 h 567351"/>
                <a:gd name="connsiteX2" fmla="*/ 661574 w 661574"/>
                <a:gd name="connsiteY2" fmla="*/ 550186 h 567351"/>
                <a:gd name="connsiteX3" fmla="*/ 52398 w 661574"/>
                <a:gd name="connsiteY3" fmla="*/ 512809 h 567351"/>
                <a:gd name="connsiteX4" fmla="*/ 72869 w 661574"/>
                <a:gd name="connsiteY4" fmla="*/ 23576 h 567351"/>
                <a:gd name="connsiteX0" fmla="*/ 72869 w 661574"/>
                <a:gd name="connsiteY0" fmla="*/ 13918 h 557693"/>
                <a:gd name="connsiteX1" fmla="*/ 660478 w 661574"/>
                <a:gd name="connsiteY1" fmla="*/ 14845 h 557693"/>
                <a:gd name="connsiteX2" fmla="*/ 661574 w 661574"/>
                <a:gd name="connsiteY2" fmla="*/ 540528 h 557693"/>
                <a:gd name="connsiteX3" fmla="*/ 52398 w 661574"/>
                <a:gd name="connsiteY3" fmla="*/ 503151 h 557693"/>
                <a:gd name="connsiteX4" fmla="*/ 72869 w 661574"/>
                <a:gd name="connsiteY4" fmla="*/ 13918 h 557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574" h="557693">
                  <a:moveTo>
                    <a:pt x="72869" y="13918"/>
                  </a:moveTo>
                  <a:cubicBezTo>
                    <a:pt x="184450" y="5454"/>
                    <a:pt x="435949" y="-13117"/>
                    <a:pt x="660478" y="14845"/>
                  </a:cubicBezTo>
                  <a:cubicBezTo>
                    <a:pt x="621347" y="93170"/>
                    <a:pt x="636508" y="427667"/>
                    <a:pt x="661574" y="540528"/>
                  </a:cubicBezTo>
                  <a:cubicBezTo>
                    <a:pt x="560227" y="562106"/>
                    <a:pt x="148547" y="575610"/>
                    <a:pt x="52398" y="503151"/>
                  </a:cubicBezTo>
                  <a:cubicBezTo>
                    <a:pt x="-13816" y="391776"/>
                    <a:pt x="-27876" y="91630"/>
                    <a:pt x="72869" y="13918"/>
                  </a:cubicBezTo>
                  <a:close/>
                </a:path>
              </a:pathLst>
            </a:custGeom>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40770"/>
                                        </p:tgtEl>
                                        <p:attrNameLst>
                                          <p:attrName>style.visibility</p:attrName>
                                        </p:attrNameLst>
                                      </p:cBhvr>
                                      <p:to>
                                        <p:strVal val="visible"/>
                                      </p:to>
                                    </p:set>
                                    <p:animEffect transition="in" filter="dissolve">
                                      <p:cBhvr>
                                        <p:cTn id="7" dur="500"/>
                                        <p:tgtEl>
                                          <p:spTgt spid="14407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40772"/>
                                        </p:tgtEl>
                                        <p:attrNameLst>
                                          <p:attrName>style.visibility</p:attrName>
                                        </p:attrNameLst>
                                      </p:cBhvr>
                                      <p:to>
                                        <p:strVal val="visible"/>
                                      </p:to>
                                    </p:set>
                                    <p:animEffect transition="in" filter="dissolve">
                                      <p:cBhvr>
                                        <p:cTn id="12" dur="500"/>
                                        <p:tgtEl>
                                          <p:spTgt spid="1440772"/>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440771"/>
                                        </p:tgtEl>
                                        <p:attrNameLst>
                                          <p:attrName>style.visibility</p:attrName>
                                        </p:attrNameLst>
                                      </p:cBhvr>
                                      <p:to>
                                        <p:strVal val="visible"/>
                                      </p:to>
                                    </p:set>
                                    <p:animEffect transition="in" filter="dissolve">
                                      <p:cBhvr>
                                        <p:cTn id="16" dur="500"/>
                                        <p:tgtEl>
                                          <p:spTgt spid="1440771"/>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440773"/>
                                        </p:tgtEl>
                                        <p:attrNameLst>
                                          <p:attrName>style.visibility</p:attrName>
                                        </p:attrNameLst>
                                      </p:cBhvr>
                                      <p:to>
                                        <p:strVal val="visible"/>
                                      </p:to>
                                    </p:set>
                                    <p:animEffect transition="in" filter="dissolve">
                                      <p:cBhvr>
                                        <p:cTn id="20" dur="500"/>
                                        <p:tgtEl>
                                          <p:spTgt spid="144077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440774"/>
                                        </p:tgtEl>
                                        <p:attrNameLst>
                                          <p:attrName>style.visibility</p:attrName>
                                        </p:attrNameLst>
                                      </p:cBhvr>
                                      <p:to>
                                        <p:strVal val="visible"/>
                                      </p:to>
                                    </p:set>
                                    <p:animEffect transition="in" filter="dissolve">
                                      <p:cBhvr>
                                        <p:cTn id="25" dur="500"/>
                                        <p:tgtEl>
                                          <p:spTgt spid="144077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440775"/>
                                        </p:tgtEl>
                                        <p:attrNameLst>
                                          <p:attrName>style.visibility</p:attrName>
                                        </p:attrNameLst>
                                      </p:cBhvr>
                                      <p:to>
                                        <p:strVal val="visible"/>
                                      </p:to>
                                    </p:set>
                                    <p:animEffect transition="in" filter="dissolve">
                                      <p:cBhvr>
                                        <p:cTn id="30" dur="500"/>
                                        <p:tgtEl>
                                          <p:spTgt spid="144077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440776"/>
                                        </p:tgtEl>
                                        <p:attrNameLst>
                                          <p:attrName>style.visibility</p:attrName>
                                        </p:attrNameLst>
                                      </p:cBhvr>
                                      <p:to>
                                        <p:strVal val="visible"/>
                                      </p:to>
                                    </p:set>
                                    <p:animEffect transition="in" filter="dissolve">
                                      <p:cBhvr>
                                        <p:cTn id="35" dur="500"/>
                                        <p:tgtEl>
                                          <p:spTgt spid="1440776"/>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circle(in)">
                                      <p:cBhvr>
                                        <p:cTn id="4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0770" grpId="0"/>
      <p:bldP spid="1440772" grpId="0"/>
      <p:bldP spid="1440773" grpId="0"/>
      <p:bldP spid="144077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1794" name="文本占位符 1441793"/>
          <p:cNvSpPr>
            <a:spLocks noGrp="1"/>
          </p:cNvSpPr>
          <p:nvPr>
            <p:ph type="body" sz="half" idx="1"/>
          </p:nvPr>
        </p:nvSpPr>
        <p:spPr>
          <a:xfrm>
            <a:off x="968375" y="73025"/>
            <a:ext cx="4535488" cy="604837"/>
          </a:xfrm>
        </p:spPr>
        <p:txBody>
          <a:bodyPr vert="horz" wrap="square" lIns="91440" tIns="45720" rIns="91440" bIns="45720" anchor="t" anchorCtr="0"/>
          <a:lstStyle/>
          <a:p>
            <a:pPr eaLnBrk="1" hangingPunct="1">
              <a:buClr>
                <a:schemeClr val="accent1"/>
              </a:buClr>
              <a:buSzPct val="100000"/>
              <a:buFont typeface="Wingdings" panose="05000000000000000000" pitchFamily="2" charset="2"/>
              <a:buNone/>
            </a:pPr>
            <a:r>
              <a:rPr lang="zh-CN" altLang="en-US" sz="2800" b="1" dirty="0">
                <a:latin typeface="华文新魏" panose="02010800040101010101" pitchFamily="2" charset="-122"/>
                <a:ea typeface="华文新魏" panose="02010800040101010101" pitchFamily="2" charset="-122"/>
              </a:rPr>
              <a:t>（</a:t>
            </a:r>
            <a:r>
              <a:rPr lang="en-US" altLang="zh-CN" sz="2800" b="1" dirty="0">
                <a:latin typeface="华文新魏" panose="02010800040101010101" pitchFamily="2" charset="-122"/>
                <a:ea typeface="华文新魏" panose="02010800040101010101" pitchFamily="2" charset="-122"/>
              </a:rPr>
              <a:t>1</a:t>
            </a:r>
            <a:r>
              <a:rPr lang="zh-CN" altLang="en-US" sz="2800" b="1" dirty="0">
                <a:latin typeface="华文新魏" panose="02010800040101010101" pitchFamily="2" charset="-122"/>
                <a:ea typeface="华文新魏" panose="02010800040101010101" pitchFamily="2" charset="-122"/>
              </a:rPr>
              <a:t>）欠阻尼情况  </a:t>
            </a:r>
            <a:r>
              <a:rPr lang="en-US" altLang="zh-CN" sz="2800" b="1" dirty="0">
                <a:solidFill>
                  <a:srgbClr val="FF0000"/>
                </a:solidFill>
                <a:latin typeface="Times New Roman" panose="02020603050405020304" pitchFamily="18" charset="0"/>
                <a:ea typeface="华文新魏" panose="02010800040101010101" pitchFamily="2" charset="-122"/>
              </a:rPr>
              <a:t>0</a:t>
            </a:r>
            <a:r>
              <a:rPr lang="en-US" altLang="zh-CN" sz="2800" b="1" dirty="0">
                <a:solidFill>
                  <a:srgbClr val="FF0000"/>
                </a:solidFill>
                <a:latin typeface="华文新魏" panose="02010800040101010101" pitchFamily="2" charset="-122"/>
                <a:ea typeface="华文新魏" panose="02010800040101010101" pitchFamily="2" charset="-122"/>
              </a:rPr>
              <a:t>&lt;</a:t>
            </a:r>
            <a:r>
              <a:rPr lang="en-US" altLang="zh-CN" sz="2800" b="1" i="1" dirty="0">
                <a:solidFill>
                  <a:srgbClr val="FF0000"/>
                </a:solidFill>
              </a:rPr>
              <a:t>ξ&lt;1</a:t>
            </a:r>
            <a:endParaRPr lang="en-US" altLang="zh-CN" sz="2800" b="1" dirty="0">
              <a:solidFill>
                <a:srgbClr val="FF0000"/>
              </a:solidFill>
              <a:sym typeface="Symbol" panose="05050102010706020507" pitchFamily="18" charset="2"/>
            </a:endParaRPr>
          </a:p>
        </p:txBody>
      </p:sp>
      <p:graphicFrame>
        <p:nvGraphicFramePr>
          <p:cNvPr id="1441826" name="内容占位符 1441825"/>
          <p:cNvGraphicFramePr>
            <a:graphicFrameLocks noGrp="1"/>
          </p:cNvGraphicFramePr>
          <p:nvPr>
            <p:ph sz="half" idx="2"/>
          </p:nvPr>
        </p:nvGraphicFramePr>
        <p:xfrm>
          <a:off x="6216650" y="3913188"/>
          <a:ext cx="709613" cy="177800"/>
        </p:xfrm>
        <a:graphic>
          <a:graphicData uri="http://schemas.openxmlformats.org/presentationml/2006/ole">
            <mc:AlternateContent xmlns:mc="http://schemas.openxmlformats.org/markup-compatibility/2006">
              <mc:Choice xmlns:v="urn:schemas-microsoft-com:vml" Requires="v">
                <p:oleObj spid="_x0000_s24640" r:id="rId3" imgW="709930" imgH="177800" progId="Equation.3">
                  <p:embed/>
                </p:oleObj>
              </mc:Choice>
              <mc:Fallback>
                <p:oleObj r:id="rId3" imgW="709930" imgH="177800" progId="Equation.3">
                  <p:embed/>
                  <p:pic>
                    <p:nvPicPr>
                      <p:cNvPr id="0" name="图片 3115"/>
                      <p:cNvPicPr/>
                      <p:nvPr/>
                    </p:nvPicPr>
                    <p:blipFill>
                      <a:blip r:embed="rId4"/>
                      <a:srcRect/>
                      <a:stretch>
                        <a:fillRect/>
                      </a:stretch>
                    </p:blipFill>
                    <p:spPr>
                      <a:xfrm>
                        <a:off x="6216650" y="3913188"/>
                        <a:ext cx="709613" cy="177800"/>
                      </a:xfrm>
                      <a:prstGeom prst="rect">
                        <a:avLst/>
                      </a:prstGeom>
                      <a:solidFill>
                        <a:schemeClr val="folHlink">
                          <a:alpha val="100000"/>
                        </a:schemeClr>
                      </a:solidFill>
                      <a:ln w="38100">
                        <a:miter/>
                      </a:ln>
                    </p:spPr>
                  </p:pic>
                </p:oleObj>
              </mc:Fallback>
            </mc:AlternateContent>
          </a:graphicData>
        </a:graphic>
      </p:graphicFrame>
      <p:graphicFrame>
        <p:nvGraphicFramePr>
          <p:cNvPr id="1441795" name="对象 1441794"/>
          <p:cNvGraphicFramePr/>
          <p:nvPr/>
        </p:nvGraphicFramePr>
        <p:xfrm>
          <a:off x="468313" y="692150"/>
          <a:ext cx="4919662" cy="657225"/>
        </p:xfrm>
        <a:graphic>
          <a:graphicData uri="http://schemas.openxmlformats.org/presentationml/2006/ole">
            <mc:AlternateContent xmlns:mc="http://schemas.openxmlformats.org/markup-compatibility/2006">
              <mc:Choice xmlns:v="urn:schemas-microsoft-com:vml" Requires="v">
                <p:oleObj spid="_x0000_s24641" r:id="rId5" imgW="2475230" imgH="292100" progId="Equation.3">
                  <p:embed/>
                </p:oleObj>
              </mc:Choice>
              <mc:Fallback>
                <p:oleObj r:id="rId5" imgW="2475230" imgH="292100" progId="Equation.3">
                  <p:embed/>
                  <p:pic>
                    <p:nvPicPr>
                      <p:cNvPr id="0" name="图片 3114"/>
                      <p:cNvPicPr/>
                      <p:nvPr/>
                    </p:nvPicPr>
                    <p:blipFill>
                      <a:blip r:embed="rId6"/>
                      <a:stretch>
                        <a:fillRect/>
                      </a:stretch>
                    </p:blipFill>
                    <p:spPr>
                      <a:xfrm>
                        <a:off x="468313" y="692150"/>
                        <a:ext cx="4919662" cy="657225"/>
                      </a:xfrm>
                      <a:prstGeom prst="rect">
                        <a:avLst/>
                      </a:prstGeom>
                      <a:noFill/>
                      <a:ln w="38100">
                        <a:noFill/>
                        <a:miter/>
                      </a:ln>
                    </p:spPr>
                  </p:pic>
                </p:oleObj>
              </mc:Fallback>
            </mc:AlternateContent>
          </a:graphicData>
        </a:graphic>
      </p:graphicFrame>
      <p:graphicFrame>
        <p:nvGraphicFramePr>
          <p:cNvPr id="1441796" name="对象 1441795"/>
          <p:cNvGraphicFramePr/>
          <p:nvPr>
            <p:extLst>
              <p:ext uri="{D42A27DB-BD31-4B8C-83A1-F6EECF244321}">
                <p14:modId xmlns:p14="http://schemas.microsoft.com/office/powerpoint/2010/main" val="260391191"/>
              </p:ext>
            </p:extLst>
          </p:nvPr>
        </p:nvGraphicFramePr>
        <p:xfrm>
          <a:off x="98424" y="1196182"/>
          <a:ext cx="5922963" cy="1030288"/>
        </p:xfrm>
        <a:graphic>
          <a:graphicData uri="http://schemas.openxmlformats.org/presentationml/2006/ole">
            <mc:AlternateContent xmlns:mc="http://schemas.openxmlformats.org/markup-compatibility/2006">
              <mc:Choice xmlns:v="urn:schemas-microsoft-com:vml" Requires="v">
                <p:oleObj spid="_x0000_s24642" r:id="rId7" imgW="2628900" imgH="457200" progId="Equation.3">
                  <p:embed/>
                </p:oleObj>
              </mc:Choice>
              <mc:Fallback>
                <p:oleObj r:id="rId7" imgW="2628900" imgH="457200" progId="Equation.3">
                  <p:embed/>
                  <p:pic>
                    <p:nvPicPr>
                      <p:cNvPr id="0" name="图片 3113"/>
                      <p:cNvPicPr/>
                      <p:nvPr/>
                    </p:nvPicPr>
                    <p:blipFill>
                      <a:blip r:embed="rId8"/>
                      <a:stretch>
                        <a:fillRect/>
                      </a:stretch>
                    </p:blipFill>
                    <p:spPr>
                      <a:xfrm>
                        <a:off x="98424" y="1196182"/>
                        <a:ext cx="5922963" cy="1030288"/>
                      </a:xfrm>
                      <a:prstGeom prst="rect">
                        <a:avLst/>
                      </a:prstGeom>
                      <a:noFill/>
                      <a:ln w="38100">
                        <a:noFill/>
                        <a:miter/>
                      </a:ln>
                    </p:spPr>
                  </p:pic>
                </p:oleObj>
              </mc:Fallback>
            </mc:AlternateContent>
          </a:graphicData>
        </a:graphic>
      </p:graphicFrame>
      <p:graphicFrame>
        <p:nvGraphicFramePr>
          <p:cNvPr id="1441797" name="对象 1441796"/>
          <p:cNvGraphicFramePr/>
          <p:nvPr>
            <p:extLst>
              <p:ext uri="{D42A27DB-BD31-4B8C-83A1-F6EECF244321}">
                <p14:modId xmlns:p14="http://schemas.microsoft.com/office/powerpoint/2010/main" val="911968408"/>
              </p:ext>
            </p:extLst>
          </p:nvPr>
        </p:nvGraphicFramePr>
        <p:xfrm>
          <a:off x="71438" y="4791507"/>
          <a:ext cx="5861050" cy="1025525"/>
        </p:xfrm>
        <a:graphic>
          <a:graphicData uri="http://schemas.openxmlformats.org/presentationml/2006/ole">
            <mc:AlternateContent xmlns:mc="http://schemas.openxmlformats.org/markup-compatibility/2006">
              <mc:Choice xmlns:v="urn:schemas-microsoft-com:vml" Requires="v">
                <p:oleObj spid="_x0000_s24643" r:id="rId9" imgW="2590800" imgH="457200" progId="Equation.3">
                  <p:embed/>
                </p:oleObj>
              </mc:Choice>
              <mc:Fallback>
                <p:oleObj r:id="rId9" imgW="2590800" imgH="457200" progId="Equation.3">
                  <p:embed/>
                  <p:pic>
                    <p:nvPicPr>
                      <p:cNvPr id="0" name="图片 3116"/>
                      <p:cNvPicPr/>
                      <p:nvPr/>
                    </p:nvPicPr>
                    <p:blipFill>
                      <a:blip r:embed="rId10"/>
                      <a:stretch>
                        <a:fillRect/>
                      </a:stretch>
                    </p:blipFill>
                    <p:spPr>
                      <a:xfrm>
                        <a:off x="71438" y="4791507"/>
                        <a:ext cx="5861050" cy="1025525"/>
                      </a:xfrm>
                      <a:prstGeom prst="rect">
                        <a:avLst/>
                      </a:prstGeom>
                      <a:noFill/>
                      <a:ln w="38100">
                        <a:noFill/>
                        <a:miter/>
                      </a:ln>
                    </p:spPr>
                  </p:pic>
                </p:oleObj>
              </mc:Fallback>
            </mc:AlternateContent>
          </a:graphicData>
        </a:graphic>
      </p:graphicFrame>
      <p:grpSp>
        <p:nvGrpSpPr>
          <p:cNvPr id="1441798" name="组合 1441797"/>
          <p:cNvGrpSpPr/>
          <p:nvPr/>
        </p:nvGrpSpPr>
        <p:grpSpPr>
          <a:xfrm>
            <a:off x="6084888" y="115888"/>
            <a:ext cx="3030537" cy="3797300"/>
            <a:chOff x="3651" y="91"/>
            <a:chExt cx="1909" cy="2392"/>
          </a:xfrm>
        </p:grpSpPr>
        <p:sp>
          <p:nvSpPr>
            <p:cNvPr id="36882" name="直接连接符 1441798"/>
            <p:cNvSpPr/>
            <p:nvPr/>
          </p:nvSpPr>
          <p:spPr>
            <a:xfrm flipV="1">
              <a:off x="4834" y="203"/>
              <a:ext cx="0" cy="2280"/>
            </a:xfrm>
            <a:prstGeom prst="line">
              <a:avLst/>
            </a:prstGeom>
            <a:ln w="57150" cap="sq" cmpd="sng">
              <a:solidFill>
                <a:schemeClr val="tx1"/>
              </a:solidFill>
              <a:prstDash val="solid"/>
              <a:headEnd type="none" w="med" len="med"/>
              <a:tailEnd type="triangle" w="med" len="med"/>
            </a:ln>
          </p:spPr>
        </p:sp>
        <p:sp>
          <p:nvSpPr>
            <p:cNvPr id="36883" name="直接连接符 1441799"/>
            <p:cNvSpPr/>
            <p:nvPr/>
          </p:nvSpPr>
          <p:spPr>
            <a:xfrm>
              <a:off x="3651" y="1507"/>
              <a:ext cx="1701" cy="0"/>
            </a:xfrm>
            <a:prstGeom prst="line">
              <a:avLst/>
            </a:prstGeom>
            <a:ln w="57150" cap="sq" cmpd="sng">
              <a:solidFill>
                <a:schemeClr val="tx1"/>
              </a:solidFill>
              <a:prstDash val="solid"/>
              <a:headEnd type="none" w="med" len="med"/>
              <a:tailEnd type="triangle" w="med" len="med"/>
            </a:ln>
          </p:spPr>
        </p:sp>
        <p:sp>
          <p:nvSpPr>
            <p:cNvPr id="36884" name="矩形 1441800"/>
            <p:cNvSpPr/>
            <p:nvPr/>
          </p:nvSpPr>
          <p:spPr>
            <a:xfrm>
              <a:off x="4710" y="91"/>
              <a:ext cx="515"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p>
          </p:txBody>
        </p:sp>
        <p:sp>
          <p:nvSpPr>
            <p:cNvPr id="36885" name="矩形 1441801"/>
            <p:cNvSpPr/>
            <p:nvPr/>
          </p:nvSpPr>
          <p:spPr>
            <a:xfrm>
              <a:off x="5280" y="1345"/>
              <a:ext cx="28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endParaRPr lang="en-US" altLang="zh-CN" sz="2400" dirty="0">
                <a:solidFill>
                  <a:schemeClr val="tx1"/>
                </a:solidFill>
                <a:latin typeface="Times New Roman" panose="02020603050405020304" pitchFamily="18" charset="0"/>
              </a:endParaRPr>
            </a:p>
          </p:txBody>
        </p:sp>
        <p:sp>
          <p:nvSpPr>
            <p:cNvPr id="36886" name="直接连接符 1441802"/>
            <p:cNvSpPr/>
            <p:nvPr/>
          </p:nvSpPr>
          <p:spPr>
            <a:xfrm>
              <a:off x="4100" y="744"/>
              <a:ext cx="734" cy="0"/>
            </a:xfrm>
            <a:prstGeom prst="line">
              <a:avLst/>
            </a:prstGeom>
            <a:ln w="38100" cap="flat" cmpd="sng">
              <a:solidFill>
                <a:schemeClr val="tx1"/>
              </a:solidFill>
              <a:prstDash val="dash"/>
              <a:headEnd type="none" w="med" len="med"/>
              <a:tailEnd type="none" w="med" len="med"/>
            </a:ln>
          </p:spPr>
        </p:sp>
        <p:sp>
          <p:nvSpPr>
            <p:cNvPr id="36887" name="直接连接符 1441803"/>
            <p:cNvSpPr/>
            <p:nvPr/>
          </p:nvSpPr>
          <p:spPr>
            <a:xfrm>
              <a:off x="4112" y="721"/>
              <a:ext cx="0" cy="768"/>
            </a:xfrm>
            <a:prstGeom prst="line">
              <a:avLst/>
            </a:prstGeom>
            <a:ln w="38100" cap="flat" cmpd="sng">
              <a:solidFill>
                <a:schemeClr val="tx1"/>
              </a:solidFill>
              <a:prstDash val="dash"/>
              <a:headEnd type="none" w="med" len="med"/>
              <a:tailEnd type="none" w="med" len="med"/>
            </a:ln>
          </p:spPr>
        </p:sp>
        <p:sp>
          <p:nvSpPr>
            <p:cNvPr id="36888" name="直接连接符 1441804"/>
            <p:cNvSpPr/>
            <p:nvPr/>
          </p:nvSpPr>
          <p:spPr>
            <a:xfrm flipV="1">
              <a:off x="4122" y="1827"/>
              <a:ext cx="0" cy="430"/>
            </a:xfrm>
            <a:prstGeom prst="line">
              <a:avLst/>
            </a:prstGeom>
            <a:ln w="38100" cap="flat" cmpd="sng">
              <a:solidFill>
                <a:schemeClr val="tx1"/>
              </a:solidFill>
              <a:prstDash val="dash"/>
              <a:headEnd type="none" w="med" len="med"/>
              <a:tailEnd type="none" w="med" len="med"/>
            </a:ln>
          </p:spPr>
        </p:sp>
        <p:sp>
          <p:nvSpPr>
            <p:cNvPr id="36889" name="直接连接符 1441805"/>
            <p:cNvSpPr/>
            <p:nvPr/>
          </p:nvSpPr>
          <p:spPr>
            <a:xfrm flipH="1" flipV="1">
              <a:off x="4122" y="755"/>
              <a:ext cx="712" cy="745"/>
            </a:xfrm>
            <a:prstGeom prst="line">
              <a:avLst/>
            </a:prstGeom>
            <a:ln w="38100" cap="flat" cmpd="sng">
              <a:solidFill>
                <a:schemeClr val="tx1"/>
              </a:solidFill>
              <a:prstDash val="dash"/>
              <a:headEnd type="none" w="med" len="med"/>
              <a:tailEnd type="none" w="med" len="med"/>
            </a:ln>
          </p:spPr>
        </p:sp>
        <p:sp>
          <p:nvSpPr>
            <p:cNvPr id="36890" name="直接连接符 1441806"/>
            <p:cNvSpPr/>
            <p:nvPr/>
          </p:nvSpPr>
          <p:spPr>
            <a:xfrm flipH="1">
              <a:off x="4134" y="1512"/>
              <a:ext cx="700" cy="756"/>
            </a:xfrm>
            <a:prstGeom prst="line">
              <a:avLst/>
            </a:prstGeom>
            <a:ln w="38100" cap="flat" cmpd="sng">
              <a:solidFill>
                <a:schemeClr val="tx1"/>
              </a:solidFill>
              <a:prstDash val="dash"/>
              <a:headEnd type="none" w="med" len="med"/>
              <a:tailEnd type="none" w="med" len="med"/>
            </a:ln>
          </p:spPr>
        </p:sp>
        <p:grpSp>
          <p:nvGrpSpPr>
            <p:cNvPr id="36891" name="组合 1441807"/>
            <p:cNvGrpSpPr/>
            <p:nvPr/>
          </p:nvGrpSpPr>
          <p:grpSpPr>
            <a:xfrm>
              <a:off x="4012" y="660"/>
              <a:ext cx="181" cy="183"/>
              <a:chOff x="4023" y="3338"/>
              <a:chExt cx="181" cy="183"/>
            </a:xfrm>
          </p:grpSpPr>
          <p:sp>
            <p:nvSpPr>
              <p:cNvPr id="36903" name="直接连接符 1441808"/>
              <p:cNvSpPr/>
              <p:nvPr/>
            </p:nvSpPr>
            <p:spPr>
              <a:xfrm>
                <a:off x="4025" y="3343"/>
                <a:ext cx="178" cy="178"/>
              </a:xfrm>
              <a:prstGeom prst="line">
                <a:avLst/>
              </a:prstGeom>
              <a:ln w="57150" cap="sq" cmpd="sng">
                <a:solidFill>
                  <a:schemeClr val="tx1"/>
                </a:solidFill>
                <a:prstDash val="solid"/>
                <a:headEnd type="none" w="med" len="med"/>
                <a:tailEnd type="none" w="med" len="med"/>
              </a:ln>
            </p:spPr>
          </p:sp>
          <p:sp>
            <p:nvSpPr>
              <p:cNvPr id="36904" name="直接连接符 1441809"/>
              <p:cNvSpPr/>
              <p:nvPr/>
            </p:nvSpPr>
            <p:spPr>
              <a:xfrm flipH="1">
                <a:off x="4023" y="3338"/>
                <a:ext cx="181" cy="181"/>
              </a:xfrm>
              <a:prstGeom prst="line">
                <a:avLst/>
              </a:prstGeom>
              <a:ln w="57150" cap="sq" cmpd="sng">
                <a:solidFill>
                  <a:schemeClr val="tx1"/>
                </a:solidFill>
                <a:prstDash val="solid"/>
                <a:headEnd type="none" w="med" len="med"/>
                <a:tailEnd type="none" w="med" len="med"/>
              </a:ln>
            </p:spPr>
          </p:sp>
        </p:grpSp>
        <p:grpSp>
          <p:nvGrpSpPr>
            <p:cNvPr id="36892" name="组合 1441810"/>
            <p:cNvGrpSpPr/>
            <p:nvPr/>
          </p:nvGrpSpPr>
          <p:grpSpPr>
            <a:xfrm>
              <a:off x="4035" y="2196"/>
              <a:ext cx="181" cy="183"/>
              <a:chOff x="4023" y="3338"/>
              <a:chExt cx="181" cy="183"/>
            </a:xfrm>
          </p:grpSpPr>
          <p:sp>
            <p:nvSpPr>
              <p:cNvPr id="36901" name="直接连接符 1441811"/>
              <p:cNvSpPr/>
              <p:nvPr/>
            </p:nvSpPr>
            <p:spPr>
              <a:xfrm>
                <a:off x="4025" y="3343"/>
                <a:ext cx="178" cy="178"/>
              </a:xfrm>
              <a:prstGeom prst="line">
                <a:avLst/>
              </a:prstGeom>
              <a:ln w="57150" cap="sq" cmpd="sng">
                <a:solidFill>
                  <a:schemeClr val="tx1"/>
                </a:solidFill>
                <a:prstDash val="solid"/>
                <a:headEnd type="none" w="med" len="med"/>
                <a:tailEnd type="none" w="med" len="med"/>
              </a:ln>
            </p:spPr>
          </p:sp>
          <p:sp>
            <p:nvSpPr>
              <p:cNvPr id="36902" name="直接连接符 1441812"/>
              <p:cNvSpPr/>
              <p:nvPr/>
            </p:nvSpPr>
            <p:spPr>
              <a:xfrm flipH="1">
                <a:off x="4023" y="3338"/>
                <a:ext cx="181" cy="181"/>
              </a:xfrm>
              <a:prstGeom prst="line">
                <a:avLst/>
              </a:prstGeom>
              <a:ln w="57150" cap="sq" cmpd="sng">
                <a:solidFill>
                  <a:schemeClr val="tx1"/>
                </a:solidFill>
                <a:prstDash val="solid"/>
                <a:headEnd type="none" w="med" len="med"/>
                <a:tailEnd type="none" w="med" len="med"/>
              </a:ln>
            </p:spPr>
          </p:sp>
        </p:grpSp>
        <p:sp>
          <p:nvSpPr>
            <p:cNvPr id="36893" name="矩形 1441813"/>
            <p:cNvSpPr/>
            <p:nvPr/>
          </p:nvSpPr>
          <p:spPr>
            <a:xfrm>
              <a:off x="4406" y="800"/>
              <a:ext cx="355"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p:txBody>
        </p:sp>
        <p:sp>
          <p:nvSpPr>
            <p:cNvPr id="36894" name="矩形 1441814"/>
            <p:cNvSpPr/>
            <p:nvPr/>
          </p:nvSpPr>
          <p:spPr>
            <a:xfrm>
              <a:off x="3720" y="565"/>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1</a:t>
              </a:r>
            </a:p>
          </p:txBody>
        </p:sp>
        <p:sp>
          <p:nvSpPr>
            <p:cNvPr id="36895" name="矩形 1441815"/>
            <p:cNvSpPr/>
            <p:nvPr/>
          </p:nvSpPr>
          <p:spPr>
            <a:xfrm>
              <a:off x="3720" y="2123"/>
              <a:ext cx="279"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s</a:t>
              </a:r>
              <a:r>
                <a:rPr lang="en-US" altLang="zh-CN" sz="2800" baseline="-30000" dirty="0">
                  <a:solidFill>
                    <a:schemeClr val="tx1"/>
                  </a:solidFill>
                  <a:latin typeface="Times New Roman" panose="02020603050405020304" pitchFamily="18" charset="0"/>
                  <a:sym typeface="Symbol" panose="05050102010706020507" pitchFamily="18" charset="2"/>
                </a:rPr>
                <a:t>2</a:t>
              </a:r>
            </a:p>
          </p:txBody>
        </p:sp>
        <p:sp>
          <p:nvSpPr>
            <p:cNvPr id="36896" name="矩形 1441816"/>
            <p:cNvSpPr/>
            <p:nvPr/>
          </p:nvSpPr>
          <p:spPr>
            <a:xfrm>
              <a:off x="4722" y="521"/>
              <a:ext cx="644" cy="327"/>
            </a:xfrm>
            <a:prstGeom prst="rect">
              <a:avLst/>
            </a:prstGeom>
            <a:noFill/>
            <a:ln w="9525">
              <a:noFill/>
            </a:ln>
          </p:spPr>
          <p:txBody>
            <a:bodyPr wrap="none">
              <a:spAutoFit/>
            </a:bodyPr>
            <a:lstStyle/>
            <a:p>
              <a:pPr>
                <a:spcBef>
                  <a:spcPct val="0"/>
                </a:spcBef>
              </a:pP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rPr>
                <a:t>j</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d</a:t>
              </a:r>
              <a:r>
                <a:rPr lang="en-US" altLang="zh-CN" sz="2400" dirty="0">
                  <a:solidFill>
                    <a:schemeClr val="tx1"/>
                  </a:solidFill>
                  <a:latin typeface="Arial" panose="020B0604020202020204" pitchFamily="34" charset="0"/>
                </a:rPr>
                <a:t> </a:t>
              </a:r>
            </a:p>
          </p:txBody>
        </p:sp>
        <p:sp>
          <p:nvSpPr>
            <p:cNvPr id="36897" name="矩形 1441817"/>
            <p:cNvSpPr/>
            <p:nvPr/>
          </p:nvSpPr>
          <p:spPr>
            <a:xfrm>
              <a:off x="3760" y="1500"/>
              <a:ext cx="703"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ξ</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30000" dirty="0">
                  <a:solidFill>
                    <a:schemeClr val="tx1"/>
                  </a:solidFill>
                  <a:latin typeface="Times New Roman" panose="02020603050405020304" pitchFamily="18" charset="0"/>
                  <a:sym typeface="Symbol" panose="05050102010706020507" pitchFamily="18" charset="2"/>
                </a:rPr>
                <a:t>n</a:t>
              </a:r>
            </a:p>
          </p:txBody>
        </p:sp>
        <p:sp>
          <p:nvSpPr>
            <p:cNvPr id="36898" name="任意多边形 1441818"/>
            <p:cNvSpPr/>
            <p:nvPr/>
          </p:nvSpPr>
          <p:spPr>
            <a:xfrm flipH="1">
              <a:off x="4506" y="1274"/>
              <a:ext cx="114" cy="238"/>
            </a:xfrm>
            <a:custGeom>
              <a:avLst/>
              <a:gdLst/>
              <a:ahLst/>
              <a:cxnLst>
                <a:cxn ang="0">
                  <a:pos x="0" y="0"/>
                </a:cxn>
                <a:cxn ang="0">
                  <a:pos x="0" y="0"/>
                </a:cxn>
                <a:cxn ang="0">
                  <a:pos x="0" y="0"/>
                </a:cxn>
                <a:cxn ang="0">
                  <a:pos x="0" y="0"/>
                </a:cxn>
                <a:cxn ang="0">
                  <a:pos x="0" y="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lnTo>
                    <a:pt x="0" y="0"/>
                  </a:lnTo>
                  <a:close/>
                </a:path>
              </a:pathLst>
            </a:custGeom>
            <a:noFill/>
            <a:ln w="38100" cap="sq" cmpd="sng">
              <a:solidFill>
                <a:schemeClr val="tx1">
                  <a:alpha val="100000"/>
                </a:schemeClr>
              </a:solidFill>
              <a:prstDash val="solid"/>
              <a:round/>
              <a:headEnd type="none" w="med" len="med"/>
              <a:tailEnd type="none" w="med" len="med"/>
            </a:ln>
          </p:spPr>
          <p:txBody>
            <a:bodyPr/>
            <a:lstStyle/>
            <a:p>
              <a:endParaRPr lang="zh-CN" altLang="en-US"/>
            </a:p>
          </p:txBody>
        </p:sp>
        <p:sp>
          <p:nvSpPr>
            <p:cNvPr id="36899" name="矩形 1441819"/>
            <p:cNvSpPr/>
            <p:nvPr/>
          </p:nvSpPr>
          <p:spPr>
            <a:xfrm>
              <a:off x="4795" y="1527"/>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sp>
          <p:nvSpPr>
            <p:cNvPr id="36900" name="文本框 1441820"/>
            <p:cNvSpPr txBox="1"/>
            <p:nvPr/>
          </p:nvSpPr>
          <p:spPr>
            <a:xfrm>
              <a:off x="4259" y="1193"/>
              <a:ext cx="281"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sym typeface="Symbol" panose="05050102010706020507" pitchFamily="18" charset="2"/>
                </a:rPr>
                <a:t></a:t>
              </a:r>
            </a:p>
          </p:txBody>
        </p:sp>
      </p:grpSp>
      <p:graphicFrame>
        <p:nvGraphicFramePr>
          <p:cNvPr id="1441822" name="对象 1441821"/>
          <p:cNvGraphicFramePr/>
          <p:nvPr/>
        </p:nvGraphicFramePr>
        <p:xfrm>
          <a:off x="682625" y="2636838"/>
          <a:ext cx="3148013" cy="1030287"/>
        </p:xfrm>
        <a:graphic>
          <a:graphicData uri="http://schemas.openxmlformats.org/presentationml/2006/ole">
            <mc:AlternateContent xmlns:mc="http://schemas.openxmlformats.org/markup-compatibility/2006">
              <mc:Choice xmlns:v="urn:schemas-microsoft-com:vml" Requires="v">
                <p:oleObj spid="_x0000_s24644" r:id="rId11" imgW="1397000" imgH="457200" progId="Equation.3">
                  <p:embed/>
                </p:oleObj>
              </mc:Choice>
              <mc:Fallback>
                <p:oleObj r:id="rId11" imgW="1397000" imgH="457200" progId="Equation.3">
                  <p:embed/>
                  <p:pic>
                    <p:nvPicPr>
                      <p:cNvPr id="0" name="图片 3119"/>
                      <p:cNvPicPr/>
                      <p:nvPr/>
                    </p:nvPicPr>
                    <p:blipFill>
                      <a:blip r:embed="rId12"/>
                      <a:stretch>
                        <a:fillRect/>
                      </a:stretch>
                    </p:blipFill>
                    <p:spPr>
                      <a:xfrm>
                        <a:off x="682625" y="2636838"/>
                        <a:ext cx="3148013" cy="1030287"/>
                      </a:xfrm>
                      <a:prstGeom prst="rect">
                        <a:avLst/>
                      </a:prstGeom>
                      <a:noFill/>
                      <a:ln w="38100">
                        <a:noFill/>
                        <a:miter/>
                      </a:ln>
                    </p:spPr>
                  </p:pic>
                </p:oleObj>
              </mc:Fallback>
            </mc:AlternateContent>
          </a:graphicData>
        </a:graphic>
      </p:graphicFrame>
      <p:graphicFrame>
        <p:nvGraphicFramePr>
          <p:cNvPr id="1441823" name="对象 1441822"/>
          <p:cNvGraphicFramePr/>
          <p:nvPr/>
        </p:nvGraphicFramePr>
        <p:xfrm>
          <a:off x="685800" y="3743325"/>
          <a:ext cx="5578475" cy="973138"/>
        </p:xfrm>
        <a:graphic>
          <a:graphicData uri="http://schemas.openxmlformats.org/presentationml/2006/ole">
            <mc:AlternateContent xmlns:mc="http://schemas.openxmlformats.org/markup-compatibility/2006">
              <mc:Choice xmlns:v="urn:schemas-microsoft-com:vml" Requires="v">
                <p:oleObj spid="_x0000_s24645" r:id="rId13" imgW="2475230" imgH="431800" progId="Equation.3">
                  <p:embed/>
                </p:oleObj>
              </mc:Choice>
              <mc:Fallback>
                <p:oleObj r:id="rId13" imgW="2475230" imgH="431800" progId="Equation.3">
                  <p:embed/>
                  <p:pic>
                    <p:nvPicPr>
                      <p:cNvPr id="0" name="图片 3118"/>
                      <p:cNvPicPr/>
                      <p:nvPr/>
                    </p:nvPicPr>
                    <p:blipFill>
                      <a:blip r:embed="rId14"/>
                      <a:stretch>
                        <a:fillRect/>
                      </a:stretch>
                    </p:blipFill>
                    <p:spPr>
                      <a:xfrm>
                        <a:off x="685800" y="3743325"/>
                        <a:ext cx="5578475" cy="973138"/>
                      </a:xfrm>
                      <a:prstGeom prst="rect">
                        <a:avLst/>
                      </a:prstGeom>
                      <a:noFill/>
                      <a:ln w="38100">
                        <a:noFill/>
                        <a:miter/>
                      </a:ln>
                    </p:spPr>
                  </p:pic>
                </p:oleObj>
              </mc:Fallback>
            </mc:AlternateContent>
          </a:graphicData>
        </a:graphic>
      </p:graphicFrame>
      <p:graphicFrame>
        <p:nvGraphicFramePr>
          <p:cNvPr id="1441824" name="对象 1441823"/>
          <p:cNvGraphicFramePr/>
          <p:nvPr>
            <p:extLst>
              <p:ext uri="{D42A27DB-BD31-4B8C-83A1-F6EECF244321}">
                <p14:modId xmlns:p14="http://schemas.microsoft.com/office/powerpoint/2010/main" val="2309745978"/>
              </p:ext>
            </p:extLst>
          </p:nvPr>
        </p:nvGraphicFramePr>
        <p:xfrm>
          <a:off x="6005591" y="4900877"/>
          <a:ext cx="3103346" cy="822107"/>
        </p:xfrm>
        <a:graphic>
          <a:graphicData uri="http://schemas.openxmlformats.org/presentationml/2006/ole">
            <mc:AlternateContent xmlns:mc="http://schemas.openxmlformats.org/markup-compatibility/2006">
              <mc:Choice xmlns:v="urn:schemas-microsoft-com:vml" Requires="v">
                <p:oleObj spid="_x0000_s24646" r:id="rId15" imgW="2133600" imgH="419100" progId="Equation.3">
                  <p:embed/>
                </p:oleObj>
              </mc:Choice>
              <mc:Fallback>
                <p:oleObj r:id="rId15" imgW="2133600" imgH="419100" progId="Equation.3">
                  <p:embed/>
                  <p:pic>
                    <p:nvPicPr>
                      <p:cNvPr id="0" name="图片 3120"/>
                      <p:cNvPicPr/>
                      <p:nvPr/>
                    </p:nvPicPr>
                    <p:blipFill>
                      <a:blip r:embed="rId16"/>
                      <a:stretch>
                        <a:fillRect/>
                      </a:stretch>
                    </p:blipFill>
                    <p:spPr>
                      <a:xfrm>
                        <a:off x="6005591" y="4900877"/>
                        <a:ext cx="3103346" cy="822107"/>
                      </a:xfrm>
                      <a:prstGeom prst="rect">
                        <a:avLst/>
                      </a:prstGeom>
                      <a:solidFill>
                        <a:srgbClr val="FFCC00"/>
                      </a:solidFill>
                      <a:ln w="38100">
                        <a:noFill/>
                        <a:miter/>
                      </a:ln>
                    </p:spPr>
                  </p:pic>
                </p:oleObj>
              </mc:Fallback>
            </mc:AlternateContent>
          </a:graphicData>
        </a:graphic>
      </p:graphicFrame>
      <p:grpSp>
        <p:nvGrpSpPr>
          <p:cNvPr id="1441829" name="组合 1441828"/>
          <p:cNvGrpSpPr/>
          <p:nvPr/>
        </p:nvGrpSpPr>
        <p:grpSpPr>
          <a:xfrm>
            <a:off x="0" y="2420938"/>
            <a:ext cx="3384550" cy="936625"/>
            <a:chOff x="295" y="1797"/>
            <a:chExt cx="2132" cy="590"/>
          </a:xfrm>
        </p:grpSpPr>
        <p:sp>
          <p:nvSpPr>
            <p:cNvPr id="36880" name="矩形标注 1441829"/>
            <p:cNvSpPr/>
            <p:nvPr/>
          </p:nvSpPr>
          <p:spPr>
            <a:xfrm>
              <a:off x="295" y="1797"/>
              <a:ext cx="2132" cy="590"/>
            </a:xfrm>
            <a:prstGeom prst="wedgeRectCallout">
              <a:avLst>
                <a:gd name="adj1" fmla="val 44231"/>
                <a:gd name="adj2" fmla="val 165931"/>
              </a:avLst>
            </a:prstGeom>
            <a:solidFill>
              <a:schemeClr val="accent1"/>
            </a:solidFill>
            <a:ln w="9525" cap="flat" cmpd="sng">
              <a:solidFill>
                <a:schemeClr val="tx1"/>
              </a:solidFill>
              <a:prstDash val="solid"/>
              <a:miter/>
              <a:headEnd type="none" w="med" len="med"/>
              <a:tailEnd type="none" w="med" len="med"/>
            </a:ln>
          </p:spPr>
          <p:txBody>
            <a:bodyPr anchor="ctr" anchorCtr="0"/>
            <a:lstStyle/>
            <a:p>
              <a:pPr algn="ctr">
                <a:spcBef>
                  <a:spcPct val="0"/>
                </a:spcBef>
              </a:pPr>
              <a:endParaRPr lang="zh-CN" altLang="zh-CN" sz="2400" b="0" dirty="0">
                <a:solidFill>
                  <a:schemeClr val="tx1"/>
                </a:solidFill>
                <a:latin typeface="Times New Roman" panose="02020603050405020304" pitchFamily="18" charset="0"/>
                <a:ea typeface="华文中宋" panose="02010600040101010101" pitchFamily="2" charset="-122"/>
              </a:endParaRPr>
            </a:p>
          </p:txBody>
        </p:sp>
        <p:graphicFrame>
          <p:nvGraphicFramePr>
            <p:cNvPr id="36881" name="对象 1441830"/>
            <p:cNvGraphicFramePr/>
            <p:nvPr/>
          </p:nvGraphicFramePr>
          <p:xfrm>
            <a:off x="340" y="1842"/>
            <a:ext cx="2025" cy="501"/>
          </p:xfrm>
          <a:graphic>
            <a:graphicData uri="http://schemas.openxmlformats.org/presentationml/2006/ole">
              <mc:AlternateContent xmlns:mc="http://schemas.openxmlformats.org/markup-compatibility/2006">
                <mc:Choice xmlns:v="urn:schemas-microsoft-com:vml" Requires="v">
                  <p:oleObj spid="_x0000_s24647" r:id="rId17" imgW="1701800" imgH="419100" progId="Equation.3">
                    <p:embed/>
                  </p:oleObj>
                </mc:Choice>
                <mc:Fallback>
                  <p:oleObj r:id="rId17" imgW="1701800" imgH="419100" progId="Equation.3">
                    <p:embed/>
                    <p:pic>
                      <p:nvPicPr>
                        <p:cNvPr id="0" name="图片 3121"/>
                        <p:cNvPicPr/>
                        <p:nvPr/>
                      </p:nvPicPr>
                      <p:blipFill>
                        <a:blip r:embed="rId18"/>
                        <a:stretch>
                          <a:fillRect/>
                        </a:stretch>
                      </p:blipFill>
                      <p:spPr>
                        <a:xfrm>
                          <a:off x="340" y="1842"/>
                          <a:ext cx="2025" cy="501"/>
                        </a:xfrm>
                        <a:prstGeom prst="rect">
                          <a:avLst/>
                        </a:prstGeom>
                        <a:noFill/>
                        <a:ln w="38100">
                          <a:noFill/>
                          <a:miter/>
                        </a:ln>
                      </p:spPr>
                    </p:pic>
                  </p:oleObj>
                </mc:Fallback>
              </mc:AlternateContent>
            </a:graphicData>
          </a:graphic>
        </p:graphicFrame>
      </p:grpSp>
      <p:grpSp>
        <p:nvGrpSpPr>
          <p:cNvPr id="1441832" name="组合 1441831"/>
          <p:cNvGrpSpPr/>
          <p:nvPr/>
        </p:nvGrpSpPr>
        <p:grpSpPr>
          <a:xfrm>
            <a:off x="4211638" y="2420938"/>
            <a:ext cx="3384550" cy="936625"/>
            <a:chOff x="3628" y="799"/>
            <a:chExt cx="2132" cy="590"/>
          </a:xfrm>
        </p:grpSpPr>
        <p:sp>
          <p:nvSpPr>
            <p:cNvPr id="36878" name="矩形标注 1441832"/>
            <p:cNvSpPr/>
            <p:nvPr/>
          </p:nvSpPr>
          <p:spPr>
            <a:xfrm>
              <a:off x="3628" y="799"/>
              <a:ext cx="2132" cy="590"/>
            </a:xfrm>
            <a:prstGeom prst="wedgeRectCallout">
              <a:avLst>
                <a:gd name="adj1" fmla="val 11259"/>
                <a:gd name="adj2" fmla="val 192032"/>
              </a:avLst>
            </a:prstGeom>
            <a:solidFill>
              <a:schemeClr val="accent1"/>
            </a:solidFill>
            <a:ln w="9525" cap="flat" cmpd="sng">
              <a:solidFill>
                <a:schemeClr val="tx1"/>
              </a:solidFill>
              <a:prstDash val="solid"/>
              <a:miter/>
              <a:headEnd type="none" w="med" len="med"/>
              <a:tailEnd type="none" w="med" len="med"/>
            </a:ln>
          </p:spPr>
          <p:txBody>
            <a:bodyPr anchor="ctr" anchorCtr="0"/>
            <a:lstStyle/>
            <a:p>
              <a:pPr algn="ctr">
                <a:spcBef>
                  <a:spcPct val="0"/>
                </a:spcBef>
              </a:pPr>
              <a:endParaRPr lang="zh-CN" altLang="zh-CN" sz="2400" b="0" dirty="0">
                <a:solidFill>
                  <a:schemeClr val="tx1"/>
                </a:solidFill>
                <a:latin typeface="Times New Roman" panose="02020603050405020304" pitchFamily="18" charset="0"/>
                <a:ea typeface="华文中宋" panose="02010600040101010101" pitchFamily="2" charset="-122"/>
              </a:endParaRPr>
            </a:p>
          </p:txBody>
        </p:sp>
        <p:graphicFrame>
          <p:nvGraphicFramePr>
            <p:cNvPr id="36879" name="对象 1441833"/>
            <p:cNvGraphicFramePr/>
            <p:nvPr/>
          </p:nvGraphicFramePr>
          <p:xfrm>
            <a:off x="3651" y="845"/>
            <a:ext cx="1995" cy="501"/>
          </p:xfrm>
          <a:graphic>
            <a:graphicData uri="http://schemas.openxmlformats.org/presentationml/2006/ole">
              <mc:AlternateContent xmlns:mc="http://schemas.openxmlformats.org/markup-compatibility/2006">
                <mc:Choice xmlns:v="urn:schemas-microsoft-com:vml" Requires="v">
                  <p:oleObj spid="_x0000_s24648" r:id="rId19" imgW="1676400" imgH="419100" progId="Equation.3">
                    <p:embed/>
                  </p:oleObj>
                </mc:Choice>
                <mc:Fallback>
                  <p:oleObj r:id="rId19" imgW="1676400" imgH="419100" progId="Equation.3">
                    <p:embed/>
                    <p:pic>
                      <p:nvPicPr>
                        <p:cNvPr id="0" name="图片 3117"/>
                        <p:cNvPicPr/>
                        <p:nvPr/>
                      </p:nvPicPr>
                      <p:blipFill>
                        <a:blip r:embed="rId20"/>
                        <a:stretch>
                          <a:fillRect/>
                        </a:stretch>
                      </p:blipFill>
                      <p:spPr>
                        <a:xfrm>
                          <a:off x="3651" y="845"/>
                          <a:ext cx="1995" cy="501"/>
                        </a:xfrm>
                        <a:prstGeom prst="rect">
                          <a:avLst/>
                        </a:prstGeom>
                        <a:noFill/>
                        <a:ln w="38100">
                          <a:noFill/>
                          <a:miter/>
                        </a:ln>
                      </p:spPr>
                    </p:pic>
                  </p:oleObj>
                </mc:Fallback>
              </mc:AlternateContent>
            </a:graphicData>
          </a:graphic>
        </p:graphicFrame>
      </p:grpSp>
      <p:sp>
        <p:nvSpPr>
          <p:cNvPr id="41" name="Freeform 56">
            <a:extLst>
              <a:ext uri="{FF2B5EF4-FFF2-40B4-BE49-F238E27FC236}">
                <a16:creationId xmlns:a16="http://schemas.microsoft.com/office/drawing/2014/main" id="{1E3A4256-2C14-40BB-AE35-D05074D52041}"/>
              </a:ext>
            </a:extLst>
          </p:cNvPr>
          <p:cNvSpPr>
            <a:spLocks/>
          </p:cNvSpPr>
          <p:nvPr/>
        </p:nvSpPr>
        <p:spPr bwMode="auto">
          <a:xfrm>
            <a:off x="1041401" y="52977"/>
            <a:ext cx="4346574" cy="657226"/>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1794">
                                            <p:txEl>
                                              <p:pRg st="0" end="0"/>
                                            </p:txEl>
                                          </p:spTgt>
                                        </p:tgtEl>
                                        <p:attrNameLst>
                                          <p:attrName>style.visibility</p:attrName>
                                        </p:attrNameLst>
                                      </p:cBhvr>
                                      <p:to>
                                        <p:strVal val="visible"/>
                                      </p:to>
                                    </p:set>
                                    <p:anim calcmode="lin" valueType="num">
                                      <p:cBhvr additive="base">
                                        <p:cTn id="7" dur="500" fill="hold"/>
                                        <p:tgtEl>
                                          <p:spTgt spid="14417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179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2000"/>
                                  </p:stCondLst>
                                  <p:childTnLst>
                                    <p:set>
                                      <p:cBhvr>
                                        <p:cTn id="11" dur="1" fill="hold">
                                          <p:stCondLst>
                                            <p:cond delay="0"/>
                                          </p:stCondLst>
                                        </p:cTn>
                                        <p:tgtEl>
                                          <p:spTgt spid="1441798"/>
                                        </p:tgtEl>
                                        <p:attrNameLst>
                                          <p:attrName>style.visibility</p:attrName>
                                        </p:attrNameLst>
                                      </p:cBhvr>
                                      <p:to>
                                        <p:strVal val="visible"/>
                                      </p:to>
                                    </p:set>
                                    <p:animEffect transition="in" filter="dissolve">
                                      <p:cBhvr>
                                        <p:cTn id="12" dur="500"/>
                                        <p:tgtEl>
                                          <p:spTgt spid="144179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41795"/>
                                        </p:tgtEl>
                                        <p:attrNameLst>
                                          <p:attrName>style.visibility</p:attrName>
                                        </p:attrNameLst>
                                      </p:cBhvr>
                                      <p:to>
                                        <p:strVal val="visible"/>
                                      </p:to>
                                    </p:set>
                                    <p:animEffect transition="in" filter="dissolve">
                                      <p:cBhvr>
                                        <p:cTn id="17" dur="500"/>
                                        <p:tgtEl>
                                          <p:spTgt spid="144179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41796"/>
                                        </p:tgtEl>
                                        <p:attrNameLst>
                                          <p:attrName>style.visibility</p:attrName>
                                        </p:attrNameLst>
                                      </p:cBhvr>
                                      <p:to>
                                        <p:strVal val="visible"/>
                                      </p:to>
                                    </p:set>
                                    <p:animEffect transition="in" filter="dissolve">
                                      <p:cBhvr>
                                        <p:cTn id="22" dur="500"/>
                                        <p:tgtEl>
                                          <p:spTgt spid="144179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41822"/>
                                        </p:tgtEl>
                                        <p:attrNameLst>
                                          <p:attrName>style.visibility</p:attrName>
                                        </p:attrNameLst>
                                      </p:cBhvr>
                                      <p:to>
                                        <p:strVal val="visible"/>
                                      </p:to>
                                    </p:set>
                                    <p:animEffect transition="in" filter="dissolve">
                                      <p:cBhvr>
                                        <p:cTn id="27" dur="500"/>
                                        <p:tgtEl>
                                          <p:spTgt spid="14418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41823"/>
                                        </p:tgtEl>
                                        <p:attrNameLst>
                                          <p:attrName>style.visibility</p:attrName>
                                        </p:attrNameLst>
                                      </p:cBhvr>
                                      <p:to>
                                        <p:strVal val="visible"/>
                                      </p:to>
                                    </p:set>
                                    <p:animEffect transition="in" filter="dissolve">
                                      <p:cBhvr>
                                        <p:cTn id="32" dur="500"/>
                                        <p:tgtEl>
                                          <p:spTgt spid="14418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41829"/>
                                        </p:tgtEl>
                                        <p:attrNameLst>
                                          <p:attrName>style.visibility</p:attrName>
                                        </p:attrNameLst>
                                      </p:cBhvr>
                                      <p:to>
                                        <p:strVal val="visible"/>
                                      </p:to>
                                    </p:set>
                                    <p:animEffect transition="in" filter="wipe(left)">
                                      <p:cBhvr>
                                        <p:cTn id="37" dur="500"/>
                                        <p:tgtEl>
                                          <p:spTgt spid="14418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41832"/>
                                        </p:tgtEl>
                                        <p:attrNameLst>
                                          <p:attrName>style.visibility</p:attrName>
                                        </p:attrNameLst>
                                      </p:cBhvr>
                                      <p:to>
                                        <p:strVal val="visible"/>
                                      </p:to>
                                    </p:set>
                                    <p:animEffect transition="in" filter="wipe(left)">
                                      <p:cBhvr>
                                        <p:cTn id="42" dur="500"/>
                                        <p:tgtEl>
                                          <p:spTgt spid="144183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441797"/>
                                        </p:tgtEl>
                                        <p:attrNameLst>
                                          <p:attrName>style.visibility</p:attrName>
                                        </p:attrNameLst>
                                      </p:cBhvr>
                                      <p:to>
                                        <p:strVal val="visible"/>
                                      </p:to>
                                    </p:set>
                                    <p:animEffect transition="in" filter="dissolve">
                                      <p:cBhvr>
                                        <p:cTn id="47" dur="500"/>
                                        <p:tgtEl>
                                          <p:spTgt spid="144179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441824"/>
                                        </p:tgtEl>
                                        <p:attrNameLst>
                                          <p:attrName>style.visibility</p:attrName>
                                        </p:attrNameLst>
                                      </p:cBhvr>
                                      <p:to>
                                        <p:strVal val="visible"/>
                                      </p:to>
                                    </p:set>
                                    <p:animEffect transition="in" filter="dissolve">
                                      <p:cBhvr>
                                        <p:cTn id="52" dur="500"/>
                                        <p:tgtEl>
                                          <p:spTgt spid="1441824"/>
                                        </p:tgtEl>
                                      </p:cBhvr>
                                    </p:animEffect>
                                  </p:childTnLst>
                                </p:cTn>
                              </p:par>
                            </p:childTnLst>
                          </p:cTn>
                        </p:par>
                        <p:par>
                          <p:cTn id="53" fill="hold">
                            <p:stCondLst>
                              <p:cond delay="500"/>
                            </p:stCondLst>
                            <p:childTnLst>
                              <p:par>
                                <p:cTn id="54" presetID="12" presetClass="entr" presetSubtype="4" fill="hold" nodeType="afterEffect">
                                  <p:stCondLst>
                                    <p:cond delay="0"/>
                                  </p:stCondLst>
                                  <p:childTnLst>
                                    <p:set>
                                      <p:cBhvr>
                                        <p:cTn id="55" dur="1" fill="hold">
                                          <p:stCondLst>
                                            <p:cond delay="0"/>
                                          </p:stCondLst>
                                        </p:cTn>
                                        <p:tgtEl>
                                          <p:spTgt spid="1441826"/>
                                        </p:tgtEl>
                                        <p:attrNameLst>
                                          <p:attrName>style.visibility</p:attrName>
                                        </p:attrNameLst>
                                      </p:cBhvr>
                                      <p:to>
                                        <p:strVal val="visible"/>
                                      </p:to>
                                    </p:set>
                                    <p:animEffect transition="in" filter="slide(fromBottom)">
                                      <p:cBhvr>
                                        <p:cTn id="56" dur="500"/>
                                        <p:tgtEl>
                                          <p:spTgt spid="1441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50000">
              <a:srgbClr val="99FFCC"/>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442818" name="文本框 1442817"/>
          <p:cNvSpPr txBox="1"/>
          <p:nvPr/>
        </p:nvSpPr>
        <p:spPr>
          <a:xfrm>
            <a:off x="0" y="3141663"/>
            <a:ext cx="9144000" cy="2608984"/>
          </a:xfrm>
          <a:prstGeom prst="rect">
            <a:avLst/>
          </a:prstGeom>
          <a:noFill/>
          <a:ln w="12700">
            <a:noFill/>
          </a:ln>
        </p:spPr>
        <p:txBody>
          <a:bodyPr wrap="square">
            <a:spAutoFit/>
          </a:bodyPr>
          <a:lstStyle/>
          <a:p>
            <a:pPr marR="0" defTabSz="914400">
              <a:lnSpc>
                <a:spcPct val="130000"/>
              </a:lnSpc>
              <a:spcBef>
                <a:spcPct val="0"/>
              </a:spcBef>
              <a:buClrTx/>
              <a:buSzTx/>
              <a:buFontTx/>
              <a:buNone/>
              <a:defRPr/>
            </a:pPr>
            <a:r>
              <a:rPr kumimoji="0" lang="en-US" altLang="zh-CN" sz="2400" b="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欠阻尼二阶系统的单位阶跃响应由两部分组成：</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稳态分量</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为</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1</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，表明系统在</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1(</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t</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作用下不存在稳态位置误差；瞬态响应是阻尼正弦项，其振荡频率为</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阻尼振荡频率</a:t>
            </a:r>
            <a:r>
              <a:rPr kumimoji="0" lang="el-GR" altLang="zh-CN" sz="28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Times New Roman" panose="02020603050405020304" pitchFamily="18" charset="0"/>
              </a:rPr>
              <a:t>ω</a:t>
            </a:r>
            <a:r>
              <a:rPr kumimoji="0" lang="en-GB" altLang="zh-CN" sz="18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Times New Roman" panose="02020603050405020304" pitchFamily="18" charset="0"/>
              </a:rPr>
              <a:t>d</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，而其幅值则按指数曲线衰减，两者均由参数</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ξ</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和</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400" i="1" kern="1200" cap="none" spc="0" normalizeH="0" baseline="-3000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决定。</a:t>
            </a:r>
          </a:p>
          <a:p>
            <a:pPr marR="0" defTabSz="914400">
              <a:lnSpc>
                <a:spcPct val="130000"/>
              </a:lnSpc>
              <a:spcBef>
                <a:spcPct val="0"/>
              </a:spcBef>
              <a:buClrTx/>
              <a:buSzTx/>
              <a:buFontTx/>
              <a:buNone/>
              <a:defRPr/>
            </a:pPr>
            <a:r>
              <a:rPr kumimoji="0" lang="zh-CN" altLang="en-US" sz="2800" kern="1200" cap="none" spc="0" normalizeH="0" baseline="0" noProof="1">
                <a:solidFill>
                  <a:schemeClr val="tx1"/>
                </a:solidFill>
                <a:latin typeface="华文新魏" panose="02010800040101010101" pitchFamily="2" charset="-122"/>
                <a:ea typeface="华文新魏" panose="02010800040101010101" pitchFamily="2" charset="-122"/>
                <a:cs typeface="+mn-cs"/>
              </a:rPr>
              <a:t> </a:t>
            </a:r>
            <a:r>
              <a:rPr kumimoji="0" lang="en-US" altLang="zh-CN" sz="2800" kern="1200" cap="none" spc="0" normalizeH="0" baseline="0" noProof="1">
                <a:solidFill>
                  <a:schemeClr val="tx1"/>
                </a:solidFill>
                <a:latin typeface="华文新魏" panose="02010800040101010101" pitchFamily="2" charset="-122"/>
                <a:ea typeface="华文新魏" panose="02010800040101010101" pitchFamily="2" charset="-122"/>
                <a:cs typeface="+mn-cs"/>
              </a:rPr>
              <a:t>(2)</a:t>
            </a:r>
            <a:r>
              <a:rPr kumimoji="0" lang="zh-CN" altLang="en-US" sz="2800" kern="1200" cap="none" spc="0" normalizeH="0" baseline="0" noProof="1">
                <a:solidFill>
                  <a:schemeClr val="tx1"/>
                </a:solidFill>
                <a:latin typeface="华文新魏" panose="02010800040101010101" pitchFamily="2" charset="-122"/>
                <a:ea typeface="华文新魏" panose="02010800040101010101" pitchFamily="2" charset="-122"/>
                <a:cs typeface="+mn-cs"/>
              </a:rPr>
              <a:t>无阻尼情况</a:t>
            </a:r>
            <a:r>
              <a:rPr kumimoji="0" lang="en-US" altLang="zh-CN" sz="2800" i="1" kern="1200" cap="none" spc="0" normalizeH="0" baseline="0" noProof="1">
                <a:solidFill>
                  <a:srgbClr val="FF0000"/>
                </a:solidFill>
                <a:latin typeface="Arial" panose="020B0604020202020204" pitchFamily="34" charset="0"/>
                <a:ea typeface="宋体" panose="02010600030101010101" pitchFamily="2" charset="-122"/>
                <a:cs typeface="+mn-cs"/>
              </a:rPr>
              <a:t>ξ</a:t>
            </a:r>
            <a:r>
              <a:rPr kumimoji="0" lang="en-US" altLang="zh-CN" sz="2800" kern="1200" cap="none" spc="0" normalizeH="0" baseline="0" noProof="1">
                <a:solidFill>
                  <a:srgbClr val="FF0000"/>
                </a:solidFill>
                <a:latin typeface="Times New Roman" panose="02020603050405020304" pitchFamily="18" charset="0"/>
                <a:ea typeface="宋体" panose="02010600030101010101" pitchFamily="2" charset="-122"/>
                <a:cs typeface="+mn-cs"/>
                <a:sym typeface="Symbol" panose="05050102010706020507" pitchFamily="18" charset="2"/>
              </a:rPr>
              <a:t>=0</a:t>
            </a:r>
            <a:endParaRPr kumimoji="0" lang="en-US" altLang="zh-CN" sz="2800" kern="1200" cap="none" spc="0" normalizeH="0" baseline="0" noProof="1">
              <a:solidFill>
                <a:srgbClr val="FF0000"/>
              </a:solidFill>
              <a:latin typeface="Times New Roman" panose="02020603050405020304" pitchFamily="18" charset="0"/>
              <a:ea typeface="华文新魏" panose="02010800040101010101" pitchFamily="2" charset="-122"/>
              <a:cs typeface="+mn-cs"/>
            </a:endParaRPr>
          </a:p>
        </p:txBody>
      </p:sp>
      <p:sp>
        <p:nvSpPr>
          <p:cNvPr id="1442819" name="任意多边形 1442818"/>
          <p:cNvSpPr/>
          <p:nvPr/>
        </p:nvSpPr>
        <p:spPr>
          <a:xfrm>
            <a:off x="642938" y="661988"/>
            <a:ext cx="3921125" cy="1952625"/>
          </a:xfrm>
          <a:custGeom>
            <a:avLst/>
            <a:gdLst/>
            <a:ahLst/>
            <a:cxnLst>
              <a:cxn ang="0">
                <a:pos x="0"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Lst>
            <a:rect l="0" t="0" r="0" b="0"/>
            <a:pathLst>
              <a:path w="3520" h="1640">
                <a:moveTo>
                  <a:pt x="0" y="1638"/>
                </a:moveTo>
                <a:cubicBezTo>
                  <a:pt x="63" y="1639"/>
                  <a:pt x="126" y="1640"/>
                  <a:pt x="192" y="1536"/>
                </a:cubicBezTo>
                <a:cubicBezTo>
                  <a:pt x="258" y="1432"/>
                  <a:pt x="327" y="1209"/>
                  <a:pt x="397" y="1011"/>
                </a:cubicBezTo>
                <a:cubicBezTo>
                  <a:pt x="467" y="813"/>
                  <a:pt x="533" y="514"/>
                  <a:pt x="614" y="346"/>
                </a:cubicBezTo>
                <a:cubicBezTo>
                  <a:pt x="695" y="178"/>
                  <a:pt x="757" y="0"/>
                  <a:pt x="883" y="0"/>
                </a:cubicBezTo>
                <a:cubicBezTo>
                  <a:pt x="1009" y="0"/>
                  <a:pt x="1216" y="263"/>
                  <a:pt x="1370" y="346"/>
                </a:cubicBezTo>
                <a:cubicBezTo>
                  <a:pt x="1524" y="429"/>
                  <a:pt x="1596" y="506"/>
                  <a:pt x="1805" y="499"/>
                </a:cubicBezTo>
                <a:cubicBezTo>
                  <a:pt x="2014" y="492"/>
                  <a:pt x="2338" y="324"/>
                  <a:pt x="2624" y="307"/>
                </a:cubicBezTo>
                <a:cubicBezTo>
                  <a:pt x="2910" y="290"/>
                  <a:pt x="3371" y="382"/>
                  <a:pt x="3520" y="397"/>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grpSp>
        <p:nvGrpSpPr>
          <p:cNvPr id="1442820" name="组合 1442819"/>
          <p:cNvGrpSpPr/>
          <p:nvPr/>
        </p:nvGrpSpPr>
        <p:grpSpPr>
          <a:xfrm>
            <a:off x="323049" y="108743"/>
            <a:ext cx="4756150" cy="3014663"/>
            <a:chOff x="448" y="411"/>
            <a:chExt cx="2996" cy="1899"/>
          </a:xfrm>
        </p:grpSpPr>
        <p:sp>
          <p:nvSpPr>
            <p:cNvPr id="37906" name="直接连接符 1442820"/>
            <p:cNvSpPr/>
            <p:nvPr/>
          </p:nvSpPr>
          <p:spPr>
            <a:xfrm flipH="1" flipV="1">
              <a:off x="625" y="484"/>
              <a:ext cx="0" cy="1536"/>
            </a:xfrm>
            <a:prstGeom prst="line">
              <a:avLst/>
            </a:prstGeom>
            <a:ln w="57150" cap="sq" cmpd="sng">
              <a:solidFill>
                <a:schemeClr val="tx1"/>
              </a:solidFill>
              <a:prstDash val="solid"/>
              <a:headEnd type="none" w="med" len="med"/>
              <a:tailEnd type="triangle" w="med" len="med"/>
            </a:ln>
          </p:spPr>
        </p:sp>
        <p:sp>
          <p:nvSpPr>
            <p:cNvPr id="37907" name="直接连接符 1442821"/>
            <p:cNvSpPr/>
            <p:nvPr/>
          </p:nvSpPr>
          <p:spPr>
            <a:xfrm>
              <a:off x="630" y="2015"/>
              <a:ext cx="2604" cy="0"/>
            </a:xfrm>
            <a:prstGeom prst="line">
              <a:avLst/>
            </a:prstGeom>
            <a:ln w="57150" cap="sq" cmpd="sng">
              <a:solidFill>
                <a:schemeClr val="tx1"/>
              </a:solidFill>
              <a:prstDash val="solid"/>
              <a:headEnd type="none" w="med" len="med"/>
              <a:tailEnd type="triangle" w="med" len="med"/>
            </a:ln>
          </p:spPr>
        </p:sp>
        <p:sp>
          <p:nvSpPr>
            <p:cNvPr id="37908" name="矩形 1442822"/>
            <p:cNvSpPr/>
            <p:nvPr/>
          </p:nvSpPr>
          <p:spPr>
            <a:xfrm>
              <a:off x="704" y="411"/>
              <a:ext cx="664" cy="288"/>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sym typeface="Symbol" panose="05050102010706020507" pitchFamily="18" charset="2"/>
              </a:endParaRPr>
            </a:p>
          </p:txBody>
        </p:sp>
        <p:sp>
          <p:nvSpPr>
            <p:cNvPr id="37909" name="矩形 1442823"/>
            <p:cNvSpPr/>
            <p:nvPr/>
          </p:nvSpPr>
          <p:spPr>
            <a:xfrm>
              <a:off x="3227" y="1856"/>
              <a:ext cx="217" cy="288"/>
            </a:xfrm>
            <a:prstGeom prst="rect">
              <a:avLst/>
            </a:prstGeom>
            <a:noFill/>
            <a:ln w="9525">
              <a:noFill/>
            </a:ln>
          </p:spPr>
          <p:txBody>
            <a:bodyPr wrap="none">
              <a:spAutoFit/>
            </a:bodyPr>
            <a:lstStyle/>
            <a:p>
              <a:pPr>
                <a:spcBef>
                  <a:spcPct val="0"/>
                </a:spcBef>
              </a:pPr>
              <a:r>
                <a:rPr lang="en-US" altLang="zh-CN" sz="2400" i="1" dirty="0">
                  <a:solidFill>
                    <a:schemeClr val="tx1"/>
                  </a:solidFill>
                  <a:latin typeface="Times New Roman" panose="02020603050405020304" pitchFamily="18" charset="0"/>
                </a:rPr>
                <a:t> t</a:t>
              </a:r>
            </a:p>
          </p:txBody>
        </p:sp>
        <p:sp>
          <p:nvSpPr>
            <p:cNvPr id="37910" name="矩形 1442824"/>
            <p:cNvSpPr/>
            <p:nvPr/>
          </p:nvSpPr>
          <p:spPr>
            <a:xfrm>
              <a:off x="448" y="2022"/>
              <a:ext cx="261"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1442826" name="直接连接符 1442825"/>
          <p:cNvSpPr/>
          <p:nvPr/>
        </p:nvSpPr>
        <p:spPr>
          <a:xfrm>
            <a:off x="646113" y="1090613"/>
            <a:ext cx="4006850" cy="0"/>
          </a:xfrm>
          <a:prstGeom prst="line">
            <a:avLst/>
          </a:prstGeom>
          <a:ln w="38100" cap="sq" cmpd="sng">
            <a:solidFill>
              <a:srgbClr val="000080"/>
            </a:solidFill>
            <a:prstDash val="solid"/>
            <a:headEnd type="none" w="med" len="med"/>
            <a:tailEnd type="none" w="med" len="med"/>
          </a:ln>
        </p:spPr>
      </p:sp>
      <p:sp>
        <p:nvSpPr>
          <p:cNvPr id="1442827" name="矩形 1442826"/>
          <p:cNvSpPr/>
          <p:nvPr/>
        </p:nvSpPr>
        <p:spPr>
          <a:xfrm>
            <a:off x="250825" y="871538"/>
            <a:ext cx="590550" cy="457200"/>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1</a:t>
            </a:r>
            <a:endParaRPr lang="en-US" altLang="zh-CN" sz="2800" dirty="0">
              <a:solidFill>
                <a:schemeClr val="tx1"/>
              </a:solidFill>
              <a:latin typeface="Times New Roman" panose="02020603050405020304" pitchFamily="18" charset="0"/>
              <a:sym typeface="Symbol" panose="05050102010706020507" pitchFamily="18" charset="2"/>
            </a:endParaRPr>
          </a:p>
        </p:txBody>
      </p:sp>
      <p:grpSp>
        <p:nvGrpSpPr>
          <p:cNvPr id="1442828" name="组合 1442827"/>
          <p:cNvGrpSpPr/>
          <p:nvPr/>
        </p:nvGrpSpPr>
        <p:grpSpPr>
          <a:xfrm>
            <a:off x="4902200" y="44450"/>
            <a:ext cx="4141788" cy="3014663"/>
            <a:chOff x="427" y="411"/>
            <a:chExt cx="3054" cy="1899"/>
          </a:xfrm>
        </p:grpSpPr>
        <p:sp>
          <p:nvSpPr>
            <p:cNvPr id="37901" name="直接连接符 1442828"/>
            <p:cNvSpPr/>
            <p:nvPr/>
          </p:nvSpPr>
          <p:spPr>
            <a:xfrm flipH="1" flipV="1">
              <a:off x="625" y="484"/>
              <a:ext cx="0" cy="1536"/>
            </a:xfrm>
            <a:prstGeom prst="line">
              <a:avLst/>
            </a:prstGeom>
            <a:ln w="57150" cap="sq" cmpd="sng">
              <a:solidFill>
                <a:schemeClr val="tx1"/>
              </a:solidFill>
              <a:prstDash val="solid"/>
              <a:headEnd type="none" w="med" len="med"/>
              <a:tailEnd type="triangle" w="med" len="med"/>
            </a:ln>
          </p:spPr>
        </p:sp>
        <p:sp>
          <p:nvSpPr>
            <p:cNvPr id="37902" name="直接连接符 1442829"/>
            <p:cNvSpPr/>
            <p:nvPr/>
          </p:nvSpPr>
          <p:spPr>
            <a:xfrm>
              <a:off x="630" y="2015"/>
              <a:ext cx="2604" cy="0"/>
            </a:xfrm>
            <a:prstGeom prst="line">
              <a:avLst/>
            </a:prstGeom>
            <a:ln w="57150" cap="sq" cmpd="sng">
              <a:solidFill>
                <a:schemeClr val="tx1"/>
              </a:solidFill>
              <a:prstDash val="solid"/>
              <a:headEnd type="none" w="med" len="med"/>
              <a:tailEnd type="triangle" w="med" len="med"/>
            </a:ln>
          </p:spPr>
        </p:sp>
        <p:sp>
          <p:nvSpPr>
            <p:cNvPr id="37903" name="矩形 1442830"/>
            <p:cNvSpPr/>
            <p:nvPr/>
          </p:nvSpPr>
          <p:spPr>
            <a:xfrm>
              <a:off x="704" y="411"/>
              <a:ext cx="664" cy="288"/>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sym typeface="Symbol" panose="05050102010706020507" pitchFamily="18" charset="2"/>
              </a:endParaRPr>
            </a:p>
          </p:txBody>
        </p:sp>
        <p:sp>
          <p:nvSpPr>
            <p:cNvPr id="37904" name="矩形 1442831"/>
            <p:cNvSpPr/>
            <p:nvPr/>
          </p:nvSpPr>
          <p:spPr>
            <a:xfrm>
              <a:off x="3227" y="1856"/>
              <a:ext cx="254" cy="288"/>
            </a:xfrm>
            <a:prstGeom prst="rect">
              <a:avLst/>
            </a:prstGeom>
            <a:noFill/>
            <a:ln w="9525">
              <a:noFill/>
            </a:ln>
          </p:spPr>
          <p:txBody>
            <a:bodyPr wrap="none">
              <a:spAutoFit/>
            </a:bodyPr>
            <a:lstStyle/>
            <a:p>
              <a:pPr>
                <a:spcBef>
                  <a:spcPct val="0"/>
                </a:spcBef>
              </a:pPr>
              <a:r>
                <a:rPr lang="en-US" altLang="zh-CN" sz="2400" i="1" dirty="0">
                  <a:solidFill>
                    <a:schemeClr val="tx1"/>
                  </a:solidFill>
                  <a:latin typeface="Times New Roman" panose="02020603050405020304" pitchFamily="18" charset="0"/>
                </a:rPr>
                <a:t> t</a:t>
              </a:r>
            </a:p>
          </p:txBody>
        </p:sp>
        <p:sp>
          <p:nvSpPr>
            <p:cNvPr id="37905" name="矩形 1442832"/>
            <p:cNvSpPr/>
            <p:nvPr/>
          </p:nvSpPr>
          <p:spPr>
            <a:xfrm>
              <a:off x="427" y="2022"/>
              <a:ext cx="304"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1442834" name="任意多边形 1442833"/>
          <p:cNvSpPr/>
          <p:nvPr/>
        </p:nvSpPr>
        <p:spPr>
          <a:xfrm>
            <a:off x="5202238" y="552450"/>
            <a:ext cx="2781300" cy="2133600"/>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752" h="1344">
                <a:moveTo>
                  <a:pt x="0" y="1264"/>
                </a:moveTo>
                <a:cubicBezTo>
                  <a:pt x="83" y="641"/>
                  <a:pt x="166" y="18"/>
                  <a:pt x="252" y="16"/>
                </a:cubicBezTo>
                <a:cubicBezTo>
                  <a:pt x="338" y="14"/>
                  <a:pt x="426" y="1254"/>
                  <a:pt x="516" y="1252"/>
                </a:cubicBezTo>
                <a:cubicBezTo>
                  <a:pt x="606" y="1250"/>
                  <a:pt x="700" y="2"/>
                  <a:pt x="792" y="4"/>
                </a:cubicBezTo>
                <a:cubicBezTo>
                  <a:pt x="884" y="6"/>
                  <a:pt x="974" y="1264"/>
                  <a:pt x="1068" y="1264"/>
                </a:cubicBezTo>
                <a:cubicBezTo>
                  <a:pt x="1162" y="1264"/>
                  <a:pt x="1266" y="8"/>
                  <a:pt x="1356" y="4"/>
                </a:cubicBezTo>
                <a:cubicBezTo>
                  <a:pt x="1446" y="0"/>
                  <a:pt x="1542" y="1136"/>
                  <a:pt x="1608" y="1240"/>
                </a:cubicBezTo>
                <a:cubicBezTo>
                  <a:pt x="1674" y="1344"/>
                  <a:pt x="1728" y="730"/>
                  <a:pt x="1752" y="628"/>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graphicFrame>
        <p:nvGraphicFramePr>
          <p:cNvPr id="1442836" name="内容占位符 1442835"/>
          <p:cNvGraphicFramePr>
            <a:graphicFrameLocks noGrp="1"/>
          </p:cNvGraphicFramePr>
          <p:nvPr>
            <p:ph sz="half" idx="4294967295"/>
            <p:extLst>
              <p:ext uri="{D42A27DB-BD31-4B8C-83A1-F6EECF244321}">
                <p14:modId xmlns:p14="http://schemas.microsoft.com/office/powerpoint/2010/main" val="2293137372"/>
              </p:ext>
            </p:extLst>
          </p:nvPr>
        </p:nvGraphicFramePr>
        <p:xfrm>
          <a:off x="1336912" y="1620423"/>
          <a:ext cx="3302000" cy="693737"/>
        </p:xfrm>
        <a:graphic>
          <a:graphicData uri="http://schemas.openxmlformats.org/presentationml/2006/ole">
            <mc:AlternateContent xmlns:mc="http://schemas.openxmlformats.org/markup-compatibility/2006">
              <mc:Choice xmlns:v="urn:schemas-microsoft-com:vml" Requires="v">
                <p:oleObj spid="_x0000_s25615" r:id="rId3" imgW="2297430" imgH="482600" progId="Equation.3">
                  <p:embed/>
                </p:oleObj>
              </mc:Choice>
              <mc:Fallback>
                <p:oleObj r:id="rId3" imgW="2297430" imgH="482600" progId="Equation.3">
                  <p:embed/>
                  <p:pic>
                    <p:nvPicPr>
                      <p:cNvPr id="0" name="图片 3125"/>
                      <p:cNvPicPr/>
                      <p:nvPr/>
                    </p:nvPicPr>
                    <p:blipFill>
                      <a:blip r:embed="rId4"/>
                      <a:srcRect/>
                      <a:stretch>
                        <a:fillRect/>
                      </a:stretch>
                    </p:blipFill>
                    <p:spPr>
                      <a:xfrm>
                        <a:off x="1336912" y="1620423"/>
                        <a:ext cx="3302000" cy="693737"/>
                      </a:xfrm>
                      <a:prstGeom prst="rect">
                        <a:avLst/>
                      </a:prstGeom>
                      <a:solidFill>
                        <a:srgbClr val="FFCC00">
                          <a:alpha val="100000"/>
                        </a:srgbClr>
                      </a:solidFill>
                      <a:ln w="38100">
                        <a:miter/>
                      </a:ln>
                    </p:spPr>
                  </p:pic>
                </p:oleObj>
              </mc:Fallback>
            </mc:AlternateContent>
          </a:graphicData>
        </a:graphic>
      </p:graphicFrame>
      <p:graphicFrame>
        <p:nvGraphicFramePr>
          <p:cNvPr id="1442838" name="内容占位符 1442837"/>
          <p:cNvGraphicFramePr>
            <a:graphicFrameLocks noGrp="1"/>
          </p:cNvGraphicFramePr>
          <p:nvPr>
            <p:ph sz="half" idx="4294967295"/>
            <p:extLst>
              <p:ext uri="{D42A27DB-BD31-4B8C-83A1-F6EECF244321}">
                <p14:modId xmlns:p14="http://schemas.microsoft.com/office/powerpoint/2010/main" val="2547851493"/>
              </p:ext>
            </p:extLst>
          </p:nvPr>
        </p:nvGraphicFramePr>
        <p:xfrm>
          <a:off x="19050" y="5986462"/>
          <a:ext cx="9105900" cy="903659"/>
        </p:xfrm>
        <a:graphic>
          <a:graphicData uri="http://schemas.openxmlformats.org/presentationml/2006/ole">
            <mc:AlternateContent xmlns:mc="http://schemas.openxmlformats.org/markup-compatibility/2006">
              <mc:Choice xmlns:v="urn:schemas-microsoft-com:vml" Requires="v">
                <p:oleObj spid="_x0000_s25616" r:id="rId5" imgW="3326130" imgH="482600" progId="Equation.3">
                  <p:embed/>
                </p:oleObj>
              </mc:Choice>
              <mc:Fallback>
                <p:oleObj r:id="rId5" imgW="3326130" imgH="482600" progId="Equation.3">
                  <p:embed/>
                  <p:pic>
                    <p:nvPicPr>
                      <p:cNvPr id="0" name="图片 3124"/>
                      <p:cNvPicPr/>
                      <p:nvPr/>
                    </p:nvPicPr>
                    <p:blipFill>
                      <a:blip r:embed="rId6"/>
                      <a:srcRect/>
                      <a:stretch>
                        <a:fillRect/>
                      </a:stretch>
                    </p:blipFill>
                    <p:spPr>
                      <a:xfrm>
                        <a:off x="19050" y="5986462"/>
                        <a:ext cx="9105900" cy="903659"/>
                      </a:xfrm>
                      <a:prstGeom prst="rect">
                        <a:avLst/>
                      </a:prstGeom>
                      <a:solidFill>
                        <a:srgbClr val="FFCC00">
                          <a:alpha val="100000"/>
                        </a:srgbClr>
                      </a:solidFill>
                      <a:ln w="38100">
                        <a:miter/>
                      </a:ln>
                    </p:spPr>
                  </p:pic>
                </p:oleObj>
              </mc:Fallback>
            </mc:AlternateContent>
          </a:graphicData>
        </a:graphic>
      </p:graphicFrame>
      <p:sp>
        <p:nvSpPr>
          <p:cNvPr id="1442841" name="文本框 1442840"/>
          <p:cNvSpPr txBox="1"/>
          <p:nvPr/>
        </p:nvSpPr>
        <p:spPr>
          <a:xfrm>
            <a:off x="1403350" y="2708275"/>
            <a:ext cx="2663825" cy="396875"/>
          </a:xfrm>
          <a:prstGeom prst="rect">
            <a:avLst/>
          </a:prstGeom>
          <a:noFill/>
          <a:ln w="9525">
            <a:noFill/>
          </a:ln>
        </p:spPr>
        <p:txBody>
          <a:bodyPr>
            <a:spAutoFit/>
          </a:bodyPr>
          <a:lstStyle/>
          <a:p>
            <a:pPr marL="342900" indent="-342900" algn="ctr">
              <a:buFont typeface="Wingdings" panose="05000000000000000000" pitchFamily="2" charset="2"/>
            </a:pPr>
            <a:r>
              <a:rPr lang="zh-CN" altLang="en-GB" sz="2000" dirty="0">
                <a:solidFill>
                  <a:srgbClr val="000099"/>
                </a:solidFill>
                <a:latin typeface="Arial" panose="020B0604020202020204" pitchFamily="34" charset="0"/>
              </a:rPr>
              <a:t>衰减振荡</a:t>
            </a:r>
            <a:endParaRPr lang="en-US" altLang="zh-CN" sz="2000" dirty="0">
              <a:solidFill>
                <a:srgbClr val="000099"/>
              </a:solidFill>
              <a:latin typeface="Arial" panose="020B0604020202020204" pitchFamily="34" charset="0"/>
            </a:endParaRPr>
          </a:p>
        </p:txBody>
      </p:sp>
      <p:sp>
        <p:nvSpPr>
          <p:cNvPr id="1442842" name="文本框 1442841"/>
          <p:cNvSpPr txBox="1"/>
          <p:nvPr/>
        </p:nvSpPr>
        <p:spPr>
          <a:xfrm>
            <a:off x="5437188" y="2636838"/>
            <a:ext cx="2663825" cy="396875"/>
          </a:xfrm>
          <a:prstGeom prst="rect">
            <a:avLst/>
          </a:prstGeom>
          <a:noFill/>
          <a:ln w="9525">
            <a:noFill/>
          </a:ln>
        </p:spPr>
        <p:txBody>
          <a:bodyPr>
            <a:spAutoFit/>
          </a:bodyPr>
          <a:lstStyle/>
          <a:p>
            <a:pPr marL="342900" indent="-342900" algn="ctr">
              <a:buFont typeface="Wingdings" panose="05000000000000000000" pitchFamily="2" charset="2"/>
            </a:pPr>
            <a:r>
              <a:rPr lang="zh-CN" altLang="en-GB" sz="2000" dirty="0">
                <a:solidFill>
                  <a:srgbClr val="000099"/>
                </a:solidFill>
                <a:latin typeface="Arial" panose="020B0604020202020204" pitchFamily="34" charset="0"/>
              </a:rPr>
              <a:t>等幅振荡</a:t>
            </a:r>
            <a:endParaRPr lang="en-US" altLang="zh-CN" sz="2000" dirty="0">
              <a:solidFill>
                <a:srgbClr val="000099"/>
              </a:solidFill>
              <a:latin typeface="Arial" panose="020B0604020202020204" pitchFamily="34" charset="0"/>
            </a:endParaRPr>
          </a:p>
        </p:txBody>
      </p:sp>
      <p:sp>
        <p:nvSpPr>
          <p:cNvPr id="23" name="Freeform 56">
            <a:extLst>
              <a:ext uri="{FF2B5EF4-FFF2-40B4-BE49-F238E27FC236}">
                <a16:creationId xmlns:a16="http://schemas.microsoft.com/office/drawing/2014/main" id="{08116EF6-6336-424D-A4F3-6256305D78A2}"/>
              </a:ext>
            </a:extLst>
          </p:cNvPr>
          <p:cNvSpPr>
            <a:spLocks/>
          </p:cNvSpPr>
          <p:nvPr/>
        </p:nvSpPr>
        <p:spPr bwMode="auto">
          <a:xfrm>
            <a:off x="42451" y="5192189"/>
            <a:ext cx="4364761" cy="711630"/>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42836"/>
                                        </p:tgtEl>
                                        <p:attrNameLst>
                                          <p:attrName>style.visibility</p:attrName>
                                        </p:attrNameLst>
                                      </p:cBhvr>
                                      <p:to>
                                        <p:strVal val="visible"/>
                                      </p:to>
                                    </p:set>
                                    <p:animEffect transition="in" filter="dissolve">
                                      <p:cBhvr>
                                        <p:cTn id="7" dur="500"/>
                                        <p:tgtEl>
                                          <p:spTgt spid="14428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42820"/>
                                        </p:tgtEl>
                                        <p:attrNameLst>
                                          <p:attrName>style.visibility</p:attrName>
                                        </p:attrNameLst>
                                      </p:cBhvr>
                                      <p:to>
                                        <p:strVal val="visible"/>
                                      </p:to>
                                    </p:set>
                                    <p:animEffect transition="in" filter="dissolve">
                                      <p:cBhvr>
                                        <p:cTn id="12" dur="500"/>
                                        <p:tgtEl>
                                          <p:spTgt spid="144282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442827"/>
                                        </p:tgtEl>
                                        <p:attrNameLst>
                                          <p:attrName>style.visibility</p:attrName>
                                        </p:attrNameLst>
                                      </p:cBhvr>
                                      <p:to>
                                        <p:strVal val="visible"/>
                                      </p:to>
                                    </p:set>
                                    <p:animEffect transition="in" filter="dissolve">
                                      <p:cBhvr>
                                        <p:cTn id="16" dur="500"/>
                                        <p:tgtEl>
                                          <p:spTgt spid="144282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442826"/>
                                        </p:tgtEl>
                                        <p:attrNameLst>
                                          <p:attrName>style.visibility</p:attrName>
                                        </p:attrNameLst>
                                      </p:cBhvr>
                                      <p:to>
                                        <p:strVal val="visible"/>
                                      </p:to>
                                    </p:set>
                                    <p:animEffect transition="in" filter="dissolve">
                                      <p:cBhvr>
                                        <p:cTn id="21" dur="500"/>
                                        <p:tgtEl>
                                          <p:spTgt spid="14428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42819"/>
                                        </p:tgtEl>
                                        <p:attrNameLst>
                                          <p:attrName>style.visibility</p:attrName>
                                        </p:attrNameLst>
                                      </p:cBhvr>
                                      <p:to>
                                        <p:strVal val="visible"/>
                                      </p:to>
                                    </p:set>
                                    <p:animEffect transition="in" filter="wipe(left)">
                                      <p:cBhvr>
                                        <p:cTn id="26" dur="500"/>
                                        <p:tgtEl>
                                          <p:spTgt spid="144281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42841"/>
                                        </p:tgtEl>
                                        <p:attrNameLst>
                                          <p:attrName>style.visibility</p:attrName>
                                        </p:attrNameLst>
                                      </p:cBhvr>
                                      <p:to>
                                        <p:strVal val="visible"/>
                                      </p:to>
                                    </p:set>
                                    <p:animEffect transition="in" filter="wipe(left)">
                                      <p:cBhvr>
                                        <p:cTn id="31" dur="500"/>
                                        <p:tgtEl>
                                          <p:spTgt spid="144284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442818">
                                            <p:txEl>
                                              <p:pRg st="0" end="0"/>
                                            </p:txEl>
                                          </p:spTgt>
                                        </p:tgtEl>
                                        <p:attrNameLst>
                                          <p:attrName>style.visibility</p:attrName>
                                        </p:attrNameLst>
                                      </p:cBhvr>
                                      <p:to>
                                        <p:strVal val="visible"/>
                                      </p:to>
                                    </p:set>
                                    <p:animEffect transition="in" filter="dissolve">
                                      <p:cBhvr>
                                        <p:cTn id="36" dur="500"/>
                                        <p:tgtEl>
                                          <p:spTgt spid="1442818">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442818">
                                            <p:txEl>
                                              <p:pRg st="1" end="1"/>
                                            </p:txEl>
                                          </p:spTgt>
                                        </p:tgtEl>
                                        <p:attrNameLst>
                                          <p:attrName>style.visibility</p:attrName>
                                        </p:attrNameLst>
                                      </p:cBhvr>
                                      <p:to>
                                        <p:strVal val="visible"/>
                                      </p:to>
                                    </p:set>
                                    <p:animEffect transition="in" filter="dissolve">
                                      <p:cBhvr>
                                        <p:cTn id="41" dur="500"/>
                                        <p:tgtEl>
                                          <p:spTgt spid="1442818">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442838"/>
                                        </p:tgtEl>
                                        <p:attrNameLst>
                                          <p:attrName>style.visibility</p:attrName>
                                        </p:attrNameLst>
                                      </p:cBhvr>
                                      <p:to>
                                        <p:strVal val="visible"/>
                                      </p:to>
                                    </p:set>
                                    <p:animEffect transition="in" filter="dissolve">
                                      <p:cBhvr>
                                        <p:cTn id="46" dur="500"/>
                                        <p:tgtEl>
                                          <p:spTgt spid="144283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442828"/>
                                        </p:tgtEl>
                                        <p:attrNameLst>
                                          <p:attrName>style.visibility</p:attrName>
                                        </p:attrNameLst>
                                      </p:cBhvr>
                                      <p:to>
                                        <p:strVal val="visible"/>
                                      </p:to>
                                    </p:set>
                                    <p:animEffect transition="in" filter="dissolve">
                                      <p:cBhvr>
                                        <p:cTn id="51" dur="500"/>
                                        <p:tgtEl>
                                          <p:spTgt spid="14428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442834"/>
                                        </p:tgtEl>
                                        <p:attrNameLst>
                                          <p:attrName>style.visibility</p:attrName>
                                        </p:attrNameLst>
                                      </p:cBhvr>
                                      <p:to>
                                        <p:strVal val="visible"/>
                                      </p:to>
                                    </p:set>
                                    <p:animEffect transition="in" filter="wipe(left)">
                                      <p:cBhvr>
                                        <p:cTn id="56" dur="500"/>
                                        <p:tgtEl>
                                          <p:spTgt spid="14428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1442842"/>
                                        </p:tgtEl>
                                        <p:attrNameLst>
                                          <p:attrName>style.visibility</p:attrName>
                                        </p:attrNameLst>
                                      </p:cBhvr>
                                      <p:to>
                                        <p:strVal val="visible"/>
                                      </p:to>
                                    </p:set>
                                    <p:animEffect transition="in" filter="wipe(right)">
                                      <p:cBhvr>
                                        <p:cTn id="61" dur="500"/>
                                        <p:tgtEl>
                                          <p:spTgt spid="1442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2818" grpId="0" build="p"/>
      <p:bldP spid="1442827" grpId="0"/>
      <p:bldP spid="1442841" grpId="0"/>
      <p:bldP spid="144284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C1A524C-16A7-4BAE-ADDF-6D391E2DCE57}"/>
              </a:ext>
            </a:extLst>
          </p:cNvPr>
          <p:cNvSpPr txBox="1"/>
          <p:nvPr/>
        </p:nvSpPr>
        <p:spPr>
          <a:xfrm>
            <a:off x="0" y="6093296"/>
            <a:ext cx="9144000" cy="764704"/>
          </a:xfrm>
          <a:prstGeom prst="rect">
            <a:avLst/>
          </a:prstGeom>
          <a:solidFill>
            <a:schemeClr val="bg2"/>
          </a:solidFill>
        </p:spPr>
        <p:txBody>
          <a:bodyPr wrap="square" rtlCol="0">
            <a:spAutoFit/>
          </a:bodyPr>
          <a:lstStyle/>
          <a:p>
            <a:endParaRPr lang="zh-CN" altLang="en-US" dirty="0"/>
          </a:p>
        </p:txBody>
      </p:sp>
      <p:sp>
        <p:nvSpPr>
          <p:cNvPr id="1443842" name="内容占位符 1443841"/>
          <p:cNvSpPr>
            <a:spLocks noGrp="1"/>
          </p:cNvSpPr>
          <p:nvPr>
            <p:ph idx="4294967295"/>
          </p:nvPr>
        </p:nvSpPr>
        <p:spPr>
          <a:xfrm>
            <a:off x="1047411" y="109342"/>
            <a:ext cx="4105275" cy="1143000"/>
          </a:xfrm>
          <a:ln w="12700"/>
        </p:spPr>
        <p:txBody>
          <a:bodyPr vert="horz" wrap="square" lIns="91440" tIns="45720" rIns="91440" bIns="45720" anchor="t" anchorCtr="0">
            <a:normAutofit lnSpcReduction="10000"/>
          </a:bodyPr>
          <a:lstStyle/>
          <a:p>
            <a:pPr eaLnBrk="1" hangingPunct="1">
              <a:buFont typeface="Wingdings" panose="05000000000000000000" pitchFamily="2" charset="2"/>
              <a:buNone/>
            </a:pPr>
            <a:r>
              <a:rPr lang="zh-CN" altLang="en-US" sz="2800" b="1" dirty="0">
                <a:latin typeface="华文新魏" panose="02010800040101010101" pitchFamily="2" charset="-122"/>
                <a:ea typeface="华文新魏" panose="02010800040101010101" pitchFamily="2" charset="-122"/>
              </a:rPr>
              <a:t>（</a:t>
            </a:r>
            <a:r>
              <a:rPr lang="en-US" altLang="zh-CN" sz="2800" b="1" dirty="0">
                <a:latin typeface="华文新魏" panose="02010800040101010101" pitchFamily="2" charset="-122"/>
                <a:ea typeface="华文新魏" panose="02010800040101010101" pitchFamily="2" charset="-122"/>
              </a:rPr>
              <a:t>3</a:t>
            </a:r>
            <a:r>
              <a:rPr lang="zh-CN" altLang="en-US" sz="2800" b="1" dirty="0">
                <a:latin typeface="华文新魏" panose="02010800040101010101" pitchFamily="2" charset="-122"/>
                <a:ea typeface="华文新魏" panose="02010800040101010101" pitchFamily="2" charset="-122"/>
              </a:rPr>
              <a:t>）临界阻尼情况</a:t>
            </a:r>
            <a:r>
              <a:rPr lang="en-US" altLang="zh-CN" sz="2800" b="1" i="1" dirty="0">
                <a:solidFill>
                  <a:srgbClr val="FF0000"/>
                </a:solidFill>
                <a:latin typeface="Times New Roman" panose="02020603050405020304" pitchFamily="18" charset="0"/>
              </a:rPr>
              <a:t>ξ</a:t>
            </a:r>
            <a:r>
              <a:rPr lang="en-US" altLang="zh-CN" sz="2800" b="1" dirty="0">
                <a:solidFill>
                  <a:srgbClr val="FF0000"/>
                </a:solidFill>
                <a:latin typeface="Times New Roman" panose="02020603050405020304" pitchFamily="18" charset="0"/>
                <a:sym typeface="Symbol" panose="05050102010706020507" pitchFamily="18" charset="2"/>
              </a:rPr>
              <a:t>=1</a:t>
            </a:r>
            <a:endParaRPr lang="en-US" altLang="zh-CN" sz="2800" b="1" dirty="0">
              <a:solidFill>
                <a:srgbClr val="FF0000"/>
              </a:solidFill>
              <a:latin typeface="Times New Roman" panose="02020603050405020304" pitchFamily="18" charset="0"/>
              <a:ea typeface="华文行楷" panose="02010800040101010101" pitchFamily="2" charset="-122"/>
            </a:endParaRPr>
          </a:p>
          <a:p>
            <a:pPr eaLnBrk="1" hangingPunct="1">
              <a:buFont typeface="Wingdings" panose="05000000000000000000" pitchFamily="2" charset="2"/>
              <a:buNone/>
            </a:pPr>
            <a:r>
              <a:rPr lang="en-US" altLang="zh-CN" sz="2800" b="1" i="1" dirty="0"/>
              <a:t>            </a:t>
            </a:r>
            <a:r>
              <a:rPr lang="en-US" altLang="zh-CN" sz="2800" b="1" i="1" dirty="0">
                <a:latin typeface="Times New Roman" panose="02020603050405020304" pitchFamily="18" charset="0"/>
              </a:rPr>
              <a:t>s</a:t>
            </a:r>
            <a:r>
              <a:rPr lang="en-US" altLang="zh-CN" sz="2800" b="1" baseline="-25000" dirty="0">
                <a:latin typeface="Times New Roman" panose="02020603050405020304" pitchFamily="18" charset="0"/>
              </a:rPr>
              <a:t>1,2</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a:t>
            </a:r>
            <a:r>
              <a:rPr lang="en-US" altLang="zh-CN" sz="2800" b="1" i="1" baseline="-30000" dirty="0">
                <a:latin typeface="Times New Roman" panose="02020603050405020304" pitchFamily="18" charset="0"/>
              </a:rPr>
              <a:t>n</a:t>
            </a:r>
            <a:endParaRPr lang="en-US" altLang="zh-CN" sz="2800" b="1" i="1" baseline="-30000" dirty="0">
              <a:latin typeface="Times New Roman" panose="02020603050405020304" pitchFamily="18" charset="0"/>
              <a:ea typeface="Times New Roman" panose="02020603050405020304" pitchFamily="18" charset="0"/>
            </a:endParaRPr>
          </a:p>
        </p:txBody>
      </p:sp>
      <p:sp>
        <p:nvSpPr>
          <p:cNvPr id="1443843" name="文本框 1443842"/>
          <p:cNvSpPr txBox="1"/>
          <p:nvPr/>
        </p:nvSpPr>
        <p:spPr>
          <a:xfrm>
            <a:off x="0" y="4070556"/>
            <a:ext cx="9019158" cy="2677656"/>
          </a:xfrm>
          <a:prstGeom prst="rect">
            <a:avLst/>
          </a:prstGeom>
          <a:noFill/>
          <a:ln w="12700">
            <a:noFill/>
          </a:ln>
        </p:spPr>
        <p:txBody>
          <a:bodyPr wrap="square">
            <a:spAutoFit/>
          </a:bodyPr>
          <a:lstStyle/>
          <a:p>
            <a:pPr>
              <a:lnSpc>
                <a:spcPct val="90000"/>
              </a:lnSpc>
            </a:pPr>
            <a:r>
              <a:rPr lang="zh-CN" altLang="en-US" sz="2800" dirty="0">
                <a:solidFill>
                  <a:schemeClr val="tx1"/>
                </a:solidFill>
                <a:latin typeface="Times New Roman" panose="02020603050405020304" pitchFamily="18" charset="0"/>
              </a:rPr>
              <a:t>此时响应是稳态值为</a:t>
            </a:r>
            <a:r>
              <a:rPr lang="en-US" altLang="zh-CN" sz="2800" dirty="0">
                <a:solidFill>
                  <a:schemeClr val="tx1"/>
                </a:solidFill>
                <a:latin typeface="Times New Roman" panose="02020603050405020304" pitchFamily="18" charset="0"/>
              </a:rPr>
              <a:t>1 </a:t>
            </a:r>
            <a:r>
              <a:rPr lang="zh-CN" altLang="en-US" sz="2800" dirty="0">
                <a:solidFill>
                  <a:schemeClr val="tx1"/>
                </a:solidFill>
                <a:latin typeface="Times New Roman" panose="02020603050405020304" pitchFamily="18" charset="0"/>
              </a:rPr>
              <a:t>的非周期上升过程，其变化率</a:t>
            </a:r>
          </a:p>
          <a:p>
            <a:pPr>
              <a:lnSpc>
                <a:spcPct val="90000"/>
              </a:lnSpc>
            </a:pPr>
            <a:r>
              <a:rPr lang="en-US" altLang="zh-CN" sz="2800" i="1" dirty="0">
                <a:solidFill>
                  <a:schemeClr val="tx1"/>
                </a:solidFill>
                <a:latin typeface="Times New Roman" panose="02020603050405020304" pitchFamily="18" charset="0"/>
              </a:rPr>
              <a:t>t </a:t>
            </a:r>
            <a:r>
              <a:rPr lang="en-US" altLang="zh-CN" sz="2800" dirty="0">
                <a:solidFill>
                  <a:schemeClr val="tx1"/>
                </a:solidFill>
                <a:latin typeface="Times New Roman" panose="02020603050405020304" pitchFamily="18" charset="0"/>
              </a:rPr>
              <a:t>= 0</a:t>
            </a:r>
            <a:r>
              <a:rPr lang="zh-CN" altLang="en-US" sz="2800" dirty="0">
                <a:solidFill>
                  <a:schemeClr val="tx1"/>
                </a:solidFill>
                <a:latin typeface="Times New Roman" panose="02020603050405020304" pitchFamily="18" charset="0"/>
              </a:rPr>
              <a:t>，变化率为</a:t>
            </a:r>
            <a:r>
              <a:rPr lang="en-US" altLang="zh-CN" sz="2800" dirty="0">
                <a:solidFill>
                  <a:schemeClr val="tx1"/>
                </a:solidFill>
                <a:latin typeface="Times New Roman" panose="02020603050405020304" pitchFamily="18" charset="0"/>
              </a:rPr>
              <a:t>0</a:t>
            </a:r>
            <a:r>
              <a:rPr lang="zh-CN" altLang="en-US" sz="2800" dirty="0">
                <a:solidFill>
                  <a:schemeClr val="tx1"/>
                </a:solidFill>
                <a:latin typeface="Times New Roman" panose="02020603050405020304" pitchFamily="18" charset="0"/>
              </a:rPr>
              <a:t>； </a:t>
            </a:r>
            <a:endParaRPr lang="en-US" altLang="zh-CN" sz="2800" dirty="0">
              <a:solidFill>
                <a:schemeClr val="tx1"/>
              </a:solidFill>
              <a:latin typeface="Times New Roman" panose="02020603050405020304" pitchFamily="18" charset="0"/>
            </a:endParaRPr>
          </a:p>
          <a:p>
            <a:pPr>
              <a:lnSpc>
                <a:spcPct val="90000"/>
              </a:lnSpc>
            </a:pPr>
            <a:r>
              <a:rPr lang="en-US" altLang="zh-CN" sz="2800" i="1" dirty="0">
                <a:solidFill>
                  <a:schemeClr val="tx1"/>
                </a:solidFill>
                <a:latin typeface="Times New Roman" panose="02020603050405020304" pitchFamily="18" charset="0"/>
              </a:rPr>
              <a:t>t &gt; </a:t>
            </a:r>
            <a:r>
              <a:rPr lang="en-US" altLang="zh-CN" sz="2800" dirty="0">
                <a:solidFill>
                  <a:schemeClr val="tx1"/>
                </a:solidFill>
                <a:latin typeface="Times New Roman" panose="02020603050405020304" pitchFamily="18" charset="0"/>
              </a:rPr>
              <a:t>0</a:t>
            </a:r>
            <a:r>
              <a:rPr lang="zh-CN" altLang="en-US" sz="2800" dirty="0">
                <a:solidFill>
                  <a:schemeClr val="tx1"/>
                </a:solidFill>
                <a:latin typeface="Times New Roman" panose="02020603050405020304" pitchFamily="18" charset="0"/>
              </a:rPr>
              <a:t>变化率为正，</a:t>
            </a:r>
            <a:r>
              <a:rPr lang="en-US" altLang="zh-CN" sz="2800" i="1" dirty="0">
                <a:solidFill>
                  <a:schemeClr val="tx1"/>
                </a:solidFill>
                <a:latin typeface="Times New Roman" panose="02020603050405020304" pitchFamily="18" charset="0"/>
              </a:rPr>
              <a:t>c</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单调上升；</a:t>
            </a:r>
          </a:p>
          <a:p>
            <a:pPr>
              <a:lnSpc>
                <a:spcPct val="90000"/>
              </a:lnSpc>
            </a:pPr>
            <a:r>
              <a:rPr lang="zh-CN" altLang="en-US"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t </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，变化率趋于</a:t>
            </a:r>
            <a:r>
              <a:rPr lang="en-US" altLang="zh-CN" sz="2800" dirty="0">
                <a:solidFill>
                  <a:schemeClr val="tx1"/>
                </a:solidFill>
                <a:latin typeface="Times New Roman" panose="02020603050405020304" pitchFamily="18" charset="0"/>
              </a:rPr>
              <a:t>0</a:t>
            </a:r>
            <a:r>
              <a:rPr lang="zh-CN" altLang="en-US" sz="2800" dirty="0">
                <a:solidFill>
                  <a:schemeClr val="tx1"/>
                </a:solidFill>
                <a:latin typeface="Times New Roman" panose="02020603050405020304" pitchFamily="18" charset="0"/>
              </a:rPr>
              <a:t>。</a:t>
            </a:r>
            <a:r>
              <a:rPr lang="zh-CN" altLang="en-US" sz="2800" dirty="0">
                <a:solidFill>
                  <a:srgbClr val="FF0000"/>
                </a:solidFill>
                <a:latin typeface="Times New Roman" panose="02020603050405020304" pitchFamily="18" charset="0"/>
              </a:rPr>
              <a:t>整个过程不出现振荡，无超调，稳态误差＝</a:t>
            </a:r>
            <a:r>
              <a:rPr lang="en-US" altLang="zh-CN" sz="2800" dirty="0">
                <a:solidFill>
                  <a:srgbClr val="FF0000"/>
                </a:solidFill>
                <a:latin typeface="Times New Roman" panose="02020603050405020304" pitchFamily="18" charset="0"/>
              </a:rPr>
              <a:t>0</a:t>
            </a:r>
            <a:r>
              <a:rPr lang="zh-CN" altLang="en-US" sz="2800" dirty="0">
                <a:solidFill>
                  <a:srgbClr val="FF0000"/>
                </a:solidFill>
                <a:latin typeface="Times New Roman" panose="02020603050405020304" pitchFamily="18" charset="0"/>
              </a:rPr>
              <a:t>。</a:t>
            </a:r>
          </a:p>
        </p:txBody>
      </p:sp>
      <p:graphicFrame>
        <p:nvGraphicFramePr>
          <p:cNvPr id="1443844" name="对象 1443843"/>
          <p:cNvGraphicFramePr/>
          <p:nvPr>
            <p:extLst>
              <p:ext uri="{D42A27DB-BD31-4B8C-83A1-F6EECF244321}">
                <p14:modId xmlns:p14="http://schemas.microsoft.com/office/powerpoint/2010/main" val="2148146105"/>
              </p:ext>
            </p:extLst>
          </p:nvPr>
        </p:nvGraphicFramePr>
        <p:xfrm>
          <a:off x="469265" y="3395103"/>
          <a:ext cx="4879975" cy="561975"/>
        </p:xfrm>
        <a:graphic>
          <a:graphicData uri="http://schemas.openxmlformats.org/presentationml/2006/ole">
            <mc:AlternateContent xmlns:mc="http://schemas.openxmlformats.org/markup-compatibility/2006">
              <mc:Choice xmlns:v="urn:schemas-microsoft-com:vml" Requires="v">
                <p:oleObj spid="_x0000_s26646" r:id="rId3" imgW="2169795" imgH="254000" progId="Equation.3">
                  <p:embed/>
                </p:oleObj>
              </mc:Choice>
              <mc:Fallback>
                <p:oleObj r:id="rId3" imgW="2169795" imgH="254000" progId="Equation.3">
                  <p:embed/>
                  <p:pic>
                    <p:nvPicPr>
                      <p:cNvPr id="0" name="图片 3122"/>
                      <p:cNvPicPr/>
                      <p:nvPr/>
                    </p:nvPicPr>
                    <p:blipFill>
                      <a:blip r:embed="rId4"/>
                      <a:stretch>
                        <a:fillRect/>
                      </a:stretch>
                    </p:blipFill>
                    <p:spPr>
                      <a:xfrm>
                        <a:off x="469265" y="3395103"/>
                        <a:ext cx="4879975" cy="561975"/>
                      </a:xfrm>
                      <a:prstGeom prst="rect">
                        <a:avLst/>
                      </a:prstGeom>
                      <a:solidFill>
                        <a:srgbClr val="FFCC00"/>
                      </a:solidFill>
                      <a:ln w="38100">
                        <a:noFill/>
                        <a:miter/>
                      </a:ln>
                    </p:spPr>
                  </p:pic>
                </p:oleObj>
              </mc:Fallback>
            </mc:AlternateContent>
          </a:graphicData>
        </a:graphic>
      </p:graphicFrame>
      <p:graphicFrame>
        <p:nvGraphicFramePr>
          <p:cNvPr id="1443845" name="对象 1443844"/>
          <p:cNvGraphicFramePr/>
          <p:nvPr>
            <p:extLst>
              <p:ext uri="{D42A27DB-BD31-4B8C-83A1-F6EECF244321}">
                <p14:modId xmlns:p14="http://schemas.microsoft.com/office/powerpoint/2010/main" val="1438545859"/>
              </p:ext>
            </p:extLst>
          </p:nvPr>
        </p:nvGraphicFramePr>
        <p:xfrm>
          <a:off x="585613" y="1328480"/>
          <a:ext cx="2894013" cy="1031875"/>
        </p:xfrm>
        <a:graphic>
          <a:graphicData uri="http://schemas.openxmlformats.org/presentationml/2006/ole">
            <mc:AlternateContent xmlns:mc="http://schemas.openxmlformats.org/markup-compatibility/2006">
              <mc:Choice xmlns:v="urn:schemas-microsoft-com:vml" Requires="v">
                <p:oleObj spid="_x0000_s26647" r:id="rId5" imgW="1282700" imgH="457200" progId="Equation.3">
                  <p:embed/>
                </p:oleObj>
              </mc:Choice>
              <mc:Fallback>
                <p:oleObj r:id="rId5" imgW="1282700" imgH="457200" progId="Equation.3">
                  <p:embed/>
                  <p:pic>
                    <p:nvPicPr>
                      <p:cNvPr id="0" name="图片 3123"/>
                      <p:cNvPicPr/>
                      <p:nvPr/>
                    </p:nvPicPr>
                    <p:blipFill>
                      <a:blip r:embed="rId6"/>
                      <a:stretch>
                        <a:fillRect/>
                      </a:stretch>
                    </p:blipFill>
                    <p:spPr>
                      <a:xfrm>
                        <a:off x="585613" y="1328480"/>
                        <a:ext cx="2894013" cy="1031875"/>
                      </a:xfrm>
                      <a:prstGeom prst="rect">
                        <a:avLst/>
                      </a:prstGeom>
                      <a:noFill/>
                      <a:ln w="38100">
                        <a:noFill/>
                        <a:miter/>
                      </a:ln>
                    </p:spPr>
                  </p:pic>
                </p:oleObj>
              </mc:Fallback>
            </mc:AlternateContent>
          </a:graphicData>
        </a:graphic>
      </p:graphicFrame>
      <p:grpSp>
        <p:nvGrpSpPr>
          <p:cNvPr id="1443846" name="组合 1443845"/>
          <p:cNvGrpSpPr/>
          <p:nvPr/>
        </p:nvGrpSpPr>
        <p:grpSpPr>
          <a:xfrm>
            <a:off x="5003800" y="228600"/>
            <a:ext cx="3841750" cy="3135313"/>
            <a:chOff x="2946" y="0"/>
            <a:chExt cx="2808" cy="2406"/>
          </a:xfrm>
        </p:grpSpPr>
        <p:sp>
          <p:nvSpPr>
            <p:cNvPr id="38924" name="直接连接符 1443846"/>
            <p:cNvSpPr/>
            <p:nvPr/>
          </p:nvSpPr>
          <p:spPr>
            <a:xfrm flipV="1">
              <a:off x="3061" y="56"/>
              <a:ext cx="0" cy="2008"/>
            </a:xfrm>
            <a:prstGeom prst="line">
              <a:avLst/>
            </a:prstGeom>
            <a:ln w="57150" cap="sq" cmpd="sng">
              <a:solidFill>
                <a:schemeClr val="tx1"/>
              </a:solidFill>
              <a:prstDash val="solid"/>
              <a:headEnd type="none" w="med" len="med"/>
              <a:tailEnd type="triangle" w="med" len="med"/>
            </a:ln>
          </p:spPr>
        </p:sp>
        <p:sp>
          <p:nvSpPr>
            <p:cNvPr id="38925" name="直接连接符 1443847"/>
            <p:cNvSpPr/>
            <p:nvPr/>
          </p:nvSpPr>
          <p:spPr>
            <a:xfrm flipV="1">
              <a:off x="3052" y="2068"/>
              <a:ext cx="2502" cy="14"/>
            </a:xfrm>
            <a:prstGeom prst="line">
              <a:avLst/>
            </a:prstGeom>
            <a:ln w="57150" cap="sq" cmpd="sng">
              <a:solidFill>
                <a:schemeClr val="tx1"/>
              </a:solidFill>
              <a:prstDash val="solid"/>
              <a:headEnd type="none" w="med" len="med"/>
              <a:tailEnd type="triangle" w="med" len="med"/>
            </a:ln>
          </p:spPr>
        </p:sp>
        <p:sp>
          <p:nvSpPr>
            <p:cNvPr id="38926" name="矩形 1443848"/>
            <p:cNvSpPr/>
            <p:nvPr/>
          </p:nvSpPr>
          <p:spPr>
            <a:xfrm>
              <a:off x="5558" y="1935"/>
              <a:ext cx="196" cy="350"/>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38927" name="矩形 1443849"/>
            <p:cNvSpPr/>
            <p:nvPr/>
          </p:nvSpPr>
          <p:spPr>
            <a:xfrm>
              <a:off x="3122" y="0"/>
              <a:ext cx="444" cy="351"/>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sp>
          <p:nvSpPr>
            <p:cNvPr id="38928" name="矩形 1443850"/>
            <p:cNvSpPr/>
            <p:nvPr/>
          </p:nvSpPr>
          <p:spPr>
            <a:xfrm>
              <a:off x="2946" y="2055"/>
              <a:ext cx="246" cy="351"/>
            </a:xfrm>
            <a:prstGeom prst="rect">
              <a:avLst/>
            </a:prstGeom>
            <a:noFill/>
            <a:ln w="9525">
              <a:noFill/>
            </a:ln>
          </p:spPr>
          <p:txBody>
            <a:bodyPr wrap="none">
              <a:spAutoFit/>
            </a:bodyPr>
            <a:lstStyle/>
            <a:p>
              <a:pPr algn="ctr"/>
              <a:r>
                <a:rPr lang="en-US" altLang="zh-CN" sz="2400" dirty="0">
                  <a:solidFill>
                    <a:schemeClr val="tx1"/>
                  </a:solidFill>
                  <a:latin typeface="Times New Roman" panose="02020603050405020304" pitchFamily="18" charset="0"/>
                </a:rPr>
                <a:t>0</a:t>
              </a:r>
            </a:p>
          </p:txBody>
        </p:sp>
      </p:grpSp>
      <p:sp>
        <p:nvSpPr>
          <p:cNvPr id="1443852" name="直接连接符 1443851"/>
          <p:cNvSpPr/>
          <p:nvPr/>
        </p:nvSpPr>
        <p:spPr>
          <a:xfrm>
            <a:off x="5226050" y="1123950"/>
            <a:ext cx="3414713" cy="1588"/>
          </a:xfrm>
          <a:prstGeom prst="line">
            <a:avLst/>
          </a:prstGeom>
          <a:ln w="57150" cap="sq" cmpd="sng">
            <a:solidFill>
              <a:schemeClr val="tx1"/>
            </a:solidFill>
            <a:prstDash val="solid"/>
            <a:headEnd type="none" w="med" len="med"/>
            <a:tailEnd type="none" w="med" len="med"/>
          </a:ln>
        </p:spPr>
      </p:sp>
      <p:sp>
        <p:nvSpPr>
          <p:cNvPr id="1443853" name="任意多边形 1443852"/>
          <p:cNvSpPr/>
          <p:nvPr/>
        </p:nvSpPr>
        <p:spPr>
          <a:xfrm>
            <a:off x="5165725" y="1209675"/>
            <a:ext cx="3452813" cy="1722438"/>
          </a:xfrm>
          <a:custGeom>
            <a:avLst/>
            <a:gdLst/>
            <a:ahLst/>
            <a:cxnLst>
              <a:cxn ang="0">
                <a:pos x="2147483647" y="0"/>
              </a:cxn>
              <a:cxn ang="0">
                <a:pos x="2147483647" y="2147483647"/>
              </a:cxn>
              <a:cxn ang="0">
                <a:pos x="2147483647" y="2147483647"/>
              </a:cxn>
              <a:cxn ang="0">
                <a:pos x="2147483647" y="2147483647"/>
              </a:cxn>
              <a:cxn ang="0">
                <a:pos x="2147483647" y="2147483647"/>
              </a:cxn>
              <a:cxn ang="0">
                <a:pos x="0" y="2147483647"/>
              </a:cxn>
            </a:cxnLst>
            <a:rect l="0" t="0" r="0" b="0"/>
            <a:pathLst>
              <a:path w="2175" h="1085">
                <a:moveTo>
                  <a:pt x="2175" y="0"/>
                </a:moveTo>
                <a:cubicBezTo>
                  <a:pt x="1623" y="7"/>
                  <a:pt x="1072" y="13"/>
                  <a:pt x="759" y="142"/>
                </a:cubicBezTo>
                <a:cubicBezTo>
                  <a:pt x="446" y="271"/>
                  <a:pt x="384" y="646"/>
                  <a:pt x="295" y="770"/>
                </a:cubicBezTo>
                <a:cubicBezTo>
                  <a:pt x="206" y="894"/>
                  <a:pt x="251" y="847"/>
                  <a:pt x="226" y="886"/>
                </a:cubicBezTo>
                <a:cubicBezTo>
                  <a:pt x="201" y="925"/>
                  <a:pt x="184" y="973"/>
                  <a:pt x="146" y="1006"/>
                </a:cubicBezTo>
                <a:cubicBezTo>
                  <a:pt x="108" y="1039"/>
                  <a:pt x="30" y="1069"/>
                  <a:pt x="0" y="1085"/>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1443854" name="矩形 1443853"/>
          <p:cNvSpPr/>
          <p:nvPr/>
        </p:nvSpPr>
        <p:spPr>
          <a:xfrm>
            <a:off x="4697413" y="881063"/>
            <a:ext cx="361950" cy="519112"/>
          </a:xfrm>
          <a:prstGeom prst="rect">
            <a:avLst/>
          </a:prstGeom>
          <a:noFill/>
          <a:ln w="9525">
            <a:noFill/>
          </a:ln>
        </p:spPr>
        <p:txBody>
          <a:bodyPr wrap="none">
            <a:spAutoFit/>
          </a:bodyPr>
          <a:lstStyle/>
          <a:p>
            <a:pPr algn="ctr">
              <a:spcBef>
                <a:spcPct val="0"/>
              </a:spcBef>
            </a:pPr>
            <a:r>
              <a:rPr lang="en-US" altLang="zh-CN" sz="2800" dirty="0">
                <a:solidFill>
                  <a:schemeClr val="tx1"/>
                </a:solidFill>
                <a:latin typeface="Times New Roman" panose="02020603050405020304" pitchFamily="18" charset="0"/>
              </a:rPr>
              <a:t>1</a:t>
            </a:r>
          </a:p>
        </p:txBody>
      </p:sp>
      <p:graphicFrame>
        <p:nvGraphicFramePr>
          <p:cNvPr id="1443855" name="对象 1443854"/>
          <p:cNvGraphicFramePr/>
          <p:nvPr/>
        </p:nvGraphicFramePr>
        <p:xfrm>
          <a:off x="1287463" y="2489200"/>
          <a:ext cx="3436937" cy="974725"/>
        </p:xfrm>
        <a:graphic>
          <a:graphicData uri="http://schemas.openxmlformats.org/presentationml/2006/ole">
            <mc:AlternateContent xmlns:mc="http://schemas.openxmlformats.org/markup-compatibility/2006">
              <mc:Choice xmlns:v="urn:schemas-microsoft-com:vml" Requires="v">
                <p:oleObj spid="_x0000_s26648" r:id="rId7" imgW="1523365" imgH="431800" progId="Equation.3">
                  <p:embed/>
                </p:oleObj>
              </mc:Choice>
              <mc:Fallback>
                <p:oleObj r:id="rId7" imgW="1523365" imgH="431800" progId="Equation.3">
                  <p:embed/>
                  <p:pic>
                    <p:nvPicPr>
                      <p:cNvPr id="0" name="图片 3132"/>
                      <p:cNvPicPr/>
                      <p:nvPr/>
                    </p:nvPicPr>
                    <p:blipFill>
                      <a:blip r:embed="rId8"/>
                      <a:stretch>
                        <a:fillRect/>
                      </a:stretch>
                    </p:blipFill>
                    <p:spPr>
                      <a:xfrm>
                        <a:off x="1287463" y="2489200"/>
                        <a:ext cx="3436937" cy="974725"/>
                      </a:xfrm>
                      <a:prstGeom prst="rect">
                        <a:avLst/>
                      </a:prstGeom>
                      <a:noFill/>
                      <a:ln w="38100">
                        <a:noFill/>
                        <a:miter/>
                      </a:ln>
                    </p:spPr>
                  </p:pic>
                </p:oleObj>
              </mc:Fallback>
            </mc:AlternateContent>
          </a:graphicData>
        </a:graphic>
      </p:graphicFrame>
      <p:sp>
        <p:nvSpPr>
          <p:cNvPr id="17" name="Freeform 56">
            <a:extLst>
              <a:ext uri="{FF2B5EF4-FFF2-40B4-BE49-F238E27FC236}">
                <a16:creationId xmlns:a16="http://schemas.microsoft.com/office/drawing/2014/main" id="{CDDFDFDB-87A6-4E45-8CA9-79B9DD30BBE6}"/>
              </a:ext>
            </a:extLst>
          </p:cNvPr>
          <p:cNvSpPr>
            <a:spLocks/>
          </p:cNvSpPr>
          <p:nvPr/>
        </p:nvSpPr>
        <p:spPr bwMode="auto">
          <a:xfrm>
            <a:off x="1115616" y="52977"/>
            <a:ext cx="3818631" cy="633019"/>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3842">
                                            <p:txEl>
                                              <p:pRg st="0" end="0"/>
                                            </p:txEl>
                                          </p:spTgt>
                                        </p:tgtEl>
                                        <p:attrNameLst>
                                          <p:attrName>style.visibility</p:attrName>
                                        </p:attrNameLst>
                                      </p:cBhvr>
                                      <p:to>
                                        <p:strVal val="visible"/>
                                      </p:to>
                                    </p:set>
                                    <p:anim calcmode="lin" valueType="num">
                                      <p:cBhvr additive="base">
                                        <p:cTn id="7" dur="500" fill="hold"/>
                                        <p:tgtEl>
                                          <p:spTgt spid="14438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38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43842">
                                            <p:txEl>
                                              <p:pRg st="1" end="1"/>
                                            </p:txEl>
                                          </p:spTgt>
                                        </p:tgtEl>
                                        <p:attrNameLst>
                                          <p:attrName>style.visibility</p:attrName>
                                        </p:attrNameLst>
                                      </p:cBhvr>
                                      <p:to>
                                        <p:strVal val="visible"/>
                                      </p:to>
                                    </p:set>
                                    <p:anim calcmode="lin" valueType="num">
                                      <p:cBhvr additive="base">
                                        <p:cTn id="13" dur="500" fill="hold"/>
                                        <p:tgtEl>
                                          <p:spTgt spid="14438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438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443845"/>
                                        </p:tgtEl>
                                        <p:attrNameLst>
                                          <p:attrName>style.visibility</p:attrName>
                                        </p:attrNameLst>
                                      </p:cBhvr>
                                      <p:to>
                                        <p:strVal val="visible"/>
                                      </p:to>
                                    </p:set>
                                    <p:animEffect transition="in" filter="dissolve">
                                      <p:cBhvr>
                                        <p:cTn id="19" dur="500"/>
                                        <p:tgtEl>
                                          <p:spTgt spid="1443845"/>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443855"/>
                                        </p:tgtEl>
                                        <p:attrNameLst>
                                          <p:attrName>style.visibility</p:attrName>
                                        </p:attrNameLst>
                                      </p:cBhvr>
                                      <p:to>
                                        <p:strVal val="visible"/>
                                      </p:to>
                                    </p:set>
                                    <p:animEffect transition="in" filter="dissolve">
                                      <p:cBhvr>
                                        <p:cTn id="24" dur="500"/>
                                        <p:tgtEl>
                                          <p:spTgt spid="144385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443844"/>
                                        </p:tgtEl>
                                        <p:attrNameLst>
                                          <p:attrName>style.visibility</p:attrName>
                                        </p:attrNameLst>
                                      </p:cBhvr>
                                      <p:to>
                                        <p:strVal val="visible"/>
                                      </p:to>
                                    </p:set>
                                    <p:animEffect transition="in" filter="dissolve">
                                      <p:cBhvr>
                                        <p:cTn id="29" dur="500"/>
                                        <p:tgtEl>
                                          <p:spTgt spid="144384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443846"/>
                                        </p:tgtEl>
                                        <p:attrNameLst>
                                          <p:attrName>style.visibility</p:attrName>
                                        </p:attrNameLst>
                                      </p:cBhvr>
                                      <p:to>
                                        <p:strVal val="visible"/>
                                      </p:to>
                                    </p:set>
                                    <p:animEffect transition="in" filter="dissolve">
                                      <p:cBhvr>
                                        <p:cTn id="34" dur="500"/>
                                        <p:tgtEl>
                                          <p:spTgt spid="144384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443852"/>
                                        </p:tgtEl>
                                        <p:attrNameLst>
                                          <p:attrName>style.visibility</p:attrName>
                                        </p:attrNameLst>
                                      </p:cBhvr>
                                      <p:to>
                                        <p:strVal val="visible"/>
                                      </p:to>
                                    </p:set>
                                    <p:animEffect transition="in" filter="dissolve">
                                      <p:cBhvr>
                                        <p:cTn id="39" dur="500"/>
                                        <p:tgtEl>
                                          <p:spTgt spid="1443852"/>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1443854"/>
                                        </p:tgtEl>
                                        <p:attrNameLst>
                                          <p:attrName>style.visibility</p:attrName>
                                        </p:attrNameLst>
                                      </p:cBhvr>
                                      <p:to>
                                        <p:strVal val="visible"/>
                                      </p:to>
                                    </p:set>
                                    <p:animEffect transition="in" filter="dissolve">
                                      <p:cBhvr>
                                        <p:cTn id="43" dur="500"/>
                                        <p:tgtEl>
                                          <p:spTgt spid="1443854"/>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1443853"/>
                                        </p:tgtEl>
                                        <p:attrNameLst>
                                          <p:attrName>style.visibility</p:attrName>
                                        </p:attrNameLst>
                                      </p:cBhvr>
                                      <p:to>
                                        <p:strVal val="visible"/>
                                      </p:to>
                                    </p:set>
                                    <p:animEffect transition="in" filter="wipe(left)">
                                      <p:cBhvr>
                                        <p:cTn id="47" dur="500"/>
                                        <p:tgtEl>
                                          <p:spTgt spid="144385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443843"/>
                                        </p:tgtEl>
                                        <p:attrNameLst>
                                          <p:attrName>style.visibility</p:attrName>
                                        </p:attrNameLst>
                                      </p:cBhvr>
                                      <p:to>
                                        <p:strVal val="visible"/>
                                      </p:to>
                                    </p:set>
                                    <p:animEffect transition="in" filter="dissolve">
                                      <p:cBhvr>
                                        <p:cTn id="52" dur="500"/>
                                        <p:tgtEl>
                                          <p:spTgt spid="1443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42" grpId="0" build="p"/>
      <p:bldP spid="1443843" grpId="0"/>
      <p:bldP spid="144385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CB4AD5B-0A08-46C3-BEAF-CBB9121FBD40}"/>
              </a:ext>
            </a:extLst>
          </p:cNvPr>
          <p:cNvSpPr txBox="1"/>
          <p:nvPr/>
        </p:nvSpPr>
        <p:spPr>
          <a:xfrm>
            <a:off x="0" y="6093296"/>
            <a:ext cx="9144000" cy="727069"/>
          </a:xfrm>
          <a:prstGeom prst="rect">
            <a:avLst/>
          </a:prstGeom>
          <a:solidFill>
            <a:schemeClr val="bg2"/>
          </a:solidFill>
        </p:spPr>
        <p:txBody>
          <a:bodyPr wrap="square" rtlCol="0">
            <a:spAutoFit/>
          </a:bodyPr>
          <a:lstStyle/>
          <a:p>
            <a:endParaRPr lang="zh-CN" altLang="en-US" dirty="0"/>
          </a:p>
        </p:txBody>
      </p:sp>
      <p:sp>
        <p:nvSpPr>
          <p:cNvPr id="1444866" name="内容占位符 1444865"/>
          <p:cNvSpPr>
            <a:spLocks noGrp="1"/>
          </p:cNvSpPr>
          <p:nvPr>
            <p:ph idx="4294967295"/>
          </p:nvPr>
        </p:nvSpPr>
        <p:spPr>
          <a:xfrm>
            <a:off x="1140680" y="70935"/>
            <a:ext cx="3768502" cy="568531"/>
          </a:xfrm>
          <a:ln w="12700"/>
        </p:spPr>
        <p:txBody>
          <a:bodyPr vert="horz" wrap="square" lIns="91440" tIns="45720" rIns="91440" bIns="45720" anchor="t" anchorCtr="0">
            <a:normAutofit lnSpcReduction="10000"/>
          </a:bodyPr>
          <a:lstStyle/>
          <a:p>
            <a:pPr eaLnBrk="1" hangingPunct="1">
              <a:buFont typeface="Wingdings" panose="05000000000000000000" pitchFamily="2" charset="2"/>
              <a:buNone/>
            </a:pPr>
            <a:r>
              <a:rPr lang="zh-CN" altLang="en-US" sz="2800" b="1" dirty="0">
                <a:latin typeface="华文新魏" panose="02010800040101010101" pitchFamily="2" charset="-122"/>
                <a:ea typeface="华文新魏" panose="02010800040101010101" pitchFamily="2" charset="-122"/>
              </a:rPr>
              <a:t>（</a:t>
            </a:r>
            <a:r>
              <a:rPr lang="en-US" altLang="zh-CN" sz="2800" b="1" dirty="0">
                <a:latin typeface="华文新魏" panose="02010800040101010101" pitchFamily="2" charset="-122"/>
                <a:ea typeface="华文新魏" panose="02010800040101010101" pitchFamily="2" charset="-122"/>
              </a:rPr>
              <a:t>4</a:t>
            </a:r>
            <a:r>
              <a:rPr lang="zh-CN" altLang="en-US" sz="2800" b="1" dirty="0">
                <a:latin typeface="华文新魏" panose="02010800040101010101" pitchFamily="2" charset="-122"/>
                <a:ea typeface="华文新魏" panose="02010800040101010101" pitchFamily="2" charset="-122"/>
              </a:rPr>
              <a:t>）过阻尼情况 </a:t>
            </a:r>
            <a:r>
              <a:rPr lang="en-US" altLang="zh-CN" b="1" i="1" dirty="0">
                <a:solidFill>
                  <a:srgbClr val="FF0000"/>
                </a:solidFill>
                <a:latin typeface="Times New Roman" panose="02020603050405020304" pitchFamily="18" charset="0"/>
              </a:rPr>
              <a:t>ξ&gt;1</a:t>
            </a:r>
          </a:p>
        </p:txBody>
      </p:sp>
      <p:graphicFrame>
        <p:nvGraphicFramePr>
          <p:cNvPr id="1444867" name="对象 1444866"/>
          <p:cNvGraphicFramePr/>
          <p:nvPr>
            <p:extLst>
              <p:ext uri="{D42A27DB-BD31-4B8C-83A1-F6EECF244321}">
                <p14:modId xmlns:p14="http://schemas.microsoft.com/office/powerpoint/2010/main" val="1197382891"/>
              </p:ext>
            </p:extLst>
          </p:nvPr>
        </p:nvGraphicFramePr>
        <p:xfrm>
          <a:off x="1050925" y="592138"/>
          <a:ext cx="5897563" cy="579437"/>
        </p:xfrm>
        <a:graphic>
          <a:graphicData uri="http://schemas.openxmlformats.org/presentationml/2006/ole">
            <mc:AlternateContent xmlns:mc="http://schemas.openxmlformats.org/markup-compatibility/2006">
              <mc:Choice xmlns:v="urn:schemas-microsoft-com:vml" Requires="v">
                <p:oleObj spid="_x0000_s27698" r:id="rId3" imgW="2588260" imgH="254000" progId="Equation.3">
                  <p:embed/>
                </p:oleObj>
              </mc:Choice>
              <mc:Fallback>
                <p:oleObj r:id="rId3" imgW="2588260" imgH="254000" progId="Equation.3">
                  <p:embed/>
                  <p:pic>
                    <p:nvPicPr>
                      <p:cNvPr id="0" name="图片 3126"/>
                      <p:cNvPicPr/>
                      <p:nvPr/>
                    </p:nvPicPr>
                    <p:blipFill>
                      <a:blip r:embed="rId4"/>
                      <a:stretch>
                        <a:fillRect/>
                      </a:stretch>
                    </p:blipFill>
                    <p:spPr>
                      <a:xfrm>
                        <a:off x="1050925" y="592138"/>
                        <a:ext cx="5897563" cy="579437"/>
                      </a:xfrm>
                      <a:prstGeom prst="rect">
                        <a:avLst/>
                      </a:prstGeom>
                      <a:noFill/>
                      <a:ln w="38100">
                        <a:noFill/>
                        <a:miter/>
                      </a:ln>
                    </p:spPr>
                  </p:pic>
                </p:oleObj>
              </mc:Fallback>
            </mc:AlternateContent>
          </a:graphicData>
        </a:graphic>
      </p:graphicFrame>
      <p:sp>
        <p:nvSpPr>
          <p:cNvPr id="1444868" name="文本框 1444867"/>
          <p:cNvSpPr txBox="1"/>
          <p:nvPr/>
        </p:nvSpPr>
        <p:spPr>
          <a:xfrm>
            <a:off x="0" y="5372100"/>
            <a:ext cx="9144000" cy="1370013"/>
          </a:xfrm>
          <a:prstGeom prst="rect">
            <a:avLst/>
          </a:prstGeom>
          <a:noFill/>
          <a:ln w="12700">
            <a:noFill/>
          </a:ln>
        </p:spPr>
        <p:txBody>
          <a:bodyPr>
            <a:spAutoFit/>
          </a:bodyPr>
          <a:lstStyle/>
          <a:p>
            <a:pPr marR="0" defTabSz="914400">
              <a:buClrTx/>
              <a:buSzTx/>
              <a:buFontTx/>
              <a:buNone/>
              <a:defRPr/>
            </a:pPr>
            <a:r>
              <a:rPr kumimoji="0" lang="en-US" altLang="zh-CN" sz="2400" b="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响应特性包含</a:t>
            </a:r>
            <a:r>
              <a:rPr kumimoji="0" lang="zh-CN" altLang="en-US" sz="24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两个单调衰减的指数项</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p>
          <a:p>
            <a:pPr marR="0" defTabSz="914400">
              <a:buClrTx/>
              <a:buSzTx/>
              <a:buFontTx/>
              <a:buNone/>
              <a:defRPr/>
            </a:pP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且它们的代数和不会超过</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1</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，因而响应是</a:t>
            </a:r>
            <a:r>
              <a:rPr kumimoji="0" lang="zh-CN" altLang="en-US" sz="2400" kern="1200" cap="none" spc="0" normalizeH="0" baseline="0" noProof="1">
                <a:solidFill>
                  <a:srgbClr val="FF0000"/>
                </a:solidFill>
                <a:latin typeface="Times New Roman" panose="02020603050405020304" pitchFamily="18" charset="0"/>
                <a:ea typeface="宋体" panose="02010600030101010101" pitchFamily="2" charset="-122"/>
                <a:cs typeface="+mn-cs"/>
              </a:rPr>
              <a:t>非振荡</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的。</a:t>
            </a:r>
            <a:r>
              <a:rPr kumimoji="0" lang="zh-CN" altLang="en-US" sz="2400" kern="1200" cap="none" spc="0" normalizeH="0" baseline="0" noProof="1">
                <a:solidFill>
                  <a:srgbClr val="FF0000"/>
                </a:solidFill>
                <a:latin typeface="Times New Roman" panose="02020603050405020304" pitchFamily="18" charset="0"/>
                <a:ea typeface="宋体" panose="02010600030101010101" pitchFamily="2" charset="-122"/>
                <a:cs typeface="+mn-cs"/>
              </a:rPr>
              <a:t>调节速度慢</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zh-CN" altLang="en-US" sz="2400" kern="1200" cap="none" spc="0" normalizeH="0" baseline="0" noProof="1">
                <a:solidFill>
                  <a:schemeClr val="tx1"/>
                </a:solidFill>
                <a:latin typeface="Times New Roman" panose="02020603050405020304" pitchFamily="18" charset="0"/>
                <a:ea typeface="楷体_GB2312" pitchFamily="49" charset="-122"/>
                <a:cs typeface="+mn-cs"/>
              </a:rPr>
              <a:t>不同于一阶系统</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p>
        </p:txBody>
      </p:sp>
      <p:graphicFrame>
        <p:nvGraphicFramePr>
          <p:cNvPr id="1444869" name="对象 1444868"/>
          <p:cNvGraphicFramePr/>
          <p:nvPr/>
        </p:nvGraphicFramePr>
        <p:xfrm>
          <a:off x="755650" y="4076700"/>
          <a:ext cx="4402138" cy="1028700"/>
        </p:xfrm>
        <a:graphic>
          <a:graphicData uri="http://schemas.openxmlformats.org/presentationml/2006/ole">
            <mc:AlternateContent xmlns:mc="http://schemas.openxmlformats.org/markup-compatibility/2006">
              <mc:Choice xmlns:v="urn:schemas-microsoft-com:vml" Requires="v">
                <p:oleObj spid="_x0000_s27699" r:id="rId5" imgW="1955800" imgH="457200" progId="Equation.3">
                  <p:embed/>
                </p:oleObj>
              </mc:Choice>
              <mc:Fallback>
                <p:oleObj r:id="rId5" imgW="1955800" imgH="457200" progId="Equation.3">
                  <p:embed/>
                  <p:pic>
                    <p:nvPicPr>
                      <p:cNvPr id="0" name="图片 3127"/>
                      <p:cNvPicPr/>
                      <p:nvPr/>
                    </p:nvPicPr>
                    <p:blipFill>
                      <a:blip r:embed="rId6"/>
                      <a:stretch>
                        <a:fillRect/>
                      </a:stretch>
                    </p:blipFill>
                    <p:spPr>
                      <a:xfrm>
                        <a:off x="755650" y="4076700"/>
                        <a:ext cx="4402138" cy="1028700"/>
                      </a:xfrm>
                      <a:prstGeom prst="rect">
                        <a:avLst/>
                      </a:prstGeom>
                      <a:noFill/>
                      <a:ln w="38100">
                        <a:noFill/>
                        <a:miter/>
                      </a:ln>
                    </p:spPr>
                  </p:pic>
                </p:oleObj>
              </mc:Fallback>
            </mc:AlternateContent>
          </a:graphicData>
        </a:graphic>
      </p:graphicFrame>
      <p:graphicFrame>
        <p:nvGraphicFramePr>
          <p:cNvPr id="1444870" name="对象 1444869"/>
          <p:cNvGraphicFramePr/>
          <p:nvPr/>
        </p:nvGraphicFramePr>
        <p:xfrm>
          <a:off x="1116013" y="1052513"/>
          <a:ext cx="3095625" cy="1066800"/>
        </p:xfrm>
        <a:graphic>
          <a:graphicData uri="http://schemas.openxmlformats.org/presentationml/2006/ole">
            <mc:AlternateContent xmlns:mc="http://schemas.openxmlformats.org/markup-compatibility/2006">
              <mc:Choice xmlns:v="urn:schemas-microsoft-com:vml" Requires="v">
                <p:oleObj spid="_x0000_s27700" r:id="rId7" imgW="1155700" imgH="419100" progId="Equation.3">
                  <p:embed/>
                </p:oleObj>
              </mc:Choice>
              <mc:Fallback>
                <p:oleObj r:id="rId7" imgW="1155700" imgH="419100" progId="Equation.3">
                  <p:embed/>
                  <p:pic>
                    <p:nvPicPr>
                      <p:cNvPr id="0" name="图片 3128"/>
                      <p:cNvPicPr/>
                      <p:nvPr/>
                    </p:nvPicPr>
                    <p:blipFill>
                      <a:blip r:embed="rId8"/>
                      <a:stretch>
                        <a:fillRect/>
                      </a:stretch>
                    </p:blipFill>
                    <p:spPr>
                      <a:xfrm>
                        <a:off x="1116013" y="1052513"/>
                        <a:ext cx="3095625" cy="1066800"/>
                      </a:xfrm>
                      <a:prstGeom prst="rect">
                        <a:avLst/>
                      </a:prstGeom>
                      <a:noFill/>
                      <a:ln w="38100">
                        <a:noFill/>
                        <a:miter/>
                      </a:ln>
                    </p:spPr>
                  </p:pic>
                </p:oleObj>
              </mc:Fallback>
            </mc:AlternateContent>
          </a:graphicData>
        </a:graphic>
      </p:graphicFrame>
      <p:graphicFrame>
        <p:nvGraphicFramePr>
          <p:cNvPr id="1444871" name="对象 1444870"/>
          <p:cNvGraphicFramePr/>
          <p:nvPr/>
        </p:nvGraphicFramePr>
        <p:xfrm>
          <a:off x="4833938" y="1052513"/>
          <a:ext cx="3482975" cy="1016000"/>
        </p:xfrm>
        <a:graphic>
          <a:graphicData uri="http://schemas.openxmlformats.org/presentationml/2006/ole">
            <mc:AlternateContent xmlns:mc="http://schemas.openxmlformats.org/markup-compatibility/2006">
              <mc:Choice xmlns:v="urn:schemas-microsoft-com:vml" Requires="v">
                <p:oleObj spid="_x0000_s27701" r:id="rId9" imgW="1168400" imgH="419100" progId="Equation.3">
                  <p:embed/>
                </p:oleObj>
              </mc:Choice>
              <mc:Fallback>
                <p:oleObj r:id="rId9" imgW="1168400" imgH="419100" progId="Equation.3">
                  <p:embed/>
                  <p:pic>
                    <p:nvPicPr>
                      <p:cNvPr id="0" name="图片 3129"/>
                      <p:cNvPicPr/>
                      <p:nvPr/>
                    </p:nvPicPr>
                    <p:blipFill>
                      <a:blip r:embed="rId10"/>
                      <a:stretch>
                        <a:fillRect/>
                      </a:stretch>
                    </p:blipFill>
                    <p:spPr>
                      <a:xfrm>
                        <a:off x="4833938" y="1052513"/>
                        <a:ext cx="3482975" cy="1016000"/>
                      </a:xfrm>
                      <a:prstGeom prst="rect">
                        <a:avLst/>
                      </a:prstGeom>
                      <a:noFill/>
                      <a:ln w="38100">
                        <a:noFill/>
                        <a:miter/>
                      </a:ln>
                    </p:spPr>
                  </p:pic>
                </p:oleObj>
              </mc:Fallback>
            </mc:AlternateContent>
          </a:graphicData>
        </a:graphic>
      </p:graphicFrame>
      <p:graphicFrame>
        <p:nvGraphicFramePr>
          <p:cNvPr id="1444872" name="对象 1444871"/>
          <p:cNvGraphicFramePr/>
          <p:nvPr/>
        </p:nvGraphicFramePr>
        <p:xfrm>
          <a:off x="701675" y="1989138"/>
          <a:ext cx="4375150" cy="1028700"/>
        </p:xfrm>
        <a:graphic>
          <a:graphicData uri="http://schemas.openxmlformats.org/presentationml/2006/ole">
            <mc:AlternateContent xmlns:mc="http://schemas.openxmlformats.org/markup-compatibility/2006">
              <mc:Choice xmlns:v="urn:schemas-microsoft-com:vml" Requires="v">
                <p:oleObj spid="_x0000_s27702" r:id="rId11" imgW="1943100" imgH="457200" progId="Equation.3">
                  <p:embed/>
                </p:oleObj>
              </mc:Choice>
              <mc:Fallback>
                <p:oleObj r:id="rId11" imgW="1943100" imgH="457200" progId="Equation.3">
                  <p:embed/>
                  <p:pic>
                    <p:nvPicPr>
                      <p:cNvPr id="0" name="图片 3130"/>
                      <p:cNvPicPr/>
                      <p:nvPr/>
                    </p:nvPicPr>
                    <p:blipFill>
                      <a:blip r:embed="rId12"/>
                      <a:stretch>
                        <a:fillRect/>
                      </a:stretch>
                    </p:blipFill>
                    <p:spPr>
                      <a:xfrm>
                        <a:off x="701675" y="1989138"/>
                        <a:ext cx="4375150" cy="1028700"/>
                      </a:xfrm>
                      <a:prstGeom prst="rect">
                        <a:avLst/>
                      </a:prstGeom>
                      <a:noFill/>
                      <a:ln w="38100">
                        <a:noFill/>
                        <a:miter/>
                      </a:ln>
                    </p:spPr>
                  </p:pic>
                </p:oleObj>
              </mc:Fallback>
            </mc:AlternateContent>
          </a:graphicData>
        </a:graphic>
      </p:graphicFrame>
      <p:graphicFrame>
        <p:nvGraphicFramePr>
          <p:cNvPr id="1444873" name="对象 1444872"/>
          <p:cNvGraphicFramePr/>
          <p:nvPr/>
        </p:nvGraphicFramePr>
        <p:xfrm>
          <a:off x="827088" y="2924175"/>
          <a:ext cx="7034212" cy="971550"/>
        </p:xfrm>
        <a:graphic>
          <a:graphicData uri="http://schemas.openxmlformats.org/presentationml/2006/ole">
            <mc:AlternateContent xmlns:mc="http://schemas.openxmlformats.org/markup-compatibility/2006">
              <mc:Choice xmlns:v="urn:schemas-microsoft-com:vml" Requires="v">
                <p:oleObj spid="_x0000_s27703" r:id="rId13" imgW="3122930" imgH="431800" progId="Equation.3">
                  <p:embed/>
                </p:oleObj>
              </mc:Choice>
              <mc:Fallback>
                <p:oleObj r:id="rId13" imgW="3122930" imgH="431800" progId="Equation.3">
                  <p:embed/>
                  <p:pic>
                    <p:nvPicPr>
                      <p:cNvPr id="0" name="图片 3131"/>
                      <p:cNvPicPr/>
                      <p:nvPr/>
                    </p:nvPicPr>
                    <p:blipFill>
                      <a:blip r:embed="rId14"/>
                      <a:stretch>
                        <a:fillRect/>
                      </a:stretch>
                    </p:blipFill>
                    <p:spPr>
                      <a:xfrm>
                        <a:off x="827088" y="2924175"/>
                        <a:ext cx="7034212" cy="971550"/>
                      </a:xfrm>
                      <a:prstGeom prst="rect">
                        <a:avLst/>
                      </a:prstGeom>
                      <a:noFill/>
                      <a:ln w="38100">
                        <a:noFill/>
                        <a:miter/>
                      </a:ln>
                    </p:spPr>
                  </p:pic>
                </p:oleObj>
              </mc:Fallback>
            </mc:AlternateContent>
          </a:graphicData>
        </a:graphic>
      </p:graphicFrame>
      <p:grpSp>
        <p:nvGrpSpPr>
          <p:cNvPr id="1444875" name="组合 1444874"/>
          <p:cNvGrpSpPr/>
          <p:nvPr/>
        </p:nvGrpSpPr>
        <p:grpSpPr>
          <a:xfrm>
            <a:off x="5795963" y="3860800"/>
            <a:ext cx="2979737" cy="2182813"/>
            <a:chOff x="253" y="877"/>
            <a:chExt cx="2550" cy="1872"/>
          </a:xfrm>
        </p:grpSpPr>
        <p:grpSp>
          <p:nvGrpSpPr>
            <p:cNvPr id="39949" name="组合 1444875"/>
            <p:cNvGrpSpPr/>
            <p:nvPr/>
          </p:nvGrpSpPr>
          <p:grpSpPr>
            <a:xfrm>
              <a:off x="253" y="877"/>
              <a:ext cx="2550" cy="1872"/>
              <a:chOff x="265" y="925"/>
              <a:chExt cx="2550" cy="1872"/>
            </a:xfrm>
          </p:grpSpPr>
          <p:sp>
            <p:nvSpPr>
              <p:cNvPr id="39952" name="文本框 1444876"/>
              <p:cNvSpPr txBox="1"/>
              <p:nvPr/>
            </p:nvSpPr>
            <p:spPr>
              <a:xfrm>
                <a:off x="529" y="2092"/>
                <a:ext cx="345" cy="705"/>
              </a:xfrm>
              <a:prstGeom prst="rect">
                <a:avLst/>
              </a:prstGeom>
              <a:noFill/>
              <a:ln w="9525">
                <a:noFill/>
              </a:ln>
            </p:spPr>
            <p:txBody>
              <a:bodyPr>
                <a:spAutoFit/>
              </a:bodyPr>
              <a:lstStyle/>
              <a:p>
                <a:r>
                  <a:rPr lang="zh-CN" altLang="en-US" sz="2400" b="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rPr>
                  <a:t>0     </a:t>
                </a:r>
                <a:endParaRPr lang="en-US" altLang="zh-CN" sz="2400" i="1" dirty="0">
                  <a:solidFill>
                    <a:schemeClr val="tx1"/>
                  </a:solidFill>
                  <a:latin typeface="Times New Roman" panose="02020603050405020304" pitchFamily="18" charset="0"/>
                </a:endParaRPr>
              </a:p>
            </p:txBody>
          </p:sp>
          <p:grpSp>
            <p:nvGrpSpPr>
              <p:cNvPr id="39953" name="组合 1444877"/>
              <p:cNvGrpSpPr/>
              <p:nvPr/>
            </p:nvGrpSpPr>
            <p:grpSpPr>
              <a:xfrm>
                <a:off x="577" y="925"/>
                <a:ext cx="2238" cy="1694"/>
                <a:chOff x="1190" y="-33"/>
                <a:chExt cx="2787" cy="2176"/>
              </a:xfrm>
            </p:grpSpPr>
            <p:sp>
              <p:nvSpPr>
                <p:cNvPr id="39958" name="直接连接符 1444878"/>
                <p:cNvSpPr/>
                <p:nvPr/>
              </p:nvSpPr>
              <p:spPr>
                <a:xfrm flipV="1">
                  <a:off x="1251" y="66"/>
                  <a:ext cx="0" cy="1704"/>
                </a:xfrm>
                <a:prstGeom prst="line">
                  <a:avLst/>
                </a:prstGeom>
                <a:ln w="57150" cap="sq" cmpd="sng">
                  <a:solidFill>
                    <a:schemeClr val="tx1"/>
                  </a:solidFill>
                  <a:prstDash val="solid"/>
                  <a:headEnd type="none" w="med" len="med"/>
                  <a:tailEnd type="triangle" w="med" len="med"/>
                </a:ln>
              </p:spPr>
            </p:sp>
            <p:sp>
              <p:nvSpPr>
                <p:cNvPr id="39959" name="直接连接符 1444879"/>
                <p:cNvSpPr/>
                <p:nvPr/>
              </p:nvSpPr>
              <p:spPr>
                <a:xfrm>
                  <a:off x="1242" y="1788"/>
                  <a:ext cx="2448" cy="0"/>
                </a:xfrm>
                <a:prstGeom prst="line">
                  <a:avLst/>
                </a:prstGeom>
                <a:ln w="57150" cap="sq" cmpd="sng">
                  <a:solidFill>
                    <a:schemeClr val="tx1"/>
                  </a:solidFill>
                  <a:prstDash val="solid"/>
                  <a:headEnd type="none" w="med" len="med"/>
                  <a:tailEnd type="triangle" w="med" len="med"/>
                </a:ln>
              </p:spPr>
            </p:sp>
            <p:sp>
              <p:nvSpPr>
                <p:cNvPr id="39960" name="矩形 1444880"/>
                <p:cNvSpPr/>
                <p:nvPr/>
              </p:nvSpPr>
              <p:spPr>
                <a:xfrm>
                  <a:off x="3691" y="1639"/>
                  <a:ext cx="286" cy="504"/>
                </a:xfrm>
                <a:prstGeom prst="rect">
                  <a:avLst/>
                </a:prstGeom>
                <a:noFill/>
                <a:ln w="9525">
                  <a:noFill/>
                </a:ln>
              </p:spPr>
              <p:txBody>
                <a:bodyPr wrap="none">
                  <a:spAutoFit/>
                </a:bodyPr>
                <a:lstStyle/>
                <a:p>
                  <a:pPr algn="ctr"/>
                  <a:r>
                    <a:rPr lang="en-US" altLang="zh-CN" sz="2400" i="1" dirty="0">
                      <a:solidFill>
                        <a:schemeClr val="tx1"/>
                      </a:solidFill>
                      <a:latin typeface="Times New Roman" panose="02020603050405020304" pitchFamily="18" charset="0"/>
                    </a:rPr>
                    <a:t>t</a:t>
                  </a:r>
                </a:p>
              </p:txBody>
            </p:sp>
            <p:sp>
              <p:nvSpPr>
                <p:cNvPr id="39961" name="矩形 1444881"/>
                <p:cNvSpPr/>
                <p:nvPr/>
              </p:nvSpPr>
              <p:spPr>
                <a:xfrm>
                  <a:off x="1190" y="-33"/>
                  <a:ext cx="646" cy="504"/>
                </a:xfrm>
                <a:prstGeom prst="rect">
                  <a:avLst/>
                </a:prstGeom>
                <a:noFill/>
                <a:ln w="9525">
                  <a:noFill/>
                </a:ln>
              </p:spPr>
              <p:txBody>
                <a:bodyPr wrap="none">
                  <a:spAutoFit/>
                </a:bodyPr>
                <a:lstStyle/>
                <a:p>
                  <a:pPr algn="ct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p>
              </p:txBody>
            </p:sp>
          </p:grpSp>
          <p:sp>
            <p:nvSpPr>
              <p:cNvPr id="39954" name="直接连接符 1444882"/>
              <p:cNvSpPr/>
              <p:nvPr/>
            </p:nvSpPr>
            <p:spPr>
              <a:xfrm>
                <a:off x="653" y="1325"/>
                <a:ext cx="2133" cy="0"/>
              </a:xfrm>
              <a:prstGeom prst="line">
                <a:avLst/>
              </a:prstGeom>
              <a:ln w="57150" cap="flat" cmpd="sng">
                <a:solidFill>
                  <a:schemeClr val="tx1"/>
                </a:solidFill>
                <a:prstDash val="solid"/>
                <a:headEnd type="none" w="med" len="med"/>
                <a:tailEnd type="none" w="med" len="med"/>
              </a:ln>
            </p:spPr>
          </p:sp>
          <p:sp>
            <p:nvSpPr>
              <p:cNvPr id="39955" name="任意多边形 1444883"/>
              <p:cNvSpPr/>
              <p:nvPr/>
            </p:nvSpPr>
            <p:spPr>
              <a:xfrm>
                <a:off x="639" y="1347"/>
                <a:ext cx="1941" cy="995"/>
              </a:xfrm>
              <a:custGeom>
                <a:avLst/>
                <a:gdLst/>
                <a:ahLst/>
                <a:cxnLst>
                  <a:cxn ang="0">
                    <a:pos x="0" y="905"/>
                  </a:cxn>
                  <a:cxn ang="0">
                    <a:pos x="183" y="585"/>
                  </a:cxn>
                  <a:cxn ang="0">
                    <a:pos x="409" y="321"/>
                  </a:cxn>
                  <a:cxn ang="0">
                    <a:pos x="794" y="104"/>
                  </a:cxn>
                  <a:cxn ang="0">
                    <a:pos x="1181" y="38"/>
                  </a:cxn>
                  <a:cxn ang="0">
                    <a:pos x="1544" y="10"/>
                  </a:cxn>
                  <a:cxn ang="0">
                    <a:pos x="1998" y="0"/>
                  </a:cxn>
                </a:cxnLst>
                <a:rect l="0" t="0" r="0" b="0"/>
                <a:pathLst>
                  <a:path w="1913" h="1043">
                    <a:moveTo>
                      <a:pt x="0" y="1043"/>
                    </a:moveTo>
                    <a:cubicBezTo>
                      <a:pt x="54" y="914"/>
                      <a:pt x="109" y="786"/>
                      <a:pt x="174" y="674"/>
                    </a:cubicBezTo>
                    <a:cubicBezTo>
                      <a:pt x="239" y="562"/>
                      <a:pt x="293" y="462"/>
                      <a:pt x="391" y="370"/>
                    </a:cubicBezTo>
                    <a:cubicBezTo>
                      <a:pt x="489" y="278"/>
                      <a:pt x="638" y="174"/>
                      <a:pt x="761" y="120"/>
                    </a:cubicBezTo>
                    <a:cubicBezTo>
                      <a:pt x="884" y="66"/>
                      <a:pt x="1011" y="62"/>
                      <a:pt x="1130" y="44"/>
                    </a:cubicBezTo>
                    <a:cubicBezTo>
                      <a:pt x="1249" y="26"/>
                      <a:pt x="1348" y="18"/>
                      <a:pt x="1478" y="11"/>
                    </a:cubicBezTo>
                    <a:cubicBezTo>
                      <a:pt x="1608" y="4"/>
                      <a:pt x="1832" y="2"/>
                      <a:pt x="1913" y="0"/>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sp>
            <p:nvSpPr>
              <p:cNvPr id="39956" name="椭圆 1444884"/>
              <p:cNvSpPr/>
              <p:nvPr/>
            </p:nvSpPr>
            <p:spPr>
              <a:xfrm>
                <a:off x="2081" y="1313"/>
                <a:ext cx="87" cy="84"/>
              </a:xfrm>
              <a:prstGeom prst="ellipse">
                <a:avLst/>
              </a:prstGeom>
              <a:solidFill>
                <a:srgbClr val="993300"/>
              </a:solidFill>
              <a:ln w="9525" cap="sq" cmpd="sng">
                <a:solidFill>
                  <a:srgbClr val="9933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39957" name="文本框 1444885"/>
              <p:cNvSpPr txBox="1"/>
              <p:nvPr/>
            </p:nvSpPr>
            <p:spPr>
              <a:xfrm>
                <a:off x="265" y="1203"/>
                <a:ext cx="395" cy="268"/>
              </a:xfrm>
              <a:prstGeom prst="rect">
                <a:avLst/>
              </a:prstGeom>
              <a:noFill/>
              <a:ln w="9525">
                <a:noFill/>
              </a:ln>
            </p:spPr>
            <p:txBody>
              <a:bodyPr>
                <a:spAutoFit/>
              </a:bodyPr>
              <a:lstStyle/>
              <a:p>
                <a:pPr>
                  <a:lnSpc>
                    <a:spcPct val="90000"/>
                  </a:lnSpc>
                </a:pPr>
                <a:r>
                  <a:rPr lang="en-US" altLang="zh-CN" sz="1600" dirty="0">
                    <a:solidFill>
                      <a:schemeClr val="tx1"/>
                    </a:solidFill>
                    <a:latin typeface="Times New Roman" panose="02020603050405020304" pitchFamily="18" charset="0"/>
                  </a:rPr>
                  <a:t>1.0</a:t>
                </a:r>
              </a:p>
            </p:txBody>
          </p:sp>
        </p:grpSp>
        <p:sp>
          <p:nvSpPr>
            <p:cNvPr id="39950" name="直接连接符 1444886"/>
            <p:cNvSpPr/>
            <p:nvPr/>
          </p:nvSpPr>
          <p:spPr>
            <a:xfrm>
              <a:off x="2109" y="1298"/>
              <a:ext cx="0" cy="998"/>
            </a:xfrm>
            <a:prstGeom prst="line">
              <a:avLst/>
            </a:prstGeom>
            <a:ln w="28575" cap="flat" cmpd="sng">
              <a:solidFill>
                <a:schemeClr val="tx1"/>
              </a:solidFill>
              <a:prstDash val="sysDot"/>
              <a:headEnd type="none" w="med" len="med"/>
              <a:tailEnd type="none" w="med" len="med"/>
            </a:ln>
          </p:spPr>
        </p:sp>
        <p:sp>
          <p:nvSpPr>
            <p:cNvPr id="39951" name="文本框 1444887"/>
            <p:cNvSpPr txBox="1"/>
            <p:nvPr/>
          </p:nvSpPr>
          <p:spPr>
            <a:xfrm>
              <a:off x="1973" y="2252"/>
              <a:ext cx="499" cy="340"/>
            </a:xfrm>
            <a:prstGeom prst="rect">
              <a:avLst/>
            </a:prstGeom>
            <a:noFill/>
            <a:ln w="9525">
              <a:noFill/>
            </a:ln>
          </p:spPr>
          <p:txBody>
            <a:bodyPr>
              <a:spAutoFit/>
            </a:bodyPr>
            <a:lstStyle/>
            <a:p>
              <a:pPr marL="342900" indent="-342900">
                <a:buFont typeface="Wingdings" panose="05000000000000000000" pitchFamily="2" charset="2"/>
              </a:pPr>
              <a:r>
                <a:rPr lang="en-US" altLang="zh-CN" sz="2000" i="1" dirty="0">
                  <a:latin typeface="Times New Roman" panose="02020603050405020304" pitchFamily="18" charset="0"/>
                </a:rPr>
                <a:t>ts</a:t>
              </a:r>
            </a:p>
          </p:txBody>
        </p:sp>
      </p:grpSp>
      <p:graphicFrame>
        <p:nvGraphicFramePr>
          <p:cNvPr id="1444896" name="对象 1444895"/>
          <p:cNvGraphicFramePr/>
          <p:nvPr/>
        </p:nvGraphicFramePr>
        <p:xfrm>
          <a:off x="5795963" y="2133600"/>
          <a:ext cx="1255712" cy="852488"/>
        </p:xfrm>
        <a:graphic>
          <a:graphicData uri="http://schemas.openxmlformats.org/presentationml/2006/ole">
            <mc:AlternateContent xmlns:mc="http://schemas.openxmlformats.org/markup-compatibility/2006">
              <mc:Choice xmlns:v="urn:schemas-microsoft-com:vml" Requires="v">
                <p:oleObj spid="_x0000_s27704" r:id="rId15" imgW="635000" imgH="431800" progId="Equation.3">
                  <p:embed/>
                </p:oleObj>
              </mc:Choice>
              <mc:Fallback>
                <p:oleObj r:id="rId15" imgW="635000" imgH="431800" progId="Equation.3">
                  <p:embed/>
                  <p:pic>
                    <p:nvPicPr>
                      <p:cNvPr id="0" name="图片 3137"/>
                      <p:cNvPicPr/>
                      <p:nvPr/>
                    </p:nvPicPr>
                    <p:blipFill>
                      <a:blip r:embed="rId16"/>
                      <a:stretch>
                        <a:fillRect/>
                      </a:stretch>
                    </p:blipFill>
                    <p:spPr>
                      <a:xfrm>
                        <a:off x="5795963" y="2133600"/>
                        <a:ext cx="1255712" cy="852488"/>
                      </a:xfrm>
                      <a:prstGeom prst="rect">
                        <a:avLst/>
                      </a:prstGeom>
                      <a:noFill/>
                      <a:ln w="38100">
                        <a:noFill/>
                        <a:miter/>
                      </a:ln>
                    </p:spPr>
                  </p:pic>
                </p:oleObj>
              </mc:Fallback>
            </mc:AlternateContent>
          </a:graphicData>
        </a:graphic>
      </p:graphicFrame>
      <p:sp>
        <p:nvSpPr>
          <p:cNvPr id="26" name="Freeform 56">
            <a:extLst>
              <a:ext uri="{FF2B5EF4-FFF2-40B4-BE49-F238E27FC236}">
                <a16:creationId xmlns:a16="http://schemas.microsoft.com/office/drawing/2014/main" id="{6E729707-F86F-4691-9519-5289C1C239E4}"/>
              </a:ext>
            </a:extLst>
          </p:cNvPr>
          <p:cNvSpPr>
            <a:spLocks/>
          </p:cNvSpPr>
          <p:nvPr/>
        </p:nvSpPr>
        <p:spPr bwMode="auto">
          <a:xfrm>
            <a:off x="1115617" y="52977"/>
            <a:ext cx="3793566" cy="539161"/>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4866">
                                            <p:txEl>
                                              <p:pRg st="0" end="0"/>
                                            </p:txEl>
                                          </p:spTgt>
                                        </p:tgtEl>
                                        <p:attrNameLst>
                                          <p:attrName>style.visibility</p:attrName>
                                        </p:attrNameLst>
                                      </p:cBhvr>
                                      <p:to>
                                        <p:strVal val="visible"/>
                                      </p:to>
                                    </p:set>
                                    <p:anim calcmode="lin" valueType="num">
                                      <p:cBhvr additive="base">
                                        <p:cTn id="7" dur="500" fill="hold"/>
                                        <p:tgtEl>
                                          <p:spTgt spid="14448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48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44867"/>
                                        </p:tgtEl>
                                        <p:attrNameLst>
                                          <p:attrName>style.visibility</p:attrName>
                                        </p:attrNameLst>
                                      </p:cBhvr>
                                      <p:to>
                                        <p:strVal val="visible"/>
                                      </p:to>
                                    </p:set>
                                    <p:animEffect transition="in" filter="dissolve">
                                      <p:cBhvr>
                                        <p:cTn id="13" dur="500"/>
                                        <p:tgtEl>
                                          <p:spTgt spid="144486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44870"/>
                                        </p:tgtEl>
                                        <p:attrNameLst>
                                          <p:attrName>style.visibility</p:attrName>
                                        </p:attrNameLst>
                                      </p:cBhvr>
                                      <p:to>
                                        <p:strVal val="visible"/>
                                      </p:to>
                                    </p:set>
                                    <p:animEffect transition="in" filter="dissolve">
                                      <p:cBhvr>
                                        <p:cTn id="18" dur="500"/>
                                        <p:tgtEl>
                                          <p:spTgt spid="144487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44871"/>
                                        </p:tgtEl>
                                        <p:attrNameLst>
                                          <p:attrName>style.visibility</p:attrName>
                                        </p:attrNameLst>
                                      </p:cBhvr>
                                      <p:to>
                                        <p:strVal val="visible"/>
                                      </p:to>
                                    </p:set>
                                    <p:animEffect transition="in" filter="dissolve">
                                      <p:cBhvr>
                                        <p:cTn id="23" dur="500"/>
                                        <p:tgtEl>
                                          <p:spTgt spid="1444871"/>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444872"/>
                                        </p:tgtEl>
                                        <p:attrNameLst>
                                          <p:attrName>style.visibility</p:attrName>
                                        </p:attrNameLst>
                                      </p:cBhvr>
                                      <p:to>
                                        <p:strVal val="visible"/>
                                      </p:to>
                                    </p:set>
                                    <p:animEffect transition="in" filter="dissolve">
                                      <p:cBhvr>
                                        <p:cTn id="28" dur="500"/>
                                        <p:tgtEl>
                                          <p:spTgt spid="144487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444896"/>
                                        </p:tgtEl>
                                        <p:attrNameLst>
                                          <p:attrName>style.visibility</p:attrName>
                                        </p:attrNameLst>
                                      </p:cBhvr>
                                      <p:to>
                                        <p:strVal val="visible"/>
                                      </p:to>
                                    </p:set>
                                    <p:anim calcmode="lin" valueType="num">
                                      <p:cBhvr additive="base">
                                        <p:cTn id="33" dur="500" fill="hold"/>
                                        <p:tgtEl>
                                          <p:spTgt spid="1444896"/>
                                        </p:tgtEl>
                                        <p:attrNameLst>
                                          <p:attrName>ppt_x</p:attrName>
                                        </p:attrNameLst>
                                      </p:cBhvr>
                                      <p:tavLst>
                                        <p:tav tm="0">
                                          <p:val>
                                            <p:strVal val="#ppt_x"/>
                                          </p:val>
                                        </p:tav>
                                        <p:tav tm="100000">
                                          <p:val>
                                            <p:strVal val="#ppt_x"/>
                                          </p:val>
                                        </p:tav>
                                      </p:tavLst>
                                    </p:anim>
                                    <p:anim calcmode="lin" valueType="num">
                                      <p:cBhvr additive="base">
                                        <p:cTn id="34" dur="500" fill="hold"/>
                                        <p:tgtEl>
                                          <p:spTgt spid="144489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444873"/>
                                        </p:tgtEl>
                                        <p:attrNameLst>
                                          <p:attrName>style.visibility</p:attrName>
                                        </p:attrNameLst>
                                      </p:cBhvr>
                                      <p:to>
                                        <p:strVal val="visible"/>
                                      </p:to>
                                    </p:set>
                                    <p:animEffect transition="in" filter="dissolve">
                                      <p:cBhvr>
                                        <p:cTn id="39" dur="500"/>
                                        <p:tgtEl>
                                          <p:spTgt spid="1444873"/>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444869"/>
                                        </p:tgtEl>
                                        <p:attrNameLst>
                                          <p:attrName>style.visibility</p:attrName>
                                        </p:attrNameLst>
                                      </p:cBhvr>
                                      <p:to>
                                        <p:strVal val="visible"/>
                                      </p:to>
                                    </p:set>
                                    <p:animEffect transition="in" filter="dissolve">
                                      <p:cBhvr>
                                        <p:cTn id="44" dur="500"/>
                                        <p:tgtEl>
                                          <p:spTgt spid="1444869"/>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44868"/>
                                        </p:tgtEl>
                                        <p:attrNameLst>
                                          <p:attrName>style.visibility</p:attrName>
                                        </p:attrNameLst>
                                      </p:cBhvr>
                                      <p:to>
                                        <p:strVal val="visible"/>
                                      </p:to>
                                    </p:set>
                                    <p:anim calcmode="lin" valueType="num">
                                      <p:cBhvr additive="base">
                                        <p:cTn id="49" dur="500" fill="hold"/>
                                        <p:tgtEl>
                                          <p:spTgt spid="1444868"/>
                                        </p:tgtEl>
                                        <p:attrNameLst>
                                          <p:attrName>ppt_x</p:attrName>
                                        </p:attrNameLst>
                                      </p:cBhvr>
                                      <p:tavLst>
                                        <p:tav tm="0">
                                          <p:val>
                                            <p:strVal val="0-#ppt_w/2"/>
                                          </p:val>
                                        </p:tav>
                                        <p:tav tm="100000">
                                          <p:val>
                                            <p:strVal val="#ppt_x"/>
                                          </p:val>
                                        </p:tav>
                                      </p:tavLst>
                                    </p:anim>
                                    <p:anim calcmode="lin" valueType="num">
                                      <p:cBhvr additive="base">
                                        <p:cTn id="50" dur="500" fill="hold"/>
                                        <p:tgtEl>
                                          <p:spTgt spid="144486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nodeType="clickEffect">
                                  <p:stCondLst>
                                    <p:cond delay="0"/>
                                  </p:stCondLst>
                                  <p:childTnLst>
                                    <p:set>
                                      <p:cBhvr>
                                        <p:cTn id="54" dur="1" fill="hold">
                                          <p:stCondLst>
                                            <p:cond delay="0"/>
                                          </p:stCondLst>
                                        </p:cTn>
                                        <p:tgtEl>
                                          <p:spTgt spid="1444875"/>
                                        </p:tgtEl>
                                        <p:attrNameLst>
                                          <p:attrName>style.visibility</p:attrName>
                                        </p:attrNameLst>
                                      </p:cBhvr>
                                      <p:to>
                                        <p:strVal val="visible"/>
                                      </p:to>
                                    </p:set>
                                    <p:animEffect transition="in" filter="circle(in)">
                                      <p:cBhvr>
                                        <p:cTn id="55" dur="2000"/>
                                        <p:tgtEl>
                                          <p:spTgt spid="1444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866" grpId="0" build="p"/>
      <p:bldP spid="144486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892" name="内容占位符 1445891"/>
          <p:cNvSpPr>
            <a:spLocks noGrp="1"/>
          </p:cNvSpPr>
          <p:nvPr>
            <p:ph idx="4294967295"/>
          </p:nvPr>
        </p:nvSpPr>
        <p:spPr>
          <a:xfrm>
            <a:off x="1187624" y="0"/>
            <a:ext cx="6248400" cy="609600"/>
          </a:xfrm>
          <a:ln w="12700"/>
        </p:spPr>
        <p:txBody>
          <a:bodyPr vert="horz" wrap="square" lIns="91440" tIns="45720" rIns="91440" bIns="45720" anchor="t" anchorCtr="0"/>
          <a:lstStyle/>
          <a:p>
            <a:pPr eaLnBrk="1" hangingPunct="1">
              <a:buFont typeface="Wingdings" panose="05000000000000000000" pitchFamily="2" charset="2"/>
              <a:buNone/>
            </a:pPr>
            <a:r>
              <a:rPr lang="zh-CN" altLang="en-US" b="1" dirty="0"/>
              <a:t>（</a:t>
            </a:r>
            <a:r>
              <a:rPr lang="en-US" altLang="zh-CN" b="1" dirty="0"/>
              <a:t>5</a:t>
            </a:r>
            <a:r>
              <a:rPr lang="zh-CN" altLang="en-US" b="1" dirty="0"/>
              <a:t>）</a:t>
            </a:r>
            <a:r>
              <a:rPr lang="zh-CN" altLang="en-US" sz="2800" b="1" dirty="0">
                <a:latin typeface="华文新魏" panose="02010800040101010101" pitchFamily="2" charset="-122"/>
                <a:ea typeface="华文新魏" panose="02010800040101010101" pitchFamily="2" charset="-122"/>
              </a:rPr>
              <a:t>不稳定系统</a:t>
            </a:r>
            <a:r>
              <a:rPr lang="zh-CN" altLang="en-US" b="1" dirty="0"/>
              <a:t> </a:t>
            </a:r>
            <a:r>
              <a:rPr lang="en-US" altLang="zh-CN" b="1" i="1" dirty="0">
                <a:solidFill>
                  <a:srgbClr val="FF0000"/>
                </a:solidFill>
                <a:latin typeface="Times New Roman" panose="02020603050405020304" pitchFamily="18" charset="0"/>
              </a:rPr>
              <a:t>ξ&lt;0</a:t>
            </a:r>
          </a:p>
        </p:txBody>
      </p:sp>
      <p:sp>
        <p:nvSpPr>
          <p:cNvPr id="1445894" name="文本框 1445893"/>
          <p:cNvSpPr txBox="1"/>
          <p:nvPr/>
        </p:nvSpPr>
        <p:spPr>
          <a:xfrm>
            <a:off x="-81422" y="1484784"/>
            <a:ext cx="9306843" cy="3344570"/>
          </a:xfrm>
          <a:prstGeom prst="rect">
            <a:avLst/>
          </a:prstGeom>
          <a:noFill/>
          <a:ln w="9525">
            <a:noFill/>
          </a:ln>
        </p:spPr>
        <p:txBody>
          <a:bodyPr wrap="square">
            <a:spAutoFit/>
          </a:bodyPr>
          <a:lstStyle/>
          <a:p>
            <a:pPr marL="342900" indent="-342900">
              <a:buFont typeface="Wingdings" panose="05000000000000000000" pitchFamily="2" charset="2"/>
            </a:pPr>
            <a:r>
              <a:rPr lang="zh-CN" altLang="en-US" sz="2400" dirty="0">
                <a:latin typeface="Arial" panose="020B0604020202020204" pitchFamily="34" charset="0"/>
              </a:rPr>
              <a:t>总结：</a:t>
            </a:r>
          </a:p>
          <a:p>
            <a:pPr marL="342900" indent="-342900">
              <a:buFont typeface="Wingdings" panose="05000000000000000000" pitchFamily="2" charset="2"/>
            </a:pPr>
            <a:r>
              <a:rPr lang="zh-CN" altLang="en-US" sz="2400" dirty="0">
                <a:latin typeface="Arial" panose="020B0604020202020204" pitchFamily="34" charset="0"/>
              </a:rPr>
              <a:t>           </a:t>
            </a:r>
            <a:r>
              <a:rPr lang="en-US" altLang="zh-CN" sz="2400" dirty="0">
                <a:latin typeface="Arial" panose="020B0604020202020204" pitchFamily="34" charset="0"/>
              </a:rPr>
              <a:t>1</a:t>
            </a:r>
            <a:r>
              <a:rPr lang="zh-CN" altLang="en-US" sz="2400" dirty="0"/>
              <a:t>      </a:t>
            </a:r>
            <a:r>
              <a:rPr lang="en-US" altLang="zh-CN" sz="2400" i="1" dirty="0">
                <a:solidFill>
                  <a:srgbClr val="FF0000"/>
                </a:solidFill>
                <a:latin typeface="Arial" panose="020B0604020202020204" pitchFamily="34" charset="0"/>
              </a:rPr>
              <a:t>ξ&lt;0</a:t>
            </a:r>
            <a:r>
              <a:rPr lang="zh-CN" altLang="en-US" sz="2400" dirty="0">
                <a:solidFill>
                  <a:schemeClr val="tx1"/>
                </a:solidFill>
                <a:latin typeface="Arial" panose="020B0604020202020204" pitchFamily="34" charset="0"/>
              </a:rPr>
              <a:t>时，响应发散，系统不稳定；</a:t>
            </a:r>
          </a:p>
          <a:p>
            <a:pPr marL="342900" indent="-342900">
              <a:buFont typeface="Wingdings" panose="05000000000000000000" pitchFamily="2" charset="2"/>
            </a:pPr>
            <a:r>
              <a:rPr lang="zh-CN" altLang="en-US" sz="2400" dirty="0">
                <a:latin typeface="Arial" panose="020B0604020202020204" pitchFamily="34" charset="0"/>
              </a:rPr>
              <a:t>           </a:t>
            </a:r>
            <a:r>
              <a:rPr lang="en-US" altLang="zh-CN" sz="2400" dirty="0">
                <a:latin typeface="Arial" panose="020B0604020202020204" pitchFamily="34" charset="0"/>
              </a:rPr>
              <a:t>2     </a:t>
            </a:r>
            <a:r>
              <a:rPr lang="en-US" altLang="zh-CN" sz="2400" i="1" dirty="0">
                <a:solidFill>
                  <a:srgbClr val="FF0000"/>
                </a:solidFill>
                <a:latin typeface="Arial" panose="020B0604020202020204" pitchFamily="34" charset="0"/>
              </a:rPr>
              <a:t>ξ&gt;</a:t>
            </a:r>
            <a:r>
              <a:rPr lang="zh-CN" altLang="en-US" sz="2400" i="1" dirty="0">
                <a:solidFill>
                  <a:srgbClr val="FF0000"/>
                </a:solidFill>
                <a:latin typeface="Arial" panose="020B0604020202020204" pitchFamily="34" charset="0"/>
              </a:rPr>
              <a:t>＝</a:t>
            </a:r>
            <a:r>
              <a:rPr lang="en-US" altLang="zh-CN" sz="2400" i="1" dirty="0">
                <a:solidFill>
                  <a:srgbClr val="FF0000"/>
                </a:solidFill>
                <a:latin typeface="Arial" panose="020B0604020202020204" pitchFamily="34" charset="0"/>
              </a:rPr>
              <a:t>1</a:t>
            </a:r>
            <a:r>
              <a:rPr lang="zh-CN" altLang="en-US" sz="2400" dirty="0">
                <a:solidFill>
                  <a:schemeClr val="tx1"/>
                </a:solidFill>
                <a:latin typeface="Arial" panose="020B0604020202020204" pitchFamily="34" charset="0"/>
              </a:rPr>
              <a:t>时，响应与一阶系统相似，无超调，但调节速度慢</a:t>
            </a:r>
          </a:p>
          <a:p>
            <a:pPr marL="342900" indent="-342900">
              <a:buFont typeface="Wingdings" panose="05000000000000000000" pitchFamily="2" charset="2"/>
            </a:pPr>
            <a:r>
              <a:rPr lang="zh-CN" altLang="en-US" sz="2400" dirty="0">
                <a:solidFill>
                  <a:schemeClr val="tx1"/>
                </a:solidFill>
                <a:latin typeface="Arial" panose="020B0604020202020204" pitchFamily="34" charset="0"/>
              </a:rPr>
              <a:t>           </a:t>
            </a:r>
            <a:r>
              <a:rPr lang="en-US" altLang="zh-CN" sz="2400" dirty="0">
                <a:latin typeface="Arial" panose="020B0604020202020204" pitchFamily="34" charset="0"/>
              </a:rPr>
              <a:t>3     </a:t>
            </a:r>
            <a:r>
              <a:rPr lang="en-US" altLang="zh-CN" sz="2400" i="1" dirty="0">
                <a:solidFill>
                  <a:srgbClr val="FF0000"/>
                </a:solidFill>
                <a:latin typeface="Arial" panose="020B0604020202020204" pitchFamily="34" charset="0"/>
              </a:rPr>
              <a:t>ξ</a:t>
            </a:r>
            <a:r>
              <a:rPr lang="zh-CN" altLang="en-US" sz="2400" i="1" dirty="0">
                <a:solidFill>
                  <a:srgbClr val="FF0000"/>
                </a:solidFill>
                <a:latin typeface="Arial" panose="020B0604020202020204" pitchFamily="34" charset="0"/>
              </a:rPr>
              <a:t>＝</a:t>
            </a:r>
            <a:r>
              <a:rPr lang="en-US" altLang="zh-CN" sz="2400" i="1" dirty="0">
                <a:solidFill>
                  <a:srgbClr val="FF0000"/>
                </a:solidFill>
                <a:latin typeface="Arial" panose="020B0604020202020204" pitchFamily="34" charset="0"/>
              </a:rPr>
              <a:t>0</a:t>
            </a:r>
            <a:r>
              <a:rPr lang="zh-CN" altLang="en-US" sz="2400" dirty="0">
                <a:solidFill>
                  <a:schemeClr val="tx1"/>
                </a:solidFill>
                <a:latin typeface="Arial" panose="020B0604020202020204" pitchFamily="34" charset="0"/>
              </a:rPr>
              <a:t>时，无过渡过程，直接进入稳态，响应等幅振荡；</a:t>
            </a:r>
          </a:p>
          <a:p>
            <a:pPr marL="342900" indent="-342900">
              <a:lnSpc>
                <a:spcPct val="150000"/>
              </a:lnSpc>
              <a:buFont typeface="Wingdings" panose="05000000000000000000" pitchFamily="2" charset="2"/>
            </a:pPr>
            <a:r>
              <a:rPr lang="zh-CN" altLang="en-US" sz="2400" dirty="0">
                <a:latin typeface="Arial" panose="020B0604020202020204" pitchFamily="34" charset="0"/>
              </a:rPr>
              <a:t>           </a:t>
            </a:r>
            <a:r>
              <a:rPr lang="en-US" altLang="zh-CN" sz="2400" dirty="0">
                <a:latin typeface="Arial" panose="020B0604020202020204" pitchFamily="34" charset="0"/>
              </a:rPr>
              <a:t>4</a:t>
            </a:r>
            <a:r>
              <a:rPr lang="zh-CN" altLang="en-US" sz="2400" dirty="0"/>
              <a:t>     </a:t>
            </a:r>
            <a:r>
              <a:rPr lang="en-US" altLang="zh-CN" sz="2400" dirty="0">
                <a:solidFill>
                  <a:srgbClr val="FF0000"/>
                </a:solidFill>
                <a:latin typeface="Arial" panose="020B0604020202020204" pitchFamily="34" charset="0"/>
              </a:rPr>
              <a:t>0&lt;</a:t>
            </a:r>
            <a:r>
              <a:rPr lang="en-US" altLang="zh-CN" sz="2400" i="1" dirty="0">
                <a:solidFill>
                  <a:srgbClr val="FF0000"/>
                </a:solidFill>
                <a:latin typeface="Arial" panose="020B0604020202020204" pitchFamily="34" charset="0"/>
              </a:rPr>
              <a:t>ξ&lt;1</a:t>
            </a:r>
            <a:r>
              <a:rPr lang="zh-CN" altLang="en-US" sz="2400" dirty="0">
                <a:solidFill>
                  <a:schemeClr val="tx1"/>
                </a:solidFill>
                <a:latin typeface="Arial" panose="020B0604020202020204" pitchFamily="34" charset="0"/>
              </a:rPr>
              <a:t>时，响应有超调，但上升速度快，调节时间短，合理</a:t>
            </a:r>
            <a:r>
              <a:rPr lang="en-US" altLang="zh-CN" sz="2400" i="1" dirty="0">
                <a:solidFill>
                  <a:srgbClr val="FF0000"/>
                </a:solidFill>
                <a:latin typeface="Arial" panose="020B0604020202020204" pitchFamily="34" charset="0"/>
              </a:rPr>
              <a:t>ξ</a:t>
            </a:r>
            <a:r>
              <a:rPr lang="zh-CN" altLang="en-US" sz="2400" dirty="0">
                <a:solidFill>
                  <a:schemeClr val="tx1"/>
                </a:solidFill>
                <a:latin typeface="Arial" panose="020B0604020202020204" pitchFamily="34" charset="0"/>
              </a:rPr>
              <a:t>选择可使既快又平稳。</a:t>
            </a:r>
          </a:p>
        </p:txBody>
      </p:sp>
      <p:sp>
        <p:nvSpPr>
          <p:cNvPr id="4" name="Freeform 56">
            <a:extLst>
              <a:ext uri="{FF2B5EF4-FFF2-40B4-BE49-F238E27FC236}">
                <a16:creationId xmlns:a16="http://schemas.microsoft.com/office/drawing/2014/main" id="{1EDC2778-5203-4302-BBA0-1F3CF0FED870}"/>
              </a:ext>
            </a:extLst>
          </p:cNvPr>
          <p:cNvSpPr>
            <a:spLocks/>
          </p:cNvSpPr>
          <p:nvPr/>
        </p:nvSpPr>
        <p:spPr bwMode="auto">
          <a:xfrm>
            <a:off x="1115616" y="52977"/>
            <a:ext cx="3818631" cy="633019"/>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2" name="流程图: 接点 1">
            <a:extLst>
              <a:ext uri="{FF2B5EF4-FFF2-40B4-BE49-F238E27FC236}">
                <a16:creationId xmlns:a16="http://schemas.microsoft.com/office/drawing/2014/main" id="{76168BE6-2AED-4DB1-B8AF-663446AC7D92}"/>
              </a:ext>
            </a:extLst>
          </p:cNvPr>
          <p:cNvSpPr/>
          <p:nvPr/>
        </p:nvSpPr>
        <p:spPr>
          <a:xfrm>
            <a:off x="755576" y="2060848"/>
            <a:ext cx="504056" cy="504056"/>
          </a:xfrm>
          <a:prstGeom prst="flowChartConnector">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noFill/>
            </a:endParaRPr>
          </a:p>
        </p:txBody>
      </p:sp>
      <p:sp>
        <p:nvSpPr>
          <p:cNvPr id="7" name="流程图: 接点 6">
            <a:extLst>
              <a:ext uri="{FF2B5EF4-FFF2-40B4-BE49-F238E27FC236}">
                <a16:creationId xmlns:a16="http://schemas.microsoft.com/office/drawing/2014/main" id="{629B1D3B-509E-41D0-94EB-45AEF5E520EA}"/>
              </a:ext>
            </a:extLst>
          </p:cNvPr>
          <p:cNvSpPr/>
          <p:nvPr/>
        </p:nvSpPr>
        <p:spPr>
          <a:xfrm>
            <a:off x="755576" y="2624573"/>
            <a:ext cx="504056" cy="504056"/>
          </a:xfrm>
          <a:prstGeom prst="flowChartConnector">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noFill/>
            </a:endParaRPr>
          </a:p>
        </p:txBody>
      </p:sp>
      <p:sp>
        <p:nvSpPr>
          <p:cNvPr id="8" name="流程图: 接点 7">
            <a:extLst>
              <a:ext uri="{FF2B5EF4-FFF2-40B4-BE49-F238E27FC236}">
                <a16:creationId xmlns:a16="http://schemas.microsoft.com/office/drawing/2014/main" id="{EAD18772-A15F-429F-9DED-B441150DB446}"/>
              </a:ext>
            </a:extLst>
          </p:cNvPr>
          <p:cNvSpPr/>
          <p:nvPr/>
        </p:nvSpPr>
        <p:spPr>
          <a:xfrm>
            <a:off x="755576" y="3752024"/>
            <a:ext cx="504056" cy="504056"/>
          </a:xfrm>
          <a:prstGeom prst="flowChartConnector">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noFill/>
            </a:endParaRPr>
          </a:p>
        </p:txBody>
      </p:sp>
      <p:sp>
        <p:nvSpPr>
          <p:cNvPr id="9" name="流程图: 接点 8">
            <a:extLst>
              <a:ext uri="{FF2B5EF4-FFF2-40B4-BE49-F238E27FC236}">
                <a16:creationId xmlns:a16="http://schemas.microsoft.com/office/drawing/2014/main" id="{A9B9286C-080C-4CB4-AB89-4D4AE38CAFC4}"/>
              </a:ext>
            </a:extLst>
          </p:cNvPr>
          <p:cNvSpPr/>
          <p:nvPr/>
        </p:nvSpPr>
        <p:spPr>
          <a:xfrm>
            <a:off x="755576" y="3188298"/>
            <a:ext cx="504056" cy="504056"/>
          </a:xfrm>
          <a:prstGeom prst="flowChartConnector">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noFill/>
            </a:endParaRP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5892">
                                            <p:txEl>
                                              <p:pRg st="0" end="0"/>
                                            </p:txEl>
                                          </p:spTgt>
                                        </p:tgtEl>
                                        <p:attrNameLst>
                                          <p:attrName>style.visibility</p:attrName>
                                        </p:attrNameLst>
                                      </p:cBhvr>
                                      <p:to>
                                        <p:strVal val="visible"/>
                                      </p:to>
                                    </p:set>
                                    <p:anim calcmode="lin" valueType="num">
                                      <p:cBhvr additive="base">
                                        <p:cTn id="7" dur="500" fill="hold"/>
                                        <p:tgtEl>
                                          <p:spTgt spid="14458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5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1445894"/>
                                        </p:tgtEl>
                                        <p:attrNameLst>
                                          <p:attrName>style.visibility</p:attrName>
                                        </p:attrNameLst>
                                      </p:cBhvr>
                                      <p:to>
                                        <p:strVal val="visible"/>
                                      </p:to>
                                    </p:set>
                                    <p:animEffect transition="in" filter="circle(in)">
                                      <p:cBhvr>
                                        <p:cTn id="13" dur="2000"/>
                                        <p:tgtEl>
                                          <p:spTgt spid="144589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ircle(in)">
                                      <p:cBhvr>
                                        <p:cTn id="16" dur="2000"/>
                                        <p:tgtEl>
                                          <p:spTgt spid="2"/>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circle(in)">
                                      <p:cBhvr>
                                        <p:cTn id="2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5892" grpId="0" build="p"/>
      <p:bldP spid="1445894" grpId="0"/>
      <p:bldP spid="2" grpId="0" animBg="1"/>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6485" name="组合 1556484"/>
          <p:cNvGrpSpPr/>
          <p:nvPr/>
        </p:nvGrpSpPr>
        <p:grpSpPr>
          <a:xfrm>
            <a:off x="323528" y="4470624"/>
            <a:ext cx="8686800" cy="1475258"/>
            <a:chOff x="288" y="3178"/>
            <a:chExt cx="5328" cy="1323"/>
          </a:xfrm>
        </p:grpSpPr>
        <p:sp>
          <p:nvSpPr>
            <p:cNvPr id="41988" name="文本框 1556485"/>
            <p:cNvSpPr txBox="1"/>
            <p:nvPr/>
          </p:nvSpPr>
          <p:spPr>
            <a:xfrm>
              <a:off x="288" y="3178"/>
              <a:ext cx="5328" cy="1323"/>
            </a:xfrm>
            <a:prstGeom prst="rect">
              <a:avLst/>
            </a:prstGeom>
            <a:noFill/>
            <a:ln w="9525">
              <a:noFill/>
            </a:ln>
          </p:spPr>
          <p:txBody>
            <a:bodyPr>
              <a:spAutoFit/>
            </a:bodyPr>
            <a:lstStyle/>
            <a:p>
              <a:r>
                <a:rPr lang="zh-CN" altLang="en-US" sz="2400" b="0" dirty="0">
                  <a:latin typeface="Times New Roman" panose="02020603050405020304" pitchFamily="18" charset="0"/>
                  <a:ea typeface="华文中宋" panose="02010600040101010101" pitchFamily="2" charset="-122"/>
                </a:rPr>
                <a:t>可以看出：随着    的增加，</a:t>
              </a:r>
              <a:r>
                <a:rPr lang="en-US" altLang="zh-CN" sz="2400" b="0" dirty="0">
                  <a:latin typeface="Times New Roman" panose="02020603050405020304" pitchFamily="18" charset="0"/>
                  <a:ea typeface="华文中宋" panose="02010600040101010101" pitchFamily="2" charset="-122"/>
                </a:rPr>
                <a:t>c(t)</a:t>
              </a:r>
              <a:r>
                <a:rPr lang="zh-CN" altLang="en-US" sz="2400" b="0" dirty="0">
                  <a:latin typeface="Times New Roman" panose="02020603050405020304" pitchFamily="18" charset="0"/>
                  <a:ea typeface="华文中宋" panose="02010600040101010101" pitchFamily="2" charset="-122"/>
                </a:rPr>
                <a:t>将从无衰减的周期运动变为有衰减的正弦运动，当         时</a:t>
              </a:r>
              <a:r>
                <a:rPr lang="en-US" altLang="zh-CN" sz="2400" b="0" dirty="0">
                  <a:latin typeface="Times New Roman" panose="02020603050405020304" pitchFamily="18" charset="0"/>
                  <a:ea typeface="华文中宋" panose="02010600040101010101" pitchFamily="2" charset="-122"/>
                </a:rPr>
                <a:t>c(t)</a:t>
              </a:r>
              <a:r>
                <a:rPr lang="zh-CN" altLang="en-US" sz="2400" b="0" dirty="0">
                  <a:latin typeface="Times New Roman" panose="02020603050405020304" pitchFamily="18" charset="0"/>
                  <a:ea typeface="华文中宋" panose="02010600040101010101" pitchFamily="2" charset="-122"/>
                </a:rPr>
                <a:t>呈现单调上升运动</a:t>
              </a:r>
              <a:r>
                <a:rPr lang="en-US" altLang="zh-CN" sz="2400" b="0" dirty="0">
                  <a:latin typeface="Times New Roman" panose="02020603050405020304" pitchFamily="18" charset="0"/>
                  <a:ea typeface="华文中宋" panose="02010600040101010101" pitchFamily="2" charset="-122"/>
                </a:rPr>
                <a:t>(</a:t>
              </a:r>
              <a:r>
                <a:rPr lang="zh-CN" altLang="en-US" sz="2400" b="0" dirty="0">
                  <a:latin typeface="Times New Roman" panose="02020603050405020304" pitchFamily="18" charset="0"/>
                  <a:ea typeface="华文中宋" panose="02010600040101010101" pitchFamily="2" charset="-122"/>
                </a:rPr>
                <a:t>无振荡</a:t>
              </a:r>
              <a:r>
                <a:rPr lang="en-US" altLang="zh-CN" sz="2400" b="0" dirty="0">
                  <a:latin typeface="Times New Roman" panose="02020603050405020304" pitchFamily="18" charset="0"/>
                  <a:ea typeface="华文中宋" panose="02010600040101010101" pitchFamily="2" charset="-122"/>
                </a:rPr>
                <a:t>)</a:t>
              </a:r>
              <a:r>
                <a:rPr lang="zh-CN" altLang="en-US" sz="2400" b="0" dirty="0">
                  <a:latin typeface="Times New Roman" panose="02020603050405020304" pitchFamily="18" charset="0"/>
                  <a:ea typeface="华文中宋" panose="02010600040101010101" pitchFamily="2" charset="-122"/>
                </a:rPr>
                <a:t>。可见    反映实际系统的阻尼情况，故称为阻尼系数。</a:t>
              </a:r>
              <a:r>
                <a:rPr lang="zh-CN" altLang="en-US" sz="2400" dirty="0">
                  <a:solidFill>
                    <a:schemeClr val="tx1"/>
                  </a:solidFill>
                  <a:latin typeface="Arial" panose="020B0604020202020204" pitchFamily="34" charset="0"/>
                </a:rPr>
                <a:t>工程上把</a:t>
              </a:r>
              <a:r>
                <a:rPr lang="en-US" altLang="zh-CN" sz="2400" i="1" dirty="0">
                  <a:solidFill>
                    <a:srgbClr val="FF0000"/>
                  </a:solidFill>
                  <a:latin typeface="Arial" panose="020B0604020202020204" pitchFamily="34" charset="0"/>
                </a:rPr>
                <a:t>ξ</a:t>
              </a:r>
              <a:r>
                <a:rPr lang="zh-CN" altLang="en-US" sz="2400" i="1" dirty="0">
                  <a:solidFill>
                    <a:srgbClr val="FF0000"/>
                  </a:solidFill>
                  <a:latin typeface="Arial" panose="020B0604020202020204" pitchFamily="34" charset="0"/>
                </a:rPr>
                <a:t>＝</a:t>
              </a:r>
              <a:r>
                <a:rPr lang="en-US" altLang="zh-CN" sz="2400" i="1" dirty="0">
                  <a:solidFill>
                    <a:srgbClr val="FF0000"/>
                  </a:solidFill>
                  <a:latin typeface="Arial" panose="020B0604020202020204" pitchFamily="34" charset="0"/>
                </a:rPr>
                <a:t>0.707</a:t>
              </a:r>
              <a:r>
                <a:rPr lang="zh-CN" altLang="en-US" sz="2400" dirty="0">
                  <a:solidFill>
                    <a:schemeClr val="tx1"/>
                  </a:solidFill>
                  <a:latin typeface="Arial" panose="020B0604020202020204" pitchFamily="34" charset="0"/>
                </a:rPr>
                <a:t>的二阶系统称为</a:t>
              </a:r>
              <a:r>
                <a:rPr lang="zh-CN" altLang="en-US" sz="2400" dirty="0">
                  <a:solidFill>
                    <a:srgbClr val="000099"/>
                  </a:solidFill>
                  <a:latin typeface="Arial" panose="020B0604020202020204" pitchFamily="34" charset="0"/>
                </a:rPr>
                <a:t>二阶最优系统</a:t>
              </a:r>
              <a:r>
                <a:rPr lang="zh-CN" altLang="en-US" sz="2400" dirty="0">
                  <a:solidFill>
                    <a:schemeClr val="tx1"/>
                  </a:solidFill>
                  <a:latin typeface="Arial" panose="020B0604020202020204" pitchFamily="34" charset="0"/>
                </a:rPr>
                <a:t>；</a:t>
              </a:r>
            </a:p>
            <a:p>
              <a:endParaRPr lang="zh-CN" altLang="en-US" sz="2400" b="0" dirty="0">
                <a:latin typeface="Times New Roman" panose="02020603050405020304" pitchFamily="18" charset="0"/>
                <a:ea typeface="华文中宋" panose="02010600040101010101" pitchFamily="2" charset="-122"/>
              </a:endParaRPr>
            </a:p>
          </p:txBody>
        </p:sp>
        <p:graphicFrame>
          <p:nvGraphicFramePr>
            <p:cNvPr id="41989" name="对象 1556486"/>
            <p:cNvGraphicFramePr/>
            <p:nvPr/>
          </p:nvGraphicFramePr>
          <p:xfrm>
            <a:off x="1707" y="3360"/>
            <a:ext cx="165" cy="240"/>
          </p:xfrm>
          <a:graphic>
            <a:graphicData uri="http://schemas.openxmlformats.org/presentationml/2006/ole">
              <mc:AlternateContent xmlns:mc="http://schemas.openxmlformats.org/markup-compatibility/2006">
                <mc:Choice xmlns:v="urn:schemas-microsoft-com:vml" Requires="v">
                  <p:oleObj spid="_x0000_s28701" r:id="rId3" imgW="139700" imgH="203200" progId="Equation.3">
                    <p:embed/>
                  </p:oleObj>
                </mc:Choice>
                <mc:Fallback>
                  <p:oleObj r:id="rId3" imgW="139700" imgH="203200" progId="Equation.3">
                    <p:embed/>
                    <p:pic>
                      <p:nvPicPr>
                        <p:cNvPr id="0" name="图片 3134"/>
                        <p:cNvPicPr/>
                        <p:nvPr/>
                      </p:nvPicPr>
                      <p:blipFill>
                        <a:blip r:embed="rId4"/>
                        <a:stretch>
                          <a:fillRect/>
                        </a:stretch>
                      </p:blipFill>
                      <p:spPr>
                        <a:xfrm>
                          <a:off x="1707" y="3360"/>
                          <a:ext cx="165" cy="240"/>
                        </a:xfrm>
                        <a:prstGeom prst="rect">
                          <a:avLst/>
                        </a:prstGeom>
                        <a:noFill/>
                        <a:ln w="38100">
                          <a:noFill/>
                          <a:miter/>
                        </a:ln>
                      </p:spPr>
                    </p:pic>
                  </p:oleObj>
                </mc:Fallback>
              </mc:AlternateContent>
            </a:graphicData>
          </a:graphic>
        </p:graphicFrame>
        <p:graphicFrame>
          <p:nvGraphicFramePr>
            <p:cNvPr id="41990" name="对象 1556487"/>
            <p:cNvGraphicFramePr/>
            <p:nvPr/>
          </p:nvGraphicFramePr>
          <p:xfrm>
            <a:off x="2064" y="3583"/>
            <a:ext cx="432" cy="257"/>
          </p:xfrm>
          <a:graphic>
            <a:graphicData uri="http://schemas.openxmlformats.org/presentationml/2006/ole">
              <mc:AlternateContent xmlns:mc="http://schemas.openxmlformats.org/markup-compatibility/2006">
                <mc:Choice xmlns:v="urn:schemas-microsoft-com:vml" Requires="v">
                  <p:oleObj spid="_x0000_s28702" r:id="rId5" imgW="342900" imgH="203200" progId="Equation.3">
                    <p:embed/>
                  </p:oleObj>
                </mc:Choice>
                <mc:Fallback>
                  <p:oleObj r:id="rId5" imgW="342900" imgH="203200" progId="Equation.3">
                    <p:embed/>
                    <p:pic>
                      <p:nvPicPr>
                        <p:cNvPr id="0" name="图片 3136"/>
                        <p:cNvPicPr/>
                        <p:nvPr/>
                      </p:nvPicPr>
                      <p:blipFill>
                        <a:blip r:embed="rId6"/>
                        <a:stretch>
                          <a:fillRect/>
                        </a:stretch>
                      </p:blipFill>
                      <p:spPr>
                        <a:xfrm>
                          <a:off x="2064" y="3583"/>
                          <a:ext cx="432" cy="257"/>
                        </a:xfrm>
                        <a:prstGeom prst="rect">
                          <a:avLst/>
                        </a:prstGeom>
                        <a:noFill/>
                        <a:ln w="38100">
                          <a:noFill/>
                          <a:miter/>
                        </a:ln>
                      </p:spPr>
                    </p:pic>
                  </p:oleObj>
                </mc:Fallback>
              </mc:AlternateContent>
            </a:graphicData>
          </a:graphic>
        </p:graphicFrame>
        <p:graphicFrame>
          <p:nvGraphicFramePr>
            <p:cNvPr id="41991" name="对象 1556488"/>
            <p:cNvGraphicFramePr/>
            <p:nvPr/>
          </p:nvGraphicFramePr>
          <p:xfrm>
            <a:off x="747" y="3840"/>
            <a:ext cx="165" cy="240"/>
          </p:xfrm>
          <a:graphic>
            <a:graphicData uri="http://schemas.openxmlformats.org/presentationml/2006/ole">
              <mc:AlternateContent xmlns:mc="http://schemas.openxmlformats.org/markup-compatibility/2006">
                <mc:Choice xmlns:v="urn:schemas-microsoft-com:vml" Requires="v">
                  <p:oleObj spid="_x0000_s28703" r:id="rId7" imgW="139700" imgH="203200" progId="Equation.3">
                    <p:embed/>
                  </p:oleObj>
                </mc:Choice>
                <mc:Fallback>
                  <p:oleObj r:id="rId7" imgW="139700" imgH="203200" progId="Equation.3">
                    <p:embed/>
                    <p:pic>
                      <p:nvPicPr>
                        <p:cNvPr id="0" name="图片 3135"/>
                        <p:cNvPicPr/>
                        <p:nvPr/>
                      </p:nvPicPr>
                      <p:blipFill>
                        <a:blip r:embed="rId4"/>
                        <a:stretch>
                          <a:fillRect/>
                        </a:stretch>
                      </p:blipFill>
                      <p:spPr>
                        <a:xfrm>
                          <a:off x="747" y="3840"/>
                          <a:ext cx="165" cy="240"/>
                        </a:xfrm>
                        <a:prstGeom prst="rect">
                          <a:avLst/>
                        </a:prstGeom>
                        <a:noFill/>
                        <a:ln w="38100">
                          <a:noFill/>
                          <a:miter/>
                        </a:ln>
                      </p:spPr>
                    </p:pic>
                  </p:oleObj>
                </mc:Fallback>
              </mc:AlternateContent>
            </a:graphicData>
          </a:graphic>
        </p:graphicFrame>
      </p:grpSp>
      <p:graphicFrame>
        <p:nvGraphicFramePr>
          <p:cNvPr id="41987" name="对象 1556489"/>
          <p:cNvGraphicFramePr/>
          <p:nvPr/>
        </p:nvGraphicFramePr>
        <p:xfrm>
          <a:off x="1822450" y="-61912"/>
          <a:ext cx="5416550" cy="4678362"/>
        </p:xfrm>
        <a:graphic>
          <a:graphicData uri="http://schemas.openxmlformats.org/presentationml/2006/ole">
            <mc:AlternateContent xmlns:mc="http://schemas.openxmlformats.org/markup-compatibility/2006">
              <mc:Choice xmlns:v="urn:schemas-microsoft-com:vml" Requires="v">
                <p:oleObj spid="_x0000_s28704" r:id="rId8" imgW="5417185" imgH="4679950" progId="Visio.Drawing.6">
                  <p:embed/>
                </p:oleObj>
              </mc:Choice>
              <mc:Fallback>
                <p:oleObj r:id="rId8" imgW="5417185" imgH="4679950" progId="Visio.Drawing.6">
                  <p:embed/>
                  <p:pic>
                    <p:nvPicPr>
                      <p:cNvPr id="0" name="图片 3133"/>
                      <p:cNvPicPr/>
                      <p:nvPr/>
                    </p:nvPicPr>
                    <p:blipFill>
                      <a:blip r:embed="rId9"/>
                      <a:stretch>
                        <a:fillRect/>
                      </a:stretch>
                    </p:blipFill>
                    <p:spPr>
                      <a:xfrm>
                        <a:off x="1822450" y="-61912"/>
                        <a:ext cx="5416550" cy="4678362"/>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6485"/>
                                        </p:tgtEl>
                                        <p:attrNameLst>
                                          <p:attrName>style.visibility</p:attrName>
                                        </p:attrNameLst>
                                      </p:cBhvr>
                                      <p:to>
                                        <p:strVal val="visible"/>
                                      </p:to>
                                    </p:set>
                                    <p:animEffect transition="in" filter="wipe(left)">
                                      <p:cBhvr>
                                        <p:cTn id="7" dur="500"/>
                                        <p:tgtEl>
                                          <p:spTgt spid="1556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914" name="矩形 1446913"/>
          <p:cNvSpPr/>
          <p:nvPr/>
        </p:nvSpPr>
        <p:spPr>
          <a:xfrm>
            <a:off x="893763" y="1811338"/>
            <a:ext cx="620712" cy="457200"/>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sym typeface="Symbol" panose="05050102010706020507" pitchFamily="18" charset="2"/>
              </a:rPr>
              <a:t>M</a:t>
            </a:r>
            <a:r>
              <a:rPr lang="en-US" altLang="zh-CN" sz="2400" i="1" baseline="-30000" dirty="0">
                <a:solidFill>
                  <a:schemeClr val="tx1"/>
                </a:solidFill>
                <a:latin typeface="Times New Roman" panose="02020603050405020304" pitchFamily="18" charset="0"/>
                <a:sym typeface="Symbol" panose="05050102010706020507" pitchFamily="18" charset="2"/>
              </a:rPr>
              <a:t>p</a:t>
            </a:r>
          </a:p>
        </p:txBody>
      </p:sp>
      <p:sp>
        <p:nvSpPr>
          <p:cNvPr id="1446915" name="文本框 1446914"/>
          <p:cNvSpPr txBox="1"/>
          <p:nvPr/>
        </p:nvSpPr>
        <p:spPr>
          <a:xfrm>
            <a:off x="1272381" y="79374"/>
            <a:ext cx="6408738"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3.3.4 </a:t>
            </a: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二阶系统的动态性能指标</a:t>
            </a:r>
            <a:r>
              <a:rPr kumimoji="0" lang="zh-CN" altLang="en-US"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（重点）</a:t>
            </a:r>
          </a:p>
        </p:txBody>
      </p:sp>
      <p:sp>
        <p:nvSpPr>
          <p:cNvPr id="1446916" name="文本框 1446915"/>
          <p:cNvSpPr txBox="1"/>
          <p:nvPr/>
        </p:nvSpPr>
        <p:spPr>
          <a:xfrm>
            <a:off x="1168246" y="788193"/>
            <a:ext cx="1849438" cy="519113"/>
          </a:xfrm>
          <a:prstGeom prst="rect">
            <a:avLst/>
          </a:prstGeom>
          <a:noFill/>
          <a:ln w="9525">
            <a:noFill/>
          </a:ln>
        </p:spPr>
        <p:txBody>
          <a:bodyPr wrap="none">
            <a:spAutoFit/>
          </a:bodyPr>
          <a:lstStyle/>
          <a:p>
            <a:pPr>
              <a:spcBef>
                <a:spcPct val="0"/>
              </a:spcBef>
            </a:pPr>
            <a:r>
              <a:rPr lang="en-US" altLang="zh-CN" sz="2800" dirty="0">
                <a:solidFill>
                  <a:schemeClr val="tx1"/>
                </a:solidFill>
                <a:latin typeface="华文新魏" panose="02010800040101010101" pitchFamily="2" charset="-122"/>
                <a:ea typeface="华文新魏" panose="02010800040101010101" pitchFamily="2" charset="-122"/>
              </a:rPr>
              <a:t>1.</a:t>
            </a:r>
            <a:r>
              <a:rPr lang="zh-CN" altLang="en-US" sz="2800" dirty="0">
                <a:solidFill>
                  <a:schemeClr val="tx1"/>
                </a:solidFill>
                <a:latin typeface="华文新魏" panose="02010800040101010101" pitchFamily="2" charset="-122"/>
                <a:ea typeface="华文新魏" panose="02010800040101010101" pitchFamily="2" charset="-122"/>
              </a:rPr>
              <a:t>　欠阻尼</a:t>
            </a:r>
          </a:p>
        </p:txBody>
      </p:sp>
      <p:sp>
        <p:nvSpPr>
          <p:cNvPr id="1446917" name="文本框 1446916"/>
          <p:cNvSpPr txBox="1"/>
          <p:nvPr/>
        </p:nvSpPr>
        <p:spPr>
          <a:xfrm>
            <a:off x="-793" y="5368926"/>
            <a:ext cx="9144000" cy="823912"/>
          </a:xfrm>
          <a:prstGeom prst="rect">
            <a:avLst/>
          </a:prstGeom>
          <a:noFill/>
          <a:ln w="9525">
            <a:noFill/>
          </a:ln>
        </p:spPr>
        <p:txBody>
          <a:bodyPr>
            <a:spAutoFit/>
          </a:bodyPr>
          <a:lstStyle/>
          <a:p>
            <a:pPr>
              <a:spcBef>
                <a:spcPct val="0"/>
              </a:spcBef>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用</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r</a:t>
            </a: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p</a:t>
            </a: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sym typeface="Symbol" panose="05050102010706020507" pitchFamily="18" charset="2"/>
              </a:rPr>
              <a:t>M</a:t>
            </a:r>
            <a:r>
              <a:rPr lang="en-US" altLang="zh-CN" sz="2800" i="1" baseline="-30000" dirty="0">
                <a:solidFill>
                  <a:schemeClr val="tx1"/>
                </a:solidFill>
                <a:latin typeface="Times New Roman" panose="02020603050405020304" pitchFamily="18" charset="0"/>
                <a:sym typeface="Symbol" panose="05050102010706020507" pitchFamily="18" charset="2"/>
              </a:rPr>
              <a:t>p</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s</a:t>
            </a:r>
            <a:r>
              <a:rPr lang="en-US" altLang="zh-CN" sz="2800" dirty="0">
                <a:solidFill>
                  <a:schemeClr val="tx1"/>
                </a:solidFill>
                <a:latin typeface="Times New Roman" panose="02020603050405020304" pitchFamily="18" charset="0"/>
                <a:sym typeface="Symbol" panose="05050102010706020507" pitchFamily="18" charset="2"/>
              </a:rPr>
              <a:t> </a:t>
            </a:r>
            <a:r>
              <a:rPr lang="zh-CN" altLang="en-US" sz="2800" dirty="0">
                <a:solidFill>
                  <a:schemeClr val="tx1"/>
                </a:solidFill>
                <a:latin typeface="Arial" panose="020B0604020202020204" pitchFamily="34" charset="0"/>
              </a:rPr>
              <a:t>四个性能指标来衡量瞬态响应的好坏。</a:t>
            </a:r>
          </a:p>
          <a:p>
            <a:pPr>
              <a:spcBef>
                <a:spcPct val="0"/>
              </a:spcBef>
            </a:pPr>
            <a:r>
              <a:rPr lang="zh-CN" altLang="en-US" sz="2000" b="0" dirty="0">
                <a:solidFill>
                  <a:schemeClr val="tx1"/>
                </a:solidFill>
                <a:latin typeface="Arial" panose="020B0604020202020204" pitchFamily="34" charset="0"/>
              </a:rPr>
              <a:t>　</a:t>
            </a:r>
          </a:p>
        </p:txBody>
      </p:sp>
      <p:sp>
        <p:nvSpPr>
          <p:cNvPr id="1446918" name="任意多边形 1446917"/>
          <p:cNvSpPr/>
          <p:nvPr/>
        </p:nvSpPr>
        <p:spPr>
          <a:xfrm>
            <a:off x="879475" y="1797050"/>
            <a:ext cx="5588000" cy="2603500"/>
          </a:xfrm>
          <a:custGeom>
            <a:avLst/>
            <a:gdLst/>
            <a:ahLst/>
            <a:cxnLst>
              <a:cxn ang="0">
                <a:pos x="0"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Lst>
            <a:rect l="0" t="0" r="0" b="0"/>
            <a:pathLst>
              <a:path w="3520" h="1640">
                <a:moveTo>
                  <a:pt x="0" y="1638"/>
                </a:moveTo>
                <a:cubicBezTo>
                  <a:pt x="63" y="1639"/>
                  <a:pt x="126" y="1640"/>
                  <a:pt x="192" y="1536"/>
                </a:cubicBezTo>
                <a:cubicBezTo>
                  <a:pt x="258" y="1432"/>
                  <a:pt x="327" y="1209"/>
                  <a:pt x="397" y="1011"/>
                </a:cubicBezTo>
                <a:cubicBezTo>
                  <a:pt x="467" y="813"/>
                  <a:pt x="533" y="514"/>
                  <a:pt x="614" y="346"/>
                </a:cubicBezTo>
                <a:cubicBezTo>
                  <a:pt x="695" y="178"/>
                  <a:pt x="757" y="0"/>
                  <a:pt x="883" y="0"/>
                </a:cubicBezTo>
                <a:cubicBezTo>
                  <a:pt x="1009" y="0"/>
                  <a:pt x="1216" y="263"/>
                  <a:pt x="1370" y="346"/>
                </a:cubicBezTo>
                <a:cubicBezTo>
                  <a:pt x="1524" y="429"/>
                  <a:pt x="1596" y="506"/>
                  <a:pt x="1805" y="499"/>
                </a:cubicBezTo>
                <a:cubicBezTo>
                  <a:pt x="2014" y="492"/>
                  <a:pt x="2338" y="324"/>
                  <a:pt x="2624" y="307"/>
                </a:cubicBezTo>
                <a:cubicBezTo>
                  <a:pt x="2910" y="290"/>
                  <a:pt x="3371" y="382"/>
                  <a:pt x="3520" y="397"/>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grpSp>
        <p:nvGrpSpPr>
          <p:cNvPr id="1446919" name="组合 1446918"/>
          <p:cNvGrpSpPr/>
          <p:nvPr/>
        </p:nvGrpSpPr>
        <p:grpSpPr>
          <a:xfrm>
            <a:off x="179388" y="1231900"/>
            <a:ext cx="8510587" cy="3644900"/>
            <a:chOff x="77" y="949"/>
            <a:chExt cx="5361" cy="2296"/>
          </a:xfrm>
        </p:grpSpPr>
        <p:sp>
          <p:nvSpPr>
            <p:cNvPr id="43068" name="直接连接符 1446919"/>
            <p:cNvSpPr/>
            <p:nvPr/>
          </p:nvSpPr>
          <p:spPr>
            <a:xfrm flipH="1" flipV="1">
              <a:off x="509" y="1048"/>
              <a:ext cx="0" cy="1907"/>
            </a:xfrm>
            <a:prstGeom prst="line">
              <a:avLst/>
            </a:prstGeom>
            <a:ln w="57150" cap="sq" cmpd="sng">
              <a:solidFill>
                <a:schemeClr val="tx1"/>
              </a:solidFill>
              <a:prstDash val="solid"/>
              <a:headEnd type="none" w="med" len="med"/>
              <a:tailEnd type="triangle" w="med" len="med"/>
            </a:ln>
          </p:spPr>
        </p:sp>
        <p:sp>
          <p:nvSpPr>
            <p:cNvPr id="43069" name="直接连接符 1446920"/>
            <p:cNvSpPr/>
            <p:nvPr/>
          </p:nvSpPr>
          <p:spPr>
            <a:xfrm>
              <a:off x="517" y="2950"/>
              <a:ext cx="4690" cy="0"/>
            </a:xfrm>
            <a:prstGeom prst="line">
              <a:avLst/>
            </a:prstGeom>
            <a:ln w="57150" cap="sq" cmpd="sng">
              <a:solidFill>
                <a:schemeClr val="tx1"/>
              </a:solidFill>
              <a:prstDash val="solid"/>
              <a:headEnd type="none" w="med" len="med"/>
              <a:tailEnd type="triangle" w="med" len="med"/>
            </a:ln>
          </p:spPr>
        </p:sp>
        <p:sp>
          <p:nvSpPr>
            <p:cNvPr id="43070" name="矩形 1446921"/>
            <p:cNvSpPr/>
            <p:nvPr/>
          </p:nvSpPr>
          <p:spPr>
            <a:xfrm>
              <a:off x="77" y="949"/>
              <a:ext cx="433" cy="288"/>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sym typeface="Symbol" panose="05050102010706020507" pitchFamily="18" charset="2"/>
              </a:endParaRPr>
            </a:p>
          </p:txBody>
        </p:sp>
        <p:sp>
          <p:nvSpPr>
            <p:cNvPr id="43071" name="矩形 1446922"/>
            <p:cNvSpPr/>
            <p:nvPr/>
          </p:nvSpPr>
          <p:spPr>
            <a:xfrm>
              <a:off x="5221" y="2778"/>
              <a:ext cx="217" cy="288"/>
            </a:xfrm>
            <a:prstGeom prst="rect">
              <a:avLst/>
            </a:prstGeom>
            <a:noFill/>
            <a:ln w="9525">
              <a:noFill/>
            </a:ln>
          </p:spPr>
          <p:txBody>
            <a:bodyPr wrap="none">
              <a:spAutoFit/>
            </a:bodyPr>
            <a:lstStyle/>
            <a:p>
              <a:pPr>
                <a:spcBef>
                  <a:spcPct val="0"/>
                </a:spcBef>
              </a:pPr>
              <a:r>
                <a:rPr lang="en-US" altLang="zh-CN" sz="2400" i="1" dirty="0">
                  <a:solidFill>
                    <a:schemeClr val="tx1"/>
                  </a:solidFill>
                  <a:latin typeface="Times New Roman" panose="02020603050405020304" pitchFamily="18" charset="0"/>
                </a:rPr>
                <a:t> t</a:t>
              </a:r>
            </a:p>
          </p:txBody>
        </p:sp>
        <p:sp>
          <p:nvSpPr>
            <p:cNvPr id="43072" name="矩形 1446923"/>
            <p:cNvSpPr/>
            <p:nvPr/>
          </p:nvSpPr>
          <p:spPr>
            <a:xfrm>
              <a:off x="315" y="2957"/>
              <a:ext cx="260"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1446925" name="直接连接符 1446924"/>
          <p:cNvSpPr/>
          <p:nvPr/>
        </p:nvSpPr>
        <p:spPr>
          <a:xfrm>
            <a:off x="854075" y="2386013"/>
            <a:ext cx="6726238" cy="0"/>
          </a:xfrm>
          <a:prstGeom prst="line">
            <a:avLst/>
          </a:prstGeom>
          <a:ln w="38100" cap="sq" cmpd="sng">
            <a:solidFill>
              <a:srgbClr val="000080"/>
            </a:solidFill>
            <a:prstDash val="solid"/>
            <a:headEnd type="none" w="med" len="med"/>
            <a:tailEnd type="none" w="med" len="med"/>
          </a:ln>
        </p:spPr>
      </p:sp>
      <p:sp>
        <p:nvSpPr>
          <p:cNvPr id="1446926" name="直接连接符 1446925"/>
          <p:cNvSpPr/>
          <p:nvPr/>
        </p:nvSpPr>
        <p:spPr>
          <a:xfrm>
            <a:off x="1530350" y="3379788"/>
            <a:ext cx="0" cy="1036637"/>
          </a:xfrm>
          <a:prstGeom prst="line">
            <a:avLst/>
          </a:prstGeom>
          <a:ln w="38100" cap="flat" cmpd="sng">
            <a:solidFill>
              <a:schemeClr val="tx1"/>
            </a:solidFill>
            <a:prstDash val="dash"/>
            <a:headEnd type="none" w="med" len="med"/>
            <a:tailEnd type="none" w="med" len="med"/>
          </a:ln>
        </p:spPr>
      </p:sp>
      <p:sp>
        <p:nvSpPr>
          <p:cNvPr id="1446927" name="直接连接符 1446926"/>
          <p:cNvSpPr/>
          <p:nvPr/>
        </p:nvSpPr>
        <p:spPr>
          <a:xfrm>
            <a:off x="1855788" y="2343150"/>
            <a:ext cx="0" cy="2071688"/>
          </a:xfrm>
          <a:prstGeom prst="line">
            <a:avLst/>
          </a:prstGeom>
          <a:ln w="38100" cap="flat" cmpd="sng">
            <a:solidFill>
              <a:schemeClr val="tx1"/>
            </a:solidFill>
            <a:prstDash val="dash"/>
            <a:headEnd type="none" w="med" len="med"/>
            <a:tailEnd type="none" w="med" len="med"/>
          </a:ln>
        </p:spPr>
      </p:sp>
      <p:sp>
        <p:nvSpPr>
          <p:cNvPr id="1446928" name="直接连接符 1446927"/>
          <p:cNvSpPr/>
          <p:nvPr/>
        </p:nvSpPr>
        <p:spPr>
          <a:xfrm>
            <a:off x="2301875" y="1787525"/>
            <a:ext cx="0" cy="2662238"/>
          </a:xfrm>
          <a:prstGeom prst="line">
            <a:avLst/>
          </a:prstGeom>
          <a:ln w="38100" cap="flat" cmpd="sng">
            <a:solidFill>
              <a:schemeClr val="tx1"/>
            </a:solidFill>
            <a:prstDash val="dash"/>
            <a:headEnd type="none" w="med" len="med"/>
            <a:tailEnd type="none" w="med" len="med"/>
          </a:ln>
        </p:spPr>
      </p:sp>
      <p:sp>
        <p:nvSpPr>
          <p:cNvPr id="1446929" name="直接连接符 1446928"/>
          <p:cNvSpPr/>
          <p:nvPr/>
        </p:nvSpPr>
        <p:spPr>
          <a:xfrm>
            <a:off x="4211638" y="1957388"/>
            <a:ext cx="0" cy="2478087"/>
          </a:xfrm>
          <a:prstGeom prst="line">
            <a:avLst/>
          </a:prstGeom>
          <a:ln w="38100" cap="flat" cmpd="sng">
            <a:solidFill>
              <a:schemeClr val="tx1"/>
            </a:solidFill>
            <a:prstDash val="dash"/>
            <a:headEnd type="none" w="med" len="med"/>
            <a:tailEnd type="none" w="med" len="med"/>
          </a:ln>
        </p:spPr>
      </p:sp>
      <p:sp>
        <p:nvSpPr>
          <p:cNvPr id="1446930" name="直接连接符 1446929"/>
          <p:cNvSpPr/>
          <p:nvPr/>
        </p:nvSpPr>
        <p:spPr>
          <a:xfrm flipH="1">
            <a:off x="900113" y="3422650"/>
            <a:ext cx="650875" cy="0"/>
          </a:xfrm>
          <a:prstGeom prst="line">
            <a:avLst/>
          </a:prstGeom>
          <a:ln w="38100" cap="flat" cmpd="sng">
            <a:solidFill>
              <a:schemeClr val="tx1"/>
            </a:solidFill>
            <a:prstDash val="dash"/>
            <a:headEnd type="none" w="med" len="med"/>
            <a:tailEnd type="none" w="med" len="med"/>
          </a:ln>
        </p:spPr>
      </p:sp>
      <p:sp>
        <p:nvSpPr>
          <p:cNvPr id="1446931" name="矩形 1446930"/>
          <p:cNvSpPr/>
          <p:nvPr/>
        </p:nvSpPr>
        <p:spPr>
          <a:xfrm>
            <a:off x="352425" y="2128838"/>
            <a:ext cx="687388" cy="457200"/>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1</a:t>
            </a:r>
            <a:endParaRPr lang="en-US" altLang="zh-CN" sz="2800" dirty="0">
              <a:solidFill>
                <a:schemeClr val="tx1"/>
              </a:solidFill>
              <a:latin typeface="Times New Roman" panose="02020603050405020304" pitchFamily="18" charset="0"/>
              <a:sym typeface="Symbol" panose="05050102010706020507" pitchFamily="18" charset="2"/>
            </a:endParaRPr>
          </a:p>
        </p:txBody>
      </p:sp>
      <p:sp>
        <p:nvSpPr>
          <p:cNvPr id="1446932" name="矩形 1446931"/>
          <p:cNvSpPr/>
          <p:nvPr/>
        </p:nvSpPr>
        <p:spPr>
          <a:xfrm>
            <a:off x="266700" y="3163888"/>
            <a:ext cx="687388" cy="457200"/>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0.5</a:t>
            </a:r>
            <a:endParaRPr lang="en-US" altLang="zh-CN" sz="2800" dirty="0">
              <a:solidFill>
                <a:schemeClr val="tx1"/>
              </a:solidFill>
              <a:latin typeface="Times New Roman" panose="02020603050405020304" pitchFamily="18" charset="0"/>
              <a:sym typeface="Symbol" panose="05050102010706020507" pitchFamily="18" charset="2"/>
            </a:endParaRPr>
          </a:p>
        </p:txBody>
      </p:sp>
      <p:sp>
        <p:nvSpPr>
          <p:cNvPr id="1446933" name="直接连接符 1446932"/>
          <p:cNvSpPr/>
          <p:nvPr/>
        </p:nvSpPr>
        <p:spPr>
          <a:xfrm>
            <a:off x="4232275" y="2525713"/>
            <a:ext cx="3840163" cy="0"/>
          </a:xfrm>
          <a:prstGeom prst="line">
            <a:avLst/>
          </a:prstGeom>
          <a:ln w="38100" cap="sq" cmpd="sng">
            <a:solidFill>
              <a:schemeClr val="tx1"/>
            </a:solidFill>
            <a:prstDash val="solid"/>
            <a:headEnd type="none" w="med" len="med"/>
            <a:tailEnd type="none" w="med" len="med"/>
          </a:ln>
        </p:spPr>
      </p:sp>
      <p:sp>
        <p:nvSpPr>
          <p:cNvPr id="1446934" name="直接连接符 1446933"/>
          <p:cNvSpPr/>
          <p:nvPr/>
        </p:nvSpPr>
        <p:spPr>
          <a:xfrm>
            <a:off x="6753225" y="1714500"/>
            <a:ext cx="0" cy="488950"/>
          </a:xfrm>
          <a:prstGeom prst="line">
            <a:avLst/>
          </a:prstGeom>
          <a:ln w="38100" cap="sq" cmpd="sng">
            <a:solidFill>
              <a:schemeClr val="tx1"/>
            </a:solidFill>
            <a:prstDash val="solid"/>
            <a:headEnd type="none" w="med" len="med"/>
            <a:tailEnd type="triangle" w="med" len="med"/>
          </a:ln>
        </p:spPr>
      </p:sp>
      <p:sp>
        <p:nvSpPr>
          <p:cNvPr id="1446935" name="直接连接符 1446934"/>
          <p:cNvSpPr/>
          <p:nvPr/>
        </p:nvSpPr>
        <p:spPr>
          <a:xfrm>
            <a:off x="6550025" y="1917700"/>
            <a:ext cx="0" cy="468313"/>
          </a:xfrm>
          <a:prstGeom prst="line">
            <a:avLst/>
          </a:prstGeom>
          <a:ln w="38100" cap="sq" cmpd="sng">
            <a:solidFill>
              <a:schemeClr val="tx1"/>
            </a:solidFill>
            <a:prstDash val="solid"/>
            <a:headEnd type="none" w="med" len="med"/>
            <a:tailEnd type="triangle" w="med" len="med"/>
          </a:ln>
        </p:spPr>
      </p:sp>
      <p:sp>
        <p:nvSpPr>
          <p:cNvPr id="1446936" name="直接连接符 1446935"/>
          <p:cNvSpPr/>
          <p:nvPr/>
        </p:nvSpPr>
        <p:spPr>
          <a:xfrm flipV="1">
            <a:off x="6548438" y="2487613"/>
            <a:ext cx="0" cy="528637"/>
          </a:xfrm>
          <a:prstGeom prst="line">
            <a:avLst/>
          </a:prstGeom>
          <a:ln w="38100" cap="sq" cmpd="sng">
            <a:solidFill>
              <a:schemeClr val="tx1"/>
            </a:solidFill>
            <a:prstDash val="solid"/>
            <a:headEnd type="none" w="med" len="med"/>
            <a:tailEnd type="triangle" w="med" len="med"/>
          </a:ln>
        </p:spPr>
      </p:sp>
      <p:sp>
        <p:nvSpPr>
          <p:cNvPr id="1446937" name="直接连接符 1446936"/>
          <p:cNvSpPr/>
          <p:nvPr/>
        </p:nvSpPr>
        <p:spPr>
          <a:xfrm flipV="1">
            <a:off x="6772275" y="2344738"/>
            <a:ext cx="0" cy="468312"/>
          </a:xfrm>
          <a:prstGeom prst="line">
            <a:avLst/>
          </a:prstGeom>
          <a:ln w="38100" cap="sq" cmpd="sng">
            <a:solidFill>
              <a:schemeClr val="tx1"/>
            </a:solidFill>
            <a:prstDash val="solid"/>
            <a:headEnd type="none" w="med" len="med"/>
            <a:tailEnd type="triangle" w="med" len="med"/>
          </a:ln>
        </p:spPr>
      </p:sp>
      <p:sp>
        <p:nvSpPr>
          <p:cNvPr id="1446938" name="直接连接符 1446937"/>
          <p:cNvSpPr/>
          <p:nvPr/>
        </p:nvSpPr>
        <p:spPr>
          <a:xfrm flipH="1">
            <a:off x="1225550" y="1776413"/>
            <a:ext cx="1035050" cy="0"/>
          </a:xfrm>
          <a:prstGeom prst="line">
            <a:avLst/>
          </a:prstGeom>
          <a:ln w="38100" cap="sq" cmpd="sng">
            <a:solidFill>
              <a:schemeClr val="tx1"/>
            </a:solidFill>
            <a:prstDash val="solid"/>
            <a:headEnd type="none" w="med" len="med"/>
            <a:tailEnd type="none" w="med" len="med"/>
          </a:ln>
        </p:spPr>
      </p:sp>
      <p:sp>
        <p:nvSpPr>
          <p:cNvPr id="1446939" name="直接连接符 1446938"/>
          <p:cNvSpPr/>
          <p:nvPr/>
        </p:nvSpPr>
        <p:spPr>
          <a:xfrm>
            <a:off x="1620838" y="1731963"/>
            <a:ext cx="0" cy="633412"/>
          </a:xfrm>
          <a:prstGeom prst="line">
            <a:avLst/>
          </a:prstGeom>
          <a:ln w="38100" cap="sq" cmpd="sng">
            <a:solidFill>
              <a:schemeClr val="tx1"/>
            </a:solidFill>
            <a:prstDash val="solid"/>
            <a:headEnd type="triangle" w="med" len="med"/>
            <a:tailEnd type="triangle" w="med" len="med"/>
          </a:ln>
        </p:spPr>
      </p:sp>
      <p:sp>
        <p:nvSpPr>
          <p:cNvPr id="1446940" name="直接连接符 1446939"/>
          <p:cNvSpPr/>
          <p:nvPr/>
        </p:nvSpPr>
        <p:spPr>
          <a:xfrm>
            <a:off x="4232275" y="2243138"/>
            <a:ext cx="3840163" cy="0"/>
          </a:xfrm>
          <a:prstGeom prst="line">
            <a:avLst/>
          </a:prstGeom>
          <a:ln w="38100" cap="sq" cmpd="sng">
            <a:solidFill>
              <a:schemeClr val="tx1"/>
            </a:solidFill>
            <a:prstDash val="solid"/>
            <a:headEnd type="none" w="med" len="med"/>
            <a:tailEnd type="none" w="med" len="med"/>
          </a:ln>
        </p:spPr>
      </p:sp>
      <p:grpSp>
        <p:nvGrpSpPr>
          <p:cNvPr id="1446941" name="组合 1446940"/>
          <p:cNvGrpSpPr/>
          <p:nvPr/>
        </p:nvGrpSpPr>
        <p:grpSpPr>
          <a:xfrm>
            <a:off x="4202113" y="1971675"/>
            <a:ext cx="3521075" cy="222250"/>
            <a:chOff x="3028" y="737"/>
            <a:chExt cx="2218" cy="140"/>
          </a:xfrm>
        </p:grpSpPr>
        <p:sp>
          <p:nvSpPr>
            <p:cNvPr id="43054" name="直接连接符 1446941"/>
            <p:cNvSpPr/>
            <p:nvPr/>
          </p:nvSpPr>
          <p:spPr>
            <a:xfrm flipH="1">
              <a:off x="3360" y="743"/>
              <a:ext cx="145" cy="134"/>
            </a:xfrm>
            <a:prstGeom prst="line">
              <a:avLst/>
            </a:prstGeom>
            <a:ln w="38100" cap="sq" cmpd="sng">
              <a:solidFill>
                <a:srgbClr val="800000"/>
              </a:solidFill>
              <a:prstDash val="solid"/>
              <a:headEnd type="none" w="med" len="med"/>
              <a:tailEnd type="none" w="med" len="med"/>
            </a:ln>
          </p:spPr>
        </p:sp>
        <p:sp>
          <p:nvSpPr>
            <p:cNvPr id="43055" name="直接连接符 1446942"/>
            <p:cNvSpPr/>
            <p:nvPr/>
          </p:nvSpPr>
          <p:spPr>
            <a:xfrm flipH="1">
              <a:off x="3680" y="743"/>
              <a:ext cx="145" cy="134"/>
            </a:xfrm>
            <a:prstGeom prst="line">
              <a:avLst/>
            </a:prstGeom>
            <a:ln w="38100" cap="sq" cmpd="sng">
              <a:solidFill>
                <a:srgbClr val="800000"/>
              </a:solidFill>
              <a:prstDash val="solid"/>
              <a:headEnd type="none" w="med" len="med"/>
              <a:tailEnd type="none" w="med" len="med"/>
            </a:ln>
          </p:spPr>
        </p:sp>
        <p:sp>
          <p:nvSpPr>
            <p:cNvPr id="43056" name="直接连接符 1446943"/>
            <p:cNvSpPr/>
            <p:nvPr/>
          </p:nvSpPr>
          <p:spPr>
            <a:xfrm flipH="1">
              <a:off x="3840" y="737"/>
              <a:ext cx="145" cy="134"/>
            </a:xfrm>
            <a:prstGeom prst="line">
              <a:avLst/>
            </a:prstGeom>
            <a:ln w="38100" cap="sq" cmpd="sng">
              <a:solidFill>
                <a:srgbClr val="800000"/>
              </a:solidFill>
              <a:prstDash val="solid"/>
              <a:headEnd type="none" w="med" len="med"/>
              <a:tailEnd type="none" w="med" len="med"/>
            </a:ln>
          </p:spPr>
        </p:sp>
        <p:sp>
          <p:nvSpPr>
            <p:cNvPr id="43057" name="直接连接符 1446944"/>
            <p:cNvSpPr/>
            <p:nvPr/>
          </p:nvSpPr>
          <p:spPr>
            <a:xfrm flipH="1">
              <a:off x="3514" y="737"/>
              <a:ext cx="145" cy="134"/>
            </a:xfrm>
            <a:prstGeom prst="line">
              <a:avLst/>
            </a:prstGeom>
            <a:ln w="38100" cap="sq" cmpd="sng">
              <a:solidFill>
                <a:srgbClr val="800000"/>
              </a:solidFill>
              <a:prstDash val="solid"/>
              <a:headEnd type="none" w="med" len="med"/>
              <a:tailEnd type="none" w="med" len="med"/>
            </a:ln>
          </p:spPr>
        </p:sp>
        <p:sp>
          <p:nvSpPr>
            <p:cNvPr id="43058" name="直接连接符 1446945"/>
            <p:cNvSpPr/>
            <p:nvPr/>
          </p:nvSpPr>
          <p:spPr>
            <a:xfrm flipH="1">
              <a:off x="3188" y="737"/>
              <a:ext cx="145" cy="134"/>
            </a:xfrm>
            <a:prstGeom prst="line">
              <a:avLst/>
            </a:prstGeom>
            <a:ln w="38100" cap="sq" cmpd="sng">
              <a:solidFill>
                <a:srgbClr val="800000"/>
              </a:solidFill>
              <a:prstDash val="solid"/>
              <a:headEnd type="none" w="med" len="med"/>
              <a:tailEnd type="none" w="med" len="med"/>
            </a:ln>
          </p:spPr>
        </p:sp>
        <p:sp>
          <p:nvSpPr>
            <p:cNvPr id="43059" name="直接连接符 1446946"/>
            <p:cNvSpPr/>
            <p:nvPr/>
          </p:nvSpPr>
          <p:spPr>
            <a:xfrm flipH="1">
              <a:off x="3028" y="743"/>
              <a:ext cx="145" cy="134"/>
            </a:xfrm>
            <a:prstGeom prst="line">
              <a:avLst/>
            </a:prstGeom>
            <a:ln w="38100" cap="sq" cmpd="sng">
              <a:solidFill>
                <a:srgbClr val="800000"/>
              </a:solidFill>
              <a:prstDash val="solid"/>
              <a:headEnd type="none" w="med" len="med"/>
              <a:tailEnd type="none" w="med" len="med"/>
            </a:ln>
          </p:spPr>
        </p:sp>
        <p:sp>
          <p:nvSpPr>
            <p:cNvPr id="43060" name="直接连接符 1446947"/>
            <p:cNvSpPr/>
            <p:nvPr/>
          </p:nvSpPr>
          <p:spPr>
            <a:xfrm flipH="1">
              <a:off x="3981" y="743"/>
              <a:ext cx="145" cy="134"/>
            </a:xfrm>
            <a:prstGeom prst="line">
              <a:avLst/>
            </a:prstGeom>
            <a:ln w="38100" cap="sq" cmpd="sng">
              <a:solidFill>
                <a:srgbClr val="800000"/>
              </a:solidFill>
              <a:prstDash val="solid"/>
              <a:headEnd type="none" w="med" len="med"/>
              <a:tailEnd type="none" w="med" len="med"/>
            </a:ln>
          </p:spPr>
        </p:sp>
        <p:sp>
          <p:nvSpPr>
            <p:cNvPr id="43061" name="直接连接符 1446948"/>
            <p:cNvSpPr/>
            <p:nvPr/>
          </p:nvSpPr>
          <p:spPr>
            <a:xfrm flipH="1">
              <a:off x="4480" y="743"/>
              <a:ext cx="145" cy="134"/>
            </a:xfrm>
            <a:prstGeom prst="line">
              <a:avLst/>
            </a:prstGeom>
            <a:ln w="38100" cap="sq" cmpd="sng">
              <a:solidFill>
                <a:srgbClr val="800000"/>
              </a:solidFill>
              <a:prstDash val="solid"/>
              <a:headEnd type="none" w="med" len="med"/>
              <a:tailEnd type="none" w="med" len="med"/>
            </a:ln>
          </p:spPr>
        </p:sp>
        <p:sp>
          <p:nvSpPr>
            <p:cNvPr id="43062" name="直接连接符 1446949"/>
            <p:cNvSpPr/>
            <p:nvPr/>
          </p:nvSpPr>
          <p:spPr>
            <a:xfrm flipH="1">
              <a:off x="4800" y="743"/>
              <a:ext cx="145" cy="134"/>
            </a:xfrm>
            <a:prstGeom prst="line">
              <a:avLst/>
            </a:prstGeom>
            <a:ln w="38100" cap="sq" cmpd="sng">
              <a:solidFill>
                <a:srgbClr val="800000"/>
              </a:solidFill>
              <a:prstDash val="solid"/>
              <a:headEnd type="none" w="med" len="med"/>
              <a:tailEnd type="none" w="med" len="med"/>
            </a:ln>
          </p:spPr>
        </p:sp>
        <p:sp>
          <p:nvSpPr>
            <p:cNvPr id="43063" name="直接连接符 1446950"/>
            <p:cNvSpPr/>
            <p:nvPr/>
          </p:nvSpPr>
          <p:spPr>
            <a:xfrm flipH="1">
              <a:off x="4960" y="737"/>
              <a:ext cx="145" cy="134"/>
            </a:xfrm>
            <a:prstGeom prst="line">
              <a:avLst/>
            </a:prstGeom>
            <a:ln w="38100" cap="sq" cmpd="sng">
              <a:solidFill>
                <a:srgbClr val="800000"/>
              </a:solidFill>
              <a:prstDash val="solid"/>
              <a:headEnd type="none" w="med" len="med"/>
              <a:tailEnd type="none" w="med" len="med"/>
            </a:ln>
          </p:spPr>
        </p:sp>
        <p:sp>
          <p:nvSpPr>
            <p:cNvPr id="43064" name="直接连接符 1446951"/>
            <p:cNvSpPr/>
            <p:nvPr/>
          </p:nvSpPr>
          <p:spPr>
            <a:xfrm flipH="1">
              <a:off x="4634" y="737"/>
              <a:ext cx="145" cy="134"/>
            </a:xfrm>
            <a:prstGeom prst="line">
              <a:avLst/>
            </a:prstGeom>
            <a:ln w="38100" cap="sq" cmpd="sng">
              <a:solidFill>
                <a:srgbClr val="800000"/>
              </a:solidFill>
              <a:prstDash val="solid"/>
              <a:headEnd type="none" w="med" len="med"/>
              <a:tailEnd type="none" w="med" len="med"/>
            </a:ln>
          </p:spPr>
        </p:sp>
        <p:sp>
          <p:nvSpPr>
            <p:cNvPr id="43065" name="直接连接符 1446952"/>
            <p:cNvSpPr/>
            <p:nvPr/>
          </p:nvSpPr>
          <p:spPr>
            <a:xfrm flipH="1">
              <a:off x="4308" y="737"/>
              <a:ext cx="145" cy="134"/>
            </a:xfrm>
            <a:prstGeom prst="line">
              <a:avLst/>
            </a:prstGeom>
            <a:ln w="38100" cap="sq" cmpd="sng">
              <a:solidFill>
                <a:srgbClr val="800000"/>
              </a:solidFill>
              <a:prstDash val="solid"/>
              <a:headEnd type="none" w="med" len="med"/>
              <a:tailEnd type="none" w="med" len="med"/>
            </a:ln>
          </p:spPr>
        </p:sp>
        <p:sp>
          <p:nvSpPr>
            <p:cNvPr id="43066" name="直接连接符 1446953"/>
            <p:cNvSpPr/>
            <p:nvPr/>
          </p:nvSpPr>
          <p:spPr>
            <a:xfrm flipH="1">
              <a:off x="4148" y="743"/>
              <a:ext cx="145" cy="134"/>
            </a:xfrm>
            <a:prstGeom prst="line">
              <a:avLst/>
            </a:prstGeom>
            <a:ln w="38100" cap="sq" cmpd="sng">
              <a:solidFill>
                <a:srgbClr val="800000"/>
              </a:solidFill>
              <a:prstDash val="solid"/>
              <a:headEnd type="none" w="med" len="med"/>
              <a:tailEnd type="none" w="med" len="med"/>
            </a:ln>
          </p:spPr>
        </p:sp>
        <p:sp>
          <p:nvSpPr>
            <p:cNvPr id="43067" name="直接连接符 1446954"/>
            <p:cNvSpPr/>
            <p:nvPr/>
          </p:nvSpPr>
          <p:spPr>
            <a:xfrm flipH="1">
              <a:off x="5101" y="743"/>
              <a:ext cx="145" cy="134"/>
            </a:xfrm>
            <a:prstGeom prst="line">
              <a:avLst/>
            </a:prstGeom>
            <a:ln w="38100" cap="sq" cmpd="sng">
              <a:solidFill>
                <a:srgbClr val="800000"/>
              </a:solidFill>
              <a:prstDash val="solid"/>
              <a:headEnd type="none" w="med" len="med"/>
              <a:tailEnd type="none" w="med" len="med"/>
            </a:ln>
          </p:spPr>
        </p:sp>
      </p:grpSp>
      <p:grpSp>
        <p:nvGrpSpPr>
          <p:cNvPr id="1446956" name="组合 1446955"/>
          <p:cNvGrpSpPr/>
          <p:nvPr/>
        </p:nvGrpSpPr>
        <p:grpSpPr>
          <a:xfrm>
            <a:off x="4222750" y="2563813"/>
            <a:ext cx="3521075" cy="222250"/>
            <a:chOff x="3028" y="737"/>
            <a:chExt cx="2218" cy="140"/>
          </a:xfrm>
        </p:grpSpPr>
        <p:sp>
          <p:nvSpPr>
            <p:cNvPr id="43040" name="直接连接符 1446956"/>
            <p:cNvSpPr/>
            <p:nvPr/>
          </p:nvSpPr>
          <p:spPr>
            <a:xfrm flipH="1">
              <a:off x="3360" y="743"/>
              <a:ext cx="145" cy="134"/>
            </a:xfrm>
            <a:prstGeom prst="line">
              <a:avLst/>
            </a:prstGeom>
            <a:ln w="38100" cap="sq" cmpd="sng">
              <a:solidFill>
                <a:srgbClr val="800000"/>
              </a:solidFill>
              <a:prstDash val="solid"/>
              <a:headEnd type="none" w="med" len="med"/>
              <a:tailEnd type="none" w="med" len="med"/>
            </a:ln>
          </p:spPr>
        </p:sp>
        <p:sp>
          <p:nvSpPr>
            <p:cNvPr id="43041" name="直接连接符 1446957"/>
            <p:cNvSpPr/>
            <p:nvPr/>
          </p:nvSpPr>
          <p:spPr>
            <a:xfrm flipH="1">
              <a:off x="3680" y="743"/>
              <a:ext cx="145" cy="134"/>
            </a:xfrm>
            <a:prstGeom prst="line">
              <a:avLst/>
            </a:prstGeom>
            <a:ln w="38100" cap="sq" cmpd="sng">
              <a:solidFill>
                <a:srgbClr val="800000"/>
              </a:solidFill>
              <a:prstDash val="solid"/>
              <a:headEnd type="none" w="med" len="med"/>
              <a:tailEnd type="none" w="med" len="med"/>
            </a:ln>
          </p:spPr>
        </p:sp>
        <p:sp>
          <p:nvSpPr>
            <p:cNvPr id="43042" name="直接连接符 1446958"/>
            <p:cNvSpPr/>
            <p:nvPr/>
          </p:nvSpPr>
          <p:spPr>
            <a:xfrm flipH="1">
              <a:off x="3840" y="737"/>
              <a:ext cx="145" cy="134"/>
            </a:xfrm>
            <a:prstGeom prst="line">
              <a:avLst/>
            </a:prstGeom>
            <a:ln w="38100" cap="sq" cmpd="sng">
              <a:solidFill>
                <a:srgbClr val="800000"/>
              </a:solidFill>
              <a:prstDash val="solid"/>
              <a:headEnd type="none" w="med" len="med"/>
              <a:tailEnd type="none" w="med" len="med"/>
            </a:ln>
          </p:spPr>
        </p:sp>
        <p:sp>
          <p:nvSpPr>
            <p:cNvPr id="43043" name="直接连接符 1446959"/>
            <p:cNvSpPr/>
            <p:nvPr/>
          </p:nvSpPr>
          <p:spPr>
            <a:xfrm flipH="1">
              <a:off x="3514" y="737"/>
              <a:ext cx="145" cy="134"/>
            </a:xfrm>
            <a:prstGeom prst="line">
              <a:avLst/>
            </a:prstGeom>
            <a:ln w="38100" cap="sq" cmpd="sng">
              <a:solidFill>
                <a:srgbClr val="800000"/>
              </a:solidFill>
              <a:prstDash val="solid"/>
              <a:headEnd type="none" w="med" len="med"/>
              <a:tailEnd type="none" w="med" len="med"/>
            </a:ln>
          </p:spPr>
        </p:sp>
        <p:sp>
          <p:nvSpPr>
            <p:cNvPr id="43044" name="直接连接符 1446960"/>
            <p:cNvSpPr/>
            <p:nvPr/>
          </p:nvSpPr>
          <p:spPr>
            <a:xfrm flipH="1">
              <a:off x="3188" y="737"/>
              <a:ext cx="145" cy="134"/>
            </a:xfrm>
            <a:prstGeom prst="line">
              <a:avLst/>
            </a:prstGeom>
            <a:ln w="38100" cap="sq" cmpd="sng">
              <a:solidFill>
                <a:srgbClr val="800000"/>
              </a:solidFill>
              <a:prstDash val="solid"/>
              <a:headEnd type="none" w="med" len="med"/>
              <a:tailEnd type="none" w="med" len="med"/>
            </a:ln>
          </p:spPr>
        </p:sp>
        <p:sp>
          <p:nvSpPr>
            <p:cNvPr id="43045" name="直接连接符 1446961"/>
            <p:cNvSpPr/>
            <p:nvPr/>
          </p:nvSpPr>
          <p:spPr>
            <a:xfrm flipH="1">
              <a:off x="3028" y="743"/>
              <a:ext cx="145" cy="134"/>
            </a:xfrm>
            <a:prstGeom prst="line">
              <a:avLst/>
            </a:prstGeom>
            <a:ln w="38100" cap="sq" cmpd="sng">
              <a:solidFill>
                <a:srgbClr val="800000"/>
              </a:solidFill>
              <a:prstDash val="solid"/>
              <a:headEnd type="none" w="med" len="med"/>
              <a:tailEnd type="none" w="med" len="med"/>
            </a:ln>
          </p:spPr>
        </p:sp>
        <p:sp>
          <p:nvSpPr>
            <p:cNvPr id="43046" name="直接连接符 1446962"/>
            <p:cNvSpPr/>
            <p:nvPr/>
          </p:nvSpPr>
          <p:spPr>
            <a:xfrm flipH="1">
              <a:off x="3981" y="743"/>
              <a:ext cx="145" cy="134"/>
            </a:xfrm>
            <a:prstGeom prst="line">
              <a:avLst/>
            </a:prstGeom>
            <a:ln w="38100" cap="sq" cmpd="sng">
              <a:solidFill>
                <a:srgbClr val="800000"/>
              </a:solidFill>
              <a:prstDash val="solid"/>
              <a:headEnd type="none" w="med" len="med"/>
              <a:tailEnd type="none" w="med" len="med"/>
            </a:ln>
          </p:spPr>
        </p:sp>
        <p:sp>
          <p:nvSpPr>
            <p:cNvPr id="43047" name="直接连接符 1446963"/>
            <p:cNvSpPr/>
            <p:nvPr/>
          </p:nvSpPr>
          <p:spPr>
            <a:xfrm flipH="1">
              <a:off x="4480" y="743"/>
              <a:ext cx="145" cy="134"/>
            </a:xfrm>
            <a:prstGeom prst="line">
              <a:avLst/>
            </a:prstGeom>
            <a:ln w="38100" cap="sq" cmpd="sng">
              <a:solidFill>
                <a:srgbClr val="800000"/>
              </a:solidFill>
              <a:prstDash val="solid"/>
              <a:headEnd type="none" w="med" len="med"/>
              <a:tailEnd type="none" w="med" len="med"/>
            </a:ln>
          </p:spPr>
        </p:sp>
        <p:sp>
          <p:nvSpPr>
            <p:cNvPr id="43048" name="直接连接符 1446964"/>
            <p:cNvSpPr/>
            <p:nvPr/>
          </p:nvSpPr>
          <p:spPr>
            <a:xfrm flipH="1">
              <a:off x="4800" y="743"/>
              <a:ext cx="145" cy="134"/>
            </a:xfrm>
            <a:prstGeom prst="line">
              <a:avLst/>
            </a:prstGeom>
            <a:ln w="38100" cap="sq" cmpd="sng">
              <a:solidFill>
                <a:srgbClr val="800000"/>
              </a:solidFill>
              <a:prstDash val="solid"/>
              <a:headEnd type="none" w="med" len="med"/>
              <a:tailEnd type="none" w="med" len="med"/>
            </a:ln>
          </p:spPr>
        </p:sp>
        <p:sp>
          <p:nvSpPr>
            <p:cNvPr id="43049" name="直接连接符 1446965"/>
            <p:cNvSpPr/>
            <p:nvPr/>
          </p:nvSpPr>
          <p:spPr>
            <a:xfrm flipH="1">
              <a:off x="4960" y="737"/>
              <a:ext cx="145" cy="134"/>
            </a:xfrm>
            <a:prstGeom prst="line">
              <a:avLst/>
            </a:prstGeom>
            <a:ln w="38100" cap="sq" cmpd="sng">
              <a:solidFill>
                <a:srgbClr val="800000"/>
              </a:solidFill>
              <a:prstDash val="solid"/>
              <a:headEnd type="none" w="med" len="med"/>
              <a:tailEnd type="none" w="med" len="med"/>
            </a:ln>
          </p:spPr>
        </p:sp>
        <p:sp>
          <p:nvSpPr>
            <p:cNvPr id="43050" name="直接连接符 1446966"/>
            <p:cNvSpPr/>
            <p:nvPr/>
          </p:nvSpPr>
          <p:spPr>
            <a:xfrm flipH="1">
              <a:off x="4634" y="737"/>
              <a:ext cx="145" cy="134"/>
            </a:xfrm>
            <a:prstGeom prst="line">
              <a:avLst/>
            </a:prstGeom>
            <a:ln w="38100" cap="sq" cmpd="sng">
              <a:solidFill>
                <a:srgbClr val="800000"/>
              </a:solidFill>
              <a:prstDash val="solid"/>
              <a:headEnd type="none" w="med" len="med"/>
              <a:tailEnd type="none" w="med" len="med"/>
            </a:ln>
          </p:spPr>
        </p:sp>
        <p:sp>
          <p:nvSpPr>
            <p:cNvPr id="43051" name="直接连接符 1446967"/>
            <p:cNvSpPr/>
            <p:nvPr/>
          </p:nvSpPr>
          <p:spPr>
            <a:xfrm flipH="1">
              <a:off x="4308" y="737"/>
              <a:ext cx="145" cy="134"/>
            </a:xfrm>
            <a:prstGeom prst="line">
              <a:avLst/>
            </a:prstGeom>
            <a:ln w="38100" cap="sq" cmpd="sng">
              <a:solidFill>
                <a:srgbClr val="800000"/>
              </a:solidFill>
              <a:prstDash val="solid"/>
              <a:headEnd type="none" w="med" len="med"/>
              <a:tailEnd type="none" w="med" len="med"/>
            </a:ln>
          </p:spPr>
        </p:sp>
        <p:sp>
          <p:nvSpPr>
            <p:cNvPr id="43052" name="直接连接符 1446968"/>
            <p:cNvSpPr/>
            <p:nvPr/>
          </p:nvSpPr>
          <p:spPr>
            <a:xfrm flipH="1">
              <a:off x="4148" y="743"/>
              <a:ext cx="145" cy="134"/>
            </a:xfrm>
            <a:prstGeom prst="line">
              <a:avLst/>
            </a:prstGeom>
            <a:ln w="38100" cap="sq" cmpd="sng">
              <a:solidFill>
                <a:srgbClr val="800000"/>
              </a:solidFill>
              <a:prstDash val="solid"/>
              <a:headEnd type="none" w="med" len="med"/>
              <a:tailEnd type="none" w="med" len="med"/>
            </a:ln>
          </p:spPr>
        </p:sp>
        <p:sp>
          <p:nvSpPr>
            <p:cNvPr id="43053" name="直接连接符 1446969"/>
            <p:cNvSpPr/>
            <p:nvPr/>
          </p:nvSpPr>
          <p:spPr>
            <a:xfrm flipH="1">
              <a:off x="5101" y="743"/>
              <a:ext cx="145" cy="134"/>
            </a:xfrm>
            <a:prstGeom prst="line">
              <a:avLst/>
            </a:prstGeom>
            <a:ln w="38100" cap="sq" cmpd="sng">
              <a:solidFill>
                <a:srgbClr val="800000"/>
              </a:solidFill>
              <a:prstDash val="solid"/>
              <a:headEnd type="none" w="med" len="med"/>
              <a:tailEnd type="none" w="med" len="med"/>
            </a:ln>
          </p:spPr>
        </p:sp>
      </p:grpSp>
      <p:sp>
        <p:nvSpPr>
          <p:cNvPr id="1446971" name="线形标注 1(无边框) 1446970"/>
          <p:cNvSpPr/>
          <p:nvPr/>
        </p:nvSpPr>
        <p:spPr>
          <a:xfrm>
            <a:off x="8078788" y="1428750"/>
            <a:ext cx="1119187" cy="958850"/>
          </a:xfrm>
          <a:prstGeom prst="callout1">
            <a:avLst>
              <a:gd name="adj1" fmla="val 11921"/>
              <a:gd name="adj2" fmla="val -6810"/>
              <a:gd name="adj3" fmla="val 85926"/>
              <a:gd name="adj4" fmla="val -116736"/>
            </a:avLst>
          </a:prstGeom>
          <a:noFill/>
          <a:ln w="38100" cap="sq" cmpd="sng">
            <a:solidFill>
              <a:srgbClr val="993300"/>
            </a:solidFill>
            <a:prstDash val="solid"/>
            <a:miter/>
            <a:headEnd type="none" w="med" len="med"/>
            <a:tailEnd type="none" w="med" len="med"/>
          </a:ln>
        </p:spPr>
        <p:txBody>
          <a:bodyPr lIns="0" tIns="0"/>
          <a:lstStyle/>
          <a:p>
            <a:pPr>
              <a:spcBef>
                <a:spcPct val="0"/>
              </a:spcBef>
            </a:pPr>
            <a:r>
              <a:rPr lang="en-US" altLang="zh-CN" sz="2400" dirty="0">
                <a:solidFill>
                  <a:schemeClr val="tx1"/>
                </a:solidFill>
                <a:latin typeface="Times New Roman" panose="02020603050405020304" pitchFamily="18" charset="0"/>
              </a:rPr>
              <a:t>0.05</a:t>
            </a:r>
          </a:p>
          <a:p>
            <a:pPr>
              <a:spcBef>
                <a:spcPct val="0"/>
              </a:spcBef>
            </a:pPr>
            <a:r>
              <a:rPr lang="zh-CN" altLang="en-US" sz="2400" dirty="0">
                <a:solidFill>
                  <a:schemeClr val="tx1"/>
                </a:solidFill>
                <a:latin typeface="Times New Roman" panose="02020603050405020304" pitchFamily="18" charset="0"/>
              </a:rPr>
              <a:t>或</a:t>
            </a:r>
          </a:p>
          <a:p>
            <a:pPr>
              <a:spcBef>
                <a:spcPct val="0"/>
              </a:spcBef>
            </a:pPr>
            <a:r>
              <a:rPr lang="en-US" altLang="zh-CN" sz="2400" dirty="0">
                <a:solidFill>
                  <a:schemeClr val="tx1"/>
                </a:solidFill>
                <a:latin typeface="Times New Roman" panose="02020603050405020304" pitchFamily="18" charset="0"/>
              </a:rPr>
              <a:t>0.02</a:t>
            </a:r>
          </a:p>
        </p:txBody>
      </p:sp>
      <p:sp>
        <p:nvSpPr>
          <p:cNvPr id="1446972" name="任意多边形 1446971"/>
          <p:cNvSpPr/>
          <p:nvPr/>
        </p:nvSpPr>
        <p:spPr>
          <a:xfrm>
            <a:off x="6550025" y="1704975"/>
            <a:ext cx="1466850" cy="1354138"/>
          </a:xfrm>
          <a:custGeom>
            <a:avLst/>
            <a:gdLst/>
            <a:ahLst/>
            <a:cxnLst>
              <a:cxn ang="0">
                <a:pos x="0" y="2147483647"/>
              </a:cxn>
              <a:cxn ang="0">
                <a:pos x="2147483647" y="2147483647"/>
              </a:cxn>
              <a:cxn ang="0">
                <a:pos x="2147483647" y="0"/>
              </a:cxn>
            </a:cxnLst>
            <a:rect l="0" t="0" r="0" b="0"/>
            <a:pathLst>
              <a:path w="924" h="853">
                <a:moveTo>
                  <a:pt x="0" y="456"/>
                </a:moveTo>
                <a:cubicBezTo>
                  <a:pt x="63" y="654"/>
                  <a:pt x="127" y="853"/>
                  <a:pt x="281" y="777"/>
                </a:cubicBezTo>
                <a:cubicBezTo>
                  <a:pt x="435" y="701"/>
                  <a:pt x="817" y="129"/>
                  <a:pt x="924" y="0"/>
                </a:cubicBezTo>
              </a:path>
            </a:pathLst>
          </a:custGeom>
          <a:noFill/>
          <a:ln w="38100" cap="sq" cmpd="sng">
            <a:solidFill>
              <a:srgbClr val="993300">
                <a:alpha val="100000"/>
              </a:srgbClr>
            </a:solidFill>
            <a:prstDash val="solid"/>
            <a:round/>
            <a:headEnd type="none" w="med" len="med"/>
            <a:tailEnd type="none" w="med" len="med"/>
          </a:ln>
        </p:spPr>
        <p:txBody>
          <a:bodyPr/>
          <a:lstStyle/>
          <a:p>
            <a:endParaRPr lang="zh-CN" altLang="en-US"/>
          </a:p>
        </p:txBody>
      </p:sp>
      <p:sp>
        <p:nvSpPr>
          <p:cNvPr id="1446973" name="矩形 1446972"/>
          <p:cNvSpPr/>
          <p:nvPr/>
        </p:nvSpPr>
        <p:spPr>
          <a:xfrm>
            <a:off x="1741488" y="4362450"/>
            <a:ext cx="376237" cy="519113"/>
          </a:xfrm>
          <a:prstGeom prst="rect">
            <a:avLst/>
          </a:prstGeom>
          <a:noFill/>
          <a:ln w="9525">
            <a:noFill/>
          </a:ln>
        </p:spPr>
        <p:txBody>
          <a:bodyPr wrap="none">
            <a:spAutoFit/>
          </a:bodyPr>
          <a:lstStyle/>
          <a:p>
            <a:pP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r</a:t>
            </a:r>
          </a:p>
        </p:txBody>
      </p:sp>
      <p:sp>
        <p:nvSpPr>
          <p:cNvPr id="1446974" name="矩形 1446973"/>
          <p:cNvSpPr/>
          <p:nvPr/>
        </p:nvSpPr>
        <p:spPr>
          <a:xfrm>
            <a:off x="2062163" y="4364038"/>
            <a:ext cx="581025" cy="519112"/>
          </a:xfrm>
          <a:prstGeom prst="rect">
            <a:avLst/>
          </a:prstGeom>
          <a:noFill/>
          <a:ln w="9525">
            <a:noFill/>
          </a:ln>
        </p:spPr>
        <p:txBody>
          <a:bodyPr>
            <a:spAutoFit/>
          </a:bodyPr>
          <a:lstStyle/>
          <a:p>
            <a:pPr>
              <a:spcBef>
                <a:spcPct val="0"/>
              </a:spcBef>
            </a:pP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25000" dirty="0">
                <a:solidFill>
                  <a:schemeClr val="tx1"/>
                </a:solidFill>
                <a:latin typeface="Times New Roman" panose="02020603050405020304" pitchFamily="18" charset="0"/>
                <a:sym typeface="Symbol" panose="05050102010706020507" pitchFamily="18" charset="2"/>
              </a:rPr>
              <a:t>p</a:t>
            </a:r>
            <a:r>
              <a:rPr lang="en-US" altLang="zh-CN" sz="2800" dirty="0">
                <a:solidFill>
                  <a:schemeClr val="tx1"/>
                </a:solidFill>
                <a:latin typeface="Times New Roman" panose="02020603050405020304" pitchFamily="18" charset="0"/>
                <a:sym typeface="Symbol" panose="05050102010706020507" pitchFamily="18" charset="2"/>
              </a:rPr>
              <a:t> </a:t>
            </a:r>
          </a:p>
        </p:txBody>
      </p:sp>
      <p:sp>
        <p:nvSpPr>
          <p:cNvPr id="1446975" name="矩形 1446974"/>
          <p:cNvSpPr/>
          <p:nvPr/>
        </p:nvSpPr>
        <p:spPr>
          <a:xfrm>
            <a:off x="4081463" y="4364038"/>
            <a:ext cx="376237" cy="519112"/>
          </a:xfrm>
          <a:prstGeom prst="rect">
            <a:avLst/>
          </a:prstGeom>
          <a:noFill/>
          <a:ln w="9525">
            <a:noFill/>
          </a:ln>
        </p:spPr>
        <p:txBody>
          <a:bodyPr wrap="none">
            <a:spAutoFit/>
          </a:bodyPr>
          <a:lstStyle/>
          <a:p>
            <a:pP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25000" dirty="0">
                <a:solidFill>
                  <a:schemeClr val="tx1"/>
                </a:solidFill>
                <a:latin typeface="Times New Roman" panose="02020603050405020304" pitchFamily="18" charset="0"/>
                <a:sym typeface="Symbol" panose="05050102010706020507" pitchFamily="18" charset="2"/>
              </a:rPr>
              <a:t>s</a:t>
            </a:r>
            <a:endParaRPr lang="en-US" altLang="zh-CN" sz="2800" i="1" baseline="-30000" dirty="0">
              <a:solidFill>
                <a:schemeClr val="tx1"/>
              </a:solidFill>
              <a:latin typeface="Times New Roman" panose="02020603050405020304" pitchFamily="18" charset="0"/>
              <a:sym typeface="Symbol" panose="05050102010706020507" pitchFamily="18" charset="2"/>
            </a:endParaRPr>
          </a:p>
        </p:txBody>
      </p:sp>
      <p:sp>
        <p:nvSpPr>
          <p:cNvPr id="1446976" name="矩形 1446975"/>
          <p:cNvSpPr/>
          <p:nvPr/>
        </p:nvSpPr>
        <p:spPr>
          <a:xfrm>
            <a:off x="1335088" y="4348163"/>
            <a:ext cx="519112" cy="519112"/>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d</a:t>
            </a:r>
          </a:p>
        </p:txBody>
      </p:sp>
      <p:sp>
        <p:nvSpPr>
          <p:cNvPr id="65" name="Freeform 56">
            <a:extLst>
              <a:ext uri="{FF2B5EF4-FFF2-40B4-BE49-F238E27FC236}">
                <a16:creationId xmlns:a16="http://schemas.microsoft.com/office/drawing/2014/main" id="{E1C145A2-61FF-4B8A-A973-13495476D8CA}"/>
              </a:ext>
            </a:extLst>
          </p:cNvPr>
          <p:cNvSpPr>
            <a:spLocks/>
          </p:cNvSpPr>
          <p:nvPr/>
        </p:nvSpPr>
        <p:spPr bwMode="auto">
          <a:xfrm>
            <a:off x="1110450" y="735900"/>
            <a:ext cx="2139796" cy="602363"/>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6915"/>
                                        </p:tgtEl>
                                        <p:attrNameLst>
                                          <p:attrName>style.visibility</p:attrName>
                                        </p:attrNameLst>
                                      </p:cBhvr>
                                      <p:to>
                                        <p:strVal val="visible"/>
                                      </p:to>
                                    </p:set>
                                    <p:anim calcmode="lin" valueType="num">
                                      <p:cBhvr additive="base">
                                        <p:cTn id="7" dur="500" fill="hold"/>
                                        <p:tgtEl>
                                          <p:spTgt spid="1446915"/>
                                        </p:tgtEl>
                                        <p:attrNameLst>
                                          <p:attrName>ppt_x</p:attrName>
                                        </p:attrNameLst>
                                      </p:cBhvr>
                                      <p:tavLst>
                                        <p:tav tm="0">
                                          <p:val>
                                            <p:strVal val="0-#ppt_w/2"/>
                                          </p:val>
                                        </p:tav>
                                        <p:tav tm="100000">
                                          <p:val>
                                            <p:strVal val="#ppt_x"/>
                                          </p:val>
                                        </p:tav>
                                      </p:tavLst>
                                    </p:anim>
                                    <p:anim calcmode="lin" valueType="num">
                                      <p:cBhvr additive="base">
                                        <p:cTn id="8" dur="500" fill="hold"/>
                                        <p:tgtEl>
                                          <p:spTgt spid="14469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wipe(down)">
                                      <p:cBhvr>
                                        <p:cTn id="13" dur="580">
                                          <p:stCondLst>
                                            <p:cond delay="0"/>
                                          </p:stCondLst>
                                        </p:cTn>
                                        <p:tgtEl>
                                          <p:spTgt spid="65"/>
                                        </p:tgtEl>
                                      </p:cBhvr>
                                    </p:animEffect>
                                    <p:anim calcmode="lin" valueType="num">
                                      <p:cBhvr>
                                        <p:cTn id="14" dur="1822" tmFilter="0,0; 0.14,0.36; 0.43,0.73; 0.71,0.91; 1.0,1.0">
                                          <p:stCondLst>
                                            <p:cond delay="0"/>
                                          </p:stCondLst>
                                        </p:cTn>
                                        <p:tgtEl>
                                          <p:spTgt spid="65"/>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5"/>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5"/>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5"/>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5"/>
                                        </p:tgtEl>
                                        <p:attrNameLst>
                                          <p:attrName>ppt_y</p:attrName>
                                        </p:attrNameLst>
                                      </p:cBhvr>
                                      <p:tavLst>
                                        <p:tav tm="0" fmla="#ppt_y-sin(pi*$)/81">
                                          <p:val>
                                            <p:fltVal val="0"/>
                                          </p:val>
                                        </p:tav>
                                        <p:tav tm="100000">
                                          <p:val>
                                            <p:fltVal val="1"/>
                                          </p:val>
                                        </p:tav>
                                      </p:tavLst>
                                    </p:anim>
                                    <p:animScale>
                                      <p:cBhvr>
                                        <p:cTn id="19" dur="26">
                                          <p:stCondLst>
                                            <p:cond delay="650"/>
                                          </p:stCondLst>
                                        </p:cTn>
                                        <p:tgtEl>
                                          <p:spTgt spid="65"/>
                                        </p:tgtEl>
                                      </p:cBhvr>
                                      <p:to x="100000" y="60000"/>
                                    </p:animScale>
                                    <p:animScale>
                                      <p:cBhvr>
                                        <p:cTn id="20" dur="166" decel="50000">
                                          <p:stCondLst>
                                            <p:cond delay="676"/>
                                          </p:stCondLst>
                                        </p:cTn>
                                        <p:tgtEl>
                                          <p:spTgt spid="65"/>
                                        </p:tgtEl>
                                      </p:cBhvr>
                                      <p:to x="100000" y="100000"/>
                                    </p:animScale>
                                    <p:animScale>
                                      <p:cBhvr>
                                        <p:cTn id="21" dur="26">
                                          <p:stCondLst>
                                            <p:cond delay="1312"/>
                                          </p:stCondLst>
                                        </p:cTn>
                                        <p:tgtEl>
                                          <p:spTgt spid="65"/>
                                        </p:tgtEl>
                                      </p:cBhvr>
                                      <p:to x="100000" y="80000"/>
                                    </p:animScale>
                                    <p:animScale>
                                      <p:cBhvr>
                                        <p:cTn id="22" dur="166" decel="50000">
                                          <p:stCondLst>
                                            <p:cond delay="1338"/>
                                          </p:stCondLst>
                                        </p:cTn>
                                        <p:tgtEl>
                                          <p:spTgt spid="65"/>
                                        </p:tgtEl>
                                      </p:cBhvr>
                                      <p:to x="100000" y="100000"/>
                                    </p:animScale>
                                    <p:animScale>
                                      <p:cBhvr>
                                        <p:cTn id="23" dur="26">
                                          <p:stCondLst>
                                            <p:cond delay="1642"/>
                                          </p:stCondLst>
                                        </p:cTn>
                                        <p:tgtEl>
                                          <p:spTgt spid="65"/>
                                        </p:tgtEl>
                                      </p:cBhvr>
                                      <p:to x="100000" y="90000"/>
                                    </p:animScale>
                                    <p:animScale>
                                      <p:cBhvr>
                                        <p:cTn id="24" dur="166" decel="50000">
                                          <p:stCondLst>
                                            <p:cond delay="1668"/>
                                          </p:stCondLst>
                                        </p:cTn>
                                        <p:tgtEl>
                                          <p:spTgt spid="65"/>
                                        </p:tgtEl>
                                      </p:cBhvr>
                                      <p:to x="100000" y="100000"/>
                                    </p:animScale>
                                    <p:animScale>
                                      <p:cBhvr>
                                        <p:cTn id="25" dur="26">
                                          <p:stCondLst>
                                            <p:cond delay="1808"/>
                                          </p:stCondLst>
                                        </p:cTn>
                                        <p:tgtEl>
                                          <p:spTgt spid="65"/>
                                        </p:tgtEl>
                                      </p:cBhvr>
                                      <p:to x="100000" y="95000"/>
                                    </p:animScale>
                                    <p:animScale>
                                      <p:cBhvr>
                                        <p:cTn id="26" dur="166" decel="50000">
                                          <p:stCondLst>
                                            <p:cond delay="1834"/>
                                          </p:stCondLst>
                                        </p:cTn>
                                        <p:tgtEl>
                                          <p:spTgt spid="65"/>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grpId="0" nodeType="clickEffect">
                                  <p:stCondLst>
                                    <p:cond delay="0"/>
                                  </p:stCondLst>
                                  <p:childTnLst>
                                    <p:set>
                                      <p:cBhvr>
                                        <p:cTn id="30" dur="1" fill="hold">
                                          <p:stCondLst>
                                            <p:cond delay="0"/>
                                          </p:stCondLst>
                                        </p:cTn>
                                        <p:tgtEl>
                                          <p:spTgt spid="1446916"/>
                                        </p:tgtEl>
                                        <p:attrNameLst>
                                          <p:attrName>style.visibility</p:attrName>
                                        </p:attrNameLst>
                                      </p:cBhvr>
                                      <p:to>
                                        <p:strVal val="visible"/>
                                      </p:to>
                                    </p:set>
                                    <p:animEffect transition="in" filter="wipe(down)">
                                      <p:cBhvr>
                                        <p:cTn id="31" dur="580">
                                          <p:stCondLst>
                                            <p:cond delay="0"/>
                                          </p:stCondLst>
                                        </p:cTn>
                                        <p:tgtEl>
                                          <p:spTgt spid="1446916"/>
                                        </p:tgtEl>
                                      </p:cBhvr>
                                    </p:animEffect>
                                    <p:anim calcmode="lin" valueType="num">
                                      <p:cBhvr>
                                        <p:cTn id="32" dur="1822" tmFilter="0,0; 0.14,0.36; 0.43,0.73; 0.71,0.91; 1.0,1.0">
                                          <p:stCondLst>
                                            <p:cond delay="0"/>
                                          </p:stCondLst>
                                        </p:cTn>
                                        <p:tgtEl>
                                          <p:spTgt spid="1446916"/>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1446916"/>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1446916"/>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1446916"/>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1446916"/>
                                        </p:tgtEl>
                                        <p:attrNameLst>
                                          <p:attrName>ppt_y</p:attrName>
                                        </p:attrNameLst>
                                      </p:cBhvr>
                                      <p:tavLst>
                                        <p:tav tm="0" fmla="#ppt_y-sin(pi*$)/81">
                                          <p:val>
                                            <p:fltVal val="0"/>
                                          </p:val>
                                        </p:tav>
                                        <p:tav tm="100000">
                                          <p:val>
                                            <p:fltVal val="1"/>
                                          </p:val>
                                        </p:tav>
                                      </p:tavLst>
                                    </p:anim>
                                    <p:animScale>
                                      <p:cBhvr>
                                        <p:cTn id="37" dur="26">
                                          <p:stCondLst>
                                            <p:cond delay="650"/>
                                          </p:stCondLst>
                                        </p:cTn>
                                        <p:tgtEl>
                                          <p:spTgt spid="1446916"/>
                                        </p:tgtEl>
                                      </p:cBhvr>
                                      <p:to x="100000" y="60000"/>
                                    </p:animScale>
                                    <p:animScale>
                                      <p:cBhvr>
                                        <p:cTn id="38" dur="166" decel="50000">
                                          <p:stCondLst>
                                            <p:cond delay="676"/>
                                          </p:stCondLst>
                                        </p:cTn>
                                        <p:tgtEl>
                                          <p:spTgt spid="1446916"/>
                                        </p:tgtEl>
                                      </p:cBhvr>
                                      <p:to x="100000" y="100000"/>
                                    </p:animScale>
                                    <p:animScale>
                                      <p:cBhvr>
                                        <p:cTn id="39" dur="26">
                                          <p:stCondLst>
                                            <p:cond delay="1312"/>
                                          </p:stCondLst>
                                        </p:cTn>
                                        <p:tgtEl>
                                          <p:spTgt spid="1446916"/>
                                        </p:tgtEl>
                                      </p:cBhvr>
                                      <p:to x="100000" y="80000"/>
                                    </p:animScale>
                                    <p:animScale>
                                      <p:cBhvr>
                                        <p:cTn id="40" dur="166" decel="50000">
                                          <p:stCondLst>
                                            <p:cond delay="1338"/>
                                          </p:stCondLst>
                                        </p:cTn>
                                        <p:tgtEl>
                                          <p:spTgt spid="1446916"/>
                                        </p:tgtEl>
                                      </p:cBhvr>
                                      <p:to x="100000" y="100000"/>
                                    </p:animScale>
                                    <p:animScale>
                                      <p:cBhvr>
                                        <p:cTn id="41" dur="26">
                                          <p:stCondLst>
                                            <p:cond delay="1642"/>
                                          </p:stCondLst>
                                        </p:cTn>
                                        <p:tgtEl>
                                          <p:spTgt spid="1446916"/>
                                        </p:tgtEl>
                                      </p:cBhvr>
                                      <p:to x="100000" y="90000"/>
                                    </p:animScale>
                                    <p:animScale>
                                      <p:cBhvr>
                                        <p:cTn id="42" dur="166" decel="50000">
                                          <p:stCondLst>
                                            <p:cond delay="1668"/>
                                          </p:stCondLst>
                                        </p:cTn>
                                        <p:tgtEl>
                                          <p:spTgt spid="1446916"/>
                                        </p:tgtEl>
                                      </p:cBhvr>
                                      <p:to x="100000" y="100000"/>
                                    </p:animScale>
                                    <p:animScale>
                                      <p:cBhvr>
                                        <p:cTn id="43" dur="26">
                                          <p:stCondLst>
                                            <p:cond delay="1808"/>
                                          </p:stCondLst>
                                        </p:cTn>
                                        <p:tgtEl>
                                          <p:spTgt spid="1446916"/>
                                        </p:tgtEl>
                                      </p:cBhvr>
                                      <p:to x="100000" y="95000"/>
                                    </p:animScale>
                                    <p:animScale>
                                      <p:cBhvr>
                                        <p:cTn id="44" dur="166" decel="50000">
                                          <p:stCondLst>
                                            <p:cond delay="1834"/>
                                          </p:stCondLst>
                                        </p:cTn>
                                        <p:tgtEl>
                                          <p:spTgt spid="1446916"/>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446919"/>
                                        </p:tgtEl>
                                        <p:attrNameLst>
                                          <p:attrName>style.visibility</p:attrName>
                                        </p:attrNameLst>
                                      </p:cBhvr>
                                      <p:to>
                                        <p:strVal val="visible"/>
                                      </p:to>
                                    </p:set>
                                    <p:animEffect transition="in" filter="dissolve">
                                      <p:cBhvr>
                                        <p:cTn id="49" dur="500"/>
                                        <p:tgtEl>
                                          <p:spTgt spid="1446919"/>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1446925"/>
                                        </p:tgtEl>
                                        <p:attrNameLst>
                                          <p:attrName>style.visibility</p:attrName>
                                        </p:attrNameLst>
                                      </p:cBhvr>
                                      <p:to>
                                        <p:strVal val="visible"/>
                                      </p:to>
                                    </p:set>
                                    <p:animEffect transition="in" filter="dissolve">
                                      <p:cBhvr>
                                        <p:cTn id="54" dur="500"/>
                                        <p:tgtEl>
                                          <p:spTgt spid="1446925"/>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1446931"/>
                                        </p:tgtEl>
                                        <p:attrNameLst>
                                          <p:attrName>style.visibility</p:attrName>
                                        </p:attrNameLst>
                                      </p:cBhvr>
                                      <p:to>
                                        <p:strVal val="visible"/>
                                      </p:to>
                                    </p:set>
                                    <p:animEffect transition="in" filter="dissolve">
                                      <p:cBhvr>
                                        <p:cTn id="58" dur="500"/>
                                        <p:tgtEl>
                                          <p:spTgt spid="1446931"/>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1446918"/>
                                        </p:tgtEl>
                                        <p:attrNameLst>
                                          <p:attrName>style.visibility</p:attrName>
                                        </p:attrNameLst>
                                      </p:cBhvr>
                                      <p:to>
                                        <p:strVal val="visible"/>
                                      </p:to>
                                    </p:set>
                                    <p:animEffect transition="in" filter="wipe(left)">
                                      <p:cBhvr>
                                        <p:cTn id="62" dur="500"/>
                                        <p:tgtEl>
                                          <p:spTgt spid="144691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446932"/>
                                        </p:tgtEl>
                                        <p:attrNameLst>
                                          <p:attrName>style.visibility</p:attrName>
                                        </p:attrNameLst>
                                      </p:cBhvr>
                                      <p:to>
                                        <p:strVal val="visible"/>
                                      </p:to>
                                    </p:set>
                                    <p:animEffect transition="in" filter="dissolve">
                                      <p:cBhvr>
                                        <p:cTn id="67" dur="500"/>
                                        <p:tgtEl>
                                          <p:spTgt spid="1446932"/>
                                        </p:tgtEl>
                                      </p:cBhvr>
                                    </p:animEffect>
                                  </p:childTnLst>
                                </p:cTn>
                              </p:par>
                            </p:childTnLst>
                          </p:cTn>
                        </p:par>
                        <p:par>
                          <p:cTn id="68" fill="hold">
                            <p:stCondLst>
                              <p:cond delay="500"/>
                            </p:stCondLst>
                            <p:childTnLst>
                              <p:par>
                                <p:cTn id="69" presetID="9" presetClass="entr" presetSubtype="0" fill="hold" nodeType="afterEffect">
                                  <p:stCondLst>
                                    <p:cond delay="0"/>
                                  </p:stCondLst>
                                  <p:childTnLst>
                                    <p:set>
                                      <p:cBhvr>
                                        <p:cTn id="70" dur="1" fill="hold">
                                          <p:stCondLst>
                                            <p:cond delay="0"/>
                                          </p:stCondLst>
                                        </p:cTn>
                                        <p:tgtEl>
                                          <p:spTgt spid="1446930"/>
                                        </p:tgtEl>
                                        <p:attrNameLst>
                                          <p:attrName>style.visibility</p:attrName>
                                        </p:attrNameLst>
                                      </p:cBhvr>
                                      <p:to>
                                        <p:strVal val="visible"/>
                                      </p:to>
                                    </p:set>
                                    <p:animEffect transition="in" filter="dissolve">
                                      <p:cBhvr>
                                        <p:cTn id="71" dur="500"/>
                                        <p:tgtEl>
                                          <p:spTgt spid="1446930"/>
                                        </p:tgtEl>
                                      </p:cBhvr>
                                    </p:animEffect>
                                  </p:childTnLst>
                                </p:cTn>
                              </p:par>
                            </p:childTnLst>
                          </p:cTn>
                        </p:par>
                        <p:par>
                          <p:cTn id="72" fill="hold">
                            <p:stCondLst>
                              <p:cond delay="1000"/>
                            </p:stCondLst>
                            <p:childTnLst>
                              <p:par>
                                <p:cTn id="73" presetID="9" presetClass="entr" presetSubtype="0" fill="hold" nodeType="afterEffect">
                                  <p:stCondLst>
                                    <p:cond delay="0"/>
                                  </p:stCondLst>
                                  <p:childTnLst>
                                    <p:set>
                                      <p:cBhvr>
                                        <p:cTn id="74" dur="1" fill="hold">
                                          <p:stCondLst>
                                            <p:cond delay="0"/>
                                          </p:stCondLst>
                                        </p:cTn>
                                        <p:tgtEl>
                                          <p:spTgt spid="1446926"/>
                                        </p:tgtEl>
                                        <p:attrNameLst>
                                          <p:attrName>style.visibility</p:attrName>
                                        </p:attrNameLst>
                                      </p:cBhvr>
                                      <p:to>
                                        <p:strVal val="visible"/>
                                      </p:to>
                                    </p:set>
                                    <p:animEffect transition="in" filter="dissolve">
                                      <p:cBhvr>
                                        <p:cTn id="75" dur="500"/>
                                        <p:tgtEl>
                                          <p:spTgt spid="1446926"/>
                                        </p:tgtEl>
                                      </p:cBhvr>
                                    </p:animEffect>
                                  </p:childTnLst>
                                </p:cTn>
                              </p:par>
                            </p:childTnLst>
                          </p:cTn>
                        </p:par>
                        <p:par>
                          <p:cTn id="76" fill="hold">
                            <p:stCondLst>
                              <p:cond delay="1500"/>
                            </p:stCondLst>
                            <p:childTnLst>
                              <p:par>
                                <p:cTn id="77" presetID="9" presetClass="entr" presetSubtype="0" fill="hold" grpId="0" nodeType="afterEffect">
                                  <p:stCondLst>
                                    <p:cond delay="1000"/>
                                  </p:stCondLst>
                                  <p:childTnLst>
                                    <p:set>
                                      <p:cBhvr>
                                        <p:cTn id="78" dur="1" fill="hold">
                                          <p:stCondLst>
                                            <p:cond delay="0"/>
                                          </p:stCondLst>
                                        </p:cTn>
                                        <p:tgtEl>
                                          <p:spTgt spid="1446976"/>
                                        </p:tgtEl>
                                        <p:attrNameLst>
                                          <p:attrName>style.visibility</p:attrName>
                                        </p:attrNameLst>
                                      </p:cBhvr>
                                      <p:to>
                                        <p:strVal val="visible"/>
                                      </p:to>
                                    </p:set>
                                    <p:animEffect transition="in" filter="dissolve">
                                      <p:cBhvr>
                                        <p:cTn id="79" dur="500"/>
                                        <p:tgtEl>
                                          <p:spTgt spid="1446976"/>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nodeType="clickEffect">
                                  <p:stCondLst>
                                    <p:cond delay="0"/>
                                  </p:stCondLst>
                                  <p:childTnLst>
                                    <p:set>
                                      <p:cBhvr>
                                        <p:cTn id="83" dur="1" fill="hold">
                                          <p:stCondLst>
                                            <p:cond delay="0"/>
                                          </p:stCondLst>
                                        </p:cTn>
                                        <p:tgtEl>
                                          <p:spTgt spid="1446927"/>
                                        </p:tgtEl>
                                        <p:attrNameLst>
                                          <p:attrName>style.visibility</p:attrName>
                                        </p:attrNameLst>
                                      </p:cBhvr>
                                      <p:to>
                                        <p:strVal val="visible"/>
                                      </p:to>
                                    </p:set>
                                    <p:animEffect transition="in" filter="dissolve">
                                      <p:cBhvr>
                                        <p:cTn id="84" dur="500"/>
                                        <p:tgtEl>
                                          <p:spTgt spid="1446927"/>
                                        </p:tgtEl>
                                      </p:cBhvr>
                                    </p:animEffect>
                                  </p:childTnLst>
                                </p:cTn>
                              </p:par>
                            </p:childTnLst>
                          </p:cTn>
                        </p:par>
                        <p:par>
                          <p:cTn id="85" fill="hold">
                            <p:stCondLst>
                              <p:cond delay="500"/>
                            </p:stCondLst>
                            <p:childTnLst>
                              <p:par>
                                <p:cTn id="86" presetID="9" presetClass="entr" presetSubtype="0" fill="hold" grpId="0" nodeType="afterEffect">
                                  <p:stCondLst>
                                    <p:cond delay="1000"/>
                                  </p:stCondLst>
                                  <p:childTnLst>
                                    <p:set>
                                      <p:cBhvr>
                                        <p:cTn id="87" dur="1" fill="hold">
                                          <p:stCondLst>
                                            <p:cond delay="0"/>
                                          </p:stCondLst>
                                        </p:cTn>
                                        <p:tgtEl>
                                          <p:spTgt spid="1446973"/>
                                        </p:tgtEl>
                                        <p:attrNameLst>
                                          <p:attrName>style.visibility</p:attrName>
                                        </p:attrNameLst>
                                      </p:cBhvr>
                                      <p:to>
                                        <p:strVal val="visible"/>
                                      </p:to>
                                    </p:set>
                                    <p:animEffect transition="in" filter="dissolve">
                                      <p:cBhvr>
                                        <p:cTn id="88" dur="500"/>
                                        <p:tgtEl>
                                          <p:spTgt spid="1446973"/>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1446928"/>
                                        </p:tgtEl>
                                        <p:attrNameLst>
                                          <p:attrName>style.visibility</p:attrName>
                                        </p:attrNameLst>
                                      </p:cBhvr>
                                      <p:to>
                                        <p:strVal val="visible"/>
                                      </p:to>
                                    </p:set>
                                    <p:animEffect transition="in" filter="dissolve">
                                      <p:cBhvr>
                                        <p:cTn id="93" dur="500"/>
                                        <p:tgtEl>
                                          <p:spTgt spid="1446928"/>
                                        </p:tgtEl>
                                      </p:cBhvr>
                                    </p:animEffect>
                                  </p:childTnLst>
                                </p:cTn>
                              </p:par>
                            </p:childTnLst>
                          </p:cTn>
                        </p:par>
                        <p:par>
                          <p:cTn id="94" fill="hold">
                            <p:stCondLst>
                              <p:cond delay="500"/>
                            </p:stCondLst>
                            <p:childTnLst>
                              <p:par>
                                <p:cTn id="95" presetID="9" presetClass="entr" presetSubtype="0" fill="hold" grpId="0" nodeType="afterEffect">
                                  <p:stCondLst>
                                    <p:cond delay="2000"/>
                                  </p:stCondLst>
                                  <p:childTnLst>
                                    <p:set>
                                      <p:cBhvr>
                                        <p:cTn id="96" dur="1" fill="hold">
                                          <p:stCondLst>
                                            <p:cond delay="0"/>
                                          </p:stCondLst>
                                        </p:cTn>
                                        <p:tgtEl>
                                          <p:spTgt spid="1446974"/>
                                        </p:tgtEl>
                                        <p:attrNameLst>
                                          <p:attrName>style.visibility</p:attrName>
                                        </p:attrNameLst>
                                      </p:cBhvr>
                                      <p:to>
                                        <p:strVal val="visible"/>
                                      </p:to>
                                    </p:set>
                                    <p:animEffect transition="in" filter="dissolve">
                                      <p:cBhvr>
                                        <p:cTn id="97" dur="500"/>
                                        <p:tgtEl>
                                          <p:spTgt spid="1446974"/>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1446938"/>
                                        </p:tgtEl>
                                        <p:attrNameLst>
                                          <p:attrName>style.visibility</p:attrName>
                                        </p:attrNameLst>
                                      </p:cBhvr>
                                      <p:to>
                                        <p:strVal val="visible"/>
                                      </p:to>
                                    </p:set>
                                    <p:animEffect transition="in" filter="dissolve">
                                      <p:cBhvr>
                                        <p:cTn id="102" dur="500"/>
                                        <p:tgtEl>
                                          <p:spTgt spid="1446938"/>
                                        </p:tgtEl>
                                      </p:cBhvr>
                                    </p:animEffect>
                                  </p:childTnLst>
                                </p:cTn>
                              </p:par>
                            </p:childTnLst>
                          </p:cTn>
                        </p:par>
                        <p:par>
                          <p:cTn id="103" fill="hold">
                            <p:stCondLst>
                              <p:cond delay="500"/>
                            </p:stCondLst>
                            <p:childTnLst>
                              <p:par>
                                <p:cTn id="104" presetID="9" presetClass="entr" presetSubtype="0" fill="hold" nodeType="afterEffect">
                                  <p:stCondLst>
                                    <p:cond delay="1000"/>
                                  </p:stCondLst>
                                  <p:childTnLst>
                                    <p:set>
                                      <p:cBhvr>
                                        <p:cTn id="105" dur="1" fill="hold">
                                          <p:stCondLst>
                                            <p:cond delay="0"/>
                                          </p:stCondLst>
                                        </p:cTn>
                                        <p:tgtEl>
                                          <p:spTgt spid="1446939"/>
                                        </p:tgtEl>
                                        <p:attrNameLst>
                                          <p:attrName>style.visibility</p:attrName>
                                        </p:attrNameLst>
                                      </p:cBhvr>
                                      <p:to>
                                        <p:strVal val="visible"/>
                                      </p:to>
                                    </p:set>
                                    <p:animEffect transition="in" filter="dissolve">
                                      <p:cBhvr>
                                        <p:cTn id="106" dur="500"/>
                                        <p:tgtEl>
                                          <p:spTgt spid="1446939"/>
                                        </p:tgtEl>
                                      </p:cBhvr>
                                    </p:animEffect>
                                  </p:childTnLst>
                                </p:cTn>
                              </p:par>
                            </p:childTnLst>
                          </p:cTn>
                        </p:par>
                        <p:par>
                          <p:cTn id="107" fill="hold">
                            <p:stCondLst>
                              <p:cond delay="2000"/>
                            </p:stCondLst>
                            <p:childTnLst>
                              <p:par>
                                <p:cTn id="108" presetID="9" presetClass="entr" presetSubtype="0" fill="hold" grpId="0" nodeType="afterEffect">
                                  <p:stCondLst>
                                    <p:cond delay="1000"/>
                                  </p:stCondLst>
                                  <p:childTnLst>
                                    <p:set>
                                      <p:cBhvr>
                                        <p:cTn id="109" dur="1" fill="hold">
                                          <p:stCondLst>
                                            <p:cond delay="0"/>
                                          </p:stCondLst>
                                        </p:cTn>
                                        <p:tgtEl>
                                          <p:spTgt spid="1446914"/>
                                        </p:tgtEl>
                                        <p:attrNameLst>
                                          <p:attrName>style.visibility</p:attrName>
                                        </p:attrNameLst>
                                      </p:cBhvr>
                                      <p:to>
                                        <p:strVal val="visible"/>
                                      </p:to>
                                    </p:set>
                                    <p:animEffect transition="in" filter="dissolve">
                                      <p:cBhvr>
                                        <p:cTn id="110" dur="500"/>
                                        <p:tgtEl>
                                          <p:spTgt spid="1446914"/>
                                        </p:tgtEl>
                                      </p:cBhvr>
                                    </p:animEffect>
                                  </p:childTnLst>
                                </p:cTn>
                              </p:par>
                            </p:childTnLst>
                          </p:cTn>
                        </p:par>
                      </p:childTnLst>
                    </p:cTn>
                  </p:par>
                  <p:par>
                    <p:cTn id="111" fill="hold">
                      <p:stCondLst>
                        <p:cond delay="indefinite"/>
                      </p:stCondLst>
                      <p:childTnLst>
                        <p:par>
                          <p:cTn id="112" fill="hold">
                            <p:stCondLst>
                              <p:cond delay="0"/>
                            </p:stCondLst>
                            <p:childTnLst>
                              <p:par>
                                <p:cTn id="113" presetID="9" presetClass="entr" presetSubtype="0" fill="hold" nodeType="clickEffect">
                                  <p:stCondLst>
                                    <p:cond delay="0"/>
                                  </p:stCondLst>
                                  <p:childTnLst>
                                    <p:set>
                                      <p:cBhvr>
                                        <p:cTn id="114" dur="1" fill="hold">
                                          <p:stCondLst>
                                            <p:cond delay="0"/>
                                          </p:stCondLst>
                                        </p:cTn>
                                        <p:tgtEl>
                                          <p:spTgt spid="1446929"/>
                                        </p:tgtEl>
                                        <p:attrNameLst>
                                          <p:attrName>style.visibility</p:attrName>
                                        </p:attrNameLst>
                                      </p:cBhvr>
                                      <p:to>
                                        <p:strVal val="visible"/>
                                      </p:to>
                                    </p:set>
                                    <p:animEffect transition="in" filter="dissolve">
                                      <p:cBhvr>
                                        <p:cTn id="115" dur="500"/>
                                        <p:tgtEl>
                                          <p:spTgt spid="1446929"/>
                                        </p:tgtEl>
                                      </p:cBhvr>
                                    </p:animEffect>
                                  </p:childTnLst>
                                </p:cTn>
                              </p:par>
                            </p:childTnLst>
                          </p:cTn>
                        </p:par>
                        <p:par>
                          <p:cTn id="116" fill="hold">
                            <p:stCondLst>
                              <p:cond delay="500"/>
                            </p:stCondLst>
                            <p:childTnLst>
                              <p:par>
                                <p:cTn id="117" presetID="9" presetClass="entr" presetSubtype="0" fill="hold" grpId="0" nodeType="afterEffect">
                                  <p:stCondLst>
                                    <p:cond delay="0"/>
                                  </p:stCondLst>
                                  <p:childTnLst>
                                    <p:set>
                                      <p:cBhvr>
                                        <p:cTn id="118" dur="1" fill="hold">
                                          <p:stCondLst>
                                            <p:cond delay="0"/>
                                          </p:stCondLst>
                                        </p:cTn>
                                        <p:tgtEl>
                                          <p:spTgt spid="1446975"/>
                                        </p:tgtEl>
                                        <p:attrNameLst>
                                          <p:attrName>style.visibility</p:attrName>
                                        </p:attrNameLst>
                                      </p:cBhvr>
                                      <p:to>
                                        <p:strVal val="visible"/>
                                      </p:to>
                                    </p:set>
                                    <p:animEffect transition="in" filter="dissolve">
                                      <p:cBhvr>
                                        <p:cTn id="119" dur="500"/>
                                        <p:tgtEl>
                                          <p:spTgt spid="1446975"/>
                                        </p:tgtEl>
                                      </p:cBhvr>
                                    </p:animEffect>
                                  </p:childTnLst>
                                </p:cTn>
                              </p:par>
                            </p:childTnLst>
                          </p:cTn>
                        </p:par>
                        <p:par>
                          <p:cTn id="120" fill="hold">
                            <p:stCondLst>
                              <p:cond delay="1000"/>
                            </p:stCondLst>
                            <p:childTnLst>
                              <p:par>
                                <p:cTn id="121" presetID="9" presetClass="entr" presetSubtype="0" fill="hold" nodeType="afterEffect">
                                  <p:stCondLst>
                                    <p:cond delay="0"/>
                                  </p:stCondLst>
                                  <p:childTnLst>
                                    <p:set>
                                      <p:cBhvr>
                                        <p:cTn id="122" dur="1" fill="hold">
                                          <p:stCondLst>
                                            <p:cond delay="0"/>
                                          </p:stCondLst>
                                        </p:cTn>
                                        <p:tgtEl>
                                          <p:spTgt spid="1446940"/>
                                        </p:tgtEl>
                                        <p:attrNameLst>
                                          <p:attrName>style.visibility</p:attrName>
                                        </p:attrNameLst>
                                      </p:cBhvr>
                                      <p:to>
                                        <p:strVal val="visible"/>
                                      </p:to>
                                    </p:set>
                                    <p:animEffect transition="in" filter="dissolve">
                                      <p:cBhvr>
                                        <p:cTn id="123" dur="500"/>
                                        <p:tgtEl>
                                          <p:spTgt spid="1446940"/>
                                        </p:tgtEl>
                                      </p:cBhvr>
                                    </p:animEffect>
                                  </p:childTnLst>
                                </p:cTn>
                              </p:par>
                            </p:childTnLst>
                          </p:cTn>
                        </p:par>
                        <p:par>
                          <p:cTn id="124" fill="hold">
                            <p:stCondLst>
                              <p:cond delay="1500"/>
                            </p:stCondLst>
                            <p:childTnLst>
                              <p:par>
                                <p:cTn id="125" presetID="9" presetClass="entr" presetSubtype="0" fill="hold" nodeType="afterEffect">
                                  <p:stCondLst>
                                    <p:cond delay="0"/>
                                  </p:stCondLst>
                                  <p:childTnLst>
                                    <p:set>
                                      <p:cBhvr>
                                        <p:cTn id="126" dur="1" fill="hold">
                                          <p:stCondLst>
                                            <p:cond delay="0"/>
                                          </p:stCondLst>
                                        </p:cTn>
                                        <p:tgtEl>
                                          <p:spTgt spid="1446941"/>
                                        </p:tgtEl>
                                        <p:attrNameLst>
                                          <p:attrName>style.visibility</p:attrName>
                                        </p:attrNameLst>
                                      </p:cBhvr>
                                      <p:to>
                                        <p:strVal val="visible"/>
                                      </p:to>
                                    </p:set>
                                    <p:animEffect transition="in" filter="dissolve">
                                      <p:cBhvr>
                                        <p:cTn id="127" dur="500"/>
                                        <p:tgtEl>
                                          <p:spTgt spid="1446941"/>
                                        </p:tgtEl>
                                      </p:cBhvr>
                                    </p:animEffect>
                                  </p:childTnLst>
                                </p:cTn>
                              </p:par>
                            </p:childTnLst>
                          </p:cTn>
                        </p:par>
                        <p:par>
                          <p:cTn id="128" fill="hold">
                            <p:stCondLst>
                              <p:cond delay="2000"/>
                            </p:stCondLst>
                            <p:childTnLst>
                              <p:par>
                                <p:cTn id="129" presetID="9" presetClass="entr" presetSubtype="0" fill="hold" nodeType="afterEffect">
                                  <p:stCondLst>
                                    <p:cond delay="0"/>
                                  </p:stCondLst>
                                  <p:childTnLst>
                                    <p:set>
                                      <p:cBhvr>
                                        <p:cTn id="130" dur="1" fill="hold">
                                          <p:stCondLst>
                                            <p:cond delay="0"/>
                                          </p:stCondLst>
                                        </p:cTn>
                                        <p:tgtEl>
                                          <p:spTgt spid="1446933"/>
                                        </p:tgtEl>
                                        <p:attrNameLst>
                                          <p:attrName>style.visibility</p:attrName>
                                        </p:attrNameLst>
                                      </p:cBhvr>
                                      <p:to>
                                        <p:strVal val="visible"/>
                                      </p:to>
                                    </p:set>
                                    <p:animEffect transition="in" filter="dissolve">
                                      <p:cBhvr>
                                        <p:cTn id="131" dur="500"/>
                                        <p:tgtEl>
                                          <p:spTgt spid="1446933"/>
                                        </p:tgtEl>
                                      </p:cBhvr>
                                    </p:animEffect>
                                  </p:childTnLst>
                                </p:cTn>
                              </p:par>
                            </p:childTnLst>
                          </p:cTn>
                        </p:par>
                        <p:par>
                          <p:cTn id="132" fill="hold">
                            <p:stCondLst>
                              <p:cond delay="2500"/>
                            </p:stCondLst>
                            <p:childTnLst>
                              <p:par>
                                <p:cTn id="133" presetID="9" presetClass="entr" presetSubtype="0" fill="hold" nodeType="afterEffect">
                                  <p:stCondLst>
                                    <p:cond delay="0"/>
                                  </p:stCondLst>
                                  <p:childTnLst>
                                    <p:set>
                                      <p:cBhvr>
                                        <p:cTn id="134" dur="1" fill="hold">
                                          <p:stCondLst>
                                            <p:cond delay="0"/>
                                          </p:stCondLst>
                                        </p:cTn>
                                        <p:tgtEl>
                                          <p:spTgt spid="1446956"/>
                                        </p:tgtEl>
                                        <p:attrNameLst>
                                          <p:attrName>style.visibility</p:attrName>
                                        </p:attrNameLst>
                                      </p:cBhvr>
                                      <p:to>
                                        <p:strVal val="visible"/>
                                      </p:to>
                                    </p:set>
                                    <p:animEffect transition="in" filter="dissolve">
                                      <p:cBhvr>
                                        <p:cTn id="135" dur="500"/>
                                        <p:tgtEl>
                                          <p:spTgt spid="1446956"/>
                                        </p:tgtEl>
                                      </p:cBhvr>
                                    </p:animEffect>
                                  </p:childTnLst>
                                </p:cTn>
                              </p:par>
                            </p:childTnLst>
                          </p:cTn>
                        </p:par>
                        <p:par>
                          <p:cTn id="136" fill="hold">
                            <p:stCondLst>
                              <p:cond delay="3000"/>
                            </p:stCondLst>
                            <p:childTnLst>
                              <p:par>
                                <p:cTn id="137" presetID="9" presetClass="entr" presetSubtype="0" fill="hold" nodeType="afterEffect">
                                  <p:stCondLst>
                                    <p:cond delay="0"/>
                                  </p:stCondLst>
                                  <p:childTnLst>
                                    <p:set>
                                      <p:cBhvr>
                                        <p:cTn id="138" dur="1" fill="hold">
                                          <p:stCondLst>
                                            <p:cond delay="0"/>
                                          </p:stCondLst>
                                        </p:cTn>
                                        <p:tgtEl>
                                          <p:spTgt spid="1446934"/>
                                        </p:tgtEl>
                                        <p:attrNameLst>
                                          <p:attrName>style.visibility</p:attrName>
                                        </p:attrNameLst>
                                      </p:cBhvr>
                                      <p:to>
                                        <p:strVal val="visible"/>
                                      </p:to>
                                    </p:set>
                                    <p:animEffect transition="in" filter="dissolve">
                                      <p:cBhvr>
                                        <p:cTn id="139" dur="500"/>
                                        <p:tgtEl>
                                          <p:spTgt spid="1446934"/>
                                        </p:tgtEl>
                                      </p:cBhvr>
                                    </p:animEffect>
                                  </p:childTnLst>
                                </p:cTn>
                              </p:par>
                            </p:childTnLst>
                          </p:cTn>
                        </p:par>
                        <p:par>
                          <p:cTn id="140" fill="hold">
                            <p:stCondLst>
                              <p:cond delay="3500"/>
                            </p:stCondLst>
                            <p:childTnLst>
                              <p:par>
                                <p:cTn id="141" presetID="9" presetClass="entr" presetSubtype="0" fill="hold" nodeType="afterEffect">
                                  <p:stCondLst>
                                    <p:cond delay="0"/>
                                  </p:stCondLst>
                                  <p:childTnLst>
                                    <p:set>
                                      <p:cBhvr>
                                        <p:cTn id="142" dur="1" fill="hold">
                                          <p:stCondLst>
                                            <p:cond delay="0"/>
                                          </p:stCondLst>
                                        </p:cTn>
                                        <p:tgtEl>
                                          <p:spTgt spid="1446937"/>
                                        </p:tgtEl>
                                        <p:attrNameLst>
                                          <p:attrName>style.visibility</p:attrName>
                                        </p:attrNameLst>
                                      </p:cBhvr>
                                      <p:to>
                                        <p:strVal val="visible"/>
                                      </p:to>
                                    </p:set>
                                    <p:animEffect transition="in" filter="dissolve">
                                      <p:cBhvr>
                                        <p:cTn id="143" dur="500"/>
                                        <p:tgtEl>
                                          <p:spTgt spid="1446937"/>
                                        </p:tgtEl>
                                      </p:cBhvr>
                                    </p:animEffect>
                                  </p:childTnLst>
                                </p:cTn>
                              </p:par>
                            </p:childTnLst>
                          </p:cTn>
                        </p:par>
                        <p:par>
                          <p:cTn id="144" fill="hold">
                            <p:stCondLst>
                              <p:cond delay="4000"/>
                            </p:stCondLst>
                            <p:childTnLst>
                              <p:par>
                                <p:cTn id="145" presetID="9" presetClass="entr" presetSubtype="0" fill="hold" nodeType="afterEffect">
                                  <p:stCondLst>
                                    <p:cond delay="0"/>
                                  </p:stCondLst>
                                  <p:childTnLst>
                                    <p:set>
                                      <p:cBhvr>
                                        <p:cTn id="146" dur="1" fill="hold">
                                          <p:stCondLst>
                                            <p:cond delay="0"/>
                                          </p:stCondLst>
                                        </p:cTn>
                                        <p:tgtEl>
                                          <p:spTgt spid="1446935"/>
                                        </p:tgtEl>
                                        <p:attrNameLst>
                                          <p:attrName>style.visibility</p:attrName>
                                        </p:attrNameLst>
                                      </p:cBhvr>
                                      <p:to>
                                        <p:strVal val="visible"/>
                                      </p:to>
                                    </p:set>
                                    <p:animEffect transition="in" filter="dissolve">
                                      <p:cBhvr>
                                        <p:cTn id="147" dur="500"/>
                                        <p:tgtEl>
                                          <p:spTgt spid="1446935"/>
                                        </p:tgtEl>
                                      </p:cBhvr>
                                    </p:animEffect>
                                  </p:childTnLst>
                                </p:cTn>
                              </p:par>
                            </p:childTnLst>
                          </p:cTn>
                        </p:par>
                        <p:par>
                          <p:cTn id="148" fill="hold">
                            <p:stCondLst>
                              <p:cond delay="4500"/>
                            </p:stCondLst>
                            <p:childTnLst>
                              <p:par>
                                <p:cTn id="149" presetID="9" presetClass="entr" presetSubtype="0" fill="hold" nodeType="afterEffect">
                                  <p:stCondLst>
                                    <p:cond delay="0"/>
                                  </p:stCondLst>
                                  <p:childTnLst>
                                    <p:set>
                                      <p:cBhvr>
                                        <p:cTn id="150" dur="1" fill="hold">
                                          <p:stCondLst>
                                            <p:cond delay="0"/>
                                          </p:stCondLst>
                                        </p:cTn>
                                        <p:tgtEl>
                                          <p:spTgt spid="1446936"/>
                                        </p:tgtEl>
                                        <p:attrNameLst>
                                          <p:attrName>style.visibility</p:attrName>
                                        </p:attrNameLst>
                                      </p:cBhvr>
                                      <p:to>
                                        <p:strVal val="visible"/>
                                      </p:to>
                                    </p:set>
                                    <p:animEffect transition="in" filter="dissolve">
                                      <p:cBhvr>
                                        <p:cTn id="151" dur="500"/>
                                        <p:tgtEl>
                                          <p:spTgt spid="1446936"/>
                                        </p:tgtEl>
                                      </p:cBhvr>
                                    </p:animEffect>
                                  </p:childTnLst>
                                </p:cTn>
                              </p:par>
                            </p:childTnLst>
                          </p:cTn>
                        </p:par>
                        <p:par>
                          <p:cTn id="152" fill="hold">
                            <p:stCondLst>
                              <p:cond delay="5000"/>
                            </p:stCondLst>
                            <p:childTnLst>
                              <p:par>
                                <p:cTn id="153" presetID="9" presetClass="entr" presetSubtype="0" fill="hold" nodeType="afterEffect">
                                  <p:stCondLst>
                                    <p:cond delay="2000"/>
                                  </p:stCondLst>
                                  <p:childTnLst>
                                    <p:set>
                                      <p:cBhvr>
                                        <p:cTn id="154" dur="1" fill="hold">
                                          <p:stCondLst>
                                            <p:cond delay="0"/>
                                          </p:stCondLst>
                                        </p:cTn>
                                        <p:tgtEl>
                                          <p:spTgt spid="1446972"/>
                                        </p:tgtEl>
                                        <p:attrNameLst>
                                          <p:attrName>style.visibility</p:attrName>
                                        </p:attrNameLst>
                                      </p:cBhvr>
                                      <p:to>
                                        <p:strVal val="visible"/>
                                      </p:to>
                                    </p:set>
                                    <p:animEffect transition="in" filter="dissolve">
                                      <p:cBhvr>
                                        <p:cTn id="155" dur="500"/>
                                        <p:tgtEl>
                                          <p:spTgt spid="1446972"/>
                                        </p:tgtEl>
                                      </p:cBhvr>
                                    </p:animEffect>
                                  </p:childTnLst>
                                </p:cTn>
                              </p:par>
                            </p:childTnLst>
                          </p:cTn>
                        </p:par>
                        <p:par>
                          <p:cTn id="156" fill="hold">
                            <p:stCondLst>
                              <p:cond delay="7500"/>
                            </p:stCondLst>
                            <p:childTnLst>
                              <p:par>
                                <p:cTn id="157" presetID="9" presetClass="entr" presetSubtype="0" fill="hold" grpId="0" nodeType="afterEffect">
                                  <p:stCondLst>
                                    <p:cond delay="0"/>
                                  </p:stCondLst>
                                  <p:childTnLst>
                                    <p:set>
                                      <p:cBhvr>
                                        <p:cTn id="158" dur="1" fill="hold">
                                          <p:stCondLst>
                                            <p:cond delay="0"/>
                                          </p:stCondLst>
                                        </p:cTn>
                                        <p:tgtEl>
                                          <p:spTgt spid="1446971"/>
                                        </p:tgtEl>
                                        <p:attrNameLst>
                                          <p:attrName>style.visibility</p:attrName>
                                        </p:attrNameLst>
                                      </p:cBhvr>
                                      <p:to>
                                        <p:strVal val="visible"/>
                                      </p:to>
                                    </p:set>
                                    <p:animEffect transition="in" filter="dissolve">
                                      <p:cBhvr>
                                        <p:cTn id="159" dur="500"/>
                                        <p:tgtEl>
                                          <p:spTgt spid="1446971"/>
                                        </p:tgtEl>
                                      </p:cBhvr>
                                    </p:animEffect>
                                  </p:childTnLst>
                                </p:cTn>
                              </p:par>
                            </p:childTnLst>
                          </p:cTn>
                        </p:par>
                      </p:childTnLst>
                    </p:cTn>
                  </p:par>
                  <p:par>
                    <p:cTn id="160" fill="hold">
                      <p:stCondLst>
                        <p:cond delay="indefinite"/>
                      </p:stCondLst>
                      <p:childTnLst>
                        <p:par>
                          <p:cTn id="161" fill="hold">
                            <p:stCondLst>
                              <p:cond delay="0"/>
                            </p:stCondLst>
                            <p:childTnLst>
                              <p:par>
                                <p:cTn id="162" presetID="9" presetClass="entr" presetSubtype="0" fill="hold" grpId="0" nodeType="clickEffect">
                                  <p:stCondLst>
                                    <p:cond delay="0"/>
                                  </p:stCondLst>
                                  <p:childTnLst>
                                    <p:set>
                                      <p:cBhvr>
                                        <p:cTn id="163" dur="1" fill="hold">
                                          <p:stCondLst>
                                            <p:cond delay="0"/>
                                          </p:stCondLst>
                                        </p:cTn>
                                        <p:tgtEl>
                                          <p:spTgt spid="1446917"/>
                                        </p:tgtEl>
                                        <p:attrNameLst>
                                          <p:attrName>style.visibility</p:attrName>
                                        </p:attrNameLst>
                                      </p:cBhvr>
                                      <p:to>
                                        <p:strVal val="visible"/>
                                      </p:to>
                                    </p:set>
                                    <p:animEffect transition="in" filter="dissolve">
                                      <p:cBhvr>
                                        <p:cTn id="164" dur="500"/>
                                        <p:tgtEl>
                                          <p:spTgt spid="1446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6914" grpId="0"/>
      <p:bldP spid="1446915" grpId="0"/>
      <p:bldP spid="1446916" grpId="0"/>
      <p:bldP spid="1446917" grpId="0"/>
      <p:bldP spid="1446931" grpId="0"/>
      <p:bldP spid="1446932" grpId="0"/>
      <p:bldP spid="1446971" grpId="0" animBg="1"/>
      <p:bldP spid="1446973" grpId="0"/>
      <p:bldP spid="1446974" grpId="0"/>
      <p:bldP spid="1446975" grpId="0"/>
      <p:bldP spid="1446976" grpId="0"/>
      <p:bldP spid="6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7938" name="对象 1447937"/>
          <p:cNvGraphicFramePr/>
          <p:nvPr/>
        </p:nvGraphicFramePr>
        <p:xfrm>
          <a:off x="1828800" y="2516188"/>
          <a:ext cx="4892675" cy="1403350"/>
        </p:xfrm>
        <a:graphic>
          <a:graphicData uri="http://schemas.openxmlformats.org/presentationml/2006/ole">
            <mc:AlternateContent xmlns:mc="http://schemas.openxmlformats.org/markup-compatibility/2006">
              <mc:Choice xmlns:v="urn:schemas-microsoft-com:vml" Requires="v">
                <p:oleObj spid="_x0000_s29718" r:id="rId3" imgW="1459865" imgH="469900" progId="Equation.3">
                  <p:embed/>
                </p:oleObj>
              </mc:Choice>
              <mc:Fallback>
                <p:oleObj r:id="rId3" imgW="1459865" imgH="469900" progId="Equation.3">
                  <p:embed/>
                  <p:pic>
                    <p:nvPicPr>
                      <p:cNvPr id="0" name="图片 3138"/>
                      <p:cNvPicPr/>
                      <p:nvPr/>
                    </p:nvPicPr>
                    <p:blipFill>
                      <a:blip r:embed="rId4"/>
                      <a:stretch>
                        <a:fillRect/>
                      </a:stretch>
                    </p:blipFill>
                    <p:spPr>
                      <a:xfrm>
                        <a:off x="1828800" y="2516188"/>
                        <a:ext cx="4892675" cy="1403350"/>
                      </a:xfrm>
                      <a:prstGeom prst="rect">
                        <a:avLst/>
                      </a:prstGeom>
                      <a:solidFill>
                        <a:srgbClr val="FFCC00"/>
                      </a:solidFill>
                      <a:ln w="38100">
                        <a:noFill/>
                        <a:miter/>
                      </a:ln>
                    </p:spPr>
                  </p:pic>
                </p:oleObj>
              </mc:Fallback>
            </mc:AlternateContent>
          </a:graphicData>
        </a:graphic>
      </p:graphicFrame>
      <p:sp>
        <p:nvSpPr>
          <p:cNvPr id="1447939" name="内容占位符 1447938"/>
          <p:cNvSpPr>
            <a:spLocks noGrp="1"/>
          </p:cNvSpPr>
          <p:nvPr>
            <p:ph idx="4294967295"/>
          </p:nvPr>
        </p:nvSpPr>
        <p:spPr>
          <a:xfrm>
            <a:off x="1043608" y="-26988"/>
            <a:ext cx="8280400" cy="1031875"/>
          </a:xfrm>
        </p:spPr>
        <p:txBody>
          <a:bodyPr vert="horz" wrap="square" lIns="91440" tIns="45720" rIns="91440" bIns="45720" anchor="t" anchorCtr="0">
            <a:normAutofit fontScale="92500"/>
          </a:bodyPr>
          <a:lstStyle/>
          <a:p>
            <a:pPr eaLnBrk="1" hangingPunct="1">
              <a:lnSpc>
                <a:spcPct val="110000"/>
              </a:lnSpc>
              <a:spcBef>
                <a:spcPct val="0"/>
              </a:spcBef>
              <a:buClrTx/>
              <a:buFontTx/>
              <a:buNone/>
            </a:pPr>
            <a:r>
              <a:rPr lang="en-US" altLang="zh-CN" b="1" dirty="0"/>
              <a:t>(1) </a:t>
            </a:r>
            <a:r>
              <a:rPr lang="zh-CN" altLang="en-US" sz="2800" b="1" dirty="0">
                <a:ea typeface="楷体_GB2312" pitchFamily="49" charset="-122"/>
              </a:rPr>
              <a:t>上升时间</a:t>
            </a:r>
            <a:r>
              <a:rPr lang="en-US" altLang="zh-CN" sz="2800" b="1" i="1" dirty="0">
                <a:sym typeface="Symbol" panose="05050102010706020507" pitchFamily="18" charset="2"/>
              </a:rPr>
              <a:t>t</a:t>
            </a:r>
            <a:r>
              <a:rPr lang="en-US" altLang="zh-CN" sz="2800" b="1" i="1" baseline="-30000" dirty="0">
                <a:sym typeface="Symbol" panose="05050102010706020507" pitchFamily="18" charset="2"/>
              </a:rPr>
              <a:t>r</a:t>
            </a:r>
            <a:r>
              <a:rPr lang="en-US" altLang="zh-CN" sz="2800" b="1" dirty="0"/>
              <a:t> </a:t>
            </a:r>
            <a:r>
              <a:rPr lang="zh-CN" altLang="en-US" sz="2800" b="1" dirty="0"/>
              <a:t>：从零上升至</a:t>
            </a:r>
            <a:r>
              <a:rPr lang="zh-CN" altLang="en-US" sz="2800" b="1" dirty="0">
                <a:solidFill>
                  <a:srgbClr val="FF0000"/>
                </a:solidFill>
              </a:rPr>
              <a:t>第一次</a:t>
            </a:r>
            <a:r>
              <a:rPr lang="zh-CN" altLang="en-US" sz="2800" b="1" dirty="0"/>
              <a:t>到达稳态值所需的时间，是系统响应速度的一种度量。</a:t>
            </a:r>
            <a:r>
              <a:rPr lang="en-US" altLang="zh-CN" sz="2800" b="1" i="1" dirty="0">
                <a:sym typeface="Symbol" panose="05050102010706020507" pitchFamily="18" charset="2"/>
              </a:rPr>
              <a:t>t</a:t>
            </a:r>
            <a:r>
              <a:rPr lang="en-US" altLang="zh-CN" sz="2800" b="1" i="1" baseline="-30000" dirty="0">
                <a:sym typeface="Symbol" panose="05050102010706020507" pitchFamily="18" charset="2"/>
              </a:rPr>
              <a:t>r </a:t>
            </a:r>
            <a:r>
              <a:rPr lang="zh-CN" altLang="en-US" sz="2800" b="1" dirty="0"/>
              <a:t>越小，响应越快。</a:t>
            </a:r>
          </a:p>
        </p:txBody>
      </p:sp>
      <p:sp>
        <p:nvSpPr>
          <p:cNvPr id="1447940" name="文本框 1447939"/>
          <p:cNvSpPr txBox="1"/>
          <p:nvPr/>
        </p:nvSpPr>
        <p:spPr>
          <a:xfrm>
            <a:off x="-35515" y="4008438"/>
            <a:ext cx="9144000" cy="1031875"/>
          </a:xfrm>
          <a:prstGeom prst="rect">
            <a:avLst/>
          </a:prstGeom>
          <a:noFill/>
          <a:ln w="9525">
            <a:noFill/>
          </a:ln>
        </p:spPr>
        <p:txBody>
          <a:bodyPr>
            <a:spAutoFit/>
          </a:bodyPr>
          <a:lstStyle/>
          <a:p>
            <a:pPr>
              <a:lnSpc>
                <a:spcPct val="110000"/>
              </a:lnSpc>
              <a:spcBef>
                <a:spcPct val="0"/>
              </a:spcBef>
            </a:pPr>
            <a:r>
              <a:rPr lang="en-US" altLang="zh-CN" sz="2800" dirty="0">
                <a:solidFill>
                  <a:schemeClr val="tx1"/>
                </a:solidFill>
                <a:latin typeface="Arial" panose="020B0604020202020204" pitchFamily="34" charset="0"/>
              </a:rPr>
              <a:t>(2)  </a:t>
            </a:r>
            <a:r>
              <a:rPr lang="zh-CN" altLang="en-US" sz="2800" dirty="0">
                <a:solidFill>
                  <a:schemeClr val="tx1"/>
                </a:solidFill>
                <a:latin typeface="Arial" panose="020B0604020202020204" pitchFamily="34" charset="0"/>
                <a:ea typeface="楷体_GB2312" pitchFamily="49" charset="-122"/>
              </a:rPr>
              <a:t>峰值时间</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p</a:t>
            </a:r>
            <a:r>
              <a:rPr lang="zh-CN" altLang="en-US" sz="2800" dirty="0">
                <a:solidFill>
                  <a:schemeClr val="tx1"/>
                </a:solidFill>
                <a:latin typeface="Arial" panose="020B0604020202020204" pitchFamily="34" charset="0"/>
              </a:rPr>
              <a:t>：响应超过稳态值，到达第一个峰值所需的时间。</a:t>
            </a:r>
          </a:p>
        </p:txBody>
      </p:sp>
      <p:graphicFrame>
        <p:nvGraphicFramePr>
          <p:cNvPr id="1447941" name="对象 1447940"/>
          <p:cNvGraphicFramePr/>
          <p:nvPr/>
        </p:nvGraphicFramePr>
        <p:xfrm>
          <a:off x="1274763" y="1277938"/>
          <a:ext cx="6524625" cy="1055687"/>
        </p:xfrm>
        <a:graphic>
          <a:graphicData uri="http://schemas.openxmlformats.org/presentationml/2006/ole">
            <mc:AlternateContent xmlns:mc="http://schemas.openxmlformats.org/markup-compatibility/2006">
              <mc:Choice xmlns:v="urn:schemas-microsoft-com:vml" Requires="v">
                <p:oleObj spid="_x0000_s29719" r:id="rId5" imgW="2882900" imgH="469900" progId="Equation.3">
                  <p:embed/>
                </p:oleObj>
              </mc:Choice>
              <mc:Fallback>
                <p:oleObj r:id="rId5" imgW="2882900" imgH="469900" progId="Equation.3">
                  <p:embed/>
                  <p:pic>
                    <p:nvPicPr>
                      <p:cNvPr id="0" name="图片 3139"/>
                      <p:cNvPicPr/>
                      <p:nvPr/>
                    </p:nvPicPr>
                    <p:blipFill>
                      <a:blip r:embed="rId6"/>
                      <a:stretch>
                        <a:fillRect/>
                      </a:stretch>
                    </p:blipFill>
                    <p:spPr>
                      <a:xfrm>
                        <a:off x="1274763" y="1277938"/>
                        <a:ext cx="6524625" cy="1055687"/>
                      </a:xfrm>
                      <a:prstGeom prst="rect">
                        <a:avLst/>
                      </a:prstGeom>
                      <a:noFill/>
                      <a:ln w="38100">
                        <a:noFill/>
                        <a:miter/>
                      </a:ln>
                    </p:spPr>
                  </p:pic>
                </p:oleObj>
              </mc:Fallback>
            </mc:AlternateContent>
          </a:graphicData>
        </a:graphic>
      </p:graphicFrame>
      <p:graphicFrame>
        <p:nvGraphicFramePr>
          <p:cNvPr id="1447943" name="对象 1447942"/>
          <p:cNvGraphicFramePr/>
          <p:nvPr>
            <p:extLst>
              <p:ext uri="{D42A27DB-BD31-4B8C-83A1-F6EECF244321}">
                <p14:modId xmlns:p14="http://schemas.microsoft.com/office/powerpoint/2010/main" val="1327970689"/>
              </p:ext>
            </p:extLst>
          </p:nvPr>
        </p:nvGraphicFramePr>
        <p:xfrm>
          <a:off x="3059832" y="4797152"/>
          <a:ext cx="1968500" cy="914400"/>
        </p:xfrm>
        <a:graphic>
          <a:graphicData uri="http://schemas.openxmlformats.org/presentationml/2006/ole">
            <mc:AlternateContent xmlns:mc="http://schemas.openxmlformats.org/markup-compatibility/2006">
              <mc:Choice xmlns:v="urn:schemas-microsoft-com:vml" Requires="v">
                <p:oleObj spid="_x0000_s29720" r:id="rId7" imgW="862965" imgH="405765" progId="Equation.3">
                  <p:embed/>
                </p:oleObj>
              </mc:Choice>
              <mc:Fallback>
                <p:oleObj r:id="rId7" imgW="862965" imgH="405765" progId="Equation.3">
                  <p:embed/>
                  <p:pic>
                    <p:nvPicPr>
                      <p:cNvPr id="0" name="图片 3140"/>
                      <p:cNvPicPr/>
                      <p:nvPr/>
                    </p:nvPicPr>
                    <p:blipFill>
                      <a:blip r:embed="rId8"/>
                      <a:stretch>
                        <a:fillRect/>
                      </a:stretch>
                    </p:blipFill>
                    <p:spPr>
                      <a:xfrm>
                        <a:off x="3059832" y="4797152"/>
                        <a:ext cx="1968500" cy="914400"/>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47939">
                                            <p:txEl>
                                              <p:pRg st="0" end="0"/>
                                            </p:txEl>
                                          </p:spTgt>
                                        </p:tgtEl>
                                        <p:attrNameLst>
                                          <p:attrName>style.visibility</p:attrName>
                                        </p:attrNameLst>
                                      </p:cBhvr>
                                      <p:to>
                                        <p:strVal val="visible"/>
                                      </p:to>
                                    </p:set>
                                    <p:animEffect transition="in" filter="dissolve">
                                      <p:cBhvr>
                                        <p:cTn id="7" dur="500"/>
                                        <p:tgtEl>
                                          <p:spTgt spid="1447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47941"/>
                                        </p:tgtEl>
                                        <p:attrNameLst>
                                          <p:attrName>style.visibility</p:attrName>
                                        </p:attrNameLst>
                                      </p:cBhvr>
                                      <p:to>
                                        <p:strVal val="visible"/>
                                      </p:to>
                                    </p:set>
                                    <p:animEffect transition="in" filter="dissolve">
                                      <p:cBhvr>
                                        <p:cTn id="12" dur="500"/>
                                        <p:tgtEl>
                                          <p:spTgt spid="144794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447938"/>
                                        </p:tgtEl>
                                        <p:attrNameLst>
                                          <p:attrName>style.visibility</p:attrName>
                                        </p:attrNameLst>
                                      </p:cBhvr>
                                      <p:to>
                                        <p:strVal val="visible"/>
                                      </p:to>
                                    </p:set>
                                    <p:animEffect transition="in" filter="barn(inHorizontal)">
                                      <p:cBhvr>
                                        <p:cTn id="17" dur="500"/>
                                        <p:tgtEl>
                                          <p:spTgt spid="144793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47940"/>
                                        </p:tgtEl>
                                        <p:attrNameLst>
                                          <p:attrName>style.visibility</p:attrName>
                                        </p:attrNameLst>
                                      </p:cBhvr>
                                      <p:to>
                                        <p:strVal val="visible"/>
                                      </p:to>
                                    </p:set>
                                    <p:animEffect transition="in" filter="dissolve">
                                      <p:cBhvr>
                                        <p:cTn id="22" dur="500"/>
                                        <p:tgtEl>
                                          <p:spTgt spid="144794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47943"/>
                                        </p:tgtEl>
                                        <p:attrNameLst>
                                          <p:attrName>style.visibility</p:attrName>
                                        </p:attrNameLst>
                                      </p:cBhvr>
                                      <p:to>
                                        <p:strVal val="visible"/>
                                      </p:to>
                                    </p:set>
                                    <p:animEffect transition="in" filter="dissolve">
                                      <p:cBhvr>
                                        <p:cTn id="27" dur="500"/>
                                        <p:tgtEl>
                                          <p:spTgt spid="1447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7939" grpId="0" build="p"/>
      <p:bldP spid="144794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8963" name="对象 1448962"/>
          <p:cNvGraphicFramePr/>
          <p:nvPr>
            <p:extLst>
              <p:ext uri="{D42A27DB-BD31-4B8C-83A1-F6EECF244321}">
                <p14:modId xmlns:p14="http://schemas.microsoft.com/office/powerpoint/2010/main" val="3112468686"/>
              </p:ext>
            </p:extLst>
          </p:nvPr>
        </p:nvGraphicFramePr>
        <p:xfrm>
          <a:off x="2666015" y="278152"/>
          <a:ext cx="3389313" cy="1217612"/>
        </p:xfrm>
        <a:graphic>
          <a:graphicData uri="http://schemas.openxmlformats.org/presentationml/2006/ole">
            <mc:AlternateContent xmlns:mc="http://schemas.openxmlformats.org/markup-compatibility/2006">
              <mc:Choice xmlns:v="urn:schemas-microsoft-com:vml" Requires="v">
                <p:oleObj spid="_x0000_s30742" r:id="rId3" imgW="1308100" imgH="469900" progId="Equation.3">
                  <p:embed/>
                </p:oleObj>
              </mc:Choice>
              <mc:Fallback>
                <p:oleObj r:id="rId3" imgW="1308100" imgH="469900" progId="Equation.3">
                  <p:embed/>
                  <p:pic>
                    <p:nvPicPr>
                      <p:cNvPr id="0" name="图片 3141"/>
                      <p:cNvPicPr/>
                      <p:nvPr/>
                    </p:nvPicPr>
                    <p:blipFill>
                      <a:blip r:embed="rId4"/>
                      <a:stretch>
                        <a:fillRect/>
                      </a:stretch>
                    </p:blipFill>
                    <p:spPr>
                      <a:xfrm>
                        <a:off x="2666015" y="278152"/>
                        <a:ext cx="3389313" cy="1217612"/>
                      </a:xfrm>
                      <a:prstGeom prst="rect">
                        <a:avLst/>
                      </a:prstGeom>
                      <a:solidFill>
                        <a:srgbClr val="FFCC00"/>
                      </a:solidFill>
                      <a:ln w="38100">
                        <a:noFill/>
                        <a:miter/>
                      </a:ln>
                    </p:spPr>
                  </p:pic>
                </p:oleObj>
              </mc:Fallback>
            </mc:AlternateContent>
          </a:graphicData>
        </a:graphic>
      </p:graphicFrame>
      <p:sp>
        <p:nvSpPr>
          <p:cNvPr id="1448965" name="文本框 1448964"/>
          <p:cNvSpPr txBox="1"/>
          <p:nvPr/>
        </p:nvSpPr>
        <p:spPr>
          <a:xfrm>
            <a:off x="32553" y="1801189"/>
            <a:ext cx="9144000" cy="1203325"/>
          </a:xfrm>
          <a:prstGeom prst="rect">
            <a:avLst/>
          </a:prstGeom>
          <a:noFill/>
          <a:ln w="9525">
            <a:noFill/>
          </a:ln>
        </p:spPr>
        <p:txBody>
          <a:bodyPr>
            <a:spAutoFit/>
          </a:bodyPr>
          <a:lstStyle/>
          <a:p>
            <a:pPr marR="0" defTabSz="914400">
              <a:lnSpc>
                <a:spcPct val="130000"/>
              </a:lnSpc>
              <a:spcBef>
                <a:spcPct val="0"/>
              </a:spcBef>
              <a:buClrTx/>
              <a:buSzTx/>
              <a:buFontTx/>
              <a:buNone/>
              <a:defRPr/>
            </a:pPr>
            <a:r>
              <a:rPr kumimoji="0" lang="en-US" altLang="zh-CN" sz="2800" kern="1200" cap="none" spc="0" normalizeH="0" baseline="0" noProof="1">
                <a:solidFill>
                  <a:schemeClr val="tx1"/>
                </a:solidFill>
                <a:latin typeface="Arial" panose="020B0604020202020204" pitchFamily="34" charset="0"/>
                <a:ea typeface="宋体" panose="02010600030101010101" pitchFamily="2" charset="-122"/>
                <a:cs typeface="+mn-cs"/>
              </a:rPr>
              <a:t>(3) </a:t>
            </a: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楷体_GB2312" pitchFamily="49" charset="-122"/>
                <a:cs typeface="+mn-cs"/>
              </a:rPr>
              <a:t>超调量</a:t>
            </a:r>
            <a:r>
              <a:rPr kumimoji="0" lang="en-US" altLang="zh-CN" sz="28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M</a:t>
            </a:r>
            <a:r>
              <a:rPr kumimoji="0" lang="en-US" altLang="zh-CN" sz="2800" i="1" kern="1200" cap="none" spc="0" normalizeH="0" baseline="-3000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sym typeface="Symbol" panose="05050102010706020507" pitchFamily="18" charset="2"/>
              </a:rPr>
              <a:t>p</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：响应曲线偏离阶跃曲线最大值，用百分比表示。</a:t>
            </a:r>
          </a:p>
        </p:txBody>
      </p:sp>
      <p:graphicFrame>
        <p:nvGraphicFramePr>
          <p:cNvPr id="1448966" name="对象 1448965"/>
          <p:cNvGraphicFramePr/>
          <p:nvPr>
            <p:extLst>
              <p:ext uri="{D42A27DB-BD31-4B8C-83A1-F6EECF244321}">
                <p14:modId xmlns:p14="http://schemas.microsoft.com/office/powerpoint/2010/main" val="3927172824"/>
              </p:ext>
            </p:extLst>
          </p:nvPr>
        </p:nvGraphicFramePr>
        <p:xfrm>
          <a:off x="2756503" y="2837658"/>
          <a:ext cx="3298825" cy="944562"/>
        </p:xfrm>
        <a:graphic>
          <a:graphicData uri="http://schemas.openxmlformats.org/presentationml/2006/ole">
            <mc:AlternateContent xmlns:mc="http://schemas.openxmlformats.org/markup-compatibility/2006">
              <mc:Choice xmlns:v="urn:schemas-microsoft-com:vml" Requires="v">
                <p:oleObj spid="_x0000_s30743" r:id="rId5" imgW="1473200" imgH="419100" progId="Equation.3">
                  <p:embed/>
                </p:oleObj>
              </mc:Choice>
              <mc:Fallback>
                <p:oleObj r:id="rId5" imgW="1473200" imgH="419100" progId="Equation.3">
                  <p:embed/>
                  <p:pic>
                    <p:nvPicPr>
                      <p:cNvPr id="0" name="图片 3142"/>
                      <p:cNvPicPr/>
                      <p:nvPr/>
                    </p:nvPicPr>
                    <p:blipFill>
                      <a:blip r:embed="rId6"/>
                      <a:stretch>
                        <a:fillRect/>
                      </a:stretch>
                    </p:blipFill>
                    <p:spPr>
                      <a:xfrm>
                        <a:off x="2756503" y="2837658"/>
                        <a:ext cx="3298825" cy="944562"/>
                      </a:xfrm>
                      <a:prstGeom prst="rect">
                        <a:avLst/>
                      </a:prstGeom>
                      <a:noFill/>
                      <a:ln w="38100">
                        <a:noFill/>
                        <a:miter/>
                      </a:ln>
                    </p:spPr>
                  </p:pic>
                </p:oleObj>
              </mc:Fallback>
            </mc:AlternateContent>
          </a:graphicData>
        </a:graphic>
      </p:graphicFrame>
      <p:graphicFrame>
        <p:nvGraphicFramePr>
          <p:cNvPr id="1448967" name="对象 1448966"/>
          <p:cNvGraphicFramePr/>
          <p:nvPr>
            <p:extLst>
              <p:ext uri="{D42A27DB-BD31-4B8C-83A1-F6EECF244321}">
                <p14:modId xmlns:p14="http://schemas.microsoft.com/office/powerpoint/2010/main" val="4160267660"/>
              </p:ext>
            </p:extLst>
          </p:nvPr>
        </p:nvGraphicFramePr>
        <p:xfrm>
          <a:off x="1619672" y="3933056"/>
          <a:ext cx="5721350" cy="1287462"/>
        </p:xfrm>
        <a:graphic>
          <a:graphicData uri="http://schemas.openxmlformats.org/presentationml/2006/ole">
            <mc:AlternateContent xmlns:mc="http://schemas.openxmlformats.org/markup-compatibility/2006">
              <mc:Choice xmlns:v="urn:schemas-microsoft-com:vml" Requires="v">
                <p:oleObj spid="_x0000_s30744" r:id="rId7" imgW="2208530" imgH="495300" progId="Equation.3">
                  <p:embed/>
                </p:oleObj>
              </mc:Choice>
              <mc:Fallback>
                <p:oleObj r:id="rId7" imgW="2208530" imgH="495300" progId="Equation.3">
                  <p:embed/>
                  <p:pic>
                    <p:nvPicPr>
                      <p:cNvPr id="0" name="图片 3147"/>
                      <p:cNvPicPr/>
                      <p:nvPr/>
                    </p:nvPicPr>
                    <p:blipFill>
                      <a:blip r:embed="rId8"/>
                      <a:stretch>
                        <a:fillRect/>
                      </a:stretch>
                    </p:blipFill>
                    <p:spPr>
                      <a:xfrm>
                        <a:off x="1619672" y="3933056"/>
                        <a:ext cx="5721350" cy="1287462"/>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48963"/>
                                        </p:tgtEl>
                                        <p:attrNameLst>
                                          <p:attrName>style.visibility</p:attrName>
                                        </p:attrNameLst>
                                      </p:cBhvr>
                                      <p:to>
                                        <p:strVal val="visible"/>
                                      </p:to>
                                    </p:set>
                                    <p:animEffect transition="in" filter="strips(downLeft)">
                                      <p:cBhvr>
                                        <p:cTn id="7" dur="500"/>
                                        <p:tgtEl>
                                          <p:spTgt spid="14489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48965"/>
                                        </p:tgtEl>
                                        <p:attrNameLst>
                                          <p:attrName>style.visibility</p:attrName>
                                        </p:attrNameLst>
                                      </p:cBhvr>
                                      <p:to>
                                        <p:strVal val="visible"/>
                                      </p:to>
                                    </p:set>
                                    <p:animEffect transition="in" filter="dissolve">
                                      <p:cBhvr>
                                        <p:cTn id="12" dur="500"/>
                                        <p:tgtEl>
                                          <p:spTgt spid="144896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48966"/>
                                        </p:tgtEl>
                                        <p:attrNameLst>
                                          <p:attrName>style.visibility</p:attrName>
                                        </p:attrNameLst>
                                      </p:cBhvr>
                                      <p:to>
                                        <p:strVal val="visible"/>
                                      </p:to>
                                    </p:set>
                                    <p:animEffect transition="in" filter="dissolve">
                                      <p:cBhvr>
                                        <p:cTn id="17" dur="500"/>
                                        <p:tgtEl>
                                          <p:spTgt spid="144896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48967"/>
                                        </p:tgtEl>
                                        <p:attrNameLst>
                                          <p:attrName>style.visibility</p:attrName>
                                        </p:attrNameLst>
                                      </p:cBhvr>
                                      <p:to>
                                        <p:strVal val="visible"/>
                                      </p:to>
                                    </p:set>
                                    <p:animEffect transition="in" filter="dissolve">
                                      <p:cBhvr>
                                        <p:cTn id="22" dur="500"/>
                                        <p:tgtEl>
                                          <p:spTgt spid="144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896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9986" name="对象 1449985"/>
          <p:cNvGraphicFramePr/>
          <p:nvPr/>
        </p:nvGraphicFramePr>
        <p:xfrm>
          <a:off x="755650" y="88900"/>
          <a:ext cx="7704138" cy="1471613"/>
        </p:xfrm>
        <a:graphic>
          <a:graphicData uri="http://schemas.openxmlformats.org/presentationml/2006/ole">
            <mc:AlternateContent xmlns:mc="http://schemas.openxmlformats.org/markup-compatibility/2006">
              <mc:Choice xmlns:v="urn:schemas-microsoft-com:vml" Requires="v">
                <p:oleObj spid="_x0000_s31766" r:id="rId3" imgW="2197100" imgH="419100" progId="Equation.3">
                  <p:embed/>
                </p:oleObj>
              </mc:Choice>
              <mc:Fallback>
                <p:oleObj r:id="rId3" imgW="2197100" imgH="419100" progId="Equation.3">
                  <p:embed/>
                  <p:pic>
                    <p:nvPicPr>
                      <p:cNvPr id="0" name="图片 3143"/>
                      <p:cNvPicPr/>
                      <p:nvPr/>
                    </p:nvPicPr>
                    <p:blipFill>
                      <a:blip r:embed="rId4"/>
                      <a:stretch>
                        <a:fillRect/>
                      </a:stretch>
                    </p:blipFill>
                    <p:spPr>
                      <a:xfrm>
                        <a:off x="755650" y="88900"/>
                        <a:ext cx="7704138" cy="1471613"/>
                      </a:xfrm>
                      <a:prstGeom prst="rect">
                        <a:avLst/>
                      </a:prstGeom>
                      <a:noFill/>
                      <a:ln w="38100">
                        <a:noFill/>
                        <a:miter/>
                      </a:ln>
                    </p:spPr>
                  </p:pic>
                </p:oleObj>
              </mc:Fallback>
            </mc:AlternateContent>
          </a:graphicData>
        </a:graphic>
      </p:graphicFrame>
      <p:sp>
        <p:nvSpPr>
          <p:cNvPr id="1449987" name="文本框 1449986"/>
          <p:cNvSpPr txBox="1"/>
          <p:nvPr/>
        </p:nvSpPr>
        <p:spPr>
          <a:xfrm>
            <a:off x="35719" y="1711325"/>
            <a:ext cx="9144000" cy="457200"/>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sym typeface="Symbol" panose="05050102010706020507" pitchFamily="18" charset="2"/>
              </a:rPr>
              <a:t>      M</a:t>
            </a:r>
            <a:r>
              <a:rPr lang="en-US" altLang="zh-CN" sz="2400" i="1" baseline="-30000" dirty="0">
                <a:solidFill>
                  <a:schemeClr val="tx1"/>
                </a:solidFill>
                <a:latin typeface="Times New Roman" panose="02020603050405020304" pitchFamily="18" charset="0"/>
                <a:sym typeface="Symbol" panose="05050102010706020507" pitchFamily="18" charset="2"/>
              </a:rPr>
              <a:t>p</a:t>
            </a:r>
            <a:r>
              <a:rPr lang="zh-CN" altLang="en-US" sz="2400" dirty="0">
                <a:solidFill>
                  <a:schemeClr val="tx1"/>
                </a:solidFill>
                <a:latin typeface="Arial" panose="020B0604020202020204" pitchFamily="34" charset="0"/>
                <a:ea typeface="楷体_GB2312" pitchFamily="49" charset="-122"/>
              </a:rPr>
              <a:t>只是</a:t>
            </a:r>
            <a:r>
              <a:rPr lang="en-US" altLang="zh-CN" sz="2400" i="1" dirty="0">
                <a:solidFill>
                  <a:schemeClr val="tx1"/>
                </a:solidFill>
                <a:latin typeface="Times New Roman" panose="02020603050405020304" pitchFamily="18" charset="0"/>
              </a:rPr>
              <a:t>ξ</a:t>
            </a:r>
            <a:r>
              <a:rPr lang="en-US" altLang="zh-CN" sz="2400" i="1" dirty="0">
                <a:solidFill>
                  <a:schemeClr val="tx1"/>
                </a:solidFill>
                <a:latin typeface="Times New Roman" panose="02020603050405020304" pitchFamily="18" charset="0"/>
                <a:sym typeface="Symbol" panose="05050102010706020507" pitchFamily="18" charset="2"/>
              </a:rPr>
              <a:t> </a:t>
            </a:r>
            <a:r>
              <a:rPr lang="zh-CN" altLang="en-US" sz="2400" dirty="0">
                <a:solidFill>
                  <a:schemeClr val="tx1"/>
                </a:solidFill>
                <a:latin typeface="Arial" panose="020B0604020202020204" pitchFamily="34" charset="0"/>
                <a:ea typeface="楷体_GB2312" pitchFamily="49" charset="-122"/>
              </a:rPr>
              <a:t>的函数，其大小与自然频率</a:t>
            </a:r>
            <a:r>
              <a:rPr lang="en-US" altLang="zh-CN" sz="2400" i="1" dirty="0">
                <a:solidFill>
                  <a:schemeClr val="tx1"/>
                </a:solidFill>
                <a:latin typeface="Times New Roman" panose="02020603050405020304" pitchFamily="18" charset="0"/>
              </a:rPr>
              <a:t>ω</a:t>
            </a:r>
            <a:r>
              <a:rPr lang="en-US" altLang="zh-CN" sz="2400" i="1" baseline="-30000" dirty="0">
                <a:solidFill>
                  <a:schemeClr val="tx1"/>
                </a:solidFill>
                <a:latin typeface="Times New Roman" panose="02020603050405020304" pitchFamily="18" charset="0"/>
              </a:rPr>
              <a:t>n</a:t>
            </a:r>
            <a:r>
              <a:rPr lang="zh-CN" altLang="en-US" sz="2400" dirty="0">
                <a:solidFill>
                  <a:schemeClr val="tx1"/>
                </a:solidFill>
                <a:latin typeface="Arial" panose="020B0604020202020204" pitchFamily="34" charset="0"/>
                <a:ea typeface="楷体_GB2312" pitchFamily="49" charset="-122"/>
              </a:rPr>
              <a:t>无关</a:t>
            </a:r>
            <a:r>
              <a:rPr lang="zh-CN" altLang="en-US" sz="2400" dirty="0">
                <a:solidFill>
                  <a:schemeClr val="tx1"/>
                </a:solidFill>
                <a:latin typeface="Arial" panose="020B0604020202020204" pitchFamily="34" charset="0"/>
              </a:rPr>
              <a:t>。</a:t>
            </a:r>
            <a:r>
              <a:rPr lang="en-US" altLang="zh-CN" sz="2400" i="1" dirty="0">
                <a:solidFill>
                  <a:schemeClr val="tx1"/>
                </a:solidFill>
                <a:latin typeface="Times New Roman" panose="02020603050405020304" pitchFamily="18" charset="0"/>
              </a:rPr>
              <a:t>ξ</a:t>
            </a:r>
            <a:r>
              <a:rPr lang="en-US" altLang="zh-CN" sz="2400" dirty="0">
                <a:solidFill>
                  <a:schemeClr val="tx1"/>
                </a:solidFill>
                <a:latin typeface="Times New Roman" panose="02020603050405020304" pitchFamily="18" charset="0"/>
              </a:rPr>
              <a:t> </a:t>
            </a:r>
            <a:r>
              <a:rPr lang="en-US" altLang="zh-CN" sz="2400" dirty="0">
                <a:solidFill>
                  <a:schemeClr val="tx1"/>
                </a:solidFill>
                <a:latin typeface="Arial" panose="020B0604020202020204" pitchFamily="34" charset="0"/>
                <a:sym typeface="Symbol" panose="05050102010706020507" pitchFamily="18" charset="2"/>
              </a:rPr>
              <a:t></a:t>
            </a:r>
            <a:r>
              <a:rPr lang="en-US" altLang="zh-CN" sz="2400" dirty="0">
                <a:solidFill>
                  <a:schemeClr val="tx1"/>
                </a:solidFill>
                <a:latin typeface="Times New Roman" panose="02020603050405020304" pitchFamily="18" charset="0"/>
              </a:rPr>
              <a:t> </a:t>
            </a:r>
            <a:r>
              <a:rPr lang="en-US" altLang="zh-CN" sz="2400" dirty="0">
                <a:solidFill>
                  <a:schemeClr val="tx1"/>
                </a:solidFill>
                <a:latin typeface="Arial" panose="020B0604020202020204" pitchFamily="34" charset="0"/>
                <a:sym typeface="Symbol" panose="05050102010706020507" pitchFamily="18" charset="2"/>
              </a:rPr>
              <a:t></a:t>
            </a:r>
            <a:r>
              <a:rPr lang="en-US" altLang="zh-CN" sz="2400" i="1" dirty="0">
                <a:solidFill>
                  <a:schemeClr val="tx1"/>
                </a:solidFill>
                <a:latin typeface="Times New Roman" panose="02020603050405020304" pitchFamily="18" charset="0"/>
              </a:rPr>
              <a:t>M</a:t>
            </a:r>
            <a:r>
              <a:rPr lang="en-US" altLang="zh-CN" sz="2400" i="1" baseline="-30000" dirty="0">
                <a:solidFill>
                  <a:schemeClr val="tx1"/>
                </a:solidFill>
                <a:latin typeface="Times New Roman" panose="02020603050405020304" pitchFamily="18" charset="0"/>
              </a:rPr>
              <a:t>p</a:t>
            </a:r>
            <a:r>
              <a:rPr lang="en-US" altLang="zh-CN" sz="2400" dirty="0">
                <a:solidFill>
                  <a:schemeClr val="tx1"/>
                </a:solidFill>
                <a:latin typeface="Arial" panose="020B0604020202020204" pitchFamily="34" charset="0"/>
                <a:sym typeface="Symbol" panose="05050102010706020507" pitchFamily="18" charset="2"/>
              </a:rPr>
              <a:t></a:t>
            </a:r>
            <a:endParaRPr lang="en-US" altLang="zh-CN" sz="2800" dirty="0">
              <a:solidFill>
                <a:schemeClr val="tx1"/>
              </a:solidFill>
              <a:latin typeface="Arial" panose="020B0604020202020204" pitchFamily="34" charset="0"/>
            </a:endParaRPr>
          </a:p>
        </p:txBody>
      </p:sp>
      <p:sp>
        <p:nvSpPr>
          <p:cNvPr id="1449988" name="文本框 1449987"/>
          <p:cNvSpPr txBox="1"/>
          <p:nvPr/>
        </p:nvSpPr>
        <p:spPr>
          <a:xfrm>
            <a:off x="1969" y="2480320"/>
            <a:ext cx="9144000" cy="1758950"/>
          </a:xfrm>
          <a:prstGeom prst="rect">
            <a:avLst/>
          </a:prstGeom>
          <a:noFill/>
          <a:ln w="9525">
            <a:noFill/>
          </a:ln>
        </p:spPr>
        <p:txBody>
          <a:bodyPr>
            <a:spAutoFit/>
          </a:bodyPr>
          <a:lstStyle/>
          <a:p>
            <a:pPr>
              <a:lnSpc>
                <a:spcPct val="130000"/>
              </a:lnSpc>
              <a:spcBef>
                <a:spcPct val="0"/>
              </a:spcBef>
            </a:pPr>
            <a:r>
              <a:rPr lang="en-US" altLang="zh-CN" sz="2800" dirty="0">
                <a:solidFill>
                  <a:schemeClr val="tx1"/>
                </a:solidFill>
                <a:latin typeface="Arial" panose="020B0604020202020204" pitchFamily="34" charset="0"/>
              </a:rPr>
              <a:t>(4) </a:t>
            </a:r>
            <a:r>
              <a:rPr lang="zh-CN" altLang="en-US" sz="2800" dirty="0">
                <a:solidFill>
                  <a:schemeClr val="tx1"/>
                </a:solidFill>
                <a:latin typeface="Arial" panose="020B0604020202020204" pitchFamily="34" charset="0"/>
                <a:ea typeface="楷体_GB2312" pitchFamily="49" charset="-122"/>
              </a:rPr>
              <a:t>调节时间</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i="1" baseline="-30000" dirty="0">
                <a:solidFill>
                  <a:schemeClr val="tx1"/>
                </a:solidFill>
                <a:latin typeface="Times New Roman" panose="02020603050405020304" pitchFamily="18" charset="0"/>
                <a:sym typeface="Symbol" panose="05050102010706020507" pitchFamily="18" charset="2"/>
              </a:rPr>
              <a:t>s</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：响应曲线衰减到与稳态值之差不超过</a:t>
            </a:r>
            <a:r>
              <a:rPr lang="en-US" altLang="zh-CN" sz="2800" dirty="0">
                <a:solidFill>
                  <a:schemeClr val="tx1"/>
                </a:solidFill>
                <a:latin typeface="Times New Roman" panose="02020603050405020304" pitchFamily="18" charset="0"/>
              </a:rPr>
              <a:t>5%</a:t>
            </a:r>
            <a:r>
              <a:rPr lang="zh-CN" altLang="en-US" sz="2800" dirty="0">
                <a:solidFill>
                  <a:schemeClr val="tx1"/>
                </a:solidFill>
                <a:latin typeface="Arial" panose="020B0604020202020204" pitchFamily="34" charset="0"/>
              </a:rPr>
              <a:t>所需要的时间。</a:t>
            </a:r>
          </a:p>
          <a:p>
            <a:pPr algn="ctr">
              <a:lnSpc>
                <a:spcPct val="130000"/>
              </a:lnSpc>
              <a:spcBef>
                <a:spcPct val="0"/>
              </a:spcBef>
            </a:pP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i="1" dirty="0">
                <a:solidFill>
                  <a:schemeClr val="tx1"/>
                </a:solidFill>
                <a:latin typeface="Times New Roman" panose="02020603050405020304" pitchFamily="18" charset="0"/>
                <a:sym typeface="Symbol" panose="05050102010706020507" pitchFamily="18" charset="2"/>
              </a:rPr>
              <a:t>c</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sym typeface="Symbol" panose="05050102010706020507" pitchFamily="18" charset="2"/>
              </a:rPr>
              <a:t>t</a:t>
            </a:r>
            <a:r>
              <a:rPr lang="en-US" altLang="zh-CN" sz="2800" dirty="0">
                <a:solidFill>
                  <a:schemeClr val="tx1"/>
                </a:solidFill>
                <a:latin typeface="Times New Roman" panose="02020603050405020304" pitchFamily="18" charset="0"/>
                <a:sym typeface="Symbol" panose="05050102010706020507" pitchFamily="18" charset="2"/>
              </a:rPr>
              <a:t>)  </a:t>
            </a:r>
            <a:r>
              <a:rPr lang="en-US" altLang="zh-CN" sz="2800" i="1" dirty="0">
                <a:solidFill>
                  <a:schemeClr val="tx1"/>
                </a:solidFill>
                <a:latin typeface="Times New Roman" panose="02020603050405020304" pitchFamily="18" charset="0"/>
                <a:sym typeface="Symbol" panose="05050102010706020507" pitchFamily="18" charset="2"/>
              </a:rPr>
              <a:t>c</a:t>
            </a:r>
            <a:r>
              <a:rPr lang="en-US" altLang="zh-CN" sz="2800" dirty="0">
                <a:solidFill>
                  <a:schemeClr val="tx1"/>
                </a:solidFill>
                <a:latin typeface="Times New Roman" panose="02020603050405020304" pitchFamily="18" charset="0"/>
                <a:sym typeface="Symbol" panose="05050102010706020507" pitchFamily="18" charset="2"/>
              </a:rPr>
              <a:t>()     </a:t>
            </a:r>
            <a:r>
              <a:rPr lang="en-US" altLang="zh-CN" sz="2800" i="1" dirty="0">
                <a:solidFill>
                  <a:schemeClr val="tx1"/>
                </a:solidFill>
                <a:latin typeface="Times New Roman" panose="02020603050405020304" pitchFamily="18" charset="0"/>
                <a:sym typeface="Symbol" panose="05050102010706020507" pitchFamily="18" charset="2"/>
              </a:rPr>
              <a:t>c</a:t>
            </a:r>
            <a:r>
              <a:rPr lang="en-US" altLang="zh-CN" sz="2800" dirty="0">
                <a:solidFill>
                  <a:schemeClr val="tx1"/>
                </a:solidFill>
                <a:latin typeface="Times New Roman" panose="02020603050405020304" pitchFamily="18" charset="0"/>
                <a:sym typeface="Symbol" panose="05050102010706020507" pitchFamily="18" charset="2"/>
              </a:rPr>
              <a:t>()     ( </a:t>
            </a:r>
            <a:r>
              <a:rPr lang="en-US" altLang="zh-CN" sz="2800" i="1" dirty="0">
                <a:solidFill>
                  <a:schemeClr val="tx1"/>
                </a:solidFill>
                <a:latin typeface="Times New Roman" panose="02020603050405020304" pitchFamily="18" charset="0"/>
                <a:sym typeface="Symbol" panose="05050102010706020507" pitchFamily="18" charset="2"/>
              </a:rPr>
              <a:t>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sym typeface="Symbol" panose="05050102010706020507" pitchFamily="18" charset="2"/>
              </a:rPr>
              <a:t> t</a:t>
            </a:r>
            <a:r>
              <a:rPr lang="en-US" altLang="zh-CN" sz="2800" i="1" baseline="-25000" dirty="0">
                <a:solidFill>
                  <a:schemeClr val="tx1"/>
                </a:solidFill>
                <a:latin typeface="Times New Roman" panose="02020603050405020304" pitchFamily="18" charset="0"/>
                <a:sym typeface="Symbol" panose="05050102010706020507" pitchFamily="18" charset="2"/>
              </a:rPr>
              <a:t>s </a:t>
            </a:r>
            <a:r>
              <a:rPr lang="en-US" altLang="zh-CN" sz="2800" dirty="0">
                <a:solidFill>
                  <a:schemeClr val="tx1"/>
                </a:solidFill>
                <a:latin typeface="Times New Roman" panose="02020603050405020304" pitchFamily="18" charset="0"/>
                <a:sym typeface="Symbol" panose="05050102010706020507" pitchFamily="18" charset="2"/>
              </a:rPr>
              <a:t>)</a:t>
            </a:r>
          </a:p>
        </p:txBody>
      </p:sp>
      <p:graphicFrame>
        <p:nvGraphicFramePr>
          <p:cNvPr id="1449989" name="对象 1449988"/>
          <p:cNvGraphicFramePr/>
          <p:nvPr>
            <p:extLst>
              <p:ext uri="{D42A27DB-BD31-4B8C-83A1-F6EECF244321}">
                <p14:modId xmlns:p14="http://schemas.microsoft.com/office/powerpoint/2010/main" val="1532899627"/>
              </p:ext>
            </p:extLst>
          </p:nvPr>
        </p:nvGraphicFramePr>
        <p:xfrm>
          <a:off x="1835696" y="4504853"/>
          <a:ext cx="5938838" cy="1258888"/>
        </p:xfrm>
        <a:graphic>
          <a:graphicData uri="http://schemas.openxmlformats.org/presentationml/2006/ole">
            <mc:AlternateContent xmlns:mc="http://schemas.openxmlformats.org/markup-compatibility/2006">
              <mc:Choice xmlns:v="urn:schemas-microsoft-com:vml" Requires="v">
                <p:oleObj spid="_x0000_s31767" r:id="rId5" imgW="2654300" imgH="558800" progId="Equation.3">
                  <p:embed/>
                </p:oleObj>
              </mc:Choice>
              <mc:Fallback>
                <p:oleObj r:id="rId5" imgW="2654300" imgH="558800" progId="Equation.3">
                  <p:embed/>
                  <p:pic>
                    <p:nvPicPr>
                      <p:cNvPr id="0" name="图片 3148"/>
                      <p:cNvPicPr/>
                      <p:nvPr/>
                    </p:nvPicPr>
                    <p:blipFill>
                      <a:blip r:embed="rId6"/>
                      <a:stretch>
                        <a:fillRect/>
                      </a:stretch>
                    </p:blipFill>
                    <p:spPr>
                      <a:xfrm>
                        <a:off x="1835696" y="4504853"/>
                        <a:ext cx="5938838" cy="1258888"/>
                      </a:xfrm>
                      <a:prstGeom prst="rect">
                        <a:avLst/>
                      </a:prstGeom>
                      <a:noFill/>
                      <a:ln w="38100">
                        <a:noFill/>
                        <a:miter/>
                      </a:ln>
                    </p:spPr>
                  </p:pic>
                </p:oleObj>
              </mc:Fallback>
            </mc:AlternateContent>
          </a:graphicData>
        </a:graphic>
      </p:graphicFrame>
      <p:graphicFrame>
        <p:nvGraphicFramePr>
          <p:cNvPr id="1449990" name="对象 1449989"/>
          <p:cNvGraphicFramePr/>
          <p:nvPr/>
        </p:nvGraphicFramePr>
        <p:xfrm>
          <a:off x="2843213" y="6029325"/>
          <a:ext cx="2363787" cy="568325"/>
        </p:xfrm>
        <a:graphic>
          <a:graphicData uri="http://schemas.openxmlformats.org/presentationml/2006/ole">
            <mc:AlternateContent xmlns:mc="http://schemas.openxmlformats.org/markup-compatibility/2006">
              <mc:Choice xmlns:v="urn:schemas-microsoft-com:vml" Requires="v">
                <p:oleObj spid="_x0000_s31768" r:id="rId7" imgW="1066165" imgH="254000" progId="Equation.3">
                  <p:embed/>
                </p:oleObj>
              </mc:Choice>
              <mc:Fallback>
                <p:oleObj r:id="rId7" imgW="1066165" imgH="254000" progId="Equation.3">
                  <p:embed/>
                  <p:pic>
                    <p:nvPicPr>
                      <p:cNvPr id="0" name="图片 3146"/>
                      <p:cNvPicPr/>
                      <p:nvPr/>
                    </p:nvPicPr>
                    <p:blipFill>
                      <a:blip r:embed="rId8"/>
                      <a:stretch>
                        <a:fillRect/>
                      </a:stretch>
                    </p:blipFill>
                    <p:spPr>
                      <a:xfrm>
                        <a:off x="2843213" y="6029325"/>
                        <a:ext cx="2363787" cy="568325"/>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49986"/>
                                        </p:tgtEl>
                                        <p:attrNameLst>
                                          <p:attrName>style.visibility</p:attrName>
                                        </p:attrNameLst>
                                      </p:cBhvr>
                                      <p:to>
                                        <p:strVal val="visible"/>
                                      </p:to>
                                    </p:set>
                                    <p:animEffect transition="in" filter="dissolve">
                                      <p:cBhvr>
                                        <p:cTn id="7" dur="500"/>
                                        <p:tgtEl>
                                          <p:spTgt spid="14499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49987"/>
                                        </p:tgtEl>
                                        <p:attrNameLst>
                                          <p:attrName>style.visibility</p:attrName>
                                        </p:attrNameLst>
                                      </p:cBhvr>
                                      <p:to>
                                        <p:strVal val="visible"/>
                                      </p:to>
                                    </p:set>
                                    <p:animEffect transition="in" filter="dissolve">
                                      <p:cBhvr>
                                        <p:cTn id="12" dur="500"/>
                                        <p:tgtEl>
                                          <p:spTgt spid="144998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49988">
                                            <p:txEl>
                                              <p:pRg st="0" end="0"/>
                                            </p:txEl>
                                          </p:spTgt>
                                        </p:tgtEl>
                                        <p:attrNameLst>
                                          <p:attrName>style.visibility</p:attrName>
                                        </p:attrNameLst>
                                      </p:cBhvr>
                                      <p:to>
                                        <p:strVal val="visible"/>
                                      </p:to>
                                    </p:set>
                                    <p:animEffect transition="in" filter="dissolve">
                                      <p:cBhvr>
                                        <p:cTn id="17" dur="500"/>
                                        <p:tgtEl>
                                          <p:spTgt spid="144998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49988">
                                            <p:txEl>
                                              <p:pRg st="1" end="1"/>
                                            </p:txEl>
                                          </p:spTgt>
                                        </p:tgtEl>
                                        <p:attrNameLst>
                                          <p:attrName>style.visibility</p:attrName>
                                        </p:attrNameLst>
                                      </p:cBhvr>
                                      <p:to>
                                        <p:strVal val="visible"/>
                                      </p:to>
                                    </p:set>
                                    <p:animEffect transition="in" filter="dissolve">
                                      <p:cBhvr>
                                        <p:cTn id="22" dur="500"/>
                                        <p:tgtEl>
                                          <p:spTgt spid="144998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49989"/>
                                        </p:tgtEl>
                                        <p:attrNameLst>
                                          <p:attrName>style.visibility</p:attrName>
                                        </p:attrNameLst>
                                      </p:cBhvr>
                                      <p:to>
                                        <p:strVal val="visible"/>
                                      </p:to>
                                    </p:set>
                                    <p:animEffect transition="in" filter="dissolve">
                                      <p:cBhvr>
                                        <p:cTn id="27" dur="500"/>
                                        <p:tgtEl>
                                          <p:spTgt spid="1449989"/>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1449990"/>
                                        </p:tgtEl>
                                        <p:attrNameLst>
                                          <p:attrName>style.visibility</p:attrName>
                                        </p:attrNameLst>
                                      </p:cBhvr>
                                      <p:to>
                                        <p:strVal val="visible"/>
                                      </p:to>
                                    </p:set>
                                    <p:animEffect transition="in" filter="wipe(down)">
                                      <p:cBhvr>
                                        <p:cTn id="32" dur="580">
                                          <p:stCondLst>
                                            <p:cond delay="0"/>
                                          </p:stCondLst>
                                        </p:cTn>
                                        <p:tgtEl>
                                          <p:spTgt spid="1449990"/>
                                        </p:tgtEl>
                                      </p:cBhvr>
                                    </p:animEffect>
                                    <p:anim calcmode="lin" valueType="num">
                                      <p:cBhvr>
                                        <p:cTn id="33" dur="1822" tmFilter="0,0; 0.14,0.36; 0.43,0.73; 0.71,0.91; 1.0,1.0">
                                          <p:stCondLst>
                                            <p:cond delay="0"/>
                                          </p:stCondLst>
                                        </p:cTn>
                                        <p:tgtEl>
                                          <p:spTgt spid="1449990"/>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1449990"/>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1449990"/>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1449990"/>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1449990"/>
                                        </p:tgtEl>
                                        <p:attrNameLst>
                                          <p:attrName>ppt_y</p:attrName>
                                        </p:attrNameLst>
                                      </p:cBhvr>
                                      <p:tavLst>
                                        <p:tav tm="0" fmla="#ppt_y-sin(pi*$)/81">
                                          <p:val>
                                            <p:fltVal val="0"/>
                                          </p:val>
                                        </p:tav>
                                        <p:tav tm="100000">
                                          <p:val>
                                            <p:fltVal val="1"/>
                                          </p:val>
                                        </p:tav>
                                      </p:tavLst>
                                    </p:anim>
                                    <p:animScale>
                                      <p:cBhvr>
                                        <p:cTn id="38" dur="26">
                                          <p:stCondLst>
                                            <p:cond delay="650"/>
                                          </p:stCondLst>
                                        </p:cTn>
                                        <p:tgtEl>
                                          <p:spTgt spid="1449990"/>
                                        </p:tgtEl>
                                      </p:cBhvr>
                                      <p:to x="100000" y="60000"/>
                                    </p:animScale>
                                    <p:animScale>
                                      <p:cBhvr>
                                        <p:cTn id="39" dur="166" decel="50000">
                                          <p:stCondLst>
                                            <p:cond delay="676"/>
                                          </p:stCondLst>
                                        </p:cTn>
                                        <p:tgtEl>
                                          <p:spTgt spid="1449990"/>
                                        </p:tgtEl>
                                      </p:cBhvr>
                                      <p:to x="100000" y="100000"/>
                                    </p:animScale>
                                    <p:animScale>
                                      <p:cBhvr>
                                        <p:cTn id="40" dur="26">
                                          <p:stCondLst>
                                            <p:cond delay="1312"/>
                                          </p:stCondLst>
                                        </p:cTn>
                                        <p:tgtEl>
                                          <p:spTgt spid="1449990"/>
                                        </p:tgtEl>
                                      </p:cBhvr>
                                      <p:to x="100000" y="80000"/>
                                    </p:animScale>
                                    <p:animScale>
                                      <p:cBhvr>
                                        <p:cTn id="41" dur="166" decel="50000">
                                          <p:stCondLst>
                                            <p:cond delay="1338"/>
                                          </p:stCondLst>
                                        </p:cTn>
                                        <p:tgtEl>
                                          <p:spTgt spid="1449990"/>
                                        </p:tgtEl>
                                      </p:cBhvr>
                                      <p:to x="100000" y="100000"/>
                                    </p:animScale>
                                    <p:animScale>
                                      <p:cBhvr>
                                        <p:cTn id="42" dur="26">
                                          <p:stCondLst>
                                            <p:cond delay="1642"/>
                                          </p:stCondLst>
                                        </p:cTn>
                                        <p:tgtEl>
                                          <p:spTgt spid="1449990"/>
                                        </p:tgtEl>
                                      </p:cBhvr>
                                      <p:to x="100000" y="90000"/>
                                    </p:animScale>
                                    <p:animScale>
                                      <p:cBhvr>
                                        <p:cTn id="43" dur="166" decel="50000">
                                          <p:stCondLst>
                                            <p:cond delay="1668"/>
                                          </p:stCondLst>
                                        </p:cTn>
                                        <p:tgtEl>
                                          <p:spTgt spid="1449990"/>
                                        </p:tgtEl>
                                      </p:cBhvr>
                                      <p:to x="100000" y="100000"/>
                                    </p:animScale>
                                    <p:animScale>
                                      <p:cBhvr>
                                        <p:cTn id="44" dur="26">
                                          <p:stCondLst>
                                            <p:cond delay="1808"/>
                                          </p:stCondLst>
                                        </p:cTn>
                                        <p:tgtEl>
                                          <p:spTgt spid="1449990"/>
                                        </p:tgtEl>
                                      </p:cBhvr>
                                      <p:to x="100000" y="95000"/>
                                    </p:animScale>
                                    <p:animScale>
                                      <p:cBhvr>
                                        <p:cTn id="45" dur="166" decel="50000">
                                          <p:stCondLst>
                                            <p:cond delay="1834"/>
                                          </p:stCondLst>
                                        </p:cTn>
                                        <p:tgtEl>
                                          <p:spTgt spid="144999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p:bldP spid="144998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010" name="文本框 1451009"/>
          <p:cNvSpPr txBox="1"/>
          <p:nvPr/>
        </p:nvSpPr>
        <p:spPr>
          <a:xfrm>
            <a:off x="-5920" y="1454552"/>
            <a:ext cx="9144000" cy="946150"/>
          </a:xfrm>
          <a:prstGeom prst="rect">
            <a:avLst/>
          </a:prstGeom>
          <a:noFill/>
          <a:ln w="9525">
            <a:noFill/>
          </a:ln>
        </p:spPr>
        <p:txBody>
          <a:bodyPr>
            <a:spAutoFit/>
          </a:bodyPr>
          <a:lstStyle/>
          <a:p>
            <a:pPr>
              <a:spcBef>
                <a:spcPct val="0"/>
              </a:spcBef>
            </a:pPr>
            <a:r>
              <a:rPr lang="en-US" altLang="zh-CN" sz="2800" b="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工程上，当</a:t>
            </a:r>
            <a:r>
              <a:rPr lang="en-US" altLang="zh-CN" sz="2800" dirty="0">
                <a:solidFill>
                  <a:schemeClr val="tx1"/>
                </a:solidFill>
                <a:latin typeface="Times New Roman" panose="02020603050405020304" pitchFamily="18" charset="0"/>
              </a:rPr>
              <a:t>0.1 &lt; </a:t>
            </a:r>
            <a:r>
              <a:rPr lang="en-US" altLang="zh-CN" sz="2800" i="1" dirty="0">
                <a:solidFill>
                  <a:schemeClr val="tx1"/>
                </a:solidFill>
                <a:latin typeface="Times New Roman" panose="02020603050405020304" pitchFamily="18" charset="0"/>
              </a:rPr>
              <a:t>ξ</a:t>
            </a:r>
            <a:r>
              <a:rPr lang="en-US" altLang="zh-CN" sz="2800" i="1"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sym typeface="Symbol" panose="05050102010706020507" pitchFamily="18" charset="2"/>
              </a:rPr>
              <a:t>&lt; 0.9</a:t>
            </a:r>
            <a:r>
              <a:rPr lang="en-US" altLang="zh-CN" sz="24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时，通常用下列二式近似计算调节时间。</a:t>
            </a:r>
          </a:p>
        </p:txBody>
      </p:sp>
      <p:graphicFrame>
        <p:nvGraphicFramePr>
          <p:cNvPr id="1451011" name="对象 1451010"/>
          <p:cNvGraphicFramePr/>
          <p:nvPr/>
        </p:nvGraphicFramePr>
        <p:xfrm>
          <a:off x="2987675" y="3724275"/>
          <a:ext cx="1312863" cy="1000125"/>
        </p:xfrm>
        <a:graphic>
          <a:graphicData uri="http://schemas.openxmlformats.org/presentationml/2006/ole">
            <mc:AlternateContent xmlns:mc="http://schemas.openxmlformats.org/markup-compatibility/2006">
              <mc:Choice xmlns:v="urn:schemas-microsoft-com:vml" Requires="v">
                <p:oleObj spid="_x0000_s32790" r:id="rId3" imgW="584200" imgH="444500" progId="Equation.3">
                  <p:embed/>
                </p:oleObj>
              </mc:Choice>
              <mc:Fallback>
                <p:oleObj r:id="rId3" imgW="584200" imgH="444500" progId="Equation.3">
                  <p:embed/>
                  <p:pic>
                    <p:nvPicPr>
                      <p:cNvPr id="0" name="图片 3144"/>
                      <p:cNvPicPr/>
                      <p:nvPr/>
                    </p:nvPicPr>
                    <p:blipFill>
                      <a:blip r:embed="rId4"/>
                      <a:stretch>
                        <a:fillRect/>
                      </a:stretch>
                    </p:blipFill>
                    <p:spPr>
                      <a:xfrm>
                        <a:off x="2987675" y="3724275"/>
                        <a:ext cx="1312863" cy="1000125"/>
                      </a:xfrm>
                      <a:prstGeom prst="rect">
                        <a:avLst/>
                      </a:prstGeom>
                      <a:solidFill>
                        <a:srgbClr val="FFCC00"/>
                      </a:solidFill>
                      <a:ln w="38100">
                        <a:noFill/>
                        <a:miter/>
                      </a:ln>
                    </p:spPr>
                  </p:pic>
                </p:oleObj>
              </mc:Fallback>
            </mc:AlternateContent>
          </a:graphicData>
        </a:graphic>
      </p:graphicFrame>
      <p:graphicFrame>
        <p:nvGraphicFramePr>
          <p:cNvPr id="1451012" name="对象 1451011"/>
          <p:cNvGraphicFramePr/>
          <p:nvPr/>
        </p:nvGraphicFramePr>
        <p:xfrm>
          <a:off x="3035300" y="2500313"/>
          <a:ext cx="1309688" cy="996950"/>
        </p:xfrm>
        <a:graphic>
          <a:graphicData uri="http://schemas.openxmlformats.org/presentationml/2006/ole">
            <mc:AlternateContent xmlns:mc="http://schemas.openxmlformats.org/markup-compatibility/2006">
              <mc:Choice xmlns:v="urn:schemas-microsoft-com:vml" Requires="v">
                <p:oleObj spid="_x0000_s32791" r:id="rId5" imgW="584200" imgH="444500" progId="Equation.3">
                  <p:embed/>
                </p:oleObj>
              </mc:Choice>
              <mc:Fallback>
                <p:oleObj r:id="rId5" imgW="584200" imgH="444500" progId="Equation.3">
                  <p:embed/>
                  <p:pic>
                    <p:nvPicPr>
                      <p:cNvPr id="0" name="图片 3145"/>
                      <p:cNvPicPr/>
                      <p:nvPr/>
                    </p:nvPicPr>
                    <p:blipFill>
                      <a:blip r:embed="rId6"/>
                      <a:stretch>
                        <a:fillRect/>
                      </a:stretch>
                    </p:blipFill>
                    <p:spPr>
                      <a:xfrm>
                        <a:off x="3035300" y="2500313"/>
                        <a:ext cx="1309688" cy="996950"/>
                      </a:xfrm>
                      <a:prstGeom prst="rect">
                        <a:avLst/>
                      </a:prstGeom>
                      <a:solidFill>
                        <a:srgbClr val="FFCC00"/>
                      </a:solidFill>
                      <a:ln w="38100">
                        <a:noFill/>
                        <a:miter/>
                      </a:ln>
                    </p:spPr>
                  </p:pic>
                </p:oleObj>
              </mc:Fallback>
            </mc:AlternateContent>
          </a:graphicData>
        </a:graphic>
      </p:graphicFrame>
      <p:graphicFrame>
        <p:nvGraphicFramePr>
          <p:cNvPr id="1451013" name="对象 1451012"/>
          <p:cNvGraphicFramePr/>
          <p:nvPr>
            <p:extLst>
              <p:ext uri="{D42A27DB-BD31-4B8C-83A1-F6EECF244321}">
                <p14:modId xmlns:p14="http://schemas.microsoft.com/office/powerpoint/2010/main" val="1642187689"/>
              </p:ext>
            </p:extLst>
          </p:nvPr>
        </p:nvGraphicFramePr>
        <p:xfrm>
          <a:off x="2279650" y="238126"/>
          <a:ext cx="4584700" cy="1081087"/>
        </p:xfrm>
        <a:graphic>
          <a:graphicData uri="http://schemas.openxmlformats.org/presentationml/2006/ole">
            <mc:AlternateContent xmlns:mc="http://schemas.openxmlformats.org/markup-compatibility/2006">
              <mc:Choice xmlns:v="urn:schemas-microsoft-com:vml" Requires="v">
                <p:oleObj spid="_x0000_s32792" r:id="rId7" imgW="2031365" imgH="482600" progId="Equation.3">
                  <p:embed/>
                </p:oleObj>
              </mc:Choice>
              <mc:Fallback>
                <p:oleObj r:id="rId7" imgW="2031365" imgH="482600" progId="Equation.3">
                  <p:embed/>
                  <p:pic>
                    <p:nvPicPr>
                      <p:cNvPr id="0" name="图片 3149"/>
                      <p:cNvPicPr/>
                      <p:nvPr/>
                    </p:nvPicPr>
                    <p:blipFill>
                      <a:blip r:embed="rId8"/>
                      <a:stretch>
                        <a:fillRect/>
                      </a:stretch>
                    </p:blipFill>
                    <p:spPr>
                      <a:xfrm>
                        <a:off x="2279650" y="238126"/>
                        <a:ext cx="4584700" cy="1081087"/>
                      </a:xfrm>
                      <a:prstGeom prst="rect">
                        <a:avLst/>
                      </a:prstGeom>
                      <a:noFill/>
                      <a:ln w="38100">
                        <a:noFill/>
                        <a:miter/>
                      </a:ln>
                    </p:spPr>
                  </p:pic>
                </p:oleObj>
              </mc:Fallback>
            </mc:AlternateContent>
          </a:graphicData>
        </a:graphic>
      </p:graphicFrame>
      <p:sp>
        <p:nvSpPr>
          <p:cNvPr id="1451014" name="文本框 1451013"/>
          <p:cNvSpPr txBox="1"/>
          <p:nvPr/>
        </p:nvSpPr>
        <p:spPr>
          <a:xfrm>
            <a:off x="5105400" y="2741613"/>
            <a:ext cx="1981200" cy="457200"/>
          </a:xfrm>
          <a:prstGeom prst="rect">
            <a:avLst/>
          </a:prstGeom>
          <a:noFill/>
          <a:ln w="12700">
            <a:noFill/>
          </a:ln>
        </p:spPr>
        <p:txBody>
          <a:bodyPr>
            <a:spAutoFit/>
          </a:bodyPr>
          <a:lstStyle/>
          <a:p>
            <a:r>
              <a:rPr lang="en-US" altLang="zh-CN" sz="2000"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rPr>
              <a:t> = 5% </a:t>
            </a: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000"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rPr>
              <a:t>)</a:t>
            </a:r>
          </a:p>
        </p:txBody>
      </p:sp>
      <p:sp>
        <p:nvSpPr>
          <p:cNvPr id="1451015" name="文本框 1451014"/>
          <p:cNvSpPr txBox="1"/>
          <p:nvPr/>
        </p:nvSpPr>
        <p:spPr>
          <a:xfrm>
            <a:off x="5105400" y="4051300"/>
            <a:ext cx="1981200" cy="457200"/>
          </a:xfrm>
          <a:prstGeom prst="rect">
            <a:avLst/>
          </a:prstGeom>
          <a:noFill/>
          <a:ln w="12700">
            <a:noFill/>
          </a:ln>
        </p:spPr>
        <p:txBody>
          <a:bodyPr>
            <a:spAutoFit/>
          </a:bodyPr>
          <a:lstStyle/>
          <a:p>
            <a:r>
              <a:rPr lang="en-US" altLang="zh-CN" sz="2000"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rPr>
              <a:t> = 2% </a:t>
            </a: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000" dirty="0">
                <a:solidFill>
                  <a:schemeClr val="tx1"/>
                </a:solidFill>
                <a:latin typeface="Times New Roman" panose="02020603050405020304" pitchFamily="18" charset="0"/>
              </a:rPr>
              <a:t>∞</a:t>
            </a:r>
            <a:r>
              <a:rPr lang="en-US" altLang="zh-CN" sz="2400" dirty="0">
                <a:solidFill>
                  <a:schemeClr val="tx1"/>
                </a:solidFill>
                <a:latin typeface="Times New Roman" panose="02020603050405020304" pitchFamily="18" charset="0"/>
              </a:rPr>
              <a:t>)</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51013"/>
                                        </p:tgtEl>
                                        <p:attrNameLst>
                                          <p:attrName>style.visibility</p:attrName>
                                        </p:attrNameLst>
                                      </p:cBhvr>
                                      <p:to>
                                        <p:strVal val="visible"/>
                                      </p:to>
                                    </p:set>
                                    <p:animEffect transition="in" filter="dissolve">
                                      <p:cBhvr>
                                        <p:cTn id="7" dur="500"/>
                                        <p:tgtEl>
                                          <p:spTgt spid="14510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51010"/>
                                        </p:tgtEl>
                                        <p:attrNameLst>
                                          <p:attrName>style.visibility</p:attrName>
                                        </p:attrNameLst>
                                      </p:cBhvr>
                                      <p:to>
                                        <p:strVal val="visible"/>
                                      </p:to>
                                    </p:set>
                                    <p:anim calcmode="lin" valueType="num">
                                      <p:cBhvr additive="base">
                                        <p:cTn id="12" dur="500" fill="hold"/>
                                        <p:tgtEl>
                                          <p:spTgt spid="1451010"/>
                                        </p:tgtEl>
                                        <p:attrNameLst>
                                          <p:attrName>ppt_x</p:attrName>
                                        </p:attrNameLst>
                                      </p:cBhvr>
                                      <p:tavLst>
                                        <p:tav tm="0">
                                          <p:val>
                                            <p:strVal val="0-#ppt_w/2"/>
                                          </p:val>
                                        </p:tav>
                                        <p:tav tm="100000">
                                          <p:val>
                                            <p:strVal val="#ppt_x"/>
                                          </p:val>
                                        </p:tav>
                                      </p:tavLst>
                                    </p:anim>
                                    <p:anim calcmode="lin" valueType="num">
                                      <p:cBhvr additive="base">
                                        <p:cTn id="13" dur="500" fill="hold"/>
                                        <p:tgtEl>
                                          <p:spTgt spid="14510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51012"/>
                                        </p:tgtEl>
                                        <p:attrNameLst>
                                          <p:attrName>style.visibility</p:attrName>
                                        </p:attrNameLst>
                                      </p:cBhvr>
                                      <p:to>
                                        <p:strVal val="visible"/>
                                      </p:to>
                                    </p:set>
                                    <p:animEffect transition="in" filter="dissolve">
                                      <p:cBhvr>
                                        <p:cTn id="18" dur="500"/>
                                        <p:tgtEl>
                                          <p:spTgt spid="1451012"/>
                                        </p:tgtEl>
                                      </p:cBhvr>
                                    </p:animEffect>
                                  </p:childTnLst>
                                </p:cTn>
                              </p:par>
                            </p:childTnLst>
                          </p:cTn>
                        </p:par>
                        <p:par>
                          <p:cTn id="19" fill="hold">
                            <p:stCondLst>
                              <p:cond delay="500"/>
                            </p:stCondLst>
                            <p:childTnLst>
                              <p:par>
                                <p:cTn id="20" presetID="9" presetClass="entr" presetSubtype="0" fill="hold" grpId="0" nodeType="afterEffect">
                                  <p:stCondLst>
                                    <p:cond delay="0"/>
                                  </p:stCondLst>
                                  <p:childTnLst>
                                    <p:set>
                                      <p:cBhvr>
                                        <p:cTn id="21" dur="1" fill="hold">
                                          <p:stCondLst>
                                            <p:cond delay="0"/>
                                          </p:stCondLst>
                                        </p:cTn>
                                        <p:tgtEl>
                                          <p:spTgt spid="1451014"/>
                                        </p:tgtEl>
                                        <p:attrNameLst>
                                          <p:attrName>style.visibility</p:attrName>
                                        </p:attrNameLst>
                                      </p:cBhvr>
                                      <p:to>
                                        <p:strVal val="visible"/>
                                      </p:to>
                                    </p:set>
                                    <p:animEffect transition="in" filter="dissolve">
                                      <p:cBhvr>
                                        <p:cTn id="22" dur="500"/>
                                        <p:tgtEl>
                                          <p:spTgt spid="14510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51011"/>
                                        </p:tgtEl>
                                        <p:attrNameLst>
                                          <p:attrName>style.visibility</p:attrName>
                                        </p:attrNameLst>
                                      </p:cBhvr>
                                      <p:to>
                                        <p:strVal val="visible"/>
                                      </p:to>
                                    </p:set>
                                    <p:animEffect transition="in" filter="dissolve">
                                      <p:cBhvr>
                                        <p:cTn id="27" dur="500"/>
                                        <p:tgtEl>
                                          <p:spTgt spid="1451011"/>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1451015"/>
                                        </p:tgtEl>
                                        <p:attrNameLst>
                                          <p:attrName>style.visibility</p:attrName>
                                        </p:attrNameLst>
                                      </p:cBhvr>
                                      <p:to>
                                        <p:strVal val="visible"/>
                                      </p:to>
                                    </p:set>
                                    <p:animEffect transition="in" filter="dissolve">
                                      <p:cBhvr>
                                        <p:cTn id="31" dur="500"/>
                                        <p:tgtEl>
                                          <p:spTgt spid="1451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1010" grpId="0"/>
      <p:bldP spid="1451014" grpId="0"/>
      <p:bldP spid="14510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B57E277-C3F8-460F-9CF8-7FEB9DA5A7F1}"/>
              </a:ext>
            </a:extLst>
          </p:cNvPr>
          <p:cNvSpPr txBox="1"/>
          <p:nvPr/>
        </p:nvSpPr>
        <p:spPr>
          <a:xfrm>
            <a:off x="0" y="6093296"/>
            <a:ext cx="9144000" cy="764704"/>
          </a:xfrm>
          <a:prstGeom prst="rect">
            <a:avLst/>
          </a:prstGeom>
          <a:solidFill>
            <a:schemeClr val="bg2"/>
          </a:solidFill>
        </p:spPr>
        <p:txBody>
          <a:bodyPr wrap="square" rtlCol="0">
            <a:spAutoFit/>
          </a:bodyPr>
          <a:lstStyle/>
          <a:p>
            <a:endParaRPr lang="zh-CN" altLang="en-US" dirty="0"/>
          </a:p>
        </p:txBody>
      </p:sp>
      <p:sp>
        <p:nvSpPr>
          <p:cNvPr id="1452034" name="文本框 1452033"/>
          <p:cNvSpPr txBox="1"/>
          <p:nvPr/>
        </p:nvSpPr>
        <p:spPr>
          <a:xfrm>
            <a:off x="1480749" y="30164"/>
            <a:ext cx="3697287" cy="519112"/>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总结：</a:t>
            </a:r>
          </a:p>
        </p:txBody>
      </p:sp>
      <p:sp>
        <p:nvSpPr>
          <p:cNvPr id="1452035" name="文本框 1452034"/>
          <p:cNvSpPr txBox="1"/>
          <p:nvPr/>
        </p:nvSpPr>
        <p:spPr>
          <a:xfrm>
            <a:off x="1095375" y="6000750"/>
            <a:ext cx="5467350" cy="579438"/>
          </a:xfrm>
          <a:prstGeom prst="rect">
            <a:avLst/>
          </a:prstGeom>
          <a:noFill/>
          <a:ln w="9525">
            <a:noFill/>
          </a:ln>
        </p:spPr>
        <p:txBody>
          <a:bodyPr wrap="none">
            <a:spAutoFit/>
          </a:bodyPr>
          <a:lstStyle/>
          <a:p>
            <a:pPr marR="0" defTabSz="914400">
              <a:spcBef>
                <a:spcPct val="0"/>
              </a:spcBef>
              <a:buClrTx/>
              <a:buSzTx/>
              <a:buFontTx/>
              <a:buNone/>
              <a:defRPr/>
            </a:pPr>
            <a:r>
              <a:rPr kumimoji="0" lang="zh-CN" altLang="en-US" sz="3200" kern="1200" cap="none" spc="0" normalizeH="0" baseline="0" noProof="1">
                <a:solidFill>
                  <a:srgbClr val="FF0000"/>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各性能指标之间是有矛盾的。</a:t>
            </a:r>
          </a:p>
        </p:txBody>
      </p:sp>
      <p:grpSp>
        <p:nvGrpSpPr>
          <p:cNvPr id="1452036" name="组合 1452035"/>
          <p:cNvGrpSpPr/>
          <p:nvPr/>
        </p:nvGrpSpPr>
        <p:grpSpPr>
          <a:xfrm>
            <a:off x="807294" y="3151188"/>
            <a:ext cx="7418388" cy="1304925"/>
            <a:chOff x="580" y="819"/>
            <a:chExt cx="4673" cy="822"/>
          </a:xfrm>
        </p:grpSpPr>
        <p:sp>
          <p:nvSpPr>
            <p:cNvPr id="48146" name="文本框 1452036"/>
            <p:cNvSpPr txBox="1"/>
            <p:nvPr/>
          </p:nvSpPr>
          <p:spPr>
            <a:xfrm>
              <a:off x="580" y="884"/>
              <a:ext cx="4673" cy="757"/>
            </a:xfrm>
            <a:prstGeom prst="rect">
              <a:avLst/>
            </a:prstGeom>
            <a:noFill/>
            <a:ln w="9525">
              <a:noFill/>
            </a:ln>
          </p:spPr>
          <p:txBody>
            <a:bodyPr>
              <a:spAutoFit/>
            </a:bodyPr>
            <a:lstStyle/>
            <a:p>
              <a:pPr marL="342900" indent="-342900">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(1) </a:t>
              </a:r>
              <a:r>
                <a:rPr lang="en-US" altLang="zh-CN" sz="2800" i="1" dirty="0">
                  <a:solidFill>
                    <a:schemeClr val="tx1"/>
                  </a:solidFill>
                  <a:latin typeface="Times New Roman" panose="02020603050405020304" pitchFamily="18" charset="0"/>
                </a:rPr>
                <a:t>ω</a:t>
              </a:r>
              <a:r>
                <a:rPr lang="en-US" altLang="zh-CN" sz="2800" i="1" baseline="-30000" dirty="0">
                  <a:solidFill>
                    <a:schemeClr val="tx1"/>
                  </a:solidFill>
                  <a:latin typeface="Times New Roman" panose="02020603050405020304" pitchFamily="18" charset="0"/>
                </a:rPr>
                <a:t>n</a:t>
              </a:r>
              <a:r>
                <a:rPr lang="en-US" altLang="zh-CN" sz="20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一定，使</a:t>
              </a:r>
              <a:r>
                <a:rPr lang="en-US" altLang="zh-CN" sz="2800" i="1" dirty="0">
                  <a:solidFill>
                    <a:schemeClr val="tx1"/>
                  </a:solidFill>
                  <a:latin typeface="Times New Roman" panose="02020603050405020304" pitchFamily="18" charset="0"/>
                </a:rPr>
                <a:t>t</a:t>
              </a:r>
              <a:r>
                <a:rPr lang="en-US" altLang="zh-CN" sz="2800" i="1" baseline="-30000" dirty="0">
                  <a:solidFill>
                    <a:schemeClr val="tx1"/>
                  </a:solidFill>
                  <a:latin typeface="Times New Roman" panose="02020603050405020304" pitchFamily="18" charset="0"/>
                </a:rPr>
                <a:t>r</a:t>
              </a:r>
              <a:r>
                <a:rPr lang="en-US" altLang="zh-CN" sz="2800" i="1" dirty="0">
                  <a:solidFill>
                    <a:schemeClr val="tx1"/>
                  </a:solidFill>
                  <a:latin typeface="Times New Roman" panose="02020603050405020304" pitchFamily="18" charset="0"/>
                </a:rPr>
                <a:t>  t</a:t>
              </a:r>
              <a:r>
                <a:rPr lang="en-US" altLang="zh-CN" sz="2800" i="1" baseline="-30000" dirty="0">
                  <a:solidFill>
                    <a:schemeClr val="tx1"/>
                  </a:solidFill>
                  <a:latin typeface="Times New Roman" panose="02020603050405020304" pitchFamily="18" charset="0"/>
                </a:rPr>
                <a:t>p</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Arial" panose="020B0604020202020204" pitchFamily="34" charset="0"/>
                  <a:sym typeface="Symbol" panose="05050102010706020507" pitchFamily="18" charset="2"/>
                </a:rPr>
                <a:t></a:t>
              </a:r>
              <a:r>
                <a:rPr lang="en-US" altLang="zh-CN" sz="20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ξ</a:t>
              </a:r>
              <a:r>
                <a:rPr lang="en-US" altLang="zh-CN" sz="2000" i="1" dirty="0">
                  <a:solidFill>
                    <a:schemeClr val="tx1"/>
                  </a:solidFill>
                  <a:latin typeface="Arial" panose="020B0604020202020204" pitchFamily="34" charset="0"/>
                </a:rPr>
                <a:t> </a:t>
              </a:r>
              <a:r>
                <a:rPr lang="en-US" altLang="zh-CN" sz="2800" dirty="0">
                  <a:solidFill>
                    <a:schemeClr val="tx1"/>
                  </a:solidFill>
                  <a:latin typeface="Arial" panose="020B0604020202020204" pitchFamily="34" charset="0"/>
                  <a:sym typeface="Symbol" panose="05050102010706020507" pitchFamily="18" charset="2"/>
                </a:rPr>
                <a:t></a:t>
              </a:r>
              <a:endParaRPr lang="en-US" altLang="zh-CN" sz="2800" i="1" dirty="0">
                <a:solidFill>
                  <a:schemeClr val="tx1"/>
                </a:solidFill>
                <a:latin typeface="Times New Roman" panose="02020603050405020304" pitchFamily="18" charset="0"/>
              </a:endParaRPr>
            </a:p>
            <a:p>
              <a:pPr marL="342900" indent="-342900">
                <a:lnSpc>
                  <a:spcPct val="160000"/>
                </a:lnSpc>
                <a:spcBef>
                  <a:spcPct val="0"/>
                </a:spcBef>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使 </a:t>
              </a:r>
              <a:r>
                <a:rPr lang="en-US" altLang="zh-CN" sz="2800" i="1" dirty="0">
                  <a:solidFill>
                    <a:schemeClr val="tx1"/>
                  </a:solidFill>
                  <a:latin typeface="Times New Roman" panose="02020603050405020304" pitchFamily="18" charset="0"/>
                </a:rPr>
                <a:t>t</a:t>
              </a:r>
              <a:r>
                <a:rPr lang="en-US" altLang="zh-CN" sz="2800" i="1" baseline="-30000" dirty="0">
                  <a:solidFill>
                    <a:schemeClr val="tx1"/>
                  </a:solidFill>
                  <a:latin typeface="Times New Roman" panose="02020603050405020304" pitchFamily="18" charset="0"/>
                </a:rPr>
                <a:t>s</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Arial" panose="020B0604020202020204" pitchFamily="34" charset="0"/>
                  <a:sym typeface="Symbol" panose="05050102010706020507" pitchFamily="18" charset="2"/>
                </a:rPr>
                <a:t></a:t>
              </a:r>
              <a:r>
                <a:rPr lang="en-US" altLang="zh-CN" sz="20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ξ</a:t>
              </a:r>
              <a:r>
                <a:rPr lang="en-US" altLang="zh-CN" sz="2000" dirty="0">
                  <a:solidFill>
                    <a:schemeClr val="tx1"/>
                  </a:solidFill>
                  <a:latin typeface="Arial" panose="020B0604020202020204" pitchFamily="34" charset="0"/>
                </a:rPr>
                <a:t> </a:t>
              </a:r>
              <a:r>
                <a:rPr lang="en-US" altLang="zh-CN" sz="2800" dirty="0">
                  <a:solidFill>
                    <a:schemeClr val="tx1"/>
                  </a:solidFill>
                  <a:latin typeface="Arial" panose="020B0604020202020204" pitchFamily="34" charset="0"/>
                  <a:sym typeface="Symbol" panose="05050102010706020507" pitchFamily="18" charset="2"/>
                </a:rPr>
                <a:t> </a:t>
              </a:r>
              <a:r>
                <a:rPr lang="en-US" altLang="zh-CN" sz="2000" dirty="0">
                  <a:solidFill>
                    <a:schemeClr val="tx1"/>
                  </a:solidFill>
                  <a:latin typeface="Arial" panose="020B0604020202020204" pitchFamily="34" charset="0"/>
                </a:rPr>
                <a:t> ( </a:t>
              </a:r>
              <a:r>
                <a:rPr lang="en-US" altLang="zh-CN" sz="2800" i="1" dirty="0">
                  <a:solidFill>
                    <a:schemeClr val="tx1"/>
                  </a:solidFill>
                  <a:latin typeface="Times New Roman" panose="02020603050405020304" pitchFamily="18" charset="0"/>
                </a:rPr>
                <a:t>ξ</a:t>
              </a:r>
              <a:r>
                <a:rPr lang="en-US" altLang="zh-CN" sz="2000" dirty="0">
                  <a:solidFill>
                    <a:schemeClr val="tx1"/>
                  </a:solidFill>
                  <a:latin typeface="Arial" panose="020B0604020202020204" pitchFamily="34" charset="0"/>
                </a:rPr>
                <a:t> </a:t>
              </a:r>
              <a:r>
                <a:rPr lang="zh-CN" altLang="en-US" sz="2000" dirty="0">
                  <a:solidFill>
                    <a:schemeClr val="tx1"/>
                  </a:solidFill>
                  <a:latin typeface="Arial" panose="020B0604020202020204" pitchFamily="34" charset="0"/>
                </a:rPr>
                <a:t>一定范围 </a:t>
              </a:r>
              <a:r>
                <a:rPr lang="en-US" altLang="zh-CN" sz="2000" dirty="0">
                  <a:solidFill>
                    <a:schemeClr val="tx1"/>
                  </a:solidFill>
                  <a:latin typeface="Arial" panose="020B0604020202020204" pitchFamily="34" charset="0"/>
                </a:rPr>
                <a:t>)</a:t>
              </a:r>
            </a:p>
          </p:txBody>
        </p:sp>
        <p:sp>
          <p:nvSpPr>
            <p:cNvPr id="48147" name="直接连接符 1452037"/>
            <p:cNvSpPr/>
            <p:nvPr/>
          </p:nvSpPr>
          <p:spPr>
            <a:xfrm>
              <a:off x="2752" y="1095"/>
              <a:ext cx="528" cy="0"/>
            </a:xfrm>
            <a:prstGeom prst="line">
              <a:avLst/>
            </a:prstGeom>
            <a:ln w="9525" cap="flat" cmpd="sng">
              <a:solidFill>
                <a:schemeClr val="tx1"/>
              </a:solidFill>
              <a:prstDash val="solid"/>
              <a:headEnd type="none" w="med" len="med"/>
              <a:tailEnd type="triangle" w="med" len="med"/>
            </a:ln>
          </p:spPr>
        </p:sp>
        <p:sp>
          <p:nvSpPr>
            <p:cNvPr id="48148" name="文本框 1452038"/>
            <p:cNvSpPr txBox="1"/>
            <p:nvPr/>
          </p:nvSpPr>
          <p:spPr>
            <a:xfrm>
              <a:off x="2777" y="819"/>
              <a:ext cx="438" cy="250"/>
            </a:xfrm>
            <a:prstGeom prst="rect">
              <a:avLst/>
            </a:prstGeom>
            <a:noFill/>
            <a:ln w="9525">
              <a:noFill/>
            </a:ln>
          </p:spPr>
          <p:txBody>
            <a:bodyPr wrap="none">
              <a:spAutoFit/>
            </a:bodyPr>
            <a:lstStyle/>
            <a:p>
              <a:pPr>
                <a:spcBef>
                  <a:spcPct val="0"/>
                </a:spcBef>
              </a:pPr>
              <a:r>
                <a:rPr lang="zh-CN" altLang="en-US" sz="2000" dirty="0">
                  <a:solidFill>
                    <a:schemeClr val="tx1"/>
                  </a:solidFill>
                  <a:latin typeface="Arial" panose="020B0604020202020204" pitchFamily="34" charset="0"/>
                </a:rPr>
                <a:t>必须</a:t>
              </a:r>
            </a:p>
          </p:txBody>
        </p:sp>
        <p:sp>
          <p:nvSpPr>
            <p:cNvPr id="48149" name="直接连接符 1452039"/>
            <p:cNvSpPr/>
            <p:nvPr/>
          </p:nvSpPr>
          <p:spPr>
            <a:xfrm>
              <a:off x="2637" y="1475"/>
              <a:ext cx="528" cy="0"/>
            </a:xfrm>
            <a:prstGeom prst="line">
              <a:avLst/>
            </a:prstGeom>
            <a:ln w="9525" cap="flat" cmpd="sng">
              <a:solidFill>
                <a:schemeClr val="tx1"/>
              </a:solidFill>
              <a:prstDash val="solid"/>
              <a:headEnd type="none" w="med" len="med"/>
              <a:tailEnd type="triangle" w="med" len="med"/>
            </a:ln>
          </p:spPr>
        </p:sp>
        <p:sp>
          <p:nvSpPr>
            <p:cNvPr id="48150" name="文本框 1452040"/>
            <p:cNvSpPr txBox="1"/>
            <p:nvPr/>
          </p:nvSpPr>
          <p:spPr>
            <a:xfrm>
              <a:off x="2696" y="1234"/>
              <a:ext cx="438" cy="250"/>
            </a:xfrm>
            <a:prstGeom prst="rect">
              <a:avLst/>
            </a:prstGeom>
            <a:noFill/>
            <a:ln w="9525">
              <a:noFill/>
            </a:ln>
          </p:spPr>
          <p:txBody>
            <a:bodyPr wrap="none">
              <a:spAutoFit/>
            </a:bodyPr>
            <a:lstStyle/>
            <a:p>
              <a:pPr>
                <a:spcBef>
                  <a:spcPct val="0"/>
                </a:spcBef>
              </a:pPr>
              <a:r>
                <a:rPr lang="zh-CN" altLang="en-US" sz="2000" dirty="0">
                  <a:solidFill>
                    <a:schemeClr val="tx1"/>
                  </a:solidFill>
                  <a:latin typeface="Arial" panose="020B0604020202020204" pitchFamily="34" charset="0"/>
                </a:rPr>
                <a:t>必须</a:t>
              </a:r>
            </a:p>
          </p:txBody>
        </p:sp>
      </p:grpSp>
      <p:grpSp>
        <p:nvGrpSpPr>
          <p:cNvPr id="1452042" name="组合 1452041"/>
          <p:cNvGrpSpPr/>
          <p:nvPr/>
        </p:nvGrpSpPr>
        <p:grpSpPr>
          <a:xfrm>
            <a:off x="918542" y="4430713"/>
            <a:ext cx="6470650" cy="647700"/>
            <a:chOff x="668" y="1816"/>
            <a:chExt cx="4122" cy="408"/>
          </a:xfrm>
        </p:grpSpPr>
        <p:sp>
          <p:nvSpPr>
            <p:cNvPr id="48143" name="直接连接符 1452042"/>
            <p:cNvSpPr/>
            <p:nvPr/>
          </p:nvSpPr>
          <p:spPr>
            <a:xfrm>
              <a:off x="2960" y="2097"/>
              <a:ext cx="528" cy="0"/>
            </a:xfrm>
            <a:prstGeom prst="line">
              <a:avLst/>
            </a:prstGeom>
            <a:ln w="9525" cap="flat" cmpd="sng">
              <a:solidFill>
                <a:schemeClr val="tx1"/>
              </a:solidFill>
              <a:prstDash val="solid"/>
              <a:headEnd type="none" w="med" len="med"/>
              <a:tailEnd type="triangle" w="med" len="med"/>
            </a:ln>
          </p:spPr>
        </p:sp>
        <p:sp>
          <p:nvSpPr>
            <p:cNvPr id="48144" name="文本框 1452043"/>
            <p:cNvSpPr txBox="1"/>
            <p:nvPr/>
          </p:nvSpPr>
          <p:spPr>
            <a:xfrm>
              <a:off x="2997" y="1844"/>
              <a:ext cx="441" cy="250"/>
            </a:xfrm>
            <a:prstGeom prst="rect">
              <a:avLst/>
            </a:prstGeom>
            <a:noFill/>
            <a:ln w="9525">
              <a:noFill/>
            </a:ln>
          </p:spPr>
          <p:txBody>
            <a:bodyPr wrap="none">
              <a:spAutoFit/>
            </a:bodyPr>
            <a:lstStyle/>
            <a:p>
              <a:pPr>
                <a:spcBef>
                  <a:spcPct val="0"/>
                </a:spcBef>
              </a:pPr>
              <a:r>
                <a:rPr lang="zh-CN" altLang="en-US" sz="2000" b="0" dirty="0">
                  <a:solidFill>
                    <a:schemeClr val="tx1"/>
                  </a:solidFill>
                  <a:latin typeface="Arial" panose="020B0604020202020204" pitchFamily="34" charset="0"/>
                </a:rPr>
                <a:t>必须</a:t>
              </a:r>
            </a:p>
          </p:txBody>
        </p:sp>
        <p:sp>
          <p:nvSpPr>
            <p:cNvPr id="48145" name="矩形 1452044"/>
            <p:cNvSpPr/>
            <p:nvPr/>
          </p:nvSpPr>
          <p:spPr>
            <a:xfrm>
              <a:off x="668" y="1816"/>
              <a:ext cx="4122" cy="408"/>
            </a:xfrm>
            <a:prstGeom prst="rect">
              <a:avLst/>
            </a:prstGeom>
            <a:noFill/>
            <a:ln w="9525">
              <a:noFill/>
            </a:ln>
          </p:spPr>
          <p:txBody>
            <a:bodyPr>
              <a:spAutoFit/>
            </a:bodyPr>
            <a:lstStyle/>
            <a:p>
              <a:pPr>
                <a:lnSpc>
                  <a:spcPct val="130000"/>
                </a:lnSpc>
                <a:spcBef>
                  <a:spcPct val="0"/>
                </a:spcBef>
              </a:pPr>
              <a:r>
                <a:rPr lang="en-US" altLang="zh-CN" sz="2800" dirty="0">
                  <a:solidFill>
                    <a:schemeClr val="tx1"/>
                  </a:solidFill>
                  <a:latin typeface="Times New Roman" panose="02020603050405020304" pitchFamily="18" charset="0"/>
                </a:rPr>
                <a:t>(2) </a:t>
              </a:r>
              <a:r>
                <a:rPr lang="en-US" altLang="zh-CN" sz="2800" i="1" dirty="0">
                  <a:solidFill>
                    <a:schemeClr val="tx1"/>
                  </a:solidFill>
                  <a:latin typeface="Times New Roman" panose="02020603050405020304" pitchFamily="18" charset="0"/>
                </a:rPr>
                <a:t>ξ</a:t>
              </a:r>
              <a:r>
                <a:rPr lang="en-US" altLang="zh-CN" sz="20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一定，使</a:t>
              </a:r>
              <a:r>
                <a:rPr lang="zh-CN" altLang="en-US" sz="2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t</a:t>
              </a:r>
              <a:r>
                <a:rPr lang="en-US" altLang="zh-CN" sz="2800" i="1" baseline="-30000" dirty="0">
                  <a:solidFill>
                    <a:schemeClr val="tx1"/>
                  </a:solidFill>
                  <a:latin typeface="Times New Roman" panose="02020603050405020304" pitchFamily="18" charset="0"/>
                </a:rPr>
                <a:t>r</a:t>
              </a:r>
              <a:r>
                <a:rPr lang="en-US" altLang="zh-CN" sz="2800" i="1" dirty="0">
                  <a:solidFill>
                    <a:schemeClr val="tx1"/>
                  </a:solidFill>
                  <a:latin typeface="Times New Roman" panose="02020603050405020304" pitchFamily="18" charset="0"/>
                </a:rPr>
                <a:t>  t</a:t>
              </a:r>
              <a:r>
                <a:rPr lang="en-US" altLang="zh-CN" sz="2800" i="1" baseline="-30000" dirty="0">
                  <a:solidFill>
                    <a:schemeClr val="tx1"/>
                  </a:solidFill>
                  <a:latin typeface="Times New Roman" panose="02020603050405020304" pitchFamily="18" charset="0"/>
                </a:rPr>
                <a:t>p</a:t>
              </a:r>
              <a:r>
                <a:rPr lang="en-US" altLang="zh-CN" sz="2800" i="1" dirty="0">
                  <a:solidFill>
                    <a:schemeClr val="tx1"/>
                  </a:solidFill>
                  <a:latin typeface="Times New Roman" panose="02020603050405020304" pitchFamily="18" charset="0"/>
                </a:rPr>
                <a:t>  t</a:t>
              </a:r>
              <a:r>
                <a:rPr lang="en-US" altLang="zh-CN" sz="2800" i="1" baseline="-30000" dirty="0">
                  <a:solidFill>
                    <a:schemeClr val="tx1"/>
                  </a:solidFill>
                  <a:latin typeface="Times New Roman" panose="02020603050405020304" pitchFamily="18" charset="0"/>
                </a:rPr>
                <a:t>s</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Arial" panose="020B0604020202020204" pitchFamily="34" charset="0"/>
                  <a:sym typeface="Symbol" panose="05050102010706020507" pitchFamily="18" charset="2"/>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ω</a:t>
              </a:r>
              <a:r>
                <a:rPr lang="en-US" altLang="zh-CN" sz="2800" i="1" baseline="-30000" dirty="0">
                  <a:solidFill>
                    <a:schemeClr val="tx1"/>
                  </a:solidFill>
                  <a:latin typeface="Times New Roman" panose="02020603050405020304" pitchFamily="18" charset="0"/>
                </a:rPr>
                <a:t>n </a:t>
              </a:r>
              <a:r>
                <a:rPr lang="en-US" altLang="zh-CN" sz="2800" dirty="0">
                  <a:solidFill>
                    <a:schemeClr val="tx1"/>
                  </a:solidFill>
                  <a:latin typeface="Arial" panose="020B0604020202020204" pitchFamily="34" charset="0"/>
                  <a:sym typeface="Symbol" panose="05050102010706020507" pitchFamily="18" charset="2"/>
                </a:rPr>
                <a:t></a:t>
              </a:r>
              <a:endParaRPr lang="en-US" altLang="zh-CN" sz="2800" dirty="0">
                <a:solidFill>
                  <a:schemeClr val="tx1"/>
                </a:solidFill>
                <a:latin typeface="Times New Roman" panose="02020603050405020304" pitchFamily="18" charset="0"/>
              </a:endParaRPr>
            </a:p>
          </p:txBody>
        </p:sp>
      </p:grpSp>
      <p:grpSp>
        <p:nvGrpSpPr>
          <p:cNvPr id="1452046" name="组合 1452045"/>
          <p:cNvGrpSpPr/>
          <p:nvPr/>
        </p:nvGrpSpPr>
        <p:grpSpPr>
          <a:xfrm>
            <a:off x="684213" y="5211763"/>
            <a:ext cx="6400800" cy="647700"/>
            <a:chOff x="636" y="2296"/>
            <a:chExt cx="4032" cy="408"/>
          </a:xfrm>
        </p:grpSpPr>
        <p:sp>
          <p:nvSpPr>
            <p:cNvPr id="48140" name="文本框 1452046"/>
            <p:cNvSpPr txBox="1"/>
            <p:nvPr/>
          </p:nvSpPr>
          <p:spPr>
            <a:xfrm>
              <a:off x="636" y="2296"/>
              <a:ext cx="4032" cy="408"/>
            </a:xfrm>
            <a:prstGeom prst="rect">
              <a:avLst/>
            </a:prstGeom>
            <a:noFill/>
            <a:ln w="9525">
              <a:noFill/>
            </a:ln>
          </p:spPr>
          <p:txBody>
            <a:bodyPr>
              <a:spAutoFit/>
            </a:bodyPr>
            <a:lstStyle/>
            <a:p>
              <a:pPr marL="342900" indent="-342900">
                <a:lnSpc>
                  <a:spcPct val="130000"/>
                </a:lnSpc>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(3)  </a:t>
              </a:r>
              <a:r>
                <a:rPr lang="en-US" altLang="zh-CN" sz="2800" i="1" dirty="0">
                  <a:solidFill>
                    <a:schemeClr val="tx1"/>
                  </a:solidFill>
                  <a:latin typeface="Times New Roman" panose="02020603050405020304" pitchFamily="18" charset="0"/>
                </a:rPr>
                <a:t>ξ</a:t>
              </a:r>
              <a:r>
                <a:rPr lang="en-US" altLang="zh-CN" sz="2800" dirty="0">
                  <a:solidFill>
                    <a:schemeClr val="tx1"/>
                  </a:solidFill>
                  <a:latin typeface="Times New Roman" panose="02020603050405020304" pitchFamily="18" charset="0"/>
                </a:rPr>
                <a:t> </a:t>
              </a:r>
              <a:r>
                <a:rPr lang="en-US" altLang="zh-CN" sz="2800" dirty="0">
                  <a:solidFill>
                    <a:schemeClr val="tx1"/>
                  </a:solidFill>
                  <a:latin typeface="Arial" panose="020B0604020202020204" pitchFamily="34" charset="0"/>
                  <a:sym typeface="Symbol" panose="05050102010706020507" pitchFamily="18" charset="2"/>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M</a:t>
              </a:r>
              <a:r>
                <a:rPr lang="en-US" altLang="zh-CN" sz="2800" i="1" baseline="-30000" dirty="0">
                  <a:solidFill>
                    <a:schemeClr val="tx1"/>
                  </a:solidFill>
                  <a:latin typeface="Times New Roman" panose="02020603050405020304" pitchFamily="18" charset="0"/>
                </a:rPr>
                <a:t>p</a:t>
              </a:r>
              <a:r>
                <a:rPr lang="en-US" altLang="zh-CN" sz="2800" dirty="0">
                  <a:solidFill>
                    <a:schemeClr val="tx1"/>
                  </a:solidFill>
                  <a:latin typeface="Arial" panose="020B0604020202020204" pitchFamily="34" charset="0"/>
                  <a:sym typeface="Symbol" panose="05050102010706020507" pitchFamily="18" charset="2"/>
                </a:rPr>
                <a:t></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只由</a:t>
              </a:r>
              <a:r>
                <a:rPr lang="en-US" altLang="zh-CN" sz="2800" i="1" dirty="0">
                  <a:solidFill>
                    <a:schemeClr val="tx1"/>
                  </a:solidFill>
                  <a:latin typeface="Times New Roman" panose="02020603050405020304" pitchFamily="18" charset="0"/>
                </a:rPr>
                <a:t>ξ</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决定</a:t>
              </a:r>
            </a:p>
          </p:txBody>
        </p:sp>
        <p:sp>
          <p:nvSpPr>
            <p:cNvPr id="48141" name="直接连接符 1452047"/>
            <p:cNvSpPr/>
            <p:nvPr/>
          </p:nvSpPr>
          <p:spPr>
            <a:xfrm>
              <a:off x="1543" y="2592"/>
              <a:ext cx="528" cy="0"/>
            </a:xfrm>
            <a:prstGeom prst="line">
              <a:avLst/>
            </a:prstGeom>
            <a:ln w="9525" cap="flat" cmpd="sng">
              <a:solidFill>
                <a:schemeClr val="tx1"/>
              </a:solidFill>
              <a:prstDash val="solid"/>
              <a:headEnd type="none" w="med" len="med"/>
              <a:tailEnd type="triangle" w="med" len="med"/>
            </a:ln>
          </p:spPr>
        </p:sp>
        <p:sp>
          <p:nvSpPr>
            <p:cNvPr id="48142" name="文本框 1452048"/>
            <p:cNvSpPr txBox="1"/>
            <p:nvPr/>
          </p:nvSpPr>
          <p:spPr>
            <a:xfrm>
              <a:off x="1580" y="2339"/>
              <a:ext cx="438" cy="250"/>
            </a:xfrm>
            <a:prstGeom prst="rect">
              <a:avLst/>
            </a:prstGeom>
            <a:noFill/>
            <a:ln w="9525">
              <a:noFill/>
            </a:ln>
          </p:spPr>
          <p:txBody>
            <a:bodyPr wrap="none">
              <a:spAutoFit/>
            </a:bodyPr>
            <a:lstStyle/>
            <a:p>
              <a:pPr>
                <a:spcBef>
                  <a:spcPct val="0"/>
                </a:spcBef>
              </a:pPr>
              <a:r>
                <a:rPr lang="zh-CN" altLang="en-US" sz="2000" dirty="0">
                  <a:solidFill>
                    <a:schemeClr val="tx1"/>
                  </a:solidFill>
                  <a:latin typeface="Arial" panose="020B0604020202020204" pitchFamily="34" charset="0"/>
                </a:rPr>
                <a:t>必有</a:t>
              </a:r>
            </a:p>
          </p:txBody>
        </p:sp>
      </p:grpSp>
      <p:graphicFrame>
        <p:nvGraphicFramePr>
          <p:cNvPr id="1452050" name="内容占位符 1452049"/>
          <p:cNvGraphicFramePr>
            <a:graphicFrameLocks noGrp="1"/>
          </p:cNvGraphicFramePr>
          <p:nvPr>
            <p:ph sz="quarter" idx="1"/>
            <p:extLst>
              <p:ext uri="{D42A27DB-BD31-4B8C-83A1-F6EECF244321}">
                <p14:modId xmlns:p14="http://schemas.microsoft.com/office/powerpoint/2010/main" val="2246436992"/>
              </p:ext>
            </p:extLst>
          </p:nvPr>
        </p:nvGraphicFramePr>
        <p:xfrm>
          <a:off x="7411992" y="2157413"/>
          <a:ext cx="1008062" cy="766762"/>
        </p:xfrm>
        <a:graphic>
          <a:graphicData uri="http://schemas.openxmlformats.org/presentationml/2006/ole">
            <mc:AlternateContent xmlns:mc="http://schemas.openxmlformats.org/markup-compatibility/2006">
              <mc:Choice xmlns:v="urn:schemas-microsoft-com:vml" Requires="v">
                <p:oleObj spid="_x0000_s33828" r:id="rId3" imgW="584200" imgH="444500" progId="Equation.3">
                  <p:embed/>
                </p:oleObj>
              </mc:Choice>
              <mc:Fallback>
                <p:oleObj r:id="rId3" imgW="584200" imgH="444500" progId="Equation.3">
                  <p:embed/>
                  <p:pic>
                    <p:nvPicPr>
                      <p:cNvPr id="0" name="图片 3150"/>
                      <p:cNvPicPr/>
                      <p:nvPr/>
                    </p:nvPicPr>
                    <p:blipFill>
                      <a:blip r:embed="rId4"/>
                      <a:srcRect/>
                      <a:stretch>
                        <a:fillRect/>
                      </a:stretch>
                    </p:blipFill>
                    <p:spPr>
                      <a:xfrm>
                        <a:off x="7411992" y="2157413"/>
                        <a:ext cx="1008062" cy="766762"/>
                      </a:xfrm>
                      <a:prstGeom prst="rect">
                        <a:avLst/>
                      </a:prstGeom>
                      <a:solidFill>
                        <a:srgbClr val="FFCC00">
                          <a:alpha val="100000"/>
                        </a:srgbClr>
                      </a:solidFill>
                      <a:ln w="38100">
                        <a:miter/>
                      </a:ln>
                    </p:spPr>
                  </p:pic>
                </p:oleObj>
              </mc:Fallback>
            </mc:AlternateContent>
          </a:graphicData>
        </a:graphic>
      </p:graphicFrame>
      <p:graphicFrame>
        <p:nvGraphicFramePr>
          <p:cNvPr id="1452052" name="内容占位符 1452051"/>
          <p:cNvGraphicFramePr>
            <a:graphicFrameLocks noGrp="1"/>
          </p:cNvGraphicFramePr>
          <p:nvPr>
            <p:ph sz="quarter" idx="2"/>
            <p:extLst>
              <p:ext uri="{D42A27DB-BD31-4B8C-83A1-F6EECF244321}">
                <p14:modId xmlns:p14="http://schemas.microsoft.com/office/powerpoint/2010/main" val="2781292657"/>
              </p:ext>
            </p:extLst>
          </p:nvPr>
        </p:nvGraphicFramePr>
        <p:xfrm>
          <a:off x="5716588" y="2175671"/>
          <a:ext cx="1008062" cy="766762"/>
        </p:xfrm>
        <a:graphic>
          <a:graphicData uri="http://schemas.openxmlformats.org/presentationml/2006/ole">
            <mc:AlternateContent xmlns:mc="http://schemas.openxmlformats.org/markup-compatibility/2006">
              <mc:Choice xmlns:v="urn:schemas-microsoft-com:vml" Requires="v">
                <p:oleObj spid="_x0000_s33829" r:id="rId5" imgW="584200" imgH="444500" progId="Equation.3">
                  <p:embed/>
                </p:oleObj>
              </mc:Choice>
              <mc:Fallback>
                <p:oleObj r:id="rId5" imgW="584200" imgH="444500" progId="Equation.3">
                  <p:embed/>
                  <p:pic>
                    <p:nvPicPr>
                      <p:cNvPr id="0" name="图片 3151"/>
                      <p:cNvPicPr/>
                      <p:nvPr/>
                    </p:nvPicPr>
                    <p:blipFill>
                      <a:blip r:embed="rId6"/>
                      <a:srcRect/>
                      <a:stretch>
                        <a:fillRect/>
                      </a:stretch>
                    </p:blipFill>
                    <p:spPr>
                      <a:xfrm>
                        <a:off x="5716588" y="2175671"/>
                        <a:ext cx="1008062" cy="766762"/>
                      </a:xfrm>
                      <a:prstGeom prst="rect">
                        <a:avLst/>
                      </a:prstGeom>
                      <a:solidFill>
                        <a:srgbClr val="FFCC00">
                          <a:alpha val="100000"/>
                        </a:srgbClr>
                      </a:solidFill>
                      <a:ln w="38100">
                        <a:miter/>
                      </a:ln>
                    </p:spPr>
                  </p:pic>
                </p:oleObj>
              </mc:Fallback>
            </mc:AlternateContent>
          </a:graphicData>
        </a:graphic>
      </p:graphicFrame>
      <p:graphicFrame>
        <p:nvGraphicFramePr>
          <p:cNvPr id="1452055" name="内容占位符 1452054"/>
          <p:cNvGraphicFramePr>
            <a:graphicFrameLocks noGrp="1"/>
          </p:cNvGraphicFramePr>
          <p:nvPr>
            <p:ph sz="quarter" idx="3"/>
            <p:extLst>
              <p:ext uri="{D42A27DB-BD31-4B8C-83A1-F6EECF244321}">
                <p14:modId xmlns:p14="http://schemas.microsoft.com/office/powerpoint/2010/main" val="498375072"/>
              </p:ext>
            </p:extLst>
          </p:nvPr>
        </p:nvGraphicFramePr>
        <p:xfrm>
          <a:off x="5716588" y="814389"/>
          <a:ext cx="2736850" cy="971550"/>
        </p:xfrm>
        <a:graphic>
          <a:graphicData uri="http://schemas.openxmlformats.org/presentationml/2006/ole">
            <mc:AlternateContent xmlns:mc="http://schemas.openxmlformats.org/markup-compatibility/2006">
              <mc:Choice xmlns:v="urn:schemas-microsoft-com:vml" Requires="v">
                <p:oleObj spid="_x0000_s33830" r:id="rId7" imgW="1180465" imgH="419100" progId="Equation.3">
                  <p:embed/>
                </p:oleObj>
              </mc:Choice>
              <mc:Fallback>
                <p:oleObj r:id="rId7" imgW="1180465" imgH="419100" progId="Equation.3">
                  <p:embed/>
                  <p:pic>
                    <p:nvPicPr>
                      <p:cNvPr id="0" name="图片 3152"/>
                      <p:cNvPicPr/>
                      <p:nvPr/>
                    </p:nvPicPr>
                    <p:blipFill>
                      <a:blip r:embed="rId8"/>
                      <a:srcRect/>
                      <a:stretch>
                        <a:fillRect/>
                      </a:stretch>
                    </p:blipFill>
                    <p:spPr>
                      <a:xfrm>
                        <a:off x="5716588" y="814389"/>
                        <a:ext cx="2736850" cy="971550"/>
                      </a:xfrm>
                      <a:prstGeom prst="rect">
                        <a:avLst/>
                      </a:prstGeom>
                      <a:solidFill>
                        <a:srgbClr val="FFCC00">
                          <a:alpha val="100000"/>
                        </a:srgbClr>
                      </a:solidFill>
                      <a:ln w="38100">
                        <a:miter/>
                      </a:ln>
                    </p:spPr>
                  </p:pic>
                </p:oleObj>
              </mc:Fallback>
            </mc:AlternateContent>
          </a:graphicData>
        </a:graphic>
      </p:graphicFrame>
      <p:graphicFrame>
        <p:nvGraphicFramePr>
          <p:cNvPr id="1452058" name="内容占位符 1452057"/>
          <p:cNvGraphicFramePr>
            <a:graphicFrameLocks noGrp="1"/>
          </p:cNvGraphicFramePr>
          <p:nvPr>
            <p:ph sz="quarter" idx="4"/>
            <p:extLst>
              <p:ext uri="{D42A27DB-BD31-4B8C-83A1-F6EECF244321}">
                <p14:modId xmlns:p14="http://schemas.microsoft.com/office/powerpoint/2010/main" val="1829223968"/>
              </p:ext>
            </p:extLst>
          </p:nvPr>
        </p:nvGraphicFramePr>
        <p:xfrm>
          <a:off x="1303337" y="2115092"/>
          <a:ext cx="3455988" cy="935037"/>
        </p:xfrm>
        <a:graphic>
          <a:graphicData uri="http://schemas.openxmlformats.org/presentationml/2006/ole">
            <mc:AlternateContent xmlns:mc="http://schemas.openxmlformats.org/markup-compatibility/2006">
              <mc:Choice xmlns:v="urn:schemas-microsoft-com:vml" Requires="v">
                <p:oleObj spid="_x0000_s33831" r:id="rId9" imgW="1549400" imgH="419100" progId="Equation.3">
                  <p:embed/>
                </p:oleObj>
              </mc:Choice>
              <mc:Fallback>
                <p:oleObj r:id="rId9" imgW="1549400" imgH="419100" progId="Equation.3">
                  <p:embed/>
                  <p:pic>
                    <p:nvPicPr>
                      <p:cNvPr id="0" name="图片 3153"/>
                      <p:cNvPicPr/>
                      <p:nvPr/>
                    </p:nvPicPr>
                    <p:blipFill>
                      <a:blip r:embed="rId10"/>
                      <a:srcRect/>
                      <a:stretch>
                        <a:fillRect/>
                      </a:stretch>
                    </p:blipFill>
                    <p:spPr>
                      <a:xfrm>
                        <a:off x="1303337" y="2115092"/>
                        <a:ext cx="3455988" cy="935037"/>
                      </a:xfrm>
                      <a:prstGeom prst="rect">
                        <a:avLst/>
                      </a:prstGeom>
                      <a:solidFill>
                        <a:srgbClr val="FFCC00">
                          <a:alpha val="100000"/>
                        </a:srgbClr>
                      </a:solidFill>
                      <a:ln w="38100">
                        <a:miter/>
                      </a:ln>
                    </p:spPr>
                  </p:pic>
                </p:oleObj>
              </mc:Fallback>
            </mc:AlternateContent>
          </a:graphicData>
        </a:graphic>
      </p:graphicFrame>
      <p:graphicFrame>
        <p:nvGraphicFramePr>
          <p:cNvPr id="1452061" name="对象 1452060"/>
          <p:cNvGraphicFramePr/>
          <p:nvPr>
            <p:extLst>
              <p:ext uri="{D42A27DB-BD31-4B8C-83A1-F6EECF244321}">
                <p14:modId xmlns:p14="http://schemas.microsoft.com/office/powerpoint/2010/main" val="1250484985"/>
              </p:ext>
            </p:extLst>
          </p:nvPr>
        </p:nvGraphicFramePr>
        <p:xfrm>
          <a:off x="996950" y="760414"/>
          <a:ext cx="3762375" cy="1079500"/>
        </p:xfrm>
        <a:graphic>
          <a:graphicData uri="http://schemas.openxmlformats.org/presentationml/2006/ole">
            <mc:AlternateContent xmlns:mc="http://schemas.openxmlformats.org/markup-compatibility/2006">
              <mc:Choice xmlns:v="urn:schemas-microsoft-com:vml" Requires="v">
                <p:oleObj spid="_x0000_s33832" r:id="rId11" imgW="1459865" imgH="469900" progId="Equation.3">
                  <p:embed/>
                </p:oleObj>
              </mc:Choice>
              <mc:Fallback>
                <p:oleObj r:id="rId11" imgW="1459865" imgH="469900" progId="Equation.3">
                  <p:embed/>
                  <p:pic>
                    <p:nvPicPr>
                      <p:cNvPr id="0" name="图片 3155"/>
                      <p:cNvPicPr/>
                      <p:nvPr/>
                    </p:nvPicPr>
                    <p:blipFill>
                      <a:blip r:embed="rId12"/>
                      <a:stretch>
                        <a:fillRect/>
                      </a:stretch>
                    </p:blipFill>
                    <p:spPr>
                      <a:xfrm>
                        <a:off x="996950" y="760414"/>
                        <a:ext cx="3762375" cy="1079500"/>
                      </a:xfrm>
                      <a:prstGeom prst="rect">
                        <a:avLst/>
                      </a:prstGeom>
                      <a:solidFill>
                        <a:srgbClr val="FFCC00"/>
                      </a:solidFill>
                      <a:ln w="38100">
                        <a:noFill/>
                        <a:miter/>
                      </a:ln>
                    </p:spPr>
                  </p:pic>
                </p:oleObj>
              </mc:Fallback>
            </mc:AlternateContent>
          </a:graphicData>
        </a:graphic>
      </p:graphicFrame>
      <p:sp>
        <p:nvSpPr>
          <p:cNvPr id="24" name="Freeform 56">
            <a:extLst>
              <a:ext uri="{FF2B5EF4-FFF2-40B4-BE49-F238E27FC236}">
                <a16:creationId xmlns:a16="http://schemas.microsoft.com/office/drawing/2014/main" id="{87AAE9FD-E819-4A7E-ADDE-23DCBCCCB8ED}"/>
              </a:ext>
            </a:extLst>
          </p:cNvPr>
          <p:cNvSpPr>
            <a:spLocks/>
          </p:cNvSpPr>
          <p:nvPr/>
        </p:nvSpPr>
        <p:spPr bwMode="auto">
          <a:xfrm>
            <a:off x="807294" y="5859464"/>
            <a:ext cx="5755431" cy="968372"/>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2034"/>
                                        </p:tgtEl>
                                        <p:attrNameLst>
                                          <p:attrName>style.visibility</p:attrName>
                                        </p:attrNameLst>
                                      </p:cBhvr>
                                      <p:to>
                                        <p:strVal val="visible"/>
                                      </p:to>
                                    </p:set>
                                    <p:anim calcmode="lin" valueType="num">
                                      <p:cBhvr additive="base">
                                        <p:cTn id="7" dur="500" fill="hold"/>
                                        <p:tgtEl>
                                          <p:spTgt spid="1452034"/>
                                        </p:tgtEl>
                                        <p:attrNameLst>
                                          <p:attrName>ppt_x</p:attrName>
                                        </p:attrNameLst>
                                      </p:cBhvr>
                                      <p:tavLst>
                                        <p:tav tm="0">
                                          <p:val>
                                            <p:strVal val="0-#ppt_w/2"/>
                                          </p:val>
                                        </p:tav>
                                        <p:tav tm="100000">
                                          <p:val>
                                            <p:strVal val="#ppt_x"/>
                                          </p:val>
                                        </p:tav>
                                      </p:tavLst>
                                    </p:anim>
                                    <p:anim calcmode="lin" valueType="num">
                                      <p:cBhvr additive="base">
                                        <p:cTn id="8" dur="500" fill="hold"/>
                                        <p:tgtEl>
                                          <p:spTgt spid="14520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1452061"/>
                                        </p:tgtEl>
                                        <p:attrNameLst>
                                          <p:attrName>style.visibility</p:attrName>
                                        </p:attrNameLst>
                                      </p:cBhvr>
                                      <p:to>
                                        <p:strVal val="visible"/>
                                      </p:to>
                                    </p:set>
                                    <p:animEffect transition="in" filter="barn(inHorizontal)">
                                      <p:cBhvr>
                                        <p:cTn id="13" dur="500"/>
                                        <p:tgtEl>
                                          <p:spTgt spid="1452061"/>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1452055"/>
                                        </p:tgtEl>
                                        <p:attrNameLst>
                                          <p:attrName>style.visibility</p:attrName>
                                        </p:attrNameLst>
                                      </p:cBhvr>
                                      <p:to>
                                        <p:strVal val="visible"/>
                                      </p:to>
                                    </p:set>
                                    <p:animEffect transition="in" filter="strips(downLeft)">
                                      <p:cBhvr>
                                        <p:cTn id="18" dur="500"/>
                                        <p:tgtEl>
                                          <p:spTgt spid="145205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52058"/>
                                        </p:tgtEl>
                                        <p:attrNameLst>
                                          <p:attrName>style.visibility</p:attrName>
                                        </p:attrNameLst>
                                      </p:cBhvr>
                                      <p:to>
                                        <p:strVal val="visible"/>
                                      </p:to>
                                    </p:set>
                                    <p:animEffect transition="in" filter="dissolve">
                                      <p:cBhvr>
                                        <p:cTn id="23" dur="500"/>
                                        <p:tgtEl>
                                          <p:spTgt spid="145205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452052"/>
                                        </p:tgtEl>
                                        <p:attrNameLst>
                                          <p:attrName>style.visibility</p:attrName>
                                        </p:attrNameLst>
                                      </p:cBhvr>
                                      <p:to>
                                        <p:strVal val="visible"/>
                                      </p:to>
                                    </p:set>
                                    <p:animEffect transition="in" filter="dissolve">
                                      <p:cBhvr>
                                        <p:cTn id="28" dur="500"/>
                                        <p:tgtEl>
                                          <p:spTgt spid="145205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452050"/>
                                        </p:tgtEl>
                                        <p:attrNameLst>
                                          <p:attrName>style.visibility</p:attrName>
                                        </p:attrNameLst>
                                      </p:cBhvr>
                                      <p:to>
                                        <p:strVal val="visible"/>
                                      </p:to>
                                    </p:set>
                                    <p:animEffect transition="in" filter="dissolve">
                                      <p:cBhvr>
                                        <p:cTn id="33" dur="500"/>
                                        <p:tgtEl>
                                          <p:spTgt spid="1452050"/>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452036"/>
                                        </p:tgtEl>
                                        <p:attrNameLst>
                                          <p:attrName>style.visibility</p:attrName>
                                        </p:attrNameLst>
                                      </p:cBhvr>
                                      <p:to>
                                        <p:strVal val="visible"/>
                                      </p:to>
                                    </p:set>
                                    <p:animEffect transition="in" filter="dissolve">
                                      <p:cBhvr>
                                        <p:cTn id="38" dur="500"/>
                                        <p:tgtEl>
                                          <p:spTgt spid="145203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1452042"/>
                                        </p:tgtEl>
                                        <p:attrNameLst>
                                          <p:attrName>style.visibility</p:attrName>
                                        </p:attrNameLst>
                                      </p:cBhvr>
                                      <p:to>
                                        <p:strVal val="visible"/>
                                      </p:to>
                                    </p:set>
                                    <p:animEffect transition="in" filter="dissolve">
                                      <p:cBhvr>
                                        <p:cTn id="43" dur="500"/>
                                        <p:tgtEl>
                                          <p:spTgt spid="1452042"/>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452046"/>
                                        </p:tgtEl>
                                        <p:attrNameLst>
                                          <p:attrName>style.visibility</p:attrName>
                                        </p:attrNameLst>
                                      </p:cBhvr>
                                      <p:to>
                                        <p:strVal val="visible"/>
                                      </p:to>
                                    </p:set>
                                    <p:animEffect transition="in" filter="dissolve">
                                      <p:cBhvr>
                                        <p:cTn id="48" dur="500"/>
                                        <p:tgtEl>
                                          <p:spTgt spid="145204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dissolve">
                                      <p:cBhvr>
                                        <p:cTn id="53" dur="5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452035"/>
                                        </p:tgtEl>
                                        <p:attrNameLst>
                                          <p:attrName>style.visibility</p:attrName>
                                        </p:attrNameLst>
                                      </p:cBhvr>
                                      <p:to>
                                        <p:strVal val="visible"/>
                                      </p:to>
                                    </p:set>
                                    <p:animEffect transition="in" filter="dissolve">
                                      <p:cBhvr>
                                        <p:cTn id="58" dur="500"/>
                                        <p:tgtEl>
                                          <p:spTgt spid="1452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34" grpId="0"/>
      <p:bldP spid="1452035" grpId="0"/>
      <p:bldP spid="2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058" name="文本框 1453057"/>
          <p:cNvSpPr txBox="1"/>
          <p:nvPr/>
        </p:nvSpPr>
        <p:spPr>
          <a:xfrm>
            <a:off x="107950" y="188913"/>
            <a:ext cx="6769100" cy="519112"/>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例</a:t>
            </a:r>
            <a:r>
              <a:rPr lang="en-US" altLang="zh-CN" sz="2800" dirty="0">
                <a:solidFill>
                  <a:schemeClr val="tx1"/>
                </a:solidFill>
                <a:latin typeface="Arial" panose="020B0604020202020204" pitchFamily="34" charset="0"/>
              </a:rPr>
              <a:t>3-1</a:t>
            </a:r>
            <a:r>
              <a:rPr lang="zh-CN" altLang="en-US" sz="2800" dirty="0">
                <a:solidFill>
                  <a:schemeClr val="tx1"/>
                </a:solidFill>
                <a:latin typeface="Arial" panose="020B0604020202020204" pitchFamily="34" charset="0"/>
              </a:rPr>
              <a:t>　单位负反馈随动系统如图所示</a:t>
            </a:r>
          </a:p>
        </p:txBody>
      </p:sp>
      <p:sp>
        <p:nvSpPr>
          <p:cNvPr id="1453059" name="文本框 1453058"/>
          <p:cNvSpPr txBox="1"/>
          <p:nvPr/>
        </p:nvSpPr>
        <p:spPr>
          <a:xfrm>
            <a:off x="0" y="2795588"/>
            <a:ext cx="9144000" cy="1516063"/>
          </a:xfrm>
          <a:prstGeom prst="rect">
            <a:avLst/>
          </a:prstGeom>
          <a:noFill/>
          <a:ln w="9525">
            <a:noFill/>
          </a:ln>
        </p:spPr>
        <p:txBody>
          <a:bodyPr>
            <a:spAutoFit/>
          </a:bodyPr>
          <a:lstStyle/>
          <a:p>
            <a:pPr marR="0" defTabSz="914400">
              <a:lnSpc>
                <a:spcPct val="130000"/>
              </a:lnSpc>
              <a:spcBef>
                <a:spcPct val="0"/>
              </a:spcBef>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(1) </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确定系统特征参数与实际参数的关系 。</a:t>
            </a:r>
          </a:p>
          <a:p>
            <a:pPr marR="0" defTabSz="914400">
              <a:lnSpc>
                <a:spcPct val="130000"/>
              </a:lnSpc>
              <a:spcBef>
                <a:spcPct val="0"/>
              </a:spcBef>
              <a:buClrTx/>
              <a:buSzTx/>
              <a:buFontTx/>
              <a:buNone/>
              <a:defRPr/>
            </a:pPr>
            <a:r>
              <a:rPr kumimoji="0" lang="en-US" altLang="zh-CN"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(2) </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若</a:t>
            </a:r>
            <a:r>
              <a:rPr kumimoji="0" lang="en-US" altLang="zh-CN" sz="24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K = </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16(rad/s)</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T = </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0.25(s)</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zh-CN" altLang="en-US" sz="24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试计算系统的动态性能指标。</a:t>
            </a:r>
          </a:p>
          <a:p>
            <a:pPr marR="0" defTabSz="914400">
              <a:lnSpc>
                <a:spcPct val="130000"/>
              </a:lnSpc>
              <a:spcBef>
                <a:spcPct val="0"/>
              </a:spcBef>
              <a:buClrTx/>
              <a:buSzTx/>
              <a:buFontTx/>
              <a:buNone/>
              <a:defRPr/>
            </a:pP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      解</a:t>
            </a:r>
            <a:r>
              <a:rPr kumimoji="0" lang="en-US" altLang="zh-CN"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a:t>
            </a:r>
            <a:r>
              <a:rPr kumimoji="0" lang="en-US" altLang="zh-CN" sz="2400" b="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 (1)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rPr>
              <a:t>系统的闭环传递函数为</a:t>
            </a:r>
            <a:endPar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endParaRPr>
          </a:p>
        </p:txBody>
      </p:sp>
      <p:sp>
        <p:nvSpPr>
          <p:cNvPr id="1453060" name="文本框 1453059"/>
          <p:cNvSpPr txBox="1"/>
          <p:nvPr/>
        </p:nvSpPr>
        <p:spPr>
          <a:xfrm>
            <a:off x="179388" y="5387975"/>
            <a:ext cx="8248650" cy="457200"/>
          </a:xfrm>
          <a:prstGeom prst="rect">
            <a:avLst/>
          </a:prstGeom>
          <a:noFill/>
          <a:ln w="9525">
            <a:noFill/>
          </a:ln>
        </p:spPr>
        <p:txBody>
          <a:bodyPr>
            <a:spAutoFit/>
          </a:bodyPr>
          <a:lstStyle/>
          <a:p>
            <a:pPr>
              <a:spcBef>
                <a:spcPct val="0"/>
              </a:spcBef>
            </a:pPr>
            <a:r>
              <a:rPr lang="zh-CN" altLang="en-US" sz="2400" dirty="0">
                <a:solidFill>
                  <a:schemeClr val="tx1"/>
                </a:solidFill>
                <a:latin typeface="Arial" panose="020B0604020202020204" pitchFamily="34" charset="0"/>
              </a:rPr>
              <a:t>与典型二阶系统比较可得： </a:t>
            </a:r>
            <a:r>
              <a:rPr lang="en-US" altLang="zh-CN" sz="2400" i="1" dirty="0">
                <a:solidFill>
                  <a:schemeClr val="tx1"/>
                </a:solidFill>
                <a:latin typeface="Times New Roman" panose="02020603050405020304" pitchFamily="18" charset="0"/>
              </a:rPr>
              <a:t>K</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 </a:t>
            </a:r>
            <a:r>
              <a:rPr lang="en-US" altLang="zh-CN" sz="2400" i="1" dirty="0">
                <a:solidFill>
                  <a:schemeClr val="tx1"/>
                </a:solidFill>
                <a:latin typeface="Times New Roman" panose="02020603050405020304" pitchFamily="18" charset="0"/>
                <a:sym typeface="Symbol" panose="05050102010706020507" pitchFamily="18" charset="2"/>
              </a:rPr>
              <a:t></a:t>
            </a:r>
            <a:r>
              <a:rPr lang="en-US" altLang="zh-CN" sz="2400" i="1" baseline="-25000" dirty="0">
                <a:solidFill>
                  <a:schemeClr val="tx1"/>
                </a:solidFill>
                <a:latin typeface="Times New Roman" panose="02020603050405020304" pitchFamily="18" charset="0"/>
                <a:sym typeface="Symbol" panose="05050102010706020507" pitchFamily="18" charset="2"/>
              </a:rPr>
              <a:t>n</a:t>
            </a:r>
            <a:r>
              <a:rPr lang="en-US" altLang="zh-CN" sz="2400" baseline="30000" dirty="0">
                <a:solidFill>
                  <a:schemeClr val="tx1"/>
                </a:solidFill>
                <a:latin typeface="Times New Roman" panose="02020603050405020304" pitchFamily="18" charset="0"/>
              </a:rPr>
              <a:t>2  </a:t>
            </a:r>
            <a:r>
              <a:rPr lang="en-US" altLang="zh-CN" sz="2400" dirty="0">
                <a:solidFill>
                  <a:schemeClr val="tx1"/>
                </a:solidFill>
                <a:latin typeface="Times New Roman" panose="02020603050405020304" pitchFamily="18" charset="0"/>
              </a:rPr>
              <a:t>   1/</a:t>
            </a:r>
            <a:r>
              <a:rPr lang="en-US" altLang="zh-CN" sz="2400" i="1" dirty="0">
                <a:solidFill>
                  <a:schemeClr val="tx1"/>
                </a:solidFill>
                <a:latin typeface="Times New Roman" panose="02020603050405020304" pitchFamily="18" charset="0"/>
              </a:rPr>
              <a:t>T </a:t>
            </a:r>
            <a:r>
              <a:rPr lang="en-US" altLang="zh-CN" sz="2400" dirty="0">
                <a:solidFill>
                  <a:schemeClr val="tx1"/>
                </a:solidFill>
                <a:latin typeface="Times New Roman" panose="02020603050405020304" pitchFamily="18" charset="0"/>
              </a:rPr>
              <a:t>= 2</a:t>
            </a:r>
            <a:r>
              <a:rPr lang="en-US" altLang="zh-CN" sz="2400" i="1" dirty="0">
                <a:solidFill>
                  <a:schemeClr val="tx1"/>
                </a:solidFill>
                <a:latin typeface="Times New Roman" panose="02020603050405020304" pitchFamily="18" charset="0"/>
                <a:sym typeface="Symbol" panose="05050102010706020507" pitchFamily="18" charset="2"/>
              </a:rPr>
              <a:t></a:t>
            </a:r>
            <a:r>
              <a:rPr lang="en-US" altLang="zh-CN" sz="2400" i="1" baseline="-25000" dirty="0">
                <a:solidFill>
                  <a:schemeClr val="tx1"/>
                </a:solidFill>
                <a:latin typeface="Times New Roman" panose="02020603050405020304" pitchFamily="18" charset="0"/>
                <a:sym typeface="Symbol" panose="05050102010706020507" pitchFamily="18" charset="2"/>
              </a:rPr>
              <a:t>n</a:t>
            </a:r>
          </a:p>
        </p:txBody>
      </p:sp>
      <p:graphicFrame>
        <p:nvGraphicFramePr>
          <p:cNvPr id="1453061" name="对象 1453060"/>
          <p:cNvGraphicFramePr/>
          <p:nvPr/>
        </p:nvGraphicFramePr>
        <p:xfrm>
          <a:off x="1547813" y="4379913"/>
          <a:ext cx="5419725" cy="906462"/>
        </p:xfrm>
        <a:graphic>
          <a:graphicData uri="http://schemas.openxmlformats.org/presentationml/2006/ole">
            <mc:AlternateContent xmlns:mc="http://schemas.openxmlformats.org/markup-compatibility/2006">
              <mc:Choice xmlns:v="urn:schemas-microsoft-com:vml" Requires="v">
                <p:oleObj spid="_x0000_s34824" r:id="rId3" imgW="2411095" imgH="405765" progId="Equation.3">
                  <p:embed/>
                </p:oleObj>
              </mc:Choice>
              <mc:Fallback>
                <p:oleObj r:id="rId3" imgW="2411095" imgH="405765" progId="Equation.3">
                  <p:embed/>
                  <p:pic>
                    <p:nvPicPr>
                      <p:cNvPr id="0" name="图片 3154"/>
                      <p:cNvPicPr/>
                      <p:nvPr/>
                    </p:nvPicPr>
                    <p:blipFill>
                      <a:blip r:embed="rId4"/>
                      <a:stretch>
                        <a:fillRect/>
                      </a:stretch>
                    </p:blipFill>
                    <p:spPr>
                      <a:xfrm>
                        <a:off x="1547813" y="4379913"/>
                        <a:ext cx="5419725" cy="906462"/>
                      </a:xfrm>
                      <a:prstGeom prst="rect">
                        <a:avLst/>
                      </a:prstGeom>
                      <a:noFill/>
                      <a:ln w="38100">
                        <a:noFill/>
                        <a:miter/>
                      </a:ln>
                    </p:spPr>
                  </p:pic>
                </p:oleObj>
              </mc:Fallback>
            </mc:AlternateContent>
          </a:graphicData>
        </a:graphic>
      </p:graphicFrame>
      <p:grpSp>
        <p:nvGrpSpPr>
          <p:cNvPr id="1453062" name="组合 1453061"/>
          <p:cNvGrpSpPr/>
          <p:nvPr/>
        </p:nvGrpSpPr>
        <p:grpSpPr>
          <a:xfrm>
            <a:off x="1711325" y="923925"/>
            <a:ext cx="5381625" cy="1603375"/>
            <a:chOff x="829" y="505"/>
            <a:chExt cx="3390" cy="1010"/>
          </a:xfrm>
        </p:grpSpPr>
        <p:sp>
          <p:nvSpPr>
            <p:cNvPr id="49159" name="流程图: 过程 1453062"/>
            <p:cNvSpPr/>
            <p:nvPr/>
          </p:nvSpPr>
          <p:spPr>
            <a:xfrm>
              <a:off x="2381" y="519"/>
              <a:ext cx="1086" cy="758"/>
            </a:xfrm>
            <a:prstGeom prst="flowChartProcess">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49160" name="直接连接符 1453063"/>
            <p:cNvSpPr/>
            <p:nvPr/>
          </p:nvSpPr>
          <p:spPr>
            <a:xfrm flipV="1">
              <a:off x="2470" y="860"/>
              <a:ext cx="896" cy="12"/>
            </a:xfrm>
            <a:prstGeom prst="line">
              <a:avLst/>
            </a:prstGeom>
            <a:ln w="38100" cap="sq" cmpd="sng">
              <a:solidFill>
                <a:schemeClr val="tx1"/>
              </a:solidFill>
              <a:prstDash val="solid"/>
              <a:headEnd type="none" w="med" len="med"/>
              <a:tailEnd type="none" w="med" len="med"/>
            </a:ln>
          </p:spPr>
        </p:sp>
        <p:sp>
          <p:nvSpPr>
            <p:cNvPr id="49161" name="矩形 1453064"/>
            <p:cNvSpPr/>
            <p:nvPr/>
          </p:nvSpPr>
          <p:spPr>
            <a:xfrm>
              <a:off x="2557" y="868"/>
              <a:ext cx="803" cy="327"/>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Ts</a:t>
              </a:r>
              <a:r>
                <a:rPr lang="en-US" altLang="zh-CN" sz="2800" dirty="0">
                  <a:solidFill>
                    <a:schemeClr val="tx1"/>
                  </a:solidFill>
                  <a:latin typeface="Times New Roman" panose="02020603050405020304" pitchFamily="18" charset="0"/>
                </a:rPr>
                <a:t>+1)</a:t>
              </a:r>
            </a:p>
          </p:txBody>
        </p:sp>
        <p:sp>
          <p:nvSpPr>
            <p:cNvPr id="49162" name="直接连接符 1453065"/>
            <p:cNvSpPr/>
            <p:nvPr/>
          </p:nvSpPr>
          <p:spPr>
            <a:xfrm>
              <a:off x="1852" y="858"/>
              <a:ext cx="529" cy="0"/>
            </a:xfrm>
            <a:prstGeom prst="line">
              <a:avLst/>
            </a:prstGeom>
            <a:ln w="57150" cap="sq" cmpd="sng">
              <a:solidFill>
                <a:schemeClr val="tx1"/>
              </a:solidFill>
              <a:prstDash val="solid"/>
              <a:headEnd type="none" w="med" len="med"/>
              <a:tailEnd type="triangle" w="med" len="med"/>
            </a:ln>
          </p:spPr>
        </p:sp>
        <p:sp>
          <p:nvSpPr>
            <p:cNvPr id="49163" name="直接连接符 1453066"/>
            <p:cNvSpPr/>
            <p:nvPr/>
          </p:nvSpPr>
          <p:spPr>
            <a:xfrm>
              <a:off x="833" y="858"/>
              <a:ext cx="529" cy="0"/>
            </a:xfrm>
            <a:prstGeom prst="line">
              <a:avLst/>
            </a:prstGeom>
            <a:ln w="57150" cap="sq" cmpd="sng">
              <a:solidFill>
                <a:schemeClr val="tx1"/>
              </a:solidFill>
              <a:prstDash val="solid"/>
              <a:headEnd type="none" w="med" len="med"/>
              <a:tailEnd type="triangle" w="med" len="med"/>
            </a:ln>
          </p:spPr>
        </p:sp>
        <p:sp>
          <p:nvSpPr>
            <p:cNvPr id="49164" name="直接连接符 1453067"/>
            <p:cNvSpPr/>
            <p:nvPr/>
          </p:nvSpPr>
          <p:spPr>
            <a:xfrm>
              <a:off x="3498" y="870"/>
              <a:ext cx="721" cy="0"/>
            </a:xfrm>
            <a:prstGeom prst="line">
              <a:avLst/>
            </a:prstGeom>
            <a:ln w="57150" cap="sq" cmpd="sng">
              <a:solidFill>
                <a:schemeClr val="tx1"/>
              </a:solidFill>
              <a:prstDash val="solid"/>
              <a:headEnd type="none" w="med" len="med"/>
              <a:tailEnd type="triangle" w="med" len="med"/>
            </a:ln>
          </p:spPr>
        </p:sp>
        <p:sp>
          <p:nvSpPr>
            <p:cNvPr id="49165" name="直接连接符 1453068"/>
            <p:cNvSpPr/>
            <p:nvPr/>
          </p:nvSpPr>
          <p:spPr>
            <a:xfrm>
              <a:off x="3867" y="866"/>
              <a:ext cx="0" cy="633"/>
            </a:xfrm>
            <a:prstGeom prst="line">
              <a:avLst/>
            </a:prstGeom>
            <a:ln w="57150" cap="sq" cmpd="sng">
              <a:solidFill>
                <a:schemeClr val="tx1"/>
              </a:solidFill>
              <a:prstDash val="solid"/>
              <a:headEnd type="none" w="med" len="med"/>
              <a:tailEnd type="none" w="med" len="med"/>
            </a:ln>
          </p:spPr>
        </p:sp>
        <p:sp>
          <p:nvSpPr>
            <p:cNvPr id="49166" name="直接连接符 1453069"/>
            <p:cNvSpPr/>
            <p:nvPr/>
          </p:nvSpPr>
          <p:spPr>
            <a:xfrm>
              <a:off x="1624" y="1515"/>
              <a:ext cx="2232" cy="0"/>
            </a:xfrm>
            <a:prstGeom prst="line">
              <a:avLst/>
            </a:prstGeom>
            <a:ln w="57150" cap="sq" cmpd="sng">
              <a:solidFill>
                <a:schemeClr val="tx1"/>
              </a:solidFill>
              <a:prstDash val="solid"/>
              <a:headEnd type="none" w="med" len="med"/>
              <a:tailEnd type="none" w="med" len="med"/>
            </a:ln>
          </p:spPr>
        </p:sp>
        <p:sp>
          <p:nvSpPr>
            <p:cNvPr id="49167" name="直接连接符 1453070"/>
            <p:cNvSpPr/>
            <p:nvPr/>
          </p:nvSpPr>
          <p:spPr>
            <a:xfrm>
              <a:off x="1612" y="1071"/>
              <a:ext cx="0" cy="420"/>
            </a:xfrm>
            <a:prstGeom prst="line">
              <a:avLst/>
            </a:prstGeom>
            <a:ln w="57150" cap="sq" cmpd="sng">
              <a:solidFill>
                <a:schemeClr val="tx1"/>
              </a:solidFill>
              <a:prstDash val="solid"/>
              <a:headEnd type="triangle" w="med" len="med"/>
              <a:tailEnd type="none" w="med" len="med"/>
            </a:ln>
          </p:spPr>
        </p:sp>
        <p:sp>
          <p:nvSpPr>
            <p:cNvPr id="49168" name="文本框 1453071"/>
            <p:cNvSpPr txBox="1"/>
            <p:nvPr/>
          </p:nvSpPr>
          <p:spPr>
            <a:xfrm>
              <a:off x="829" y="521"/>
              <a:ext cx="413"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49169" name="文本框 1453072"/>
            <p:cNvSpPr txBox="1"/>
            <p:nvPr/>
          </p:nvSpPr>
          <p:spPr>
            <a:xfrm>
              <a:off x="3619" y="520"/>
              <a:ext cx="489"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49170" name="矩形 1453073"/>
            <p:cNvSpPr/>
            <p:nvPr/>
          </p:nvSpPr>
          <p:spPr>
            <a:xfrm>
              <a:off x="2754" y="505"/>
              <a:ext cx="321"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sym typeface="Symbol" panose="05050102010706020507" pitchFamily="18" charset="2"/>
                </a:rPr>
                <a:t>K </a:t>
              </a:r>
              <a:endParaRPr lang="en-US" altLang="zh-CN" sz="2800" baseline="30000" dirty="0">
                <a:solidFill>
                  <a:schemeClr val="tx1"/>
                </a:solidFill>
                <a:latin typeface="Times New Roman" panose="02020603050405020304" pitchFamily="18" charset="0"/>
                <a:sym typeface="Symbol" panose="05050102010706020507" pitchFamily="18" charset="2"/>
              </a:endParaRPr>
            </a:p>
          </p:txBody>
        </p:sp>
        <p:grpSp>
          <p:nvGrpSpPr>
            <p:cNvPr id="49171" name="组合 1453074"/>
            <p:cNvGrpSpPr/>
            <p:nvPr/>
          </p:nvGrpSpPr>
          <p:grpSpPr>
            <a:xfrm>
              <a:off x="1364" y="610"/>
              <a:ext cx="460" cy="538"/>
              <a:chOff x="720" y="3552"/>
              <a:chExt cx="460" cy="538"/>
            </a:xfrm>
          </p:grpSpPr>
          <p:sp>
            <p:nvSpPr>
              <p:cNvPr id="49172" name="文本框 1453075"/>
              <p:cNvSpPr txBox="1"/>
              <p:nvPr/>
            </p:nvSpPr>
            <p:spPr>
              <a:xfrm>
                <a:off x="768" y="3686"/>
                <a:ext cx="384" cy="404"/>
              </a:xfrm>
              <a:prstGeom prst="rect">
                <a:avLst/>
              </a:prstGeom>
              <a:noFill/>
              <a:ln w="9525">
                <a:noFill/>
              </a:ln>
            </p:spPr>
            <p:txBody>
              <a:bodyPr>
                <a:spAutoFit/>
              </a:bodyPr>
              <a:lstStyle/>
              <a:p>
                <a:r>
                  <a:rPr lang="zh-CN" altLang="en-US" sz="3600" dirty="0">
                    <a:solidFill>
                      <a:schemeClr val="tx1"/>
                    </a:solidFill>
                    <a:latin typeface="Times New Roman" panose="02020603050405020304" pitchFamily="18" charset="0"/>
                  </a:rPr>
                  <a:t>﹣</a:t>
                </a:r>
                <a:endParaRPr lang="zh-CN" altLang="en-US" sz="3600" b="0" dirty="0">
                  <a:solidFill>
                    <a:schemeClr val="tx1"/>
                  </a:solidFill>
                  <a:latin typeface="Times New Roman" panose="02020603050405020304" pitchFamily="18" charset="0"/>
                </a:endParaRPr>
              </a:p>
            </p:txBody>
          </p:sp>
          <p:sp>
            <p:nvSpPr>
              <p:cNvPr id="49173" name="椭圆 1453076"/>
              <p:cNvSpPr/>
              <p:nvPr/>
            </p:nvSpPr>
            <p:spPr>
              <a:xfrm>
                <a:off x="720" y="3552"/>
                <a:ext cx="460" cy="460"/>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49174" name="直接连接符 1453077"/>
              <p:cNvSpPr/>
              <p:nvPr/>
            </p:nvSpPr>
            <p:spPr>
              <a:xfrm flipH="1">
                <a:off x="816" y="3648"/>
                <a:ext cx="288" cy="288"/>
              </a:xfrm>
              <a:prstGeom prst="line">
                <a:avLst/>
              </a:prstGeom>
              <a:ln w="57150" cap="sq" cmpd="sng">
                <a:solidFill>
                  <a:schemeClr val="tx1"/>
                </a:solidFill>
                <a:prstDash val="solid"/>
                <a:headEnd type="none" w="med" len="med"/>
                <a:tailEnd type="none" w="med" len="med"/>
              </a:ln>
            </p:spPr>
          </p:sp>
          <p:sp>
            <p:nvSpPr>
              <p:cNvPr id="49175" name="直接连接符 1453078"/>
              <p:cNvSpPr/>
              <p:nvPr/>
            </p:nvSpPr>
            <p:spPr>
              <a:xfrm>
                <a:off x="816" y="3648"/>
                <a:ext cx="288" cy="288"/>
              </a:xfrm>
              <a:prstGeom prst="line">
                <a:avLst/>
              </a:prstGeom>
              <a:ln w="57150" cap="sq" cmpd="sng">
                <a:solidFill>
                  <a:schemeClr val="tx1"/>
                </a:solidFill>
                <a:prstDash val="solid"/>
                <a:headEnd type="none" w="med" len="med"/>
                <a:tailEnd type="none" w="med" len="med"/>
              </a:ln>
            </p:spPr>
          </p:sp>
          <p:sp>
            <p:nvSpPr>
              <p:cNvPr id="49176" name="文本框 1453079"/>
              <p:cNvSpPr txBox="1"/>
              <p:nvPr/>
            </p:nvSpPr>
            <p:spPr>
              <a:xfrm>
                <a:off x="768" y="3648"/>
                <a:ext cx="144" cy="269"/>
              </a:xfrm>
              <a:prstGeom prst="rect">
                <a:avLst/>
              </a:prstGeom>
              <a:noFill/>
              <a:ln w="9525">
                <a:noFill/>
              </a:ln>
            </p:spPr>
            <p:txBody>
              <a:bodyPr lIns="0" tIns="0" rIns="0" bIns="0">
                <a:spAutoFit/>
              </a:bodyPr>
              <a:lstStyle/>
              <a:p>
                <a:r>
                  <a:rPr lang="en-US" altLang="zh-CN" sz="2800" dirty="0">
                    <a:solidFill>
                      <a:schemeClr val="tx1"/>
                    </a:solidFill>
                    <a:latin typeface="Times New Roman" panose="02020603050405020304" pitchFamily="18" charset="0"/>
                  </a:rPr>
                  <a:t>+</a:t>
                </a:r>
              </a:p>
            </p:txBody>
          </p:sp>
        </p:gr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3058"/>
                                        </p:tgtEl>
                                        <p:attrNameLst>
                                          <p:attrName>style.visibility</p:attrName>
                                        </p:attrNameLst>
                                      </p:cBhvr>
                                      <p:to>
                                        <p:strVal val="visible"/>
                                      </p:to>
                                    </p:set>
                                    <p:anim calcmode="lin" valueType="num">
                                      <p:cBhvr additive="base">
                                        <p:cTn id="7" dur="500" fill="hold"/>
                                        <p:tgtEl>
                                          <p:spTgt spid="1453058"/>
                                        </p:tgtEl>
                                        <p:attrNameLst>
                                          <p:attrName>ppt_x</p:attrName>
                                        </p:attrNameLst>
                                      </p:cBhvr>
                                      <p:tavLst>
                                        <p:tav tm="0">
                                          <p:val>
                                            <p:strVal val="0-#ppt_w/2"/>
                                          </p:val>
                                        </p:tav>
                                        <p:tav tm="100000">
                                          <p:val>
                                            <p:strVal val="#ppt_x"/>
                                          </p:val>
                                        </p:tav>
                                      </p:tavLst>
                                    </p:anim>
                                    <p:anim calcmode="lin" valueType="num">
                                      <p:cBhvr additive="base">
                                        <p:cTn id="8" dur="500" fill="hold"/>
                                        <p:tgtEl>
                                          <p:spTgt spid="14530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1453062"/>
                                        </p:tgtEl>
                                        <p:attrNameLst>
                                          <p:attrName>style.visibility</p:attrName>
                                        </p:attrNameLst>
                                      </p:cBhvr>
                                      <p:to>
                                        <p:strVal val="visible"/>
                                      </p:to>
                                    </p:set>
                                    <p:animEffect transition="in" filter="dissolve">
                                      <p:cBhvr>
                                        <p:cTn id="12" dur="500"/>
                                        <p:tgtEl>
                                          <p:spTgt spid="145306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53059">
                                            <p:txEl>
                                              <p:pRg st="0" end="0"/>
                                            </p:txEl>
                                          </p:spTgt>
                                        </p:tgtEl>
                                        <p:attrNameLst>
                                          <p:attrName>style.visibility</p:attrName>
                                        </p:attrNameLst>
                                      </p:cBhvr>
                                      <p:to>
                                        <p:strVal val="visible"/>
                                      </p:to>
                                    </p:set>
                                    <p:anim calcmode="lin" valueType="num">
                                      <p:cBhvr additive="base">
                                        <p:cTn id="17" dur="500" fill="hold"/>
                                        <p:tgtEl>
                                          <p:spTgt spid="1453059">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53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453059">
                                            <p:txEl>
                                              <p:pRg st="1" end="1"/>
                                            </p:txEl>
                                          </p:spTgt>
                                        </p:tgtEl>
                                        <p:attrNameLst>
                                          <p:attrName>style.visibility</p:attrName>
                                        </p:attrNameLst>
                                      </p:cBhvr>
                                      <p:to>
                                        <p:strVal val="visible"/>
                                      </p:to>
                                    </p:set>
                                    <p:anim calcmode="lin" valueType="num">
                                      <p:cBhvr additive="base">
                                        <p:cTn id="23" dur="500" fill="hold"/>
                                        <p:tgtEl>
                                          <p:spTgt spid="1453059">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530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453059">
                                            <p:txEl>
                                              <p:pRg st="2" end="2"/>
                                            </p:txEl>
                                          </p:spTgt>
                                        </p:tgtEl>
                                        <p:attrNameLst>
                                          <p:attrName>style.visibility</p:attrName>
                                        </p:attrNameLst>
                                      </p:cBhvr>
                                      <p:to>
                                        <p:strVal val="visible"/>
                                      </p:to>
                                    </p:set>
                                    <p:anim calcmode="lin" valueType="num">
                                      <p:cBhvr additive="base">
                                        <p:cTn id="29" dur="500" fill="hold"/>
                                        <p:tgtEl>
                                          <p:spTgt spid="1453059">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530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453061"/>
                                        </p:tgtEl>
                                        <p:attrNameLst>
                                          <p:attrName>style.visibility</p:attrName>
                                        </p:attrNameLst>
                                      </p:cBhvr>
                                      <p:to>
                                        <p:strVal val="visible"/>
                                      </p:to>
                                    </p:set>
                                    <p:animEffect transition="in" filter="dissolve">
                                      <p:cBhvr>
                                        <p:cTn id="35" dur="500"/>
                                        <p:tgtEl>
                                          <p:spTgt spid="145306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53060"/>
                                        </p:tgtEl>
                                        <p:attrNameLst>
                                          <p:attrName>style.visibility</p:attrName>
                                        </p:attrNameLst>
                                      </p:cBhvr>
                                      <p:to>
                                        <p:strVal val="visible"/>
                                      </p:to>
                                    </p:set>
                                    <p:animEffect transition="in" filter="dissolve">
                                      <p:cBhvr>
                                        <p:cTn id="40" dur="500"/>
                                        <p:tgtEl>
                                          <p:spTgt spid="1453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3058" grpId="0"/>
      <p:bldP spid="1453059" grpId="0" build="p"/>
      <p:bldP spid="145306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82" name="文本框 1454081"/>
          <p:cNvSpPr txBox="1"/>
          <p:nvPr/>
        </p:nvSpPr>
        <p:spPr>
          <a:xfrm>
            <a:off x="977900" y="204708"/>
            <a:ext cx="3594100" cy="519113"/>
          </a:xfrm>
          <a:prstGeom prst="rect">
            <a:avLst/>
          </a:prstGeom>
          <a:noFill/>
          <a:ln w="9525">
            <a:noFill/>
          </a:ln>
        </p:spPr>
        <p:txBody>
          <a:bodyPr wrap="none">
            <a:spAutoFit/>
          </a:bodyPr>
          <a:lstStyle/>
          <a:p>
            <a:pPr>
              <a:spcBef>
                <a:spcPct val="0"/>
              </a:spcBef>
            </a:pPr>
            <a:r>
              <a:rPr lang="en-US" altLang="zh-CN" sz="2800" dirty="0">
                <a:solidFill>
                  <a:schemeClr val="tx1"/>
                </a:solidFill>
                <a:latin typeface="Times New Roman" panose="02020603050405020304" pitchFamily="18" charset="0"/>
              </a:rPr>
              <a:t>(2) </a:t>
            </a:r>
            <a:r>
              <a:rPr lang="en-US" altLang="zh-CN" sz="2800" i="1" dirty="0">
                <a:solidFill>
                  <a:schemeClr val="tx1"/>
                </a:solidFill>
                <a:latin typeface="Times New Roman" panose="02020603050405020304" pitchFamily="18" charset="0"/>
              </a:rPr>
              <a:t>K </a:t>
            </a:r>
            <a:r>
              <a:rPr lang="en-US" altLang="zh-CN" sz="2800" dirty="0">
                <a:solidFill>
                  <a:schemeClr val="tx1"/>
                </a:solidFill>
                <a:latin typeface="Times New Roman" panose="02020603050405020304" pitchFamily="18" charset="0"/>
              </a:rPr>
              <a:t>= 16</a:t>
            </a:r>
            <a:r>
              <a:rPr lang="zh-CN" altLang="en-US"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 </a:t>
            </a:r>
            <a:r>
              <a:rPr lang="en-US" altLang="zh-CN" sz="2800" dirty="0">
                <a:solidFill>
                  <a:schemeClr val="tx1"/>
                </a:solidFill>
                <a:latin typeface="Times New Roman" panose="02020603050405020304" pitchFamily="18" charset="0"/>
              </a:rPr>
              <a:t>= 0.25</a:t>
            </a:r>
            <a:r>
              <a:rPr lang="zh-CN" altLang="en-US" sz="2800" dirty="0">
                <a:solidFill>
                  <a:schemeClr val="tx1"/>
                </a:solidFill>
                <a:latin typeface="Times New Roman" panose="02020603050405020304" pitchFamily="18" charset="0"/>
              </a:rPr>
              <a:t>时</a:t>
            </a:r>
          </a:p>
        </p:txBody>
      </p:sp>
      <p:graphicFrame>
        <p:nvGraphicFramePr>
          <p:cNvPr id="1454083" name="对象 1454082"/>
          <p:cNvGraphicFramePr/>
          <p:nvPr/>
        </p:nvGraphicFramePr>
        <p:xfrm>
          <a:off x="1331913" y="1054100"/>
          <a:ext cx="3482975" cy="569913"/>
        </p:xfrm>
        <a:graphic>
          <a:graphicData uri="http://schemas.openxmlformats.org/presentationml/2006/ole">
            <mc:AlternateContent xmlns:mc="http://schemas.openxmlformats.org/markup-compatibility/2006">
              <mc:Choice xmlns:v="urn:schemas-microsoft-com:vml" Requires="v">
                <p:oleObj spid="_x0000_s35883" r:id="rId3" imgW="1548130" imgH="254000" progId="Equation.3">
                  <p:embed/>
                </p:oleObj>
              </mc:Choice>
              <mc:Fallback>
                <p:oleObj r:id="rId3" imgW="1548130" imgH="254000" progId="Equation.3">
                  <p:embed/>
                  <p:pic>
                    <p:nvPicPr>
                      <p:cNvPr id="0" name="图片 3156"/>
                      <p:cNvPicPr/>
                      <p:nvPr/>
                    </p:nvPicPr>
                    <p:blipFill>
                      <a:blip r:embed="rId4"/>
                      <a:stretch>
                        <a:fillRect/>
                      </a:stretch>
                    </p:blipFill>
                    <p:spPr>
                      <a:xfrm>
                        <a:off x="1331913" y="1054100"/>
                        <a:ext cx="3482975" cy="569913"/>
                      </a:xfrm>
                      <a:prstGeom prst="rect">
                        <a:avLst/>
                      </a:prstGeom>
                      <a:noFill/>
                      <a:ln w="38100">
                        <a:noFill/>
                        <a:miter/>
                      </a:ln>
                    </p:spPr>
                  </p:pic>
                </p:oleObj>
              </mc:Fallback>
            </mc:AlternateContent>
          </a:graphicData>
        </a:graphic>
      </p:graphicFrame>
      <p:graphicFrame>
        <p:nvGraphicFramePr>
          <p:cNvPr id="1454084" name="对象 1454083"/>
          <p:cNvGraphicFramePr/>
          <p:nvPr/>
        </p:nvGraphicFramePr>
        <p:xfrm>
          <a:off x="5148263" y="838200"/>
          <a:ext cx="2598737" cy="969963"/>
        </p:xfrm>
        <a:graphic>
          <a:graphicData uri="http://schemas.openxmlformats.org/presentationml/2006/ole">
            <mc:AlternateContent xmlns:mc="http://schemas.openxmlformats.org/markup-compatibility/2006">
              <mc:Choice xmlns:v="urn:schemas-microsoft-com:vml" Requires="v">
                <p:oleObj spid="_x0000_s35884" r:id="rId5" imgW="1155065" imgH="431800" progId="Equation.3">
                  <p:embed/>
                </p:oleObj>
              </mc:Choice>
              <mc:Fallback>
                <p:oleObj r:id="rId5" imgW="1155065" imgH="431800" progId="Equation.3">
                  <p:embed/>
                  <p:pic>
                    <p:nvPicPr>
                      <p:cNvPr id="0" name="图片 3159"/>
                      <p:cNvPicPr/>
                      <p:nvPr/>
                    </p:nvPicPr>
                    <p:blipFill>
                      <a:blip r:embed="rId6"/>
                      <a:stretch>
                        <a:fillRect/>
                      </a:stretch>
                    </p:blipFill>
                    <p:spPr>
                      <a:xfrm>
                        <a:off x="5148263" y="838200"/>
                        <a:ext cx="2598737" cy="969963"/>
                      </a:xfrm>
                      <a:prstGeom prst="rect">
                        <a:avLst/>
                      </a:prstGeom>
                      <a:noFill/>
                      <a:ln w="38100">
                        <a:noFill/>
                        <a:miter/>
                      </a:ln>
                    </p:spPr>
                  </p:pic>
                </p:oleObj>
              </mc:Fallback>
            </mc:AlternateContent>
          </a:graphicData>
        </a:graphic>
      </p:graphicFrame>
      <p:graphicFrame>
        <p:nvGraphicFramePr>
          <p:cNvPr id="1454085" name="对象 1454084"/>
          <p:cNvGraphicFramePr/>
          <p:nvPr/>
        </p:nvGraphicFramePr>
        <p:xfrm>
          <a:off x="1517650" y="2836863"/>
          <a:ext cx="3630613" cy="973137"/>
        </p:xfrm>
        <a:graphic>
          <a:graphicData uri="http://schemas.openxmlformats.org/presentationml/2006/ole">
            <mc:AlternateContent xmlns:mc="http://schemas.openxmlformats.org/markup-compatibility/2006">
              <mc:Choice xmlns:v="urn:schemas-microsoft-com:vml" Requires="v">
                <p:oleObj spid="_x0000_s35885" r:id="rId7" imgW="1612900" imgH="431800" progId="Equation.3">
                  <p:embed/>
                </p:oleObj>
              </mc:Choice>
              <mc:Fallback>
                <p:oleObj r:id="rId7" imgW="1612900" imgH="431800" progId="Equation.3">
                  <p:embed/>
                  <p:pic>
                    <p:nvPicPr>
                      <p:cNvPr id="0" name="图片 3157"/>
                      <p:cNvPicPr/>
                      <p:nvPr/>
                    </p:nvPicPr>
                    <p:blipFill>
                      <a:blip r:embed="rId8"/>
                      <a:stretch>
                        <a:fillRect/>
                      </a:stretch>
                    </p:blipFill>
                    <p:spPr>
                      <a:xfrm>
                        <a:off x="1517650" y="2836863"/>
                        <a:ext cx="3630613" cy="973137"/>
                      </a:xfrm>
                      <a:prstGeom prst="rect">
                        <a:avLst/>
                      </a:prstGeom>
                      <a:noFill/>
                      <a:ln w="38100">
                        <a:noFill/>
                        <a:miter/>
                      </a:ln>
                    </p:spPr>
                  </p:pic>
                </p:oleObj>
              </mc:Fallback>
            </mc:AlternateContent>
          </a:graphicData>
        </a:graphic>
      </p:graphicFrame>
      <p:graphicFrame>
        <p:nvGraphicFramePr>
          <p:cNvPr id="1454086" name="对象 1454085"/>
          <p:cNvGraphicFramePr/>
          <p:nvPr/>
        </p:nvGraphicFramePr>
        <p:xfrm>
          <a:off x="1503363" y="3810000"/>
          <a:ext cx="3775075" cy="1000125"/>
        </p:xfrm>
        <a:graphic>
          <a:graphicData uri="http://schemas.openxmlformats.org/presentationml/2006/ole">
            <mc:AlternateContent xmlns:mc="http://schemas.openxmlformats.org/markup-compatibility/2006">
              <mc:Choice xmlns:v="urn:schemas-microsoft-com:vml" Requires="v">
                <p:oleObj spid="_x0000_s35886" r:id="rId9" imgW="1675765" imgH="444500" progId="Equation.3">
                  <p:embed/>
                </p:oleObj>
              </mc:Choice>
              <mc:Fallback>
                <p:oleObj r:id="rId9" imgW="1675765" imgH="444500" progId="Equation.3">
                  <p:embed/>
                  <p:pic>
                    <p:nvPicPr>
                      <p:cNvPr id="0" name="图片 3161"/>
                      <p:cNvPicPr/>
                      <p:nvPr/>
                    </p:nvPicPr>
                    <p:blipFill>
                      <a:blip r:embed="rId10"/>
                      <a:stretch>
                        <a:fillRect/>
                      </a:stretch>
                    </p:blipFill>
                    <p:spPr>
                      <a:xfrm>
                        <a:off x="1503363" y="3810000"/>
                        <a:ext cx="3775075" cy="1000125"/>
                      </a:xfrm>
                      <a:prstGeom prst="rect">
                        <a:avLst/>
                      </a:prstGeom>
                      <a:noFill/>
                      <a:ln w="38100">
                        <a:noFill/>
                        <a:miter/>
                      </a:ln>
                    </p:spPr>
                  </p:pic>
                </p:oleObj>
              </mc:Fallback>
            </mc:AlternateContent>
          </a:graphicData>
        </a:graphic>
      </p:graphicFrame>
      <p:graphicFrame>
        <p:nvGraphicFramePr>
          <p:cNvPr id="1454087" name="对象 1454086"/>
          <p:cNvGraphicFramePr/>
          <p:nvPr/>
        </p:nvGraphicFramePr>
        <p:xfrm>
          <a:off x="1593850" y="4953000"/>
          <a:ext cx="3900488" cy="996950"/>
        </p:xfrm>
        <a:graphic>
          <a:graphicData uri="http://schemas.openxmlformats.org/presentationml/2006/ole">
            <mc:AlternateContent xmlns:mc="http://schemas.openxmlformats.org/markup-compatibility/2006">
              <mc:Choice xmlns:v="urn:schemas-microsoft-com:vml" Requires="v">
                <p:oleObj spid="_x0000_s35887" r:id="rId11" imgW="1739265" imgH="444500" progId="Equation.3">
                  <p:embed/>
                </p:oleObj>
              </mc:Choice>
              <mc:Fallback>
                <p:oleObj r:id="rId11" imgW="1739265" imgH="444500" progId="Equation.3">
                  <p:embed/>
                  <p:pic>
                    <p:nvPicPr>
                      <p:cNvPr id="0" name="图片 3163"/>
                      <p:cNvPicPr/>
                      <p:nvPr/>
                    </p:nvPicPr>
                    <p:blipFill>
                      <a:blip r:embed="rId12"/>
                      <a:stretch>
                        <a:fillRect/>
                      </a:stretch>
                    </p:blipFill>
                    <p:spPr>
                      <a:xfrm>
                        <a:off x="1593850" y="4953000"/>
                        <a:ext cx="3900488" cy="996950"/>
                      </a:xfrm>
                      <a:prstGeom prst="rect">
                        <a:avLst/>
                      </a:prstGeom>
                      <a:noFill/>
                      <a:ln w="38100">
                        <a:noFill/>
                        <a:miter/>
                      </a:ln>
                    </p:spPr>
                  </p:pic>
                </p:oleObj>
              </mc:Fallback>
            </mc:AlternateContent>
          </a:graphicData>
        </a:graphic>
      </p:graphicFrame>
      <p:graphicFrame>
        <p:nvGraphicFramePr>
          <p:cNvPr id="1454088" name="对象 1454087"/>
          <p:cNvGraphicFramePr/>
          <p:nvPr/>
        </p:nvGraphicFramePr>
        <p:xfrm>
          <a:off x="1350963" y="1738313"/>
          <a:ext cx="4422775" cy="887412"/>
        </p:xfrm>
        <a:graphic>
          <a:graphicData uri="http://schemas.openxmlformats.org/presentationml/2006/ole">
            <mc:AlternateContent xmlns:mc="http://schemas.openxmlformats.org/markup-compatibility/2006">
              <mc:Choice xmlns:v="urn:schemas-microsoft-com:vml" Requires="v">
                <p:oleObj spid="_x0000_s35888" r:id="rId13" imgW="1980565" imgH="393700" progId="Equation.3">
                  <p:embed/>
                </p:oleObj>
              </mc:Choice>
              <mc:Fallback>
                <p:oleObj r:id="rId13" imgW="1980565" imgH="393700" progId="Equation.3">
                  <p:embed/>
                  <p:pic>
                    <p:nvPicPr>
                      <p:cNvPr id="0" name="图片 3162"/>
                      <p:cNvPicPr/>
                      <p:nvPr/>
                    </p:nvPicPr>
                    <p:blipFill>
                      <a:blip r:embed="rId14"/>
                      <a:stretch>
                        <a:fillRect/>
                      </a:stretch>
                    </p:blipFill>
                    <p:spPr>
                      <a:xfrm>
                        <a:off x="1350963" y="1738313"/>
                        <a:ext cx="4422775" cy="887412"/>
                      </a:xfrm>
                      <a:prstGeom prst="rect">
                        <a:avLst/>
                      </a:prstGeom>
                      <a:noFill/>
                      <a:ln w="38100">
                        <a:noFill/>
                        <a:miter/>
                      </a:ln>
                    </p:spPr>
                  </p:pic>
                </p:oleObj>
              </mc:Fallback>
            </mc:AlternateContent>
          </a:graphicData>
        </a:graphic>
      </p:graphicFrame>
      <p:sp>
        <p:nvSpPr>
          <p:cNvPr id="1454089" name="文本框 1454088"/>
          <p:cNvSpPr txBox="1"/>
          <p:nvPr/>
        </p:nvSpPr>
        <p:spPr>
          <a:xfrm>
            <a:off x="5791200" y="5059363"/>
            <a:ext cx="2019300" cy="51911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sym typeface="Symbol" panose="05050102010706020507" pitchFamily="18" charset="2"/>
              </a:rPr>
              <a:t>( =0.05 )</a:t>
            </a:r>
            <a:endParaRPr lang="en-US" altLang="zh-CN" sz="2800" dirty="0">
              <a:solidFill>
                <a:schemeClr val="tx1"/>
              </a:solidFill>
              <a:latin typeface="Times New Roman" panose="02020603050405020304" pitchFamily="18" charset="0"/>
            </a:endParaRPr>
          </a:p>
        </p:txBody>
      </p:sp>
      <p:sp>
        <p:nvSpPr>
          <p:cNvPr id="1454091" name="文本框 1454090"/>
          <p:cNvSpPr txBox="1"/>
          <p:nvPr/>
        </p:nvSpPr>
        <p:spPr>
          <a:xfrm>
            <a:off x="4748212" y="208276"/>
            <a:ext cx="4105275" cy="579437"/>
          </a:xfrm>
          <a:prstGeom prst="rect">
            <a:avLst/>
          </a:prstGeom>
          <a:solidFill>
            <a:srgbClr val="FFCC00"/>
          </a:solidFill>
          <a:ln w="9525">
            <a:noFill/>
          </a:ln>
        </p:spPr>
        <p:txBody>
          <a:bodyPr>
            <a:spAutoFit/>
          </a:bodyPr>
          <a:lstStyle/>
          <a:p>
            <a:pPr>
              <a:spcBef>
                <a:spcPct val="0"/>
              </a:spcBef>
            </a:pPr>
            <a:r>
              <a:rPr lang="en-US" altLang="zh-CN" sz="3200" i="1" dirty="0">
                <a:solidFill>
                  <a:schemeClr val="tx1"/>
                </a:solidFill>
                <a:latin typeface="Times New Roman" panose="02020603050405020304" pitchFamily="18" charset="0"/>
              </a:rPr>
              <a:t>K</a:t>
            </a:r>
            <a:r>
              <a:rPr lang="en-US" altLang="zh-CN" sz="3200" dirty="0">
                <a:solidFill>
                  <a:schemeClr val="tx1"/>
                </a:solidFill>
                <a:latin typeface="Times New Roman" panose="02020603050405020304" pitchFamily="18" charset="0"/>
              </a:rPr>
              <a:t>/</a:t>
            </a:r>
            <a:r>
              <a:rPr lang="en-US" altLang="zh-CN" sz="3200" i="1" dirty="0">
                <a:solidFill>
                  <a:schemeClr val="tx1"/>
                </a:solidFill>
                <a:latin typeface="Times New Roman" panose="02020603050405020304" pitchFamily="18" charset="0"/>
              </a:rPr>
              <a:t>T</a:t>
            </a:r>
            <a:r>
              <a:rPr lang="en-US" altLang="zh-CN" sz="3200" dirty="0">
                <a:solidFill>
                  <a:schemeClr val="tx1"/>
                </a:solidFill>
                <a:latin typeface="Times New Roman" panose="02020603050405020304" pitchFamily="18" charset="0"/>
              </a:rPr>
              <a:t>= </a:t>
            </a:r>
            <a:r>
              <a:rPr lang="en-US" altLang="zh-CN" sz="3200" i="1" dirty="0">
                <a:solidFill>
                  <a:schemeClr val="tx1"/>
                </a:solidFill>
                <a:latin typeface="Times New Roman" panose="02020603050405020304" pitchFamily="18" charset="0"/>
                <a:sym typeface="Symbol" panose="05050102010706020507" pitchFamily="18" charset="2"/>
              </a:rPr>
              <a:t></a:t>
            </a:r>
            <a:r>
              <a:rPr lang="en-US" altLang="zh-CN" sz="3200" i="1" baseline="-25000" dirty="0">
                <a:solidFill>
                  <a:schemeClr val="tx1"/>
                </a:solidFill>
                <a:latin typeface="Times New Roman" panose="02020603050405020304" pitchFamily="18" charset="0"/>
                <a:sym typeface="Symbol" panose="05050102010706020507" pitchFamily="18" charset="2"/>
              </a:rPr>
              <a:t>n</a:t>
            </a:r>
            <a:r>
              <a:rPr lang="en-US" altLang="zh-CN" sz="3200" baseline="30000" dirty="0">
                <a:solidFill>
                  <a:schemeClr val="tx1"/>
                </a:solidFill>
                <a:latin typeface="Times New Roman" panose="02020603050405020304" pitchFamily="18" charset="0"/>
              </a:rPr>
              <a:t>2  </a:t>
            </a:r>
            <a:r>
              <a:rPr lang="en-US" altLang="zh-CN" sz="3200" dirty="0">
                <a:solidFill>
                  <a:schemeClr val="tx1"/>
                </a:solidFill>
                <a:latin typeface="Times New Roman" panose="02020603050405020304" pitchFamily="18" charset="0"/>
              </a:rPr>
              <a:t>   1/</a:t>
            </a:r>
            <a:r>
              <a:rPr lang="en-US" altLang="zh-CN" sz="3200" i="1" dirty="0">
                <a:solidFill>
                  <a:schemeClr val="tx1"/>
                </a:solidFill>
                <a:latin typeface="Times New Roman" panose="02020603050405020304" pitchFamily="18" charset="0"/>
              </a:rPr>
              <a:t>T </a:t>
            </a:r>
            <a:r>
              <a:rPr lang="en-US" altLang="zh-CN" sz="3200" dirty="0">
                <a:solidFill>
                  <a:schemeClr val="tx1"/>
                </a:solidFill>
                <a:latin typeface="Times New Roman" panose="02020603050405020304" pitchFamily="18" charset="0"/>
              </a:rPr>
              <a:t>= 2</a:t>
            </a:r>
            <a:r>
              <a:rPr lang="en-US" altLang="zh-CN" sz="3200" i="1" dirty="0">
                <a:solidFill>
                  <a:schemeClr val="tx1"/>
                </a:solidFill>
                <a:latin typeface="Times New Roman" panose="02020603050405020304" pitchFamily="18" charset="0"/>
                <a:sym typeface="Symbol" panose="05050102010706020507" pitchFamily="18" charset="2"/>
              </a:rPr>
              <a:t></a:t>
            </a:r>
            <a:r>
              <a:rPr lang="en-US" altLang="zh-CN" sz="3200" i="1" baseline="-25000" dirty="0">
                <a:solidFill>
                  <a:schemeClr val="tx1"/>
                </a:solidFill>
                <a:latin typeface="Times New Roman" panose="02020603050405020304" pitchFamily="18" charset="0"/>
                <a:sym typeface="Symbol" panose="05050102010706020507" pitchFamily="18" charset="2"/>
              </a:rPr>
              <a:t>n</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54091"/>
                                        </p:tgtEl>
                                        <p:attrNameLst>
                                          <p:attrName>style.visibility</p:attrName>
                                        </p:attrNameLst>
                                      </p:cBhvr>
                                      <p:to>
                                        <p:strVal val="visible"/>
                                      </p:to>
                                    </p:set>
                                    <p:animEffect transition="in" filter="dissolve">
                                      <p:cBhvr>
                                        <p:cTn id="7" dur="500"/>
                                        <p:tgtEl>
                                          <p:spTgt spid="145409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54082"/>
                                        </p:tgtEl>
                                        <p:attrNameLst>
                                          <p:attrName>style.visibility</p:attrName>
                                        </p:attrNameLst>
                                      </p:cBhvr>
                                      <p:to>
                                        <p:strVal val="visible"/>
                                      </p:to>
                                    </p:set>
                                    <p:anim calcmode="lin" valueType="num">
                                      <p:cBhvr additive="base">
                                        <p:cTn id="12" dur="500" fill="hold"/>
                                        <p:tgtEl>
                                          <p:spTgt spid="1454082"/>
                                        </p:tgtEl>
                                        <p:attrNameLst>
                                          <p:attrName>ppt_x</p:attrName>
                                        </p:attrNameLst>
                                      </p:cBhvr>
                                      <p:tavLst>
                                        <p:tav tm="0">
                                          <p:val>
                                            <p:strVal val="0-#ppt_w/2"/>
                                          </p:val>
                                        </p:tav>
                                        <p:tav tm="100000">
                                          <p:val>
                                            <p:strVal val="#ppt_x"/>
                                          </p:val>
                                        </p:tav>
                                      </p:tavLst>
                                    </p:anim>
                                    <p:anim calcmode="lin" valueType="num">
                                      <p:cBhvr additive="base">
                                        <p:cTn id="13" dur="500" fill="hold"/>
                                        <p:tgtEl>
                                          <p:spTgt spid="145408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54083"/>
                                        </p:tgtEl>
                                        <p:attrNameLst>
                                          <p:attrName>style.visibility</p:attrName>
                                        </p:attrNameLst>
                                      </p:cBhvr>
                                      <p:to>
                                        <p:strVal val="visible"/>
                                      </p:to>
                                    </p:set>
                                    <p:animEffect transition="in" filter="dissolve">
                                      <p:cBhvr>
                                        <p:cTn id="18" dur="500"/>
                                        <p:tgtEl>
                                          <p:spTgt spid="145408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54084"/>
                                        </p:tgtEl>
                                        <p:attrNameLst>
                                          <p:attrName>style.visibility</p:attrName>
                                        </p:attrNameLst>
                                      </p:cBhvr>
                                      <p:to>
                                        <p:strVal val="visible"/>
                                      </p:to>
                                    </p:set>
                                    <p:animEffect transition="in" filter="dissolve">
                                      <p:cBhvr>
                                        <p:cTn id="23" dur="500"/>
                                        <p:tgtEl>
                                          <p:spTgt spid="145408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454088"/>
                                        </p:tgtEl>
                                        <p:attrNameLst>
                                          <p:attrName>style.visibility</p:attrName>
                                        </p:attrNameLst>
                                      </p:cBhvr>
                                      <p:to>
                                        <p:strVal val="visible"/>
                                      </p:to>
                                    </p:set>
                                    <p:animEffect transition="in" filter="dissolve">
                                      <p:cBhvr>
                                        <p:cTn id="28" dur="500"/>
                                        <p:tgtEl>
                                          <p:spTgt spid="145408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454085"/>
                                        </p:tgtEl>
                                        <p:attrNameLst>
                                          <p:attrName>style.visibility</p:attrName>
                                        </p:attrNameLst>
                                      </p:cBhvr>
                                      <p:to>
                                        <p:strVal val="visible"/>
                                      </p:to>
                                    </p:set>
                                    <p:animEffect transition="in" filter="dissolve">
                                      <p:cBhvr>
                                        <p:cTn id="33" dur="500"/>
                                        <p:tgtEl>
                                          <p:spTgt spid="145408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454086"/>
                                        </p:tgtEl>
                                        <p:attrNameLst>
                                          <p:attrName>style.visibility</p:attrName>
                                        </p:attrNameLst>
                                      </p:cBhvr>
                                      <p:to>
                                        <p:strVal val="visible"/>
                                      </p:to>
                                    </p:set>
                                    <p:animEffect transition="in" filter="dissolve">
                                      <p:cBhvr>
                                        <p:cTn id="38" dur="500"/>
                                        <p:tgtEl>
                                          <p:spTgt spid="145408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54087"/>
                                        </p:tgtEl>
                                        <p:attrNameLst>
                                          <p:attrName>style.visibility</p:attrName>
                                        </p:attrNameLst>
                                      </p:cBhvr>
                                      <p:to>
                                        <p:strVal val="visible"/>
                                      </p:to>
                                    </p:set>
                                    <p:anim calcmode="lin" valueType="num">
                                      <p:cBhvr additive="base">
                                        <p:cTn id="43" dur="500" fill="hold"/>
                                        <p:tgtEl>
                                          <p:spTgt spid="1454087"/>
                                        </p:tgtEl>
                                        <p:attrNameLst>
                                          <p:attrName>ppt_x</p:attrName>
                                        </p:attrNameLst>
                                      </p:cBhvr>
                                      <p:tavLst>
                                        <p:tav tm="0">
                                          <p:val>
                                            <p:strVal val="#ppt_x"/>
                                          </p:val>
                                        </p:tav>
                                        <p:tav tm="100000">
                                          <p:val>
                                            <p:strVal val="#ppt_x"/>
                                          </p:val>
                                        </p:tav>
                                      </p:tavLst>
                                    </p:anim>
                                    <p:anim calcmode="lin" valueType="num">
                                      <p:cBhvr additive="base">
                                        <p:cTn id="44" dur="500" fill="hold"/>
                                        <p:tgtEl>
                                          <p:spTgt spid="1454087"/>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1454089"/>
                                        </p:tgtEl>
                                        <p:attrNameLst>
                                          <p:attrName>style.visibility</p:attrName>
                                        </p:attrNameLst>
                                      </p:cBhvr>
                                      <p:to>
                                        <p:strVal val="visible"/>
                                      </p:to>
                                    </p:set>
                                    <p:animEffect transition="in" filter="dissolve">
                                      <p:cBhvr>
                                        <p:cTn id="48" dur="500"/>
                                        <p:tgtEl>
                                          <p:spTgt spid="1454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082" grpId="0"/>
      <p:bldP spid="1454089" grpId="0"/>
      <p:bldP spid="145409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52372FF-4745-4F5D-8A22-EFB68FEB67F6}"/>
              </a:ext>
            </a:extLst>
          </p:cNvPr>
          <p:cNvSpPr txBox="1"/>
          <p:nvPr/>
        </p:nvSpPr>
        <p:spPr>
          <a:xfrm>
            <a:off x="0" y="6093297"/>
            <a:ext cx="9155212" cy="764703"/>
          </a:xfrm>
          <a:prstGeom prst="rect">
            <a:avLst/>
          </a:prstGeom>
          <a:solidFill>
            <a:schemeClr val="bg2"/>
          </a:solidFill>
        </p:spPr>
        <p:txBody>
          <a:bodyPr wrap="square" rtlCol="0">
            <a:spAutoFit/>
          </a:bodyPr>
          <a:lstStyle/>
          <a:p>
            <a:endParaRPr lang="zh-CN" altLang="en-US" dirty="0"/>
          </a:p>
        </p:txBody>
      </p:sp>
      <p:sp>
        <p:nvSpPr>
          <p:cNvPr id="1455106" name="文本框 1455105"/>
          <p:cNvSpPr txBox="1"/>
          <p:nvPr/>
        </p:nvSpPr>
        <p:spPr>
          <a:xfrm>
            <a:off x="932837" y="91312"/>
            <a:ext cx="4887465" cy="1393471"/>
          </a:xfrm>
          <a:prstGeom prst="rect">
            <a:avLst/>
          </a:prstGeom>
          <a:noFill/>
          <a:ln w="9525">
            <a:noFill/>
          </a:ln>
        </p:spPr>
        <p:txBody>
          <a:bodyPr wrap="square">
            <a:spAutoFit/>
          </a:bodyPr>
          <a:lstStyle/>
          <a:p>
            <a:pPr>
              <a:spcBef>
                <a:spcPct val="0"/>
              </a:spcBef>
            </a:pPr>
            <a:r>
              <a:rPr lang="zh-CN" altLang="en-US" sz="2800" dirty="0">
                <a:solidFill>
                  <a:schemeClr val="tx1"/>
                </a:solidFill>
                <a:latin typeface="Arial" panose="020B0604020202020204" pitchFamily="34" charset="0"/>
              </a:rPr>
              <a:t>例</a:t>
            </a:r>
            <a:r>
              <a:rPr lang="en-US" altLang="zh-CN" sz="2800" dirty="0">
                <a:solidFill>
                  <a:schemeClr val="tx1"/>
                </a:solidFill>
                <a:latin typeface="Arial" panose="020B0604020202020204" pitchFamily="34" charset="0"/>
              </a:rPr>
              <a:t>3-2</a:t>
            </a:r>
            <a:r>
              <a:rPr lang="zh-CN" altLang="en-US" sz="2800" dirty="0">
                <a:solidFill>
                  <a:schemeClr val="tx1"/>
                </a:solidFill>
                <a:latin typeface="Arial" panose="020B0604020202020204" pitchFamily="34" charset="0"/>
              </a:rPr>
              <a:t>　已知</a:t>
            </a:r>
            <a:r>
              <a:rPr lang="zh-CN" altLang="en-US" sz="2800" dirty="0">
                <a:solidFill>
                  <a:schemeClr val="tx2"/>
                </a:solidFill>
                <a:latin typeface="Arial" panose="020B0604020202020204" pitchFamily="34" charset="0"/>
              </a:rPr>
              <a:t>单位</a:t>
            </a:r>
            <a:r>
              <a:rPr lang="zh-CN" altLang="en-US" sz="2800" dirty="0">
                <a:solidFill>
                  <a:schemeClr val="tx1"/>
                </a:solidFill>
                <a:latin typeface="Arial" panose="020B0604020202020204" pitchFamily="34" charset="0"/>
              </a:rPr>
              <a:t>负反馈系统的单位阶跃响应曲线如图所示试求系统的开环传递函数。</a:t>
            </a:r>
          </a:p>
        </p:txBody>
      </p:sp>
      <p:sp>
        <p:nvSpPr>
          <p:cNvPr id="1455107" name="文本框 1455106"/>
          <p:cNvSpPr txBox="1"/>
          <p:nvPr/>
        </p:nvSpPr>
        <p:spPr>
          <a:xfrm>
            <a:off x="0" y="1752600"/>
            <a:ext cx="5429250" cy="1858963"/>
          </a:xfrm>
          <a:prstGeom prst="rect">
            <a:avLst/>
          </a:prstGeom>
          <a:noFill/>
          <a:ln w="9525">
            <a:noFill/>
          </a:ln>
        </p:spPr>
        <p:txBody>
          <a:bodyPr bIns="190800">
            <a:spAutoFit/>
          </a:bodyPr>
          <a:lstStyle/>
          <a:p>
            <a:pPr>
              <a:spcBef>
                <a:spcPct val="0"/>
              </a:spcBef>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解：由系统的单位阶跃响应曲线，直接求出超调量和峰值时间。</a:t>
            </a:r>
          </a:p>
          <a:p>
            <a:pPr>
              <a:lnSpc>
                <a:spcPct val="80000"/>
              </a:lnSpc>
              <a:spcBef>
                <a:spcPct val="0"/>
              </a:spcBef>
            </a:pPr>
            <a:r>
              <a:rPr lang="zh-CN" altLang="en-US" sz="28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M</a:t>
            </a:r>
            <a:r>
              <a:rPr lang="en-US" altLang="zh-CN" sz="2800" i="1" baseline="-25000" dirty="0">
                <a:solidFill>
                  <a:schemeClr val="tx1"/>
                </a:solidFill>
                <a:latin typeface="Times New Roman" panose="02020603050405020304" pitchFamily="18" charset="0"/>
              </a:rPr>
              <a:t>p </a:t>
            </a:r>
            <a:r>
              <a:rPr lang="en-US" altLang="zh-CN" sz="2800" dirty="0">
                <a:solidFill>
                  <a:schemeClr val="tx1"/>
                </a:solidFill>
                <a:latin typeface="Times New Roman" panose="02020603050405020304" pitchFamily="18" charset="0"/>
              </a:rPr>
              <a:t>= 30%          </a:t>
            </a:r>
            <a:r>
              <a:rPr lang="en-US" altLang="zh-CN" sz="2800" i="1" dirty="0">
                <a:solidFill>
                  <a:schemeClr val="tx1"/>
                </a:solidFill>
                <a:latin typeface="Times New Roman" panose="02020603050405020304" pitchFamily="18" charset="0"/>
              </a:rPr>
              <a:t>t</a:t>
            </a:r>
            <a:r>
              <a:rPr lang="en-US" altLang="zh-CN" sz="2800" i="1" baseline="-25000" dirty="0">
                <a:solidFill>
                  <a:schemeClr val="tx1"/>
                </a:solidFill>
                <a:latin typeface="Times New Roman" panose="02020603050405020304" pitchFamily="18" charset="0"/>
              </a:rPr>
              <a:t>p </a:t>
            </a:r>
            <a:r>
              <a:rPr lang="en-US" altLang="zh-CN" sz="2800" dirty="0">
                <a:solidFill>
                  <a:schemeClr val="tx1"/>
                </a:solidFill>
                <a:latin typeface="Times New Roman" panose="02020603050405020304" pitchFamily="18" charset="0"/>
              </a:rPr>
              <a:t>= 0.1</a:t>
            </a:r>
          </a:p>
        </p:txBody>
      </p:sp>
      <p:graphicFrame>
        <p:nvGraphicFramePr>
          <p:cNvPr id="1455108" name="对象 1455107"/>
          <p:cNvGraphicFramePr/>
          <p:nvPr/>
        </p:nvGraphicFramePr>
        <p:xfrm>
          <a:off x="858838" y="3554413"/>
          <a:ext cx="3144837" cy="836612"/>
        </p:xfrm>
        <a:graphic>
          <a:graphicData uri="http://schemas.openxmlformats.org/presentationml/2006/ole">
            <mc:AlternateContent xmlns:mc="http://schemas.openxmlformats.org/markup-compatibility/2006">
              <mc:Choice xmlns:v="urn:schemas-microsoft-com:vml" Requires="v">
                <p:oleObj spid="_x0000_s36886" r:id="rId3" imgW="1384300" imgH="368300" progId="Equation.3">
                  <p:embed/>
                </p:oleObj>
              </mc:Choice>
              <mc:Fallback>
                <p:oleObj r:id="rId3" imgW="1384300" imgH="368300" progId="Equation.3">
                  <p:embed/>
                  <p:pic>
                    <p:nvPicPr>
                      <p:cNvPr id="0" name="图片 3158"/>
                      <p:cNvPicPr/>
                      <p:nvPr/>
                    </p:nvPicPr>
                    <p:blipFill>
                      <a:blip r:embed="rId4"/>
                      <a:stretch>
                        <a:fillRect/>
                      </a:stretch>
                    </p:blipFill>
                    <p:spPr>
                      <a:xfrm>
                        <a:off x="858838" y="3554413"/>
                        <a:ext cx="3144837" cy="836612"/>
                      </a:xfrm>
                      <a:prstGeom prst="rect">
                        <a:avLst/>
                      </a:prstGeom>
                      <a:noFill/>
                      <a:ln w="38100">
                        <a:noFill/>
                        <a:miter/>
                      </a:ln>
                    </p:spPr>
                  </p:pic>
                </p:oleObj>
              </mc:Fallback>
            </mc:AlternateContent>
          </a:graphicData>
        </a:graphic>
      </p:graphicFrame>
      <p:graphicFrame>
        <p:nvGraphicFramePr>
          <p:cNvPr id="1455109" name="对象 1455108"/>
          <p:cNvGraphicFramePr/>
          <p:nvPr/>
        </p:nvGraphicFramePr>
        <p:xfrm>
          <a:off x="4524375" y="3559175"/>
          <a:ext cx="2378075" cy="1087438"/>
        </p:xfrm>
        <a:graphic>
          <a:graphicData uri="http://schemas.openxmlformats.org/presentationml/2006/ole">
            <mc:AlternateContent xmlns:mc="http://schemas.openxmlformats.org/markup-compatibility/2006">
              <mc:Choice xmlns:v="urn:schemas-microsoft-com:vml" Requires="v">
                <p:oleObj spid="_x0000_s36887" r:id="rId5" imgW="1053465" imgH="482600" progId="Equation.3">
                  <p:embed/>
                </p:oleObj>
              </mc:Choice>
              <mc:Fallback>
                <p:oleObj r:id="rId5" imgW="1053465" imgH="482600" progId="Equation.3">
                  <p:embed/>
                  <p:pic>
                    <p:nvPicPr>
                      <p:cNvPr id="0" name="图片 3160"/>
                      <p:cNvPicPr/>
                      <p:nvPr/>
                    </p:nvPicPr>
                    <p:blipFill>
                      <a:blip r:embed="rId6"/>
                      <a:stretch>
                        <a:fillRect/>
                      </a:stretch>
                    </p:blipFill>
                    <p:spPr>
                      <a:xfrm>
                        <a:off x="4524375" y="3559175"/>
                        <a:ext cx="2378075" cy="1087438"/>
                      </a:xfrm>
                      <a:prstGeom prst="rect">
                        <a:avLst/>
                      </a:prstGeom>
                      <a:noFill/>
                      <a:ln w="38100">
                        <a:noFill/>
                        <a:miter/>
                      </a:ln>
                    </p:spPr>
                  </p:pic>
                </p:oleObj>
              </mc:Fallback>
            </mc:AlternateContent>
          </a:graphicData>
        </a:graphic>
      </p:graphicFrame>
      <p:sp>
        <p:nvSpPr>
          <p:cNvPr id="1455110" name="文本框 1455109"/>
          <p:cNvSpPr txBox="1"/>
          <p:nvPr/>
        </p:nvSpPr>
        <p:spPr>
          <a:xfrm>
            <a:off x="0" y="4487863"/>
            <a:ext cx="8604250" cy="1117600"/>
          </a:xfrm>
          <a:prstGeom prst="rect">
            <a:avLst/>
          </a:prstGeom>
          <a:noFill/>
          <a:ln w="9525">
            <a:noFill/>
          </a:ln>
        </p:spPr>
        <p:txBody>
          <a:bodyPr>
            <a:spAutoFit/>
          </a:bodyPr>
          <a:lstStyle/>
          <a:p>
            <a:pPr>
              <a:lnSpc>
                <a:spcPct val="120000"/>
              </a:lnSpc>
              <a:spcBef>
                <a:spcPct val="0"/>
              </a:spcBef>
            </a:pPr>
            <a:r>
              <a:rPr lang="zh-CN" altLang="en-US" sz="2800" dirty="0">
                <a:solidFill>
                  <a:schemeClr val="tx1"/>
                </a:solidFill>
                <a:latin typeface="Arial" panose="020B0604020202020204" pitchFamily="34" charset="0"/>
              </a:rPr>
              <a:t>求解上述二式，得到 </a:t>
            </a:r>
            <a:r>
              <a:rPr lang="en-US" altLang="zh-CN" sz="2800" i="1"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sym typeface="Symbol" panose="05050102010706020507" pitchFamily="18" charset="2"/>
              </a:rPr>
              <a:t>= 0.357</a:t>
            </a:r>
            <a:r>
              <a:rPr lang="zh-CN" altLang="en-US"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i="1" baseline="-25000" dirty="0">
                <a:solidFill>
                  <a:schemeClr val="tx1"/>
                </a:solidFill>
                <a:latin typeface="Times New Roman" panose="02020603050405020304" pitchFamily="18" charset="0"/>
                <a:sym typeface="Symbol" panose="05050102010706020507" pitchFamily="18" charset="2"/>
              </a:rPr>
              <a:t>n</a:t>
            </a:r>
            <a:r>
              <a:rPr lang="en-US" altLang="zh-CN" sz="2800" dirty="0">
                <a:solidFill>
                  <a:schemeClr val="tx1"/>
                </a:solidFill>
                <a:latin typeface="Times New Roman" panose="02020603050405020304" pitchFamily="18" charset="0"/>
                <a:sym typeface="Symbol" panose="05050102010706020507" pitchFamily="18" charset="2"/>
              </a:rPr>
              <a:t>= 33.65(rad/s)</a:t>
            </a:r>
            <a:r>
              <a:rPr lang="zh-CN" altLang="en-US" sz="2800" dirty="0">
                <a:solidFill>
                  <a:schemeClr val="tx1"/>
                </a:solidFill>
                <a:latin typeface="Times New Roman" panose="02020603050405020304" pitchFamily="18" charset="0"/>
                <a:sym typeface="Symbol" panose="05050102010706020507" pitchFamily="18" charset="2"/>
              </a:rPr>
              <a:t>。</a:t>
            </a:r>
          </a:p>
          <a:p>
            <a:pPr>
              <a:lnSpc>
                <a:spcPct val="120000"/>
              </a:lnSpc>
              <a:spcBef>
                <a:spcPct val="0"/>
              </a:spcBef>
            </a:pPr>
            <a:r>
              <a:rPr lang="zh-CN" altLang="en-US" sz="2800" dirty="0">
                <a:solidFill>
                  <a:schemeClr val="tx1"/>
                </a:solidFill>
                <a:latin typeface="Arial" panose="020B0604020202020204" pitchFamily="34" charset="0"/>
              </a:rPr>
              <a:t>于是二阶系统的开环传递函数为</a:t>
            </a:r>
          </a:p>
        </p:txBody>
      </p:sp>
      <p:graphicFrame>
        <p:nvGraphicFramePr>
          <p:cNvPr id="1455111" name="对象 1455110"/>
          <p:cNvGraphicFramePr/>
          <p:nvPr/>
        </p:nvGraphicFramePr>
        <p:xfrm>
          <a:off x="833438" y="5710238"/>
          <a:ext cx="7770812" cy="1025525"/>
        </p:xfrm>
        <a:graphic>
          <a:graphicData uri="http://schemas.openxmlformats.org/presentationml/2006/ole">
            <mc:AlternateContent xmlns:mc="http://schemas.openxmlformats.org/markup-compatibility/2006">
              <mc:Choice xmlns:v="urn:schemas-microsoft-com:vml" Requires="v">
                <p:oleObj spid="_x0000_s36888" r:id="rId7" imgW="2983230" imgH="393700" progId="Equation.3">
                  <p:embed/>
                </p:oleObj>
              </mc:Choice>
              <mc:Fallback>
                <p:oleObj r:id="rId7" imgW="2983230" imgH="393700" progId="Equation.3">
                  <p:embed/>
                  <p:pic>
                    <p:nvPicPr>
                      <p:cNvPr id="0" name="图片 3164"/>
                      <p:cNvPicPr/>
                      <p:nvPr/>
                    </p:nvPicPr>
                    <p:blipFill>
                      <a:blip r:embed="rId8"/>
                      <a:stretch>
                        <a:fillRect/>
                      </a:stretch>
                    </p:blipFill>
                    <p:spPr>
                      <a:xfrm>
                        <a:off x="833438" y="5710238"/>
                        <a:ext cx="7770812" cy="1025525"/>
                      </a:xfrm>
                      <a:prstGeom prst="rect">
                        <a:avLst/>
                      </a:prstGeom>
                      <a:noFill/>
                      <a:ln w="38100">
                        <a:noFill/>
                        <a:miter/>
                      </a:ln>
                    </p:spPr>
                  </p:pic>
                </p:oleObj>
              </mc:Fallback>
            </mc:AlternateContent>
          </a:graphicData>
        </a:graphic>
      </p:graphicFrame>
      <p:grpSp>
        <p:nvGrpSpPr>
          <p:cNvPr id="1455112" name="组合 1455111"/>
          <p:cNvGrpSpPr/>
          <p:nvPr/>
        </p:nvGrpSpPr>
        <p:grpSpPr>
          <a:xfrm>
            <a:off x="5429250" y="53975"/>
            <a:ext cx="4070350" cy="3036888"/>
            <a:chOff x="3145" y="78"/>
            <a:chExt cx="2564" cy="1913"/>
          </a:xfrm>
        </p:grpSpPr>
        <p:sp>
          <p:nvSpPr>
            <p:cNvPr id="51210" name="矩形 1455112"/>
            <p:cNvSpPr/>
            <p:nvPr/>
          </p:nvSpPr>
          <p:spPr>
            <a:xfrm>
              <a:off x="3286" y="590"/>
              <a:ext cx="286"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1</a:t>
              </a:r>
              <a:endParaRPr lang="en-US" altLang="zh-CN" sz="2800" dirty="0">
                <a:solidFill>
                  <a:schemeClr val="tx1"/>
                </a:solidFill>
                <a:latin typeface="Times New Roman" panose="02020603050405020304" pitchFamily="18" charset="0"/>
                <a:sym typeface="Symbol" panose="05050102010706020507" pitchFamily="18" charset="2"/>
              </a:endParaRPr>
            </a:p>
          </p:txBody>
        </p:sp>
        <p:sp>
          <p:nvSpPr>
            <p:cNvPr id="51211" name="任意多边形 1455113"/>
            <p:cNvSpPr/>
            <p:nvPr/>
          </p:nvSpPr>
          <p:spPr>
            <a:xfrm>
              <a:off x="3493" y="447"/>
              <a:ext cx="1900" cy="1230"/>
            </a:xfrm>
            <a:custGeom>
              <a:avLst/>
              <a:gdLst/>
              <a:ahLst/>
              <a:cxnLst>
                <a:cxn ang="0">
                  <a:pos x="0" y="692"/>
                </a:cxn>
                <a:cxn ang="0">
                  <a:pos x="30" y="648"/>
                </a:cxn>
                <a:cxn ang="0">
                  <a:pos x="63" y="427"/>
                </a:cxn>
                <a:cxn ang="0">
                  <a:pos x="97" y="146"/>
                </a:cxn>
                <a:cxn ang="0">
                  <a:pos x="139" y="0"/>
                </a:cxn>
                <a:cxn ang="0">
                  <a:pos x="215" y="146"/>
                </a:cxn>
                <a:cxn ang="0">
                  <a:pos x="284" y="211"/>
                </a:cxn>
                <a:cxn ang="0">
                  <a:pos x="412" y="130"/>
                </a:cxn>
                <a:cxn ang="0">
                  <a:pos x="554" y="168"/>
                </a:cxn>
              </a:cxnLst>
              <a:rect l="0" t="0" r="0" b="0"/>
              <a:pathLst>
                <a:path w="3520" h="1640">
                  <a:moveTo>
                    <a:pt x="0" y="1638"/>
                  </a:moveTo>
                  <a:cubicBezTo>
                    <a:pt x="63" y="1639"/>
                    <a:pt x="126" y="1640"/>
                    <a:pt x="192" y="1536"/>
                  </a:cubicBezTo>
                  <a:cubicBezTo>
                    <a:pt x="258" y="1432"/>
                    <a:pt x="327" y="1209"/>
                    <a:pt x="397" y="1011"/>
                  </a:cubicBezTo>
                  <a:cubicBezTo>
                    <a:pt x="467" y="813"/>
                    <a:pt x="533" y="514"/>
                    <a:pt x="614" y="346"/>
                  </a:cubicBezTo>
                  <a:cubicBezTo>
                    <a:pt x="695" y="178"/>
                    <a:pt x="757" y="0"/>
                    <a:pt x="883" y="0"/>
                  </a:cubicBezTo>
                  <a:cubicBezTo>
                    <a:pt x="1009" y="0"/>
                    <a:pt x="1216" y="263"/>
                    <a:pt x="1370" y="346"/>
                  </a:cubicBezTo>
                  <a:cubicBezTo>
                    <a:pt x="1524" y="429"/>
                    <a:pt x="1596" y="506"/>
                    <a:pt x="1805" y="499"/>
                  </a:cubicBezTo>
                  <a:cubicBezTo>
                    <a:pt x="2014" y="492"/>
                    <a:pt x="2338" y="324"/>
                    <a:pt x="2624" y="307"/>
                  </a:cubicBezTo>
                  <a:cubicBezTo>
                    <a:pt x="2910" y="290"/>
                    <a:pt x="3371" y="382"/>
                    <a:pt x="3520" y="397"/>
                  </a:cubicBezTo>
                </a:path>
              </a:pathLst>
            </a:custGeom>
            <a:noFill/>
            <a:ln w="76200" cap="sq" cmpd="sng">
              <a:solidFill>
                <a:srgbClr val="993300">
                  <a:alpha val="100000"/>
                </a:srgbClr>
              </a:solidFill>
              <a:prstDash val="solid"/>
              <a:round/>
              <a:headEnd type="none" w="med" len="med"/>
              <a:tailEnd type="none" w="med" len="med"/>
            </a:ln>
          </p:spPr>
          <p:txBody>
            <a:bodyPr/>
            <a:lstStyle/>
            <a:p>
              <a:endParaRPr lang="zh-CN" altLang="en-US"/>
            </a:p>
          </p:txBody>
        </p:sp>
        <p:grpSp>
          <p:nvGrpSpPr>
            <p:cNvPr id="51212" name="组合 1455114"/>
            <p:cNvGrpSpPr/>
            <p:nvPr/>
          </p:nvGrpSpPr>
          <p:grpSpPr>
            <a:xfrm>
              <a:off x="3325" y="78"/>
              <a:ext cx="2384" cy="1899"/>
              <a:chOff x="410" y="411"/>
              <a:chExt cx="3099" cy="1899"/>
            </a:xfrm>
          </p:grpSpPr>
          <p:sp>
            <p:nvSpPr>
              <p:cNvPr id="51218" name="直接连接符 1455115"/>
              <p:cNvSpPr/>
              <p:nvPr/>
            </p:nvSpPr>
            <p:spPr>
              <a:xfrm flipH="1" flipV="1">
                <a:off x="625" y="484"/>
                <a:ext cx="0" cy="1536"/>
              </a:xfrm>
              <a:prstGeom prst="line">
                <a:avLst/>
              </a:prstGeom>
              <a:ln w="57150" cap="sq" cmpd="sng">
                <a:solidFill>
                  <a:schemeClr val="tx1"/>
                </a:solidFill>
                <a:prstDash val="solid"/>
                <a:headEnd type="none" w="med" len="med"/>
                <a:tailEnd type="triangle" w="med" len="med"/>
              </a:ln>
            </p:spPr>
          </p:sp>
          <p:sp>
            <p:nvSpPr>
              <p:cNvPr id="51219" name="直接连接符 1455116"/>
              <p:cNvSpPr/>
              <p:nvPr/>
            </p:nvSpPr>
            <p:spPr>
              <a:xfrm>
                <a:off x="630" y="2015"/>
                <a:ext cx="2604" cy="0"/>
              </a:xfrm>
              <a:prstGeom prst="line">
                <a:avLst/>
              </a:prstGeom>
              <a:ln w="57150" cap="sq" cmpd="sng">
                <a:solidFill>
                  <a:schemeClr val="tx1"/>
                </a:solidFill>
                <a:prstDash val="solid"/>
                <a:headEnd type="none" w="med" len="med"/>
                <a:tailEnd type="triangle" w="med" len="med"/>
              </a:ln>
            </p:spPr>
          </p:sp>
          <p:sp>
            <p:nvSpPr>
              <p:cNvPr id="51220" name="矩形 1455117"/>
              <p:cNvSpPr/>
              <p:nvPr/>
            </p:nvSpPr>
            <p:spPr>
              <a:xfrm>
                <a:off x="704" y="411"/>
                <a:ext cx="664" cy="288"/>
              </a:xfrm>
              <a:prstGeom prst="rect">
                <a:avLst/>
              </a:prstGeom>
              <a:noFill/>
              <a:ln w="9525">
                <a:noFill/>
              </a:ln>
            </p:spPr>
            <p:txBody>
              <a:bodyPr>
                <a:spAutoFit/>
              </a:bodyPr>
              <a:lstStyle/>
              <a:p>
                <a:pPr>
                  <a:spcBef>
                    <a:spcPct val="0"/>
                  </a:spcBef>
                </a:pPr>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t</a:t>
                </a:r>
                <a:r>
                  <a:rPr lang="en-US" altLang="zh-CN" sz="24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sym typeface="Symbol" panose="05050102010706020507" pitchFamily="18" charset="2"/>
                </a:endParaRPr>
              </a:p>
            </p:txBody>
          </p:sp>
          <p:sp>
            <p:nvSpPr>
              <p:cNvPr id="51221" name="矩形 1455118"/>
              <p:cNvSpPr/>
              <p:nvPr/>
            </p:nvSpPr>
            <p:spPr>
              <a:xfrm>
                <a:off x="3227" y="1856"/>
                <a:ext cx="282" cy="288"/>
              </a:xfrm>
              <a:prstGeom prst="rect">
                <a:avLst/>
              </a:prstGeom>
              <a:noFill/>
              <a:ln w="9525">
                <a:noFill/>
              </a:ln>
            </p:spPr>
            <p:txBody>
              <a:bodyPr wrap="none">
                <a:spAutoFit/>
              </a:bodyPr>
              <a:lstStyle/>
              <a:p>
                <a:pPr>
                  <a:spcBef>
                    <a:spcPct val="0"/>
                  </a:spcBef>
                </a:pPr>
                <a:r>
                  <a:rPr lang="en-US" altLang="zh-CN" sz="2400" i="1" dirty="0">
                    <a:solidFill>
                      <a:schemeClr val="tx1"/>
                    </a:solidFill>
                    <a:latin typeface="Times New Roman" panose="02020603050405020304" pitchFamily="18" charset="0"/>
                  </a:rPr>
                  <a:t> t</a:t>
                </a:r>
              </a:p>
            </p:txBody>
          </p:sp>
          <p:sp>
            <p:nvSpPr>
              <p:cNvPr id="51222" name="矩形 1455119"/>
              <p:cNvSpPr/>
              <p:nvPr/>
            </p:nvSpPr>
            <p:spPr>
              <a:xfrm>
                <a:off x="410" y="2022"/>
                <a:ext cx="338" cy="288"/>
              </a:xfrm>
              <a:prstGeom prst="rect">
                <a:avLst/>
              </a:prstGeom>
              <a:noFill/>
              <a:ln w="9525">
                <a:noFill/>
              </a:ln>
            </p:spPr>
            <p:txBody>
              <a:bodyPr wrap="none">
                <a:spAutoFit/>
              </a:bodyPr>
              <a:lstStyle/>
              <a:p>
                <a:pPr algn="ctr">
                  <a:spcBef>
                    <a:spcPct val="0"/>
                  </a:spcBef>
                </a:pPr>
                <a:r>
                  <a:rPr lang="en-US" altLang="zh-CN" sz="2400" dirty="0">
                    <a:solidFill>
                      <a:schemeClr val="tx1"/>
                    </a:solidFill>
                    <a:latin typeface="Times New Roman" panose="02020603050405020304" pitchFamily="18" charset="0"/>
                  </a:rPr>
                  <a:t> 0</a:t>
                </a:r>
              </a:p>
            </p:txBody>
          </p:sp>
        </p:grpSp>
        <p:sp>
          <p:nvSpPr>
            <p:cNvPr id="51213" name="直接连接符 1455120"/>
            <p:cNvSpPr/>
            <p:nvPr/>
          </p:nvSpPr>
          <p:spPr>
            <a:xfrm>
              <a:off x="3535" y="447"/>
              <a:ext cx="380" cy="0"/>
            </a:xfrm>
            <a:prstGeom prst="line">
              <a:avLst/>
            </a:prstGeom>
            <a:ln w="38100" cap="flat" cmpd="sng">
              <a:solidFill>
                <a:srgbClr val="000080"/>
              </a:solidFill>
              <a:prstDash val="sysDot"/>
              <a:headEnd type="none" w="med" len="med"/>
              <a:tailEnd type="none" w="med" len="med"/>
            </a:ln>
          </p:spPr>
        </p:sp>
        <p:sp>
          <p:nvSpPr>
            <p:cNvPr id="51214" name="直接连接符 1455121"/>
            <p:cNvSpPr/>
            <p:nvPr/>
          </p:nvSpPr>
          <p:spPr>
            <a:xfrm>
              <a:off x="3496" y="728"/>
              <a:ext cx="1942" cy="1"/>
            </a:xfrm>
            <a:prstGeom prst="line">
              <a:avLst/>
            </a:prstGeom>
            <a:ln w="38100" cap="sq" cmpd="sng">
              <a:solidFill>
                <a:srgbClr val="000080"/>
              </a:solidFill>
              <a:prstDash val="solid"/>
              <a:headEnd type="none" w="med" len="med"/>
              <a:tailEnd type="none" w="med" len="med"/>
            </a:ln>
          </p:spPr>
        </p:sp>
        <p:sp>
          <p:nvSpPr>
            <p:cNvPr id="51215" name="直接连接符 1455122"/>
            <p:cNvSpPr/>
            <p:nvPr/>
          </p:nvSpPr>
          <p:spPr>
            <a:xfrm>
              <a:off x="3981" y="461"/>
              <a:ext cx="0" cy="1229"/>
            </a:xfrm>
            <a:prstGeom prst="line">
              <a:avLst/>
            </a:prstGeom>
            <a:ln w="38100" cap="flat" cmpd="sng">
              <a:solidFill>
                <a:schemeClr val="tx1"/>
              </a:solidFill>
              <a:prstDash val="sysDot"/>
              <a:headEnd type="none" w="med" len="med"/>
              <a:tailEnd type="none" w="med" len="med"/>
            </a:ln>
          </p:spPr>
        </p:sp>
        <p:sp>
          <p:nvSpPr>
            <p:cNvPr id="51216" name="矩形 1455123"/>
            <p:cNvSpPr/>
            <p:nvPr/>
          </p:nvSpPr>
          <p:spPr>
            <a:xfrm>
              <a:off x="3145" y="308"/>
              <a:ext cx="503"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1.3</a:t>
              </a:r>
              <a:endParaRPr lang="en-US" altLang="zh-CN" sz="2800" dirty="0">
                <a:solidFill>
                  <a:schemeClr val="tx1"/>
                </a:solidFill>
                <a:latin typeface="Times New Roman" panose="02020603050405020304" pitchFamily="18" charset="0"/>
                <a:sym typeface="Symbol" panose="05050102010706020507" pitchFamily="18" charset="2"/>
              </a:endParaRPr>
            </a:p>
          </p:txBody>
        </p:sp>
        <p:sp>
          <p:nvSpPr>
            <p:cNvPr id="51217" name="矩形 1455124"/>
            <p:cNvSpPr/>
            <p:nvPr/>
          </p:nvSpPr>
          <p:spPr>
            <a:xfrm>
              <a:off x="3810" y="1703"/>
              <a:ext cx="503" cy="288"/>
            </a:xfrm>
            <a:prstGeom prst="rect">
              <a:avLst/>
            </a:prstGeom>
            <a:noFill/>
            <a:ln w="9525">
              <a:noFill/>
            </a:ln>
          </p:spPr>
          <p:txBody>
            <a:bodyPr>
              <a:spAutoFit/>
            </a:bodyPr>
            <a:lstStyle/>
            <a:p>
              <a:pPr>
                <a:spcBef>
                  <a:spcPct val="0"/>
                </a:spcBef>
              </a:pPr>
              <a:r>
                <a:rPr lang="en-US" altLang="zh-CN" sz="2400" dirty="0">
                  <a:solidFill>
                    <a:schemeClr val="tx1"/>
                  </a:solidFill>
                  <a:latin typeface="Times New Roman" panose="02020603050405020304" pitchFamily="18" charset="0"/>
                </a:rPr>
                <a:t>0.1</a:t>
              </a:r>
              <a:endParaRPr lang="en-US" altLang="zh-CN" sz="2800" dirty="0">
                <a:solidFill>
                  <a:schemeClr val="tx1"/>
                </a:solidFill>
                <a:latin typeface="Times New Roman" panose="02020603050405020304" pitchFamily="18" charset="0"/>
                <a:sym typeface="Symbol" panose="05050102010706020507" pitchFamily="18" charset="2"/>
              </a:endParaRPr>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5106">
                                            <p:txEl>
                                              <p:pRg st="0" end="0"/>
                                            </p:txEl>
                                          </p:spTgt>
                                        </p:tgtEl>
                                        <p:attrNameLst>
                                          <p:attrName>style.visibility</p:attrName>
                                        </p:attrNameLst>
                                      </p:cBhvr>
                                      <p:to>
                                        <p:strVal val="visible"/>
                                      </p:to>
                                    </p:set>
                                    <p:anim calcmode="lin" valueType="num">
                                      <p:cBhvr additive="base">
                                        <p:cTn id="7" dur="500" fill="hold"/>
                                        <p:tgtEl>
                                          <p:spTgt spid="14551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5510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1455112"/>
                                        </p:tgtEl>
                                        <p:attrNameLst>
                                          <p:attrName>style.visibility</p:attrName>
                                        </p:attrNameLst>
                                      </p:cBhvr>
                                      <p:to>
                                        <p:strVal val="visible"/>
                                      </p:to>
                                    </p:set>
                                    <p:animEffect transition="in" filter="dissolve">
                                      <p:cBhvr>
                                        <p:cTn id="12" dur="500"/>
                                        <p:tgtEl>
                                          <p:spTgt spid="14551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55107">
                                            <p:txEl>
                                              <p:pRg st="0" end="0"/>
                                            </p:txEl>
                                          </p:spTgt>
                                        </p:tgtEl>
                                        <p:attrNameLst>
                                          <p:attrName>style.visibility</p:attrName>
                                        </p:attrNameLst>
                                      </p:cBhvr>
                                      <p:to>
                                        <p:strVal val="visible"/>
                                      </p:to>
                                    </p:set>
                                    <p:animEffect transition="in" filter="dissolve">
                                      <p:cBhvr>
                                        <p:cTn id="17" dur="500"/>
                                        <p:tgtEl>
                                          <p:spTgt spid="145510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55107">
                                            <p:txEl>
                                              <p:pRg st="1" end="1"/>
                                            </p:txEl>
                                          </p:spTgt>
                                        </p:tgtEl>
                                        <p:attrNameLst>
                                          <p:attrName>style.visibility</p:attrName>
                                        </p:attrNameLst>
                                      </p:cBhvr>
                                      <p:to>
                                        <p:strVal val="visible"/>
                                      </p:to>
                                    </p:set>
                                    <p:animEffect transition="in" filter="dissolve">
                                      <p:cBhvr>
                                        <p:cTn id="22" dur="500"/>
                                        <p:tgtEl>
                                          <p:spTgt spid="145510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55108"/>
                                        </p:tgtEl>
                                        <p:attrNameLst>
                                          <p:attrName>style.visibility</p:attrName>
                                        </p:attrNameLst>
                                      </p:cBhvr>
                                      <p:to>
                                        <p:strVal val="visible"/>
                                      </p:to>
                                    </p:set>
                                    <p:animEffect transition="in" filter="dissolve">
                                      <p:cBhvr>
                                        <p:cTn id="27" dur="500"/>
                                        <p:tgtEl>
                                          <p:spTgt spid="145510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455109"/>
                                        </p:tgtEl>
                                        <p:attrNameLst>
                                          <p:attrName>style.visibility</p:attrName>
                                        </p:attrNameLst>
                                      </p:cBhvr>
                                      <p:to>
                                        <p:strVal val="visible"/>
                                      </p:to>
                                    </p:set>
                                    <p:animEffect transition="in" filter="dissolve">
                                      <p:cBhvr>
                                        <p:cTn id="32" dur="500"/>
                                        <p:tgtEl>
                                          <p:spTgt spid="145510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55110"/>
                                        </p:tgtEl>
                                        <p:attrNameLst>
                                          <p:attrName>style.visibility</p:attrName>
                                        </p:attrNameLst>
                                      </p:cBhvr>
                                      <p:to>
                                        <p:strVal val="visible"/>
                                      </p:to>
                                    </p:set>
                                    <p:anim calcmode="lin" valueType="num">
                                      <p:cBhvr additive="base">
                                        <p:cTn id="37" dur="500" fill="hold"/>
                                        <p:tgtEl>
                                          <p:spTgt spid="1455110"/>
                                        </p:tgtEl>
                                        <p:attrNameLst>
                                          <p:attrName>ppt_x</p:attrName>
                                        </p:attrNameLst>
                                      </p:cBhvr>
                                      <p:tavLst>
                                        <p:tav tm="0">
                                          <p:val>
                                            <p:strVal val="0-#ppt_w/2"/>
                                          </p:val>
                                        </p:tav>
                                        <p:tav tm="100000">
                                          <p:val>
                                            <p:strVal val="#ppt_x"/>
                                          </p:val>
                                        </p:tav>
                                      </p:tavLst>
                                    </p:anim>
                                    <p:anim calcmode="lin" valueType="num">
                                      <p:cBhvr additive="base">
                                        <p:cTn id="38" dur="500" fill="hold"/>
                                        <p:tgtEl>
                                          <p:spTgt spid="14551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55111"/>
                                        </p:tgtEl>
                                        <p:attrNameLst>
                                          <p:attrName>style.visibility</p:attrName>
                                        </p:attrNameLst>
                                      </p:cBhvr>
                                      <p:to>
                                        <p:strVal val="visible"/>
                                      </p:to>
                                    </p:set>
                                    <p:anim calcmode="lin" valueType="num">
                                      <p:cBhvr additive="base">
                                        <p:cTn id="43" dur="500" fill="hold"/>
                                        <p:tgtEl>
                                          <p:spTgt spid="1455111"/>
                                        </p:tgtEl>
                                        <p:attrNameLst>
                                          <p:attrName>ppt_x</p:attrName>
                                        </p:attrNameLst>
                                      </p:cBhvr>
                                      <p:tavLst>
                                        <p:tav tm="0">
                                          <p:val>
                                            <p:strVal val="#ppt_x"/>
                                          </p:val>
                                        </p:tav>
                                        <p:tav tm="100000">
                                          <p:val>
                                            <p:strVal val="#ppt_x"/>
                                          </p:val>
                                        </p:tav>
                                      </p:tavLst>
                                    </p:anim>
                                    <p:anim calcmode="lin" valueType="num">
                                      <p:cBhvr additive="base">
                                        <p:cTn id="44" dur="500" fill="hold"/>
                                        <p:tgtEl>
                                          <p:spTgt spid="1455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5106" grpId="0" build="p"/>
      <p:bldP spid="1455107" grpId="0" build="p"/>
      <p:bldP spid="1455110"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0">
          <a:gsLst>
            <a:gs pos="0">
              <a:srgbClr val="99FFCC"/>
            </a:gs>
            <a:gs pos="50000">
              <a:srgbClr val="FFFFFF"/>
            </a:gs>
            <a:gs pos="100000">
              <a:srgbClr val="99FFCC"/>
            </a:gs>
          </a:gsLst>
          <a:lin ang="5400000" scaled="1"/>
          <a:tileRect/>
        </a:gradFill>
        <a:effectLst/>
      </p:bgPr>
    </p:bg>
    <p:spTree>
      <p:nvGrpSpPr>
        <p:cNvPr id="1" name=""/>
        <p:cNvGrpSpPr/>
        <p:nvPr/>
      </p:nvGrpSpPr>
      <p:grpSpPr>
        <a:xfrm>
          <a:off x="0" y="0"/>
          <a:ext cx="0" cy="0"/>
          <a:chOff x="0" y="0"/>
          <a:chExt cx="0" cy="0"/>
        </a:xfrm>
      </p:grpSpPr>
      <p:sp>
        <p:nvSpPr>
          <p:cNvPr id="1467394" name="标题 1467393"/>
          <p:cNvSpPr txBox="1">
            <a:spLocks noGrp="1"/>
          </p:cNvSpPr>
          <p:nvPr>
            <p:ph type="title" idx="4294967295"/>
          </p:nvPr>
        </p:nvSpPr>
        <p:spPr>
          <a:xfrm>
            <a:off x="1250007" y="85511"/>
            <a:ext cx="6097885" cy="1310133"/>
          </a:xfrm>
        </p:spPr>
        <p:txBody>
          <a:bodyPr vert="horz" wrap="square" lIns="91440" tIns="45720" rIns="91440" bIns="45720" numCol="1" anchor="ctr" anchorCtr="0" compatLnSpc="1">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j-cs"/>
              </a:rPr>
              <a:t>3.4</a:t>
            </a:r>
            <a:r>
              <a:rPr kumimoji="0" lang="zh-CN" altLang="en-US" sz="3600" b="1" i="0" u="none" strike="noStrike" kern="1200" cap="none" spc="0" normalizeH="0" baseline="0" noProof="1">
                <a:ln>
                  <a:noFill/>
                </a:ln>
                <a:solidFill>
                  <a:srgbClr val="FF0000"/>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j-cs"/>
              </a:rPr>
              <a:t>　线性系统的稳定性分析</a:t>
            </a:r>
            <a:br>
              <a:rPr kumimoji="0" lang="zh-CN" altLang="en-US" sz="3600" b="1" i="0" u="none" strike="noStrike" kern="1200" cap="none" spc="0" normalizeH="0" baseline="0" noProof="0" dirty="0">
                <a:ln>
                  <a:noFill/>
                </a:ln>
                <a:solidFill>
                  <a:schemeClr val="tx1"/>
                </a:solidFill>
                <a:effectLst>
                  <a:outerShdw blurRad="38100" dist="38100" dir="2700000">
                    <a:srgbClr val="C0C0C0"/>
                  </a:outerShdw>
                </a:effectLst>
                <a:uLnTx/>
                <a:uFillTx/>
                <a:latin typeface="华文新魏" panose="02010800040101010101" pitchFamily="2" charset="-122"/>
                <a:ea typeface="华文新魏" panose="02010800040101010101" pitchFamily="2" charset="-122"/>
                <a:cs typeface="+mj-cs"/>
              </a:rPr>
            </a:br>
            <a:r>
              <a:rPr kumimoji="0" lang="zh-CN" altLang="en-US" sz="3200" b="1" i="0" u="none" strike="noStrike" kern="1200" cap="none" spc="0" normalizeH="0" baseline="0" noProof="1">
                <a:ln>
                  <a:noFill/>
                </a:ln>
                <a:solidFill>
                  <a:schemeClr val="tx1"/>
                </a:solidFill>
                <a:effectLst/>
                <a:uLnTx/>
                <a:uFillTx/>
                <a:latin typeface="+mj-lt"/>
                <a:ea typeface="+mj-ea"/>
                <a:cs typeface="+mj-cs"/>
              </a:rPr>
              <a:t>    </a:t>
            </a:r>
            <a:r>
              <a:rPr kumimoji="0" lang="zh-CN" altLang="en-US" sz="2400" b="1" i="0" u="sng" strike="noStrike" kern="1200" cap="none" spc="0" normalizeH="0" baseline="0" noProof="1">
                <a:ln>
                  <a:noFill/>
                </a:ln>
                <a:solidFill>
                  <a:srgbClr val="FF0000"/>
                </a:solidFill>
                <a:effectLst>
                  <a:outerShdw blurRad="38100" dist="38100" dir="2700000">
                    <a:srgbClr val="C0C0C0"/>
                  </a:outerShdw>
                </a:effectLst>
                <a:uLnTx/>
                <a:uFillTx/>
                <a:latin typeface="+mj-lt"/>
                <a:ea typeface="+mj-ea"/>
                <a:cs typeface="+mj-cs"/>
              </a:rPr>
              <a:t>稳定性</a:t>
            </a:r>
            <a:r>
              <a:rPr kumimoji="0" lang="zh-CN" altLang="en-US" sz="2400" b="1" i="0" u="sng" strike="noStrike" kern="1200" cap="none" spc="0" normalizeH="0" baseline="0" noProof="1">
                <a:ln>
                  <a:noFill/>
                </a:ln>
                <a:solidFill>
                  <a:srgbClr val="000099"/>
                </a:solidFill>
                <a:effectLst/>
                <a:uLnTx/>
                <a:uFillTx/>
                <a:latin typeface="+mj-lt"/>
                <a:ea typeface="+mj-ea"/>
                <a:cs typeface="+mj-cs"/>
              </a:rPr>
              <a:t>是对系统的基本要求，探讨系统的稳定条件，提出保证系统稳定的措施。</a:t>
            </a:r>
            <a:endParaRPr kumimoji="0" lang="zh-CN" altLang="en-US" sz="3200" b="1" i="0" u="sng" strike="noStrike" kern="1200" cap="none" spc="0" normalizeH="0" baseline="0" noProof="1">
              <a:ln>
                <a:noFill/>
              </a:ln>
              <a:solidFill>
                <a:srgbClr val="000099"/>
              </a:solidFill>
              <a:effectLst/>
              <a:uLnTx/>
              <a:uFillTx/>
              <a:latin typeface="+mj-lt"/>
              <a:ea typeface="+mj-ea"/>
              <a:cs typeface="+mj-cs"/>
            </a:endParaRPr>
          </a:p>
        </p:txBody>
      </p:sp>
      <p:sp>
        <p:nvSpPr>
          <p:cNvPr id="1467395" name="文本框 1467394"/>
          <p:cNvSpPr txBox="1"/>
          <p:nvPr/>
        </p:nvSpPr>
        <p:spPr>
          <a:xfrm>
            <a:off x="107950" y="1628775"/>
            <a:ext cx="4191000" cy="519113"/>
          </a:xfrm>
          <a:prstGeom prst="rect">
            <a:avLst/>
          </a:prstGeom>
          <a:noFill/>
          <a:ln w="9525">
            <a:noFill/>
          </a:ln>
        </p:spPr>
        <p:txBody>
          <a:bodyPr wrap="none">
            <a:spAutoFit/>
          </a:bodyPr>
          <a:lstStyle/>
          <a:p>
            <a:pPr marR="0" defTabSz="914400">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3.4.1</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稳定的概念和定义</a:t>
            </a:r>
          </a:p>
        </p:txBody>
      </p:sp>
      <p:sp>
        <p:nvSpPr>
          <p:cNvPr id="1467396" name="文本框 1467395"/>
          <p:cNvSpPr txBox="1"/>
          <p:nvPr/>
        </p:nvSpPr>
        <p:spPr>
          <a:xfrm>
            <a:off x="107950" y="2205038"/>
            <a:ext cx="8915400" cy="4364038"/>
          </a:xfrm>
          <a:prstGeom prst="rect">
            <a:avLst/>
          </a:prstGeom>
          <a:noFill/>
          <a:ln w="9525">
            <a:noFill/>
          </a:ln>
        </p:spPr>
        <p:txBody>
          <a:bodyPr>
            <a:spAutoFit/>
          </a:bodyPr>
          <a:lstStyle/>
          <a:p>
            <a:pPr marR="0" defTabSz="914400">
              <a:lnSpc>
                <a:spcPct val="130000"/>
              </a:lnSpc>
              <a:spcBef>
                <a:spcPct val="0"/>
              </a:spcBef>
              <a:buClrTx/>
              <a:buSzTx/>
              <a:buFontTx/>
              <a:buNone/>
              <a:defRPr/>
            </a:pPr>
            <a:r>
              <a:rPr kumimoji="0" lang="zh-CN" altLang="en-US" sz="20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rgbClr val="000099"/>
                </a:solidFill>
                <a:latin typeface="Arial" panose="020B0604020202020204" pitchFamily="34" charset="0"/>
                <a:ea typeface="宋体" panose="02010600030101010101" pitchFamily="2" charset="-122"/>
                <a:cs typeface="+mn-cs"/>
              </a:rPr>
              <a:t>如果系统受到有界扰动，不论扰动引起的初始偏差有</a:t>
            </a:r>
            <a:r>
              <a:rPr kumimoji="0" lang="zh-CN" altLang="en-US" sz="2400" kern="1200" cap="none" spc="0" normalizeH="0" baseline="0" noProof="1">
                <a:solidFill>
                  <a:srgbClr val="FF0000"/>
                </a:solidFill>
                <a:latin typeface="Arial" panose="020B0604020202020204" pitchFamily="34" charset="0"/>
                <a:ea typeface="宋体" panose="02010600030101010101" pitchFamily="2" charset="-122"/>
                <a:cs typeface="+mn-cs"/>
              </a:rPr>
              <a:t>多大</a:t>
            </a:r>
            <a:r>
              <a:rPr kumimoji="0" lang="zh-CN" altLang="en-US" sz="2400" kern="1200" cap="none" spc="0" normalizeH="0" baseline="0" noProof="1">
                <a:solidFill>
                  <a:srgbClr val="000099"/>
                </a:solidFill>
                <a:latin typeface="Arial" panose="020B0604020202020204" pitchFamily="34" charset="0"/>
                <a:ea typeface="宋体" panose="02010600030101010101" pitchFamily="2" charset="-122"/>
                <a:cs typeface="+mn-cs"/>
              </a:rPr>
              <a:t>，当扰动取消后，系统都能以足够的准确度恢复到初始平衡状态，则这种系统称为</a:t>
            </a:r>
            <a:r>
              <a:rPr kumimoji="0" lang="zh-CN" altLang="en-US" sz="2400" u="sng"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大范围稳定的系统</a:t>
            </a:r>
            <a:r>
              <a:rPr kumimoji="0" lang="zh-CN" altLang="en-US" sz="24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如果系统受到有界扰动，只有当扰动引起的初始偏差小于某一范围时，系统才能在取消扰动后恢复到初始平衡状态，否则就不能恢复到初始平衡状态，则称为</a:t>
            </a:r>
            <a:r>
              <a:rPr kumimoji="0" lang="zh-CN" altLang="en-US" sz="2400" u="sng"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小范围稳定的系统</a:t>
            </a:r>
            <a:r>
              <a:rPr kumimoji="0" lang="zh-CN" altLang="en-US" sz="2400" kern="1200" cap="none" spc="0" normalizeH="0" baseline="0" noProof="1">
                <a:solidFill>
                  <a:srgbClr val="993300"/>
                </a:solidFill>
                <a:latin typeface="Arial" panose="020B0604020202020204" pitchFamily="34" charset="0"/>
                <a:ea typeface="宋体" panose="02010600030101010101" pitchFamily="2" charset="-122"/>
                <a:cs typeface="+mn-cs"/>
              </a:rPr>
              <a:t>。</a:t>
            </a:r>
          </a:p>
          <a:p>
            <a:pPr marR="0" defTabSz="914400">
              <a:lnSpc>
                <a:spcPct val="130000"/>
              </a:lnSpc>
              <a:spcBef>
                <a:spcPct val="0"/>
              </a:spcBef>
              <a:buClrTx/>
              <a:buSzTx/>
              <a:buFontTx/>
              <a:buNone/>
              <a:defRPr/>
            </a:pP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　　对于稳定的线性系统，它必然在大范围内和小范围内都能稳定，只有非线性系统才可能有小范围稳定而大范围不稳定的情况。</a:t>
            </a:r>
            <a:r>
              <a:rPr kumimoji="0" lang="zh-CN" altLang="en-US" sz="2000" kern="1200" cap="none" spc="0" normalizeH="0" baseline="0" noProof="1">
                <a:solidFill>
                  <a:schemeClr val="tx1"/>
                </a:solidFill>
                <a:latin typeface="Arial" panose="020B0604020202020204" pitchFamily="34" charset="0"/>
                <a:ea typeface="宋体" panose="02010600030101010101" pitchFamily="2" charset="-122"/>
                <a:cs typeface="+mn-cs"/>
              </a:rPr>
              <a:t>　</a:t>
            </a:r>
            <a:endPar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endParaRPr>
          </a:p>
        </p:txBody>
      </p:sp>
      <p:sp>
        <p:nvSpPr>
          <p:cNvPr id="5" name="Freeform 56">
            <a:extLst>
              <a:ext uri="{FF2B5EF4-FFF2-40B4-BE49-F238E27FC236}">
                <a16:creationId xmlns:a16="http://schemas.microsoft.com/office/drawing/2014/main" id="{57D59D00-A674-423D-AB6E-847EDADB8F8B}"/>
              </a:ext>
            </a:extLst>
          </p:cNvPr>
          <p:cNvSpPr>
            <a:spLocks/>
          </p:cNvSpPr>
          <p:nvPr/>
        </p:nvSpPr>
        <p:spPr bwMode="auto">
          <a:xfrm>
            <a:off x="1115617" y="548680"/>
            <a:ext cx="6048672" cy="1022945"/>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7395"/>
                                        </p:tgtEl>
                                        <p:attrNameLst>
                                          <p:attrName>style.visibility</p:attrName>
                                        </p:attrNameLst>
                                      </p:cBhvr>
                                      <p:to>
                                        <p:strVal val="visible"/>
                                      </p:to>
                                    </p:set>
                                    <p:anim calcmode="lin" valueType="num">
                                      <p:cBhvr additive="base">
                                        <p:cTn id="7" dur="500" fill="hold"/>
                                        <p:tgtEl>
                                          <p:spTgt spid="1467395"/>
                                        </p:tgtEl>
                                        <p:attrNameLst>
                                          <p:attrName>ppt_x</p:attrName>
                                        </p:attrNameLst>
                                      </p:cBhvr>
                                      <p:tavLst>
                                        <p:tav tm="0">
                                          <p:val>
                                            <p:strVal val="0-#ppt_w/2"/>
                                          </p:val>
                                        </p:tav>
                                        <p:tav tm="100000">
                                          <p:val>
                                            <p:strVal val="#ppt_x"/>
                                          </p:val>
                                        </p:tav>
                                      </p:tavLst>
                                    </p:anim>
                                    <p:anim calcmode="lin" valueType="num">
                                      <p:cBhvr additive="base">
                                        <p:cTn id="8" dur="500" fill="hold"/>
                                        <p:tgtEl>
                                          <p:spTgt spid="14673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iterate type="lt">
                                    <p:tmPct val="100000"/>
                                  </p:iterate>
                                  <p:childTnLst>
                                    <p:set>
                                      <p:cBhvr>
                                        <p:cTn id="12" dur="1" fill="hold">
                                          <p:stCondLst>
                                            <p:cond delay="0"/>
                                          </p:stCondLst>
                                        </p:cTn>
                                        <p:tgtEl>
                                          <p:spTgt spid="1467396">
                                            <p:txEl>
                                              <p:pRg st="0" end="0"/>
                                            </p:txEl>
                                          </p:spTgt>
                                        </p:tgtEl>
                                        <p:attrNameLst>
                                          <p:attrName>style.visibility</p:attrName>
                                        </p:attrNameLst>
                                      </p:cBhvr>
                                      <p:to>
                                        <p:strVal val="visible"/>
                                      </p:to>
                                    </p:set>
                                    <p:animEffect transition="in" filter="dissolve">
                                      <p:cBhvr>
                                        <p:cTn id="13" dur="75"/>
                                        <p:tgtEl>
                                          <p:spTgt spid="146739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iterate type="lt">
                                    <p:tmPct val="100000"/>
                                  </p:iterate>
                                  <p:childTnLst>
                                    <p:set>
                                      <p:cBhvr>
                                        <p:cTn id="17" dur="1" fill="hold">
                                          <p:stCondLst>
                                            <p:cond delay="0"/>
                                          </p:stCondLst>
                                        </p:cTn>
                                        <p:tgtEl>
                                          <p:spTgt spid="1467396">
                                            <p:txEl>
                                              <p:pRg st="1" end="1"/>
                                            </p:txEl>
                                          </p:spTgt>
                                        </p:tgtEl>
                                        <p:attrNameLst>
                                          <p:attrName>style.visibility</p:attrName>
                                        </p:attrNameLst>
                                      </p:cBhvr>
                                      <p:to>
                                        <p:strVal val="visible"/>
                                      </p:to>
                                    </p:set>
                                    <p:animEffect transition="in" filter="dissolve">
                                      <p:cBhvr>
                                        <p:cTn id="18" dur="75"/>
                                        <p:tgtEl>
                                          <p:spTgt spid="146739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7395" grpId="0"/>
      <p:bldP spid="146739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571750" y="804863"/>
            <a:ext cx="6572250" cy="1049337"/>
          </a:xfrm>
        </p:spPr>
        <p:txBody>
          <a:bodyPr/>
          <a:lstStyle/>
          <a:p>
            <a:r>
              <a:rPr lang="en-US" altLang="zh-CN"/>
              <a:t> </a:t>
            </a:r>
          </a:p>
        </p:txBody>
      </p:sp>
      <p:sp>
        <p:nvSpPr>
          <p:cNvPr id="3" name="内容占位符 2"/>
          <p:cNvSpPr>
            <a:spLocks noGrp="1"/>
          </p:cNvSpPr>
          <p:nvPr>
            <p:ph idx="4294967295"/>
          </p:nvPr>
        </p:nvSpPr>
        <p:spPr>
          <a:xfrm>
            <a:off x="2571750" y="2016125"/>
            <a:ext cx="6572250" cy="3449638"/>
          </a:xfrm>
        </p:spPr>
        <p:txBody>
          <a:bodyPr/>
          <a:lstStyle/>
          <a:p>
            <a:pPr marL="0" indent="0">
              <a:buNone/>
            </a:pPr>
            <a:r>
              <a:rPr lang="en-US" altLang="zh-CN"/>
              <a:t> </a:t>
            </a:r>
          </a:p>
        </p:txBody>
      </p:sp>
      <p:pic>
        <p:nvPicPr>
          <p:cNvPr id="4" name="图片 3" descr="QQ截图20211114130522"/>
          <p:cNvPicPr>
            <a:picLocks noChangeAspect="1"/>
          </p:cNvPicPr>
          <p:nvPr/>
        </p:nvPicPr>
        <p:blipFill>
          <a:blip r:embed="rId2"/>
          <a:stretch>
            <a:fillRect/>
          </a:stretch>
        </p:blipFill>
        <p:spPr>
          <a:xfrm>
            <a:off x="280987" y="1185862"/>
            <a:ext cx="8582025" cy="4486275"/>
          </a:xfrm>
          <a:prstGeom prst="rect">
            <a:avLst/>
          </a:prstGeom>
        </p:spPr>
      </p:pic>
    </p:spTree>
  </p:cSld>
  <p:clrMapOvr>
    <a:masterClrMapping/>
  </p:clrMapOvr>
  <p:transition spd="slow">
    <p:pull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444" name="文本框 1469443"/>
          <p:cNvSpPr txBox="1"/>
          <p:nvPr/>
        </p:nvSpPr>
        <p:spPr>
          <a:xfrm>
            <a:off x="66675" y="1124744"/>
            <a:ext cx="9010650" cy="1475532"/>
          </a:xfrm>
          <a:prstGeom prst="rect">
            <a:avLst/>
          </a:prstGeom>
          <a:noFill/>
          <a:ln w="9525">
            <a:noFill/>
          </a:ln>
        </p:spPr>
        <p:txBody>
          <a:bodyPr>
            <a:spAutoFit/>
          </a:bodyPr>
          <a:lstStyle/>
          <a:p>
            <a:pPr marR="0" defTabSz="914400">
              <a:lnSpc>
                <a:spcPct val="110000"/>
              </a:lnSpc>
              <a:spcBef>
                <a:spcPct val="0"/>
              </a:spcBef>
              <a:buClrTx/>
              <a:buSzTx/>
              <a:buFontTx/>
              <a:buNone/>
              <a:defRPr/>
            </a:pPr>
            <a:r>
              <a:rPr kumimoji="0" lang="zh-CN" altLang="en-US" sz="20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000" b="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rgbClr val="C00000"/>
                </a:solidFill>
                <a:effectLst>
                  <a:outerShdw blurRad="38100" dist="38100" dir="2700000">
                    <a:srgbClr val="C0C0C0"/>
                  </a:outerShdw>
                </a:effectLst>
                <a:latin typeface="Arial" panose="020B0604020202020204" pitchFamily="34" charset="0"/>
                <a:ea typeface="宋体" panose="02010600030101010101" pitchFamily="2" charset="-122"/>
                <a:cs typeface="+mn-cs"/>
              </a:rPr>
              <a:t>线性系统稳定的充要条件</a:t>
            </a:r>
            <a:r>
              <a:rPr lang="zh-CN" altLang="en-US" sz="2800" noProof="1">
                <a:solidFill>
                  <a:srgbClr val="C00000"/>
                </a:solidFill>
                <a:effectLst>
                  <a:outerShdw blurRad="38100" dist="38100" dir="2700000">
                    <a:srgbClr val="C0C0C0"/>
                  </a:outerShdw>
                </a:effectLst>
              </a:rPr>
              <a:t>：</a:t>
            </a:r>
            <a:r>
              <a:rPr kumimoji="0" lang="zh-CN" altLang="en-US" sz="2800" u="sng"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闭环系统特征方程的所有根都具有负实部，或者说，闭环传递函数的极点均位于</a:t>
            </a:r>
            <a:r>
              <a:rPr kumimoji="0" lang="en-US" altLang="zh-CN" sz="2800" i="1" u="sng"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s</a:t>
            </a:r>
            <a:r>
              <a:rPr kumimoji="0" lang="zh-CN" altLang="en-US" sz="2800" u="sng"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左半平面（不包括虚轴）。</a:t>
            </a:r>
          </a:p>
        </p:txBody>
      </p:sp>
      <p:sp>
        <p:nvSpPr>
          <p:cNvPr id="4" name="Freeform 56">
            <a:extLst>
              <a:ext uri="{FF2B5EF4-FFF2-40B4-BE49-F238E27FC236}">
                <a16:creationId xmlns:a16="http://schemas.microsoft.com/office/drawing/2014/main" id="{A69DFD55-2DC5-46EF-96B2-FA7F0FBDCAAD}"/>
              </a:ext>
            </a:extLst>
          </p:cNvPr>
          <p:cNvSpPr>
            <a:spLocks/>
          </p:cNvSpPr>
          <p:nvPr/>
        </p:nvSpPr>
        <p:spPr bwMode="auto">
          <a:xfrm>
            <a:off x="-108520" y="1124744"/>
            <a:ext cx="9183872" cy="1519815"/>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6" name="文本框 5">
            <a:extLst>
              <a:ext uri="{FF2B5EF4-FFF2-40B4-BE49-F238E27FC236}">
                <a16:creationId xmlns:a16="http://schemas.microsoft.com/office/drawing/2014/main" id="{7A727EA7-A6C6-4BBE-B296-AA694B3329C1}"/>
              </a:ext>
            </a:extLst>
          </p:cNvPr>
          <p:cNvSpPr txBox="1"/>
          <p:nvPr/>
        </p:nvSpPr>
        <p:spPr>
          <a:xfrm>
            <a:off x="0" y="2780928"/>
            <a:ext cx="9075352" cy="3046988"/>
          </a:xfrm>
          <a:prstGeom prst="rect">
            <a:avLst/>
          </a:prstGeom>
          <a:noFill/>
        </p:spPr>
        <p:txBody>
          <a:bodyPr wrap="square">
            <a:spAutoFit/>
          </a:bodyPr>
          <a:lstStyle/>
          <a:p>
            <a:r>
              <a:rPr kumimoji="0" lang="zh-CN" altLang="en-US" sz="32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3200" kern="1200" cap="none" spc="0" normalizeH="0" baseline="0" noProof="1">
                <a:solidFill>
                  <a:schemeClr val="tx1"/>
                </a:solidFill>
                <a:latin typeface="楷体_GB2312" pitchFamily="49" charset="-122"/>
                <a:ea typeface="楷体_GB2312" pitchFamily="49" charset="-122"/>
                <a:cs typeface="+mn-cs"/>
              </a:rPr>
              <a:t>根据稳定的充要条件决定系统的稳定性，必须知道系统特征根的全部符号。如果能解出全部根，则立即可判断系统的稳定性。然而对于高阶系统，求根的工作量很大，常常希望使用一种直接判断根是否全在</a:t>
            </a:r>
            <a:r>
              <a:rPr kumimoji="0" lang="en-US" altLang="zh-CN" sz="3200" i="1" kern="1200" cap="none" spc="0" normalizeH="0" baseline="0" noProof="1">
                <a:solidFill>
                  <a:schemeClr val="tx1"/>
                </a:solidFill>
                <a:latin typeface="楷体_GB2312" pitchFamily="49" charset="-122"/>
                <a:ea typeface="楷体_GB2312" pitchFamily="49" charset="-122"/>
                <a:cs typeface="+mn-cs"/>
              </a:rPr>
              <a:t>s</a:t>
            </a:r>
            <a:r>
              <a:rPr kumimoji="0" lang="zh-CN" altLang="en-US" sz="3200" kern="1200" cap="none" spc="0" normalizeH="0" baseline="0" noProof="1">
                <a:solidFill>
                  <a:schemeClr val="tx1"/>
                </a:solidFill>
                <a:latin typeface="楷体_GB2312" pitchFamily="49" charset="-122"/>
                <a:ea typeface="楷体_GB2312" pitchFamily="49" charset="-122"/>
                <a:cs typeface="+mn-cs"/>
              </a:rPr>
              <a:t>左半平面的代替方法，下面就介绍</a:t>
            </a:r>
            <a:r>
              <a:rPr kumimoji="0" lang="zh-CN" altLang="en-US" sz="3200" kern="1200" cap="none" spc="0" normalizeH="0" baseline="0" noProof="1">
                <a:solidFill>
                  <a:srgbClr val="FF0000"/>
                </a:solidFill>
                <a:effectLst>
                  <a:outerShdw blurRad="38100" dist="38100" dir="2700000">
                    <a:srgbClr val="C0C0C0"/>
                  </a:outerShdw>
                </a:effectLst>
                <a:latin typeface="楷体_GB2312" pitchFamily="49" charset="-122"/>
                <a:ea typeface="楷体_GB2312" pitchFamily="49" charset="-122"/>
                <a:cs typeface="+mn-cs"/>
              </a:rPr>
              <a:t>劳斯代数稳定判据</a:t>
            </a:r>
            <a:r>
              <a:rPr kumimoji="0" lang="zh-CN" altLang="en-US" sz="3200" kern="1200" cap="none" spc="0" normalizeH="0" baseline="0" noProof="1">
                <a:solidFill>
                  <a:schemeClr val="tx1"/>
                </a:solidFill>
                <a:latin typeface="楷体_GB2312" pitchFamily="49" charset="-122"/>
                <a:ea typeface="楷体_GB2312" pitchFamily="49" charset="-122"/>
                <a:cs typeface="+mn-cs"/>
              </a:rPr>
              <a:t>。</a:t>
            </a:r>
            <a:endParaRPr lang="zh-CN" altLang="en-US" sz="3200" dirty="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1469444">
                                            <p:txEl>
                                              <p:pRg st="0" end="0"/>
                                            </p:txEl>
                                          </p:spTgt>
                                        </p:tgtEl>
                                        <p:attrNameLst>
                                          <p:attrName>style.visibility</p:attrName>
                                        </p:attrNameLst>
                                      </p:cBhvr>
                                      <p:to>
                                        <p:strVal val="visible"/>
                                      </p:to>
                                    </p:set>
                                    <p:animEffect transition="in" filter="blinds(horizontal)">
                                      <p:cBhvr>
                                        <p:cTn id="7" dur="75"/>
                                        <p:tgtEl>
                                          <p:spTgt spid="1469444">
                                            <p:txEl>
                                              <p:pRg st="0" end="0"/>
                                            </p:txEl>
                                          </p:spTgt>
                                        </p:tgtEl>
                                      </p:cBhvr>
                                    </p:animEffect>
                                  </p:childTnLst>
                                  <p:subTnLst>
                                    <p:animClr clrSpc="rgb" dir="cw">
                                      <p:cBhvr override="childStyle">
                                        <p:cTn dur="1" fill="hold" display="0" masterRel="nextClick" afterEffect="1"/>
                                        <p:tgtEl>
                                          <p:spTgt spid="1469444">
                                            <p:txEl>
                                              <p:pRg st="0" end="0"/>
                                            </p:txEl>
                                          </p:spTgt>
                                        </p:tgtEl>
                                        <p:attrNameLst>
                                          <p:attrName>ppt_c</p:attrName>
                                        </p:attrNameLst>
                                      </p:cBhvr>
                                      <p:to>
                                        <a:srgbClr val="993300"/>
                                      </p:to>
                                    </p:animClr>
                                  </p:sub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9444" grpId="0" build="p"/>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0466" name="文本框 1470465"/>
          <p:cNvSpPr txBox="1"/>
          <p:nvPr/>
        </p:nvSpPr>
        <p:spPr>
          <a:xfrm>
            <a:off x="755576" y="235019"/>
            <a:ext cx="8496944" cy="1008546"/>
          </a:xfrm>
          <a:prstGeom prst="rect">
            <a:avLst/>
          </a:prstGeom>
          <a:noFill/>
          <a:ln w="9525">
            <a:noFill/>
          </a:ln>
        </p:spPr>
        <p:txBody>
          <a:bodyPr wrap="square">
            <a:spAutoFit/>
          </a:bodyPr>
          <a:lstStyle/>
          <a:p>
            <a:pPr marR="0" defTabSz="914400">
              <a:lnSpc>
                <a:spcPct val="120000"/>
              </a:lnSpc>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r>
              <a:rPr kumimoji="0" lang="en-US" altLang="zh-CN" sz="280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3.4.2</a:t>
            </a:r>
            <a:r>
              <a:rPr kumimoji="0" lang="zh-CN" altLang="en-US" sz="280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　线性系统的代数稳定判据</a:t>
            </a:r>
            <a:endParaRPr kumimoji="0" lang="en-US" altLang="zh-CN" sz="280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endParaRPr>
          </a:p>
          <a:p>
            <a:pPr marR="0" defTabSz="914400">
              <a:lnSpc>
                <a:spcPct val="120000"/>
              </a:lnSpc>
              <a:spcBef>
                <a:spcPct val="0"/>
              </a:spcBef>
              <a:buClrTx/>
              <a:buSzTx/>
              <a:buFontTx/>
              <a:buNone/>
              <a:defRPr/>
            </a:pP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首先给出</a:t>
            </a:r>
            <a:r>
              <a:rPr kumimoji="0" lang="zh-CN" altLang="en-US" sz="2400" kern="1200" cap="none" spc="0" normalizeH="0" baseline="0" noProof="1">
                <a:solidFill>
                  <a:srgbClr val="C00000"/>
                </a:solidFill>
                <a:latin typeface="Arial" panose="020B0604020202020204" pitchFamily="34" charset="0"/>
                <a:ea typeface="宋体" panose="02010600030101010101" pitchFamily="2" charset="-122"/>
                <a:cs typeface="+mn-cs"/>
              </a:rPr>
              <a:t>系统稳定的必要条件</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：设线性系统的闭环特征方程为</a:t>
            </a:r>
          </a:p>
        </p:txBody>
      </p:sp>
      <p:graphicFrame>
        <p:nvGraphicFramePr>
          <p:cNvPr id="1470467" name="对象 1470466"/>
          <p:cNvGraphicFramePr/>
          <p:nvPr>
            <p:extLst>
              <p:ext uri="{D42A27DB-BD31-4B8C-83A1-F6EECF244321}">
                <p14:modId xmlns:p14="http://schemas.microsoft.com/office/powerpoint/2010/main" val="1926665396"/>
              </p:ext>
            </p:extLst>
          </p:nvPr>
        </p:nvGraphicFramePr>
        <p:xfrm>
          <a:off x="450850" y="1900114"/>
          <a:ext cx="8151813" cy="973137"/>
        </p:xfrm>
        <a:graphic>
          <a:graphicData uri="http://schemas.openxmlformats.org/presentationml/2006/ole">
            <mc:AlternateContent xmlns:mc="http://schemas.openxmlformats.org/markup-compatibility/2006">
              <mc:Choice xmlns:v="urn:schemas-microsoft-com:vml" Requires="v">
                <p:oleObj spid="_x0000_s37903" r:id="rId3" imgW="3822700" imgH="431800" progId="Equation.3">
                  <p:embed/>
                </p:oleObj>
              </mc:Choice>
              <mc:Fallback>
                <p:oleObj r:id="rId3" imgW="3822700" imgH="431800" progId="Equation.3">
                  <p:embed/>
                  <p:pic>
                    <p:nvPicPr>
                      <p:cNvPr id="0" name="图片 3168"/>
                      <p:cNvPicPr/>
                      <p:nvPr/>
                    </p:nvPicPr>
                    <p:blipFill>
                      <a:blip r:embed="rId4"/>
                      <a:stretch>
                        <a:fillRect/>
                      </a:stretch>
                    </p:blipFill>
                    <p:spPr>
                      <a:xfrm>
                        <a:off x="450850" y="1900114"/>
                        <a:ext cx="8151813" cy="973137"/>
                      </a:xfrm>
                      <a:prstGeom prst="rect">
                        <a:avLst/>
                      </a:prstGeom>
                      <a:noFill/>
                      <a:ln w="38100">
                        <a:noFill/>
                        <a:miter/>
                      </a:ln>
                    </p:spPr>
                  </p:pic>
                </p:oleObj>
              </mc:Fallback>
            </mc:AlternateContent>
          </a:graphicData>
        </a:graphic>
      </p:graphicFrame>
      <p:graphicFrame>
        <p:nvGraphicFramePr>
          <p:cNvPr id="1470468" name="对象 1470467"/>
          <p:cNvGraphicFramePr/>
          <p:nvPr>
            <p:extLst>
              <p:ext uri="{D42A27DB-BD31-4B8C-83A1-F6EECF244321}">
                <p14:modId xmlns:p14="http://schemas.microsoft.com/office/powerpoint/2010/main" val="75699597"/>
              </p:ext>
            </p:extLst>
          </p:nvPr>
        </p:nvGraphicFramePr>
        <p:xfrm>
          <a:off x="3740150" y="2763714"/>
          <a:ext cx="1022350" cy="449262"/>
        </p:xfrm>
        <a:graphic>
          <a:graphicData uri="http://schemas.openxmlformats.org/presentationml/2006/ole">
            <mc:AlternateContent xmlns:mc="http://schemas.openxmlformats.org/markup-compatibility/2006">
              <mc:Choice xmlns:v="urn:schemas-microsoft-com:vml" Requires="v">
                <p:oleObj spid="_x0000_s37904" r:id="rId5" imgW="520700" imgH="228600" progId="Equation.3">
                  <p:embed/>
                </p:oleObj>
              </mc:Choice>
              <mc:Fallback>
                <p:oleObj r:id="rId5" imgW="520700" imgH="228600" progId="Equation.3">
                  <p:embed/>
                  <p:pic>
                    <p:nvPicPr>
                      <p:cNvPr id="0" name="图片 3166"/>
                      <p:cNvPicPr/>
                      <p:nvPr/>
                    </p:nvPicPr>
                    <p:blipFill>
                      <a:blip r:embed="rId6"/>
                      <a:stretch>
                        <a:fillRect/>
                      </a:stretch>
                    </p:blipFill>
                    <p:spPr>
                      <a:xfrm>
                        <a:off x="3740150" y="2763714"/>
                        <a:ext cx="1022350" cy="449262"/>
                      </a:xfrm>
                      <a:prstGeom prst="rect">
                        <a:avLst/>
                      </a:prstGeom>
                      <a:noFill/>
                      <a:ln w="38100">
                        <a:noFill/>
                        <a:miter/>
                      </a:ln>
                    </p:spPr>
                  </p:pic>
                </p:oleObj>
              </mc:Fallback>
            </mc:AlternateContent>
          </a:graphicData>
        </a:graphic>
      </p:graphicFrame>
      <p:grpSp>
        <p:nvGrpSpPr>
          <p:cNvPr id="2" name="组合 1">
            <a:extLst>
              <a:ext uri="{FF2B5EF4-FFF2-40B4-BE49-F238E27FC236}">
                <a16:creationId xmlns:a16="http://schemas.microsoft.com/office/drawing/2014/main" id="{2214BBC0-BD5E-4E9E-A465-737E0D9D7172}"/>
              </a:ext>
            </a:extLst>
          </p:cNvPr>
          <p:cNvGrpSpPr/>
          <p:nvPr/>
        </p:nvGrpSpPr>
        <p:grpSpPr>
          <a:xfrm>
            <a:off x="107504" y="2492896"/>
            <a:ext cx="8808343" cy="3620158"/>
            <a:chOff x="84137" y="2492896"/>
            <a:chExt cx="8808343" cy="3620158"/>
          </a:xfrm>
        </p:grpSpPr>
        <p:sp>
          <p:nvSpPr>
            <p:cNvPr id="1471490" name="文本框 1471489"/>
            <p:cNvSpPr txBox="1"/>
            <p:nvPr/>
          </p:nvSpPr>
          <p:spPr>
            <a:xfrm>
              <a:off x="84137" y="2492896"/>
              <a:ext cx="8808343" cy="3620158"/>
            </a:xfrm>
            <a:prstGeom prst="rect">
              <a:avLst/>
            </a:prstGeom>
            <a:noFill/>
            <a:ln w="9525">
              <a:noFill/>
            </a:ln>
          </p:spPr>
          <p:txBody>
            <a:bodyPr wrap="square">
              <a:spAutoFit/>
            </a:bodyPr>
            <a:lstStyle/>
            <a:p>
              <a:pPr marR="0" defTabSz="914400">
                <a:lnSpc>
                  <a:spcPct val="120000"/>
                </a:lnSpc>
                <a:spcBef>
                  <a:spcPct val="0"/>
                </a:spcBef>
                <a:buClrTx/>
                <a:buSzTx/>
                <a:buFontTx/>
                <a:buNone/>
                <a:defRPr/>
              </a:pPr>
              <a:endParaRPr kumimoji="0" lang="zh-CN" altLang="en-US" sz="2400" kern="1200" cap="none" spc="0" normalizeH="0" baseline="0" noProof="1">
                <a:solidFill>
                  <a:schemeClr val="tx1"/>
                </a:solidFill>
                <a:latin typeface="Arial" panose="020B0604020202020204" pitchFamily="34" charset="0"/>
                <a:ea typeface="楷体_GB2312" pitchFamily="49" charset="-122"/>
                <a:cs typeface="+mn-cs"/>
              </a:endParaRPr>
            </a:p>
            <a:p>
              <a:pPr marR="0" defTabSz="914400">
                <a:lnSpc>
                  <a:spcPct val="120000"/>
                </a:lnSpc>
                <a:buClrTx/>
                <a:buSzTx/>
                <a:buFontTx/>
                <a:buNone/>
                <a:defRPr/>
              </a:pPr>
              <a:r>
                <a:rPr kumimoji="0" lang="zh-CN" altLang="en-US" sz="3200" kern="1200" cap="none" spc="0" normalizeH="0" baseline="0" noProof="1">
                  <a:solidFill>
                    <a:srgbClr val="FF0000"/>
                  </a:solidFill>
                  <a:latin typeface="华文新魏" panose="02010800040101010101" pitchFamily="2" charset="-122"/>
                  <a:ea typeface="华文新魏" panose="02010800040101010101" pitchFamily="2" charset="-122"/>
                  <a:cs typeface="+mn-cs"/>
                </a:rPr>
                <a:t>    </a:t>
              </a:r>
              <a:r>
                <a:rPr kumimoji="0" lang="en-US" altLang="zh-CN" sz="3200" kern="1200" cap="none" spc="0" normalizeH="0" baseline="0" noProof="1">
                  <a:solidFill>
                    <a:srgbClr val="FF0000"/>
                  </a:solidFill>
                  <a:latin typeface="华文新魏" panose="02010800040101010101" pitchFamily="2" charset="-122"/>
                  <a:ea typeface="华文新魏" panose="02010800040101010101" pitchFamily="2" charset="-122"/>
                  <a:cs typeface="+mn-cs"/>
                </a:rPr>
                <a:t>1.  </a:t>
              </a:r>
              <a:r>
                <a:rPr kumimoji="0" lang="zh-CN" altLang="en-US" sz="3200" kern="1200" cap="none" spc="0" normalizeH="0" baseline="0" noProof="1">
                  <a:solidFill>
                    <a:srgbClr val="FF0000"/>
                  </a:solidFill>
                  <a:latin typeface="华文新魏" panose="02010800040101010101" pitchFamily="2" charset="-122"/>
                  <a:ea typeface="华文新魏" panose="02010800040101010101" pitchFamily="2" charset="-122"/>
                  <a:cs typeface="+mn-cs"/>
                </a:rPr>
                <a:t>劳斯判据</a:t>
              </a:r>
            </a:p>
            <a:p>
              <a:pPr marR="0" defTabSz="914400">
                <a:lnSpc>
                  <a:spcPct val="120000"/>
                </a:lnSpc>
                <a:spcBef>
                  <a:spcPct val="0"/>
                </a:spcBef>
                <a:buClrTx/>
                <a:buSzTx/>
                <a:buFontTx/>
                <a:buNone/>
                <a:defRPr/>
              </a:pPr>
              <a:r>
                <a:rPr kumimoji="0" lang="zh-CN" altLang="en-US" sz="2800" kern="1200" cap="none" spc="0" normalizeH="0" baseline="0" noProof="1">
                  <a:solidFill>
                    <a:srgbClr val="C00000"/>
                  </a:solidFill>
                  <a:latin typeface="Times New Roman" panose="02020603050405020304" pitchFamily="18" charset="0"/>
                  <a:ea typeface="宋体" panose="02010600030101010101" pitchFamily="2" charset="-122"/>
                  <a:cs typeface="+mn-cs"/>
                </a:rPr>
                <a:t>       </a:t>
              </a:r>
              <a:r>
                <a:rPr kumimoji="0" lang="zh-CN" altLang="en-US" sz="2400" kern="1200" cap="none" spc="0" normalizeH="0" baseline="0" noProof="1">
                  <a:solidFill>
                    <a:srgbClr val="C0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系统稳定的充要条件是：</a:t>
              </a:r>
              <a:r>
                <a:rPr kumimoji="0" lang="zh-CN" altLang="en-US" sz="2400" u="sng"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特征方程式的全部系数为正，</a:t>
              </a:r>
              <a:r>
                <a:rPr kumimoji="0" lang="zh-CN" altLang="en-US" sz="2400" u="sng" kern="1200" cap="none" spc="0" normalizeH="0" baseline="0" noProof="1">
                  <a:solidFill>
                    <a:srgbClr val="C0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且</a:t>
              </a:r>
              <a:r>
                <a:rPr kumimoji="0" lang="zh-CN" altLang="en-US" sz="2400" u="sng"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由该方程式作出的劳斯表中第一列全部元素都为</a:t>
              </a:r>
              <a:r>
                <a:rPr kumimoji="0" lang="zh-CN" altLang="en-US" sz="2400" u="sng" kern="1200" cap="none" spc="0" normalizeH="0" baseline="0" noProof="1">
                  <a:solidFill>
                    <a:srgbClr val="C0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正</a:t>
              </a:r>
              <a:r>
                <a:rPr kumimoji="0" lang="zh-CN" altLang="en-US" sz="2400" u="sng"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p>
            <a:p>
              <a:pPr marR="0" defTabSz="914400">
                <a:lnSpc>
                  <a:spcPct val="120000"/>
                </a:lnSpc>
                <a:spcBef>
                  <a:spcPct val="0"/>
                </a:spcBef>
                <a:buClrTx/>
                <a:buSzTx/>
                <a:buFontTx/>
                <a:buNone/>
                <a:defRPr/>
              </a:pPr>
              <a:r>
                <a:rPr kumimoji="0" lang="zh-CN" altLang="en-US" sz="24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若不满足，则不稳定</a:t>
              </a:r>
            </a:p>
            <a:p>
              <a:pPr marR="0" defTabSz="914400">
                <a:lnSpc>
                  <a:spcPct val="120000"/>
                </a:lnSpc>
                <a:spcBef>
                  <a:spcPct val="0"/>
                </a:spcBef>
                <a:buClrTx/>
                <a:buSzTx/>
                <a:buFontTx/>
                <a:buNone/>
                <a:defRPr/>
              </a:pP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        劳斯表中第一列元素符号改变的次数，等于相应特征方程式位于右半</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平面上根的个数。</a:t>
              </a:r>
              <a:endPar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endParaRPr>
            </a:p>
          </p:txBody>
        </p:sp>
        <p:grpSp>
          <p:nvGrpSpPr>
            <p:cNvPr id="6" name="组合 5">
              <a:extLst>
                <a:ext uri="{FF2B5EF4-FFF2-40B4-BE49-F238E27FC236}">
                  <a16:creationId xmlns:a16="http://schemas.microsoft.com/office/drawing/2014/main" id="{1BC54B1C-A899-4EE2-8C41-F5C8B89FCF4B}"/>
                </a:ext>
              </a:extLst>
            </p:cNvPr>
            <p:cNvGrpSpPr/>
            <p:nvPr/>
          </p:nvGrpSpPr>
          <p:grpSpPr>
            <a:xfrm>
              <a:off x="84137" y="2905134"/>
              <a:ext cx="2894848" cy="1249331"/>
              <a:chOff x="5757863" y="2357438"/>
              <a:chExt cx="2373313" cy="901700"/>
            </a:xfrm>
          </p:grpSpPr>
          <p:sp>
            <p:nvSpPr>
              <p:cNvPr id="7" name="Freeform 112">
                <a:extLst>
                  <a:ext uri="{FF2B5EF4-FFF2-40B4-BE49-F238E27FC236}">
                    <a16:creationId xmlns:a16="http://schemas.microsoft.com/office/drawing/2014/main" id="{FE6211B1-A829-41C6-92B6-DC3917245F64}"/>
                  </a:ext>
                </a:extLst>
              </p:cNvPr>
              <p:cNvSpPr>
                <a:spLocks noEditPoints="1"/>
              </p:cNvSpPr>
              <p:nvPr/>
            </p:nvSpPr>
            <p:spPr bwMode="auto">
              <a:xfrm>
                <a:off x="5757863" y="2357438"/>
                <a:ext cx="2373313" cy="723900"/>
              </a:xfrm>
              <a:custGeom>
                <a:avLst/>
                <a:gdLst>
                  <a:gd name="T0" fmla="*/ 1477 w 1635"/>
                  <a:gd name="T1" fmla="*/ 27 h 499"/>
                  <a:gd name="T2" fmla="*/ 1246 w 1635"/>
                  <a:gd name="T3" fmla="*/ 42 h 499"/>
                  <a:gd name="T4" fmla="*/ 1058 w 1635"/>
                  <a:gd name="T5" fmla="*/ 133 h 499"/>
                  <a:gd name="T6" fmla="*/ 864 w 1635"/>
                  <a:gd name="T7" fmla="*/ 121 h 499"/>
                  <a:gd name="T8" fmla="*/ 502 w 1635"/>
                  <a:gd name="T9" fmla="*/ 142 h 499"/>
                  <a:gd name="T10" fmla="*/ 345 w 1635"/>
                  <a:gd name="T11" fmla="*/ 7 h 499"/>
                  <a:gd name="T12" fmla="*/ 57 w 1635"/>
                  <a:gd name="T13" fmla="*/ 80 h 499"/>
                  <a:gd name="T14" fmla="*/ 36 w 1635"/>
                  <a:gd name="T15" fmla="*/ 356 h 499"/>
                  <a:gd name="T16" fmla="*/ 245 w 1635"/>
                  <a:gd name="T17" fmla="*/ 475 h 499"/>
                  <a:gd name="T18" fmla="*/ 571 w 1635"/>
                  <a:gd name="T19" fmla="*/ 426 h 499"/>
                  <a:gd name="T20" fmla="*/ 928 w 1635"/>
                  <a:gd name="T21" fmla="*/ 412 h 499"/>
                  <a:gd name="T22" fmla="*/ 1287 w 1635"/>
                  <a:gd name="T23" fmla="*/ 454 h 499"/>
                  <a:gd name="T24" fmla="*/ 1594 w 1635"/>
                  <a:gd name="T25" fmla="*/ 433 h 499"/>
                  <a:gd name="T26" fmla="*/ 1537 w 1635"/>
                  <a:gd name="T27" fmla="*/ 57 h 499"/>
                  <a:gd name="T28" fmla="*/ 1443 w 1635"/>
                  <a:gd name="T29" fmla="*/ 137 h 499"/>
                  <a:gd name="T30" fmla="*/ 1314 w 1635"/>
                  <a:gd name="T31" fmla="*/ 108 h 499"/>
                  <a:gd name="T32" fmla="*/ 708 w 1635"/>
                  <a:gd name="T33" fmla="*/ 133 h 499"/>
                  <a:gd name="T34" fmla="*/ 242 w 1635"/>
                  <a:gd name="T35" fmla="*/ 134 h 499"/>
                  <a:gd name="T36" fmla="*/ 160 w 1635"/>
                  <a:gd name="T37" fmla="*/ 33 h 499"/>
                  <a:gd name="T38" fmla="*/ 143 w 1635"/>
                  <a:gd name="T39" fmla="*/ 45 h 499"/>
                  <a:gd name="T40" fmla="*/ 280 w 1635"/>
                  <a:gd name="T41" fmla="*/ 13 h 499"/>
                  <a:gd name="T42" fmla="*/ 247 w 1635"/>
                  <a:gd name="T43" fmla="*/ 42 h 499"/>
                  <a:gd name="T44" fmla="*/ 356 w 1635"/>
                  <a:gd name="T45" fmla="*/ 55 h 499"/>
                  <a:gd name="T46" fmla="*/ 312 w 1635"/>
                  <a:gd name="T47" fmla="*/ 73 h 499"/>
                  <a:gd name="T48" fmla="*/ 264 w 1635"/>
                  <a:gd name="T49" fmla="*/ 95 h 499"/>
                  <a:gd name="T50" fmla="*/ 277 w 1635"/>
                  <a:gd name="T51" fmla="*/ 118 h 499"/>
                  <a:gd name="T52" fmla="*/ 193 w 1635"/>
                  <a:gd name="T53" fmla="*/ 161 h 499"/>
                  <a:gd name="T54" fmla="*/ 17 w 1635"/>
                  <a:gd name="T55" fmla="*/ 149 h 499"/>
                  <a:gd name="T56" fmla="*/ 1572 w 1635"/>
                  <a:gd name="T57" fmla="*/ 241 h 499"/>
                  <a:gd name="T58" fmla="*/ 1568 w 1635"/>
                  <a:gd name="T59" fmla="*/ 257 h 499"/>
                  <a:gd name="T60" fmla="*/ 1516 w 1635"/>
                  <a:gd name="T61" fmla="*/ 294 h 499"/>
                  <a:gd name="T62" fmla="*/ 1460 w 1635"/>
                  <a:gd name="T63" fmla="*/ 324 h 499"/>
                  <a:gd name="T64" fmla="*/ 1478 w 1635"/>
                  <a:gd name="T65" fmla="*/ 364 h 499"/>
                  <a:gd name="T66" fmla="*/ 1484 w 1635"/>
                  <a:gd name="T67" fmla="*/ 405 h 499"/>
                  <a:gd name="T68" fmla="*/ 1511 w 1635"/>
                  <a:gd name="T69" fmla="*/ 446 h 499"/>
                  <a:gd name="T70" fmla="*/ 1524 w 1635"/>
                  <a:gd name="T71" fmla="*/ 486 h 499"/>
                  <a:gd name="T72" fmla="*/ 1238 w 1635"/>
                  <a:gd name="T73" fmla="*/ 433 h 499"/>
                  <a:gd name="T74" fmla="*/ 882 w 1635"/>
                  <a:gd name="T75" fmla="*/ 397 h 499"/>
                  <a:gd name="T76" fmla="*/ 516 w 1635"/>
                  <a:gd name="T77" fmla="*/ 417 h 499"/>
                  <a:gd name="T78" fmla="*/ 165 w 1635"/>
                  <a:gd name="T79" fmla="*/ 478 h 499"/>
                  <a:gd name="T80" fmla="*/ 154 w 1635"/>
                  <a:gd name="T81" fmla="*/ 446 h 499"/>
                  <a:gd name="T82" fmla="*/ 127 w 1635"/>
                  <a:gd name="T83" fmla="*/ 417 h 499"/>
                  <a:gd name="T84" fmla="*/ 99 w 1635"/>
                  <a:gd name="T85" fmla="*/ 378 h 499"/>
                  <a:gd name="T86" fmla="*/ 56 w 1635"/>
                  <a:gd name="T87" fmla="*/ 339 h 499"/>
                  <a:gd name="T88" fmla="*/ 57 w 1635"/>
                  <a:gd name="T89" fmla="*/ 299 h 499"/>
                  <a:gd name="T90" fmla="*/ 72 w 1635"/>
                  <a:gd name="T91" fmla="*/ 282 h 499"/>
                  <a:gd name="T92" fmla="*/ 140 w 1635"/>
                  <a:gd name="T93" fmla="*/ 247 h 499"/>
                  <a:gd name="T94" fmla="*/ 12 w 1635"/>
                  <a:gd name="T95" fmla="*/ 198 h 499"/>
                  <a:gd name="T96" fmla="*/ 202 w 1635"/>
                  <a:gd name="T97" fmla="*/ 210 h 499"/>
                  <a:gd name="T98" fmla="*/ 563 w 1635"/>
                  <a:gd name="T99" fmla="*/ 148 h 499"/>
                  <a:gd name="T100" fmla="*/ 857 w 1635"/>
                  <a:gd name="T101" fmla="*/ 134 h 499"/>
                  <a:gd name="T102" fmla="*/ 1046 w 1635"/>
                  <a:gd name="T103" fmla="*/ 134 h 499"/>
                  <a:gd name="T104" fmla="*/ 1357 w 1635"/>
                  <a:gd name="T105" fmla="*/ 195 h 499"/>
                  <a:gd name="T106" fmla="*/ 1479 w 1635"/>
                  <a:gd name="T107" fmla="*/ 204 h 499"/>
                  <a:gd name="T108" fmla="*/ 1462 w 1635"/>
                  <a:gd name="T109" fmla="*/ 200 h 499"/>
                  <a:gd name="T110" fmla="*/ 1395 w 1635"/>
                  <a:gd name="T111" fmla="*/ 122 h 499"/>
                  <a:gd name="T112" fmla="*/ 1422 w 1635"/>
                  <a:gd name="T113" fmla="*/ 107 h 499"/>
                  <a:gd name="T114" fmla="*/ 1302 w 1635"/>
                  <a:gd name="T115" fmla="*/ 72 h 499"/>
                  <a:gd name="T116" fmla="*/ 1363 w 1635"/>
                  <a:gd name="T117" fmla="*/ 65 h 499"/>
                  <a:gd name="T118" fmla="*/ 1398 w 1635"/>
                  <a:gd name="T119" fmla="*/ 50 h 499"/>
                  <a:gd name="T120" fmla="*/ 1304 w 1635"/>
                  <a:gd name="T121" fmla="*/ 18 h 499"/>
                  <a:gd name="T122" fmla="*/ 1490 w 1635"/>
                  <a:gd name="T123" fmla="*/ 45 h 499"/>
                  <a:gd name="T124" fmla="*/ 1575 w 1635"/>
                  <a:gd name="T125" fmla="*/ 9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5" h="499">
                    <a:moveTo>
                      <a:pt x="1635" y="177"/>
                    </a:moveTo>
                    <a:cubicBezTo>
                      <a:pt x="1635" y="172"/>
                      <a:pt x="1634" y="168"/>
                      <a:pt x="1634" y="164"/>
                    </a:cubicBezTo>
                    <a:cubicBezTo>
                      <a:pt x="1633" y="160"/>
                      <a:pt x="1632" y="156"/>
                      <a:pt x="1631" y="152"/>
                    </a:cubicBezTo>
                    <a:cubicBezTo>
                      <a:pt x="1630" y="145"/>
                      <a:pt x="1630" y="140"/>
                      <a:pt x="1629" y="140"/>
                    </a:cubicBezTo>
                    <a:cubicBezTo>
                      <a:pt x="1628" y="136"/>
                      <a:pt x="1625" y="132"/>
                      <a:pt x="1623" y="128"/>
                    </a:cubicBezTo>
                    <a:cubicBezTo>
                      <a:pt x="1621" y="124"/>
                      <a:pt x="1619" y="120"/>
                      <a:pt x="1617" y="117"/>
                    </a:cubicBezTo>
                    <a:cubicBezTo>
                      <a:pt x="1614" y="113"/>
                      <a:pt x="1611" y="110"/>
                      <a:pt x="1608" y="107"/>
                    </a:cubicBezTo>
                    <a:cubicBezTo>
                      <a:pt x="1605" y="103"/>
                      <a:pt x="1602" y="100"/>
                      <a:pt x="1600" y="97"/>
                    </a:cubicBezTo>
                    <a:cubicBezTo>
                      <a:pt x="1597" y="95"/>
                      <a:pt x="1594" y="93"/>
                      <a:pt x="1591" y="90"/>
                    </a:cubicBezTo>
                    <a:cubicBezTo>
                      <a:pt x="1588" y="88"/>
                      <a:pt x="1586" y="85"/>
                      <a:pt x="1583" y="83"/>
                    </a:cubicBezTo>
                    <a:cubicBezTo>
                      <a:pt x="1580" y="80"/>
                      <a:pt x="1577" y="78"/>
                      <a:pt x="1573" y="76"/>
                    </a:cubicBezTo>
                    <a:cubicBezTo>
                      <a:pt x="1570" y="74"/>
                      <a:pt x="1567" y="72"/>
                      <a:pt x="1564" y="70"/>
                    </a:cubicBezTo>
                    <a:cubicBezTo>
                      <a:pt x="1561" y="68"/>
                      <a:pt x="1557" y="67"/>
                      <a:pt x="1554" y="65"/>
                    </a:cubicBezTo>
                    <a:cubicBezTo>
                      <a:pt x="1552" y="63"/>
                      <a:pt x="1550" y="62"/>
                      <a:pt x="1547" y="61"/>
                    </a:cubicBezTo>
                    <a:cubicBezTo>
                      <a:pt x="1548" y="62"/>
                      <a:pt x="1547" y="64"/>
                      <a:pt x="1546" y="64"/>
                    </a:cubicBezTo>
                    <a:cubicBezTo>
                      <a:pt x="1544" y="63"/>
                      <a:pt x="1544" y="60"/>
                      <a:pt x="1547" y="60"/>
                    </a:cubicBezTo>
                    <a:cubicBezTo>
                      <a:pt x="1546" y="60"/>
                      <a:pt x="1545" y="59"/>
                      <a:pt x="1544" y="59"/>
                    </a:cubicBezTo>
                    <a:cubicBezTo>
                      <a:pt x="1541" y="57"/>
                      <a:pt x="1537" y="55"/>
                      <a:pt x="1534" y="53"/>
                    </a:cubicBezTo>
                    <a:cubicBezTo>
                      <a:pt x="1533" y="53"/>
                      <a:pt x="1533" y="52"/>
                      <a:pt x="1532" y="52"/>
                    </a:cubicBezTo>
                    <a:cubicBezTo>
                      <a:pt x="1532" y="53"/>
                      <a:pt x="1532" y="53"/>
                      <a:pt x="1531" y="53"/>
                    </a:cubicBezTo>
                    <a:cubicBezTo>
                      <a:pt x="1529" y="53"/>
                      <a:pt x="1527" y="53"/>
                      <a:pt x="1526" y="53"/>
                    </a:cubicBezTo>
                    <a:cubicBezTo>
                      <a:pt x="1525" y="52"/>
                      <a:pt x="1524" y="50"/>
                      <a:pt x="1525" y="49"/>
                    </a:cubicBezTo>
                    <a:cubicBezTo>
                      <a:pt x="1524" y="48"/>
                      <a:pt x="1523" y="48"/>
                      <a:pt x="1523" y="48"/>
                    </a:cubicBezTo>
                    <a:cubicBezTo>
                      <a:pt x="1520" y="46"/>
                      <a:pt x="1517" y="45"/>
                      <a:pt x="1514" y="43"/>
                    </a:cubicBezTo>
                    <a:cubicBezTo>
                      <a:pt x="1514" y="43"/>
                      <a:pt x="1514" y="43"/>
                      <a:pt x="1513" y="43"/>
                    </a:cubicBezTo>
                    <a:cubicBezTo>
                      <a:pt x="1513" y="44"/>
                      <a:pt x="1512" y="43"/>
                      <a:pt x="1512" y="42"/>
                    </a:cubicBezTo>
                    <a:cubicBezTo>
                      <a:pt x="1508" y="41"/>
                      <a:pt x="1504" y="39"/>
                      <a:pt x="1501" y="38"/>
                    </a:cubicBezTo>
                    <a:cubicBezTo>
                      <a:pt x="1497" y="36"/>
                      <a:pt x="1494" y="34"/>
                      <a:pt x="1490" y="32"/>
                    </a:cubicBezTo>
                    <a:cubicBezTo>
                      <a:pt x="1486" y="31"/>
                      <a:pt x="1482" y="29"/>
                      <a:pt x="1479" y="28"/>
                    </a:cubicBezTo>
                    <a:cubicBezTo>
                      <a:pt x="1478" y="28"/>
                      <a:pt x="1478" y="28"/>
                      <a:pt x="1477" y="27"/>
                    </a:cubicBezTo>
                    <a:cubicBezTo>
                      <a:pt x="1477" y="28"/>
                      <a:pt x="1477" y="28"/>
                      <a:pt x="1477" y="29"/>
                    </a:cubicBezTo>
                    <a:cubicBezTo>
                      <a:pt x="1474" y="30"/>
                      <a:pt x="1472" y="29"/>
                      <a:pt x="1472" y="26"/>
                    </a:cubicBezTo>
                    <a:cubicBezTo>
                      <a:pt x="1471" y="25"/>
                      <a:pt x="1469" y="25"/>
                      <a:pt x="1467" y="24"/>
                    </a:cubicBezTo>
                    <a:cubicBezTo>
                      <a:pt x="1467" y="24"/>
                      <a:pt x="1467" y="24"/>
                      <a:pt x="1466" y="24"/>
                    </a:cubicBezTo>
                    <a:cubicBezTo>
                      <a:pt x="1466" y="24"/>
                      <a:pt x="1465" y="25"/>
                      <a:pt x="1465" y="24"/>
                    </a:cubicBezTo>
                    <a:cubicBezTo>
                      <a:pt x="1465" y="24"/>
                      <a:pt x="1465" y="24"/>
                      <a:pt x="1465" y="23"/>
                    </a:cubicBezTo>
                    <a:cubicBezTo>
                      <a:pt x="1462" y="22"/>
                      <a:pt x="1459" y="21"/>
                      <a:pt x="1456" y="20"/>
                    </a:cubicBezTo>
                    <a:cubicBezTo>
                      <a:pt x="1452" y="19"/>
                      <a:pt x="1448" y="18"/>
                      <a:pt x="1444" y="17"/>
                    </a:cubicBezTo>
                    <a:cubicBezTo>
                      <a:pt x="1440" y="16"/>
                      <a:pt x="1436" y="15"/>
                      <a:pt x="1432" y="14"/>
                    </a:cubicBezTo>
                    <a:cubicBezTo>
                      <a:pt x="1428" y="13"/>
                      <a:pt x="1424" y="13"/>
                      <a:pt x="1420" y="12"/>
                    </a:cubicBezTo>
                    <a:cubicBezTo>
                      <a:pt x="1416" y="11"/>
                      <a:pt x="1412" y="10"/>
                      <a:pt x="1408" y="9"/>
                    </a:cubicBezTo>
                    <a:cubicBezTo>
                      <a:pt x="1404" y="8"/>
                      <a:pt x="1400" y="8"/>
                      <a:pt x="1397" y="7"/>
                    </a:cubicBezTo>
                    <a:cubicBezTo>
                      <a:pt x="1393" y="6"/>
                      <a:pt x="1389" y="5"/>
                      <a:pt x="1385" y="5"/>
                    </a:cubicBezTo>
                    <a:cubicBezTo>
                      <a:pt x="1381" y="4"/>
                      <a:pt x="1377" y="4"/>
                      <a:pt x="1373" y="4"/>
                    </a:cubicBezTo>
                    <a:cubicBezTo>
                      <a:pt x="1368" y="4"/>
                      <a:pt x="1364" y="4"/>
                      <a:pt x="1360" y="4"/>
                    </a:cubicBezTo>
                    <a:cubicBezTo>
                      <a:pt x="1356" y="3"/>
                      <a:pt x="1352" y="3"/>
                      <a:pt x="1348" y="3"/>
                    </a:cubicBezTo>
                    <a:cubicBezTo>
                      <a:pt x="1345" y="3"/>
                      <a:pt x="1341" y="3"/>
                      <a:pt x="1337" y="3"/>
                    </a:cubicBezTo>
                    <a:cubicBezTo>
                      <a:pt x="1333" y="3"/>
                      <a:pt x="1330" y="3"/>
                      <a:pt x="1326" y="3"/>
                    </a:cubicBezTo>
                    <a:cubicBezTo>
                      <a:pt x="1324" y="3"/>
                      <a:pt x="1323" y="4"/>
                      <a:pt x="1321" y="4"/>
                    </a:cubicBezTo>
                    <a:cubicBezTo>
                      <a:pt x="1321" y="5"/>
                      <a:pt x="1321" y="6"/>
                      <a:pt x="1320" y="6"/>
                    </a:cubicBezTo>
                    <a:cubicBezTo>
                      <a:pt x="1318" y="6"/>
                      <a:pt x="1318" y="6"/>
                      <a:pt x="1318" y="6"/>
                    </a:cubicBezTo>
                    <a:cubicBezTo>
                      <a:pt x="1317" y="6"/>
                      <a:pt x="1317" y="5"/>
                      <a:pt x="1317" y="5"/>
                    </a:cubicBezTo>
                    <a:cubicBezTo>
                      <a:pt x="1316" y="5"/>
                      <a:pt x="1316" y="5"/>
                      <a:pt x="1315" y="5"/>
                    </a:cubicBezTo>
                    <a:cubicBezTo>
                      <a:pt x="1311" y="6"/>
                      <a:pt x="1307" y="6"/>
                      <a:pt x="1304" y="7"/>
                    </a:cubicBezTo>
                    <a:cubicBezTo>
                      <a:pt x="1300" y="8"/>
                      <a:pt x="1296" y="9"/>
                      <a:pt x="1292" y="10"/>
                    </a:cubicBezTo>
                    <a:cubicBezTo>
                      <a:pt x="1288" y="11"/>
                      <a:pt x="1284" y="12"/>
                      <a:pt x="1280" y="13"/>
                    </a:cubicBezTo>
                    <a:cubicBezTo>
                      <a:pt x="1277" y="14"/>
                      <a:pt x="1273" y="16"/>
                      <a:pt x="1269" y="18"/>
                    </a:cubicBezTo>
                    <a:cubicBezTo>
                      <a:pt x="1266" y="20"/>
                      <a:pt x="1263" y="22"/>
                      <a:pt x="1260" y="25"/>
                    </a:cubicBezTo>
                    <a:cubicBezTo>
                      <a:pt x="1257" y="28"/>
                      <a:pt x="1254" y="31"/>
                      <a:pt x="1251" y="34"/>
                    </a:cubicBezTo>
                    <a:cubicBezTo>
                      <a:pt x="1249" y="37"/>
                      <a:pt x="1247" y="39"/>
                      <a:pt x="1246" y="42"/>
                    </a:cubicBezTo>
                    <a:cubicBezTo>
                      <a:pt x="1244" y="46"/>
                      <a:pt x="1243" y="49"/>
                      <a:pt x="1243" y="52"/>
                    </a:cubicBezTo>
                    <a:cubicBezTo>
                      <a:pt x="1242" y="56"/>
                      <a:pt x="1242" y="59"/>
                      <a:pt x="1242" y="62"/>
                    </a:cubicBezTo>
                    <a:cubicBezTo>
                      <a:pt x="1242" y="63"/>
                      <a:pt x="1242" y="63"/>
                      <a:pt x="1242" y="64"/>
                    </a:cubicBezTo>
                    <a:cubicBezTo>
                      <a:pt x="1242" y="66"/>
                      <a:pt x="1241" y="70"/>
                      <a:pt x="1241" y="75"/>
                    </a:cubicBezTo>
                    <a:cubicBezTo>
                      <a:pt x="1241" y="78"/>
                      <a:pt x="1241" y="82"/>
                      <a:pt x="1241" y="85"/>
                    </a:cubicBezTo>
                    <a:cubicBezTo>
                      <a:pt x="1241" y="90"/>
                      <a:pt x="1241" y="94"/>
                      <a:pt x="1241" y="96"/>
                    </a:cubicBezTo>
                    <a:cubicBezTo>
                      <a:pt x="1242" y="100"/>
                      <a:pt x="1242" y="103"/>
                      <a:pt x="1243" y="107"/>
                    </a:cubicBezTo>
                    <a:cubicBezTo>
                      <a:pt x="1243" y="111"/>
                      <a:pt x="1244" y="115"/>
                      <a:pt x="1245" y="118"/>
                    </a:cubicBezTo>
                    <a:cubicBezTo>
                      <a:pt x="1245" y="122"/>
                      <a:pt x="1246" y="126"/>
                      <a:pt x="1247" y="130"/>
                    </a:cubicBezTo>
                    <a:cubicBezTo>
                      <a:pt x="1248" y="133"/>
                      <a:pt x="1249" y="136"/>
                      <a:pt x="1250" y="139"/>
                    </a:cubicBezTo>
                    <a:cubicBezTo>
                      <a:pt x="1252" y="142"/>
                      <a:pt x="1253" y="146"/>
                      <a:pt x="1254" y="149"/>
                    </a:cubicBezTo>
                    <a:cubicBezTo>
                      <a:pt x="1255" y="152"/>
                      <a:pt x="1257" y="155"/>
                      <a:pt x="1258" y="158"/>
                    </a:cubicBezTo>
                    <a:cubicBezTo>
                      <a:pt x="1259" y="160"/>
                      <a:pt x="1259" y="161"/>
                      <a:pt x="1260" y="162"/>
                    </a:cubicBezTo>
                    <a:cubicBezTo>
                      <a:pt x="1256" y="161"/>
                      <a:pt x="1252" y="160"/>
                      <a:pt x="1248" y="159"/>
                    </a:cubicBezTo>
                    <a:cubicBezTo>
                      <a:pt x="1244" y="159"/>
                      <a:pt x="1240" y="158"/>
                      <a:pt x="1236" y="157"/>
                    </a:cubicBezTo>
                    <a:cubicBezTo>
                      <a:pt x="1232" y="156"/>
                      <a:pt x="1228" y="156"/>
                      <a:pt x="1224" y="155"/>
                    </a:cubicBezTo>
                    <a:cubicBezTo>
                      <a:pt x="1220" y="154"/>
                      <a:pt x="1216" y="154"/>
                      <a:pt x="1213" y="153"/>
                    </a:cubicBezTo>
                    <a:cubicBezTo>
                      <a:pt x="1209" y="153"/>
                      <a:pt x="1205" y="152"/>
                      <a:pt x="1201" y="152"/>
                    </a:cubicBezTo>
                    <a:cubicBezTo>
                      <a:pt x="1197" y="151"/>
                      <a:pt x="1193" y="150"/>
                      <a:pt x="1189" y="149"/>
                    </a:cubicBezTo>
                    <a:cubicBezTo>
                      <a:pt x="1185" y="148"/>
                      <a:pt x="1181" y="148"/>
                      <a:pt x="1177" y="147"/>
                    </a:cubicBezTo>
                    <a:cubicBezTo>
                      <a:pt x="1173" y="147"/>
                      <a:pt x="1169" y="147"/>
                      <a:pt x="1165" y="146"/>
                    </a:cubicBezTo>
                    <a:cubicBezTo>
                      <a:pt x="1161" y="145"/>
                      <a:pt x="1157" y="144"/>
                      <a:pt x="1154" y="144"/>
                    </a:cubicBezTo>
                    <a:cubicBezTo>
                      <a:pt x="1150" y="143"/>
                      <a:pt x="1146" y="143"/>
                      <a:pt x="1142" y="142"/>
                    </a:cubicBezTo>
                    <a:cubicBezTo>
                      <a:pt x="1138" y="142"/>
                      <a:pt x="1134" y="141"/>
                      <a:pt x="1130" y="141"/>
                    </a:cubicBezTo>
                    <a:cubicBezTo>
                      <a:pt x="1126" y="141"/>
                      <a:pt x="1122" y="140"/>
                      <a:pt x="1118" y="140"/>
                    </a:cubicBezTo>
                    <a:cubicBezTo>
                      <a:pt x="1114" y="139"/>
                      <a:pt x="1110" y="138"/>
                      <a:pt x="1106" y="138"/>
                    </a:cubicBezTo>
                    <a:cubicBezTo>
                      <a:pt x="1102" y="138"/>
                      <a:pt x="1098" y="137"/>
                      <a:pt x="1094" y="136"/>
                    </a:cubicBezTo>
                    <a:cubicBezTo>
                      <a:pt x="1090" y="136"/>
                      <a:pt x="1086" y="135"/>
                      <a:pt x="1082" y="135"/>
                    </a:cubicBezTo>
                    <a:cubicBezTo>
                      <a:pt x="1078" y="135"/>
                      <a:pt x="1074" y="134"/>
                      <a:pt x="1070" y="134"/>
                    </a:cubicBezTo>
                    <a:cubicBezTo>
                      <a:pt x="1066" y="134"/>
                      <a:pt x="1062" y="133"/>
                      <a:pt x="1058" y="133"/>
                    </a:cubicBezTo>
                    <a:cubicBezTo>
                      <a:pt x="1054" y="132"/>
                      <a:pt x="1049" y="133"/>
                      <a:pt x="1045" y="132"/>
                    </a:cubicBezTo>
                    <a:cubicBezTo>
                      <a:pt x="1041" y="132"/>
                      <a:pt x="1037" y="130"/>
                      <a:pt x="1033" y="130"/>
                    </a:cubicBezTo>
                    <a:cubicBezTo>
                      <a:pt x="1031" y="130"/>
                      <a:pt x="1029" y="130"/>
                      <a:pt x="1027" y="130"/>
                    </a:cubicBezTo>
                    <a:cubicBezTo>
                      <a:pt x="1027" y="130"/>
                      <a:pt x="1027" y="130"/>
                      <a:pt x="1027" y="130"/>
                    </a:cubicBezTo>
                    <a:cubicBezTo>
                      <a:pt x="1028" y="135"/>
                      <a:pt x="1023" y="137"/>
                      <a:pt x="1021" y="134"/>
                    </a:cubicBezTo>
                    <a:cubicBezTo>
                      <a:pt x="1020" y="132"/>
                      <a:pt x="1021" y="131"/>
                      <a:pt x="1022" y="130"/>
                    </a:cubicBezTo>
                    <a:cubicBezTo>
                      <a:pt x="1022" y="130"/>
                      <a:pt x="1022" y="130"/>
                      <a:pt x="1021" y="130"/>
                    </a:cubicBezTo>
                    <a:cubicBezTo>
                      <a:pt x="1020" y="130"/>
                      <a:pt x="1018" y="129"/>
                      <a:pt x="1017" y="129"/>
                    </a:cubicBezTo>
                    <a:cubicBezTo>
                      <a:pt x="1016" y="131"/>
                      <a:pt x="1015" y="134"/>
                      <a:pt x="1014" y="135"/>
                    </a:cubicBezTo>
                    <a:cubicBezTo>
                      <a:pt x="1009" y="137"/>
                      <a:pt x="1005" y="133"/>
                      <a:pt x="1006" y="128"/>
                    </a:cubicBezTo>
                    <a:cubicBezTo>
                      <a:pt x="1003" y="128"/>
                      <a:pt x="1000" y="128"/>
                      <a:pt x="997" y="128"/>
                    </a:cubicBezTo>
                    <a:cubicBezTo>
                      <a:pt x="993" y="128"/>
                      <a:pt x="990" y="127"/>
                      <a:pt x="986" y="126"/>
                    </a:cubicBezTo>
                    <a:cubicBezTo>
                      <a:pt x="986" y="127"/>
                      <a:pt x="985" y="127"/>
                      <a:pt x="985" y="128"/>
                    </a:cubicBezTo>
                    <a:cubicBezTo>
                      <a:pt x="985" y="127"/>
                      <a:pt x="984" y="127"/>
                      <a:pt x="984" y="126"/>
                    </a:cubicBezTo>
                    <a:cubicBezTo>
                      <a:pt x="984" y="128"/>
                      <a:pt x="983" y="128"/>
                      <a:pt x="982" y="130"/>
                    </a:cubicBezTo>
                    <a:cubicBezTo>
                      <a:pt x="980" y="129"/>
                      <a:pt x="980" y="128"/>
                      <a:pt x="979" y="127"/>
                    </a:cubicBezTo>
                    <a:cubicBezTo>
                      <a:pt x="979" y="127"/>
                      <a:pt x="979" y="126"/>
                      <a:pt x="980" y="126"/>
                    </a:cubicBezTo>
                    <a:cubicBezTo>
                      <a:pt x="977" y="126"/>
                      <a:pt x="975" y="126"/>
                      <a:pt x="973" y="125"/>
                    </a:cubicBezTo>
                    <a:cubicBezTo>
                      <a:pt x="969" y="125"/>
                      <a:pt x="966" y="126"/>
                      <a:pt x="962" y="125"/>
                    </a:cubicBezTo>
                    <a:cubicBezTo>
                      <a:pt x="963" y="127"/>
                      <a:pt x="964" y="130"/>
                      <a:pt x="962" y="132"/>
                    </a:cubicBezTo>
                    <a:cubicBezTo>
                      <a:pt x="960" y="132"/>
                      <a:pt x="957" y="132"/>
                      <a:pt x="956" y="131"/>
                    </a:cubicBezTo>
                    <a:cubicBezTo>
                      <a:pt x="954" y="129"/>
                      <a:pt x="954" y="127"/>
                      <a:pt x="956" y="125"/>
                    </a:cubicBezTo>
                    <a:cubicBezTo>
                      <a:pt x="953" y="125"/>
                      <a:pt x="951" y="125"/>
                      <a:pt x="949" y="125"/>
                    </a:cubicBezTo>
                    <a:cubicBezTo>
                      <a:pt x="945" y="124"/>
                      <a:pt x="940" y="124"/>
                      <a:pt x="937" y="124"/>
                    </a:cubicBezTo>
                    <a:cubicBezTo>
                      <a:pt x="932" y="123"/>
                      <a:pt x="928" y="123"/>
                      <a:pt x="924" y="123"/>
                    </a:cubicBezTo>
                    <a:cubicBezTo>
                      <a:pt x="920" y="122"/>
                      <a:pt x="916" y="122"/>
                      <a:pt x="912" y="122"/>
                    </a:cubicBezTo>
                    <a:cubicBezTo>
                      <a:pt x="908" y="122"/>
                      <a:pt x="904" y="122"/>
                      <a:pt x="900" y="122"/>
                    </a:cubicBezTo>
                    <a:cubicBezTo>
                      <a:pt x="896" y="122"/>
                      <a:pt x="892" y="122"/>
                      <a:pt x="888" y="121"/>
                    </a:cubicBezTo>
                    <a:cubicBezTo>
                      <a:pt x="884" y="121"/>
                      <a:pt x="880" y="120"/>
                      <a:pt x="876" y="120"/>
                    </a:cubicBezTo>
                    <a:cubicBezTo>
                      <a:pt x="872" y="120"/>
                      <a:pt x="868" y="121"/>
                      <a:pt x="864" y="121"/>
                    </a:cubicBezTo>
                    <a:cubicBezTo>
                      <a:pt x="860" y="121"/>
                      <a:pt x="855" y="120"/>
                      <a:pt x="852" y="120"/>
                    </a:cubicBezTo>
                    <a:cubicBezTo>
                      <a:pt x="847" y="120"/>
                      <a:pt x="843" y="120"/>
                      <a:pt x="840" y="120"/>
                    </a:cubicBezTo>
                    <a:cubicBezTo>
                      <a:pt x="835" y="120"/>
                      <a:pt x="831" y="120"/>
                      <a:pt x="827" y="120"/>
                    </a:cubicBezTo>
                    <a:cubicBezTo>
                      <a:pt x="823" y="120"/>
                      <a:pt x="819" y="120"/>
                      <a:pt x="815" y="120"/>
                    </a:cubicBezTo>
                    <a:cubicBezTo>
                      <a:pt x="811" y="120"/>
                      <a:pt x="807" y="120"/>
                      <a:pt x="803" y="120"/>
                    </a:cubicBezTo>
                    <a:cubicBezTo>
                      <a:pt x="799" y="120"/>
                      <a:pt x="795" y="120"/>
                      <a:pt x="791" y="120"/>
                    </a:cubicBezTo>
                    <a:cubicBezTo>
                      <a:pt x="787" y="120"/>
                      <a:pt x="783" y="120"/>
                      <a:pt x="779" y="121"/>
                    </a:cubicBezTo>
                    <a:cubicBezTo>
                      <a:pt x="774" y="121"/>
                      <a:pt x="770" y="120"/>
                      <a:pt x="767" y="121"/>
                    </a:cubicBezTo>
                    <a:cubicBezTo>
                      <a:pt x="763" y="121"/>
                      <a:pt x="760" y="120"/>
                      <a:pt x="756" y="120"/>
                    </a:cubicBezTo>
                    <a:cubicBezTo>
                      <a:pt x="752" y="120"/>
                      <a:pt x="748" y="121"/>
                      <a:pt x="744" y="121"/>
                    </a:cubicBezTo>
                    <a:cubicBezTo>
                      <a:pt x="740" y="121"/>
                      <a:pt x="736" y="121"/>
                      <a:pt x="732" y="121"/>
                    </a:cubicBezTo>
                    <a:cubicBezTo>
                      <a:pt x="728" y="121"/>
                      <a:pt x="724" y="121"/>
                      <a:pt x="719" y="122"/>
                    </a:cubicBezTo>
                    <a:cubicBezTo>
                      <a:pt x="716" y="122"/>
                      <a:pt x="711" y="122"/>
                      <a:pt x="707" y="122"/>
                    </a:cubicBezTo>
                    <a:cubicBezTo>
                      <a:pt x="703" y="122"/>
                      <a:pt x="699" y="122"/>
                      <a:pt x="695" y="122"/>
                    </a:cubicBezTo>
                    <a:cubicBezTo>
                      <a:pt x="691" y="122"/>
                      <a:pt x="687" y="123"/>
                      <a:pt x="683" y="123"/>
                    </a:cubicBezTo>
                    <a:cubicBezTo>
                      <a:pt x="679" y="124"/>
                      <a:pt x="675" y="124"/>
                      <a:pt x="671" y="124"/>
                    </a:cubicBezTo>
                    <a:cubicBezTo>
                      <a:pt x="667" y="124"/>
                      <a:pt x="663" y="124"/>
                      <a:pt x="659" y="124"/>
                    </a:cubicBezTo>
                    <a:cubicBezTo>
                      <a:pt x="655" y="125"/>
                      <a:pt x="651" y="125"/>
                      <a:pt x="647" y="125"/>
                    </a:cubicBezTo>
                    <a:cubicBezTo>
                      <a:pt x="643" y="126"/>
                      <a:pt x="639" y="126"/>
                      <a:pt x="635" y="126"/>
                    </a:cubicBezTo>
                    <a:cubicBezTo>
                      <a:pt x="631" y="127"/>
                      <a:pt x="627" y="128"/>
                      <a:pt x="623" y="128"/>
                    </a:cubicBezTo>
                    <a:cubicBezTo>
                      <a:pt x="619" y="128"/>
                      <a:pt x="615" y="128"/>
                      <a:pt x="610" y="129"/>
                    </a:cubicBezTo>
                    <a:cubicBezTo>
                      <a:pt x="606" y="129"/>
                      <a:pt x="602" y="129"/>
                      <a:pt x="598" y="129"/>
                    </a:cubicBezTo>
                    <a:cubicBezTo>
                      <a:pt x="594" y="130"/>
                      <a:pt x="590" y="130"/>
                      <a:pt x="586" y="131"/>
                    </a:cubicBezTo>
                    <a:cubicBezTo>
                      <a:pt x="582" y="131"/>
                      <a:pt x="578" y="132"/>
                      <a:pt x="574" y="132"/>
                    </a:cubicBezTo>
                    <a:cubicBezTo>
                      <a:pt x="570" y="133"/>
                      <a:pt x="566" y="133"/>
                      <a:pt x="562" y="133"/>
                    </a:cubicBezTo>
                    <a:cubicBezTo>
                      <a:pt x="558" y="134"/>
                      <a:pt x="554" y="135"/>
                      <a:pt x="550" y="135"/>
                    </a:cubicBezTo>
                    <a:cubicBezTo>
                      <a:pt x="546" y="136"/>
                      <a:pt x="542" y="137"/>
                      <a:pt x="538" y="137"/>
                    </a:cubicBezTo>
                    <a:cubicBezTo>
                      <a:pt x="534" y="138"/>
                      <a:pt x="530" y="137"/>
                      <a:pt x="526" y="138"/>
                    </a:cubicBezTo>
                    <a:cubicBezTo>
                      <a:pt x="522" y="138"/>
                      <a:pt x="518" y="139"/>
                      <a:pt x="514" y="139"/>
                    </a:cubicBezTo>
                    <a:cubicBezTo>
                      <a:pt x="510" y="140"/>
                      <a:pt x="506" y="141"/>
                      <a:pt x="502" y="142"/>
                    </a:cubicBezTo>
                    <a:cubicBezTo>
                      <a:pt x="498" y="142"/>
                      <a:pt x="494" y="143"/>
                      <a:pt x="490" y="143"/>
                    </a:cubicBezTo>
                    <a:cubicBezTo>
                      <a:pt x="486" y="144"/>
                      <a:pt x="482" y="144"/>
                      <a:pt x="478" y="145"/>
                    </a:cubicBezTo>
                    <a:cubicBezTo>
                      <a:pt x="474" y="146"/>
                      <a:pt x="470" y="146"/>
                      <a:pt x="466" y="146"/>
                    </a:cubicBezTo>
                    <a:cubicBezTo>
                      <a:pt x="462" y="147"/>
                      <a:pt x="458" y="148"/>
                      <a:pt x="454" y="148"/>
                    </a:cubicBezTo>
                    <a:cubicBezTo>
                      <a:pt x="450" y="149"/>
                      <a:pt x="446" y="150"/>
                      <a:pt x="442" y="151"/>
                    </a:cubicBezTo>
                    <a:cubicBezTo>
                      <a:pt x="438" y="151"/>
                      <a:pt x="434" y="152"/>
                      <a:pt x="430" y="152"/>
                    </a:cubicBezTo>
                    <a:cubicBezTo>
                      <a:pt x="426" y="153"/>
                      <a:pt x="422" y="154"/>
                      <a:pt x="417" y="155"/>
                    </a:cubicBezTo>
                    <a:cubicBezTo>
                      <a:pt x="413" y="155"/>
                      <a:pt x="409" y="156"/>
                      <a:pt x="405" y="157"/>
                    </a:cubicBezTo>
                    <a:cubicBezTo>
                      <a:pt x="401" y="157"/>
                      <a:pt x="397" y="158"/>
                      <a:pt x="392" y="159"/>
                    </a:cubicBezTo>
                    <a:cubicBezTo>
                      <a:pt x="388" y="160"/>
                      <a:pt x="384" y="161"/>
                      <a:pt x="380" y="162"/>
                    </a:cubicBezTo>
                    <a:cubicBezTo>
                      <a:pt x="380" y="161"/>
                      <a:pt x="380" y="160"/>
                      <a:pt x="380" y="160"/>
                    </a:cubicBezTo>
                    <a:cubicBezTo>
                      <a:pt x="381" y="159"/>
                      <a:pt x="380" y="159"/>
                      <a:pt x="381" y="158"/>
                    </a:cubicBezTo>
                    <a:cubicBezTo>
                      <a:pt x="382" y="154"/>
                      <a:pt x="384" y="151"/>
                      <a:pt x="386" y="147"/>
                    </a:cubicBezTo>
                    <a:cubicBezTo>
                      <a:pt x="386" y="147"/>
                      <a:pt x="388" y="143"/>
                      <a:pt x="389" y="138"/>
                    </a:cubicBezTo>
                    <a:cubicBezTo>
                      <a:pt x="390" y="134"/>
                      <a:pt x="391" y="131"/>
                      <a:pt x="391" y="128"/>
                    </a:cubicBezTo>
                    <a:cubicBezTo>
                      <a:pt x="392" y="127"/>
                      <a:pt x="393" y="121"/>
                      <a:pt x="393" y="120"/>
                    </a:cubicBezTo>
                    <a:cubicBezTo>
                      <a:pt x="393" y="117"/>
                      <a:pt x="394" y="117"/>
                      <a:pt x="394" y="114"/>
                    </a:cubicBezTo>
                    <a:cubicBezTo>
                      <a:pt x="394" y="111"/>
                      <a:pt x="395" y="111"/>
                      <a:pt x="395" y="108"/>
                    </a:cubicBezTo>
                    <a:cubicBezTo>
                      <a:pt x="396" y="107"/>
                      <a:pt x="396" y="103"/>
                      <a:pt x="396" y="99"/>
                    </a:cubicBezTo>
                    <a:cubicBezTo>
                      <a:pt x="397" y="95"/>
                      <a:pt x="396" y="90"/>
                      <a:pt x="396" y="89"/>
                    </a:cubicBezTo>
                    <a:cubicBezTo>
                      <a:pt x="396" y="87"/>
                      <a:pt x="396" y="87"/>
                      <a:pt x="396" y="84"/>
                    </a:cubicBezTo>
                    <a:cubicBezTo>
                      <a:pt x="396" y="80"/>
                      <a:pt x="397" y="76"/>
                      <a:pt x="397" y="73"/>
                    </a:cubicBezTo>
                    <a:cubicBezTo>
                      <a:pt x="397" y="67"/>
                      <a:pt x="397" y="63"/>
                      <a:pt x="397" y="62"/>
                    </a:cubicBezTo>
                    <a:cubicBezTo>
                      <a:pt x="397" y="58"/>
                      <a:pt x="396" y="55"/>
                      <a:pt x="395" y="51"/>
                    </a:cubicBezTo>
                    <a:cubicBezTo>
                      <a:pt x="394" y="47"/>
                      <a:pt x="394" y="43"/>
                      <a:pt x="392" y="40"/>
                    </a:cubicBezTo>
                    <a:cubicBezTo>
                      <a:pt x="390" y="36"/>
                      <a:pt x="387" y="34"/>
                      <a:pt x="385" y="31"/>
                    </a:cubicBezTo>
                    <a:cubicBezTo>
                      <a:pt x="382" y="28"/>
                      <a:pt x="380" y="25"/>
                      <a:pt x="377" y="23"/>
                    </a:cubicBezTo>
                    <a:cubicBezTo>
                      <a:pt x="374" y="21"/>
                      <a:pt x="371" y="18"/>
                      <a:pt x="367" y="17"/>
                    </a:cubicBezTo>
                    <a:cubicBezTo>
                      <a:pt x="364" y="15"/>
                      <a:pt x="361" y="13"/>
                      <a:pt x="357" y="12"/>
                    </a:cubicBezTo>
                    <a:cubicBezTo>
                      <a:pt x="353" y="10"/>
                      <a:pt x="349" y="8"/>
                      <a:pt x="345" y="7"/>
                    </a:cubicBezTo>
                    <a:cubicBezTo>
                      <a:pt x="341" y="6"/>
                      <a:pt x="337" y="6"/>
                      <a:pt x="332" y="5"/>
                    </a:cubicBezTo>
                    <a:cubicBezTo>
                      <a:pt x="328" y="4"/>
                      <a:pt x="324" y="3"/>
                      <a:pt x="320" y="2"/>
                    </a:cubicBezTo>
                    <a:cubicBezTo>
                      <a:pt x="315" y="2"/>
                      <a:pt x="311" y="1"/>
                      <a:pt x="307" y="1"/>
                    </a:cubicBezTo>
                    <a:cubicBezTo>
                      <a:pt x="303" y="0"/>
                      <a:pt x="298" y="1"/>
                      <a:pt x="294" y="1"/>
                    </a:cubicBezTo>
                    <a:cubicBezTo>
                      <a:pt x="290" y="1"/>
                      <a:pt x="286" y="1"/>
                      <a:pt x="282" y="1"/>
                    </a:cubicBezTo>
                    <a:cubicBezTo>
                      <a:pt x="278" y="1"/>
                      <a:pt x="274" y="2"/>
                      <a:pt x="270" y="2"/>
                    </a:cubicBezTo>
                    <a:cubicBezTo>
                      <a:pt x="269" y="2"/>
                      <a:pt x="268" y="2"/>
                      <a:pt x="267" y="2"/>
                    </a:cubicBezTo>
                    <a:cubicBezTo>
                      <a:pt x="267" y="3"/>
                      <a:pt x="266" y="3"/>
                      <a:pt x="266" y="4"/>
                    </a:cubicBezTo>
                    <a:cubicBezTo>
                      <a:pt x="266" y="4"/>
                      <a:pt x="266" y="3"/>
                      <a:pt x="266" y="2"/>
                    </a:cubicBezTo>
                    <a:cubicBezTo>
                      <a:pt x="263" y="2"/>
                      <a:pt x="260" y="2"/>
                      <a:pt x="258" y="3"/>
                    </a:cubicBezTo>
                    <a:cubicBezTo>
                      <a:pt x="254" y="3"/>
                      <a:pt x="250" y="4"/>
                      <a:pt x="246" y="4"/>
                    </a:cubicBezTo>
                    <a:cubicBezTo>
                      <a:pt x="242" y="5"/>
                      <a:pt x="238" y="6"/>
                      <a:pt x="234" y="6"/>
                    </a:cubicBezTo>
                    <a:cubicBezTo>
                      <a:pt x="230" y="7"/>
                      <a:pt x="226" y="8"/>
                      <a:pt x="222" y="9"/>
                    </a:cubicBezTo>
                    <a:cubicBezTo>
                      <a:pt x="218" y="10"/>
                      <a:pt x="214" y="9"/>
                      <a:pt x="210" y="10"/>
                    </a:cubicBezTo>
                    <a:cubicBezTo>
                      <a:pt x="206" y="11"/>
                      <a:pt x="202" y="13"/>
                      <a:pt x="198" y="14"/>
                    </a:cubicBezTo>
                    <a:cubicBezTo>
                      <a:pt x="194" y="15"/>
                      <a:pt x="190" y="16"/>
                      <a:pt x="187" y="17"/>
                    </a:cubicBezTo>
                    <a:cubicBezTo>
                      <a:pt x="183" y="18"/>
                      <a:pt x="179" y="19"/>
                      <a:pt x="175" y="20"/>
                    </a:cubicBezTo>
                    <a:cubicBezTo>
                      <a:pt x="172" y="21"/>
                      <a:pt x="170" y="22"/>
                      <a:pt x="167" y="23"/>
                    </a:cubicBezTo>
                    <a:cubicBezTo>
                      <a:pt x="167" y="23"/>
                      <a:pt x="166" y="23"/>
                      <a:pt x="165" y="23"/>
                    </a:cubicBezTo>
                    <a:cubicBezTo>
                      <a:pt x="165" y="24"/>
                      <a:pt x="164" y="24"/>
                      <a:pt x="163" y="24"/>
                    </a:cubicBezTo>
                    <a:cubicBezTo>
                      <a:pt x="160" y="25"/>
                      <a:pt x="156" y="27"/>
                      <a:pt x="152" y="28"/>
                    </a:cubicBezTo>
                    <a:cubicBezTo>
                      <a:pt x="149" y="30"/>
                      <a:pt x="145" y="31"/>
                      <a:pt x="141" y="33"/>
                    </a:cubicBezTo>
                    <a:cubicBezTo>
                      <a:pt x="137" y="34"/>
                      <a:pt x="134" y="36"/>
                      <a:pt x="130" y="38"/>
                    </a:cubicBezTo>
                    <a:cubicBezTo>
                      <a:pt x="126" y="40"/>
                      <a:pt x="123" y="41"/>
                      <a:pt x="119" y="43"/>
                    </a:cubicBezTo>
                    <a:cubicBezTo>
                      <a:pt x="115" y="44"/>
                      <a:pt x="111" y="46"/>
                      <a:pt x="108" y="48"/>
                    </a:cubicBezTo>
                    <a:cubicBezTo>
                      <a:pt x="104" y="49"/>
                      <a:pt x="101" y="52"/>
                      <a:pt x="98" y="54"/>
                    </a:cubicBezTo>
                    <a:cubicBezTo>
                      <a:pt x="94" y="56"/>
                      <a:pt x="90" y="57"/>
                      <a:pt x="87" y="59"/>
                    </a:cubicBezTo>
                    <a:cubicBezTo>
                      <a:pt x="83" y="61"/>
                      <a:pt x="80" y="64"/>
                      <a:pt x="77" y="66"/>
                    </a:cubicBezTo>
                    <a:cubicBezTo>
                      <a:pt x="73" y="68"/>
                      <a:pt x="70" y="70"/>
                      <a:pt x="67" y="73"/>
                    </a:cubicBezTo>
                    <a:cubicBezTo>
                      <a:pt x="63" y="75"/>
                      <a:pt x="60" y="77"/>
                      <a:pt x="57" y="80"/>
                    </a:cubicBezTo>
                    <a:cubicBezTo>
                      <a:pt x="54" y="82"/>
                      <a:pt x="50" y="84"/>
                      <a:pt x="47" y="86"/>
                    </a:cubicBezTo>
                    <a:cubicBezTo>
                      <a:pt x="45" y="88"/>
                      <a:pt x="43" y="89"/>
                      <a:pt x="41" y="91"/>
                    </a:cubicBezTo>
                    <a:cubicBezTo>
                      <a:pt x="42" y="91"/>
                      <a:pt x="42" y="91"/>
                      <a:pt x="43" y="91"/>
                    </a:cubicBezTo>
                    <a:cubicBezTo>
                      <a:pt x="44" y="96"/>
                      <a:pt x="39" y="96"/>
                      <a:pt x="37" y="94"/>
                    </a:cubicBezTo>
                    <a:cubicBezTo>
                      <a:pt x="33" y="97"/>
                      <a:pt x="34" y="98"/>
                      <a:pt x="30" y="101"/>
                    </a:cubicBezTo>
                    <a:cubicBezTo>
                      <a:pt x="29" y="103"/>
                      <a:pt x="27" y="105"/>
                      <a:pt x="25" y="106"/>
                    </a:cubicBezTo>
                    <a:cubicBezTo>
                      <a:pt x="24" y="107"/>
                      <a:pt x="23" y="108"/>
                      <a:pt x="22" y="109"/>
                    </a:cubicBezTo>
                    <a:cubicBezTo>
                      <a:pt x="20" y="111"/>
                      <a:pt x="18" y="114"/>
                      <a:pt x="16" y="117"/>
                    </a:cubicBezTo>
                    <a:cubicBezTo>
                      <a:pt x="14" y="121"/>
                      <a:pt x="12" y="124"/>
                      <a:pt x="11" y="128"/>
                    </a:cubicBezTo>
                    <a:cubicBezTo>
                      <a:pt x="10" y="131"/>
                      <a:pt x="9" y="131"/>
                      <a:pt x="8" y="135"/>
                    </a:cubicBezTo>
                    <a:cubicBezTo>
                      <a:pt x="6" y="138"/>
                      <a:pt x="7" y="139"/>
                      <a:pt x="6" y="142"/>
                    </a:cubicBezTo>
                    <a:cubicBezTo>
                      <a:pt x="5" y="144"/>
                      <a:pt x="4" y="146"/>
                      <a:pt x="4" y="148"/>
                    </a:cubicBezTo>
                    <a:cubicBezTo>
                      <a:pt x="4" y="149"/>
                      <a:pt x="3" y="149"/>
                      <a:pt x="3" y="150"/>
                    </a:cubicBezTo>
                    <a:cubicBezTo>
                      <a:pt x="3" y="152"/>
                      <a:pt x="2" y="158"/>
                      <a:pt x="2" y="165"/>
                    </a:cubicBezTo>
                    <a:cubicBezTo>
                      <a:pt x="1" y="170"/>
                      <a:pt x="0" y="176"/>
                      <a:pt x="0" y="179"/>
                    </a:cubicBezTo>
                    <a:cubicBezTo>
                      <a:pt x="0" y="183"/>
                      <a:pt x="0" y="187"/>
                      <a:pt x="0" y="191"/>
                    </a:cubicBezTo>
                    <a:cubicBezTo>
                      <a:pt x="0" y="195"/>
                      <a:pt x="0" y="199"/>
                      <a:pt x="1" y="203"/>
                    </a:cubicBezTo>
                    <a:cubicBezTo>
                      <a:pt x="1" y="207"/>
                      <a:pt x="2" y="211"/>
                      <a:pt x="2" y="215"/>
                    </a:cubicBezTo>
                    <a:cubicBezTo>
                      <a:pt x="2" y="219"/>
                      <a:pt x="3" y="223"/>
                      <a:pt x="3" y="227"/>
                    </a:cubicBezTo>
                    <a:cubicBezTo>
                      <a:pt x="4" y="231"/>
                      <a:pt x="5" y="235"/>
                      <a:pt x="6" y="239"/>
                    </a:cubicBezTo>
                    <a:cubicBezTo>
                      <a:pt x="6" y="243"/>
                      <a:pt x="6" y="247"/>
                      <a:pt x="7" y="251"/>
                    </a:cubicBezTo>
                    <a:cubicBezTo>
                      <a:pt x="8" y="255"/>
                      <a:pt x="9" y="259"/>
                      <a:pt x="10" y="263"/>
                    </a:cubicBezTo>
                    <a:cubicBezTo>
                      <a:pt x="11" y="266"/>
                      <a:pt x="12" y="270"/>
                      <a:pt x="13" y="274"/>
                    </a:cubicBezTo>
                    <a:cubicBezTo>
                      <a:pt x="14" y="278"/>
                      <a:pt x="15" y="282"/>
                      <a:pt x="17" y="286"/>
                    </a:cubicBezTo>
                    <a:cubicBezTo>
                      <a:pt x="18" y="290"/>
                      <a:pt x="20" y="295"/>
                      <a:pt x="21" y="300"/>
                    </a:cubicBezTo>
                    <a:cubicBezTo>
                      <a:pt x="22" y="304"/>
                      <a:pt x="23" y="307"/>
                      <a:pt x="24" y="311"/>
                    </a:cubicBezTo>
                    <a:cubicBezTo>
                      <a:pt x="25" y="315"/>
                      <a:pt x="27" y="318"/>
                      <a:pt x="28" y="322"/>
                    </a:cubicBezTo>
                    <a:cubicBezTo>
                      <a:pt x="29" y="326"/>
                      <a:pt x="30" y="329"/>
                      <a:pt x="31" y="333"/>
                    </a:cubicBezTo>
                    <a:cubicBezTo>
                      <a:pt x="32" y="337"/>
                      <a:pt x="32" y="341"/>
                      <a:pt x="33" y="344"/>
                    </a:cubicBezTo>
                    <a:cubicBezTo>
                      <a:pt x="34" y="348"/>
                      <a:pt x="35" y="352"/>
                      <a:pt x="36" y="356"/>
                    </a:cubicBezTo>
                    <a:cubicBezTo>
                      <a:pt x="37" y="359"/>
                      <a:pt x="38" y="363"/>
                      <a:pt x="38" y="367"/>
                    </a:cubicBezTo>
                    <a:cubicBezTo>
                      <a:pt x="39" y="371"/>
                      <a:pt x="40" y="374"/>
                      <a:pt x="40" y="378"/>
                    </a:cubicBezTo>
                    <a:cubicBezTo>
                      <a:pt x="41" y="382"/>
                      <a:pt x="40" y="386"/>
                      <a:pt x="41" y="390"/>
                    </a:cubicBezTo>
                    <a:cubicBezTo>
                      <a:pt x="41" y="394"/>
                      <a:pt x="42" y="397"/>
                      <a:pt x="42" y="401"/>
                    </a:cubicBezTo>
                    <a:cubicBezTo>
                      <a:pt x="42" y="405"/>
                      <a:pt x="42" y="409"/>
                      <a:pt x="42" y="413"/>
                    </a:cubicBezTo>
                    <a:cubicBezTo>
                      <a:pt x="42" y="417"/>
                      <a:pt x="42" y="421"/>
                      <a:pt x="42" y="424"/>
                    </a:cubicBezTo>
                    <a:cubicBezTo>
                      <a:pt x="41" y="428"/>
                      <a:pt x="41" y="432"/>
                      <a:pt x="41" y="436"/>
                    </a:cubicBezTo>
                    <a:cubicBezTo>
                      <a:pt x="41" y="440"/>
                      <a:pt x="42" y="444"/>
                      <a:pt x="43" y="448"/>
                    </a:cubicBezTo>
                    <a:cubicBezTo>
                      <a:pt x="44" y="452"/>
                      <a:pt x="44" y="456"/>
                      <a:pt x="46" y="460"/>
                    </a:cubicBezTo>
                    <a:cubicBezTo>
                      <a:pt x="48" y="464"/>
                      <a:pt x="50" y="468"/>
                      <a:pt x="52" y="471"/>
                    </a:cubicBezTo>
                    <a:cubicBezTo>
                      <a:pt x="54" y="475"/>
                      <a:pt x="57" y="478"/>
                      <a:pt x="60" y="481"/>
                    </a:cubicBezTo>
                    <a:cubicBezTo>
                      <a:pt x="63" y="484"/>
                      <a:pt x="67" y="487"/>
                      <a:pt x="70" y="489"/>
                    </a:cubicBezTo>
                    <a:cubicBezTo>
                      <a:pt x="74" y="491"/>
                      <a:pt x="78" y="493"/>
                      <a:pt x="82" y="495"/>
                    </a:cubicBezTo>
                    <a:cubicBezTo>
                      <a:pt x="86" y="496"/>
                      <a:pt x="90" y="497"/>
                      <a:pt x="95" y="498"/>
                    </a:cubicBezTo>
                    <a:cubicBezTo>
                      <a:pt x="99" y="498"/>
                      <a:pt x="103" y="499"/>
                      <a:pt x="108" y="499"/>
                    </a:cubicBezTo>
                    <a:cubicBezTo>
                      <a:pt x="108" y="499"/>
                      <a:pt x="108" y="499"/>
                      <a:pt x="109" y="499"/>
                    </a:cubicBezTo>
                    <a:cubicBezTo>
                      <a:pt x="113" y="499"/>
                      <a:pt x="118" y="499"/>
                      <a:pt x="122" y="498"/>
                    </a:cubicBezTo>
                    <a:cubicBezTo>
                      <a:pt x="126" y="498"/>
                      <a:pt x="130" y="498"/>
                      <a:pt x="135" y="497"/>
                    </a:cubicBezTo>
                    <a:cubicBezTo>
                      <a:pt x="139" y="497"/>
                      <a:pt x="143" y="496"/>
                      <a:pt x="147" y="496"/>
                    </a:cubicBezTo>
                    <a:cubicBezTo>
                      <a:pt x="151" y="495"/>
                      <a:pt x="155" y="493"/>
                      <a:pt x="160" y="492"/>
                    </a:cubicBezTo>
                    <a:cubicBezTo>
                      <a:pt x="164" y="491"/>
                      <a:pt x="168" y="490"/>
                      <a:pt x="172" y="489"/>
                    </a:cubicBezTo>
                    <a:cubicBezTo>
                      <a:pt x="176" y="489"/>
                      <a:pt x="179" y="488"/>
                      <a:pt x="183" y="487"/>
                    </a:cubicBezTo>
                    <a:cubicBezTo>
                      <a:pt x="186" y="486"/>
                      <a:pt x="190" y="485"/>
                      <a:pt x="193" y="485"/>
                    </a:cubicBezTo>
                    <a:cubicBezTo>
                      <a:pt x="197" y="484"/>
                      <a:pt x="200" y="484"/>
                      <a:pt x="204" y="484"/>
                    </a:cubicBezTo>
                    <a:cubicBezTo>
                      <a:pt x="207" y="483"/>
                      <a:pt x="207" y="482"/>
                      <a:pt x="211" y="482"/>
                    </a:cubicBezTo>
                    <a:cubicBezTo>
                      <a:pt x="214" y="481"/>
                      <a:pt x="214" y="482"/>
                      <a:pt x="218" y="481"/>
                    </a:cubicBezTo>
                    <a:cubicBezTo>
                      <a:pt x="221" y="481"/>
                      <a:pt x="221" y="481"/>
                      <a:pt x="225" y="480"/>
                    </a:cubicBezTo>
                    <a:cubicBezTo>
                      <a:pt x="230" y="479"/>
                      <a:pt x="230" y="478"/>
                      <a:pt x="236" y="477"/>
                    </a:cubicBezTo>
                    <a:cubicBezTo>
                      <a:pt x="238" y="476"/>
                      <a:pt x="238" y="476"/>
                      <a:pt x="240" y="475"/>
                    </a:cubicBezTo>
                    <a:cubicBezTo>
                      <a:pt x="243" y="475"/>
                      <a:pt x="243" y="475"/>
                      <a:pt x="245" y="475"/>
                    </a:cubicBezTo>
                    <a:cubicBezTo>
                      <a:pt x="248" y="474"/>
                      <a:pt x="248" y="475"/>
                      <a:pt x="250" y="474"/>
                    </a:cubicBezTo>
                    <a:cubicBezTo>
                      <a:pt x="254" y="474"/>
                      <a:pt x="257" y="472"/>
                      <a:pt x="261" y="471"/>
                    </a:cubicBezTo>
                    <a:cubicBezTo>
                      <a:pt x="265" y="471"/>
                      <a:pt x="269" y="470"/>
                      <a:pt x="273" y="470"/>
                    </a:cubicBezTo>
                    <a:cubicBezTo>
                      <a:pt x="276" y="469"/>
                      <a:pt x="280" y="468"/>
                      <a:pt x="284" y="467"/>
                    </a:cubicBezTo>
                    <a:cubicBezTo>
                      <a:pt x="288" y="466"/>
                      <a:pt x="292" y="467"/>
                      <a:pt x="295" y="466"/>
                    </a:cubicBezTo>
                    <a:cubicBezTo>
                      <a:pt x="299" y="465"/>
                      <a:pt x="303" y="464"/>
                      <a:pt x="307" y="464"/>
                    </a:cubicBezTo>
                    <a:cubicBezTo>
                      <a:pt x="310" y="463"/>
                      <a:pt x="314" y="462"/>
                      <a:pt x="318" y="461"/>
                    </a:cubicBezTo>
                    <a:cubicBezTo>
                      <a:pt x="322" y="461"/>
                      <a:pt x="325" y="460"/>
                      <a:pt x="329" y="459"/>
                    </a:cubicBezTo>
                    <a:cubicBezTo>
                      <a:pt x="333" y="458"/>
                      <a:pt x="337" y="458"/>
                      <a:pt x="341" y="458"/>
                    </a:cubicBezTo>
                    <a:cubicBezTo>
                      <a:pt x="345" y="457"/>
                      <a:pt x="348" y="456"/>
                      <a:pt x="352" y="455"/>
                    </a:cubicBezTo>
                    <a:cubicBezTo>
                      <a:pt x="356" y="454"/>
                      <a:pt x="360" y="454"/>
                      <a:pt x="364" y="454"/>
                    </a:cubicBezTo>
                    <a:cubicBezTo>
                      <a:pt x="367" y="453"/>
                      <a:pt x="371" y="453"/>
                      <a:pt x="375" y="452"/>
                    </a:cubicBezTo>
                    <a:cubicBezTo>
                      <a:pt x="379" y="452"/>
                      <a:pt x="382" y="450"/>
                      <a:pt x="386" y="450"/>
                    </a:cubicBezTo>
                    <a:cubicBezTo>
                      <a:pt x="390" y="449"/>
                      <a:pt x="394" y="449"/>
                      <a:pt x="398" y="448"/>
                    </a:cubicBezTo>
                    <a:cubicBezTo>
                      <a:pt x="402" y="448"/>
                      <a:pt x="405" y="446"/>
                      <a:pt x="409" y="446"/>
                    </a:cubicBezTo>
                    <a:cubicBezTo>
                      <a:pt x="413" y="445"/>
                      <a:pt x="417" y="445"/>
                      <a:pt x="420" y="444"/>
                    </a:cubicBezTo>
                    <a:cubicBezTo>
                      <a:pt x="424" y="443"/>
                      <a:pt x="428" y="443"/>
                      <a:pt x="432" y="442"/>
                    </a:cubicBezTo>
                    <a:cubicBezTo>
                      <a:pt x="436" y="442"/>
                      <a:pt x="439" y="442"/>
                      <a:pt x="443" y="441"/>
                    </a:cubicBezTo>
                    <a:cubicBezTo>
                      <a:pt x="447" y="441"/>
                      <a:pt x="451" y="439"/>
                      <a:pt x="454" y="439"/>
                    </a:cubicBezTo>
                    <a:cubicBezTo>
                      <a:pt x="457" y="439"/>
                      <a:pt x="461" y="439"/>
                      <a:pt x="464" y="438"/>
                    </a:cubicBezTo>
                    <a:cubicBezTo>
                      <a:pt x="468" y="438"/>
                      <a:pt x="471" y="437"/>
                      <a:pt x="474" y="437"/>
                    </a:cubicBezTo>
                    <a:cubicBezTo>
                      <a:pt x="478" y="437"/>
                      <a:pt x="481" y="437"/>
                      <a:pt x="485" y="436"/>
                    </a:cubicBezTo>
                    <a:cubicBezTo>
                      <a:pt x="489" y="436"/>
                      <a:pt x="493" y="435"/>
                      <a:pt x="497" y="434"/>
                    </a:cubicBezTo>
                    <a:cubicBezTo>
                      <a:pt x="502" y="434"/>
                      <a:pt x="506" y="433"/>
                      <a:pt x="510" y="433"/>
                    </a:cubicBezTo>
                    <a:cubicBezTo>
                      <a:pt x="516" y="432"/>
                      <a:pt x="520" y="431"/>
                      <a:pt x="522" y="430"/>
                    </a:cubicBezTo>
                    <a:cubicBezTo>
                      <a:pt x="526" y="430"/>
                      <a:pt x="530" y="429"/>
                      <a:pt x="534" y="429"/>
                    </a:cubicBezTo>
                    <a:cubicBezTo>
                      <a:pt x="538" y="428"/>
                      <a:pt x="542" y="428"/>
                      <a:pt x="546" y="428"/>
                    </a:cubicBezTo>
                    <a:cubicBezTo>
                      <a:pt x="550" y="427"/>
                      <a:pt x="554" y="427"/>
                      <a:pt x="557" y="426"/>
                    </a:cubicBezTo>
                    <a:cubicBezTo>
                      <a:pt x="563" y="426"/>
                      <a:pt x="567" y="425"/>
                      <a:pt x="569" y="425"/>
                    </a:cubicBezTo>
                    <a:cubicBezTo>
                      <a:pt x="570" y="425"/>
                      <a:pt x="570" y="426"/>
                      <a:pt x="571" y="426"/>
                    </a:cubicBezTo>
                    <a:cubicBezTo>
                      <a:pt x="575" y="425"/>
                      <a:pt x="575" y="425"/>
                      <a:pt x="579" y="424"/>
                    </a:cubicBezTo>
                    <a:cubicBezTo>
                      <a:pt x="583" y="424"/>
                      <a:pt x="587" y="424"/>
                      <a:pt x="591" y="423"/>
                    </a:cubicBezTo>
                    <a:cubicBezTo>
                      <a:pt x="594" y="423"/>
                      <a:pt x="598" y="422"/>
                      <a:pt x="602" y="422"/>
                    </a:cubicBezTo>
                    <a:cubicBezTo>
                      <a:pt x="606" y="421"/>
                      <a:pt x="610" y="422"/>
                      <a:pt x="614" y="421"/>
                    </a:cubicBezTo>
                    <a:cubicBezTo>
                      <a:pt x="617" y="421"/>
                      <a:pt x="621" y="419"/>
                      <a:pt x="625" y="419"/>
                    </a:cubicBezTo>
                    <a:cubicBezTo>
                      <a:pt x="629" y="418"/>
                      <a:pt x="633" y="419"/>
                      <a:pt x="636" y="419"/>
                    </a:cubicBezTo>
                    <a:cubicBezTo>
                      <a:pt x="640" y="418"/>
                      <a:pt x="644" y="418"/>
                      <a:pt x="648" y="417"/>
                    </a:cubicBezTo>
                    <a:cubicBezTo>
                      <a:pt x="652" y="417"/>
                      <a:pt x="656" y="416"/>
                      <a:pt x="659" y="416"/>
                    </a:cubicBezTo>
                    <a:cubicBezTo>
                      <a:pt x="664" y="416"/>
                      <a:pt x="668" y="415"/>
                      <a:pt x="672" y="414"/>
                    </a:cubicBezTo>
                    <a:cubicBezTo>
                      <a:pt x="676" y="414"/>
                      <a:pt x="681" y="415"/>
                      <a:pt x="685" y="414"/>
                    </a:cubicBezTo>
                    <a:cubicBezTo>
                      <a:pt x="689" y="414"/>
                      <a:pt x="693" y="413"/>
                      <a:pt x="697" y="413"/>
                    </a:cubicBezTo>
                    <a:cubicBezTo>
                      <a:pt x="702" y="412"/>
                      <a:pt x="706" y="412"/>
                      <a:pt x="710" y="412"/>
                    </a:cubicBezTo>
                    <a:cubicBezTo>
                      <a:pt x="715" y="412"/>
                      <a:pt x="719" y="412"/>
                      <a:pt x="723" y="411"/>
                    </a:cubicBezTo>
                    <a:cubicBezTo>
                      <a:pt x="727" y="411"/>
                      <a:pt x="731" y="411"/>
                      <a:pt x="735" y="411"/>
                    </a:cubicBezTo>
                    <a:cubicBezTo>
                      <a:pt x="739" y="411"/>
                      <a:pt x="742" y="411"/>
                      <a:pt x="746" y="411"/>
                    </a:cubicBezTo>
                    <a:cubicBezTo>
                      <a:pt x="750" y="411"/>
                      <a:pt x="754" y="410"/>
                      <a:pt x="758" y="410"/>
                    </a:cubicBezTo>
                    <a:cubicBezTo>
                      <a:pt x="762" y="409"/>
                      <a:pt x="766" y="409"/>
                      <a:pt x="770" y="409"/>
                    </a:cubicBezTo>
                    <a:cubicBezTo>
                      <a:pt x="774" y="409"/>
                      <a:pt x="778" y="409"/>
                      <a:pt x="782" y="409"/>
                    </a:cubicBezTo>
                    <a:cubicBezTo>
                      <a:pt x="786" y="409"/>
                      <a:pt x="790" y="408"/>
                      <a:pt x="794" y="408"/>
                    </a:cubicBezTo>
                    <a:cubicBezTo>
                      <a:pt x="799" y="408"/>
                      <a:pt x="803" y="408"/>
                      <a:pt x="807" y="408"/>
                    </a:cubicBezTo>
                    <a:cubicBezTo>
                      <a:pt x="811" y="408"/>
                      <a:pt x="816" y="408"/>
                      <a:pt x="820" y="408"/>
                    </a:cubicBezTo>
                    <a:cubicBezTo>
                      <a:pt x="824" y="408"/>
                      <a:pt x="828" y="408"/>
                      <a:pt x="832" y="408"/>
                    </a:cubicBezTo>
                    <a:cubicBezTo>
                      <a:pt x="836" y="408"/>
                      <a:pt x="840" y="409"/>
                      <a:pt x="844" y="409"/>
                    </a:cubicBezTo>
                    <a:cubicBezTo>
                      <a:pt x="848" y="409"/>
                      <a:pt x="852" y="408"/>
                      <a:pt x="856" y="408"/>
                    </a:cubicBezTo>
                    <a:cubicBezTo>
                      <a:pt x="860" y="408"/>
                      <a:pt x="864" y="409"/>
                      <a:pt x="868" y="409"/>
                    </a:cubicBezTo>
                    <a:cubicBezTo>
                      <a:pt x="872" y="409"/>
                      <a:pt x="876" y="410"/>
                      <a:pt x="880" y="410"/>
                    </a:cubicBezTo>
                    <a:cubicBezTo>
                      <a:pt x="884" y="410"/>
                      <a:pt x="888" y="410"/>
                      <a:pt x="892" y="410"/>
                    </a:cubicBezTo>
                    <a:cubicBezTo>
                      <a:pt x="896" y="410"/>
                      <a:pt x="900" y="411"/>
                      <a:pt x="904" y="411"/>
                    </a:cubicBezTo>
                    <a:cubicBezTo>
                      <a:pt x="908" y="411"/>
                      <a:pt x="912" y="411"/>
                      <a:pt x="916" y="411"/>
                    </a:cubicBezTo>
                    <a:cubicBezTo>
                      <a:pt x="920" y="412"/>
                      <a:pt x="924" y="412"/>
                      <a:pt x="928" y="412"/>
                    </a:cubicBezTo>
                    <a:cubicBezTo>
                      <a:pt x="932" y="412"/>
                      <a:pt x="936" y="412"/>
                      <a:pt x="940" y="413"/>
                    </a:cubicBezTo>
                    <a:cubicBezTo>
                      <a:pt x="944" y="413"/>
                      <a:pt x="948" y="413"/>
                      <a:pt x="952" y="413"/>
                    </a:cubicBezTo>
                    <a:cubicBezTo>
                      <a:pt x="956" y="414"/>
                      <a:pt x="960" y="414"/>
                      <a:pt x="964" y="414"/>
                    </a:cubicBezTo>
                    <a:cubicBezTo>
                      <a:pt x="968" y="414"/>
                      <a:pt x="972" y="415"/>
                      <a:pt x="976" y="415"/>
                    </a:cubicBezTo>
                    <a:cubicBezTo>
                      <a:pt x="980" y="415"/>
                      <a:pt x="984" y="416"/>
                      <a:pt x="988" y="416"/>
                    </a:cubicBezTo>
                    <a:cubicBezTo>
                      <a:pt x="992" y="416"/>
                      <a:pt x="996" y="417"/>
                      <a:pt x="1000" y="417"/>
                    </a:cubicBezTo>
                    <a:cubicBezTo>
                      <a:pt x="1004" y="418"/>
                      <a:pt x="1008" y="418"/>
                      <a:pt x="1012" y="418"/>
                    </a:cubicBezTo>
                    <a:cubicBezTo>
                      <a:pt x="1016" y="419"/>
                      <a:pt x="1020" y="419"/>
                      <a:pt x="1024" y="419"/>
                    </a:cubicBezTo>
                    <a:cubicBezTo>
                      <a:pt x="1028" y="419"/>
                      <a:pt x="1032" y="420"/>
                      <a:pt x="1036" y="420"/>
                    </a:cubicBezTo>
                    <a:cubicBezTo>
                      <a:pt x="1040" y="420"/>
                      <a:pt x="1044" y="421"/>
                      <a:pt x="1048" y="421"/>
                    </a:cubicBezTo>
                    <a:cubicBezTo>
                      <a:pt x="1052" y="422"/>
                      <a:pt x="1056" y="423"/>
                      <a:pt x="1060" y="423"/>
                    </a:cubicBezTo>
                    <a:cubicBezTo>
                      <a:pt x="1064" y="423"/>
                      <a:pt x="1068" y="424"/>
                      <a:pt x="1072" y="425"/>
                    </a:cubicBezTo>
                    <a:cubicBezTo>
                      <a:pt x="1076" y="425"/>
                      <a:pt x="1080" y="425"/>
                      <a:pt x="1084" y="425"/>
                    </a:cubicBezTo>
                    <a:cubicBezTo>
                      <a:pt x="1088" y="426"/>
                      <a:pt x="1092" y="426"/>
                      <a:pt x="1096" y="427"/>
                    </a:cubicBezTo>
                    <a:cubicBezTo>
                      <a:pt x="1100" y="427"/>
                      <a:pt x="1104" y="428"/>
                      <a:pt x="1108" y="428"/>
                    </a:cubicBezTo>
                    <a:cubicBezTo>
                      <a:pt x="1112" y="429"/>
                      <a:pt x="1116" y="429"/>
                      <a:pt x="1120" y="429"/>
                    </a:cubicBezTo>
                    <a:cubicBezTo>
                      <a:pt x="1124" y="430"/>
                      <a:pt x="1128" y="430"/>
                      <a:pt x="1132" y="431"/>
                    </a:cubicBezTo>
                    <a:cubicBezTo>
                      <a:pt x="1136" y="431"/>
                      <a:pt x="1140" y="433"/>
                      <a:pt x="1144" y="433"/>
                    </a:cubicBezTo>
                    <a:cubicBezTo>
                      <a:pt x="1148" y="434"/>
                      <a:pt x="1152" y="434"/>
                      <a:pt x="1156" y="435"/>
                    </a:cubicBezTo>
                    <a:cubicBezTo>
                      <a:pt x="1160" y="435"/>
                      <a:pt x="1164" y="435"/>
                      <a:pt x="1168" y="436"/>
                    </a:cubicBezTo>
                    <a:cubicBezTo>
                      <a:pt x="1172" y="436"/>
                      <a:pt x="1176" y="437"/>
                      <a:pt x="1180" y="437"/>
                    </a:cubicBezTo>
                    <a:cubicBezTo>
                      <a:pt x="1184" y="438"/>
                      <a:pt x="1188" y="439"/>
                      <a:pt x="1192" y="439"/>
                    </a:cubicBezTo>
                    <a:cubicBezTo>
                      <a:pt x="1196" y="440"/>
                      <a:pt x="1200" y="440"/>
                      <a:pt x="1204" y="441"/>
                    </a:cubicBezTo>
                    <a:cubicBezTo>
                      <a:pt x="1208" y="442"/>
                      <a:pt x="1212" y="442"/>
                      <a:pt x="1215" y="443"/>
                    </a:cubicBezTo>
                    <a:cubicBezTo>
                      <a:pt x="1219" y="444"/>
                      <a:pt x="1223" y="444"/>
                      <a:pt x="1227" y="444"/>
                    </a:cubicBezTo>
                    <a:cubicBezTo>
                      <a:pt x="1231" y="445"/>
                      <a:pt x="1235" y="445"/>
                      <a:pt x="1239" y="446"/>
                    </a:cubicBezTo>
                    <a:cubicBezTo>
                      <a:pt x="1243" y="447"/>
                      <a:pt x="1247" y="447"/>
                      <a:pt x="1251" y="448"/>
                    </a:cubicBezTo>
                    <a:cubicBezTo>
                      <a:pt x="1255" y="448"/>
                      <a:pt x="1259" y="449"/>
                      <a:pt x="1263" y="450"/>
                    </a:cubicBezTo>
                    <a:cubicBezTo>
                      <a:pt x="1267" y="450"/>
                      <a:pt x="1271" y="451"/>
                      <a:pt x="1275" y="452"/>
                    </a:cubicBezTo>
                    <a:cubicBezTo>
                      <a:pt x="1279" y="452"/>
                      <a:pt x="1283" y="453"/>
                      <a:pt x="1287" y="454"/>
                    </a:cubicBezTo>
                    <a:cubicBezTo>
                      <a:pt x="1291" y="455"/>
                      <a:pt x="1295" y="456"/>
                      <a:pt x="1298" y="456"/>
                    </a:cubicBezTo>
                    <a:cubicBezTo>
                      <a:pt x="1302" y="457"/>
                      <a:pt x="1306" y="458"/>
                      <a:pt x="1310" y="458"/>
                    </a:cubicBezTo>
                    <a:cubicBezTo>
                      <a:pt x="1314" y="459"/>
                      <a:pt x="1318" y="459"/>
                      <a:pt x="1322" y="460"/>
                    </a:cubicBezTo>
                    <a:cubicBezTo>
                      <a:pt x="1326" y="460"/>
                      <a:pt x="1330" y="462"/>
                      <a:pt x="1334" y="463"/>
                    </a:cubicBezTo>
                    <a:cubicBezTo>
                      <a:pt x="1338" y="463"/>
                      <a:pt x="1342" y="463"/>
                      <a:pt x="1346" y="464"/>
                    </a:cubicBezTo>
                    <a:cubicBezTo>
                      <a:pt x="1350" y="465"/>
                      <a:pt x="1354" y="465"/>
                      <a:pt x="1358" y="466"/>
                    </a:cubicBezTo>
                    <a:cubicBezTo>
                      <a:pt x="1362" y="467"/>
                      <a:pt x="1366" y="468"/>
                      <a:pt x="1370" y="469"/>
                    </a:cubicBezTo>
                    <a:cubicBezTo>
                      <a:pt x="1373" y="470"/>
                      <a:pt x="1378" y="470"/>
                      <a:pt x="1381" y="471"/>
                    </a:cubicBezTo>
                    <a:cubicBezTo>
                      <a:pt x="1385" y="471"/>
                      <a:pt x="1389" y="472"/>
                      <a:pt x="1393" y="473"/>
                    </a:cubicBezTo>
                    <a:cubicBezTo>
                      <a:pt x="1397" y="474"/>
                      <a:pt x="1401" y="475"/>
                      <a:pt x="1405" y="476"/>
                    </a:cubicBezTo>
                    <a:cubicBezTo>
                      <a:pt x="1409" y="476"/>
                      <a:pt x="1413" y="477"/>
                      <a:pt x="1417" y="477"/>
                    </a:cubicBezTo>
                    <a:cubicBezTo>
                      <a:pt x="1421" y="478"/>
                      <a:pt x="1425" y="479"/>
                      <a:pt x="1429" y="480"/>
                    </a:cubicBezTo>
                    <a:cubicBezTo>
                      <a:pt x="1433" y="481"/>
                      <a:pt x="1437" y="481"/>
                      <a:pt x="1441" y="482"/>
                    </a:cubicBezTo>
                    <a:cubicBezTo>
                      <a:pt x="1445" y="483"/>
                      <a:pt x="1448" y="484"/>
                      <a:pt x="1452" y="485"/>
                    </a:cubicBezTo>
                    <a:cubicBezTo>
                      <a:pt x="1456" y="486"/>
                      <a:pt x="1460" y="487"/>
                      <a:pt x="1464" y="488"/>
                    </a:cubicBezTo>
                    <a:cubicBezTo>
                      <a:pt x="1468" y="489"/>
                      <a:pt x="1472" y="490"/>
                      <a:pt x="1476" y="490"/>
                    </a:cubicBezTo>
                    <a:cubicBezTo>
                      <a:pt x="1477" y="491"/>
                      <a:pt x="1477" y="490"/>
                      <a:pt x="1478" y="490"/>
                    </a:cubicBezTo>
                    <a:cubicBezTo>
                      <a:pt x="1482" y="491"/>
                      <a:pt x="1486" y="492"/>
                      <a:pt x="1490" y="493"/>
                    </a:cubicBezTo>
                    <a:cubicBezTo>
                      <a:pt x="1494" y="494"/>
                      <a:pt x="1498" y="494"/>
                      <a:pt x="1502" y="495"/>
                    </a:cubicBezTo>
                    <a:cubicBezTo>
                      <a:pt x="1506" y="496"/>
                      <a:pt x="1510" y="496"/>
                      <a:pt x="1513" y="497"/>
                    </a:cubicBezTo>
                    <a:cubicBezTo>
                      <a:pt x="1517" y="497"/>
                      <a:pt x="1522" y="497"/>
                      <a:pt x="1526" y="497"/>
                    </a:cubicBezTo>
                    <a:cubicBezTo>
                      <a:pt x="1529" y="497"/>
                      <a:pt x="1533" y="497"/>
                      <a:pt x="1536" y="497"/>
                    </a:cubicBezTo>
                    <a:cubicBezTo>
                      <a:pt x="1540" y="496"/>
                      <a:pt x="1543" y="495"/>
                      <a:pt x="1546" y="494"/>
                    </a:cubicBezTo>
                    <a:cubicBezTo>
                      <a:pt x="1550" y="493"/>
                      <a:pt x="1553" y="493"/>
                      <a:pt x="1556" y="492"/>
                    </a:cubicBezTo>
                    <a:cubicBezTo>
                      <a:pt x="1560" y="490"/>
                      <a:pt x="1563" y="488"/>
                      <a:pt x="1566" y="486"/>
                    </a:cubicBezTo>
                    <a:cubicBezTo>
                      <a:pt x="1569" y="484"/>
                      <a:pt x="1572" y="481"/>
                      <a:pt x="1575" y="479"/>
                    </a:cubicBezTo>
                    <a:cubicBezTo>
                      <a:pt x="1578" y="476"/>
                      <a:pt x="1582" y="473"/>
                      <a:pt x="1584" y="469"/>
                    </a:cubicBezTo>
                    <a:cubicBezTo>
                      <a:pt x="1586" y="466"/>
                      <a:pt x="1588" y="462"/>
                      <a:pt x="1590" y="458"/>
                    </a:cubicBezTo>
                    <a:cubicBezTo>
                      <a:pt x="1591" y="454"/>
                      <a:pt x="1591" y="450"/>
                      <a:pt x="1592" y="446"/>
                    </a:cubicBezTo>
                    <a:cubicBezTo>
                      <a:pt x="1593" y="442"/>
                      <a:pt x="1594" y="438"/>
                      <a:pt x="1594" y="433"/>
                    </a:cubicBezTo>
                    <a:cubicBezTo>
                      <a:pt x="1594" y="429"/>
                      <a:pt x="1595" y="425"/>
                      <a:pt x="1595" y="421"/>
                    </a:cubicBezTo>
                    <a:cubicBezTo>
                      <a:pt x="1594" y="417"/>
                      <a:pt x="1594" y="412"/>
                      <a:pt x="1594" y="408"/>
                    </a:cubicBezTo>
                    <a:cubicBezTo>
                      <a:pt x="1594" y="404"/>
                      <a:pt x="1593" y="400"/>
                      <a:pt x="1593" y="396"/>
                    </a:cubicBezTo>
                    <a:cubicBezTo>
                      <a:pt x="1593" y="392"/>
                      <a:pt x="1594" y="388"/>
                      <a:pt x="1595" y="384"/>
                    </a:cubicBezTo>
                    <a:cubicBezTo>
                      <a:pt x="1595" y="380"/>
                      <a:pt x="1595" y="376"/>
                      <a:pt x="1596" y="372"/>
                    </a:cubicBezTo>
                    <a:cubicBezTo>
                      <a:pt x="1597" y="368"/>
                      <a:pt x="1597" y="364"/>
                      <a:pt x="1597" y="360"/>
                    </a:cubicBezTo>
                    <a:cubicBezTo>
                      <a:pt x="1598" y="357"/>
                      <a:pt x="1599" y="353"/>
                      <a:pt x="1600" y="349"/>
                    </a:cubicBezTo>
                    <a:cubicBezTo>
                      <a:pt x="1601" y="345"/>
                      <a:pt x="1602" y="341"/>
                      <a:pt x="1603" y="337"/>
                    </a:cubicBezTo>
                    <a:cubicBezTo>
                      <a:pt x="1604" y="333"/>
                      <a:pt x="1605" y="329"/>
                      <a:pt x="1606" y="326"/>
                    </a:cubicBezTo>
                    <a:cubicBezTo>
                      <a:pt x="1607" y="322"/>
                      <a:pt x="1609" y="318"/>
                      <a:pt x="1610" y="314"/>
                    </a:cubicBezTo>
                    <a:cubicBezTo>
                      <a:pt x="1611" y="310"/>
                      <a:pt x="1612" y="306"/>
                      <a:pt x="1613" y="303"/>
                    </a:cubicBezTo>
                    <a:cubicBezTo>
                      <a:pt x="1615" y="298"/>
                      <a:pt x="1616" y="293"/>
                      <a:pt x="1617" y="289"/>
                    </a:cubicBezTo>
                    <a:cubicBezTo>
                      <a:pt x="1619" y="284"/>
                      <a:pt x="1620" y="280"/>
                      <a:pt x="1621" y="275"/>
                    </a:cubicBezTo>
                    <a:cubicBezTo>
                      <a:pt x="1622" y="271"/>
                      <a:pt x="1624" y="267"/>
                      <a:pt x="1626" y="263"/>
                    </a:cubicBezTo>
                    <a:cubicBezTo>
                      <a:pt x="1627" y="259"/>
                      <a:pt x="1627" y="255"/>
                      <a:pt x="1628" y="251"/>
                    </a:cubicBezTo>
                    <a:cubicBezTo>
                      <a:pt x="1629" y="247"/>
                      <a:pt x="1630" y="243"/>
                      <a:pt x="1630" y="239"/>
                    </a:cubicBezTo>
                    <a:cubicBezTo>
                      <a:pt x="1631" y="235"/>
                      <a:pt x="1632" y="231"/>
                      <a:pt x="1632" y="227"/>
                    </a:cubicBezTo>
                    <a:cubicBezTo>
                      <a:pt x="1633" y="222"/>
                      <a:pt x="1633" y="218"/>
                      <a:pt x="1634" y="214"/>
                    </a:cubicBezTo>
                    <a:cubicBezTo>
                      <a:pt x="1634" y="210"/>
                      <a:pt x="1635" y="206"/>
                      <a:pt x="1635" y="202"/>
                    </a:cubicBezTo>
                    <a:cubicBezTo>
                      <a:pt x="1635" y="197"/>
                      <a:pt x="1635" y="193"/>
                      <a:pt x="1635" y="189"/>
                    </a:cubicBezTo>
                    <a:cubicBezTo>
                      <a:pt x="1635" y="185"/>
                      <a:pt x="1635" y="181"/>
                      <a:pt x="1635" y="177"/>
                    </a:cubicBezTo>
                    <a:close/>
                    <a:moveTo>
                      <a:pt x="1607" y="111"/>
                    </a:moveTo>
                    <a:cubicBezTo>
                      <a:pt x="1611" y="110"/>
                      <a:pt x="1612" y="116"/>
                      <a:pt x="1609" y="117"/>
                    </a:cubicBezTo>
                    <a:cubicBezTo>
                      <a:pt x="1606" y="118"/>
                      <a:pt x="1602" y="112"/>
                      <a:pt x="1607" y="111"/>
                    </a:cubicBezTo>
                    <a:close/>
                    <a:moveTo>
                      <a:pt x="1595" y="103"/>
                    </a:moveTo>
                    <a:cubicBezTo>
                      <a:pt x="1600" y="102"/>
                      <a:pt x="1604" y="110"/>
                      <a:pt x="1601" y="111"/>
                    </a:cubicBezTo>
                    <a:cubicBezTo>
                      <a:pt x="1602" y="106"/>
                      <a:pt x="1594" y="109"/>
                      <a:pt x="1595" y="103"/>
                    </a:cubicBezTo>
                    <a:close/>
                    <a:moveTo>
                      <a:pt x="1537" y="57"/>
                    </a:moveTo>
                    <a:cubicBezTo>
                      <a:pt x="1538" y="57"/>
                      <a:pt x="1539" y="59"/>
                      <a:pt x="1539" y="61"/>
                    </a:cubicBezTo>
                    <a:cubicBezTo>
                      <a:pt x="1536" y="65"/>
                      <a:pt x="1532" y="57"/>
                      <a:pt x="1537" y="57"/>
                    </a:cubicBezTo>
                    <a:close/>
                    <a:moveTo>
                      <a:pt x="1268" y="23"/>
                    </a:moveTo>
                    <a:cubicBezTo>
                      <a:pt x="1269" y="23"/>
                      <a:pt x="1269" y="23"/>
                      <a:pt x="1270" y="23"/>
                    </a:cubicBezTo>
                    <a:cubicBezTo>
                      <a:pt x="1269" y="24"/>
                      <a:pt x="1269" y="25"/>
                      <a:pt x="1267" y="25"/>
                    </a:cubicBezTo>
                    <a:cubicBezTo>
                      <a:pt x="1267" y="23"/>
                      <a:pt x="1268" y="23"/>
                      <a:pt x="1268" y="23"/>
                    </a:cubicBezTo>
                    <a:close/>
                    <a:moveTo>
                      <a:pt x="1259" y="133"/>
                    </a:moveTo>
                    <a:cubicBezTo>
                      <a:pt x="1257" y="129"/>
                      <a:pt x="1257" y="124"/>
                      <a:pt x="1257" y="124"/>
                    </a:cubicBezTo>
                    <a:cubicBezTo>
                      <a:pt x="1257" y="124"/>
                      <a:pt x="1256" y="124"/>
                      <a:pt x="1256" y="124"/>
                    </a:cubicBezTo>
                    <a:cubicBezTo>
                      <a:pt x="1256" y="122"/>
                      <a:pt x="1256" y="120"/>
                      <a:pt x="1255" y="116"/>
                    </a:cubicBezTo>
                    <a:cubicBezTo>
                      <a:pt x="1254" y="113"/>
                      <a:pt x="1254" y="113"/>
                      <a:pt x="1254" y="110"/>
                    </a:cubicBezTo>
                    <a:cubicBezTo>
                      <a:pt x="1253" y="107"/>
                      <a:pt x="1254" y="107"/>
                      <a:pt x="1253" y="104"/>
                    </a:cubicBezTo>
                    <a:cubicBezTo>
                      <a:pt x="1253" y="103"/>
                      <a:pt x="1252" y="99"/>
                      <a:pt x="1252" y="95"/>
                    </a:cubicBezTo>
                    <a:cubicBezTo>
                      <a:pt x="1251" y="91"/>
                      <a:pt x="1252" y="87"/>
                      <a:pt x="1252" y="86"/>
                    </a:cubicBezTo>
                    <a:cubicBezTo>
                      <a:pt x="1252" y="84"/>
                      <a:pt x="1250" y="84"/>
                      <a:pt x="1252" y="82"/>
                    </a:cubicBezTo>
                    <a:cubicBezTo>
                      <a:pt x="1254" y="84"/>
                      <a:pt x="1255" y="87"/>
                      <a:pt x="1258" y="88"/>
                    </a:cubicBezTo>
                    <a:cubicBezTo>
                      <a:pt x="1261" y="91"/>
                      <a:pt x="1265" y="92"/>
                      <a:pt x="1269" y="94"/>
                    </a:cubicBezTo>
                    <a:cubicBezTo>
                      <a:pt x="1272" y="96"/>
                      <a:pt x="1275" y="98"/>
                      <a:pt x="1279" y="100"/>
                    </a:cubicBezTo>
                    <a:cubicBezTo>
                      <a:pt x="1283" y="102"/>
                      <a:pt x="1286" y="103"/>
                      <a:pt x="1290" y="105"/>
                    </a:cubicBezTo>
                    <a:cubicBezTo>
                      <a:pt x="1294" y="107"/>
                      <a:pt x="1297" y="108"/>
                      <a:pt x="1301" y="109"/>
                    </a:cubicBezTo>
                    <a:cubicBezTo>
                      <a:pt x="1305" y="111"/>
                      <a:pt x="1309" y="112"/>
                      <a:pt x="1312" y="113"/>
                    </a:cubicBezTo>
                    <a:cubicBezTo>
                      <a:pt x="1316" y="115"/>
                      <a:pt x="1320" y="116"/>
                      <a:pt x="1324" y="117"/>
                    </a:cubicBezTo>
                    <a:cubicBezTo>
                      <a:pt x="1328" y="118"/>
                      <a:pt x="1331" y="120"/>
                      <a:pt x="1335" y="121"/>
                    </a:cubicBezTo>
                    <a:cubicBezTo>
                      <a:pt x="1339" y="122"/>
                      <a:pt x="1343" y="123"/>
                      <a:pt x="1347" y="125"/>
                    </a:cubicBezTo>
                    <a:cubicBezTo>
                      <a:pt x="1351" y="126"/>
                      <a:pt x="1355" y="126"/>
                      <a:pt x="1358" y="127"/>
                    </a:cubicBezTo>
                    <a:cubicBezTo>
                      <a:pt x="1362" y="128"/>
                      <a:pt x="1366" y="129"/>
                      <a:pt x="1369" y="130"/>
                    </a:cubicBezTo>
                    <a:cubicBezTo>
                      <a:pt x="1373" y="131"/>
                      <a:pt x="1377" y="131"/>
                      <a:pt x="1381" y="132"/>
                    </a:cubicBezTo>
                    <a:cubicBezTo>
                      <a:pt x="1384" y="132"/>
                      <a:pt x="1388" y="133"/>
                      <a:pt x="1392" y="133"/>
                    </a:cubicBezTo>
                    <a:cubicBezTo>
                      <a:pt x="1396" y="134"/>
                      <a:pt x="1400" y="133"/>
                      <a:pt x="1403" y="134"/>
                    </a:cubicBezTo>
                    <a:cubicBezTo>
                      <a:pt x="1407" y="134"/>
                      <a:pt x="1411" y="135"/>
                      <a:pt x="1415" y="135"/>
                    </a:cubicBezTo>
                    <a:cubicBezTo>
                      <a:pt x="1419" y="135"/>
                      <a:pt x="1422" y="136"/>
                      <a:pt x="1426" y="136"/>
                    </a:cubicBezTo>
                    <a:cubicBezTo>
                      <a:pt x="1432" y="136"/>
                      <a:pt x="1438" y="137"/>
                      <a:pt x="1443" y="137"/>
                    </a:cubicBezTo>
                    <a:cubicBezTo>
                      <a:pt x="1445" y="137"/>
                      <a:pt x="1447" y="137"/>
                      <a:pt x="1448" y="137"/>
                    </a:cubicBezTo>
                    <a:cubicBezTo>
                      <a:pt x="1446" y="135"/>
                      <a:pt x="1451" y="131"/>
                      <a:pt x="1451" y="136"/>
                    </a:cubicBezTo>
                    <a:cubicBezTo>
                      <a:pt x="1450" y="136"/>
                      <a:pt x="1450" y="137"/>
                      <a:pt x="1450" y="137"/>
                    </a:cubicBezTo>
                    <a:cubicBezTo>
                      <a:pt x="1448" y="142"/>
                      <a:pt x="1447" y="142"/>
                      <a:pt x="1443" y="148"/>
                    </a:cubicBezTo>
                    <a:cubicBezTo>
                      <a:pt x="1441" y="152"/>
                      <a:pt x="1439" y="156"/>
                      <a:pt x="1437" y="159"/>
                    </a:cubicBezTo>
                    <a:cubicBezTo>
                      <a:pt x="1434" y="163"/>
                      <a:pt x="1431" y="167"/>
                      <a:pt x="1429" y="170"/>
                    </a:cubicBezTo>
                    <a:cubicBezTo>
                      <a:pt x="1426" y="175"/>
                      <a:pt x="1424" y="178"/>
                      <a:pt x="1422" y="181"/>
                    </a:cubicBezTo>
                    <a:cubicBezTo>
                      <a:pt x="1418" y="188"/>
                      <a:pt x="1416" y="192"/>
                      <a:pt x="1416" y="193"/>
                    </a:cubicBezTo>
                    <a:cubicBezTo>
                      <a:pt x="1412" y="192"/>
                      <a:pt x="1408" y="192"/>
                      <a:pt x="1404" y="191"/>
                    </a:cubicBezTo>
                    <a:cubicBezTo>
                      <a:pt x="1401" y="190"/>
                      <a:pt x="1397" y="190"/>
                      <a:pt x="1394" y="189"/>
                    </a:cubicBezTo>
                    <a:cubicBezTo>
                      <a:pt x="1393" y="191"/>
                      <a:pt x="1390" y="190"/>
                      <a:pt x="1389" y="190"/>
                    </a:cubicBezTo>
                    <a:cubicBezTo>
                      <a:pt x="1389" y="189"/>
                      <a:pt x="1389" y="188"/>
                      <a:pt x="1389" y="188"/>
                    </a:cubicBezTo>
                    <a:cubicBezTo>
                      <a:pt x="1387" y="188"/>
                      <a:pt x="1385" y="187"/>
                      <a:pt x="1382" y="187"/>
                    </a:cubicBezTo>
                    <a:cubicBezTo>
                      <a:pt x="1379" y="186"/>
                      <a:pt x="1375" y="185"/>
                      <a:pt x="1371" y="184"/>
                    </a:cubicBezTo>
                    <a:cubicBezTo>
                      <a:pt x="1367" y="183"/>
                      <a:pt x="1364" y="183"/>
                      <a:pt x="1360" y="182"/>
                    </a:cubicBezTo>
                    <a:cubicBezTo>
                      <a:pt x="1356" y="181"/>
                      <a:pt x="1352" y="181"/>
                      <a:pt x="1348" y="180"/>
                    </a:cubicBezTo>
                    <a:cubicBezTo>
                      <a:pt x="1345" y="179"/>
                      <a:pt x="1341" y="178"/>
                      <a:pt x="1337" y="177"/>
                    </a:cubicBezTo>
                    <a:cubicBezTo>
                      <a:pt x="1333" y="176"/>
                      <a:pt x="1330" y="176"/>
                      <a:pt x="1326" y="175"/>
                    </a:cubicBezTo>
                    <a:cubicBezTo>
                      <a:pt x="1322" y="174"/>
                      <a:pt x="1318" y="173"/>
                      <a:pt x="1314" y="173"/>
                    </a:cubicBezTo>
                    <a:cubicBezTo>
                      <a:pt x="1311" y="172"/>
                      <a:pt x="1307" y="171"/>
                      <a:pt x="1303" y="171"/>
                    </a:cubicBezTo>
                    <a:cubicBezTo>
                      <a:pt x="1299" y="170"/>
                      <a:pt x="1296" y="168"/>
                      <a:pt x="1292" y="167"/>
                    </a:cubicBezTo>
                    <a:cubicBezTo>
                      <a:pt x="1288" y="167"/>
                      <a:pt x="1284" y="167"/>
                      <a:pt x="1280" y="166"/>
                    </a:cubicBezTo>
                    <a:cubicBezTo>
                      <a:pt x="1277" y="165"/>
                      <a:pt x="1273" y="164"/>
                      <a:pt x="1269" y="163"/>
                    </a:cubicBezTo>
                    <a:cubicBezTo>
                      <a:pt x="1269" y="162"/>
                      <a:pt x="1268" y="160"/>
                      <a:pt x="1268" y="159"/>
                    </a:cubicBezTo>
                    <a:cubicBezTo>
                      <a:pt x="1267" y="157"/>
                      <a:pt x="1267" y="157"/>
                      <a:pt x="1266" y="155"/>
                    </a:cubicBezTo>
                    <a:cubicBezTo>
                      <a:pt x="1266" y="154"/>
                      <a:pt x="1266" y="152"/>
                      <a:pt x="1265" y="150"/>
                    </a:cubicBezTo>
                    <a:cubicBezTo>
                      <a:pt x="1264" y="148"/>
                      <a:pt x="1262" y="145"/>
                      <a:pt x="1262" y="142"/>
                    </a:cubicBezTo>
                    <a:cubicBezTo>
                      <a:pt x="1261" y="140"/>
                      <a:pt x="1260" y="137"/>
                      <a:pt x="1259" y="133"/>
                    </a:cubicBezTo>
                    <a:close/>
                    <a:moveTo>
                      <a:pt x="1318" y="107"/>
                    </a:moveTo>
                    <a:cubicBezTo>
                      <a:pt x="1318" y="109"/>
                      <a:pt x="1315" y="110"/>
                      <a:pt x="1314" y="108"/>
                    </a:cubicBezTo>
                    <a:cubicBezTo>
                      <a:pt x="1313" y="105"/>
                      <a:pt x="1317" y="106"/>
                      <a:pt x="1318" y="107"/>
                    </a:cubicBezTo>
                    <a:close/>
                    <a:moveTo>
                      <a:pt x="1342" y="121"/>
                    </a:moveTo>
                    <a:cubicBezTo>
                      <a:pt x="1343" y="120"/>
                      <a:pt x="1346" y="120"/>
                      <a:pt x="1346" y="123"/>
                    </a:cubicBezTo>
                    <a:cubicBezTo>
                      <a:pt x="1344" y="124"/>
                      <a:pt x="1342" y="123"/>
                      <a:pt x="1342" y="121"/>
                    </a:cubicBezTo>
                    <a:close/>
                    <a:moveTo>
                      <a:pt x="996" y="139"/>
                    </a:moveTo>
                    <a:cubicBezTo>
                      <a:pt x="995" y="139"/>
                      <a:pt x="994" y="139"/>
                      <a:pt x="994" y="138"/>
                    </a:cubicBezTo>
                    <a:cubicBezTo>
                      <a:pt x="995" y="138"/>
                      <a:pt x="996" y="138"/>
                      <a:pt x="996" y="139"/>
                    </a:cubicBezTo>
                    <a:close/>
                    <a:moveTo>
                      <a:pt x="984" y="134"/>
                    </a:moveTo>
                    <a:cubicBezTo>
                      <a:pt x="984" y="135"/>
                      <a:pt x="982" y="136"/>
                      <a:pt x="980" y="135"/>
                    </a:cubicBezTo>
                    <a:cubicBezTo>
                      <a:pt x="979" y="134"/>
                      <a:pt x="980" y="133"/>
                      <a:pt x="978" y="133"/>
                    </a:cubicBezTo>
                    <a:cubicBezTo>
                      <a:pt x="980" y="128"/>
                      <a:pt x="984" y="131"/>
                      <a:pt x="984" y="134"/>
                    </a:cubicBezTo>
                    <a:close/>
                    <a:moveTo>
                      <a:pt x="924" y="126"/>
                    </a:moveTo>
                    <a:cubicBezTo>
                      <a:pt x="925" y="124"/>
                      <a:pt x="930" y="123"/>
                      <a:pt x="933" y="124"/>
                    </a:cubicBezTo>
                    <a:cubicBezTo>
                      <a:pt x="937" y="130"/>
                      <a:pt x="928" y="138"/>
                      <a:pt x="924" y="131"/>
                    </a:cubicBezTo>
                    <a:cubicBezTo>
                      <a:pt x="924" y="129"/>
                      <a:pt x="925" y="128"/>
                      <a:pt x="924" y="126"/>
                    </a:cubicBezTo>
                    <a:close/>
                    <a:moveTo>
                      <a:pt x="921" y="122"/>
                    </a:moveTo>
                    <a:cubicBezTo>
                      <a:pt x="921" y="124"/>
                      <a:pt x="921" y="124"/>
                      <a:pt x="921" y="124"/>
                    </a:cubicBezTo>
                    <a:cubicBezTo>
                      <a:pt x="919" y="124"/>
                      <a:pt x="919" y="124"/>
                      <a:pt x="919" y="122"/>
                    </a:cubicBezTo>
                    <a:lnTo>
                      <a:pt x="921" y="122"/>
                    </a:lnTo>
                    <a:close/>
                    <a:moveTo>
                      <a:pt x="819" y="121"/>
                    </a:moveTo>
                    <a:cubicBezTo>
                      <a:pt x="820" y="122"/>
                      <a:pt x="817" y="122"/>
                      <a:pt x="817" y="121"/>
                    </a:cubicBezTo>
                    <a:cubicBezTo>
                      <a:pt x="818" y="120"/>
                      <a:pt x="818" y="121"/>
                      <a:pt x="819" y="121"/>
                    </a:cubicBezTo>
                    <a:close/>
                    <a:moveTo>
                      <a:pt x="708" y="130"/>
                    </a:moveTo>
                    <a:cubicBezTo>
                      <a:pt x="708" y="130"/>
                      <a:pt x="709" y="130"/>
                      <a:pt x="708" y="131"/>
                    </a:cubicBezTo>
                    <a:cubicBezTo>
                      <a:pt x="707" y="131"/>
                      <a:pt x="707" y="131"/>
                      <a:pt x="707" y="131"/>
                    </a:cubicBezTo>
                    <a:cubicBezTo>
                      <a:pt x="707" y="131"/>
                      <a:pt x="707" y="130"/>
                      <a:pt x="708" y="130"/>
                    </a:cubicBezTo>
                    <a:close/>
                    <a:moveTo>
                      <a:pt x="708" y="133"/>
                    </a:moveTo>
                    <a:cubicBezTo>
                      <a:pt x="708" y="136"/>
                      <a:pt x="708" y="136"/>
                      <a:pt x="708" y="136"/>
                    </a:cubicBezTo>
                    <a:cubicBezTo>
                      <a:pt x="706" y="136"/>
                      <a:pt x="705" y="136"/>
                      <a:pt x="704" y="135"/>
                    </a:cubicBezTo>
                    <a:cubicBezTo>
                      <a:pt x="704" y="133"/>
                      <a:pt x="705" y="132"/>
                      <a:pt x="708" y="133"/>
                    </a:cubicBezTo>
                    <a:close/>
                    <a:moveTo>
                      <a:pt x="385" y="84"/>
                    </a:moveTo>
                    <a:cubicBezTo>
                      <a:pt x="385" y="90"/>
                      <a:pt x="385" y="95"/>
                      <a:pt x="385" y="98"/>
                    </a:cubicBezTo>
                    <a:cubicBezTo>
                      <a:pt x="385" y="102"/>
                      <a:pt x="385" y="105"/>
                      <a:pt x="385" y="109"/>
                    </a:cubicBezTo>
                    <a:cubicBezTo>
                      <a:pt x="384" y="112"/>
                      <a:pt x="383" y="115"/>
                      <a:pt x="383" y="119"/>
                    </a:cubicBezTo>
                    <a:cubicBezTo>
                      <a:pt x="382" y="122"/>
                      <a:pt x="382" y="126"/>
                      <a:pt x="381" y="129"/>
                    </a:cubicBezTo>
                    <a:cubicBezTo>
                      <a:pt x="380" y="134"/>
                      <a:pt x="378" y="139"/>
                      <a:pt x="377" y="143"/>
                    </a:cubicBezTo>
                    <a:cubicBezTo>
                      <a:pt x="376" y="148"/>
                      <a:pt x="374" y="152"/>
                      <a:pt x="373" y="157"/>
                    </a:cubicBezTo>
                    <a:cubicBezTo>
                      <a:pt x="372" y="159"/>
                      <a:pt x="370" y="161"/>
                      <a:pt x="370" y="163"/>
                    </a:cubicBezTo>
                    <a:cubicBezTo>
                      <a:pt x="365" y="164"/>
                      <a:pt x="361" y="165"/>
                      <a:pt x="357" y="165"/>
                    </a:cubicBezTo>
                    <a:cubicBezTo>
                      <a:pt x="353" y="166"/>
                      <a:pt x="348" y="167"/>
                      <a:pt x="344" y="168"/>
                    </a:cubicBezTo>
                    <a:cubicBezTo>
                      <a:pt x="340" y="169"/>
                      <a:pt x="335" y="171"/>
                      <a:pt x="331" y="172"/>
                    </a:cubicBezTo>
                    <a:cubicBezTo>
                      <a:pt x="327" y="173"/>
                      <a:pt x="322" y="173"/>
                      <a:pt x="318" y="174"/>
                    </a:cubicBezTo>
                    <a:cubicBezTo>
                      <a:pt x="314" y="175"/>
                      <a:pt x="310" y="176"/>
                      <a:pt x="306" y="177"/>
                    </a:cubicBezTo>
                    <a:cubicBezTo>
                      <a:pt x="302" y="178"/>
                      <a:pt x="298" y="179"/>
                      <a:pt x="294" y="180"/>
                    </a:cubicBezTo>
                    <a:cubicBezTo>
                      <a:pt x="290" y="180"/>
                      <a:pt x="286" y="181"/>
                      <a:pt x="281" y="182"/>
                    </a:cubicBezTo>
                    <a:cubicBezTo>
                      <a:pt x="277" y="183"/>
                      <a:pt x="273" y="184"/>
                      <a:pt x="269" y="185"/>
                    </a:cubicBezTo>
                    <a:cubicBezTo>
                      <a:pt x="265" y="185"/>
                      <a:pt x="261" y="186"/>
                      <a:pt x="257" y="186"/>
                    </a:cubicBezTo>
                    <a:cubicBezTo>
                      <a:pt x="253" y="187"/>
                      <a:pt x="249" y="188"/>
                      <a:pt x="245" y="189"/>
                    </a:cubicBezTo>
                    <a:cubicBezTo>
                      <a:pt x="241" y="190"/>
                      <a:pt x="237" y="191"/>
                      <a:pt x="233" y="192"/>
                    </a:cubicBezTo>
                    <a:cubicBezTo>
                      <a:pt x="228" y="192"/>
                      <a:pt x="225" y="193"/>
                      <a:pt x="220" y="193"/>
                    </a:cubicBezTo>
                    <a:cubicBezTo>
                      <a:pt x="219" y="191"/>
                      <a:pt x="217" y="187"/>
                      <a:pt x="214" y="182"/>
                    </a:cubicBezTo>
                    <a:cubicBezTo>
                      <a:pt x="212" y="179"/>
                      <a:pt x="210" y="175"/>
                      <a:pt x="207" y="171"/>
                    </a:cubicBezTo>
                    <a:cubicBezTo>
                      <a:pt x="205" y="168"/>
                      <a:pt x="203" y="164"/>
                      <a:pt x="200" y="160"/>
                    </a:cubicBezTo>
                    <a:cubicBezTo>
                      <a:pt x="198" y="157"/>
                      <a:pt x="196" y="153"/>
                      <a:pt x="194" y="149"/>
                    </a:cubicBezTo>
                    <a:cubicBezTo>
                      <a:pt x="190" y="143"/>
                      <a:pt x="189" y="143"/>
                      <a:pt x="187" y="137"/>
                    </a:cubicBezTo>
                    <a:cubicBezTo>
                      <a:pt x="190" y="137"/>
                      <a:pt x="194" y="137"/>
                      <a:pt x="198" y="137"/>
                    </a:cubicBezTo>
                    <a:cubicBezTo>
                      <a:pt x="201" y="137"/>
                      <a:pt x="204" y="137"/>
                      <a:pt x="207" y="137"/>
                    </a:cubicBezTo>
                    <a:cubicBezTo>
                      <a:pt x="210" y="137"/>
                      <a:pt x="213" y="136"/>
                      <a:pt x="216" y="136"/>
                    </a:cubicBezTo>
                    <a:cubicBezTo>
                      <a:pt x="221" y="136"/>
                      <a:pt x="225" y="136"/>
                      <a:pt x="229" y="135"/>
                    </a:cubicBezTo>
                    <a:cubicBezTo>
                      <a:pt x="233" y="135"/>
                      <a:pt x="238" y="135"/>
                      <a:pt x="242" y="134"/>
                    </a:cubicBezTo>
                    <a:cubicBezTo>
                      <a:pt x="246" y="134"/>
                      <a:pt x="250" y="134"/>
                      <a:pt x="255" y="133"/>
                    </a:cubicBezTo>
                    <a:cubicBezTo>
                      <a:pt x="259" y="132"/>
                      <a:pt x="263" y="131"/>
                      <a:pt x="267" y="130"/>
                    </a:cubicBezTo>
                    <a:cubicBezTo>
                      <a:pt x="271" y="129"/>
                      <a:pt x="275" y="129"/>
                      <a:pt x="280" y="128"/>
                    </a:cubicBezTo>
                    <a:cubicBezTo>
                      <a:pt x="284" y="127"/>
                      <a:pt x="288" y="126"/>
                      <a:pt x="292" y="124"/>
                    </a:cubicBezTo>
                    <a:cubicBezTo>
                      <a:pt x="296" y="123"/>
                      <a:pt x="300" y="123"/>
                      <a:pt x="304" y="121"/>
                    </a:cubicBezTo>
                    <a:cubicBezTo>
                      <a:pt x="308" y="120"/>
                      <a:pt x="313" y="119"/>
                      <a:pt x="317" y="117"/>
                    </a:cubicBezTo>
                    <a:cubicBezTo>
                      <a:pt x="321" y="116"/>
                      <a:pt x="325" y="114"/>
                      <a:pt x="329" y="113"/>
                    </a:cubicBezTo>
                    <a:cubicBezTo>
                      <a:pt x="333" y="112"/>
                      <a:pt x="337" y="110"/>
                      <a:pt x="341" y="108"/>
                    </a:cubicBezTo>
                    <a:cubicBezTo>
                      <a:pt x="345" y="107"/>
                      <a:pt x="349" y="106"/>
                      <a:pt x="353" y="104"/>
                    </a:cubicBezTo>
                    <a:cubicBezTo>
                      <a:pt x="355" y="103"/>
                      <a:pt x="357" y="102"/>
                      <a:pt x="359" y="101"/>
                    </a:cubicBezTo>
                    <a:cubicBezTo>
                      <a:pt x="363" y="99"/>
                      <a:pt x="366" y="98"/>
                      <a:pt x="369" y="96"/>
                    </a:cubicBezTo>
                    <a:cubicBezTo>
                      <a:pt x="372" y="95"/>
                      <a:pt x="375" y="93"/>
                      <a:pt x="378" y="90"/>
                    </a:cubicBezTo>
                    <a:cubicBezTo>
                      <a:pt x="380" y="89"/>
                      <a:pt x="383" y="87"/>
                      <a:pt x="385" y="84"/>
                    </a:cubicBezTo>
                    <a:close/>
                    <a:moveTo>
                      <a:pt x="275" y="120"/>
                    </a:moveTo>
                    <a:cubicBezTo>
                      <a:pt x="276" y="120"/>
                      <a:pt x="276" y="120"/>
                      <a:pt x="277" y="120"/>
                    </a:cubicBezTo>
                    <a:cubicBezTo>
                      <a:pt x="277" y="121"/>
                      <a:pt x="277" y="122"/>
                      <a:pt x="276" y="121"/>
                    </a:cubicBezTo>
                    <a:cubicBezTo>
                      <a:pt x="276" y="121"/>
                      <a:pt x="275" y="121"/>
                      <a:pt x="275" y="120"/>
                    </a:cubicBezTo>
                    <a:close/>
                    <a:moveTo>
                      <a:pt x="281" y="3"/>
                    </a:moveTo>
                    <a:cubicBezTo>
                      <a:pt x="283" y="2"/>
                      <a:pt x="283" y="4"/>
                      <a:pt x="284" y="4"/>
                    </a:cubicBezTo>
                    <a:cubicBezTo>
                      <a:pt x="284" y="5"/>
                      <a:pt x="283" y="7"/>
                      <a:pt x="283" y="8"/>
                    </a:cubicBezTo>
                    <a:cubicBezTo>
                      <a:pt x="280" y="8"/>
                      <a:pt x="280" y="8"/>
                      <a:pt x="280" y="8"/>
                    </a:cubicBezTo>
                    <a:cubicBezTo>
                      <a:pt x="279" y="6"/>
                      <a:pt x="280" y="4"/>
                      <a:pt x="281" y="3"/>
                    </a:cubicBezTo>
                    <a:close/>
                    <a:moveTo>
                      <a:pt x="215" y="12"/>
                    </a:moveTo>
                    <a:cubicBezTo>
                      <a:pt x="216" y="12"/>
                      <a:pt x="216" y="11"/>
                      <a:pt x="217" y="12"/>
                    </a:cubicBezTo>
                    <a:cubicBezTo>
                      <a:pt x="218" y="13"/>
                      <a:pt x="218" y="12"/>
                      <a:pt x="217" y="14"/>
                    </a:cubicBezTo>
                    <a:cubicBezTo>
                      <a:pt x="215" y="14"/>
                      <a:pt x="215" y="14"/>
                      <a:pt x="215" y="14"/>
                    </a:cubicBezTo>
                    <a:lnTo>
                      <a:pt x="215" y="12"/>
                    </a:lnTo>
                    <a:close/>
                    <a:moveTo>
                      <a:pt x="161" y="33"/>
                    </a:moveTo>
                    <a:cubicBezTo>
                      <a:pt x="161" y="35"/>
                      <a:pt x="161" y="35"/>
                      <a:pt x="161" y="35"/>
                    </a:cubicBezTo>
                    <a:cubicBezTo>
                      <a:pt x="160" y="35"/>
                      <a:pt x="160" y="34"/>
                      <a:pt x="160" y="33"/>
                    </a:cubicBezTo>
                    <a:lnTo>
                      <a:pt x="161" y="33"/>
                    </a:lnTo>
                    <a:close/>
                    <a:moveTo>
                      <a:pt x="118" y="56"/>
                    </a:moveTo>
                    <a:cubicBezTo>
                      <a:pt x="116" y="56"/>
                      <a:pt x="116" y="56"/>
                      <a:pt x="116" y="56"/>
                    </a:cubicBezTo>
                    <a:cubicBezTo>
                      <a:pt x="116" y="54"/>
                      <a:pt x="118" y="54"/>
                      <a:pt x="118" y="56"/>
                    </a:cubicBezTo>
                    <a:close/>
                    <a:moveTo>
                      <a:pt x="17" y="149"/>
                    </a:moveTo>
                    <a:cubicBezTo>
                      <a:pt x="18" y="145"/>
                      <a:pt x="19" y="141"/>
                      <a:pt x="20" y="137"/>
                    </a:cubicBezTo>
                    <a:cubicBezTo>
                      <a:pt x="21" y="134"/>
                      <a:pt x="23" y="132"/>
                      <a:pt x="24" y="129"/>
                    </a:cubicBezTo>
                    <a:cubicBezTo>
                      <a:pt x="24" y="128"/>
                      <a:pt x="25" y="126"/>
                      <a:pt x="26" y="124"/>
                    </a:cubicBezTo>
                    <a:cubicBezTo>
                      <a:pt x="27" y="124"/>
                      <a:pt x="27" y="124"/>
                      <a:pt x="28" y="124"/>
                    </a:cubicBezTo>
                    <a:cubicBezTo>
                      <a:pt x="30" y="121"/>
                      <a:pt x="32" y="118"/>
                      <a:pt x="35" y="115"/>
                    </a:cubicBezTo>
                    <a:cubicBezTo>
                      <a:pt x="36" y="113"/>
                      <a:pt x="38" y="111"/>
                      <a:pt x="40" y="109"/>
                    </a:cubicBezTo>
                    <a:cubicBezTo>
                      <a:pt x="40" y="107"/>
                      <a:pt x="43" y="102"/>
                      <a:pt x="47" y="103"/>
                    </a:cubicBezTo>
                    <a:cubicBezTo>
                      <a:pt x="48" y="102"/>
                      <a:pt x="48" y="102"/>
                      <a:pt x="49" y="101"/>
                    </a:cubicBezTo>
                    <a:cubicBezTo>
                      <a:pt x="49" y="99"/>
                      <a:pt x="50" y="97"/>
                      <a:pt x="53" y="97"/>
                    </a:cubicBezTo>
                    <a:cubicBezTo>
                      <a:pt x="53" y="97"/>
                      <a:pt x="53" y="97"/>
                      <a:pt x="53" y="97"/>
                    </a:cubicBezTo>
                    <a:cubicBezTo>
                      <a:pt x="56" y="95"/>
                      <a:pt x="60" y="93"/>
                      <a:pt x="63" y="91"/>
                    </a:cubicBezTo>
                    <a:cubicBezTo>
                      <a:pt x="66" y="88"/>
                      <a:pt x="70" y="86"/>
                      <a:pt x="73" y="84"/>
                    </a:cubicBezTo>
                    <a:cubicBezTo>
                      <a:pt x="76" y="82"/>
                      <a:pt x="79" y="80"/>
                      <a:pt x="83" y="78"/>
                    </a:cubicBezTo>
                    <a:cubicBezTo>
                      <a:pt x="86" y="75"/>
                      <a:pt x="89" y="73"/>
                      <a:pt x="92" y="71"/>
                    </a:cubicBezTo>
                    <a:cubicBezTo>
                      <a:pt x="95" y="69"/>
                      <a:pt x="97" y="68"/>
                      <a:pt x="99" y="67"/>
                    </a:cubicBezTo>
                    <a:cubicBezTo>
                      <a:pt x="99" y="67"/>
                      <a:pt x="99" y="67"/>
                      <a:pt x="99" y="66"/>
                    </a:cubicBezTo>
                    <a:cubicBezTo>
                      <a:pt x="98" y="66"/>
                      <a:pt x="100" y="65"/>
                      <a:pt x="102" y="65"/>
                    </a:cubicBezTo>
                    <a:cubicBezTo>
                      <a:pt x="102" y="65"/>
                      <a:pt x="103" y="65"/>
                      <a:pt x="103" y="65"/>
                    </a:cubicBezTo>
                    <a:cubicBezTo>
                      <a:pt x="105" y="64"/>
                      <a:pt x="107" y="63"/>
                      <a:pt x="109" y="62"/>
                    </a:cubicBezTo>
                    <a:cubicBezTo>
                      <a:pt x="109" y="61"/>
                      <a:pt x="110" y="60"/>
                      <a:pt x="110" y="59"/>
                    </a:cubicBezTo>
                    <a:cubicBezTo>
                      <a:pt x="111" y="59"/>
                      <a:pt x="113" y="59"/>
                      <a:pt x="114" y="59"/>
                    </a:cubicBezTo>
                    <a:cubicBezTo>
                      <a:pt x="114" y="59"/>
                      <a:pt x="114" y="59"/>
                      <a:pt x="114" y="59"/>
                    </a:cubicBezTo>
                    <a:cubicBezTo>
                      <a:pt x="117" y="57"/>
                      <a:pt x="120" y="56"/>
                      <a:pt x="124" y="54"/>
                    </a:cubicBezTo>
                    <a:cubicBezTo>
                      <a:pt x="127" y="52"/>
                      <a:pt x="131" y="51"/>
                      <a:pt x="134" y="49"/>
                    </a:cubicBezTo>
                    <a:cubicBezTo>
                      <a:pt x="137" y="48"/>
                      <a:pt x="140" y="47"/>
                      <a:pt x="143" y="45"/>
                    </a:cubicBezTo>
                    <a:cubicBezTo>
                      <a:pt x="143" y="44"/>
                      <a:pt x="144" y="44"/>
                      <a:pt x="144" y="45"/>
                    </a:cubicBezTo>
                    <a:cubicBezTo>
                      <a:pt x="145" y="45"/>
                      <a:pt x="145" y="44"/>
                      <a:pt x="145" y="44"/>
                    </a:cubicBezTo>
                    <a:cubicBezTo>
                      <a:pt x="146" y="44"/>
                      <a:pt x="146" y="44"/>
                      <a:pt x="147" y="44"/>
                    </a:cubicBezTo>
                    <a:cubicBezTo>
                      <a:pt x="147" y="44"/>
                      <a:pt x="147" y="44"/>
                      <a:pt x="147" y="43"/>
                    </a:cubicBezTo>
                    <a:cubicBezTo>
                      <a:pt x="147" y="44"/>
                      <a:pt x="147" y="44"/>
                      <a:pt x="147" y="44"/>
                    </a:cubicBezTo>
                    <a:cubicBezTo>
                      <a:pt x="150" y="43"/>
                      <a:pt x="153" y="42"/>
                      <a:pt x="156" y="40"/>
                    </a:cubicBezTo>
                    <a:cubicBezTo>
                      <a:pt x="156" y="40"/>
                      <a:pt x="156" y="40"/>
                      <a:pt x="157" y="40"/>
                    </a:cubicBezTo>
                    <a:cubicBezTo>
                      <a:pt x="156" y="40"/>
                      <a:pt x="156" y="39"/>
                      <a:pt x="156" y="38"/>
                    </a:cubicBezTo>
                    <a:cubicBezTo>
                      <a:pt x="159" y="37"/>
                      <a:pt x="160" y="38"/>
                      <a:pt x="162" y="38"/>
                    </a:cubicBezTo>
                    <a:cubicBezTo>
                      <a:pt x="163" y="38"/>
                      <a:pt x="164" y="38"/>
                      <a:pt x="165" y="37"/>
                    </a:cubicBezTo>
                    <a:cubicBezTo>
                      <a:pt x="165" y="37"/>
                      <a:pt x="165" y="37"/>
                      <a:pt x="165" y="37"/>
                    </a:cubicBezTo>
                    <a:cubicBezTo>
                      <a:pt x="166" y="35"/>
                      <a:pt x="169" y="34"/>
                      <a:pt x="172" y="35"/>
                    </a:cubicBezTo>
                    <a:cubicBezTo>
                      <a:pt x="174" y="34"/>
                      <a:pt x="176" y="33"/>
                      <a:pt x="178" y="32"/>
                    </a:cubicBezTo>
                    <a:cubicBezTo>
                      <a:pt x="179" y="32"/>
                      <a:pt x="181" y="32"/>
                      <a:pt x="182" y="31"/>
                    </a:cubicBezTo>
                    <a:cubicBezTo>
                      <a:pt x="182" y="31"/>
                      <a:pt x="182" y="31"/>
                      <a:pt x="182" y="31"/>
                    </a:cubicBezTo>
                    <a:cubicBezTo>
                      <a:pt x="182" y="29"/>
                      <a:pt x="185" y="28"/>
                      <a:pt x="186" y="30"/>
                    </a:cubicBezTo>
                    <a:cubicBezTo>
                      <a:pt x="187" y="30"/>
                      <a:pt x="188" y="30"/>
                      <a:pt x="190" y="29"/>
                    </a:cubicBezTo>
                    <a:cubicBezTo>
                      <a:pt x="193" y="28"/>
                      <a:pt x="197" y="27"/>
                      <a:pt x="201" y="26"/>
                    </a:cubicBezTo>
                    <a:cubicBezTo>
                      <a:pt x="205" y="25"/>
                      <a:pt x="209" y="23"/>
                      <a:pt x="212" y="23"/>
                    </a:cubicBezTo>
                    <a:cubicBezTo>
                      <a:pt x="216" y="22"/>
                      <a:pt x="220" y="20"/>
                      <a:pt x="224" y="20"/>
                    </a:cubicBezTo>
                    <a:cubicBezTo>
                      <a:pt x="227" y="19"/>
                      <a:pt x="230" y="19"/>
                      <a:pt x="233" y="18"/>
                    </a:cubicBezTo>
                    <a:cubicBezTo>
                      <a:pt x="233" y="18"/>
                      <a:pt x="233" y="17"/>
                      <a:pt x="233" y="17"/>
                    </a:cubicBezTo>
                    <a:cubicBezTo>
                      <a:pt x="234" y="17"/>
                      <a:pt x="236" y="17"/>
                      <a:pt x="237" y="17"/>
                    </a:cubicBezTo>
                    <a:cubicBezTo>
                      <a:pt x="237" y="17"/>
                      <a:pt x="237" y="17"/>
                      <a:pt x="237" y="17"/>
                    </a:cubicBezTo>
                    <a:cubicBezTo>
                      <a:pt x="240" y="17"/>
                      <a:pt x="244" y="16"/>
                      <a:pt x="247" y="16"/>
                    </a:cubicBezTo>
                    <a:cubicBezTo>
                      <a:pt x="251" y="15"/>
                      <a:pt x="255" y="16"/>
                      <a:pt x="259" y="15"/>
                    </a:cubicBezTo>
                    <a:cubicBezTo>
                      <a:pt x="263" y="15"/>
                      <a:pt x="267" y="14"/>
                      <a:pt x="271" y="14"/>
                    </a:cubicBezTo>
                    <a:cubicBezTo>
                      <a:pt x="273" y="13"/>
                      <a:pt x="275" y="13"/>
                      <a:pt x="277" y="13"/>
                    </a:cubicBezTo>
                    <a:cubicBezTo>
                      <a:pt x="278" y="13"/>
                      <a:pt x="278" y="12"/>
                      <a:pt x="278" y="12"/>
                    </a:cubicBezTo>
                    <a:cubicBezTo>
                      <a:pt x="279" y="12"/>
                      <a:pt x="280" y="12"/>
                      <a:pt x="280" y="13"/>
                    </a:cubicBezTo>
                    <a:cubicBezTo>
                      <a:pt x="281" y="13"/>
                      <a:pt x="282" y="13"/>
                      <a:pt x="282" y="13"/>
                    </a:cubicBezTo>
                    <a:cubicBezTo>
                      <a:pt x="282" y="13"/>
                      <a:pt x="282" y="13"/>
                      <a:pt x="282" y="12"/>
                    </a:cubicBezTo>
                    <a:cubicBezTo>
                      <a:pt x="282" y="13"/>
                      <a:pt x="282" y="13"/>
                      <a:pt x="282" y="13"/>
                    </a:cubicBezTo>
                    <a:cubicBezTo>
                      <a:pt x="286" y="13"/>
                      <a:pt x="290" y="12"/>
                      <a:pt x="294" y="12"/>
                    </a:cubicBezTo>
                    <a:cubicBezTo>
                      <a:pt x="298" y="12"/>
                      <a:pt x="302" y="13"/>
                      <a:pt x="306" y="13"/>
                    </a:cubicBezTo>
                    <a:cubicBezTo>
                      <a:pt x="310" y="14"/>
                      <a:pt x="314" y="14"/>
                      <a:pt x="318" y="15"/>
                    </a:cubicBezTo>
                    <a:cubicBezTo>
                      <a:pt x="322" y="15"/>
                      <a:pt x="326" y="15"/>
                      <a:pt x="330" y="16"/>
                    </a:cubicBezTo>
                    <a:cubicBezTo>
                      <a:pt x="334" y="16"/>
                      <a:pt x="338" y="17"/>
                      <a:pt x="341" y="18"/>
                    </a:cubicBezTo>
                    <a:cubicBezTo>
                      <a:pt x="345" y="19"/>
                      <a:pt x="349" y="21"/>
                      <a:pt x="353" y="22"/>
                    </a:cubicBezTo>
                    <a:cubicBezTo>
                      <a:pt x="356" y="23"/>
                      <a:pt x="358" y="24"/>
                      <a:pt x="361" y="26"/>
                    </a:cubicBezTo>
                    <a:cubicBezTo>
                      <a:pt x="357" y="26"/>
                      <a:pt x="353" y="26"/>
                      <a:pt x="349" y="27"/>
                    </a:cubicBezTo>
                    <a:cubicBezTo>
                      <a:pt x="349" y="27"/>
                      <a:pt x="349" y="27"/>
                      <a:pt x="348" y="27"/>
                    </a:cubicBezTo>
                    <a:cubicBezTo>
                      <a:pt x="348" y="27"/>
                      <a:pt x="348" y="28"/>
                      <a:pt x="348" y="28"/>
                    </a:cubicBezTo>
                    <a:cubicBezTo>
                      <a:pt x="348" y="28"/>
                      <a:pt x="347" y="27"/>
                      <a:pt x="347" y="27"/>
                    </a:cubicBezTo>
                    <a:cubicBezTo>
                      <a:pt x="346" y="27"/>
                      <a:pt x="345" y="27"/>
                      <a:pt x="344" y="27"/>
                    </a:cubicBezTo>
                    <a:cubicBezTo>
                      <a:pt x="344" y="28"/>
                      <a:pt x="342" y="28"/>
                      <a:pt x="341" y="28"/>
                    </a:cubicBezTo>
                    <a:cubicBezTo>
                      <a:pt x="340" y="28"/>
                      <a:pt x="341" y="28"/>
                      <a:pt x="341" y="28"/>
                    </a:cubicBezTo>
                    <a:cubicBezTo>
                      <a:pt x="339" y="28"/>
                      <a:pt x="338" y="28"/>
                      <a:pt x="337" y="28"/>
                    </a:cubicBezTo>
                    <a:cubicBezTo>
                      <a:pt x="333" y="29"/>
                      <a:pt x="329" y="29"/>
                      <a:pt x="325" y="30"/>
                    </a:cubicBezTo>
                    <a:cubicBezTo>
                      <a:pt x="321" y="30"/>
                      <a:pt x="317" y="30"/>
                      <a:pt x="313" y="30"/>
                    </a:cubicBezTo>
                    <a:cubicBezTo>
                      <a:pt x="309" y="31"/>
                      <a:pt x="305" y="32"/>
                      <a:pt x="301" y="32"/>
                    </a:cubicBezTo>
                    <a:cubicBezTo>
                      <a:pt x="297" y="33"/>
                      <a:pt x="293" y="33"/>
                      <a:pt x="289" y="34"/>
                    </a:cubicBezTo>
                    <a:cubicBezTo>
                      <a:pt x="285" y="35"/>
                      <a:pt x="281" y="36"/>
                      <a:pt x="277" y="36"/>
                    </a:cubicBezTo>
                    <a:cubicBezTo>
                      <a:pt x="275" y="37"/>
                      <a:pt x="272" y="37"/>
                      <a:pt x="269" y="37"/>
                    </a:cubicBezTo>
                    <a:cubicBezTo>
                      <a:pt x="268" y="39"/>
                      <a:pt x="266" y="41"/>
                      <a:pt x="262" y="40"/>
                    </a:cubicBezTo>
                    <a:cubicBezTo>
                      <a:pt x="262" y="39"/>
                      <a:pt x="262" y="39"/>
                      <a:pt x="263" y="38"/>
                    </a:cubicBezTo>
                    <a:cubicBezTo>
                      <a:pt x="261" y="39"/>
                      <a:pt x="259" y="39"/>
                      <a:pt x="257" y="40"/>
                    </a:cubicBezTo>
                    <a:cubicBezTo>
                      <a:pt x="257" y="40"/>
                      <a:pt x="257" y="40"/>
                      <a:pt x="257" y="40"/>
                    </a:cubicBezTo>
                    <a:cubicBezTo>
                      <a:pt x="257" y="42"/>
                      <a:pt x="256" y="45"/>
                      <a:pt x="254" y="46"/>
                    </a:cubicBezTo>
                    <a:cubicBezTo>
                      <a:pt x="250" y="47"/>
                      <a:pt x="247" y="45"/>
                      <a:pt x="247" y="42"/>
                    </a:cubicBezTo>
                    <a:cubicBezTo>
                      <a:pt x="245" y="42"/>
                      <a:pt x="243" y="43"/>
                      <a:pt x="242" y="43"/>
                    </a:cubicBezTo>
                    <a:cubicBezTo>
                      <a:pt x="238" y="44"/>
                      <a:pt x="234" y="45"/>
                      <a:pt x="230" y="46"/>
                    </a:cubicBezTo>
                    <a:cubicBezTo>
                      <a:pt x="226" y="47"/>
                      <a:pt x="222" y="48"/>
                      <a:pt x="218" y="50"/>
                    </a:cubicBezTo>
                    <a:cubicBezTo>
                      <a:pt x="218" y="50"/>
                      <a:pt x="218" y="50"/>
                      <a:pt x="218" y="50"/>
                    </a:cubicBezTo>
                    <a:cubicBezTo>
                      <a:pt x="219" y="52"/>
                      <a:pt x="218" y="53"/>
                      <a:pt x="216" y="53"/>
                    </a:cubicBezTo>
                    <a:cubicBezTo>
                      <a:pt x="215" y="53"/>
                      <a:pt x="215" y="52"/>
                      <a:pt x="216" y="51"/>
                    </a:cubicBezTo>
                    <a:cubicBezTo>
                      <a:pt x="213" y="52"/>
                      <a:pt x="210" y="53"/>
                      <a:pt x="207" y="55"/>
                    </a:cubicBezTo>
                    <a:cubicBezTo>
                      <a:pt x="212" y="59"/>
                      <a:pt x="212" y="54"/>
                      <a:pt x="220" y="53"/>
                    </a:cubicBezTo>
                    <a:cubicBezTo>
                      <a:pt x="223" y="52"/>
                      <a:pt x="227" y="52"/>
                      <a:pt x="232" y="51"/>
                    </a:cubicBezTo>
                    <a:cubicBezTo>
                      <a:pt x="236" y="51"/>
                      <a:pt x="240" y="51"/>
                      <a:pt x="244" y="50"/>
                    </a:cubicBezTo>
                    <a:cubicBezTo>
                      <a:pt x="248" y="50"/>
                      <a:pt x="252" y="49"/>
                      <a:pt x="256" y="49"/>
                    </a:cubicBezTo>
                    <a:cubicBezTo>
                      <a:pt x="260" y="48"/>
                      <a:pt x="265" y="49"/>
                      <a:pt x="269" y="48"/>
                    </a:cubicBezTo>
                    <a:cubicBezTo>
                      <a:pt x="273" y="48"/>
                      <a:pt x="277" y="48"/>
                      <a:pt x="281" y="47"/>
                    </a:cubicBezTo>
                    <a:cubicBezTo>
                      <a:pt x="283" y="47"/>
                      <a:pt x="284" y="47"/>
                      <a:pt x="286" y="47"/>
                    </a:cubicBezTo>
                    <a:cubicBezTo>
                      <a:pt x="286" y="46"/>
                      <a:pt x="286" y="46"/>
                      <a:pt x="287" y="45"/>
                    </a:cubicBezTo>
                    <a:cubicBezTo>
                      <a:pt x="289" y="44"/>
                      <a:pt x="290" y="45"/>
                      <a:pt x="290" y="46"/>
                    </a:cubicBezTo>
                    <a:cubicBezTo>
                      <a:pt x="291" y="46"/>
                      <a:pt x="292" y="46"/>
                      <a:pt x="293" y="46"/>
                    </a:cubicBezTo>
                    <a:cubicBezTo>
                      <a:pt x="298" y="46"/>
                      <a:pt x="302" y="45"/>
                      <a:pt x="306" y="45"/>
                    </a:cubicBezTo>
                    <a:cubicBezTo>
                      <a:pt x="310" y="45"/>
                      <a:pt x="314" y="44"/>
                      <a:pt x="318" y="44"/>
                    </a:cubicBezTo>
                    <a:cubicBezTo>
                      <a:pt x="322" y="44"/>
                      <a:pt x="327" y="44"/>
                      <a:pt x="331" y="44"/>
                    </a:cubicBezTo>
                    <a:cubicBezTo>
                      <a:pt x="335" y="44"/>
                      <a:pt x="339" y="43"/>
                      <a:pt x="343" y="43"/>
                    </a:cubicBezTo>
                    <a:cubicBezTo>
                      <a:pt x="347" y="43"/>
                      <a:pt x="351" y="42"/>
                      <a:pt x="355" y="42"/>
                    </a:cubicBezTo>
                    <a:cubicBezTo>
                      <a:pt x="360" y="42"/>
                      <a:pt x="364" y="43"/>
                      <a:pt x="368" y="43"/>
                    </a:cubicBezTo>
                    <a:cubicBezTo>
                      <a:pt x="368" y="43"/>
                      <a:pt x="369" y="43"/>
                      <a:pt x="369" y="43"/>
                    </a:cubicBezTo>
                    <a:cubicBezTo>
                      <a:pt x="371" y="40"/>
                      <a:pt x="378" y="42"/>
                      <a:pt x="381" y="42"/>
                    </a:cubicBezTo>
                    <a:cubicBezTo>
                      <a:pt x="381" y="42"/>
                      <a:pt x="381" y="43"/>
                      <a:pt x="380" y="44"/>
                    </a:cubicBezTo>
                    <a:cubicBezTo>
                      <a:pt x="382" y="47"/>
                      <a:pt x="384" y="50"/>
                      <a:pt x="385" y="53"/>
                    </a:cubicBezTo>
                    <a:cubicBezTo>
                      <a:pt x="382" y="53"/>
                      <a:pt x="377" y="54"/>
                      <a:pt x="372" y="54"/>
                    </a:cubicBezTo>
                    <a:cubicBezTo>
                      <a:pt x="369" y="54"/>
                      <a:pt x="365" y="54"/>
                      <a:pt x="360" y="55"/>
                    </a:cubicBezTo>
                    <a:cubicBezTo>
                      <a:pt x="359" y="55"/>
                      <a:pt x="357" y="55"/>
                      <a:pt x="356" y="55"/>
                    </a:cubicBezTo>
                    <a:cubicBezTo>
                      <a:pt x="356" y="55"/>
                      <a:pt x="356" y="55"/>
                      <a:pt x="356" y="55"/>
                    </a:cubicBezTo>
                    <a:cubicBezTo>
                      <a:pt x="356" y="59"/>
                      <a:pt x="349" y="56"/>
                      <a:pt x="346" y="57"/>
                    </a:cubicBezTo>
                    <a:cubicBezTo>
                      <a:pt x="347" y="56"/>
                      <a:pt x="347" y="56"/>
                      <a:pt x="348" y="55"/>
                    </a:cubicBezTo>
                    <a:cubicBezTo>
                      <a:pt x="344" y="56"/>
                      <a:pt x="340" y="56"/>
                      <a:pt x="337" y="56"/>
                    </a:cubicBezTo>
                    <a:cubicBezTo>
                      <a:pt x="333" y="57"/>
                      <a:pt x="329" y="57"/>
                      <a:pt x="325" y="58"/>
                    </a:cubicBezTo>
                    <a:cubicBezTo>
                      <a:pt x="321" y="58"/>
                      <a:pt x="317" y="59"/>
                      <a:pt x="313" y="59"/>
                    </a:cubicBezTo>
                    <a:cubicBezTo>
                      <a:pt x="309" y="60"/>
                      <a:pt x="305" y="61"/>
                      <a:pt x="301" y="61"/>
                    </a:cubicBezTo>
                    <a:cubicBezTo>
                      <a:pt x="297" y="62"/>
                      <a:pt x="293" y="62"/>
                      <a:pt x="289" y="62"/>
                    </a:cubicBezTo>
                    <a:cubicBezTo>
                      <a:pt x="288" y="62"/>
                      <a:pt x="288" y="62"/>
                      <a:pt x="287" y="63"/>
                    </a:cubicBezTo>
                    <a:cubicBezTo>
                      <a:pt x="286" y="64"/>
                      <a:pt x="285" y="65"/>
                      <a:pt x="283" y="66"/>
                    </a:cubicBezTo>
                    <a:cubicBezTo>
                      <a:pt x="281" y="65"/>
                      <a:pt x="279" y="65"/>
                      <a:pt x="277" y="65"/>
                    </a:cubicBezTo>
                    <a:cubicBezTo>
                      <a:pt x="277" y="65"/>
                      <a:pt x="277" y="65"/>
                      <a:pt x="277" y="65"/>
                    </a:cubicBezTo>
                    <a:cubicBezTo>
                      <a:pt x="277" y="65"/>
                      <a:pt x="277" y="65"/>
                      <a:pt x="277" y="65"/>
                    </a:cubicBezTo>
                    <a:cubicBezTo>
                      <a:pt x="277" y="65"/>
                      <a:pt x="277" y="66"/>
                      <a:pt x="277" y="66"/>
                    </a:cubicBezTo>
                    <a:cubicBezTo>
                      <a:pt x="275" y="66"/>
                      <a:pt x="272" y="66"/>
                      <a:pt x="270" y="66"/>
                    </a:cubicBezTo>
                    <a:cubicBezTo>
                      <a:pt x="270" y="66"/>
                      <a:pt x="270" y="66"/>
                      <a:pt x="270" y="66"/>
                    </a:cubicBezTo>
                    <a:cubicBezTo>
                      <a:pt x="268" y="66"/>
                      <a:pt x="267" y="67"/>
                      <a:pt x="266" y="67"/>
                    </a:cubicBezTo>
                    <a:cubicBezTo>
                      <a:pt x="266" y="68"/>
                      <a:pt x="267" y="71"/>
                      <a:pt x="265" y="72"/>
                    </a:cubicBezTo>
                    <a:cubicBezTo>
                      <a:pt x="264" y="72"/>
                      <a:pt x="263" y="72"/>
                      <a:pt x="262" y="72"/>
                    </a:cubicBezTo>
                    <a:cubicBezTo>
                      <a:pt x="262" y="70"/>
                      <a:pt x="261" y="70"/>
                      <a:pt x="261" y="68"/>
                    </a:cubicBezTo>
                    <a:cubicBezTo>
                      <a:pt x="259" y="68"/>
                      <a:pt x="256" y="69"/>
                      <a:pt x="253" y="69"/>
                    </a:cubicBezTo>
                    <a:cubicBezTo>
                      <a:pt x="251" y="70"/>
                      <a:pt x="248" y="70"/>
                      <a:pt x="245" y="71"/>
                    </a:cubicBezTo>
                    <a:cubicBezTo>
                      <a:pt x="247" y="72"/>
                      <a:pt x="248" y="74"/>
                      <a:pt x="248" y="76"/>
                    </a:cubicBezTo>
                    <a:cubicBezTo>
                      <a:pt x="248" y="77"/>
                      <a:pt x="247" y="78"/>
                      <a:pt x="246" y="79"/>
                    </a:cubicBezTo>
                    <a:cubicBezTo>
                      <a:pt x="249" y="79"/>
                      <a:pt x="251" y="78"/>
                      <a:pt x="254" y="78"/>
                    </a:cubicBezTo>
                    <a:cubicBezTo>
                      <a:pt x="257" y="78"/>
                      <a:pt x="261" y="77"/>
                      <a:pt x="265" y="77"/>
                    </a:cubicBezTo>
                    <a:cubicBezTo>
                      <a:pt x="269" y="77"/>
                      <a:pt x="273" y="77"/>
                      <a:pt x="277" y="77"/>
                    </a:cubicBezTo>
                    <a:cubicBezTo>
                      <a:pt x="281" y="76"/>
                      <a:pt x="284" y="75"/>
                      <a:pt x="288" y="75"/>
                    </a:cubicBezTo>
                    <a:cubicBezTo>
                      <a:pt x="292" y="74"/>
                      <a:pt x="296" y="75"/>
                      <a:pt x="300" y="75"/>
                    </a:cubicBezTo>
                    <a:cubicBezTo>
                      <a:pt x="304" y="74"/>
                      <a:pt x="308" y="73"/>
                      <a:pt x="312" y="73"/>
                    </a:cubicBezTo>
                    <a:cubicBezTo>
                      <a:pt x="313" y="73"/>
                      <a:pt x="314" y="73"/>
                      <a:pt x="316" y="73"/>
                    </a:cubicBezTo>
                    <a:cubicBezTo>
                      <a:pt x="317" y="72"/>
                      <a:pt x="318" y="72"/>
                      <a:pt x="319" y="72"/>
                    </a:cubicBezTo>
                    <a:cubicBezTo>
                      <a:pt x="319" y="72"/>
                      <a:pt x="319" y="72"/>
                      <a:pt x="319" y="73"/>
                    </a:cubicBezTo>
                    <a:cubicBezTo>
                      <a:pt x="320" y="73"/>
                      <a:pt x="322" y="73"/>
                      <a:pt x="323" y="72"/>
                    </a:cubicBezTo>
                    <a:cubicBezTo>
                      <a:pt x="327" y="72"/>
                      <a:pt x="331" y="72"/>
                      <a:pt x="335" y="72"/>
                    </a:cubicBezTo>
                    <a:cubicBezTo>
                      <a:pt x="337" y="72"/>
                      <a:pt x="339" y="72"/>
                      <a:pt x="341" y="72"/>
                    </a:cubicBezTo>
                    <a:cubicBezTo>
                      <a:pt x="341" y="69"/>
                      <a:pt x="346" y="69"/>
                      <a:pt x="347" y="72"/>
                    </a:cubicBezTo>
                    <a:cubicBezTo>
                      <a:pt x="351" y="72"/>
                      <a:pt x="354" y="71"/>
                      <a:pt x="358" y="71"/>
                    </a:cubicBezTo>
                    <a:cubicBezTo>
                      <a:pt x="362" y="71"/>
                      <a:pt x="366" y="71"/>
                      <a:pt x="370" y="71"/>
                    </a:cubicBezTo>
                    <a:cubicBezTo>
                      <a:pt x="374" y="71"/>
                      <a:pt x="378" y="71"/>
                      <a:pt x="381" y="72"/>
                    </a:cubicBezTo>
                    <a:cubicBezTo>
                      <a:pt x="378" y="76"/>
                      <a:pt x="374" y="79"/>
                      <a:pt x="370" y="82"/>
                    </a:cubicBezTo>
                    <a:cubicBezTo>
                      <a:pt x="366" y="82"/>
                      <a:pt x="363" y="83"/>
                      <a:pt x="358" y="84"/>
                    </a:cubicBezTo>
                    <a:cubicBezTo>
                      <a:pt x="355" y="84"/>
                      <a:pt x="351" y="84"/>
                      <a:pt x="347" y="84"/>
                    </a:cubicBezTo>
                    <a:cubicBezTo>
                      <a:pt x="343" y="85"/>
                      <a:pt x="339" y="85"/>
                      <a:pt x="335" y="86"/>
                    </a:cubicBezTo>
                    <a:cubicBezTo>
                      <a:pt x="331" y="86"/>
                      <a:pt x="327" y="86"/>
                      <a:pt x="323" y="87"/>
                    </a:cubicBezTo>
                    <a:cubicBezTo>
                      <a:pt x="319" y="87"/>
                      <a:pt x="315" y="87"/>
                      <a:pt x="311" y="88"/>
                    </a:cubicBezTo>
                    <a:cubicBezTo>
                      <a:pt x="307" y="88"/>
                      <a:pt x="304" y="90"/>
                      <a:pt x="300" y="90"/>
                    </a:cubicBezTo>
                    <a:cubicBezTo>
                      <a:pt x="298" y="90"/>
                      <a:pt x="297" y="90"/>
                      <a:pt x="296" y="91"/>
                    </a:cubicBezTo>
                    <a:cubicBezTo>
                      <a:pt x="296" y="91"/>
                      <a:pt x="295" y="91"/>
                      <a:pt x="294" y="91"/>
                    </a:cubicBezTo>
                    <a:cubicBezTo>
                      <a:pt x="293" y="91"/>
                      <a:pt x="292" y="91"/>
                      <a:pt x="291" y="91"/>
                    </a:cubicBezTo>
                    <a:cubicBezTo>
                      <a:pt x="291" y="91"/>
                      <a:pt x="291" y="91"/>
                      <a:pt x="291" y="91"/>
                    </a:cubicBezTo>
                    <a:cubicBezTo>
                      <a:pt x="290" y="91"/>
                      <a:pt x="289" y="92"/>
                      <a:pt x="288" y="92"/>
                    </a:cubicBezTo>
                    <a:cubicBezTo>
                      <a:pt x="285" y="92"/>
                      <a:pt x="283" y="92"/>
                      <a:pt x="280" y="93"/>
                    </a:cubicBezTo>
                    <a:cubicBezTo>
                      <a:pt x="280" y="93"/>
                      <a:pt x="279" y="94"/>
                      <a:pt x="279" y="93"/>
                    </a:cubicBezTo>
                    <a:cubicBezTo>
                      <a:pt x="279" y="93"/>
                      <a:pt x="279" y="93"/>
                      <a:pt x="279" y="93"/>
                    </a:cubicBezTo>
                    <a:cubicBezTo>
                      <a:pt x="278" y="93"/>
                      <a:pt x="278" y="93"/>
                      <a:pt x="277" y="93"/>
                    </a:cubicBezTo>
                    <a:cubicBezTo>
                      <a:pt x="277" y="93"/>
                      <a:pt x="277" y="93"/>
                      <a:pt x="277" y="93"/>
                    </a:cubicBezTo>
                    <a:cubicBezTo>
                      <a:pt x="277" y="93"/>
                      <a:pt x="277" y="93"/>
                      <a:pt x="277" y="93"/>
                    </a:cubicBezTo>
                    <a:cubicBezTo>
                      <a:pt x="276" y="93"/>
                      <a:pt x="276" y="93"/>
                      <a:pt x="276" y="93"/>
                    </a:cubicBezTo>
                    <a:cubicBezTo>
                      <a:pt x="272" y="94"/>
                      <a:pt x="268" y="95"/>
                      <a:pt x="264" y="95"/>
                    </a:cubicBezTo>
                    <a:cubicBezTo>
                      <a:pt x="260" y="96"/>
                      <a:pt x="257" y="97"/>
                      <a:pt x="253" y="98"/>
                    </a:cubicBezTo>
                    <a:cubicBezTo>
                      <a:pt x="249" y="99"/>
                      <a:pt x="245" y="100"/>
                      <a:pt x="241" y="101"/>
                    </a:cubicBezTo>
                    <a:cubicBezTo>
                      <a:pt x="240" y="101"/>
                      <a:pt x="238" y="102"/>
                      <a:pt x="237" y="102"/>
                    </a:cubicBezTo>
                    <a:cubicBezTo>
                      <a:pt x="237" y="103"/>
                      <a:pt x="237" y="103"/>
                      <a:pt x="238" y="103"/>
                    </a:cubicBezTo>
                    <a:cubicBezTo>
                      <a:pt x="238" y="106"/>
                      <a:pt x="235" y="107"/>
                      <a:pt x="232" y="106"/>
                    </a:cubicBezTo>
                    <a:cubicBezTo>
                      <a:pt x="232" y="106"/>
                      <a:pt x="231" y="105"/>
                      <a:pt x="231" y="103"/>
                    </a:cubicBezTo>
                    <a:cubicBezTo>
                      <a:pt x="231" y="104"/>
                      <a:pt x="230" y="104"/>
                      <a:pt x="230" y="104"/>
                    </a:cubicBezTo>
                    <a:cubicBezTo>
                      <a:pt x="226" y="105"/>
                      <a:pt x="222" y="105"/>
                      <a:pt x="218" y="107"/>
                    </a:cubicBezTo>
                    <a:cubicBezTo>
                      <a:pt x="214" y="108"/>
                      <a:pt x="211" y="110"/>
                      <a:pt x="207" y="112"/>
                    </a:cubicBezTo>
                    <a:cubicBezTo>
                      <a:pt x="207" y="112"/>
                      <a:pt x="207" y="112"/>
                      <a:pt x="207" y="112"/>
                    </a:cubicBezTo>
                    <a:cubicBezTo>
                      <a:pt x="212" y="115"/>
                      <a:pt x="212" y="111"/>
                      <a:pt x="220" y="110"/>
                    </a:cubicBezTo>
                    <a:cubicBezTo>
                      <a:pt x="223" y="110"/>
                      <a:pt x="227" y="110"/>
                      <a:pt x="232" y="110"/>
                    </a:cubicBezTo>
                    <a:cubicBezTo>
                      <a:pt x="236" y="109"/>
                      <a:pt x="240" y="108"/>
                      <a:pt x="244" y="107"/>
                    </a:cubicBezTo>
                    <a:cubicBezTo>
                      <a:pt x="248" y="107"/>
                      <a:pt x="252" y="106"/>
                      <a:pt x="257" y="106"/>
                    </a:cubicBezTo>
                    <a:cubicBezTo>
                      <a:pt x="261" y="106"/>
                      <a:pt x="265" y="106"/>
                      <a:pt x="269" y="106"/>
                    </a:cubicBezTo>
                    <a:cubicBezTo>
                      <a:pt x="271" y="105"/>
                      <a:pt x="274" y="105"/>
                      <a:pt x="276" y="105"/>
                    </a:cubicBezTo>
                    <a:cubicBezTo>
                      <a:pt x="275" y="104"/>
                      <a:pt x="275" y="101"/>
                      <a:pt x="278" y="100"/>
                    </a:cubicBezTo>
                    <a:cubicBezTo>
                      <a:pt x="281" y="100"/>
                      <a:pt x="282" y="103"/>
                      <a:pt x="281" y="105"/>
                    </a:cubicBezTo>
                    <a:cubicBezTo>
                      <a:pt x="281" y="105"/>
                      <a:pt x="281" y="105"/>
                      <a:pt x="282" y="105"/>
                    </a:cubicBezTo>
                    <a:cubicBezTo>
                      <a:pt x="286" y="105"/>
                      <a:pt x="290" y="103"/>
                      <a:pt x="294" y="103"/>
                    </a:cubicBezTo>
                    <a:cubicBezTo>
                      <a:pt x="298" y="103"/>
                      <a:pt x="302" y="102"/>
                      <a:pt x="306" y="102"/>
                    </a:cubicBezTo>
                    <a:cubicBezTo>
                      <a:pt x="310" y="102"/>
                      <a:pt x="315" y="102"/>
                      <a:pt x="319" y="101"/>
                    </a:cubicBezTo>
                    <a:cubicBezTo>
                      <a:pt x="323" y="101"/>
                      <a:pt x="327" y="101"/>
                      <a:pt x="331" y="101"/>
                    </a:cubicBezTo>
                    <a:cubicBezTo>
                      <a:pt x="326" y="103"/>
                      <a:pt x="322" y="104"/>
                      <a:pt x="317" y="106"/>
                    </a:cubicBezTo>
                    <a:cubicBezTo>
                      <a:pt x="313" y="107"/>
                      <a:pt x="308" y="110"/>
                      <a:pt x="304" y="111"/>
                    </a:cubicBezTo>
                    <a:cubicBezTo>
                      <a:pt x="304" y="111"/>
                      <a:pt x="304" y="111"/>
                      <a:pt x="303" y="111"/>
                    </a:cubicBezTo>
                    <a:cubicBezTo>
                      <a:pt x="303" y="112"/>
                      <a:pt x="301" y="112"/>
                      <a:pt x="300" y="112"/>
                    </a:cubicBezTo>
                    <a:cubicBezTo>
                      <a:pt x="297" y="113"/>
                      <a:pt x="294" y="113"/>
                      <a:pt x="292" y="114"/>
                    </a:cubicBezTo>
                    <a:cubicBezTo>
                      <a:pt x="288" y="115"/>
                      <a:pt x="285" y="116"/>
                      <a:pt x="281" y="117"/>
                    </a:cubicBezTo>
                    <a:cubicBezTo>
                      <a:pt x="281" y="118"/>
                      <a:pt x="280" y="119"/>
                      <a:pt x="277" y="118"/>
                    </a:cubicBezTo>
                    <a:cubicBezTo>
                      <a:pt x="277" y="118"/>
                      <a:pt x="277" y="118"/>
                      <a:pt x="277" y="117"/>
                    </a:cubicBezTo>
                    <a:cubicBezTo>
                      <a:pt x="274" y="118"/>
                      <a:pt x="271" y="118"/>
                      <a:pt x="267" y="119"/>
                    </a:cubicBezTo>
                    <a:cubicBezTo>
                      <a:pt x="264" y="120"/>
                      <a:pt x="260" y="121"/>
                      <a:pt x="256" y="121"/>
                    </a:cubicBezTo>
                    <a:cubicBezTo>
                      <a:pt x="256" y="121"/>
                      <a:pt x="256" y="122"/>
                      <a:pt x="256" y="122"/>
                    </a:cubicBezTo>
                    <a:cubicBezTo>
                      <a:pt x="254" y="122"/>
                      <a:pt x="252" y="122"/>
                      <a:pt x="250" y="122"/>
                    </a:cubicBezTo>
                    <a:cubicBezTo>
                      <a:pt x="250" y="122"/>
                      <a:pt x="250" y="122"/>
                      <a:pt x="250" y="122"/>
                    </a:cubicBezTo>
                    <a:cubicBezTo>
                      <a:pt x="249" y="122"/>
                      <a:pt x="248" y="122"/>
                      <a:pt x="246" y="123"/>
                    </a:cubicBezTo>
                    <a:cubicBezTo>
                      <a:pt x="246" y="126"/>
                      <a:pt x="242" y="124"/>
                      <a:pt x="240" y="123"/>
                    </a:cubicBezTo>
                    <a:cubicBezTo>
                      <a:pt x="239" y="123"/>
                      <a:pt x="238" y="123"/>
                      <a:pt x="237" y="124"/>
                    </a:cubicBezTo>
                    <a:cubicBezTo>
                      <a:pt x="237" y="124"/>
                      <a:pt x="237" y="124"/>
                      <a:pt x="237" y="124"/>
                    </a:cubicBezTo>
                    <a:cubicBezTo>
                      <a:pt x="237" y="124"/>
                      <a:pt x="236" y="124"/>
                      <a:pt x="236" y="124"/>
                    </a:cubicBezTo>
                    <a:cubicBezTo>
                      <a:pt x="234" y="124"/>
                      <a:pt x="232" y="124"/>
                      <a:pt x="230" y="124"/>
                    </a:cubicBezTo>
                    <a:cubicBezTo>
                      <a:pt x="226" y="125"/>
                      <a:pt x="222" y="125"/>
                      <a:pt x="218" y="126"/>
                    </a:cubicBezTo>
                    <a:cubicBezTo>
                      <a:pt x="214" y="126"/>
                      <a:pt x="209" y="126"/>
                      <a:pt x="205" y="126"/>
                    </a:cubicBezTo>
                    <a:cubicBezTo>
                      <a:pt x="200" y="126"/>
                      <a:pt x="196" y="125"/>
                      <a:pt x="192" y="125"/>
                    </a:cubicBezTo>
                    <a:cubicBezTo>
                      <a:pt x="189" y="125"/>
                      <a:pt x="185" y="126"/>
                      <a:pt x="182" y="126"/>
                    </a:cubicBezTo>
                    <a:cubicBezTo>
                      <a:pt x="182" y="126"/>
                      <a:pt x="182" y="126"/>
                      <a:pt x="182" y="126"/>
                    </a:cubicBezTo>
                    <a:cubicBezTo>
                      <a:pt x="181" y="126"/>
                      <a:pt x="181" y="126"/>
                      <a:pt x="181" y="126"/>
                    </a:cubicBezTo>
                    <a:cubicBezTo>
                      <a:pt x="181" y="126"/>
                      <a:pt x="180" y="125"/>
                      <a:pt x="180" y="125"/>
                    </a:cubicBezTo>
                    <a:cubicBezTo>
                      <a:pt x="180" y="125"/>
                      <a:pt x="180" y="125"/>
                      <a:pt x="180" y="125"/>
                    </a:cubicBezTo>
                    <a:cubicBezTo>
                      <a:pt x="179" y="125"/>
                      <a:pt x="179" y="125"/>
                      <a:pt x="178" y="125"/>
                    </a:cubicBezTo>
                    <a:cubicBezTo>
                      <a:pt x="176" y="125"/>
                      <a:pt x="173" y="127"/>
                      <a:pt x="172" y="132"/>
                    </a:cubicBezTo>
                    <a:cubicBezTo>
                      <a:pt x="172" y="132"/>
                      <a:pt x="172" y="133"/>
                      <a:pt x="172" y="133"/>
                    </a:cubicBezTo>
                    <a:cubicBezTo>
                      <a:pt x="174" y="136"/>
                      <a:pt x="175" y="137"/>
                      <a:pt x="175" y="138"/>
                    </a:cubicBezTo>
                    <a:cubicBezTo>
                      <a:pt x="176" y="138"/>
                      <a:pt x="176" y="138"/>
                      <a:pt x="177" y="138"/>
                    </a:cubicBezTo>
                    <a:cubicBezTo>
                      <a:pt x="178" y="139"/>
                      <a:pt x="178" y="140"/>
                      <a:pt x="177" y="141"/>
                    </a:cubicBezTo>
                    <a:cubicBezTo>
                      <a:pt x="178" y="141"/>
                      <a:pt x="178" y="142"/>
                      <a:pt x="179" y="143"/>
                    </a:cubicBezTo>
                    <a:cubicBezTo>
                      <a:pt x="182" y="148"/>
                      <a:pt x="182" y="147"/>
                      <a:pt x="185" y="152"/>
                    </a:cubicBezTo>
                    <a:cubicBezTo>
                      <a:pt x="187" y="155"/>
                      <a:pt x="188" y="158"/>
                      <a:pt x="190" y="161"/>
                    </a:cubicBezTo>
                    <a:cubicBezTo>
                      <a:pt x="191" y="161"/>
                      <a:pt x="192" y="161"/>
                      <a:pt x="193" y="161"/>
                    </a:cubicBezTo>
                    <a:cubicBezTo>
                      <a:pt x="193" y="162"/>
                      <a:pt x="193" y="163"/>
                      <a:pt x="192" y="164"/>
                    </a:cubicBezTo>
                    <a:cubicBezTo>
                      <a:pt x="193" y="166"/>
                      <a:pt x="195" y="168"/>
                      <a:pt x="196" y="170"/>
                    </a:cubicBezTo>
                    <a:cubicBezTo>
                      <a:pt x="198" y="173"/>
                      <a:pt x="200" y="176"/>
                      <a:pt x="202" y="179"/>
                    </a:cubicBezTo>
                    <a:cubicBezTo>
                      <a:pt x="204" y="183"/>
                      <a:pt x="206" y="186"/>
                      <a:pt x="207" y="188"/>
                    </a:cubicBezTo>
                    <a:cubicBezTo>
                      <a:pt x="209" y="191"/>
                      <a:pt x="210" y="194"/>
                      <a:pt x="211" y="196"/>
                    </a:cubicBezTo>
                    <a:cubicBezTo>
                      <a:pt x="207" y="196"/>
                      <a:pt x="204" y="197"/>
                      <a:pt x="200" y="197"/>
                    </a:cubicBezTo>
                    <a:cubicBezTo>
                      <a:pt x="197" y="198"/>
                      <a:pt x="194" y="199"/>
                      <a:pt x="190" y="199"/>
                    </a:cubicBezTo>
                    <a:cubicBezTo>
                      <a:pt x="187" y="200"/>
                      <a:pt x="184" y="200"/>
                      <a:pt x="180" y="200"/>
                    </a:cubicBezTo>
                    <a:cubicBezTo>
                      <a:pt x="179" y="200"/>
                      <a:pt x="178" y="200"/>
                      <a:pt x="177" y="200"/>
                    </a:cubicBezTo>
                    <a:cubicBezTo>
                      <a:pt x="176" y="201"/>
                      <a:pt x="176" y="201"/>
                      <a:pt x="175" y="201"/>
                    </a:cubicBezTo>
                    <a:cubicBezTo>
                      <a:pt x="174" y="201"/>
                      <a:pt x="174" y="201"/>
                      <a:pt x="174" y="201"/>
                    </a:cubicBezTo>
                    <a:cubicBezTo>
                      <a:pt x="171" y="201"/>
                      <a:pt x="169" y="201"/>
                      <a:pt x="166" y="202"/>
                    </a:cubicBezTo>
                    <a:cubicBezTo>
                      <a:pt x="162" y="202"/>
                      <a:pt x="158" y="204"/>
                      <a:pt x="154" y="204"/>
                    </a:cubicBezTo>
                    <a:cubicBezTo>
                      <a:pt x="151" y="205"/>
                      <a:pt x="147" y="204"/>
                      <a:pt x="143" y="205"/>
                    </a:cubicBezTo>
                    <a:cubicBezTo>
                      <a:pt x="139" y="205"/>
                      <a:pt x="135" y="206"/>
                      <a:pt x="131" y="206"/>
                    </a:cubicBezTo>
                    <a:cubicBezTo>
                      <a:pt x="127" y="207"/>
                      <a:pt x="123" y="206"/>
                      <a:pt x="119" y="206"/>
                    </a:cubicBezTo>
                    <a:cubicBezTo>
                      <a:pt x="115" y="207"/>
                      <a:pt x="111" y="207"/>
                      <a:pt x="107" y="207"/>
                    </a:cubicBezTo>
                    <a:cubicBezTo>
                      <a:pt x="103" y="207"/>
                      <a:pt x="99" y="207"/>
                      <a:pt x="95" y="207"/>
                    </a:cubicBezTo>
                    <a:cubicBezTo>
                      <a:pt x="94" y="207"/>
                      <a:pt x="92" y="207"/>
                      <a:pt x="91" y="207"/>
                    </a:cubicBezTo>
                    <a:cubicBezTo>
                      <a:pt x="91" y="207"/>
                      <a:pt x="91" y="207"/>
                      <a:pt x="91" y="207"/>
                    </a:cubicBezTo>
                    <a:cubicBezTo>
                      <a:pt x="91" y="207"/>
                      <a:pt x="91" y="207"/>
                      <a:pt x="91" y="207"/>
                    </a:cubicBezTo>
                    <a:cubicBezTo>
                      <a:pt x="88" y="206"/>
                      <a:pt x="86" y="206"/>
                      <a:pt x="84" y="206"/>
                    </a:cubicBezTo>
                    <a:cubicBezTo>
                      <a:pt x="79" y="206"/>
                      <a:pt x="76" y="204"/>
                      <a:pt x="72" y="203"/>
                    </a:cubicBezTo>
                    <a:cubicBezTo>
                      <a:pt x="68" y="202"/>
                      <a:pt x="64" y="202"/>
                      <a:pt x="60" y="201"/>
                    </a:cubicBezTo>
                    <a:cubicBezTo>
                      <a:pt x="56" y="200"/>
                      <a:pt x="53" y="198"/>
                      <a:pt x="49" y="196"/>
                    </a:cubicBezTo>
                    <a:cubicBezTo>
                      <a:pt x="47" y="195"/>
                      <a:pt x="43" y="193"/>
                      <a:pt x="39" y="190"/>
                    </a:cubicBezTo>
                    <a:cubicBezTo>
                      <a:pt x="36" y="188"/>
                      <a:pt x="32" y="185"/>
                      <a:pt x="29" y="182"/>
                    </a:cubicBezTo>
                    <a:cubicBezTo>
                      <a:pt x="26" y="180"/>
                      <a:pt x="23" y="177"/>
                      <a:pt x="21" y="173"/>
                    </a:cubicBezTo>
                    <a:cubicBezTo>
                      <a:pt x="19" y="170"/>
                      <a:pt x="17" y="166"/>
                      <a:pt x="17" y="162"/>
                    </a:cubicBezTo>
                    <a:cubicBezTo>
                      <a:pt x="16" y="158"/>
                      <a:pt x="16" y="154"/>
                      <a:pt x="17" y="149"/>
                    </a:cubicBezTo>
                    <a:close/>
                    <a:moveTo>
                      <a:pt x="261" y="45"/>
                    </a:moveTo>
                    <a:cubicBezTo>
                      <a:pt x="261" y="40"/>
                      <a:pt x="265" y="38"/>
                      <a:pt x="268" y="41"/>
                    </a:cubicBezTo>
                    <a:cubicBezTo>
                      <a:pt x="269" y="46"/>
                      <a:pt x="263" y="48"/>
                      <a:pt x="261" y="45"/>
                    </a:cubicBezTo>
                    <a:close/>
                    <a:moveTo>
                      <a:pt x="236" y="50"/>
                    </a:moveTo>
                    <a:cubicBezTo>
                      <a:pt x="235" y="50"/>
                      <a:pt x="235" y="50"/>
                      <a:pt x="235" y="49"/>
                    </a:cubicBezTo>
                    <a:cubicBezTo>
                      <a:pt x="236" y="49"/>
                      <a:pt x="237" y="49"/>
                      <a:pt x="236" y="50"/>
                    </a:cubicBezTo>
                    <a:close/>
                    <a:moveTo>
                      <a:pt x="228" y="106"/>
                    </a:moveTo>
                    <a:cubicBezTo>
                      <a:pt x="228" y="107"/>
                      <a:pt x="228" y="107"/>
                      <a:pt x="228" y="108"/>
                    </a:cubicBezTo>
                    <a:cubicBezTo>
                      <a:pt x="227" y="108"/>
                      <a:pt x="226" y="108"/>
                      <a:pt x="226" y="108"/>
                    </a:cubicBezTo>
                    <a:cubicBezTo>
                      <a:pt x="226" y="106"/>
                      <a:pt x="226" y="106"/>
                      <a:pt x="226" y="106"/>
                    </a:cubicBezTo>
                    <a:cubicBezTo>
                      <a:pt x="226" y="106"/>
                      <a:pt x="228" y="106"/>
                      <a:pt x="228" y="106"/>
                    </a:cubicBezTo>
                    <a:close/>
                    <a:moveTo>
                      <a:pt x="183" y="138"/>
                    </a:moveTo>
                    <a:cubicBezTo>
                      <a:pt x="182" y="139"/>
                      <a:pt x="181" y="139"/>
                      <a:pt x="180" y="139"/>
                    </a:cubicBezTo>
                    <a:cubicBezTo>
                      <a:pt x="181" y="137"/>
                      <a:pt x="182" y="138"/>
                      <a:pt x="183" y="138"/>
                    </a:cubicBezTo>
                    <a:close/>
                    <a:moveTo>
                      <a:pt x="48" y="397"/>
                    </a:moveTo>
                    <a:cubicBezTo>
                      <a:pt x="48" y="398"/>
                      <a:pt x="48" y="399"/>
                      <a:pt x="50" y="399"/>
                    </a:cubicBezTo>
                    <a:cubicBezTo>
                      <a:pt x="50" y="397"/>
                      <a:pt x="51" y="396"/>
                      <a:pt x="52" y="399"/>
                    </a:cubicBezTo>
                    <a:cubicBezTo>
                      <a:pt x="50" y="402"/>
                      <a:pt x="42" y="399"/>
                      <a:pt x="48" y="397"/>
                    </a:cubicBezTo>
                    <a:close/>
                    <a:moveTo>
                      <a:pt x="61" y="471"/>
                    </a:moveTo>
                    <a:cubicBezTo>
                      <a:pt x="61" y="468"/>
                      <a:pt x="55" y="470"/>
                      <a:pt x="56" y="466"/>
                    </a:cubicBezTo>
                    <a:cubicBezTo>
                      <a:pt x="59" y="465"/>
                      <a:pt x="67" y="469"/>
                      <a:pt x="61" y="471"/>
                    </a:cubicBezTo>
                    <a:close/>
                    <a:moveTo>
                      <a:pt x="1625" y="189"/>
                    </a:moveTo>
                    <a:cubicBezTo>
                      <a:pt x="1625" y="193"/>
                      <a:pt x="1625" y="196"/>
                      <a:pt x="1625" y="201"/>
                    </a:cubicBezTo>
                    <a:cubicBezTo>
                      <a:pt x="1625" y="204"/>
                      <a:pt x="1625" y="208"/>
                      <a:pt x="1624" y="212"/>
                    </a:cubicBezTo>
                    <a:cubicBezTo>
                      <a:pt x="1624" y="216"/>
                      <a:pt x="1623" y="220"/>
                      <a:pt x="1622" y="224"/>
                    </a:cubicBezTo>
                    <a:cubicBezTo>
                      <a:pt x="1622" y="227"/>
                      <a:pt x="1621" y="231"/>
                      <a:pt x="1620" y="235"/>
                    </a:cubicBezTo>
                    <a:cubicBezTo>
                      <a:pt x="1616" y="236"/>
                      <a:pt x="1612" y="237"/>
                      <a:pt x="1609" y="238"/>
                    </a:cubicBezTo>
                    <a:cubicBezTo>
                      <a:pt x="1604" y="238"/>
                      <a:pt x="1600" y="238"/>
                      <a:pt x="1596" y="239"/>
                    </a:cubicBezTo>
                    <a:cubicBezTo>
                      <a:pt x="1592" y="239"/>
                      <a:pt x="1588" y="240"/>
                      <a:pt x="1584" y="240"/>
                    </a:cubicBezTo>
                    <a:cubicBezTo>
                      <a:pt x="1580" y="241"/>
                      <a:pt x="1576" y="241"/>
                      <a:pt x="1572" y="241"/>
                    </a:cubicBezTo>
                    <a:cubicBezTo>
                      <a:pt x="1569" y="242"/>
                      <a:pt x="1567" y="242"/>
                      <a:pt x="1564" y="242"/>
                    </a:cubicBezTo>
                    <a:cubicBezTo>
                      <a:pt x="1564" y="242"/>
                      <a:pt x="1563" y="242"/>
                      <a:pt x="1563" y="242"/>
                    </a:cubicBezTo>
                    <a:cubicBezTo>
                      <a:pt x="1562" y="242"/>
                      <a:pt x="1561" y="243"/>
                      <a:pt x="1560" y="243"/>
                    </a:cubicBezTo>
                    <a:cubicBezTo>
                      <a:pt x="1557" y="243"/>
                      <a:pt x="1554" y="243"/>
                      <a:pt x="1551" y="243"/>
                    </a:cubicBezTo>
                    <a:cubicBezTo>
                      <a:pt x="1549" y="243"/>
                      <a:pt x="1546" y="244"/>
                      <a:pt x="1545" y="243"/>
                    </a:cubicBezTo>
                    <a:cubicBezTo>
                      <a:pt x="1545" y="243"/>
                      <a:pt x="1545" y="243"/>
                      <a:pt x="1545" y="243"/>
                    </a:cubicBezTo>
                    <a:cubicBezTo>
                      <a:pt x="1541" y="243"/>
                      <a:pt x="1538" y="243"/>
                      <a:pt x="1535" y="243"/>
                    </a:cubicBezTo>
                    <a:cubicBezTo>
                      <a:pt x="1531" y="243"/>
                      <a:pt x="1527" y="243"/>
                      <a:pt x="1523" y="243"/>
                    </a:cubicBezTo>
                    <a:cubicBezTo>
                      <a:pt x="1522" y="243"/>
                      <a:pt x="1521" y="243"/>
                      <a:pt x="1519" y="243"/>
                    </a:cubicBezTo>
                    <a:cubicBezTo>
                      <a:pt x="1517" y="246"/>
                      <a:pt x="1515" y="245"/>
                      <a:pt x="1514" y="244"/>
                    </a:cubicBezTo>
                    <a:cubicBezTo>
                      <a:pt x="1513" y="244"/>
                      <a:pt x="1512" y="244"/>
                      <a:pt x="1511" y="244"/>
                    </a:cubicBezTo>
                    <a:cubicBezTo>
                      <a:pt x="1507" y="244"/>
                      <a:pt x="1503" y="243"/>
                      <a:pt x="1499" y="243"/>
                    </a:cubicBezTo>
                    <a:cubicBezTo>
                      <a:pt x="1495" y="243"/>
                      <a:pt x="1491" y="243"/>
                      <a:pt x="1487" y="242"/>
                    </a:cubicBezTo>
                    <a:cubicBezTo>
                      <a:pt x="1483" y="242"/>
                      <a:pt x="1479" y="242"/>
                      <a:pt x="1474" y="242"/>
                    </a:cubicBezTo>
                    <a:cubicBezTo>
                      <a:pt x="1470" y="242"/>
                      <a:pt x="1466" y="241"/>
                      <a:pt x="1462" y="241"/>
                    </a:cubicBezTo>
                    <a:cubicBezTo>
                      <a:pt x="1466" y="242"/>
                      <a:pt x="1470" y="242"/>
                      <a:pt x="1474" y="243"/>
                    </a:cubicBezTo>
                    <a:cubicBezTo>
                      <a:pt x="1474" y="243"/>
                      <a:pt x="1474" y="243"/>
                      <a:pt x="1475" y="244"/>
                    </a:cubicBezTo>
                    <a:cubicBezTo>
                      <a:pt x="1476" y="243"/>
                      <a:pt x="1479" y="243"/>
                      <a:pt x="1481" y="243"/>
                    </a:cubicBezTo>
                    <a:cubicBezTo>
                      <a:pt x="1481" y="244"/>
                      <a:pt x="1481" y="245"/>
                      <a:pt x="1481" y="245"/>
                    </a:cubicBezTo>
                    <a:cubicBezTo>
                      <a:pt x="1483" y="246"/>
                      <a:pt x="1484" y="246"/>
                      <a:pt x="1485" y="246"/>
                    </a:cubicBezTo>
                    <a:cubicBezTo>
                      <a:pt x="1488" y="247"/>
                      <a:pt x="1490" y="247"/>
                      <a:pt x="1492" y="248"/>
                    </a:cubicBezTo>
                    <a:cubicBezTo>
                      <a:pt x="1493" y="247"/>
                      <a:pt x="1495" y="247"/>
                      <a:pt x="1497" y="247"/>
                    </a:cubicBezTo>
                    <a:cubicBezTo>
                      <a:pt x="1500" y="247"/>
                      <a:pt x="1501" y="249"/>
                      <a:pt x="1504" y="249"/>
                    </a:cubicBezTo>
                    <a:cubicBezTo>
                      <a:pt x="1504" y="249"/>
                      <a:pt x="1504" y="250"/>
                      <a:pt x="1504" y="250"/>
                    </a:cubicBezTo>
                    <a:cubicBezTo>
                      <a:pt x="1506" y="250"/>
                      <a:pt x="1507" y="250"/>
                      <a:pt x="1509" y="251"/>
                    </a:cubicBezTo>
                    <a:cubicBezTo>
                      <a:pt x="1513" y="251"/>
                      <a:pt x="1517" y="252"/>
                      <a:pt x="1521" y="253"/>
                    </a:cubicBezTo>
                    <a:cubicBezTo>
                      <a:pt x="1525" y="254"/>
                      <a:pt x="1528" y="254"/>
                      <a:pt x="1532" y="254"/>
                    </a:cubicBezTo>
                    <a:cubicBezTo>
                      <a:pt x="1536" y="255"/>
                      <a:pt x="1540" y="255"/>
                      <a:pt x="1544" y="256"/>
                    </a:cubicBezTo>
                    <a:cubicBezTo>
                      <a:pt x="1548" y="256"/>
                      <a:pt x="1552" y="256"/>
                      <a:pt x="1556" y="256"/>
                    </a:cubicBezTo>
                    <a:cubicBezTo>
                      <a:pt x="1560" y="257"/>
                      <a:pt x="1564" y="257"/>
                      <a:pt x="1568" y="257"/>
                    </a:cubicBezTo>
                    <a:cubicBezTo>
                      <a:pt x="1572" y="257"/>
                      <a:pt x="1576" y="258"/>
                      <a:pt x="1580" y="258"/>
                    </a:cubicBezTo>
                    <a:cubicBezTo>
                      <a:pt x="1584" y="258"/>
                      <a:pt x="1588" y="259"/>
                      <a:pt x="1592" y="259"/>
                    </a:cubicBezTo>
                    <a:cubicBezTo>
                      <a:pt x="1596" y="259"/>
                      <a:pt x="1600" y="259"/>
                      <a:pt x="1604" y="259"/>
                    </a:cubicBezTo>
                    <a:cubicBezTo>
                      <a:pt x="1608" y="259"/>
                      <a:pt x="1612" y="258"/>
                      <a:pt x="1616" y="258"/>
                    </a:cubicBezTo>
                    <a:cubicBezTo>
                      <a:pt x="1615" y="261"/>
                      <a:pt x="1614" y="265"/>
                      <a:pt x="1614" y="267"/>
                    </a:cubicBezTo>
                    <a:cubicBezTo>
                      <a:pt x="1613" y="270"/>
                      <a:pt x="1612" y="273"/>
                      <a:pt x="1611" y="276"/>
                    </a:cubicBezTo>
                    <a:cubicBezTo>
                      <a:pt x="1607" y="277"/>
                      <a:pt x="1603" y="277"/>
                      <a:pt x="1599" y="277"/>
                    </a:cubicBezTo>
                    <a:cubicBezTo>
                      <a:pt x="1596" y="278"/>
                      <a:pt x="1593" y="278"/>
                      <a:pt x="1590" y="279"/>
                    </a:cubicBezTo>
                    <a:cubicBezTo>
                      <a:pt x="1589" y="279"/>
                      <a:pt x="1589" y="280"/>
                      <a:pt x="1588" y="280"/>
                    </a:cubicBezTo>
                    <a:cubicBezTo>
                      <a:pt x="1587" y="280"/>
                      <a:pt x="1587" y="280"/>
                      <a:pt x="1587" y="280"/>
                    </a:cubicBezTo>
                    <a:cubicBezTo>
                      <a:pt x="1583" y="280"/>
                      <a:pt x="1579" y="280"/>
                      <a:pt x="1575" y="281"/>
                    </a:cubicBezTo>
                    <a:cubicBezTo>
                      <a:pt x="1572" y="281"/>
                      <a:pt x="1568" y="282"/>
                      <a:pt x="1565" y="282"/>
                    </a:cubicBezTo>
                    <a:cubicBezTo>
                      <a:pt x="1564" y="283"/>
                      <a:pt x="1562" y="284"/>
                      <a:pt x="1561" y="282"/>
                    </a:cubicBezTo>
                    <a:cubicBezTo>
                      <a:pt x="1557" y="282"/>
                      <a:pt x="1554" y="283"/>
                      <a:pt x="1551" y="283"/>
                    </a:cubicBezTo>
                    <a:cubicBezTo>
                      <a:pt x="1547" y="283"/>
                      <a:pt x="1543" y="283"/>
                      <a:pt x="1539" y="283"/>
                    </a:cubicBezTo>
                    <a:cubicBezTo>
                      <a:pt x="1539" y="283"/>
                      <a:pt x="1539" y="283"/>
                      <a:pt x="1539" y="283"/>
                    </a:cubicBezTo>
                    <a:cubicBezTo>
                      <a:pt x="1539" y="284"/>
                      <a:pt x="1539" y="285"/>
                      <a:pt x="1539" y="285"/>
                    </a:cubicBezTo>
                    <a:cubicBezTo>
                      <a:pt x="1538" y="285"/>
                      <a:pt x="1537" y="284"/>
                      <a:pt x="1536" y="284"/>
                    </a:cubicBezTo>
                    <a:cubicBezTo>
                      <a:pt x="1533" y="284"/>
                      <a:pt x="1530" y="284"/>
                      <a:pt x="1527" y="284"/>
                    </a:cubicBezTo>
                    <a:cubicBezTo>
                      <a:pt x="1523" y="284"/>
                      <a:pt x="1519" y="284"/>
                      <a:pt x="1515" y="284"/>
                    </a:cubicBezTo>
                    <a:cubicBezTo>
                      <a:pt x="1511" y="284"/>
                      <a:pt x="1507" y="284"/>
                      <a:pt x="1503" y="284"/>
                    </a:cubicBezTo>
                    <a:cubicBezTo>
                      <a:pt x="1499" y="283"/>
                      <a:pt x="1495" y="284"/>
                      <a:pt x="1491" y="283"/>
                    </a:cubicBezTo>
                    <a:cubicBezTo>
                      <a:pt x="1487" y="283"/>
                      <a:pt x="1483" y="283"/>
                      <a:pt x="1479" y="283"/>
                    </a:cubicBezTo>
                    <a:cubicBezTo>
                      <a:pt x="1475" y="283"/>
                      <a:pt x="1471" y="283"/>
                      <a:pt x="1467" y="282"/>
                    </a:cubicBezTo>
                    <a:cubicBezTo>
                      <a:pt x="1463" y="282"/>
                      <a:pt x="1459" y="282"/>
                      <a:pt x="1454" y="281"/>
                    </a:cubicBezTo>
                    <a:cubicBezTo>
                      <a:pt x="1459" y="282"/>
                      <a:pt x="1463" y="283"/>
                      <a:pt x="1467" y="284"/>
                    </a:cubicBezTo>
                    <a:cubicBezTo>
                      <a:pt x="1471" y="285"/>
                      <a:pt x="1475" y="286"/>
                      <a:pt x="1479" y="287"/>
                    </a:cubicBezTo>
                    <a:cubicBezTo>
                      <a:pt x="1484" y="288"/>
                      <a:pt x="1488" y="289"/>
                      <a:pt x="1492" y="289"/>
                    </a:cubicBezTo>
                    <a:cubicBezTo>
                      <a:pt x="1496" y="290"/>
                      <a:pt x="1500" y="291"/>
                      <a:pt x="1504" y="292"/>
                    </a:cubicBezTo>
                    <a:cubicBezTo>
                      <a:pt x="1508" y="292"/>
                      <a:pt x="1512" y="293"/>
                      <a:pt x="1516" y="294"/>
                    </a:cubicBezTo>
                    <a:cubicBezTo>
                      <a:pt x="1520" y="295"/>
                      <a:pt x="1525" y="295"/>
                      <a:pt x="1529" y="295"/>
                    </a:cubicBezTo>
                    <a:cubicBezTo>
                      <a:pt x="1533" y="296"/>
                      <a:pt x="1537" y="296"/>
                      <a:pt x="1541" y="296"/>
                    </a:cubicBezTo>
                    <a:cubicBezTo>
                      <a:pt x="1541" y="296"/>
                      <a:pt x="1541" y="296"/>
                      <a:pt x="1542" y="296"/>
                    </a:cubicBezTo>
                    <a:cubicBezTo>
                      <a:pt x="1542" y="296"/>
                      <a:pt x="1542" y="296"/>
                      <a:pt x="1543" y="295"/>
                    </a:cubicBezTo>
                    <a:cubicBezTo>
                      <a:pt x="1544" y="295"/>
                      <a:pt x="1544" y="296"/>
                      <a:pt x="1544" y="297"/>
                    </a:cubicBezTo>
                    <a:cubicBezTo>
                      <a:pt x="1547" y="297"/>
                      <a:pt x="1550" y="297"/>
                      <a:pt x="1554" y="297"/>
                    </a:cubicBezTo>
                    <a:cubicBezTo>
                      <a:pt x="1558" y="298"/>
                      <a:pt x="1562" y="298"/>
                      <a:pt x="1566" y="298"/>
                    </a:cubicBezTo>
                    <a:cubicBezTo>
                      <a:pt x="1570" y="298"/>
                      <a:pt x="1574" y="299"/>
                      <a:pt x="1578" y="299"/>
                    </a:cubicBezTo>
                    <a:cubicBezTo>
                      <a:pt x="1582" y="299"/>
                      <a:pt x="1587" y="299"/>
                      <a:pt x="1591" y="299"/>
                    </a:cubicBezTo>
                    <a:cubicBezTo>
                      <a:pt x="1595" y="299"/>
                      <a:pt x="1599" y="299"/>
                      <a:pt x="1603" y="299"/>
                    </a:cubicBezTo>
                    <a:cubicBezTo>
                      <a:pt x="1603" y="301"/>
                      <a:pt x="1603" y="302"/>
                      <a:pt x="1602" y="303"/>
                    </a:cubicBezTo>
                    <a:cubicBezTo>
                      <a:pt x="1601" y="307"/>
                      <a:pt x="1601" y="307"/>
                      <a:pt x="1600" y="311"/>
                    </a:cubicBezTo>
                    <a:cubicBezTo>
                      <a:pt x="1600" y="313"/>
                      <a:pt x="1598" y="315"/>
                      <a:pt x="1598" y="317"/>
                    </a:cubicBezTo>
                    <a:cubicBezTo>
                      <a:pt x="1594" y="318"/>
                      <a:pt x="1590" y="318"/>
                      <a:pt x="1586" y="319"/>
                    </a:cubicBezTo>
                    <a:cubicBezTo>
                      <a:pt x="1582" y="319"/>
                      <a:pt x="1579" y="321"/>
                      <a:pt x="1575" y="321"/>
                    </a:cubicBezTo>
                    <a:cubicBezTo>
                      <a:pt x="1571" y="321"/>
                      <a:pt x="1567" y="321"/>
                      <a:pt x="1563" y="322"/>
                    </a:cubicBezTo>
                    <a:cubicBezTo>
                      <a:pt x="1559" y="322"/>
                      <a:pt x="1556" y="322"/>
                      <a:pt x="1552" y="323"/>
                    </a:cubicBezTo>
                    <a:cubicBezTo>
                      <a:pt x="1548" y="323"/>
                      <a:pt x="1544" y="324"/>
                      <a:pt x="1540" y="324"/>
                    </a:cubicBezTo>
                    <a:cubicBezTo>
                      <a:pt x="1536" y="324"/>
                      <a:pt x="1533" y="324"/>
                      <a:pt x="1529" y="325"/>
                    </a:cubicBezTo>
                    <a:cubicBezTo>
                      <a:pt x="1526" y="325"/>
                      <a:pt x="1524" y="325"/>
                      <a:pt x="1522" y="325"/>
                    </a:cubicBezTo>
                    <a:cubicBezTo>
                      <a:pt x="1521" y="325"/>
                      <a:pt x="1521" y="325"/>
                      <a:pt x="1521" y="326"/>
                    </a:cubicBezTo>
                    <a:cubicBezTo>
                      <a:pt x="1520" y="325"/>
                      <a:pt x="1520" y="325"/>
                      <a:pt x="1519" y="325"/>
                    </a:cubicBezTo>
                    <a:cubicBezTo>
                      <a:pt x="1519" y="325"/>
                      <a:pt x="1518" y="325"/>
                      <a:pt x="1517" y="325"/>
                    </a:cubicBezTo>
                    <a:cubicBezTo>
                      <a:pt x="1513" y="325"/>
                      <a:pt x="1510" y="324"/>
                      <a:pt x="1506" y="324"/>
                    </a:cubicBezTo>
                    <a:cubicBezTo>
                      <a:pt x="1502" y="324"/>
                      <a:pt x="1498" y="324"/>
                      <a:pt x="1494" y="324"/>
                    </a:cubicBezTo>
                    <a:cubicBezTo>
                      <a:pt x="1490" y="324"/>
                      <a:pt x="1487" y="324"/>
                      <a:pt x="1483" y="324"/>
                    </a:cubicBezTo>
                    <a:cubicBezTo>
                      <a:pt x="1479" y="324"/>
                      <a:pt x="1475" y="323"/>
                      <a:pt x="1471" y="323"/>
                    </a:cubicBezTo>
                    <a:cubicBezTo>
                      <a:pt x="1467" y="323"/>
                      <a:pt x="1463" y="323"/>
                      <a:pt x="1459" y="323"/>
                    </a:cubicBezTo>
                    <a:cubicBezTo>
                      <a:pt x="1456" y="323"/>
                      <a:pt x="1451" y="322"/>
                      <a:pt x="1447" y="322"/>
                    </a:cubicBezTo>
                    <a:cubicBezTo>
                      <a:pt x="1451" y="323"/>
                      <a:pt x="1456" y="323"/>
                      <a:pt x="1460" y="324"/>
                    </a:cubicBezTo>
                    <a:cubicBezTo>
                      <a:pt x="1464" y="325"/>
                      <a:pt x="1468" y="326"/>
                      <a:pt x="1472" y="327"/>
                    </a:cubicBezTo>
                    <a:cubicBezTo>
                      <a:pt x="1476" y="328"/>
                      <a:pt x="1480" y="328"/>
                      <a:pt x="1484" y="329"/>
                    </a:cubicBezTo>
                    <a:cubicBezTo>
                      <a:pt x="1488" y="330"/>
                      <a:pt x="1491" y="331"/>
                      <a:pt x="1495" y="332"/>
                    </a:cubicBezTo>
                    <a:cubicBezTo>
                      <a:pt x="1499" y="333"/>
                      <a:pt x="1503" y="333"/>
                      <a:pt x="1507" y="334"/>
                    </a:cubicBezTo>
                    <a:cubicBezTo>
                      <a:pt x="1511" y="335"/>
                      <a:pt x="1515" y="334"/>
                      <a:pt x="1519" y="335"/>
                    </a:cubicBezTo>
                    <a:cubicBezTo>
                      <a:pt x="1523" y="335"/>
                      <a:pt x="1527" y="336"/>
                      <a:pt x="1531" y="336"/>
                    </a:cubicBezTo>
                    <a:cubicBezTo>
                      <a:pt x="1535" y="337"/>
                      <a:pt x="1539" y="337"/>
                      <a:pt x="1543" y="338"/>
                    </a:cubicBezTo>
                    <a:cubicBezTo>
                      <a:pt x="1547" y="338"/>
                      <a:pt x="1551" y="339"/>
                      <a:pt x="1555" y="339"/>
                    </a:cubicBezTo>
                    <a:cubicBezTo>
                      <a:pt x="1559" y="339"/>
                      <a:pt x="1563" y="339"/>
                      <a:pt x="1568" y="340"/>
                    </a:cubicBezTo>
                    <a:cubicBezTo>
                      <a:pt x="1569" y="340"/>
                      <a:pt x="1570" y="340"/>
                      <a:pt x="1571" y="340"/>
                    </a:cubicBezTo>
                    <a:cubicBezTo>
                      <a:pt x="1571" y="339"/>
                      <a:pt x="1571" y="339"/>
                      <a:pt x="1571" y="339"/>
                    </a:cubicBezTo>
                    <a:cubicBezTo>
                      <a:pt x="1572" y="339"/>
                      <a:pt x="1572" y="339"/>
                      <a:pt x="1572" y="339"/>
                    </a:cubicBezTo>
                    <a:cubicBezTo>
                      <a:pt x="1575" y="339"/>
                      <a:pt x="1577" y="339"/>
                      <a:pt x="1580" y="339"/>
                    </a:cubicBezTo>
                    <a:cubicBezTo>
                      <a:pt x="1584" y="339"/>
                      <a:pt x="1588" y="339"/>
                      <a:pt x="1592" y="340"/>
                    </a:cubicBezTo>
                    <a:cubicBezTo>
                      <a:pt x="1591" y="343"/>
                      <a:pt x="1590" y="346"/>
                      <a:pt x="1589" y="349"/>
                    </a:cubicBezTo>
                    <a:cubicBezTo>
                      <a:pt x="1588" y="352"/>
                      <a:pt x="1588" y="356"/>
                      <a:pt x="1588" y="359"/>
                    </a:cubicBezTo>
                    <a:cubicBezTo>
                      <a:pt x="1584" y="359"/>
                      <a:pt x="1579" y="359"/>
                      <a:pt x="1575" y="360"/>
                    </a:cubicBezTo>
                    <a:cubicBezTo>
                      <a:pt x="1573" y="360"/>
                      <a:pt x="1570" y="361"/>
                      <a:pt x="1568" y="361"/>
                    </a:cubicBezTo>
                    <a:cubicBezTo>
                      <a:pt x="1568" y="362"/>
                      <a:pt x="1568" y="362"/>
                      <a:pt x="1568" y="362"/>
                    </a:cubicBezTo>
                    <a:cubicBezTo>
                      <a:pt x="1566" y="362"/>
                      <a:pt x="1566" y="362"/>
                      <a:pt x="1566" y="361"/>
                    </a:cubicBezTo>
                    <a:cubicBezTo>
                      <a:pt x="1565" y="362"/>
                      <a:pt x="1564" y="362"/>
                      <a:pt x="1563" y="362"/>
                    </a:cubicBezTo>
                    <a:cubicBezTo>
                      <a:pt x="1559" y="362"/>
                      <a:pt x="1555" y="363"/>
                      <a:pt x="1551" y="363"/>
                    </a:cubicBezTo>
                    <a:cubicBezTo>
                      <a:pt x="1547" y="363"/>
                      <a:pt x="1543" y="364"/>
                      <a:pt x="1539" y="364"/>
                    </a:cubicBezTo>
                    <a:cubicBezTo>
                      <a:pt x="1538" y="364"/>
                      <a:pt x="1537" y="364"/>
                      <a:pt x="1536" y="364"/>
                    </a:cubicBezTo>
                    <a:cubicBezTo>
                      <a:pt x="1535" y="365"/>
                      <a:pt x="1535" y="364"/>
                      <a:pt x="1535" y="364"/>
                    </a:cubicBezTo>
                    <a:cubicBezTo>
                      <a:pt x="1532" y="364"/>
                      <a:pt x="1529" y="364"/>
                      <a:pt x="1526" y="364"/>
                    </a:cubicBezTo>
                    <a:cubicBezTo>
                      <a:pt x="1522" y="365"/>
                      <a:pt x="1518" y="365"/>
                      <a:pt x="1514" y="365"/>
                    </a:cubicBezTo>
                    <a:cubicBezTo>
                      <a:pt x="1510" y="365"/>
                      <a:pt x="1506" y="365"/>
                      <a:pt x="1502" y="365"/>
                    </a:cubicBezTo>
                    <a:cubicBezTo>
                      <a:pt x="1498" y="365"/>
                      <a:pt x="1494" y="365"/>
                      <a:pt x="1490" y="365"/>
                    </a:cubicBezTo>
                    <a:cubicBezTo>
                      <a:pt x="1486" y="365"/>
                      <a:pt x="1482" y="364"/>
                      <a:pt x="1478" y="364"/>
                    </a:cubicBezTo>
                    <a:cubicBezTo>
                      <a:pt x="1474" y="364"/>
                      <a:pt x="1470" y="364"/>
                      <a:pt x="1465" y="364"/>
                    </a:cubicBezTo>
                    <a:cubicBezTo>
                      <a:pt x="1461" y="364"/>
                      <a:pt x="1457" y="363"/>
                      <a:pt x="1453" y="363"/>
                    </a:cubicBezTo>
                    <a:cubicBezTo>
                      <a:pt x="1449" y="363"/>
                      <a:pt x="1445" y="363"/>
                      <a:pt x="1441" y="362"/>
                    </a:cubicBezTo>
                    <a:cubicBezTo>
                      <a:pt x="1445" y="363"/>
                      <a:pt x="1449" y="364"/>
                      <a:pt x="1453" y="365"/>
                    </a:cubicBezTo>
                    <a:cubicBezTo>
                      <a:pt x="1457" y="366"/>
                      <a:pt x="1461" y="367"/>
                      <a:pt x="1464" y="368"/>
                    </a:cubicBezTo>
                    <a:cubicBezTo>
                      <a:pt x="1468" y="369"/>
                      <a:pt x="1472" y="369"/>
                      <a:pt x="1476" y="370"/>
                    </a:cubicBezTo>
                    <a:cubicBezTo>
                      <a:pt x="1480" y="370"/>
                      <a:pt x="1484" y="371"/>
                      <a:pt x="1488" y="372"/>
                    </a:cubicBezTo>
                    <a:cubicBezTo>
                      <a:pt x="1492" y="373"/>
                      <a:pt x="1496" y="374"/>
                      <a:pt x="1500" y="374"/>
                    </a:cubicBezTo>
                    <a:cubicBezTo>
                      <a:pt x="1504" y="375"/>
                      <a:pt x="1508" y="376"/>
                      <a:pt x="1512" y="376"/>
                    </a:cubicBezTo>
                    <a:cubicBezTo>
                      <a:pt x="1516" y="377"/>
                      <a:pt x="1520" y="377"/>
                      <a:pt x="1524" y="377"/>
                    </a:cubicBezTo>
                    <a:cubicBezTo>
                      <a:pt x="1528" y="378"/>
                      <a:pt x="1532" y="378"/>
                      <a:pt x="1536" y="378"/>
                    </a:cubicBezTo>
                    <a:cubicBezTo>
                      <a:pt x="1540" y="378"/>
                      <a:pt x="1544" y="379"/>
                      <a:pt x="1548" y="379"/>
                    </a:cubicBezTo>
                    <a:cubicBezTo>
                      <a:pt x="1552" y="379"/>
                      <a:pt x="1556" y="380"/>
                      <a:pt x="1560" y="380"/>
                    </a:cubicBezTo>
                    <a:cubicBezTo>
                      <a:pt x="1564" y="380"/>
                      <a:pt x="1568" y="380"/>
                      <a:pt x="1572" y="380"/>
                    </a:cubicBezTo>
                    <a:cubicBezTo>
                      <a:pt x="1576" y="380"/>
                      <a:pt x="1580" y="380"/>
                      <a:pt x="1584" y="380"/>
                    </a:cubicBezTo>
                    <a:cubicBezTo>
                      <a:pt x="1583" y="383"/>
                      <a:pt x="1583" y="386"/>
                      <a:pt x="1582" y="389"/>
                    </a:cubicBezTo>
                    <a:cubicBezTo>
                      <a:pt x="1582" y="392"/>
                      <a:pt x="1583" y="396"/>
                      <a:pt x="1583" y="399"/>
                    </a:cubicBezTo>
                    <a:cubicBezTo>
                      <a:pt x="1582" y="399"/>
                      <a:pt x="1582" y="399"/>
                      <a:pt x="1581" y="399"/>
                    </a:cubicBezTo>
                    <a:cubicBezTo>
                      <a:pt x="1580" y="400"/>
                      <a:pt x="1578" y="401"/>
                      <a:pt x="1577" y="400"/>
                    </a:cubicBezTo>
                    <a:cubicBezTo>
                      <a:pt x="1575" y="400"/>
                      <a:pt x="1573" y="401"/>
                      <a:pt x="1571" y="401"/>
                    </a:cubicBezTo>
                    <a:cubicBezTo>
                      <a:pt x="1566" y="401"/>
                      <a:pt x="1562" y="401"/>
                      <a:pt x="1558" y="402"/>
                    </a:cubicBezTo>
                    <a:cubicBezTo>
                      <a:pt x="1554" y="402"/>
                      <a:pt x="1550" y="402"/>
                      <a:pt x="1546" y="403"/>
                    </a:cubicBezTo>
                    <a:cubicBezTo>
                      <a:pt x="1545" y="403"/>
                      <a:pt x="1545" y="403"/>
                      <a:pt x="1544" y="403"/>
                    </a:cubicBezTo>
                    <a:cubicBezTo>
                      <a:pt x="1544" y="403"/>
                      <a:pt x="1544" y="404"/>
                      <a:pt x="1545" y="404"/>
                    </a:cubicBezTo>
                    <a:cubicBezTo>
                      <a:pt x="1544" y="404"/>
                      <a:pt x="1543" y="403"/>
                      <a:pt x="1542" y="403"/>
                    </a:cubicBezTo>
                    <a:cubicBezTo>
                      <a:pt x="1539" y="404"/>
                      <a:pt x="1536" y="404"/>
                      <a:pt x="1533" y="405"/>
                    </a:cubicBezTo>
                    <a:cubicBezTo>
                      <a:pt x="1529" y="405"/>
                      <a:pt x="1525" y="405"/>
                      <a:pt x="1521" y="405"/>
                    </a:cubicBezTo>
                    <a:cubicBezTo>
                      <a:pt x="1517" y="405"/>
                      <a:pt x="1513" y="406"/>
                      <a:pt x="1508" y="406"/>
                    </a:cubicBezTo>
                    <a:cubicBezTo>
                      <a:pt x="1504" y="406"/>
                      <a:pt x="1500" y="405"/>
                      <a:pt x="1496" y="405"/>
                    </a:cubicBezTo>
                    <a:cubicBezTo>
                      <a:pt x="1492" y="405"/>
                      <a:pt x="1488" y="405"/>
                      <a:pt x="1484" y="405"/>
                    </a:cubicBezTo>
                    <a:cubicBezTo>
                      <a:pt x="1479" y="405"/>
                      <a:pt x="1475" y="406"/>
                      <a:pt x="1471" y="405"/>
                    </a:cubicBezTo>
                    <a:cubicBezTo>
                      <a:pt x="1467" y="405"/>
                      <a:pt x="1463" y="405"/>
                      <a:pt x="1459" y="405"/>
                    </a:cubicBezTo>
                    <a:cubicBezTo>
                      <a:pt x="1455" y="404"/>
                      <a:pt x="1451" y="404"/>
                      <a:pt x="1446" y="404"/>
                    </a:cubicBezTo>
                    <a:cubicBezTo>
                      <a:pt x="1442" y="404"/>
                      <a:pt x="1438" y="403"/>
                      <a:pt x="1434" y="403"/>
                    </a:cubicBezTo>
                    <a:cubicBezTo>
                      <a:pt x="1437" y="404"/>
                      <a:pt x="1441" y="404"/>
                      <a:pt x="1445" y="405"/>
                    </a:cubicBezTo>
                    <a:cubicBezTo>
                      <a:pt x="1445" y="404"/>
                      <a:pt x="1446" y="405"/>
                      <a:pt x="1448" y="406"/>
                    </a:cubicBezTo>
                    <a:cubicBezTo>
                      <a:pt x="1451" y="406"/>
                      <a:pt x="1454" y="407"/>
                      <a:pt x="1457" y="408"/>
                    </a:cubicBezTo>
                    <a:cubicBezTo>
                      <a:pt x="1461" y="408"/>
                      <a:pt x="1464" y="409"/>
                      <a:pt x="1468" y="410"/>
                    </a:cubicBezTo>
                    <a:cubicBezTo>
                      <a:pt x="1472" y="411"/>
                      <a:pt x="1476" y="411"/>
                      <a:pt x="1480" y="412"/>
                    </a:cubicBezTo>
                    <a:cubicBezTo>
                      <a:pt x="1483" y="413"/>
                      <a:pt x="1487" y="413"/>
                      <a:pt x="1491" y="414"/>
                    </a:cubicBezTo>
                    <a:cubicBezTo>
                      <a:pt x="1495" y="415"/>
                      <a:pt x="1499" y="416"/>
                      <a:pt x="1502" y="417"/>
                    </a:cubicBezTo>
                    <a:cubicBezTo>
                      <a:pt x="1506" y="417"/>
                      <a:pt x="1510" y="417"/>
                      <a:pt x="1514" y="418"/>
                    </a:cubicBezTo>
                    <a:cubicBezTo>
                      <a:pt x="1518" y="418"/>
                      <a:pt x="1522" y="418"/>
                      <a:pt x="1526" y="418"/>
                    </a:cubicBezTo>
                    <a:cubicBezTo>
                      <a:pt x="1528" y="418"/>
                      <a:pt x="1531" y="419"/>
                      <a:pt x="1534" y="419"/>
                    </a:cubicBezTo>
                    <a:cubicBezTo>
                      <a:pt x="1534" y="419"/>
                      <a:pt x="1534" y="418"/>
                      <a:pt x="1535" y="418"/>
                    </a:cubicBezTo>
                    <a:cubicBezTo>
                      <a:pt x="1536" y="418"/>
                      <a:pt x="1536" y="419"/>
                      <a:pt x="1536" y="419"/>
                    </a:cubicBezTo>
                    <a:cubicBezTo>
                      <a:pt x="1537" y="419"/>
                      <a:pt x="1537" y="419"/>
                      <a:pt x="1537" y="419"/>
                    </a:cubicBezTo>
                    <a:cubicBezTo>
                      <a:pt x="1541" y="420"/>
                      <a:pt x="1545" y="420"/>
                      <a:pt x="1549" y="421"/>
                    </a:cubicBezTo>
                    <a:cubicBezTo>
                      <a:pt x="1552" y="421"/>
                      <a:pt x="1556" y="421"/>
                      <a:pt x="1560" y="421"/>
                    </a:cubicBezTo>
                    <a:cubicBezTo>
                      <a:pt x="1564" y="421"/>
                      <a:pt x="1568" y="421"/>
                      <a:pt x="1572" y="421"/>
                    </a:cubicBezTo>
                    <a:cubicBezTo>
                      <a:pt x="1576" y="421"/>
                      <a:pt x="1580" y="420"/>
                      <a:pt x="1584" y="420"/>
                    </a:cubicBezTo>
                    <a:cubicBezTo>
                      <a:pt x="1584" y="426"/>
                      <a:pt x="1583" y="432"/>
                      <a:pt x="1583" y="438"/>
                    </a:cubicBezTo>
                    <a:cubicBezTo>
                      <a:pt x="1579" y="438"/>
                      <a:pt x="1575" y="439"/>
                      <a:pt x="1571" y="440"/>
                    </a:cubicBezTo>
                    <a:cubicBezTo>
                      <a:pt x="1567" y="440"/>
                      <a:pt x="1563" y="441"/>
                      <a:pt x="1559" y="442"/>
                    </a:cubicBezTo>
                    <a:cubicBezTo>
                      <a:pt x="1555" y="442"/>
                      <a:pt x="1551" y="442"/>
                      <a:pt x="1547" y="442"/>
                    </a:cubicBezTo>
                    <a:cubicBezTo>
                      <a:pt x="1547" y="442"/>
                      <a:pt x="1548" y="442"/>
                      <a:pt x="1548" y="443"/>
                    </a:cubicBezTo>
                    <a:cubicBezTo>
                      <a:pt x="1545" y="446"/>
                      <a:pt x="1542" y="445"/>
                      <a:pt x="1542" y="443"/>
                    </a:cubicBezTo>
                    <a:cubicBezTo>
                      <a:pt x="1539" y="444"/>
                      <a:pt x="1537" y="444"/>
                      <a:pt x="1535" y="444"/>
                    </a:cubicBezTo>
                    <a:cubicBezTo>
                      <a:pt x="1531" y="445"/>
                      <a:pt x="1527" y="445"/>
                      <a:pt x="1523" y="445"/>
                    </a:cubicBezTo>
                    <a:cubicBezTo>
                      <a:pt x="1519" y="446"/>
                      <a:pt x="1515" y="446"/>
                      <a:pt x="1511" y="446"/>
                    </a:cubicBezTo>
                    <a:cubicBezTo>
                      <a:pt x="1507" y="446"/>
                      <a:pt x="1503" y="446"/>
                      <a:pt x="1499" y="446"/>
                    </a:cubicBezTo>
                    <a:cubicBezTo>
                      <a:pt x="1495" y="446"/>
                      <a:pt x="1491" y="446"/>
                      <a:pt x="1487" y="446"/>
                    </a:cubicBezTo>
                    <a:cubicBezTo>
                      <a:pt x="1483" y="446"/>
                      <a:pt x="1479" y="446"/>
                      <a:pt x="1475" y="446"/>
                    </a:cubicBezTo>
                    <a:cubicBezTo>
                      <a:pt x="1475" y="446"/>
                      <a:pt x="1475" y="446"/>
                      <a:pt x="1475" y="446"/>
                    </a:cubicBezTo>
                    <a:cubicBezTo>
                      <a:pt x="1474" y="446"/>
                      <a:pt x="1474" y="446"/>
                      <a:pt x="1474" y="446"/>
                    </a:cubicBezTo>
                    <a:cubicBezTo>
                      <a:pt x="1470" y="446"/>
                      <a:pt x="1467" y="445"/>
                      <a:pt x="1463" y="445"/>
                    </a:cubicBezTo>
                    <a:cubicBezTo>
                      <a:pt x="1459" y="445"/>
                      <a:pt x="1455" y="445"/>
                      <a:pt x="1451" y="444"/>
                    </a:cubicBezTo>
                    <a:cubicBezTo>
                      <a:pt x="1447" y="444"/>
                      <a:pt x="1443" y="445"/>
                      <a:pt x="1439" y="445"/>
                    </a:cubicBezTo>
                    <a:cubicBezTo>
                      <a:pt x="1435" y="444"/>
                      <a:pt x="1431" y="444"/>
                      <a:pt x="1426" y="443"/>
                    </a:cubicBezTo>
                    <a:cubicBezTo>
                      <a:pt x="1430" y="444"/>
                      <a:pt x="1434" y="445"/>
                      <a:pt x="1438" y="445"/>
                    </a:cubicBezTo>
                    <a:cubicBezTo>
                      <a:pt x="1442" y="446"/>
                      <a:pt x="1446" y="448"/>
                      <a:pt x="1449" y="449"/>
                    </a:cubicBezTo>
                    <a:cubicBezTo>
                      <a:pt x="1453" y="449"/>
                      <a:pt x="1457" y="450"/>
                      <a:pt x="1461" y="451"/>
                    </a:cubicBezTo>
                    <a:cubicBezTo>
                      <a:pt x="1465" y="451"/>
                      <a:pt x="1468" y="452"/>
                      <a:pt x="1472" y="453"/>
                    </a:cubicBezTo>
                    <a:cubicBezTo>
                      <a:pt x="1476" y="453"/>
                      <a:pt x="1480" y="454"/>
                      <a:pt x="1484" y="454"/>
                    </a:cubicBezTo>
                    <a:cubicBezTo>
                      <a:pt x="1487" y="455"/>
                      <a:pt x="1491" y="456"/>
                      <a:pt x="1495" y="457"/>
                    </a:cubicBezTo>
                    <a:cubicBezTo>
                      <a:pt x="1499" y="457"/>
                      <a:pt x="1503" y="457"/>
                      <a:pt x="1506" y="458"/>
                    </a:cubicBezTo>
                    <a:cubicBezTo>
                      <a:pt x="1510" y="458"/>
                      <a:pt x="1514" y="459"/>
                      <a:pt x="1518" y="459"/>
                    </a:cubicBezTo>
                    <a:cubicBezTo>
                      <a:pt x="1522" y="459"/>
                      <a:pt x="1526" y="460"/>
                      <a:pt x="1529" y="460"/>
                    </a:cubicBezTo>
                    <a:cubicBezTo>
                      <a:pt x="1533" y="460"/>
                      <a:pt x="1537" y="460"/>
                      <a:pt x="1541" y="461"/>
                    </a:cubicBezTo>
                    <a:cubicBezTo>
                      <a:pt x="1545" y="461"/>
                      <a:pt x="1549" y="461"/>
                      <a:pt x="1553" y="461"/>
                    </a:cubicBezTo>
                    <a:cubicBezTo>
                      <a:pt x="1556" y="461"/>
                      <a:pt x="1560" y="461"/>
                      <a:pt x="1564" y="461"/>
                    </a:cubicBezTo>
                    <a:cubicBezTo>
                      <a:pt x="1568" y="461"/>
                      <a:pt x="1572" y="461"/>
                      <a:pt x="1576" y="461"/>
                    </a:cubicBezTo>
                    <a:cubicBezTo>
                      <a:pt x="1576" y="461"/>
                      <a:pt x="1576" y="461"/>
                      <a:pt x="1576" y="461"/>
                    </a:cubicBezTo>
                    <a:cubicBezTo>
                      <a:pt x="1575" y="464"/>
                      <a:pt x="1573" y="466"/>
                      <a:pt x="1571" y="467"/>
                    </a:cubicBezTo>
                    <a:cubicBezTo>
                      <a:pt x="1571" y="468"/>
                      <a:pt x="1571" y="468"/>
                      <a:pt x="1570" y="468"/>
                    </a:cubicBezTo>
                    <a:cubicBezTo>
                      <a:pt x="1570" y="469"/>
                      <a:pt x="1569" y="470"/>
                      <a:pt x="1568" y="470"/>
                    </a:cubicBezTo>
                    <a:cubicBezTo>
                      <a:pt x="1565" y="473"/>
                      <a:pt x="1563" y="476"/>
                      <a:pt x="1559" y="478"/>
                    </a:cubicBezTo>
                    <a:cubicBezTo>
                      <a:pt x="1556" y="480"/>
                      <a:pt x="1551" y="481"/>
                      <a:pt x="1548" y="482"/>
                    </a:cubicBezTo>
                    <a:cubicBezTo>
                      <a:pt x="1544" y="484"/>
                      <a:pt x="1540" y="485"/>
                      <a:pt x="1536" y="486"/>
                    </a:cubicBezTo>
                    <a:cubicBezTo>
                      <a:pt x="1532" y="486"/>
                      <a:pt x="1528" y="486"/>
                      <a:pt x="1524" y="486"/>
                    </a:cubicBezTo>
                    <a:cubicBezTo>
                      <a:pt x="1520" y="486"/>
                      <a:pt x="1515" y="486"/>
                      <a:pt x="1511" y="486"/>
                    </a:cubicBezTo>
                    <a:cubicBezTo>
                      <a:pt x="1506" y="485"/>
                      <a:pt x="1502" y="484"/>
                      <a:pt x="1498" y="483"/>
                    </a:cubicBezTo>
                    <a:cubicBezTo>
                      <a:pt x="1491" y="481"/>
                      <a:pt x="1491" y="481"/>
                      <a:pt x="1485" y="480"/>
                    </a:cubicBezTo>
                    <a:cubicBezTo>
                      <a:pt x="1479" y="478"/>
                      <a:pt x="1479" y="480"/>
                      <a:pt x="1472" y="478"/>
                    </a:cubicBezTo>
                    <a:cubicBezTo>
                      <a:pt x="1468" y="477"/>
                      <a:pt x="1465" y="476"/>
                      <a:pt x="1461" y="475"/>
                    </a:cubicBezTo>
                    <a:cubicBezTo>
                      <a:pt x="1457" y="475"/>
                      <a:pt x="1453" y="473"/>
                      <a:pt x="1449" y="473"/>
                    </a:cubicBezTo>
                    <a:cubicBezTo>
                      <a:pt x="1445" y="472"/>
                      <a:pt x="1441" y="471"/>
                      <a:pt x="1437" y="470"/>
                    </a:cubicBezTo>
                    <a:cubicBezTo>
                      <a:pt x="1434" y="469"/>
                      <a:pt x="1429" y="469"/>
                      <a:pt x="1426" y="468"/>
                    </a:cubicBezTo>
                    <a:cubicBezTo>
                      <a:pt x="1424" y="468"/>
                      <a:pt x="1422" y="467"/>
                      <a:pt x="1420" y="467"/>
                    </a:cubicBezTo>
                    <a:cubicBezTo>
                      <a:pt x="1420" y="467"/>
                      <a:pt x="1420" y="467"/>
                      <a:pt x="1420" y="468"/>
                    </a:cubicBezTo>
                    <a:cubicBezTo>
                      <a:pt x="1418" y="467"/>
                      <a:pt x="1418" y="467"/>
                      <a:pt x="1418" y="466"/>
                    </a:cubicBezTo>
                    <a:cubicBezTo>
                      <a:pt x="1416" y="466"/>
                      <a:pt x="1415" y="466"/>
                      <a:pt x="1414" y="465"/>
                    </a:cubicBezTo>
                    <a:cubicBezTo>
                      <a:pt x="1410" y="465"/>
                      <a:pt x="1406" y="464"/>
                      <a:pt x="1402" y="464"/>
                    </a:cubicBezTo>
                    <a:cubicBezTo>
                      <a:pt x="1402" y="464"/>
                      <a:pt x="1402" y="464"/>
                      <a:pt x="1402" y="464"/>
                    </a:cubicBezTo>
                    <a:cubicBezTo>
                      <a:pt x="1401" y="464"/>
                      <a:pt x="1399" y="464"/>
                      <a:pt x="1397" y="464"/>
                    </a:cubicBezTo>
                    <a:cubicBezTo>
                      <a:pt x="1397" y="463"/>
                      <a:pt x="1397" y="463"/>
                      <a:pt x="1397" y="462"/>
                    </a:cubicBezTo>
                    <a:cubicBezTo>
                      <a:pt x="1395" y="462"/>
                      <a:pt x="1393" y="461"/>
                      <a:pt x="1390" y="461"/>
                    </a:cubicBezTo>
                    <a:cubicBezTo>
                      <a:pt x="1387" y="460"/>
                      <a:pt x="1383" y="459"/>
                      <a:pt x="1379" y="458"/>
                    </a:cubicBezTo>
                    <a:cubicBezTo>
                      <a:pt x="1375" y="457"/>
                      <a:pt x="1371" y="456"/>
                      <a:pt x="1367" y="456"/>
                    </a:cubicBezTo>
                    <a:cubicBezTo>
                      <a:pt x="1363" y="455"/>
                      <a:pt x="1359" y="454"/>
                      <a:pt x="1355" y="453"/>
                    </a:cubicBezTo>
                    <a:cubicBezTo>
                      <a:pt x="1352" y="453"/>
                      <a:pt x="1348" y="452"/>
                      <a:pt x="1344" y="451"/>
                    </a:cubicBezTo>
                    <a:cubicBezTo>
                      <a:pt x="1340" y="450"/>
                      <a:pt x="1336" y="450"/>
                      <a:pt x="1332" y="449"/>
                    </a:cubicBezTo>
                    <a:cubicBezTo>
                      <a:pt x="1328" y="449"/>
                      <a:pt x="1324" y="448"/>
                      <a:pt x="1320" y="448"/>
                    </a:cubicBezTo>
                    <a:cubicBezTo>
                      <a:pt x="1316" y="447"/>
                      <a:pt x="1312" y="446"/>
                      <a:pt x="1308" y="446"/>
                    </a:cubicBezTo>
                    <a:cubicBezTo>
                      <a:pt x="1304" y="445"/>
                      <a:pt x="1301" y="444"/>
                      <a:pt x="1297" y="444"/>
                    </a:cubicBezTo>
                    <a:cubicBezTo>
                      <a:pt x="1293" y="443"/>
                      <a:pt x="1289" y="441"/>
                      <a:pt x="1285" y="441"/>
                    </a:cubicBezTo>
                    <a:cubicBezTo>
                      <a:pt x="1281" y="440"/>
                      <a:pt x="1277" y="439"/>
                      <a:pt x="1273" y="439"/>
                    </a:cubicBezTo>
                    <a:cubicBezTo>
                      <a:pt x="1269" y="438"/>
                      <a:pt x="1265" y="438"/>
                      <a:pt x="1261" y="437"/>
                    </a:cubicBezTo>
                    <a:cubicBezTo>
                      <a:pt x="1257" y="436"/>
                      <a:pt x="1254" y="435"/>
                      <a:pt x="1250" y="435"/>
                    </a:cubicBezTo>
                    <a:cubicBezTo>
                      <a:pt x="1246" y="434"/>
                      <a:pt x="1242" y="434"/>
                      <a:pt x="1238" y="433"/>
                    </a:cubicBezTo>
                    <a:cubicBezTo>
                      <a:pt x="1234" y="433"/>
                      <a:pt x="1230" y="432"/>
                      <a:pt x="1226" y="431"/>
                    </a:cubicBezTo>
                    <a:cubicBezTo>
                      <a:pt x="1222" y="431"/>
                      <a:pt x="1218" y="431"/>
                      <a:pt x="1214" y="430"/>
                    </a:cubicBezTo>
                    <a:cubicBezTo>
                      <a:pt x="1210" y="429"/>
                      <a:pt x="1206" y="429"/>
                      <a:pt x="1202" y="428"/>
                    </a:cubicBezTo>
                    <a:cubicBezTo>
                      <a:pt x="1198" y="428"/>
                      <a:pt x="1194" y="427"/>
                      <a:pt x="1191" y="426"/>
                    </a:cubicBezTo>
                    <a:cubicBezTo>
                      <a:pt x="1187" y="425"/>
                      <a:pt x="1183" y="425"/>
                      <a:pt x="1179" y="425"/>
                    </a:cubicBezTo>
                    <a:cubicBezTo>
                      <a:pt x="1175" y="424"/>
                      <a:pt x="1171" y="424"/>
                      <a:pt x="1167" y="423"/>
                    </a:cubicBezTo>
                    <a:cubicBezTo>
                      <a:pt x="1163" y="423"/>
                      <a:pt x="1159" y="422"/>
                      <a:pt x="1155" y="422"/>
                    </a:cubicBezTo>
                    <a:cubicBezTo>
                      <a:pt x="1151" y="421"/>
                      <a:pt x="1147" y="420"/>
                      <a:pt x="1143" y="419"/>
                    </a:cubicBezTo>
                    <a:cubicBezTo>
                      <a:pt x="1139" y="419"/>
                      <a:pt x="1135" y="419"/>
                      <a:pt x="1131" y="419"/>
                    </a:cubicBezTo>
                    <a:cubicBezTo>
                      <a:pt x="1127" y="418"/>
                      <a:pt x="1123" y="418"/>
                      <a:pt x="1119" y="417"/>
                    </a:cubicBezTo>
                    <a:cubicBezTo>
                      <a:pt x="1115" y="417"/>
                      <a:pt x="1111" y="416"/>
                      <a:pt x="1107" y="416"/>
                    </a:cubicBezTo>
                    <a:cubicBezTo>
                      <a:pt x="1103" y="415"/>
                      <a:pt x="1099" y="415"/>
                      <a:pt x="1096" y="414"/>
                    </a:cubicBezTo>
                    <a:cubicBezTo>
                      <a:pt x="1092" y="414"/>
                      <a:pt x="1088" y="414"/>
                      <a:pt x="1084" y="413"/>
                    </a:cubicBezTo>
                    <a:cubicBezTo>
                      <a:pt x="1080" y="413"/>
                      <a:pt x="1076" y="412"/>
                      <a:pt x="1072" y="411"/>
                    </a:cubicBezTo>
                    <a:cubicBezTo>
                      <a:pt x="1068" y="411"/>
                      <a:pt x="1064" y="410"/>
                      <a:pt x="1060" y="410"/>
                    </a:cubicBezTo>
                    <a:cubicBezTo>
                      <a:pt x="1056" y="410"/>
                      <a:pt x="1052" y="409"/>
                      <a:pt x="1048" y="409"/>
                    </a:cubicBezTo>
                    <a:cubicBezTo>
                      <a:pt x="1044" y="408"/>
                      <a:pt x="1040" y="408"/>
                      <a:pt x="1036" y="408"/>
                    </a:cubicBezTo>
                    <a:cubicBezTo>
                      <a:pt x="1032" y="407"/>
                      <a:pt x="1028" y="407"/>
                      <a:pt x="1024" y="406"/>
                    </a:cubicBezTo>
                    <a:cubicBezTo>
                      <a:pt x="1020" y="406"/>
                      <a:pt x="1016" y="406"/>
                      <a:pt x="1012" y="406"/>
                    </a:cubicBezTo>
                    <a:cubicBezTo>
                      <a:pt x="1008" y="405"/>
                      <a:pt x="1004" y="405"/>
                      <a:pt x="1000" y="405"/>
                    </a:cubicBezTo>
                    <a:cubicBezTo>
                      <a:pt x="997" y="404"/>
                      <a:pt x="993" y="403"/>
                      <a:pt x="989" y="403"/>
                    </a:cubicBezTo>
                    <a:cubicBezTo>
                      <a:pt x="985" y="403"/>
                      <a:pt x="981" y="403"/>
                      <a:pt x="977" y="402"/>
                    </a:cubicBezTo>
                    <a:cubicBezTo>
                      <a:pt x="973" y="402"/>
                      <a:pt x="969" y="402"/>
                      <a:pt x="965" y="401"/>
                    </a:cubicBezTo>
                    <a:cubicBezTo>
                      <a:pt x="961" y="401"/>
                      <a:pt x="957" y="400"/>
                      <a:pt x="953" y="400"/>
                    </a:cubicBezTo>
                    <a:cubicBezTo>
                      <a:pt x="949" y="400"/>
                      <a:pt x="945" y="400"/>
                      <a:pt x="941" y="400"/>
                    </a:cubicBezTo>
                    <a:cubicBezTo>
                      <a:pt x="938" y="400"/>
                      <a:pt x="934" y="400"/>
                      <a:pt x="930" y="399"/>
                    </a:cubicBezTo>
                    <a:cubicBezTo>
                      <a:pt x="926" y="399"/>
                      <a:pt x="922" y="399"/>
                      <a:pt x="918" y="399"/>
                    </a:cubicBezTo>
                    <a:cubicBezTo>
                      <a:pt x="914" y="399"/>
                      <a:pt x="910" y="398"/>
                      <a:pt x="906" y="398"/>
                    </a:cubicBezTo>
                    <a:cubicBezTo>
                      <a:pt x="902" y="398"/>
                      <a:pt x="898" y="397"/>
                      <a:pt x="894" y="397"/>
                    </a:cubicBezTo>
                    <a:cubicBezTo>
                      <a:pt x="890" y="396"/>
                      <a:pt x="886" y="397"/>
                      <a:pt x="882" y="397"/>
                    </a:cubicBezTo>
                    <a:cubicBezTo>
                      <a:pt x="878" y="397"/>
                      <a:pt x="875" y="396"/>
                      <a:pt x="871" y="395"/>
                    </a:cubicBezTo>
                    <a:cubicBezTo>
                      <a:pt x="867" y="395"/>
                      <a:pt x="863" y="395"/>
                      <a:pt x="859" y="395"/>
                    </a:cubicBezTo>
                    <a:cubicBezTo>
                      <a:pt x="855" y="395"/>
                      <a:pt x="851" y="395"/>
                      <a:pt x="847" y="395"/>
                    </a:cubicBezTo>
                    <a:cubicBezTo>
                      <a:pt x="843" y="395"/>
                      <a:pt x="839" y="395"/>
                      <a:pt x="835" y="395"/>
                    </a:cubicBezTo>
                    <a:cubicBezTo>
                      <a:pt x="831" y="395"/>
                      <a:pt x="827" y="395"/>
                      <a:pt x="823" y="395"/>
                    </a:cubicBezTo>
                    <a:cubicBezTo>
                      <a:pt x="819" y="395"/>
                      <a:pt x="816" y="394"/>
                      <a:pt x="812" y="394"/>
                    </a:cubicBezTo>
                    <a:cubicBezTo>
                      <a:pt x="807" y="394"/>
                      <a:pt x="802" y="395"/>
                      <a:pt x="797" y="395"/>
                    </a:cubicBezTo>
                    <a:cubicBezTo>
                      <a:pt x="792" y="395"/>
                      <a:pt x="787" y="395"/>
                      <a:pt x="783" y="395"/>
                    </a:cubicBezTo>
                    <a:cubicBezTo>
                      <a:pt x="779" y="395"/>
                      <a:pt x="775" y="396"/>
                      <a:pt x="770" y="396"/>
                    </a:cubicBezTo>
                    <a:cubicBezTo>
                      <a:pt x="766" y="396"/>
                      <a:pt x="762" y="395"/>
                      <a:pt x="758" y="395"/>
                    </a:cubicBezTo>
                    <a:cubicBezTo>
                      <a:pt x="754" y="395"/>
                      <a:pt x="750" y="395"/>
                      <a:pt x="745" y="395"/>
                    </a:cubicBezTo>
                    <a:cubicBezTo>
                      <a:pt x="742" y="396"/>
                      <a:pt x="738" y="396"/>
                      <a:pt x="733" y="396"/>
                    </a:cubicBezTo>
                    <a:cubicBezTo>
                      <a:pt x="729" y="397"/>
                      <a:pt x="725" y="397"/>
                      <a:pt x="721" y="397"/>
                    </a:cubicBezTo>
                    <a:cubicBezTo>
                      <a:pt x="717" y="398"/>
                      <a:pt x="713" y="397"/>
                      <a:pt x="709" y="397"/>
                    </a:cubicBezTo>
                    <a:cubicBezTo>
                      <a:pt x="705" y="398"/>
                      <a:pt x="701" y="399"/>
                      <a:pt x="697" y="399"/>
                    </a:cubicBezTo>
                    <a:cubicBezTo>
                      <a:pt x="693" y="399"/>
                      <a:pt x="689" y="399"/>
                      <a:pt x="685" y="399"/>
                    </a:cubicBezTo>
                    <a:cubicBezTo>
                      <a:pt x="681" y="400"/>
                      <a:pt x="677" y="400"/>
                      <a:pt x="673" y="400"/>
                    </a:cubicBezTo>
                    <a:cubicBezTo>
                      <a:pt x="669" y="400"/>
                      <a:pt x="665" y="401"/>
                      <a:pt x="661" y="402"/>
                    </a:cubicBezTo>
                    <a:cubicBezTo>
                      <a:pt x="657" y="402"/>
                      <a:pt x="653" y="402"/>
                      <a:pt x="649" y="402"/>
                    </a:cubicBezTo>
                    <a:cubicBezTo>
                      <a:pt x="645" y="403"/>
                      <a:pt x="641" y="404"/>
                      <a:pt x="636" y="404"/>
                    </a:cubicBezTo>
                    <a:cubicBezTo>
                      <a:pt x="632" y="405"/>
                      <a:pt x="628" y="405"/>
                      <a:pt x="624" y="406"/>
                    </a:cubicBezTo>
                    <a:cubicBezTo>
                      <a:pt x="620" y="406"/>
                      <a:pt x="616" y="406"/>
                      <a:pt x="612" y="407"/>
                    </a:cubicBezTo>
                    <a:cubicBezTo>
                      <a:pt x="608" y="407"/>
                      <a:pt x="604" y="407"/>
                      <a:pt x="600" y="407"/>
                    </a:cubicBezTo>
                    <a:cubicBezTo>
                      <a:pt x="596" y="408"/>
                      <a:pt x="592" y="409"/>
                      <a:pt x="588" y="409"/>
                    </a:cubicBezTo>
                    <a:cubicBezTo>
                      <a:pt x="584" y="410"/>
                      <a:pt x="580" y="410"/>
                      <a:pt x="576" y="410"/>
                    </a:cubicBezTo>
                    <a:cubicBezTo>
                      <a:pt x="572" y="411"/>
                      <a:pt x="568" y="411"/>
                      <a:pt x="564" y="412"/>
                    </a:cubicBezTo>
                    <a:cubicBezTo>
                      <a:pt x="560" y="412"/>
                      <a:pt x="556" y="412"/>
                      <a:pt x="552" y="413"/>
                    </a:cubicBezTo>
                    <a:cubicBezTo>
                      <a:pt x="548" y="413"/>
                      <a:pt x="544" y="414"/>
                      <a:pt x="540" y="415"/>
                    </a:cubicBezTo>
                    <a:cubicBezTo>
                      <a:pt x="536" y="415"/>
                      <a:pt x="532" y="416"/>
                      <a:pt x="528" y="416"/>
                    </a:cubicBezTo>
                    <a:cubicBezTo>
                      <a:pt x="524" y="417"/>
                      <a:pt x="520" y="417"/>
                      <a:pt x="516" y="417"/>
                    </a:cubicBezTo>
                    <a:cubicBezTo>
                      <a:pt x="512" y="418"/>
                      <a:pt x="508" y="419"/>
                      <a:pt x="504" y="419"/>
                    </a:cubicBezTo>
                    <a:cubicBezTo>
                      <a:pt x="500" y="420"/>
                      <a:pt x="496" y="420"/>
                      <a:pt x="492" y="420"/>
                    </a:cubicBezTo>
                    <a:cubicBezTo>
                      <a:pt x="488" y="421"/>
                      <a:pt x="484" y="422"/>
                      <a:pt x="480" y="422"/>
                    </a:cubicBezTo>
                    <a:cubicBezTo>
                      <a:pt x="476" y="423"/>
                      <a:pt x="472" y="424"/>
                      <a:pt x="468" y="424"/>
                    </a:cubicBezTo>
                    <a:cubicBezTo>
                      <a:pt x="464" y="425"/>
                      <a:pt x="460" y="425"/>
                      <a:pt x="456" y="425"/>
                    </a:cubicBezTo>
                    <a:cubicBezTo>
                      <a:pt x="452" y="426"/>
                      <a:pt x="448" y="427"/>
                      <a:pt x="444" y="428"/>
                    </a:cubicBezTo>
                    <a:cubicBezTo>
                      <a:pt x="440" y="428"/>
                      <a:pt x="436" y="428"/>
                      <a:pt x="432" y="429"/>
                    </a:cubicBezTo>
                    <a:cubicBezTo>
                      <a:pt x="428" y="430"/>
                      <a:pt x="425" y="431"/>
                      <a:pt x="421" y="431"/>
                    </a:cubicBezTo>
                    <a:cubicBezTo>
                      <a:pt x="417" y="432"/>
                      <a:pt x="413" y="432"/>
                      <a:pt x="409" y="432"/>
                    </a:cubicBezTo>
                    <a:cubicBezTo>
                      <a:pt x="405" y="433"/>
                      <a:pt x="401" y="435"/>
                      <a:pt x="397" y="435"/>
                    </a:cubicBezTo>
                    <a:cubicBezTo>
                      <a:pt x="393" y="436"/>
                      <a:pt x="389" y="436"/>
                      <a:pt x="385" y="436"/>
                    </a:cubicBezTo>
                    <a:cubicBezTo>
                      <a:pt x="381" y="437"/>
                      <a:pt x="377" y="437"/>
                      <a:pt x="373" y="438"/>
                    </a:cubicBezTo>
                    <a:cubicBezTo>
                      <a:pt x="369" y="439"/>
                      <a:pt x="365" y="440"/>
                      <a:pt x="361" y="440"/>
                    </a:cubicBezTo>
                    <a:cubicBezTo>
                      <a:pt x="357" y="441"/>
                      <a:pt x="353" y="442"/>
                      <a:pt x="349" y="443"/>
                    </a:cubicBezTo>
                    <a:cubicBezTo>
                      <a:pt x="345" y="444"/>
                      <a:pt x="341" y="444"/>
                      <a:pt x="337" y="444"/>
                    </a:cubicBezTo>
                    <a:cubicBezTo>
                      <a:pt x="333" y="445"/>
                      <a:pt x="329" y="447"/>
                      <a:pt x="326" y="447"/>
                    </a:cubicBezTo>
                    <a:cubicBezTo>
                      <a:pt x="322" y="448"/>
                      <a:pt x="318" y="448"/>
                      <a:pt x="314" y="449"/>
                    </a:cubicBezTo>
                    <a:cubicBezTo>
                      <a:pt x="310" y="450"/>
                      <a:pt x="306" y="450"/>
                      <a:pt x="302" y="451"/>
                    </a:cubicBezTo>
                    <a:cubicBezTo>
                      <a:pt x="298" y="452"/>
                      <a:pt x="294" y="452"/>
                      <a:pt x="290" y="453"/>
                    </a:cubicBezTo>
                    <a:cubicBezTo>
                      <a:pt x="286" y="454"/>
                      <a:pt x="282" y="454"/>
                      <a:pt x="278" y="455"/>
                    </a:cubicBezTo>
                    <a:cubicBezTo>
                      <a:pt x="274" y="456"/>
                      <a:pt x="270" y="457"/>
                      <a:pt x="266" y="458"/>
                    </a:cubicBezTo>
                    <a:cubicBezTo>
                      <a:pt x="262" y="458"/>
                      <a:pt x="258" y="459"/>
                      <a:pt x="254" y="460"/>
                    </a:cubicBezTo>
                    <a:cubicBezTo>
                      <a:pt x="250" y="461"/>
                      <a:pt x="246" y="461"/>
                      <a:pt x="242" y="462"/>
                    </a:cubicBezTo>
                    <a:cubicBezTo>
                      <a:pt x="238" y="463"/>
                      <a:pt x="234" y="464"/>
                      <a:pt x="230" y="465"/>
                    </a:cubicBezTo>
                    <a:cubicBezTo>
                      <a:pt x="226" y="465"/>
                      <a:pt x="222" y="466"/>
                      <a:pt x="218" y="467"/>
                    </a:cubicBezTo>
                    <a:cubicBezTo>
                      <a:pt x="215" y="468"/>
                      <a:pt x="211" y="469"/>
                      <a:pt x="207" y="470"/>
                    </a:cubicBezTo>
                    <a:cubicBezTo>
                      <a:pt x="203" y="470"/>
                      <a:pt x="199" y="471"/>
                      <a:pt x="195" y="472"/>
                    </a:cubicBezTo>
                    <a:cubicBezTo>
                      <a:pt x="192" y="473"/>
                      <a:pt x="188" y="473"/>
                      <a:pt x="185" y="473"/>
                    </a:cubicBezTo>
                    <a:cubicBezTo>
                      <a:pt x="182" y="474"/>
                      <a:pt x="178" y="475"/>
                      <a:pt x="175" y="476"/>
                    </a:cubicBezTo>
                    <a:cubicBezTo>
                      <a:pt x="172" y="477"/>
                      <a:pt x="168" y="478"/>
                      <a:pt x="165" y="478"/>
                    </a:cubicBezTo>
                    <a:cubicBezTo>
                      <a:pt x="162" y="479"/>
                      <a:pt x="158" y="479"/>
                      <a:pt x="154" y="480"/>
                    </a:cubicBezTo>
                    <a:cubicBezTo>
                      <a:pt x="151" y="481"/>
                      <a:pt x="147" y="482"/>
                      <a:pt x="143" y="483"/>
                    </a:cubicBezTo>
                    <a:cubicBezTo>
                      <a:pt x="140" y="483"/>
                      <a:pt x="136" y="484"/>
                      <a:pt x="132" y="484"/>
                    </a:cubicBezTo>
                    <a:cubicBezTo>
                      <a:pt x="129" y="485"/>
                      <a:pt x="125" y="486"/>
                      <a:pt x="121" y="486"/>
                    </a:cubicBezTo>
                    <a:cubicBezTo>
                      <a:pt x="118" y="486"/>
                      <a:pt x="114" y="486"/>
                      <a:pt x="110" y="486"/>
                    </a:cubicBezTo>
                    <a:cubicBezTo>
                      <a:pt x="109" y="486"/>
                      <a:pt x="107" y="486"/>
                      <a:pt x="105" y="486"/>
                    </a:cubicBezTo>
                    <a:cubicBezTo>
                      <a:pt x="105" y="486"/>
                      <a:pt x="105" y="486"/>
                      <a:pt x="105" y="486"/>
                    </a:cubicBezTo>
                    <a:cubicBezTo>
                      <a:pt x="105" y="486"/>
                      <a:pt x="104" y="487"/>
                      <a:pt x="104" y="487"/>
                    </a:cubicBezTo>
                    <a:cubicBezTo>
                      <a:pt x="100" y="487"/>
                      <a:pt x="95" y="486"/>
                      <a:pt x="91" y="485"/>
                    </a:cubicBezTo>
                    <a:cubicBezTo>
                      <a:pt x="87" y="484"/>
                      <a:pt x="83" y="482"/>
                      <a:pt x="79" y="480"/>
                    </a:cubicBezTo>
                    <a:cubicBezTo>
                      <a:pt x="75" y="477"/>
                      <a:pt x="72" y="474"/>
                      <a:pt x="69" y="471"/>
                    </a:cubicBezTo>
                    <a:cubicBezTo>
                      <a:pt x="66" y="468"/>
                      <a:pt x="63" y="465"/>
                      <a:pt x="60" y="461"/>
                    </a:cubicBezTo>
                    <a:cubicBezTo>
                      <a:pt x="65" y="461"/>
                      <a:pt x="68" y="461"/>
                      <a:pt x="72" y="461"/>
                    </a:cubicBezTo>
                    <a:cubicBezTo>
                      <a:pt x="77" y="461"/>
                      <a:pt x="81" y="461"/>
                      <a:pt x="85" y="461"/>
                    </a:cubicBezTo>
                    <a:cubicBezTo>
                      <a:pt x="89" y="460"/>
                      <a:pt x="93" y="460"/>
                      <a:pt x="97" y="460"/>
                    </a:cubicBezTo>
                    <a:cubicBezTo>
                      <a:pt x="101" y="460"/>
                      <a:pt x="105" y="460"/>
                      <a:pt x="109" y="460"/>
                    </a:cubicBezTo>
                    <a:cubicBezTo>
                      <a:pt x="112" y="459"/>
                      <a:pt x="115" y="459"/>
                      <a:pt x="118" y="459"/>
                    </a:cubicBezTo>
                    <a:cubicBezTo>
                      <a:pt x="119" y="458"/>
                      <a:pt x="121" y="457"/>
                      <a:pt x="123" y="459"/>
                    </a:cubicBezTo>
                    <a:cubicBezTo>
                      <a:pt x="127" y="458"/>
                      <a:pt x="130" y="458"/>
                      <a:pt x="133" y="457"/>
                    </a:cubicBezTo>
                    <a:cubicBezTo>
                      <a:pt x="137" y="457"/>
                      <a:pt x="142" y="456"/>
                      <a:pt x="146" y="455"/>
                    </a:cubicBezTo>
                    <a:cubicBezTo>
                      <a:pt x="150" y="455"/>
                      <a:pt x="154" y="454"/>
                      <a:pt x="158" y="453"/>
                    </a:cubicBezTo>
                    <a:cubicBezTo>
                      <a:pt x="162" y="453"/>
                      <a:pt x="166" y="452"/>
                      <a:pt x="170" y="451"/>
                    </a:cubicBezTo>
                    <a:cubicBezTo>
                      <a:pt x="173" y="450"/>
                      <a:pt x="177" y="449"/>
                      <a:pt x="182" y="449"/>
                    </a:cubicBezTo>
                    <a:cubicBezTo>
                      <a:pt x="185" y="448"/>
                      <a:pt x="190" y="447"/>
                      <a:pt x="194" y="447"/>
                    </a:cubicBezTo>
                    <a:cubicBezTo>
                      <a:pt x="198" y="446"/>
                      <a:pt x="202" y="444"/>
                      <a:pt x="206" y="443"/>
                    </a:cubicBezTo>
                    <a:cubicBezTo>
                      <a:pt x="202" y="444"/>
                      <a:pt x="198" y="444"/>
                      <a:pt x="194" y="444"/>
                    </a:cubicBezTo>
                    <a:cubicBezTo>
                      <a:pt x="190" y="444"/>
                      <a:pt x="186" y="445"/>
                      <a:pt x="182" y="445"/>
                    </a:cubicBezTo>
                    <a:cubicBezTo>
                      <a:pt x="178" y="445"/>
                      <a:pt x="174" y="445"/>
                      <a:pt x="170" y="445"/>
                    </a:cubicBezTo>
                    <a:cubicBezTo>
                      <a:pt x="166" y="445"/>
                      <a:pt x="162" y="445"/>
                      <a:pt x="158" y="446"/>
                    </a:cubicBezTo>
                    <a:cubicBezTo>
                      <a:pt x="157" y="446"/>
                      <a:pt x="156" y="446"/>
                      <a:pt x="154" y="446"/>
                    </a:cubicBezTo>
                    <a:cubicBezTo>
                      <a:pt x="153" y="447"/>
                      <a:pt x="152" y="446"/>
                      <a:pt x="151" y="446"/>
                    </a:cubicBezTo>
                    <a:cubicBezTo>
                      <a:pt x="150" y="446"/>
                      <a:pt x="148" y="446"/>
                      <a:pt x="147" y="446"/>
                    </a:cubicBezTo>
                    <a:cubicBezTo>
                      <a:pt x="143" y="446"/>
                      <a:pt x="139" y="446"/>
                      <a:pt x="135" y="446"/>
                    </a:cubicBezTo>
                    <a:cubicBezTo>
                      <a:pt x="131" y="446"/>
                      <a:pt x="127" y="446"/>
                      <a:pt x="123" y="446"/>
                    </a:cubicBezTo>
                    <a:cubicBezTo>
                      <a:pt x="119" y="446"/>
                      <a:pt x="115" y="446"/>
                      <a:pt x="111" y="445"/>
                    </a:cubicBezTo>
                    <a:cubicBezTo>
                      <a:pt x="107" y="445"/>
                      <a:pt x="103" y="445"/>
                      <a:pt x="99" y="444"/>
                    </a:cubicBezTo>
                    <a:cubicBezTo>
                      <a:pt x="96" y="444"/>
                      <a:pt x="92" y="443"/>
                      <a:pt x="88" y="443"/>
                    </a:cubicBezTo>
                    <a:cubicBezTo>
                      <a:pt x="87" y="443"/>
                      <a:pt x="86" y="443"/>
                      <a:pt x="85" y="443"/>
                    </a:cubicBezTo>
                    <a:cubicBezTo>
                      <a:pt x="86" y="444"/>
                      <a:pt x="82" y="447"/>
                      <a:pt x="79" y="443"/>
                    </a:cubicBezTo>
                    <a:cubicBezTo>
                      <a:pt x="79" y="442"/>
                      <a:pt x="80" y="442"/>
                      <a:pt x="81" y="442"/>
                    </a:cubicBezTo>
                    <a:cubicBezTo>
                      <a:pt x="79" y="442"/>
                      <a:pt x="78" y="442"/>
                      <a:pt x="76" y="441"/>
                    </a:cubicBezTo>
                    <a:cubicBezTo>
                      <a:pt x="74" y="441"/>
                      <a:pt x="71" y="441"/>
                      <a:pt x="69" y="440"/>
                    </a:cubicBezTo>
                    <a:cubicBezTo>
                      <a:pt x="68" y="441"/>
                      <a:pt x="68" y="441"/>
                      <a:pt x="67" y="441"/>
                    </a:cubicBezTo>
                    <a:cubicBezTo>
                      <a:pt x="67" y="441"/>
                      <a:pt x="67" y="440"/>
                      <a:pt x="67" y="440"/>
                    </a:cubicBezTo>
                    <a:cubicBezTo>
                      <a:pt x="66" y="440"/>
                      <a:pt x="65" y="440"/>
                      <a:pt x="64" y="440"/>
                    </a:cubicBezTo>
                    <a:cubicBezTo>
                      <a:pt x="61" y="439"/>
                      <a:pt x="57" y="439"/>
                      <a:pt x="53" y="438"/>
                    </a:cubicBezTo>
                    <a:cubicBezTo>
                      <a:pt x="53" y="437"/>
                      <a:pt x="52" y="436"/>
                      <a:pt x="52" y="435"/>
                    </a:cubicBezTo>
                    <a:cubicBezTo>
                      <a:pt x="52" y="433"/>
                      <a:pt x="52" y="431"/>
                      <a:pt x="53" y="429"/>
                    </a:cubicBezTo>
                    <a:cubicBezTo>
                      <a:pt x="51" y="432"/>
                      <a:pt x="49" y="434"/>
                      <a:pt x="48" y="431"/>
                    </a:cubicBezTo>
                    <a:cubicBezTo>
                      <a:pt x="52" y="431"/>
                      <a:pt x="49" y="423"/>
                      <a:pt x="53" y="424"/>
                    </a:cubicBezTo>
                    <a:cubicBezTo>
                      <a:pt x="53" y="423"/>
                      <a:pt x="54" y="422"/>
                      <a:pt x="54" y="421"/>
                    </a:cubicBezTo>
                    <a:cubicBezTo>
                      <a:pt x="58" y="421"/>
                      <a:pt x="62" y="420"/>
                      <a:pt x="66" y="420"/>
                    </a:cubicBezTo>
                    <a:cubicBezTo>
                      <a:pt x="70" y="420"/>
                      <a:pt x="74" y="420"/>
                      <a:pt x="78" y="420"/>
                    </a:cubicBezTo>
                    <a:cubicBezTo>
                      <a:pt x="82" y="420"/>
                      <a:pt x="86" y="420"/>
                      <a:pt x="90" y="420"/>
                    </a:cubicBezTo>
                    <a:cubicBezTo>
                      <a:pt x="90" y="420"/>
                      <a:pt x="90" y="420"/>
                      <a:pt x="90" y="420"/>
                    </a:cubicBezTo>
                    <a:cubicBezTo>
                      <a:pt x="91" y="419"/>
                      <a:pt x="91" y="418"/>
                      <a:pt x="92" y="418"/>
                    </a:cubicBezTo>
                    <a:cubicBezTo>
                      <a:pt x="93" y="419"/>
                      <a:pt x="93" y="419"/>
                      <a:pt x="94" y="420"/>
                    </a:cubicBezTo>
                    <a:cubicBezTo>
                      <a:pt x="97" y="419"/>
                      <a:pt x="99" y="419"/>
                      <a:pt x="102" y="419"/>
                    </a:cubicBezTo>
                    <a:cubicBezTo>
                      <a:pt x="106" y="418"/>
                      <a:pt x="110" y="418"/>
                      <a:pt x="114" y="418"/>
                    </a:cubicBezTo>
                    <a:cubicBezTo>
                      <a:pt x="118" y="418"/>
                      <a:pt x="123" y="417"/>
                      <a:pt x="127" y="417"/>
                    </a:cubicBezTo>
                    <a:cubicBezTo>
                      <a:pt x="131" y="416"/>
                      <a:pt x="134" y="415"/>
                      <a:pt x="139" y="414"/>
                    </a:cubicBezTo>
                    <a:cubicBezTo>
                      <a:pt x="143" y="414"/>
                      <a:pt x="147" y="413"/>
                      <a:pt x="151" y="412"/>
                    </a:cubicBezTo>
                    <a:cubicBezTo>
                      <a:pt x="154" y="412"/>
                      <a:pt x="158" y="411"/>
                      <a:pt x="163" y="410"/>
                    </a:cubicBezTo>
                    <a:cubicBezTo>
                      <a:pt x="166" y="409"/>
                      <a:pt x="171" y="409"/>
                      <a:pt x="175" y="408"/>
                    </a:cubicBezTo>
                    <a:cubicBezTo>
                      <a:pt x="176" y="408"/>
                      <a:pt x="178" y="408"/>
                      <a:pt x="180" y="407"/>
                    </a:cubicBezTo>
                    <a:cubicBezTo>
                      <a:pt x="179" y="407"/>
                      <a:pt x="179" y="407"/>
                      <a:pt x="178" y="406"/>
                    </a:cubicBezTo>
                    <a:cubicBezTo>
                      <a:pt x="182" y="403"/>
                      <a:pt x="183" y="405"/>
                      <a:pt x="183" y="407"/>
                    </a:cubicBezTo>
                    <a:cubicBezTo>
                      <a:pt x="184" y="406"/>
                      <a:pt x="185" y="406"/>
                      <a:pt x="187" y="406"/>
                    </a:cubicBezTo>
                    <a:cubicBezTo>
                      <a:pt x="191" y="405"/>
                      <a:pt x="195" y="404"/>
                      <a:pt x="199" y="403"/>
                    </a:cubicBezTo>
                    <a:cubicBezTo>
                      <a:pt x="195" y="403"/>
                      <a:pt x="190" y="404"/>
                      <a:pt x="186" y="404"/>
                    </a:cubicBezTo>
                    <a:cubicBezTo>
                      <a:pt x="182" y="404"/>
                      <a:pt x="178" y="404"/>
                      <a:pt x="174" y="404"/>
                    </a:cubicBezTo>
                    <a:cubicBezTo>
                      <a:pt x="170" y="404"/>
                      <a:pt x="166" y="405"/>
                      <a:pt x="162" y="405"/>
                    </a:cubicBezTo>
                    <a:cubicBezTo>
                      <a:pt x="158" y="405"/>
                      <a:pt x="154" y="405"/>
                      <a:pt x="150" y="405"/>
                    </a:cubicBezTo>
                    <a:cubicBezTo>
                      <a:pt x="146" y="405"/>
                      <a:pt x="142" y="406"/>
                      <a:pt x="138" y="406"/>
                    </a:cubicBezTo>
                    <a:cubicBezTo>
                      <a:pt x="134" y="406"/>
                      <a:pt x="130" y="405"/>
                      <a:pt x="126" y="405"/>
                    </a:cubicBezTo>
                    <a:cubicBezTo>
                      <a:pt x="122" y="405"/>
                      <a:pt x="118" y="406"/>
                      <a:pt x="114" y="405"/>
                    </a:cubicBezTo>
                    <a:cubicBezTo>
                      <a:pt x="110" y="405"/>
                      <a:pt x="106" y="404"/>
                      <a:pt x="101" y="404"/>
                    </a:cubicBezTo>
                    <a:cubicBezTo>
                      <a:pt x="98" y="404"/>
                      <a:pt x="93" y="404"/>
                      <a:pt x="89" y="404"/>
                    </a:cubicBezTo>
                    <a:cubicBezTo>
                      <a:pt x="88" y="404"/>
                      <a:pt x="86" y="403"/>
                      <a:pt x="84" y="403"/>
                    </a:cubicBezTo>
                    <a:cubicBezTo>
                      <a:pt x="84" y="404"/>
                      <a:pt x="83" y="404"/>
                      <a:pt x="82" y="404"/>
                    </a:cubicBezTo>
                    <a:cubicBezTo>
                      <a:pt x="83" y="404"/>
                      <a:pt x="83" y="403"/>
                      <a:pt x="83" y="403"/>
                    </a:cubicBezTo>
                    <a:cubicBezTo>
                      <a:pt x="81" y="403"/>
                      <a:pt x="79" y="403"/>
                      <a:pt x="77" y="403"/>
                    </a:cubicBezTo>
                    <a:cubicBezTo>
                      <a:pt x="73" y="402"/>
                      <a:pt x="69" y="401"/>
                      <a:pt x="65" y="400"/>
                    </a:cubicBezTo>
                    <a:cubicBezTo>
                      <a:pt x="61" y="400"/>
                      <a:pt x="58" y="399"/>
                      <a:pt x="53" y="399"/>
                    </a:cubicBezTo>
                    <a:cubicBezTo>
                      <a:pt x="53" y="396"/>
                      <a:pt x="52" y="393"/>
                      <a:pt x="52" y="390"/>
                    </a:cubicBezTo>
                    <a:cubicBezTo>
                      <a:pt x="52" y="386"/>
                      <a:pt x="52" y="383"/>
                      <a:pt x="51" y="380"/>
                    </a:cubicBezTo>
                    <a:cubicBezTo>
                      <a:pt x="55" y="380"/>
                      <a:pt x="60" y="380"/>
                      <a:pt x="63" y="380"/>
                    </a:cubicBezTo>
                    <a:cubicBezTo>
                      <a:pt x="67" y="380"/>
                      <a:pt x="71" y="380"/>
                      <a:pt x="75" y="380"/>
                    </a:cubicBezTo>
                    <a:cubicBezTo>
                      <a:pt x="79" y="380"/>
                      <a:pt x="83" y="379"/>
                      <a:pt x="87" y="379"/>
                    </a:cubicBezTo>
                    <a:cubicBezTo>
                      <a:pt x="91" y="378"/>
                      <a:pt x="95" y="379"/>
                      <a:pt x="99" y="378"/>
                    </a:cubicBezTo>
                    <a:cubicBezTo>
                      <a:pt x="103" y="378"/>
                      <a:pt x="107" y="378"/>
                      <a:pt x="110" y="377"/>
                    </a:cubicBezTo>
                    <a:cubicBezTo>
                      <a:pt x="114" y="377"/>
                      <a:pt x="118" y="376"/>
                      <a:pt x="122" y="375"/>
                    </a:cubicBezTo>
                    <a:cubicBezTo>
                      <a:pt x="126" y="375"/>
                      <a:pt x="130" y="374"/>
                      <a:pt x="134" y="374"/>
                    </a:cubicBezTo>
                    <a:cubicBezTo>
                      <a:pt x="137" y="373"/>
                      <a:pt x="141" y="372"/>
                      <a:pt x="145" y="371"/>
                    </a:cubicBezTo>
                    <a:cubicBezTo>
                      <a:pt x="149" y="371"/>
                      <a:pt x="153" y="371"/>
                      <a:pt x="157" y="370"/>
                    </a:cubicBezTo>
                    <a:cubicBezTo>
                      <a:pt x="161" y="369"/>
                      <a:pt x="165" y="369"/>
                      <a:pt x="168" y="368"/>
                    </a:cubicBezTo>
                    <a:cubicBezTo>
                      <a:pt x="172" y="367"/>
                      <a:pt x="176" y="366"/>
                      <a:pt x="180" y="365"/>
                    </a:cubicBezTo>
                    <a:cubicBezTo>
                      <a:pt x="184" y="364"/>
                      <a:pt x="187" y="363"/>
                      <a:pt x="191" y="362"/>
                    </a:cubicBezTo>
                    <a:cubicBezTo>
                      <a:pt x="187" y="363"/>
                      <a:pt x="183" y="363"/>
                      <a:pt x="180" y="364"/>
                    </a:cubicBezTo>
                    <a:cubicBezTo>
                      <a:pt x="175" y="364"/>
                      <a:pt x="171" y="363"/>
                      <a:pt x="167" y="363"/>
                    </a:cubicBezTo>
                    <a:cubicBezTo>
                      <a:pt x="163" y="364"/>
                      <a:pt x="159" y="365"/>
                      <a:pt x="156" y="365"/>
                    </a:cubicBezTo>
                    <a:cubicBezTo>
                      <a:pt x="151" y="365"/>
                      <a:pt x="147" y="365"/>
                      <a:pt x="144" y="365"/>
                    </a:cubicBezTo>
                    <a:cubicBezTo>
                      <a:pt x="140" y="365"/>
                      <a:pt x="136" y="365"/>
                      <a:pt x="132" y="365"/>
                    </a:cubicBezTo>
                    <a:cubicBezTo>
                      <a:pt x="128" y="365"/>
                      <a:pt x="124" y="365"/>
                      <a:pt x="120" y="365"/>
                    </a:cubicBezTo>
                    <a:cubicBezTo>
                      <a:pt x="116" y="365"/>
                      <a:pt x="112" y="365"/>
                      <a:pt x="108" y="365"/>
                    </a:cubicBezTo>
                    <a:cubicBezTo>
                      <a:pt x="104" y="364"/>
                      <a:pt x="100" y="364"/>
                      <a:pt x="96" y="364"/>
                    </a:cubicBezTo>
                    <a:cubicBezTo>
                      <a:pt x="95" y="364"/>
                      <a:pt x="94" y="364"/>
                      <a:pt x="93" y="364"/>
                    </a:cubicBezTo>
                    <a:cubicBezTo>
                      <a:pt x="92" y="364"/>
                      <a:pt x="91" y="365"/>
                      <a:pt x="91" y="363"/>
                    </a:cubicBezTo>
                    <a:cubicBezTo>
                      <a:pt x="88" y="363"/>
                      <a:pt x="86" y="363"/>
                      <a:pt x="84" y="363"/>
                    </a:cubicBezTo>
                    <a:cubicBezTo>
                      <a:pt x="80" y="362"/>
                      <a:pt x="76" y="362"/>
                      <a:pt x="72" y="362"/>
                    </a:cubicBezTo>
                    <a:cubicBezTo>
                      <a:pt x="68" y="361"/>
                      <a:pt x="65" y="361"/>
                      <a:pt x="61" y="361"/>
                    </a:cubicBezTo>
                    <a:cubicBezTo>
                      <a:pt x="61" y="362"/>
                      <a:pt x="61" y="362"/>
                      <a:pt x="59" y="362"/>
                    </a:cubicBezTo>
                    <a:cubicBezTo>
                      <a:pt x="59" y="362"/>
                      <a:pt x="59" y="361"/>
                      <a:pt x="59" y="361"/>
                    </a:cubicBezTo>
                    <a:cubicBezTo>
                      <a:pt x="56" y="360"/>
                      <a:pt x="52" y="359"/>
                      <a:pt x="48" y="359"/>
                    </a:cubicBezTo>
                    <a:cubicBezTo>
                      <a:pt x="48" y="355"/>
                      <a:pt x="47" y="352"/>
                      <a:pt x="46" y="349"/>
                    </a:cubicBezTo>
                    <a:cubicBezTo>
                      <a:pt x="46" y="346"/>
                      <a:pt x="45" y="343"/>
                      <a:pt x="44" y="340"/>
                    </a:cubicBezTo>
                    <a:cubicBezTo>
                      <a:pt x="48" y="340"/>
                      <a:pt x="52" y="339"/>
                      <a:pt x="55" y="339"/>
                    </a:cubicBezTo>
                    <a:cubicBezTo>
                      <a:pt x="55" y="339"/>
                      <a:pt x="55" y="339"/>
                      <a:pt x="56" y="339"/>
                    </a:cubicBezTo>
                    <a:cubicBezTo>
                      <a:pt x="56" y="339"/>
                      <a:pt x="56" y="339"/>
                      <a:pt x="56" y="339"/>
                    </a:cubicBezTo>
                    <a:cubicBezTo>
                      <a:pt x="56" y="339"/>
                      <a:pt x="56" y="339"/>
                      <a:pt x="56" y="339"/>
                    </a:cubicBezTo>
                    <a:cubicBezTo>
                      <a:pt x="60" y="339"/>
                      <a:pt x="64" y="339"/>
                      <a:pt x="68" y="339"/>
                    </a:cubicBezTo>
                    <a:cubicBezTo>
                      <a:pt x="72" y="339"/>
                      <a:pt x="76" y="338"/>
                      <a:pt x="79" y="338"/>
                    </a:cubicBezTo>
                    <a:cubicBezTo>
                      <a:pt x="83" y="338"/>
                      <a:pt x="87" y="338"/>
                      <a:pt x="91" y="338"/>
                    </a:cubicBezTo>
                    <a:cubicBezTo>
                      <a:pt x="95" y="337"/>
                      <a:pt x="99" y="337"/>
                      <a:pt x="103" y="336"/>
                    </a:cubicBezTo>
                    <a:cubicBezTo>
                      <a:pt x="107" y="336"/>
                      <a:pt x="111" y="335"/>
                      <a:pt x="115" y="335"/>
                    </a:cubicBezTo>
                    <a:cubicBezTo>
                      <a:pt x="119" y="334"/>
                      <a:pt x="122" y="334"/>
                      <a:pt x="126" y="333"/>
                    </a:cubicBezTo>
                    <a:cubicBezTo>
                      <a:pt x="130" y="333"/>
                      <a:pt x="134" y="332"/>
                      <a:pt x="138" y="331"/>
                    </a:cubicBezTo>
                    <a:cubicBezTo>
                      <a:pt x="142" y="331"/>
                      <a:pt x="146" y="331"/>
                      <a:pt x="150" y="330"/>
                    </a:cubicBezTo>
                    <a:cubicBezTo>
                      <a:pt x="154" y="329"/>
                      <a:pt x="157" y="328"/>
                      <a:pt x="161" y="327"/>
                    </a:cubicBezTo>
                    <a:cubicBezTo>
                      <a:pt x="165" y="326"/>
                      <a:pt x="169" y="325"/>
                      <a:pt x="173" y="324"/>
                    </a:cubicBezTo>
                    <a:cubicBezTo>
                      <a:pt x="176" y="323"/>
                      <a:pt x="180" y="323"/>
                      <a:pt x="184" y="322"/>
                    </a:cubicBezTo>
                    <a:cubicBezTo>
                      <a:pt x="180" y="322"/>
                      <a:pt x="176" y="322"/>
                      <a:pt x="172" y="322"/>
                    </a:cubicBezTo>
                    <a:cubicBezTo>
                      <a:pt x="168" y="322"/>
                      <a:pt x="164" y="324"/>
                      <a:pt x="160" y="324"/>
                    </a:cubicBezTo>
                    <a:cubicBezTo>
                      <a:pt x="156" y="324"/>
                      <a:pt x="152" y="324"/>
                      <a:pt x="148" y="324"/>
                    </a:cubicBezTo>
                    <a:cubicBezTo>
                      <a:pt x="143" y="324"/>
                      <a:pt x="139" y="324"/>
                      <a:pt x="135" y="324"/>
                    </a:cubicBezTo>
                    <a:cubicBezTo>
                      <a:pt x="131" y="324"/>
                      <a:pt x="127" y="324"/>
                      <a:pt x="123" y="324"/>
                    </a:cubicBezTo>
                    <a:cubicBezTo>
                      <a:pt x="119" y="324"/>
                      <a:pt x="115" y="324"/>
                      <a:pt x="111" y="324"/>
                    </a:cubicBezTo>
                    <a:cubicBezTo>
                      <a:pt x="110" y="324"/>
                      <a:pt x="109" y="324"/>
                      <a:pt x="108" y="324"/>
                    </a:cubicBezTo>
                    <a:cubicBezTo>
                      <a:pt x="108" y="325"/>
                      <a:pt x="107" y="325"/>
                      <a:pt x="105" y="326"/>
                    </a:cubicBezTo>
                    <a:cubicBezTo>
                      <a:pt x="106" y="325"/>
                      <a:pt x="106" y="325"/>
                      <a:pt x="105" y="324"/>
                    </a:cubicBezTo>
                    <a:cubicBezTo>
                      <a:pt x="103" y="324"/>
                      <a:pt x="101" y="324"/>
                      <a:pt x="99" y="324"/>
                    </a:cubicBezTo>
                    <a:cubicBezTo>
                      <a:pt x="95" y="324"/>
                      <a:pt x="91" y="323"/>
                      <a:pt x="87" y="323"/>
                    </a:cubicBezTo>
                    <a:cubicBezTo>
                      <a:pt x="83" y="323"/>
                      <a:pt x="79" y="323"/>
                      <a:pt x="74" y="323"/>
                    </a:cubicBezTo>
                    <a:cubicBezTo>
                      <a:pt x="70" y="322"/>
                      <a:pt x="66" y="321"/>
                      <a:pt x="62" y="321"/>
                    </a:cubicBezTo>
                    <a:cubicBezTo>
                      <a:pt x="58" y="320"/>
                      <a:pt x="54" y="320"/>
                      <a:pt x="50" y="320"/>
                    </a:cubicBezTo>
                    <a:cubicBezTo>
                      <a:pt x="46" y="319"/>
                      <a:pt x="42" y="319"/>
                      <a:pt x="38" y="318"/>
                    </a:cubicBezTo>
                    <a:cubicBezTo>
                      <a:pt x="37" y="315"/>
                      <a:pt x="36" y="312"/>
                      <a:pt x="35" y="309"/>
                    </a:cubicBezTo>
                    <a:cubicBezTo>
                      <a:pt x="34" y="305"/>
                      <a:pt x="33" y="302"/>
                      <a:pt x="32" y="299"/>
                    </a:cubicBezTo>
                    <a:cubicBezTo>
                      <a:pt x="36" y="299"/>
                      <a:pt x="41" y="299"/>
                      <a:pt x="45" y="299"/>
                    </a:cubicBezTo>
                    <a:cubicBezTo>
                      <a:pt x="49" y="299"/>
                      <a:pt x="53" y="299"/>
                      <a:pt x="57" y="299"/>
                    </a:cubicBezTo>
                    <a:cubicBezTo>
                      <a:pt x="60" y="299"/>
                      <a:pt x="63" y="299"/>
                      <a:pt x="66" y="299"/>
                    </a:cubicBezTo>
                    <a:cubicBezTo>
                      <a:pt x="67" y="298"/>
                      <a:pt x="68" y="298"/>
                      <a:pt x="68" y="298"/>
                    </a:cubicBezTo>
                    <a:cubicBezTo>
                      <a:pt x="69" y="298"/>
                      <a:pt x="69" y="298"/>
                      <a:pt x="69" y="298"/>
                    </a:cubicBezTo>
                    <a:cubicBezTo>
                      <a:pt x="72" y="298"/>
                      <a:pt x="75" y="298"/>
                      <a:pt x="78" y="298"/>
                    </a:cubicBezTo>
                    <a:cubicBezTo>
                      <a:pt x="79" y="297"/>
                      <a:pt x="79" y="297"/>
                      <a:pt x="81" y="297"/>
                    </a:cubicBezTo>
                    <a:cubicBezTo>
                      <a:pt x="81" y="297"/>
                      <a:pt x="81" y="297"/>
                      <a:pt x="81" y="298"/>
                    </a:cubicBezTo>
                    <a:cubicBezTo>
                      <a:pt x="81" y="298"/>
                      <a:pt x="81" y="298"/>
                      <a:pt x="81" y="298"/>
                    </a:cubicBezTo>
                    <a:cubicBezTo>
                      <a:pt x="82" y="297"/>
                      <a:pt x="82" y="297"/>
                      <a:pt x="83" y="297"/>
                    </a:cubicBezTo>
                    <a:cubicBezTo>
                      <a:pt x="83" y="296"/>
                      <a:pt x="83" y="295"/>
                      <a:pt x="84" y="295"/>
                    </a:cubicBezTo>
                    <a:cubicBezTo>
                      <a:pt x="85" y="296"/>
                      <a:pt x="85" y="297"/>
                      <a:pt x="86" y="297"/>
                    </a:cubicBezTo>
                    <a:cubicBezTo>
                      <a:pt x="89" y="297"/>
                      <a:pt x="91" y="296"/>
                      <a:pt x="93" y="296"/>
                    </a:cubicBezTo>
                    <a:cubicBezTo>
                      <a:pt x="97" y="296"/>
                      <a:pt x="101" y="296"/>
                      <a:pt x="105" y="295"/>
                    </a:cubicBezTo>
                    <a:cubicBezTo>
                      <a:pt x="109" y="295"/>
                      <a:pt x="113" y="293"/>
                      <a:pt x="117" y="293"/>
                    </a:cubicBezTo>
                    <a:cubicBezTo>
                      <a:pt x="121" y="292"/>
                      <a:pt x="125" y="292"/>
                      <a:pt x="129" y="291"/>
                    </a:cubicBezTo>
                    <a:cubicBezTo>
                      <a:pt x="133" y="290"/>
                      <a:pt x="137" y="290"/>
                      <a:pt x="142" y="289"/>
                    </a:cubicBezTo>
                    <a:cubicBezTo>
                      <a:pt x="145" y="288"/>
                      <a:pt x="149" y="288"/>
                      <a:pt x="153" y="287"/>
                    </a:cubicBezTo>
                    <a:cubicBezTo>
                      <a:pt x="157" y="286"/>
                      <a:pt x="161" y="284"/>
                      <a:pt x="165" y="284"/>
                    </a:cubicBezTo>
                    <a:cubicBezTo>
                      <a:pt x="169" y="283"/>
                      <a:pt x="173" y="282"/>
                      <a:pt x="177" y="281"/>
                    </a:cubicBezTo>
                    <a:cubicBezTo>
                      <a:pt x="173" y="282"/>
                      <a:pt x="169" y="282"/>
                      <a:pt x="166" y="282"/>
                    </a:cubicBezTo>
                    <a:cubicBezTo>
                      <a:pt x="162" y="282"/>
                      <a:pt x="158" y="282"/>
                      <a:pt x="154" y="282"/>
                    </a:cubicBezTo>
                    <a:cubicBezTo>
                      <a:pt x="150" y="283"/>
                      <a:pt x="146" y="283"/>
                      <a:pt x="142" y="283"/>
                    </a:cubicBezTo>
                    <a:cubicBezTo>
                      <a:pt x="138" y="283"/>
                      <a:pt x="134" y="283"/>
                      <a:pt x="130" y="283"/>
                    </a:cubicBezTo>
                    <a:cubicBezTo>
                      <a:pt x="126" y="283"/>
                      <a:pt x="123" y="284"/>
                      <a:pt x="119" y="284"/>
                    </a:cubicBezTo>
                    <a:cubicBezTo>
                      <a:pt x="115" y="284"/>
                      <a:pt x="111" y="284"/>
                      <a:pt x="107" y="284"/>
                    </a:cubicBezTo>
                    <a:cubicBezTo>
                      <a:pt x="103" y="284"/>
                      <a:pt x="99" y="284"/>
                      <a:pt x="95" y="284"/>
                    </a:cubicBezTo>
                    <a:cubicBezTo>
                      <a:pt x="94" y="284"/>
                      <a:pt x="92" y="284"/>
                      <a:pt x="91" y="283"/>
                    </a:cubicBezTo>
                    <a:cubicBezTo>
                      <a:pt x="90" y="284"/>
                      <a:pt x="89" y="285"/>
                      <a:pt x="88" y="285"/>
                    </a:cubicBezTo>
                    <a:cubicBezTo>
                      <a:pt x="88" y="284"/>
                      <a:pt x="88" y="284"/>
                      <a:pt x="88" y="283"/>
                    </a:cubicBezTo>
                    <a:cubicBezTo>
                      <a:pt x="87" y="283"/>
                      <a:pt x="85" y="283"/>
                      <a:pt x="84" y="283"/>
                    </a:cubicBezTo>
                    <a:cubicBezTo>
                      <a:pt x="80" y="282"/>
                      <a:pt x="76" y="283"/>
                      <a:pt x="72" y="282"/>
                    </a:cubicBezTo>
                    <a:cubicBezTo>
                      <a:pt x="70" y="282"/>
                      <a:pt x="69" y="282"/>
                      <a:pt x="67" y="282"/>
                    </a:cubicBezTo>
                    <a:cubicBezTo>
                      <a:pt x="65" y="285"/>
                      <a:pt x="62" y="283"/>
                      <a:pt x="62" y="281"/>
                    </a:cubicBezTo>
                    <a:cubicBezTo>
                      <a:pt x="61" y="281"/>
                      <a:pt x="61" y="281"/>
                      <a:pt x="60" y="281"/>
                    </a:cubicBezTo>
                    <a:cubicBezTo>
                      <a:pt x="57" y="280"/>
                      <a:pt x="53" y="280"/>
                      <a:pt x="49" y="280"/>
                    </a:cubicBezTo>
                    <a:cubicBezTo>
                      <a:pt x="46" y="280"/>
                      <a:pt x="43" y="279"/>
                      <a:pt x="40" y="279"/>
                    </a:cubicBezTo>
                    <a:cubicBezTo>
                      <a:pt x="40" y="279"/>
                      <a:pt x="40" y="279"/>
                      <a:pt x="40" y="280"/>
                    </a:cubicBezTo>
                    <a:cubicBezTo>
                      <a:pt x="38" y="280"/>
                      <a:pt x="37" y="279"/>
                      <a:pt x="36" y="278"/>
                    </a:cubicBezTo>
                    <a:cubicBezTo>
                      <a:pt x="32" y="278"/>
                      <a:pt x="29" y="278"/>
                      <a:pt x="25" y="277"/>
                    </a:cubicBezTo>
                    <a:cubicBezTo>
                      <a:pt x="25" y="275"/>
                      <a:pt x="24" y="273"/>
                      <a:pt x="24" y="271"/>
                    </a:cubicBezTo>
                    <a:cubicBezTo>
                      <a:pt x="22" y="269"/>
                      <a:pt x="20" y="267"/>
                      <a:pt x="23" y="266"/>
                    </a:cubicBezTo>
                    <a:cubicBezTo>
                      <a:pt x="22" y="264"/>
                      <a:pt x="21" y="261"/>
                      <a:pt x="20" y="258"/>
                    </a:cubicBezTo>
                    <a:cubicBezTo>
                      <a:pt x="24" y="258"/>
                      <a:pt x="28" y="259"/>
                      <a:pt x="32" y="259"/>
                    </a:cubicBezTo>
                    <a:cubicBezTo>
                      <a:pt x="36" y="259"/>
                      <a:pt x="40" y="258"/>
                      <a:pt x="44" y="258"/>
                    </a:cubicBezTo>
                    <a:cubicBezTo>
                      <a:pt x="48" y="258"/>
                      <a:pt x="52" y="258"/>
                      <a:pt x="55" y="258"/>
                    </a:cubicBezTo>
                    <a:cubicBezTo>
                      <a:pt x="59" y="258"/>
                      <a:pt x="63" y="258"/>
                      <a:pt x="67" y="258"/>
                    </a:cubicBezTo>
                    <a:cubicBezTo>
                      <a:pt x="71" y="258"/>
                      <a:pt x="75" y="257"/>
                      <a:pt x="79" y="257"/>
                    </a:cubicBezTo>
                    <a:cubicBezTo>
                      <a:pt x="83" y="257"/>
                      <a:pt x="86" y="256"/>
                      <a:pt x="90" y="256"/>
                    </a:cubicBezTo>
                    <a:cubicBezTo>
                      <a:pt x="91" y="256"/>
                      <a:pt x="91" y="256"/>
                      <a:pt x="92" y="256"/>
                    </a:cubicBezTo>
                    <a:cubicBezTo>
                      <a:pt x="91" y="255"/>
                      <a:pt x="90" y="255"/>
                      <a:pt x="90" y="255"/>
                    </a:cubicBezTo>
                    <a:cubicBezTo>
                      <a:pt x="90" y="253"/>
                      <a:pt x="92" y="253"/>
                      <a:pt x="95" y="253"/>
                    </a:cubicBezTo>
                    <a:cubicBezTo>
                      <a:pt x="94" y="253"/>
                      <a:pt x="95" y="253"/>
                      <a:pt x="95" y="254"/>
                    </a:cubicBezTo>
                    <a:cubicBezTo>
                      <a:pt x="94" y="255"/>
                      <a:pt x="93" y="254"/>
                      <a:pt x="92" y="256"/>
                    </a:cubicBezTo>
                    <a:cubicBezTo>
                      <a:pt x="95" y="255"/>
                      <a:pt x="99" y="255"/>
                      <a:pt x="102" y="254"/>
                    </a:cubicBezTo>
                    <a:cubicBezTo>
                      <a:pt x="106" y="254"/>
                      <a:pt x="109" y="253"/>
                      <a:pt x="113" y="252"/>
                    </a:cubicBezTo>
                    <a:cubicBezTo>
                      <a:pt x="116" y="252"/>
                      <a:pt x="120" y="251"/>
                      <a:pt x="123" y="250"/>
                    </a:cubicBezTo>
                    <a:cubicBezTo>
                      <a:pt x="123" y="250"/>
                      <a:pt x="123" y="249"/>
                      <a:pt x="123" y="249"/>
                    </a:cubicBezTo>
                    <a:cubicBezTo>
                      <a:pt x="126" y="249"/>
                      <a:pt x="127" y="247"/>
                      <a:pt x="130" y="247"/>
                    </a:cubicBezTo>
                    <a:cubicBezTo>
                      <a:pt x="133" y="247"/>
                      <a:pt x="134" y="247"/>
                      <a:pt x="135" y="248"/>
                    </a:cubicBezTo>
                    <a:cubicBezTo>
                      <a:pt x="136" y="248"/>
                      <a:pt x="136" y="248"/>
                      <a:pt x="136" y="248"/>
                    </a:cubicBezTo>
                    <a:cubicBezTo>
                      <a:pt x="137" y="248"/>
                      <a:pt x="139" y="247"/>
                      <a:pt x="140" y="247"/>
                    </a:cubicBezTo>
                    <a:cubicBezTo>
                      <a:pt x="141" y="247"/>
                      <a:pt x="141" y="247"/>
                      <a:pt x="142" y="247"/>
                    </a:cubicBezTo>
                    <a:cubicBezTo>
                      <a:pt x="142" y="247"/>
                      <a:pt x="142" y="247"/>
                      <a:pt x="142" y="247"/>
                    </a:cubicBezTo>
                    <a:cubicBezTo>
                      <a:pt x="143" y="247"/>
                      <a:pt x="145" y="246"/>
                      <a:pt x="146" y="246"/>
                    </a:cubicBezTo>
                    <a:cubicBezTo>
                      <a:pt x="146" y="245"/>
                      <a:pt x="146" y="244"/>
                      <a:pt x="146" y="243"/>
                    </a:cubicBezTo>
                    <a:cubicBezTo>
                      <a:pt x="148" y="243"/>
                      <a:pt x="152" y="243"/>
                      <a:pt x="153" y="245"/>
                    </a:cubicBezTo>
                    <a:cubicBezTo>
                      <a:pt x="155" y="244"/>
                      <a:pt x="157" y="244"/>
                      <a:pt x="159" y="243"/>
                    </a:cubicBezTo>
                    <a:cubicBezTo>
                      <a:pt x="162" y="242"/>
                      <a:pt x="166" y="242"/>
                      <a:pt x="170" y="241"/>
                    </a:cubicBezTo>
                    <a:cubicBezTo>
                      <a:pt x="166" y="241"/>
                      <a:pt x="162" y="242"/>
                      <a:pt x="158" y="242"/>
                    </a:cubicBezTo>
                    <a:cubicBezTo>
                      <a:pt x="154" y="242"/>
                      <a:pt x="150" y="242"/>
                      <a:pt x="146" y="242"/>
                    </a:cubicBezTo>
                    <a:cubicBezTo>
                      <a:pt x="142" y="243"/>
                      <a:pt x="138" y="243"/>
                      <a:pt x="134" y="243"/>
                    </a:cubicBezTo>
                    <a:cubicBezTo>
                      <a:pt x="130" y="244"/>
                      <a:pt x="126" y="243"/>
                      <a:pt x="122" y="243"/>
                    </a:cubicBezTo>
                    <a:cubicBezTo>
                      <a:pt x="119" y="244"/>
                      <a:pt x="116" y="243"/>
                      <a:pt x="113" y="243"/>
                    </a:cubicBezTo>
                    <a:cubicBezTo>
                      <a:pt x="112" y="245"/>
                      <a:pt x="110" y="246"/>
                      <a:pt x="107" y="243"/>
                    </a:cubicBezTo>
                    <a:cubicBezTo>
                      <a:pt x="107" y="243"/>
                      <a:pt x="107" y="243"/>
                      <a:pt x="108" y="243"/>
                    </a:cubicBezTo>
                    <a:cubicBezTo>
                      <a:pt x="105" y="243"/>
                      <a:pt x="102" y="243"/>
                      <a:pt x="99" y="243"/>
                    </a:cubicBezTo>
                    <a:cubicBezTo>
                      <a:pt x="95" y="243"/>
                      <a:pt x="91" y="243"/>
                      <a:pt x="87" y="243"/>
                    </a:cubicBezTo>
                    <a:cubicBezTo>
                      <a:pt x="85" y="243"/>
                      <a:pt x="84" y="243"/>
                      <a:pt x="82" y="243"/>
                    </a:cubicBezTo>
                    <a:cubicBezTo>
                      <a:pt x="82" y="243"/>
                      <a:pt x="82" y="243"/>
                      <a:pt x="82" y="243"/>
                    </a:cubicBezTo>
                    <a:cubicBezTo>
                      <a:pt x="80" y="244"/>
                      <a:pt x="77" y="243"/>
                      <a:pt x="76" y="242"/>
                    </a:cubicBezTo>
                    <a:cubicBezTo>
                      <a:pt x="75" y="242"/>
                      <a:pt x="75" y="242"/>
                      <a:pt x="75" y="242"/>
                    </a:cubicBezTo>
                    <a:cubicBezTo>
                      <a:pt x="72" y="242"/>
                      <a:pt x="69" y="242"/>
                      <a:pt x="65" y="242"/>
                    </a:cubicBezTo>
                    <a:cubicBezTo>
                      <a:pt x="64" y="242"/>
                      <a:pt x="63" y="243"/>
                      <a:pt x="62" y="242"/>
                    </a:cubicBezTo>
                    <a:cubicBezTo>
                      <a:pt x="59" y="241"/>
                      <a:pt x="55" y="241"/>
                      <a:pt x="51" y="241"/>
                    </a:cubicBezTo>
                    <a:cubicBezTo>
                      <a:pt x="47" y="240"/>
                      <a:pt x="43" y="239"/>
                      <a:pt x="39" y="239"/>
                    </a:cubicBezTo>
                    <a:cubicBezTo>
                      <a:pt x="36" y="238"/>
                      <a:pt x="32" y="238"/>
                      <a:pt x="28" y="237"/>
                    </a:cubicBezTo>
                    <a:cubicBezTo>
                      <a:pt x="24" y="237"/>
                      <a:pt x="20" y="236"/>
                      <a:pt x="16" y="235"/>
                    </a:cubicBezTo>
                    <a:cubicBezTo>
                      <a:pt x="15" y="232"/>
                      <a:pt x="15" y="228"/>
                      <a:pt x="14" y="225"/>
                    </a:cubicBezTo>
                    <a:cubicBezTo>
                      <a:pt x="14" y="221"/>
                      <a:pt x="13" y="217"/>
                      <a:pt x="13" y="214"/>
                    </a:cubicBezTo>
                    <a:cubicBezTo>
                      <a:pt x="13" y="210"/>
                      <a:pt x="12" y="206"/>
                      <a:pt x="12" y="202"/>
                    </a:cubicBezTo>
                    <a:cubicBezTo>
                      <a:pt x="12" y="201"/>
                      <a:pt x="12" y="199"/>
                      <a:pt x="12" y="198"/>
                    </a:cubicBezTo>
                    <a:cubicBezTo>
                      <a:pt x="11" y="198"/>
                      <a:pt x="10" y="198"/>
                      <a:pt x="10" y="199"/>
                    </a:cubicBezTo>
                    <a:cubicBezTo>
                      <a:pt x="9" y="194"/>
                      <a:pt x="4" y="195"/>
                      <a:pt x="2" y="191"/>
                    </a:cubicBezTo>
                    <a:cubicBezTo>
                      <a:pt x="4" y="189"/>
                      <a:pt x="8" y="191"/>
                      <a:pt x="11" y="193"/>
                    </a:cubicBezTo>
                    <a:cubicBezTo>
                      <a:pt x="11" y="192"/>
                      <a:pt x="11" y="192"/>
                      <a:pt x="11" y="191"/>
                    </a:cubicBezTo>
                    <a:cubicBezTo>
                      <a:pt x="11" y="187"/>
                      <a:pt x="11" y="184"/>
                      <a:pt x="11" y="181"/>
                    </a:cubicBezTo>
                    <a:cubicBezTo>
                      <a:pt x="12" y="183"/>
                      <a:pt x="13" y="185"/>
                      <a:pt x="15" y="187"/>
                    </a:cubicBezTo>
                    <a:cubicBezTo>
                      <a:pt x="16" y="186"/>
                      <a:pt x="17" y="187"/>
                      <a:pt x="18" y="188"/>
                    </a:cubicBezTo>
                    <a:cubicBezTo>
                      <a:pt x="18" y="188"/>
                      <a:pt x="17" y="189"/>
                      <a:pt x="17" y="189"/>
                    </a:cubicBezTo>
                    <a:cubicBezTo>
                      <a:pt x="17" y="189"/>
                      <a:pt x="18" y="190"/>
                      <a:pt x="18" y="190"/>
                    </a:cubicBezTo>
                    <a:cubicBezTo>
                      <a:pt x="21" y="194"/>
                      <a:pt x="24" y="197"/>
                      <a:pt x="28" y="199"/>
                    </a:cubicBezTo>
                    <a:cubicBezTo>
                      <a:pt x="31" y="202"/>
                      <a:pt x="35" y="204"/>
                      <a:pt x="38" y="206"/>
                    </a:cubicBezTo>
                    <a:cubicBezTo>
                      <a:pt x="42" y="208"/>
                      <a:pt x="46" y="209"/>
                      <a:pt x="50" y="210"/>
                    </a:cubicBezTo>
                    <a:cubicBezTo>
                      <a:pt x="54" y="212"/>
                      <a:pt x="58" y="214"/>
                      <a:pt x="62" y="215"/>
                    </a:cubicBezTo>
                    <a:cubicBezTo>
                      <a:pt x="67" y="216"/>
                      <a:pt x="71" y="217"/>
                      <a:pt x="75" y="218"/>
                    </a:cubicBezTo>
                    <a:cubicBezTo>
                      <a:pt x="80" y="219"/>
                      <a:pt x="84" y="219"/>
                      <a:pt x="87" y="219"/>
                    </a:cubicBezTo>
                    <a:cubicBezTo>
                      <a:pt x="91" y="219"/>
                      <a:pt x="94" y="219"/>
                      <a:pt x="98" y="219"/>
                    </a:cubicBezTo>
                    <a:cubicBezTo>
                      <a:pt x="101" y="220"/>
                      <a:pt x="104" y="220"/>
                      <a:pt x="108" y="220"/>
                    </a:cubicBezTo>
                    <a:cubicBezTo>
                      <a:pt x="112" y="220"/>
                      <a:pt x="116" y="220"/>
                      <a:pt x="120" y="220"/>
                    </a:cubicBezTo>
                    <a:cubicBezTo>
                      <a:pt x="120" y="220"/>
                      <a:pt x="121" y="220"/>
                      <a:pt x="121" y="220"/>
                    </a:cubicBezTo>
                    <a:cubicBezTo>
                      <a:pt x="121" y="220"/>
                      <a:pt x="121" y="219"/>
                      <a:pt x="121" y="218"/>
                    </a:cubicBezTo>
                    <a:cubicBezTo>
                      <a:pt x="123" y="218"/>
                      <a:pt x="125" y="218"/>
                      <a:pt x="126" y="220"/>
                    </a:cubicBezTo>
                    <a:cubicBezTo>
                      <a:pt x="127" y="220"/>
                      <a:pt x="129" y="219"/>
                      <a:pt x="130" y="219"/>
                    </a:cubicBezTo>
                    <a:cubicBezTo>
                      <a:pt x="131" y="218"/>
                      <a:pt x="133" y="218"/>
                      <a:pt x="136" y="218"/>
                    </a:cubicBezTo>
                    <a:cubicBezTo>
                      <a:pt x="136" y="218"/>
                      <a:pt x="136" y="218"/>
                      <a:pt x="136" y="219"/>
                    </a:cubicBezTo>
                    <a:cubicBezTo>
                      <a:pt x="138" y="218"/>
                      <a:pt x="141" y="218"/>
                      <a:pt x="143" y="218"/>
                    </a:cubicBezTo>
                    <a:cubicBezTo>
                      <a:pt x="147" y="217"/>
                      <a:pt x="151" y="218"/>
                      <a:pt x="155" y="217"/>
                    </a:cubicBezTo>
                    <a:cubicBezTo>
                      <a:pt x="159" y="217"/>
                      <a:pt x="163" y="216"/>
                      <a:pt x="167" y="215"/>
                    </a:cubicBezTo>
                    <a:cubicBezTo>
                      <a:pt x="170" y="215"/>
                      <a:pt x="174" y="215"/>
                      <a:pt x="178" y="214"/>
                    </a:cubicBezTo>
                    <a:cubicBezTo>
                      <a:pt x="182" y="213"/>
                      <a:pt x="186" y="213"/>
                      <a:pt x="190" y="212"/>
                    </a:cubicBezTo>
                    <a:cubicBezTo>
                      <a:pt x="194" y="212"/>
                      <a:pt x="198" y="211"/>
                      <a:pt x="202" y="210"/>
                    </a:cubicBezTo>
                    <a:cubicBezTo>
                      <a:pt x="207" y="210"/>
                      <a:pt x="211" y="209"/>
                      <a:pt x="215" y="208"/>
                    </a:cubicBezTo>
                    <a:cubicBezTo>
                      <a:pt x="219" y="208"/>
                      <a:pt x="223" y="208"/>
                      <a:pt x="227" y="207"/>
                    </a:cubicBezTo>
                    <a:cubicBezTo>
                      <a:pt x="232" y="206"/>
                      <a:pt x="236" y="204"/>
                      <a:pt x="240" y="203"/>
                    </a:cubicBezTo>
                    <a:cubicBezTo>
                      <a:pt x="244" y="203"/>
                      <a:pt x="248" y="203"/>
                      <a:pt x="252" y="202"/>
                    </a:cubicBezTo>
                    <a:cubicBezTo>
                      <a:pt x="256" y="201"/>
                      <a:pt x="260" y="200"/>
                      <a:pt x="265" y="199"/>
                    </a:cubicBezTo>
                    <a:cubicBezTo>
                      <a:pt x="269" y="198"/>
                      <a:pt x="273" y="198"/>
                      <a:pt x="277" y="197"/>
                    </a:cubicBezTo>
                    <a:cubicBezTo>
                      <a:pt x="281" y="196"/>
                      <a:pt x="285" y="195"/>
                      <a:pt x="290" y="194"/>
                    </a:cubicBezTo>
                    <a:cubicBezTo>
                      <a:pt x="293" y="193"/>
                      <a:pt x="297" y="193"/>
                      <a:pt x="301" y="192"/>
                    </a:cubicBezTo>
                    <a:cubicBezTo>
                      <a:pt x="304" y="192"/>
                      <a:pt x="308" y="190"/>
                      <a:pt x="312" y="189"/>
                    </a:cubicBezTo>
                    <a:cubicBezTo>
                      <a:pt x="315" y="188"/>
                      <a:pt x="319" y="188"/>
                      <a:pt x="323" y="188"/>
                    </a:cubicBezTo>
                    <a:cubicBezTo>
                      <a:pt x="327" y="187"/>
                      <a:pt x="330" y="186"/>
                      <a:pt x="334" y="185"/>
                    </a:cubicBezTo>
                    <a:cubicBezTo>
                      <a:pt x="339" y="185"/>
                      <a:pt x="343" y="183"/>
                      <a:pt x="347" y="182"/>
                    </a:cubicBezTo>
                    <a:cubicBezTo>
                      <a:pt x="352" y="181"/>
                      <a:pt x="356" y="181"/>
                      <a:pt x="361" y="180"/>
                    </a:cubicBezTo>
                    <a:cubicBezTo>
                      <a:pt x="365" y="180"/>
                      <a:pt x="370" y="178"/>
                      <a:pt x="374" y="178"/>
                    </a:cubicBezTo>
                    <a:cubicBezTo>
                      <a:pt x="380" y="176"/>
                      <a:pt x="385" y="174"/>
                      <a:pt x="386" y="173"/>
                    </a:cubicBezTo>
                    <a:cubicBezTo>
                      <a:pt x="391" y="173"/>
                      <a:pt x="395" y="172"/>
                      <a:pt x="398" y="172"/>
                    </a:cubicBezTo>
                    <a:cubicBezTo>
                      <a:pt x="402" y="171"/>
                      <a:pt x="407" y="170"/>
                      <a:pt x="410" y="170"/>
                    </a:cubicBezTo>
                    <a:cubicBezTo>
                      <a:pt x="414" y="169"/>
                      <a:pt x="418" y="168"/>
                      <a:pt x="422" y="168"/>
                    </a:cubicBezTo>
                    <a:cubicBezTo>
                      <a:pt x="426" y="167"/>
                      <a:pt x="430" y="166"/>
                      <a:pt x="434" y="165"/>
                    </a:cubicBezTo>
                    <a:cubicBezTo>
                      <a:pt x="439" y="165"/>
                      <a:pt x="442" y="164"/>
                      <a:pt x="446" y="163"/>
                    </a:cubicBezTo>
                    <a:cubicBezTo>
                      <a:pt x="452" y="163"/>
                      <a:pt x="456" y="162"/>
                      <a:pt x="458" y="162"/>
                    </a:cubicBezTo>
                    <a:cubicBezTo>
                      <a:pt x="461" y="162"/>
                      <a:pt x="465" y="162"/>
                      <a:pt x="470" y="161"/>
                    </a:cubicBezTo>
                    <a:cubicBezTo>
                      <a:pt x="473" y="160"/>
                      <a:pt x="477" y="159"/>
                      <a:pt x="481" y="159"/>
                    </a:cubicBezTo>
                    <a:cubicBezTo>
                      <a:pt x="485" y="158"/>
                      <a:pt x="489" y="158"/>
                      <a:pt x="493" y="157"/>
                    </a:cubicBezTo>
                    <a:cubicBezTo>
                      <a:pt x="497" y="156"/>
                      <a:pt x="500" y="156"/>
                      <a:pt x="504" y="155"/>
                    </a:cubicBezTo>
                    <a:cubicBezTo>
                      <a:pt x="508" y="155"/>
                      <a:pt x="512" y="155"/>
                      <a:pt x="516" y="154"/>
                    </a:cubicBezTo>
                    <a:cubicBezTo>
                      <a:pt x="520" y="154"/>
                      <a:pt x="524" y="152"/>
                      <a:pt x="528" y="152"/>
                    </a:cubicBezTo>
                    <a:cubicBezTo>
                      <a:pt x="532" y="151"/>
                      <a:pt x="535" y="151"/>
                      <a:pt x="539" y="151"/>
                    </a:cubicBezTo>
                    <a:cubicBezTo>
                      <a:pt x="543" y="150"/>
                      <a:pt x="547" y="149"/>
                      <a:pt x="551" y="149"/>
                    </a:cubicBezTo>
                    <a:cubicBezTo>
                      <a:pt x="555" y="148"/>
                      <a:pt x="559" y="149"/>
                      <a:pt x="563" y="148"/>
                    </a:cubicBezTo>
                    <a:cubicBezTo>
                      <a:pt x="567" y="148"/>
                      <a:pt x="571" y="147"/>
                      <a:pt x="574" y="146"/>
                    </a:cubicBezTo>
                    <a:cubicBezTo>
                      <a:pt x="579" y="146"/>
                      <a:pt x="583" y="146"/>
                      <a:pt x="586" y="146"/>
                    </a:cubicBezTo>
                    <a:cubicBezTo>
                      <a:pt x="590" y="145"/>
                      <a:pt x="594" y="145"/>
                      <a:pt x="598" y="144"/>
                    </a:cubicBezTo>
                    <a:cubicBezTo>
                      <a:pt x="602" y="144"/>
                      <a:pt x="605" y="144"/>
                      <a:pt x="609" y="144"/>
                    </a:cubicBezTo>
                    <a:cubicBezTo>
                      <a:pt x="613" y="143"/>
                      <a:pt x="617" y="142"/>
                      <a:pt x="621" y="142"/>
                    </a:cubicBezTo>
                    <a:cubicBezTo>
                      <a:pt x="625" y="142"/>
                      <a:pt x="629" y="142"/>
                      <a:pt x="632" y="142"/>
                    </a:cubicBezTo>
                    <a:cubicBezTo>
                      <a:pt x="636" y="142"/>
                      <a:pt x="640" y="140"/>
                      <a:pt x="644" y="140"/>
                    </a:cubicBezTo>
                    <a:cubicBezTo>
                      <a:pt x="648" y="140"/>
                      <a:pt x="652" y="140"/>
                      <a:pt x="656" y="140"/>
                    </a:cubicBezTo>
                    <a:cubicBezTo>
                      <a:pt x="660" y="140"/>
                      <a:pt x="663" y="139"/>
                      <a:pt x="667" y="139"/>
                    </a:cubicBezTo>
                    <a:cubicBezTo>
                      <a:pt x="671" y="138"/>
                      <a:pt x="675" y="139"/>
                      <a:pt x="679" y="139"/>
                    </a:cubicBezTo>
                    <a:cubicBezTo>
                      <a:pt x="683" y="139"/>
                      <a:pt x="687" y="137"/>
                      <a:pt x="691" y="137"/>
                    </a:cubicBezTo>
                    <a:cubicBezTo>
                      <a:pt x="695" y="137"/>
                      <a:pt x="699" y="137"/>
                      <a:pt x="703" y="136"/>
                    </a:cubicBezTo>
                    <a:cubicBezTo>
                      <a:pt x="707" y="136"/>
                      <a:pt x="711" y="136"/>
                      <a:pt x="715" y="136"/>
                    </a:cubicBezTo>
                    <a:cubicBezTo>
                      <a:pt x="719" y="136"/>
                      <a:pt x="723" y="136"/>
                      <a:pt x="728" y="136"/>
                    </a:cubicBezTo>
                    <a:cubicBezTo>
                      <a:pt x="732" y="135"/>
                      <a:pt x="736" y="135"/>
                      <a:pt x="740" y="135"/>
                    </a:cubicBezTo>
                    <a:cubicBezTo>
                      <a:pt x="744" y="135"/>
                      <a:pt x="748" y="135"/>
                      <a:pt x="752" y="135"/>
                    </a:cubicBezTo>
                    <a:cubicBezTo>
                      <a:pt x="752" y="135"/>
                      <a:pt x="753" y="135"/>
                      <a:pt x="753" y="135"/>
                    </a:cubicBezTo>
                    <a:cubicBezTo>
                      <a:pt x="753" y="131"/>
                      <a:pt x="757" y="131"/>
                      <a:pt x="760" y="133"/>
                    </a:cubicBezTo>
                    <a:cubicBezTo>
                      <a:pt x="760" y="134"/>
                      <a:pt x="760" y="134"/>
                      <a:pt x="760" y="135"/>
                    </a:cubicBezTo>
                    <a:cubicBezTo>
                      <a:pt x="762" y="135"/>
                      <a:pt x="763" y="135"/>
                      <a:pt x="764" y="135"/>
                    </a:cubicBezTo>
                    <a:cubicBezTo>
                      <a:pt x="768" y="135"/>
                      <a:pt x="772" y="135"/>
                      <a:pt x="776" y="135"/>
                    </a:cubicBezTo>
                    <a:cubicBezTo>
                      <a:pt x="780" y="134"/>
                      <a:pt x="783" y="134"/>
                      <a:pt x="787" y="134"/>
                    </a:cubicBezTo>
                    <a:cubicBezTo>
                      <a:pt x="791" y="134"/>
                      <a:pt x="795" y="133"/>
                      <a:pt x="799" y="133"/>
                    </a:cubicBezTo>
                    <a:cubicBezTo>
                      <a:pt x="802" y="133"/>
                      <a:pt x="806" y="134"/>
                      <a:pt x="809" y="134"/>
                    </a:cubicBezTo>
                    <a:cubicBezTo>
                      <a:pt x="809" y="133"/>
                      <a:pt x="810" y="133"/>
                      <a:pt x="811" y="133"/>
                    </a:cubicBezTo>
                    <a:cubicBezTo>
                      <a:pt x="811" y="134"/>
                      <a:pt x="811" y="134"/>
                      <a:pt x="811" y="134"/>
                    </a:cubicBezTo>
                    <a:cubicBezTo>
                      <a:pt x="814" y="134"/>
                      <a:pt x="818" y="134"/>
                      <a:pt x="821" y="134"/>
                    </a:cubicBezTo>
                    <a:cubicBezTo>
                      <a:pt x="825" y="134"/>
                      <a:pt x="829" y="133"/>
                      <a:pt x="833" y="133"/>
                    </a:cubicBezTo>
                    <a:cubicBezTo>
                      <a:pt x="837" y="133"/>
                      <a:pt x="841" y="133"/>
                      <a:pt x="845" y="133"/>
                    </a:cubicBezTo>
                    <a:cubicBezTo>
                      <a:pt x="849" y="133"/>
                      <a:pt x="853" y="134"/>
                      <a:pt x="857" y="134"/>
                    </a:cubicBezTo>
                    <a:cubicBezTo>
                      <a:pt x="859" y="134"/>
                      <a:pt x="860" y="134"/>
                      <a:pt x="861" y="134"/>
                    </a:cubicBezTo>
                    <a:cubicBezTo>
                      <a:pt x="862" y="130"/>
                      <a:pt x="867" y="130"/>
                      <a:pt x="868" y="134"/>
                    </a:cubicBezTo>
                    <a:cubicBezTo>
                      <a:pt x="868" y="134"/>
                      <a:pt x="868" y="134"/>
                      <a:pt x="868" y="134"/>
                    </a:cubicBezTo>
                    <a:cubicBezTo>
                      <a:pt x="869" y="134"/>
                      <a:pt x="869" y="134"/>
                      <a:pt x="869" y="134"/>
                    </a:cubicBezTo>
                    <a:cubicBezTo>
                      <a:pt x="873" y="134"/>
                      <a:pt x="877" y="134"/>
                      <a:pt x="881" y="135"/>
                    </a:cubicBezTo>
                    <a:cubicBezTo>
                      <a:pt x="885" y="135"/>
                      <a:pt x="889" y="135"/>
                      <a:pt x="893" y="135"/>
                    </a:cubicBezTo>
                    <a:cubicBezTo>
                      <a:pt x="897" y="135"/>
                      <a:pt x="901" y="135"/>
                      <a:pt x="905" y="135"/>
                    </a:cubicBezTo>
                    <a:cubicBezTo>
                      <a:pt x="909" y="135"/>
                      <a:pt x="913" y="136"/>
                      <a:pt x="917" y="136"/>
                    </a:cubicBezTo>
                    <a:cubicBezTo>
                      <a:pt x="921" y="136"/>
                      <a:pt x="925" y="135"/>
                      <a:pt x="929" y="136"/>
                    </a:cubicBezTo>
                    <a:cubicBezTo>
                      <a:pt x="933" y="136"/>
                      <a:pt x="937" y="136"/>
                      <a:pt x="941" y="137"/>
                    </a:cubicBezTo>
                    <a:cubicBezTo>
                      <a:pt x="945" y="137"/>
                      <a:pt x="949" y="137"/>
                      <a:pt x="953" y="137"/>
                    </a:cubicBezTo>
                    <a:cubicBezTo>
                      <a:pt x="957" y="138"/>
                      <a:pt x="961" y="138"/>
                      <a:pt x="965" y="138"/>
                    </a:cubicBezTo>
                    <a:cubicBezTo>
                      <a:pt x="964" y="137"/>
                      <a:pt x="965" y="136"/>
                      <a:pt x="967" y="136"/>
                    </a:cubicBezTo>
                    <a:cubicBezTo>
                      <a:pt x="968" y="136"/>
                      <a:pt x="969" y="137"/>
                      <a:pt x="969" y="138"/>
                    </a:cubicBezTo>
                    <a:cubicBezTo>
                      <a:pt x="972" y="138"/>
                      <a:pt x="975" y="138"/>
                      <a:pt x="977" y="138"/>
                    </a:cubicBezTo>
                    <a:cubicBezTo>
                      <a:pt x="981" y="139"/>
                      <a:pt x="985" y="139"/>
                      <a:pt x="989" y="140"/>
                    </a:cubicBezTo>
                    <a:cubicBezTo>
                      <a:pt x="993" y="140"/>
                      <a:pt x="997" y="140"/>
                      <a:pt x="1001" y="141"/>
                    </a:cubicBezTo>
                    <a:cubicBezTo>
                      <a:pt x="1005" y="141"/>
                      <a:pt x="1009" y="141"/>
                      <a:pt x="1013" y="141"/>
                    </a:cubicBezTo>
                    <a:cubicBezTo>
                      <a:pt x="1017" y="141"/>
                      <a:pt x="1021" y="142"/>
                      <a:pt x="1025" y="142"/>
                    </a:cubicBezTo>
                    <a:cubicBezTo>
                      <a:pt x="1028" y="143"/>
                      <a:pt x="1032" y="143"/>
                      <a:pt x="1035" y="143"/>
                    </a:cubicBezTo>
                    <a:cubicBezTo>
                      <a:pt x="1035" y="142"/>
                      <a:pt x="1035" y="142"/>
                      <a:pt x="1035" y="141"/>
                    </a:cubicBezTo>
                    <a:cubicBezTo>
                      <a:pt x="1036" y="141"/>
                      <a:pt x="1037" y="142"/>
                      <a:pt x="1036" y="143"/>
                    </a:cubicBezTo>
                    <a:cubicBezTo>
                      <a:pt x="1037" y="143"/>
                      <a:pt x="1037" y="143"/>
                      <a:pt x="1037" y="143"/>
                    </a:cubicBezTo>
                    <a:cubicBezTo>
                      <a:pt x="1038" y="143"/>
                      <a:pt x="1039" y="143"/>
                      <a:pt x="1040" y="143"/>
                    </a:cubicBezTo>
                    <a:cubicBezTo>
                      <a:pt x="1040" y="143"/>
                      <a:pt x="1040" y="143"/>
                      <a:pt x="1040" y="143"/>
                    </a:cubicBezTo>
                    <a:cubicBezTo>
                      <a:pt x="1040" y="142"/>
                      <a:pt x="1040" y="141"/>
                      <a:pt x="1040" y="140"/>
                    </a:cubicBezTo>
                    <a:cubicBezTo>
                      <a:pt x="1040" y="140"/>
                      <a:pt x="1041" y="140"/>
                      <a:pt x="1041" y="139"/>
                    </a:cubicBezTo>
                    <a:cubicBezTo>
                      <a:pt x="1042" y="139"/>
                      <a:pt x="1043" y="139"/>
                      <a:pt x="1043" y="140"/>
                    </a:cubicBezTo>
                    <a:cubicBezTo>
                      <a:pt x="1044" y="140"/>
                      <a:pt x="1043" y="138"/>
                      <a:pt x="1045" y="138"/>
                    </a:cubicBezTo>
                    <a:cubicBezTo>
                      <a:pt x="1045" y="137"/>
                      <a:pt x="1045" y="136"/>
                      <a:pt x="1046" y="134"/>
                    </a:cubicBezTo>
                    <a:cubicBezTo>
                      <a:pt x="1052" y="132"/>
                      <a:pt x="1049" y="140"/>
                      <a:pt x="1050" y="142"/>
                    </a:cubicBezTo>
                    <a:cubicBezTo>
                      <a:pt x="1047" y="146"/>
                      <a:pt x="1044" y="142"/>
                      <a:pt x="1041" y="143"/>
                    </a:cubicBezTo>
                    <a:cubicBezTo>
                      <a:pt x="1041" y="143"/>
                      <a:pt x="1042" y="143"/>
                      <a:pt x="1042" y="143"/>
                    </a:cubicBezTo>
                    <a:cubicBezTo>
                      <a:pt x="1044" y="144"/>
                      <a:pt x="1047" y="144"/>
                      <a:pt x="1049" y="144"/>
                    </a:cubicBezTo>
                    <a:cubicBezTo>
                      <a:pt x="1053" y="145"/>
                      <a:pt x="1057" y="145"/>
                      <a:pt x="1061" y="146"/>
                    </a:cubicBezTo>
                    <a:cubicBezTo>
                      <a:pt x="1065" y="146"/>
                      <a:pt x="1069" y="146"/>
                      <a:pt x="1073" y="146"/>
                    </a:cubicBezTo>
                    <a:cubicBezTo>
                      <a:pt x="1077" y="147"/>
                      <a:pt x="1081" y="147"/>
                      <a:pt x="1085" y="148"/>
                    </a:cubicBezTo>
                    <a:cubicBezTo>
                      <a:pt x="1089" y="148"/>
                      <a:pt x="1093" y="149"/>
                      <a:pt x="1097" y="149"/>
                    </a:cubicBezTo>
                    <a:cubicBezTo>
                      <a:pt x="1101" y="150"/>
                      <a:pt x="1105" y="150"/>
                      <a:pt x="1109" y="151"/>
                    </a:cubicBezTo>
                    <a:cubicBezTo>
                      <a:pt x="1113" y="151"/>
                      <a:pt x="1117" y="152"/>
                      <a:pt x="1121" y="152"/>
                    </a:cubicBezTo>
                    <a:cubicBezTo>
                      <a:pt x="1125" y="153"/>
                      <a:pt x="1129" y="153"/>
                      <a:pt x="1133" y="153"/>
                    </a:cubicBezTo>
                    <a:cubicBezTo>
                      <a:pt x="1137" y="154"/>
                      <a:pt x="1141" y="155"/>
                      <a:pt x="1145" y="155"/>
                    </a:cubicBezTo>
                    <a:cubicBezTo>
                      <a:pt x="1149" y="156"/>
                      <a:pt x="1153" y="157"/>
                      <a:pt x="1157" y="157"/>
                    </a:cubicBezTo>
                    <a:cubicBezTo>
                      <a:pt x="1161" y="158"/>
                      <a:pt x="1165" y="158"/>
                      <a:pt x="1169" y="159"/>
                    </a:cubicBezTo>
                    <a:cubicBezTo>
                      <a:pt x="1173" y="160"/>
                      <a:pt x="1177" y="160"/>
                      <a:pt x="1181" y="160"/>
                    </a:cubicBezTo>
                    <a:cubicBezTo>
                      <a:pt x="1185" y="161"/>
                      <a:pt x="1189" y="161"/>
                      <a:pt x="1193" y="162"/>
                    </a:cubicBezTo>
                    <a:cubicBezTo>
                      <a:pt x="1197" y="163"/>
                      <a:pt x="1201" y="164"/>
                      <a:pt x="1205" y="165"/>
                    </a:cubicBezTo>
                    <a:cubicBezTo>
                      <a:pt x="1209" y="165"/>
                      <a:pt x="1213" y="166"/>
                      <a:pt x="1217" y="166"/>
                    </a:cubicBezTo>
                    <a:cubicBezTo>
                      <a:pt x="1220" y="167"/>
                      <a:pt x="1225" y="168"/>
                      <a:pt x="1228" y="168"/>
                    </a:cubicBezTo>
                    <a:cubicBezTo>
                      <a:pt x="1232" y="169"/>
                      <a:pt x="1236" y="170"/>
                      <a:pt x="1240" y="171"/>
                    </a:cubicBezTo>
                    <a:cubicBezTo>
                      <a:pt x="1244" y="172"/>
                      <a:pt x="1248" y="171"/>
                      <a:pt x="1252" y="172"/>
                    </a:cubicBezTo>
                    <a:cubicBezTo>
                      <a:pt x="1256" y="173"/>
                      <a:pt x="1260" y="174"/>
                      <a:pt x="1264" y="174"/>
                    </a:cubicBezTo>
                    <a:cubicBezTo>
                      <a:pt x="1268" y="175"/>
                      <a:pt x="1272" y="176"/>
                      <a:pt x="1275" y="177"/>
                    </a:cubicBezTo>
                    <a:cubicBezTo>
                      <a:pt x="1279" y="178"/>
                      <a:pt x="1283" y="178"/>
                      <a:pt x="1287" y="179"/>
                    </a:cubicBezTo>
                    <a:cubicBezTo>
                      <a:pt x="1291" y="180"/>
                      <a:pt x="1295" y="181"/>
                      <a:pt x="1299" y="182"/>
                    </a:cubicBezTo>
                    <a:cubicBezTo>
                      <a:pt x="1303" y="183"/>
                      <a:pt x="1307" y="183"/>
                      <a:pt x="1310" y="184"/>
                    </a:cubicBezTo>
                    <a:cubicBezTo>
                      <a:pt x="1314" y="185"/>
                      <a:pt x="1318" y="187"/>
                      <a:pt x="1322" y="187"/>
                    </a:cubicBezTo>
                    <a:cubicBezTo>
                      <a:pt x="1326" y="188"/>
                      <a:pt x="1330" y="188"/>
                      <a:pt x="1334" y="189"/>
                    </a:cubicBezTo>
                    <a:cubicBezTo>
                      <a:pt x="1338" y="190"/>
                      <a:pt x="1341" y="191"/>
                      <a:pt x="1345" y="192"/>
                    </a:cubicBezTo>
                    <a:cubicBezTo>
                      <a:pt x="1349" y="193"/>
                      <a:pt x="1353" y="194"/>
                      <a:pt x="1357" y="195"/>
                    </a:cubicBezTo>
                    <a:cubicBezTo>
                      <a:pt x="1361" y="196"/>
                      <a:pt x="1365" y="196"/>
                      <a:pt x="1369" y="197"/>
                    </a:cubicBezTo>
                    <a:cubicBezTo>
                      <a:pt x="1373" y="198"/>
                      <a:pt x="1377" y="198"/>
                      <a:pt x="1381" y="199"/>
                    </a:cubicBezTo>
                    <a:cubicBezTo>
                      <a:pt x="1385" y="200"/>
                      <a:pt x="1389" y="200"/>
                      <a:pt x="1393" y="201"/>
                    </a:cubicBezTo>
                    <a:cubicBezTo>
                      <a:pt x="1396" y="202"/>
                      <a:pt x="1400" y="203"/>
                      <a:pt x="1404" y="203"/>
                    </a:cubicBezTo>
                    <a:cubicBezTo>
                      <a:pt x="1408" y="204"/>
                      <a:pt x="1412" y="205"/>
                      <a:pt x="1416" y="206"/>
                    </a:cubicBezTo>
                    <a:cubicBezTo>
                      <a:pt x="1420" y="207"/>
                      <a:pt x="1424" y="207"/>
                      <a:pt x="1428" y="208"/>
                    </a:cubicBezTo>
                    <a:cubicBezTo>
                      <a:pt x="1432" y="208"/>
                      <a:pt x="1436" y="209"/>
                      <a:pt x="1440" y="209"/>
                    </a:cubicBezTo>
                    <a:cubicBezTo>
                      <a:pt x="1444" y="210"/>
                      <a:pt x="1448" y="211"/>
                      <a:pt x="1452" y="212"/>
                    </a:cubicBezTo>
                    <a:cubicBezTo>
                      <a:pt x="1456" y="212"/>
                      <a:pt x="1459" y="213"/>
                      <a:pt x="1463" y="213"/>
                    </a:cubicBezTo>
                    <a:cubicBezTo>
                      <a:pt x="1467" y="214"/>
                      <a:pt x="1471" y="214"/>
                      <a:pt x="1475" y="215"/>
                    </a:cubicBezTo>
                    <a:cubicBezTo>
                      <a:pt x="1479" y="215"/>
                      <a:pt x="1483" y="215"/>
                      <a:pt x="1487" y="216"/>
                    </a:cubicBezTo>
                    <a:cubicBezTo>
                      <a:pt x="1491" y="216"/>
                      <a:pt x="1495" y="216"/>
                      <a:pt x="1499" y="217"/>
                    </a:cubicBezTo>
                    <a:cubicBezTo>
                      <a:pt x="1503" y="217"/>
                      <a:pt x="1507" y="217"/>
                      <a:pt x="1511" y="217"/>
                    </a:cubicBezTo>
                    <a:cubicBezTo>
                      <a:pt x="1514" y="218"/>
                      <a:pt x="1518" y="218"/>
                      <a:pt x="1521" y="218"/>
                    </a:cubicBezTo>
                    <a:cubicBezTo>
                      <a:pt x="1524" y="218"/>
                      <a:pt x="1527" y="218"/>
                      <a:pt x="1530" y="218"/>
                    </a:cubicBezTo>
                    <a:cubicBezTo>
                      <a:pt x="1535" y="218"/>
                      <a:pt x="1539" y="218"/>
                      <a:pt x="1543" y="218"/>
                    </a:cubicBezTo>
                    <a:cubicBezTo>
                      <a:pt x="1548" y="218"/>
                      <a:pt x="1552" y="217"/>
                      <a:pt x="1556" y="216"/>
                    </a:cubicBezTo>
                    <a:cubicBezTo>
                      <a:pt x="1561" y="216"/>
                      <a:pt x="1565" y="215"/>
                      <a:pt x="1569" y="214"/>
                    </a:cubicBezTo>
                    <a:cubicBezTo>
                      <a:pt x="1573" y="213"/>
                      <a:pt x="1578" y="212"/>
                      <a:pt x="1582" y="211"/>
                    </a:cubicBezTo>
                    <a:cubicBezTo>
                      <a:pt x="1585" y="209"/>
                      <a:pt x="1589" y="208"/>
                      <a:pt x="1592" y="207"/>
                    </a:cubicBezTo>
                    <a:cubicBezTo>
                      <a:pt x="1595" y="205"/>
                      <a:pt x="1598" y="202"/>
                      <a:pt x="1601" y="200"/>
                    </a:cubicBezTo>
                    <a:cubicBezTo>
                      <a:pt x="1605" y="198"/>
                      <a:pt x="1608" y="196"/>
                      <a:pt x="1610" y="194"/>
                    </a:cubicBezTo>
                    <a:cubicBezTo>
                      <a:pt x="1613" y="191"/>
                      <a:pt x="1616" y="189"/>
                      <a:pt x="1619" y="186"/>
                    </a:cubicBezTo>
                    <a:cubicBezTo>
                      <a:pt x="1621" y="183"/>
                      <a:pt x="1623" y="181"/>
                      <a:pt x="1625" y="178"/>
                    </a:cubicBezTo>
                    <a:cubicBezTo>
                      <a:pt x="1625" y="181"/>
                      <a:pt x="1625" y="185"/>
                      <a:pt x="1625" y="189"/>
                    </a:cubicBezTo>
                    <a:close/>
                    <a:moveTo>
                      <a:pt x="71" y="252"/>
                    </a:moveTo>
                    <a:cubicBezTo>
                      <a:pt x="72" y="253"/>
                      <a:pt x="73" y="253"/>
                      <a:pt x="73" y="254"/>
                    </a:cubicBezTo>
                    <a:cubicBezTo>
                      <a:pt x="72" y="255"/>
                      <a:pt x="71" y="254"/>
                      <a:pt x="71" y="254"/>
                    </a:cubicBezTo>
                    <a:cubicBezTo>
                      <a:pt x="70" y="253"/>
                      <a:pt x="71" y="253"/>
                      <a:pt x="71" y="252"/>
                    </a:cubicBezTo>
                    <a:close/>
                    <a:moveTo>
                      <a:pt x="1479" y="204"/>
                    </a:moveTo>
                    <a:cubicBezTo>
                      <a:pt x="1481" y="204"/>
                      <a:pt x="1481" y="207"/>
                      <a:pt x="1479" y="207"/>
                    </a:cubicBezTo>
                    <a:cubicBezTo>
                      <a:pt x="1478" y="206"/>
                      <a:pt x="1478" y="204"/>
                      <a:pt x="1479" y="204"/>
                    </a:cubicBezTo>
                    <a:close/>
                    <a:moveTo>
                      <a:pt x="1614" y="190"/>
                    </a:moveTo>
                    <a:cubicBezTo>
                      <a:pt x="1609" y="192"/>
                      <a:pt x="1614" y="183"/>
                      <a:pt x="1614" y="190"/>
                    </a:cubicBezTo>
                    <a:close/>
                    <a:moveTo>
                      <a:pt x="1625" y="148"/>
                    </a:moveTo>
                    <a:cubicBezTo>
                      <a:pt x="1623" y="149"/>
                      <a:pt x="1620" y="149"/>
                      <a:pt x="1619" y="147"/>
                    </a:cubicBezTo>
                    <a:cubicBezTo>
                      <a:pt x="1620" y="150"/>
                      <a:pt x="1620" y="152"/>
                      <a:pt x="1620" y="155"/>
                    </a:cubicBezTo>
                    <a:cubicBezTo>
                      <a:pt x="1620" y="159"/>
                      <a:pt x="1619" y="163"/>
                      <a:pt x="1617" y="167"/>
                    </a:cubicBezTo>
                    <a:cubicBezTo>
                      <a:pt x="1615" y="171"/>
                      <a:pt x="1614" y="175"/>
                      <a:pt x="1611" y="178"/>
                    </a:cubicBezTo>
                    <a:cubicBezTo>
                      <a:pt x="1608" y="182"/>
                      <a:pt x="1605" y="184"/>
                      <a:pt x="1602" y="187"/>
                    </a:cubicBezTo>
                    <a:cubicBezTo>
                      <a:pt x="1598" y="190"/>
                      <a:pt x="1595" y="192"/>
                      <a:pt x="1591" y="194"/>
                    </a:cubicBezTo>
                    <a:cubicBezTo>
                      <a:pt x="1590" y="194"/>
                      <a:pt x="1590" y="195"/>
                      <a:pt x="1589" y="195"/>
                    </a:cubicBezTo>
                    <a:cubicBezTo>
                      <a:pt x="1589" y="195"/>
                      <a:pt x="1589" y="195"/>
                      <a:pt x="1589" y="195"/>
                    </a:cubicBezTo>
                    <a:cubicBezTo>
                      <a:pt x="1586" y="196"/>
                      <a:pt x="1583" y="198"/>
                      <a:pt x="1579" y="199"/>
                    </a:cubicBezTo>
                    <a:cubicBezTo>
                      <a:pt x="1576" y="200"/>
                      <a:pt x="1572" y="201"/>
                      <a:pt x="1568" y="202"/>
                    </a:cubicBezTo>
                    <a:cubicBezTo>
                      <a:pt x="1564" y="203"/>
                      <a:pt x="1559" y="204"/>
                      <a:pt x="1555" y="205"/>
                    </a:cubicBezTo>
                    <a:cubicBezTo>
                      <a:pt x="1554" y="205"/>
                      <a:pt x="1553" y="205"/>
                      <a:pt x="1552" y="205"/>
                    </a:cubicBezTo>
                    <a:cubicBezTo>
                      <a:pt x="1553" y="206"/>
                      <a:pt x="1553" y="206"/>
                      <a:pt x="1551" y="207"/>
                    </a:cubicBezTo>
                    <a:cubicBezTo>
                      <a:pt x="1552" y="205"/>
                      <a:pt x="1547" y="206"/>
                      <a:pt x="1546" y="206"/>
                    </a:cubicBezTo>
                    <a:cubicBezTo>
                      <a:pt x="1545" y="206"/>
                      <a:pt x="1544" y="206"/>
                      <a:pt x="1543" y="206"/>
                    </a:cubicBezTo>
                    <a:cubicBezTo>
                      <a:pt x="1539" y="206"/>
                      <a:pt x="1535" y="205"/>
                      <a:pt x="1531" y="205"/>
                    </a:cubicBezTo>
                    <a:cubicBezTo>
                      <a:pt x="1528" y="205"/>
                      <a:pt x="1526" y="206"/>
                      <a:pt x="1523" y="206"/>
                    </a:cubicBezTo>
                    <a:cubicBezTo>
                      <a:pt x="1519" y="205"/>
                      <a:pt x="1515" y="205"/>
                      <a:pt x="1511" y="205"/>
                    </a:cubicBezTo>
                    <a:cubicBezTo>
                      <a:pt x="1507" y="205"/>
                      <a:pt x="1503" y="205"/>
                      <a:pt x="1499" y="205"/>
                    </a:cubicBezTo>
                    <a:cubicBezTo>
                      <a:pt x="1494" y="204"/>
                      <a:pt x="1490" y="203"/>
                      <a:pt x="1486" y="203"/>
                    </a:cubicBezTo>
                    <a:cubicBezTo>
                      <a:pt x="1482" y="202"/>
                      <a:pt x="1478" y="202"/>
                      <a:pt x="1474" y="202"/>
                    </a:cubicBezTo>
                    <a:cubicBezTo>
                      <a:pt x="1471" y="202"/>
                      <a:pt x="1469" y="201"/>
                      <a:pt x="1467" y="201"/>
                    </a:cubicBezTo>
                    <a:cubicBezTo>
                      <a:pt x="1467" y="201"/>
                      <a:pt x="1467" y="201"/>
                      <a:pt x="1467" y="201"/>
                    </a:cubicBezTo>
                    <a:cubicBezTo>
                      <a:pt x="1467" y="201"/>
                      <a:pt x="1467" y="201"/>
                      <a:pt x="1467" y="201"/>
                    </a:cubicBezTo>
                    <a:cubicBezTo>
                      <a:pt x="1465" y="201"/>
                      <a:pt x="1463" y="200"/>
                      <a:pt x="1462" y="200"/>
                    </a:cubicBezTo>
                    <a:cubicBezTo>
                      <a:pt x="1457" y="199"/>
                      <a:pt x="1453" y="199"/>
                      <a:pt x="1449" y="198"/>
                    </a:cubicBezTo>
                    <a:cubicBezTo>
                      <a:pt x="1445" y="197"/>
                      <a:pt x="1441" y="197"/>
                      <a:pt x="1437" y="196"/>
                    </a:cubicBezTo>
                    <a:cubicBezTo>
                      <a:pt x="1433" y="196"/>
                      <a:pt x="1429" y="195"/>
                      <a:pt x="1425" y="194"/>
                    </a:cubicBezTo>
                    <a:cubicBezTo>
                      <a:pt x="1425" y="193"/>
                      <a:pt x="1425" y="193"/>
                      <a:pt x="1426" y="193"/>
                    </a:cubicBezTo>
                    <a:cubicBezTo>
                      <a:pt x="1426" y="192"/>
                      <a:pt x="1427" y="191"/>
                      <a:pt x="1427" y="191"/>
                    </a:cubicBezTo>
                    <a:cubicBezTo>
                      <a:pt x="1428" y="189"/>
                      <a:pt x="1429" y="189"/>
                      <a:pt x="1430" y="187"/>
                    </a:cubicBezTo>
                    <a:cubicBezTo>
                      <a:pt x="1433" y="182"/>
                      <a:pt x="1432" y="184"/>
                      <a:pt x="1436" y="177"/>
                    </a:cubicBezTo>
                    <a:cubicBezTo>
                      <a:pt x="1438" y="174"/>
                      <a:pt x="1441" y="171"/>
                      <a:pt x="1443" y="167"/>
                    </a:cubicBezTo>
                    <a:cubicBezTo>
                      <a:pt x="1445" y="164"/>
                      <a:pt x="1447" y="160"/>
                      <a:pt x="1450" y="157"/>
                    </a:cubicBezTo>
                    <a:cubicBezTo>
                      <a:pt x="1452" y="153"/>
                      <a:pt x="1454" y="150"/>
                      <a:pt x="1456" y="146"/>
                    </a:cubicBezTo>
                    <a:cubicBezTo>
                      <a:pt x="1456" y="146"/>
                      <a:pt x="1456" y="146"/>
                      <a:pt x="1456" y="146"/>
                    </a:cubicBezTo>
                    <a:cubicBezTo>
                      <a:pt x="1456" y="146"/>
                      <a:pt x="1456" y="146"/>
                      <a:pt x="1456" y="146"/>
                    </a:cubicBezTo>
                    <a:cubicBezTo>
                      <a:pt x="1456" y="145"/>
                      <a:pt x="1455" y="145"/>
                      <a:pt x="1455" y="144"/>
                    </a:cubicBezTo>
                    <a:cubicBezTo>
                      <a:pt x="1456" y="143"/>
                      <a:pt x="1457" y="142"/>
                      <a:pt x="1458" y="143"/>
                    </a:cubicBezTo>
                    <a:cubicBezTo>
                      <a:pt x="1460" y="140"/>
                      <a:pt x="1461" y="138"/>
                      <a:pt x="1463" y="136"/>
                    </a:cubicBezTo>
                    <a:cubicBezTo>
                      <a:pt x="1464" y="134"/>
                      <a:pt x="1464" y="134"/>
                      <a:pt x="1465" y="132"/>
                    </a:cubicBezTo>
                    <a:cubicBezTo>
                      <a:pt x="1465" y="132"/>
                      <a:pt x="1466" y="131"/>
                      <a:pt x="1465" y="130"/>
                    </a:cubicBezTo>
                    <a:cubicBezTo>
                      <a:pt x="1465" y="129"/>
                      <a:pt x="1463" y="125"/>
                      <a:pt x="1459" y="125"/>
                    </a:cubicBezTo>
                    <a:cubicBezTo>
                      <a:pt x="1459" y="125"/>
                      <a:pt x="1458" y="126"/>
                      <a:pt x="1458" y="126"/>
                    </a:cubicBezTo>
                    <a:cubicBezTo>
                      <a:pt x="1454" y="126"/>
                      <a:pt x="1454" y="126"/>
                      <a:pt x="1450" y="126"/>
                    </a:cubicBezTo>
                    <a:cubicBezTo>
                      <a:pt x="1448" y="126"/>
                      <a:pt x="1448" y="126"/>
                      <a:pt x="1445" y="126"/>
                    </a:cubicBezTo>
                    <a:cubicBezTo>
                      <a:pt x="1441" y="126"/>
                      <a:pt x="1437" y="126"/>
                      <a:pt x="1433" y="126"/>
                    </a:cubicBezTo>
                    <a:cubicBezTo>
                      <a:pt x="1429" y="126"/>
                      <a:pt x="1425" y="126"/>
                      <a:pt x="1421" y="125"/>
                    </a:cubicBezTo>
                    <a:cubicBezTo>
                      <a:pt x="1416" y="125"/>
                      <a:pt x="1412" y="124"/>
                      <a:pt x="1408" y="124"/>
                    </a:cubicBezTo>
                    <a:cubicBezTo>
                      <a:pt x="1407" y="124"/>
                      <a:pt x="1406" y="124"/>
                      <a:pt x="1406" y="124"/>
                    </a:cubicBezTo>
                    <a:cubicBezTo>
                      <a:pt x="1406" y="124"/>
                      <a:pt x="1405" y="124"/>
                      <a:pt x="1405" y="124"/>
                    </a:cubicBezTo>
                    <a:cubicBezTo>
                      <a:pt x="1405" y="124"/>
                      <a:pt x="1405" y="124"/>
                      <a:pt x="1405" y="124"/>
                    </a:cubicBezTo>
                    <a:cubicBezTo>
                      <a:pt x="1404" y="124"/>
                      <a:pt x="1403" y="123"/>
                      <a:pt x="1402" y="123"/>
                    </a:cubicBezTo>
                    <a:cubicBezTo>
                      <a:pt x="1400" y="124"/>
                      <a:pt x="1396" y="126"/>
                      <a:pt x="1396" y="122"/>
                    </a:cubicBezTo>
                    <a:cubicBezTo>
                      <a:pt x="1396" y="122"/>
                      <a:pt x="1395" y="122"/>
                      <a:pt x="1395" y="122"/>
                    </a:cubicBezTo>
                    <a:cubicBezTo>
                      <a:pt x="1394" y="122"/>
                      <a:pt x="1393" y="122"/>
                      <a:pt x="1392" y="122"/>
                    </a:cubicBezTo>
                    <a:cubicBezTo>
                      <a:pt x="1392" y="122"/>
                      <a:pt x="1392" y="122"/>
                      <a:pt x="1392" y="122"/>
                    </a:cubicBezTo>
                    <a:cubicBezTo>
                      <a:pt x="1390" y="122"/>
                      <a:pt x="1388" y="122"/>
                      <a:pt x="1386" y="122"/>
                    </a:cubicBezTo>
                    <a:cubicBezTo>
                      <a:pt x="1386" y="122"/>
                      <a:pt x="1386" y="121"/>
                      <a:pt x="1386" y="121"/>
                    </a:cubicBezTo>
                    <a:cubicBezTo>
                      <a:pt x="1385" y="121"/>
                      <a:pt x="1384" y="121"/>
                      <a:pt x="1383" y="120"/>
                    </a:cubicBezTo>
                    <a:cubicBezTo>
                      <a:pt x="1378" y="120"/>
                      <a:pt x="1374" y="119"/>
                      <a:pt x="1370" y="118"/>
                    </a:cubicBezTo>
                    <a:cubicBezTo>
                      <a:pt x="1368" y="118"/>
                      <a:pt x="1367" y="117"/>
                      <a:pt x="1365" y="117"/>
                    </a:cubicBezTo>
                    <a:cubicBezTo>
                      <a:pt x="1365" y="117"/>
                      <a:pt x="1365" y="118"/>
                      <a:pt x="1365" y="118"/>
                    </a:cubicBezTo>
                    <a:cubicBezTo>
                      <a:pt x="1362" y="119"/>
                      <a:pt x="1361" y="118"/>
                      <a:pt x="1361" y="116"/>
                    </a:cubicBezTo>
                    <a:cubicBezTo>
                      <a:pt x="1360" y="116"/>
                      <a:pt x="1359" y="115"/>
                      <a:pt x="1358" y="115"/>
                    </a:cubicBezTo>
                    <a:cubicBezTo>
                      <a:pt x="1354" y="114"/>
                      <a:pt x="1349" y="114"/>
                      <a:pt x="1345" y="113"/>
                    </a:cubicBezTo>
                    <a:cubicBezTo>
                      <a:pt x="1344" y="113"/>
                      <a:pt x="1343" y="112"/>
                      <a:pt x="1342" y="112"/>
                    </a:cubicBezTo>
                    <a:cubicBezTo>
                      <a:pt x="1341" y="112"/>
                      <a:pt x="1339" y="112"/>
                      <a:pt x="1338" y="110"/>
                    </a:cubicBezTo>
                    <a:cubicBezTo>
                      <a:pt x="1337" y="110"/>
                      <a:pt x="1335" y="109"/>
                      <a:pt x="1333" y="108"/>
                    </a:cubicBezTo>
                    <a:cubicBezTo>
                      <a:pt x="1329" y="107"/>
                      <a:pt x="1325" y="107"/>
                      <a:pt x="1321" y="105"/>
                    </a:cubicBezTo>
                    <a:cubicBezTo>
                      <a:pt x="1317" y="104"/>
                      <a:pt x="1313" y="102"/>
                      <a:pt x="1308" y="101"/>
                    </a:cubicBezTo>
                    <a:cubicBezTo>
                      <a:pt x="1313" y="101"/>
                      <a:pt x="1317" y="101"/>
                      <a:pt x="1321" y="101"/>
                    </a:cubicBezTo>
                    <a:cubicBezTo>
                      <a:pt x="1325" y="102"/>
                      <a:pt x="1329" y="103"/>
                      <a:pt x="1334" y="103"/>
                    </a:cubicBezTo>
                    <a:cubicBezTo>
                      <a:pt x="1338" y="103"/>
                      <a:pt x="1342" y="103"/>
                      <a:pt x="1346" y="104"/>
                    </a:cubicBezTo>
                    <a:cubicBezTo>
                      <a:pt x="1350" y="104"/>
                      <a:pt x="1354" y="104"/>
                      <a:pt x="1359" y="104"/>
                    </a:cubicBezTo>
                    <a:cubicBezTo>
                      <a:pt x="1361" y="104"/>
                      <a:pt x="1363" y="104"/>
                      <a:pt x="1366" y="105"/>
                    </a:cubicBezTo>
                    <a:cubicBezTo>
                      <a:pt x="1365" y="104"/>
                      <a:pt x="1364" y="103"/>
                      <a:pt x="1364" y="102"/>
                    </a:cubicBezTo>
                    <a:cubicBezTo>
                      <a:pt x="1366" y="100"/>
                      <a:pt x="1370" y="100"/>
                      <a:pt x="1372" y="102"/>
                    </a:cubicBezTo>
                    <a:cubicBezTo>
                      <a:pt x="1372" y="103"/>
                      <a:pt x="1372" y="104"/>
                      <a:pt x="1371" y="105"/>
                    </a:cubicBezTo>
                    <a:cubicBezTo>
                      <a:pt x="1375" y="106"/>
                      <a:pt x="1380" y="106"/>
                      <a:pt x="1384" y="106"/>
                    </a:cubicBezTo>
                    <a:cubicBezTo>
                      <a:pt x="1388" y="107"/>
                      <a:pt x="1392" y="108"/>
                      <a:pt x="1396" y="108"/>
                    </a:cubicBezTo>
                    <a:cubicBezTo>
                      <a:pt x="1400" y="108"/>
                      <a:pt x="1405" y="109"/>
                      <a:pt x="1408" y="109"/>
                    </a:cubicBezTo>
                    <a:cubicBezTo>
                      <a:pt x="1413" y="110"/>
                      <a:pt x="1417" y="110"/>
                      <a:pt x="1421" y="110"/>
                    </a:cubicBezTo>
                    <a:cubicBezTo>
                      <a:pt x="1429" y="111"/>
                      <a:pt x="1428" y="115"/>
                      <a:pt x="1433" y="111"/>
                    </a:cubicBezTo>
                    <a:cubicBezTo>
                      <a:pt x="1430" y="110"/>
                      <a:pt x="1426" y="108"/>
                      <a:pt x="1422" y="107"/>
                    </a:cubicBezTo>
                    <a:cubicBezTo>
                      <a:pt x="1419" y="105"/>
                      <a:pt x="1415" y="105"/>
                      <a:pt x="1411" y="104"/>
                    </a:cubicBezTo>
                    <a:cubicBezTo>
                      <a:pt x="1407" y="103"/>
                      <a:pt x="1403" y="101"/>
                      <a:pt x="1399" y="100"/>
                    </a:cubicBezTo>
                    <a:cubicBezTo>
                      <a:pt x="1395" y="99"/>
                      <a:pt x="1391" y="99"/>
                      <a:pt x="1387" y="98"/>
                    </a:cubicBezTo>
                    <a:cubicBezTo>
                      <a:pt x="1383" y="97"/>
                      <a:pt x="1380" y="96"/>
                      <a:pt x="1376" y="96"/>
                    </a:cubicBezTo>
                    <a:cubicBezTo>
                      <a:pt x="1372" y="95"/>
                      <a:pt x="1368" y="94"/>
                      <a:pt x="1364" y="93"/>
                    </a:cubicBezTo>
                    <a:cubicBezTo>
                      <a:pt x="1364" y="93"/>
                      <a:pt x="1363" y="93"/>
                      <a:pt x="1363" y="93"/>
                    </a:cubicBezTo>
                    <a:cubicBezTo>
                      <a:pt x="1363" y="93"/>
                      <a:pt x="1363" y="93"/>
                      <a:pt x="1363" y="93"/>
                    </a:cubicBezTo>
                    <a:cubicBezTo>
                      <a:pt x="1363" y="94"/>
                      <a:pt x="1363" y="93"/>
                      <a:pt x="1362" y="93"/>
                    </a:cubicBezTo>
                    <a:cubicBezTo>
                      <a:pt x="1359" y="92"/>
                      <a:pt x="1355" y="92"/>
                      <a:pt x="1352" y="91"/>
                    </a:cubicBezTo>
                    <a:cubicBezTo>
                      <a:pt x="1352" y="91"/>
                      <a:pt x="1352" y="91"/>
                      <a:pt x="1351" y="91"/>
                    </a:cubicBezTo>
                    <a:cubicBezTo>
                      <a:pt x="1351" y="91"/>
                      <a:pt x="1351" y="91"/>
                      <a:pt x="1352" y="91"/>
                    </a:cubicBezTo>
                    <a:cubicBezTo>
                      <a:pt x="1350" y="91"/>
                      <a:pt x="1349" y="91"/>
                      <a:pt x="1348" y="91"/>
                    </a:cubicBezTo>
                    <a:cubicBezTo>
                      <a:pt x="1347" y="91"/>
                      <a:pt x="1346" y="91"/>
                      <a:pt x="1346" y="91"/>
                    </a:cubicBezTo>
                    <a:cubicBezTo>
                      <a:pt x="1344" y="90"/>
                      <a:pt x="1342" y="90"/>
                      <a:pt x="1340" y="90"/>
                    </a:cubicBezTo>
                    <a:cubicBezTo>
                      <a:pt x="1336" y="89"/>
                      <a:pt x="1332" y="89"/>
                      <a:pt x="1328" y="89"/>
                    </a:cubicBezTo>
                    <a:cubicBezTo>
                      <a:pt x="1324" y="88"/>
                      <a:pt x="1320" y="87"/>
                      <a:pt x="1316" y="87"/>
                    </a:cubicBezTo>
                    <a:cubicBezTo>
                      <a:pt x="1314" y="86"/>
                      <a:pt x="1311" y="86"/>
                      <a:pt x="1309" y="86"/>
                    </a:cubicBezTo>
                    <a:cubicBezTo>
                      <a:pt x="1308" y="86"/>
                      <a:pt x="1308" y="86"/>
                      <a:pt x="1307" y="86"/>
                    </a:cubicBezTo>
                    <a:cubicBezTo>
                      <a:pt x="1307" y="86"/>
                      <a:pt x="1307" y="86"/>
                      <a:pt x="1307" y="85"/>
                    </a:cubicBezTo>
                    <a:cubicBezTo>
                      <a:pt x="1306" y="85"/>
                      <a:pt x="1305" y="85"/>
                      <a:pt x="1304" y="85"/>
                    </a:cubicBezTo>
                    <a:cubicBezTo>
                      <a:pt x="1300" y="85"/>
                      <a:pt x="1296" y="85"/>
                      <a:pt x="1292" y="84"/>
                    </a:cubicBezTo>
                    <a:cubicBezTo>
                      <a:pt x="1288" y="84"/>
                      <a:pt x="1284" y="83"/>
                      <a:pt x="1280" y="83"/>
                    </a:cubicBezTo>
                    <a:cubicBezTo>
                      <a:pt x="1276" y="83"/>
                      <a:pt x="1272" y="83"/>
                      <a:pt x="1268" y="82"/>
                    </a:cubicBezTo>
                    <a:cubicBezTo>
                      <a:pt x="1265" y="80"/>
                      <a:pt x="1262" y="78"/>
                      <a:pt x="1260" y="75"/>
                    </a:cubicBezTo>
                    <a:cubicBezTo>
                      <a:pt x="1258" y="74"/>
                      <a:pt x="1257" y="73"/>
                      <a:pt x="1256" y="72"/>
                    </a:cubicBezTo>
                    <a:cubicBezTo>
                      <a:pt x="1260" y="72"/>
                      <a:pt x="1264" y="71"/>
                      <a:pt x="1268" y="71"/>
                    </a:cubicBezTo>
                    <a:cubicBezTo>
                      <a:pt x="1272" y="71"/>
                      <a:pt x="1276" y="71"/>
                      <a:pt x="1280" y="71"/>
                    </a:cubicBezTo>
                    <a:cubicBezTo>
                      <a:pt x="1284" y="71"/>
                      <a:pt x="1287" y="72"/>
                      <a:pt x="1292" y="72"/>
                    </a:cubicBezTo>
                    <a:cubicBezTo>
                      <a:pt x="1293" y="72"/>
                      <a:pt x="1294" y="72"/>
                      <a:pt x="1295" y="72"/>
                    </a:cubicBezTo>
                    <a:cubicBezTo>
                      <a:pt x="1296" y="69"/>
                      <a:pt x="1302" y="69"/>
                      <a:pt x="1302" y="72"/>
                    </a:cubicBezTo>
                    <a:cubicBezTo>
                      <a:pt x="1302" y="72"/>
                      <a:pt x="1303" y="72"/>
                      <a:pt x="1303" y="72"/>
                    </a:cubicBezTo>
                    <a:cubicBezTo>
                      <a:pt x="1307" y="72"/>
                      <a:pt x="1311" y="72"/>
                      <a:pt x="1315" y="73"/>
                    </a:cubicBezTo>
                    <a:cubicBezTo>
                      <a:pt x="1318" y="73"/>
                      <a:pt x="1321" y="73"/>
                      <a:pt x="1323" y="73"/>
                    </a:cubicBezTo>
                    <a:cubicBezTo>
                      <a:pt x="1323" y="72"/>
                      <a:pt x="1323" y="72"/>
                      <a:pt x="1323" y="72"/>
                    </a:cubicBezTo>
                    <a:cubicBezTo>
                      <a:pt x="1325" y="72"/>
                      <a:pt x="1326" y="72"/>
                      <a:pt x="1326" y="73"/>
                    </a:cubicBezTo>
                    <a:cubicBezTo>
                      <a:pt x="1327" y="73"/>
                      <a:pt x="1327" y="73"/>
                      <a:pt x="1327" y="73"/>
                    </a:cubicBezTo>
                    <a:cubicBezTo>
                      <a:pt x="1331" y="73"/>
                      <a:pt x="1335" y="74"/>
                      <a:pt x="1339" y="74"/>
                    </a:cubicBezTo>
                    <a:cubicBezTo>
                      <a:pt x="1343" y="74"/>
                      <a:pt x="1347" y="75"/>
                      <a:pt x="1351" y="76"/>
                    </a:cubicBezTo>
                    <a:cubicBezTo>
                      <a:pt x="1355" y="76"/>
                      <a:pt x="1359" y="76"/>
                      <a:pt x="1363" y="76"/>
                    </a:cubicBezTo>
                    <a:cubicBezTo>
                      <a:pt x="1367" y="76"/>
                      <a:pt x="1370" y="77"/>
                      <a:pt x="1374" y="77"/>
                    </a:cubicBezTo>
                    <a:cubicBezTo>
                      <a:pt x="1378" y="77"/>
                      <a:pt x="1382" y="78"/>
                      <a:pt x="1386" y="79"/>
                    </a:cubicBezTo>
                    <a:cubicBezTo>
                      <a:pt x="1390" y="79"/>
                      <a:pt x="1394" y="78"/>
                      <a:pt x="1398" y="79"/>
                    </a:cubicBezTo>
                    <a:cubicBezTo>
                      <a:pt x="1402" y="79"/>
                      <a:pt x="1406" y="80"/>
                      <a:pt x="1410" y="80"/>
                    </a:cubicBezTo>
                    <a:cubicBezTo>
                      <a:pt x="1411" y="80"/>
                      <a:pt x="1411" y="80"/>
                      <a:pt x="1412" y="80"/>
                    </a:cubicBezTo>
                    <a:cubicBezTo>
                      <a:pt x="1412" y="80"/>
                      <a:pt x="1413" y="80"/>
                      <a:pt x="1413" y="80"/>
                    </a:cubicBezTo>
                    <a:cubicBezTo>
                      <a:pt x="1413" y="80"/>
                      <a:pt x="1413" y="80"/>
                      <a:pt x="1413" y="80"/>
                    </a:cubicBezTo>
                    <a:cubicBezTo>
                      <a:pt x="1416" y="81"/>
                      <a:pt x="1419" y="81"/>
                      <a:pt x="1421" y="82"/>
                    </a:cubicBezTo>
                    <a:cubicBezTo>
                      <a:pt x="1429" y="83"/>
                      <a:pt x="1430" y="88"/>
                      <a:pt x="1434" y="83"/>
                    </a:cubicBezTo>
                    <a:cubicBezTo>
                      <a:pt x="1433" y="83"/>
                      <a:pt x="1433" y="83"/>
                      <a:pt x="1433" y="83"/>
                    </a:cubicBezTo>
                    <a:cubicBezTo>
                      <a:pt x="1431" y="82"/>
                      <a:pt x="1429" y="81"/>
                      <a:pt x="1426" y="80"/>
                    </a:cubicBezTo>
                    <a:cubicBezTo>
                      <a:pt x="1424" y="82"/>
                      <a:pt x="1421" y="80"/>
                      <a:pt x="1418" y="78"/>
                    </a:cubicBezTo>
                    <a:cubicBezTo>
                      <a:pt x="1416" y="77"/>
                      <a:pt x="1413" y="76"/>
                      <a:pt x="1410" y="75"/>
                    </a:cubicBezTo>
                    <a:cubicBezTo>
                      <a:pt x="1406" y="74"/>
                      <a:pt x="1402" y="73"/>
                      <a:pt x="1398" y="72"/>
                    </a:cubicBezTo>
                    <a:cubicBezTo>
                      <a:pt x="1395" y="71"/>
                      <a:pt x="1391" y="70"/>
                      <a:pt x="1387" y="69"/>
                    </a:cubicBezTo>
                    <a:cubicBezTo>
                      <a:pt x="1383" y="68"/>
                      <a:pt x="1379" y="67"/>
                      <a:pt x="1375" y="67"/>
                    </a:cubicBezTo>
                    <a:cubicBezTo>
                      <a:pt x="1374" y="66"/>
                      <a:pt x="1373" y="66"/>
                      <a:pt x="1372" y="66"/>
                    </a:cubicBezTo>
                    <a:cubicBezTo>
                      <a:pt x="1373" y="66"/>
                      <a:pt x="1373" y="66"/>
                      <a:pt x="1373" y="66"/>
                    </a:cubicBezTo>
                    <a:cubicBezTo>
                      <a:pt x="1370" y="66"/>
                      <a:pt x="1368" y="66"/>
                      <a:pt x="1365" y="66"/>
                    </a:cubicBezTo>
                    <a:cubicBezTo>
                      <a:pt x="1365" y="66"/>
                      <a:pt x="1365" y="66"/>
                      <a:pt x="1365" y="65"/>
                    </a:cubicBezTo>
                    <a:cubicBezTo>
                      <a:pt x="1364" y="65"/>
                      <a:pt x="1363" y="65"/>
                      <a:pt x="1363" y="65"/>
                    </a:cubicBezTo>
                    <a:cubicBezTo>
                      <a:pt x="1359" y="64"/>
                      <a:pt x="1355" y="63"/>
                      <a:pt x="1351" y="63"/>
                    </a:cubicBezTo>
                    <a:cubicBezTo>
                      <a:pt x="1346" y="62"/>
                      <a:pt x="1342" y="62"/>
                      <a:pt x="1338" y="61"/>
                    </a:cubicBezTo>
                    <a:cubicBezTo>
                      <a:pt x="1334" y="61"/>
                      <a:pt x="1330" y="60"/>
                      <a:pt x="1326" y="59"/>
                    </a:cubicBezTo>
                    <a:cubicBezTo>
                      <a:pt x="1322" y="59"/>
                      <a:pt x="1318" y="59"/>
                      <a:pt x="1314" y="58"/>
                    </a:cubicBezTo>
                    <a:cubicBezTo>
                      <a:pt x="1310" y="58"/>
                      <a:pt x="1306" y="57"/>
                      <a:pt x="1302" y="57"/>
                    </a:cubicBezTo>
                    <a:cubicBezTo>
                      <a:pt x="1300" y="57"/>
                      <a:pt x="1297" y="56"/>
                      <a:pt x="1295" y="56"/>
                    </a:cubicBezTo>
                    <a:cubicBezTo>
                      <a:pt x="1295" y="56"/>
                      <a:pt x="1296" y="57"/>
                      <a:pt x="1296" y="57"/>
                    </a:cubicBezTo>
                    <a:cubicBezTo>
                      <a:pt x="1293" y="56"/>
                      <a:pt x="1286" y="59"/>
                      <a:pt x="1286" y="55"/>
                    </a:cubicBezTo>
                    <a:cubicBezTo>
                      <a:pt x="1283" y="55"/>
                      <a:pt x="1280" y="55"/>
                      <a:pt x="1278" y="55"/>
                    </a:cubicBezTo>
                    <a:cubicBezTo>
                      <a:pt x="1278" y="55"/>
                      <a:pt x="1278" y="55"/>
                      <a:pt x="1277" y="55"/>
                    </a:cubicBezTo>
                    <a:cubicBezTo>
                      <a:pt x="1277" y="57"/>
                      <a:pt x="1277" y="57"/>
                      <a:pt x="1277" y="57"/>
                    </a:cubicBezTo>
                    <a:cubicBezTo>
                      <a:pt x="1276" y="58"/>
                      <a:pt x="1275" y="57"/>
                      <a:pt x="1274" y="57"/>
                    </a:cubicBezTo>
                    <a:cubicBezTo>
                      <a:pt x="1274" y="56"/>
                      <a:pt x="1274" y="55"/>
                      <a:pt x="1275" y="55"/>
                    </a:cubicBezTo>
                    <a:cubicBezTo>
                      <a:pt x="1271" y="54"/>
                      <a:pt x="1268" y="54"/>
                      <a:pt x="1266" y="54"/>
                    </a:cubicBezTo>
                    <a:cubicBezTo>
                      <a:pt x="1260" y="53"/>
                      <a:pt x="1256" y="53"/>
                      <a:pt x="1254" y="52"/>
                    </a:cubicBezTo>
                    <a:cubicBezTo>
                      <a:pt x="1255" y="49"/>
                      <a:pt x="1256" y="46"/>
                      <a:pt x="1258" y="43"/>
                    </a:cubicBezTo>
                    <a:cubicBezTo>
                      <a:pt x="1259" y="43"/>
                      <a:pt x="1260" y="43"/>
                      <a:pt x="1261" y="43"/>
                    </a:cubicBezTo>
                    <a:cubicBezTo>
                      <a:pt x="1261" y="42"/>
                      <a:pt x="1261" y="42"/>
                      <a:pt x="1261" y="42"/>
                    </a:cubicBezTo>
                    <a:cubicBezTo>
                      <a:pt x="1264" y="42"/>
                      <a:pt x="1271" y="40"/>
                      <a:pt x="1272" y="42"/>
                    </a:cubicBezTo>
                    <a:cubicBezTo>
                      <a:pt x="1275" y="42"/>
                      <a:pt x="1278" y="42"/>
                      <a:pt x="1281" y="42"/>
                    </a:cubicBezTo>
                    <a:cubicBezTo>
                      <a:pt x="1285" y="43"/>
                      <a:pt x="1289" y="43"/>
                      <a:pt x="1293" y="43"/>
                    </a:cubicBezTo>
                    <a:cubicBezTo>
                      <a:pt x="1296" y="44"/>
                      <a:pt x="1300" y="44"/>
                      <a:pt x="1304" y="44"/>
                    </a:cubicBezTo>
                    <a:cubicBezTo>
                      <a:pt x="1308" y="44"/>
                      <a:pt x="1312" y="44"/>
                      <a:pt x="1316" y="44"/>
                    </a:cubicBezTo>
                    <a:cubicBezTo>
                      <a:pt x="1320" y="44"/>
                      <a:pt x="1324" y="44"/>
                      <a:pt x="1328" y="44"/>
                    </a:cubicBezTo>
                    <a:cubicBezTo>
                      <a:pt x="1332" y="45"/>
                      <a:pt x="1336" y="46"/>
                      <a:pt x="1340" y="46"/>
                    </a:cubicBezTo>
                    <a:cubicBezTo>
                      <a:pt x="1344" y="46"/>
                      <a:pt x="1347" y="46"/>
                      <a:pt x="1351" y="46"/>
                    </a:cubicBezTo>
                    <a:cubicBezTo>
                      <a:pt x="1355" y="47"/>
                      <a:pt x="1359" y="47"/>
                      <a:pt x="1363" y="47"/>
                    </a:cubicBezTo>
                    <a:cubicBezTo>
                      <a:pt x="1367" y="47"/>
                      <a:pt x="1371" y="49"/>
                      <a:pt x="1375" y="49"/>
                    </a:cubicBezTo>
                    <a:cubicBezTo>
                      <a:pt x="1379" y="49"/>
                      <a:pt x="1383" y="49"/>
                      <a:pt x="1387" y="49"/>
                    </a:cubicBezTo>
                    <a:cubicBezTo>
                      <a:pt x="1391" y="49"/>
                      <a:pt x="1395" y="50"/>
                      <a:pt x="1398" y="50"/>
                    </a:cubicBezTo>
                    <a:cubicBezTo>
                      <a:pt x="1402" y="50"/>
                      <a:pt x="1406" y="51"/>
                      <a:pt x="1410" y="51"/>
                    </a:cubicBezTo>
                    <a:cubicBezTo>
                      <a:pt x="1414" y="52"/>
                      <a:pt x="1418" y="52"/>
                      <a:pt x="1422" y="53"/>
                    </a:cubicBezTo>
                    <a:cubicBezTo>
                      <a:pt x="1427" y="53"/>
                      <a:pt x="1429" y="57"/>
                      <a:pt x="1431" y="56"/>
                    </a:cubicBezTo>
                    <a:cubicBezTo>
                      <a:pt x="1431" y="56"/>
                      <a:pt x="1431" y="56"/>
                      <a:pt x="1431" y="55"/>
                    </a:cubicBezTo>
                    <a:cubicBezTo>
                      <a:pt x="1431" y="55"/>
                      <a:pt x="1431" y="54"/>
                      <a:pt x="1432" y="54"/>
                    </a:cubicBezTo>
                    <a:cubicBezTo>
                      <a:pt x="1429" y="52"/>
                      <a:pt x="1425" y="51"/>
                      <a:pt x="1422" y="50"/>
                    </a:cubicBezTo>
                    <a:cubicBezTo>
                      <a:pt x="1418" y="49"/>
                      <a:pt x="1415" y="47"/>
                      <a:pt x="1411" y="46"/>
                    </a:cubicBezTo>
                    <a:cubicBezTo>
                      <a:pt x="1407" y="45"/>
                      <a:pt x="1403" y="43"/>
                      <a:pt x="1399" y="42"/>
                    </a:cubicBezTo>
                    <a:cubicBezTo>
                      <a:pt x="1395" y="42"/>
                      <a:pt x="1391" y="42"/>
                      <a:pt x="1387" y="41"/>
                    </a:cubicBezTo>
                    <a:cubicBezTo>
                      <a:pt x="1385" y="40"/>
                      <a:pt x="1382" y="40"/>
                      <a:pt x="1380" y="39"/>
                    </a:cubicBezTo>
                    <a:cubicBezTo>
                      <a:pt x="1380" y="39"/>
                      <a:pt x="1380" y="39"/>
                      <a:pt x="1380" y="40"/>
                    </a:cubicBezTo>
                    <a:cubicBezTo>
                      <a:pt x="1377" y="40"/>
                      <a:pt x="1374" y="39"/>
                      <a:pt x="1373" y="37"/>
                    </a:cubicBezTo>
                    <a:cubicBezTo>
                      <a:pt x="1370" y="37"/>
                      <a:pt x="1367" y="37"/>
                      <a:pt x="1363" y="36"/>
                    </a:cubicBezTo>
                    <a:cubicBezTo>
                      <a:pt x="1359" y="36"/>
                      <a:pt x="1355" y="34"/>
                      <a:pt x="1351" y="34"/>
                    </a:cubicBezTo>
                    <a:cubicBezTo>
                      <a:pt x="1347" y="33"/>
                      <a:pt x="1343" y="33"/>
                      <a:pt x="1339" y="32"/>
                    </a:cubicBezTo>
                    <a:cubicBezTo>
                      <a:pt x="1335" y="32"/>
                      <a:pt x="1331" y="31"/>
                      <a:pt x="1327" y="31"/>
                    </a:cubicBezTo>
                    <a:cubicBezTo>
                      <a:pt x="1323" y="30"/>
                      <a:pt x="1319" y="30"/>
                      <a:pt x="1315" y="30"/>
                    </a:cubicBezTo>
                    <a:cubicBezTo>
                      <a:pt x="1311" y="29"/>
                      <a:pt x="1307" y="28"/>
                      <a:pt x="1303" y="28"/>
                    </a:cubicBezTo>
                    <a:cubicBezTo>
                      <a:pt x="1303" y="27"/>
                      <a:pt x="1302" y="28"/>
                      <a:pt x="1302" y="27"/>
                    </a:cubicBezTo>
                    <a:cubicBezTo>
                      <a:pt x="1302" y="28"/>
                      <a:pt x="1302" y="28"/>
                      <a:pt x="1302" y="28"/>
                    </a:cubicBezTo>
                    <a:cubicBezTo>
                      <a:pt x="1300" y="28"/>
                      <a:pt x="1299" y="28"/>
                      <a:pt x="1298" y="27"/>
                    </a:cubicBezTo>
                    <a:cubicBezTo>
                      <a:pt x="1297" y="27"/>
                      <a:pt x="1296" y="27"/>
                      <a:pt x="1295" y="27"/>
                    </a:cubicBezTo>
                    <a:cubicBezTo>
                      <a:pt x="1295" y="27"/>
                      <a:pt x="1294" y="28"/>
                      <a:pt x="1294" y="28"/>
                    </a:cubicBezTo>
                    <a:cubicBezTo>
                      <a:pt x="1294" y="28"/>
                      <a:pt x="1294" y="28"/>
                      <a:pt x="1294" y="27"/>
                    </a:cubicBezTo>
                    <a:cubicBezTo>
                      <a:pt x="1293" y="27"/>
                      <a:pt x="1292" y="27"/>
                      <a:pt x="1291" y="27"/>
                    </a:cubicBezTo>
                    <a:cubicBezTo>
                      <a:pt x="1287" y="27"/>
                      <a:pt x="1283" y="26"/>
                      <a:pt x="1279" y="26"/>
                    </a:cubicBezTo>
                    <a:cubicBezTo>
                      <a:pt x="1282" y="24"/>
                      <a:pt x="1286" y="23"/>
                      <a:pt x="1289" y="22"/>
                    </a:cubicBezTo>
                    <a:cubicBezTo>
                      <a:pt x="1291" y="21"/>
                      <a:pt x="1293" y="21"/>
                      <a:pt x="1295" y="20"/>
                    </a:cubicBezTo>
                    <a:cubicBezTo>
                      <a:pt x="1294" y="16"/>
                      <a:pt x="1302" y="12"/>
                      <a:pt x="1304" y="17"/>
                    </a:cubicBezTo>
                    <a:cubicBezTo>
                      <a:pt x="1304" y="17"/>
                      <a:pt x="1304" y="17"/>
                      <a:pt x="1304" y="18"/>
                    </a:cubicBezTo>
                    <a:cubicBezTo>
                      <a:pt x="1306" y="17"/>
                      <a:pt x="1308" y="16"/>
                      <a:pt x="1311" y="16"/>
                    </a:cubicBezTo>
                    <a:cubicBezTo>
                      <a:pt x="1314" y="15"/>
                      <a:pt x="1318" y="15"/>
                      <a:pt x="1321" y="15"/>
                    </a:cubicBezTo>
                    <a:cubicBezTo>
                      <a:pt x="1325" y="14"/>
                      <a:pt x="1329" y="14"/>
                      <a:pt x="1333" y="13"/>
                    </a:cubicBezTo>
                    <a:cubicBezTo>
                      <a:pt x="1336" y="13"/>
                      <a:pt x="1340" y="14"/>
                      <a:pt x="1344" y="14"/>
                    </a:cubicBezTo>
                    <a:cubicBezTo>
                      <a:pt x="1347" y="14"/>
                      <a:pt x="1351" y="13"/>
                      <a:pt x="1354" y="13"/>
                    </a:cubicBezTo>
                    <a:cubicBezTo>
                      <a:pt x="1358" y="13"/>
                      <a:pt x="1361" y="14"/>
                      <a:pt x="1365" y="14"/>
                    </a:cubicBezTo>
                    <a:cubicBezTo>
                      <a:pt x="1365" y="14"/>
                      <a:pt x="1365" y="14"/>
                      <a:pt x="1365" y="14"/>
                    </a:cubicBezTo>
                    <a:cubicBezTo>
                      <a:pt x="1366" y="11"/>
                      <a:pt x="1370" y="11"/>
                      <a:pt x="1372" y="14"/>
                    </a:cubicBezTo>
                    <a:cubicBezTo>
                      <a:pt x="1372" y="14"/>
                      <a:pt x="1372" y="14"/>
                      <a:pt x="1372" y="15"/>
                    </a:cubicBezTo>
                    <a:cubicBezTo>
                      <a:pt x="1373" y="15"/>
                      <a:pt x="1374" y="15"/>
                      <a:pt x="1375" y="15"/>
                    </a:cubicBezTo>
                    <a:cubicBezTo>
                      <a:pt x="1379" y="15"/>
                      <a:pt x="1382" y="16"/>
                      <a:pt x="1386" y="16"/>
                    </a:cubicBezTo>
                    <a:cubicBezTo>
                      <a:pt x="1390" y="17"/>
                      <a:pt x="1394" y="17"/>
                      <a:pt x="1398" y="18"/>
                    </a:cubicBezTo>
                    <a:cubicBezTo>
                      <a:pt x="1400" y="18"/>
                      <a:pt x="1403" y="19"/>
                      <a:pt x="1405" y="20"/>
                    </a:cubicBezTo>
                    <a:cubicBezTo>
                      <a:pt x="1405" y="19"/>
                      <a:pt x="1405" y="18"/>
                      <a:pt x="1405" y="17"/>
                    </a:cubicBezTo>
                    <a:cubicBezTo>
                      <a:pt x="1407" y="17"/>
                      <a:pt x="1408" y="17"/>
                      <a:pt x="1409" y="17"/>
                    </a:cubicBezTo>
                    <a:cubicBezTo>
                      <a:pt x="1409" y="18"/>
                      <a:pt x="1409" y="19"/>
                      <a:pt x="1409" y="20"/>
                    </a:cubicBezTo>
                    <a:cubicBezTo>
                      <a:pt x="1409" y="20"/>
                      <a:pt x="1409" y="20"/>
                      <a:pt x="1409" y="20"/>
                    </a:cubicBezTo>
                    <a:cubicBezTo>
                      <a:pt x="1409" y="20"/>
                      <a:pt x="1409" y="21"/>
                      <a:pt x="1410" y="21"/>
                    </a:cubicBezTo>
                    <a:cubicBezTo>
                      <a:pt x="1414" y="21"/>
                      <a:pt x="1418" y="22"/>
                      <a:pt x="1422" y="23"/>
                    </a:cubicBezTo>
                    <a:cubicBezTo>
                      <a:pt x="1426" y="24"/>
                      <a:pt x="1430" y="25"/>
                      <a:pt x="1434" y="26"/>
                    </a:cubicBezTo>
                    <a:cubicBezTo>
                      <a:pt x="1438" y="27"/>
                      <a:pt x="1442" y="27"/>
                      <a:pt x="1446" y="29"/>
                    </a:cubicBezTo>
                    <a:cubicBezTo>
                      <a:pt x="1449" y="30"/>
                      <a:pt x="1453" y="31"/>
                      <a:pt x="1457" y="32"/>
                    </a:cubicBezTo>
                    <a:cubicBezTo>
                      <a:pt x="1461" y="34"/>
                      <a:pt x="1465" y="35"/>
                      <a:pt x="1469" y="37"/>
                    </a:cubicBezTo>
                    <a:cubicBezTo>
                      <a:pt x="1472" y="38"/>
                      <a:pt x="1475" y="39"/>
                      <a:pt x="1478" y="40"/>
                    </a:cubicBezTo>
                    <a:cubicBezTo>
                      <a:pt x="1480" y="39"/>
                      <a:pt x="1481" y="37"/>
                      <a:pt x="1486" y="38"/>
                    </a:cubicBezTo>
                    <a:cubicBezTo>
                      <a:pt x="1486" y="40"/>
                      <a:pt x="1485" y="41"/>
                      <a:pt x="1485" y="42"/>
                    </a:cubicBezTo>
                    <a:cubicBezTo>
                      <a:pt x="1486" y="43"/>
                      <a:pt x="1488" y="44"/>
                      <a:pt x="1489" y="44"/>
                    </a:cubicBezTo>
                    <a:cubicBezTo>
                      <a:pt x="1489" y="44"/>
                      <a:pt x="1489" y="44"/>
                      <a:pt x="1489" y="44"/>
                    </a:cubicBezTo>
                    <a:cubicBezTo>
                      <a:pt x="1490" y="44"/>
                      <a:pt x="1490" y="44"/>
                      <a:pt x="1490" y="44"/>
                    </a:cubicBezTo>
                    <a:cubicBezTo>
                      <a:pt x="1490" y="45"/>
                      <a:pt x="1490" y="45"/>
                      <a:pt x="1490" y="45"/>
                    </a:cubicBezTo>
                    <a:cubicBezTo>
                      <a:pt x="1491" y="45"/>
                      <a:pt x="1491" y="45"/>
                      <a:pt x="1491" y="45"/>
                    </a:cubicBezTo>
                    <a:cubicBezTo>
                      <a:pt x="1492" y="46"/>
                      <a:pt x="1493" y="46"/>
                      <a:pt x="1494" y="46"/>
                    </a:cubicBezTo>
                    <a:cubicBezTo>
                      <a:pt x="1493" y="46"/>
                      <a:pt x="1493" y="44"/>
                      <a:pt x="1495" y="43"/>
                    </a:cubicBezTo>
                    <a:cubicBezTo>
                      <a:pt x="1496" y="45"/>
                      <a:pt x="1496" y="46"/>
                      <a:pt x="1497" y="45"/>
                    </a:cubicBezTo>
                    <a:cubicBezTo>
                      <a:pt x="1497" y="45"/>
                      <a:pt x="1497" y="45"/>
                      <a:pt x="1497" y="45"/>
                    </a:cubicBezTo>
                    <a:cubicBezTo>
                      <a:pt x="1497" y="44"/>
                      <a:pt x="1499" y="43"/>
                      <a:pt x="1499" y="45"/>
                    </a:cubicBezTo>
                    <a:cubicBezTo>
                      <a:pt x="1500" y="45"/>
                      <a:pt x="1501" y="45"/>
                      <a:pt x="1502" y="46"/>
                    </a:cubicBezTo>
                    <a:cubicBezTo>
                      <a:pt x="1504" y="47"/>
                      <a:pt x="1504" y="49"/>
                      <a:pt x="1504" y="51"/>
                    </a:cubicBezTo>
                    <a:cubicBezTo>
                      <a:pt x="1505" y="51"/>
                      <a:pt x="1506" y="52"/>
                      <a:pt x="1507" y="52"/>
                    </a:cubicBezTo>
                    <a:cubicBezTo>
                      <a:pt x="1507" y="51"/>
                      <a:pt x="1508" y="51"/>
                      <a:pt x="1509" y="51"/>
                    </a:cubicBezTo>
                    <a:cubicBezTo>
                      <a:pt x="1510" y="52"/>
                      <a:pt x="1511" y="53"/>
                      <a:pt x="1511" y="54"/>
                    </a:cubicBezTo>
                    <a:cubicBezTo>
                      <a:pt x="1512" y="55"/>
                      <a:pt x="1513" y="55"/>
                      <a:pt x="1514" y="56"/>
                    </a:cubicBezTo>
                    <a:cubicBezTo>
                      <a:pt x="1517" y="57"/>
                      <a:pt x="1520" y="59"/>
                      <a:pt x="1524" y="61"/>
                    </a:cubicBezTo>
                    <a:cubicBezTo>
                      <a:pt x="1525" y="62"/>
                      <a:pt x="1527" y="62"/>
                      <a:pt x="1528" y="63"/>
                    </a:cubicBezTo>
                    <a:cubicBezTo>
                      <a:pt x="1528" y="62"/>
                      <a:pt x="1528" y="60"/>
                      <a:pt x="1528" y="59"/>
                    </a:cubicBezTo>
                    <a:cubicBezTo>
                      <a:pt x="1529" y="59"/>
                      <a:pt x="1531" y="59"/>
                      <a:pt x="1532" y="59"/>
                    </a:cubicBezTo>
                    <a:cubicBezTo>
                      <a:pt x="1532" y="61"/>
                      <a:pt x="1535" y="62"/>
                      <a:pt x="1532" y="63"/>
                    </a:cubicBezTo>
                    <a:cubicBezTo>
                      <a:pt x="1532" y="61"/>
                      <a:pt x="1532" y="60"/>
                      <a:pt x="1530" y="61"/>
                    </a:cubicBezTo>
                    <a:cubicBezTo>
                      <a:pt x="1530" y="62"/>
                      <a:pt x="1530" y="63"/>
                      <a:pt x="1529" y="64"/>
                    </a:cubicBezTo>
                    <a:cubicBezTo>
                      <a:pt x="1531" y="64"/>
                      <a:pt x="1533" y="65"/>
                      <a:pt x="1534" y="66"/>
                    </a:cubicBezTo>
                    <a:cubicBezTo>
                      <a:pt x="1535" y="66"/>
                      <a:pt x="1535" y="67"/>
                      <a:pt x="1536" y="67"/>
                    </a:cubicBezTo>
                    <a:cubicBezTo>
                      <a:pt x="1536" y="67"/>
                      <a:pt x="1536" y="67"/>
                      <a:pt x="1536" y="66"/>
                    </a:cubicBezTo>
                    <a:cubicBezTo>
                      <a:pt x="1538" y="64"/>
                      <a:pt x="1544" y="65"/>
                      <a:pt x="1543" y="66"/>
                    </a:cubicBezTo>
                    <a:cubicBezTo>
                      <a:pt x="1542" y="68"/>
                      <a:pt x="1541" y="69"/>
                      <a:pt x="1541" y="70"/>
                    </a:cubicBezTo>
                    <a:cubicBezTo>
                      <a:pt x="1542" y="70"/>
                      <a:pt x="1543" y="71"/>
                      <a:pt x="1544" y="72"/>
                    </a:cubicBezTo>
                    <a:cubicBezTo>
                      <a:pt x="1547" y="74"/>
                      <a:pt x="1551" y="75"/>
                      <a:pt x="1554" y="77"/>
                    </a:cubicBezTo>
                    <a:cubicBezTo>
                      <a:pt x="1557" y="79"/>
                      <a:pt x="1561" y="81"/>
                      <a:pt x="1564" y="83"/>
                    </a:cubicBezTo>
                    <a:cubicBezTo>
                      <a:pt x="1565" y="84"/>
                      <a:pt x="1566" y="84"/>
                      <a:pt x="1567" y="85"/>
                    </a:cubicBezTo>
                    <a:cubicBezTo>
                      <a:pt x="1568" y="78"/>
                      <a:pt x="1576" y="80"/>
                      <a:pt x="1578" y="86"/>
                    </a:cubicBezTo>
                    <a:cubicBezTo>
                      <a:pt x="1577" y="88"/>
                      <a:pt x="1576" y="89"/>
                      <a:pt x="1575" y="90"/>
                    </a:cubicBezTo>
                    <a:cubicBezTo>
                      <a:pt x="1577" y="92"/>
                      <a:pt x="1580" y="94"/>
                      <a:pt x="1583" y="97"/>
                    </a:cubicBezTo>
                    <a:cubicBezTo>
                      <a:pt x="1584" y="98"/>
                      <a:pt x="1586" y="99"/>
                      <a:pt x="1587" y="101"/>
                    </a:cubicBezTo>
                    <a:cubicBezTo>
                      <a:pt x="1587" y="100"/>
                      <a:pt x="1588" y="99"/>
                      <a:pt x="1588" y="97"/>
                    </a:cubicBezTo>
                    <a:cubicBezTo>
                      <a:pt x="1593" y="96"/>
                      <a:pt x="1595" y="102"/>
                      <a:pt x="1591" y="104"/>
                    </a:cubicBezTo>
                    <a:cubicBezTo>
                      <a:pt x="1591" y="104"/>
                      <a:pt x="1591" y="104"/>
                      <a:pt x="1591" y="105"/>
                    </a:cubicBezTo>
                    <a:cubicBezTo>
                      <a:pt x="1594" y="107"/>
                      <a:pt x="1596" y="111"/>
                      <a:pt x="1599" y="113"/>
                    </a:cubicBezTo>
                    <a:cubicBezTo>
                      <a:pt x="1601" y="116"/>
                      <a:pt x="1604" y="119"/>
                      <a:pt x="1606" y="122"/>
                    </a:cubicBezTo>
                    <a:cubicBezTo>
                      <a:pt x="1607" y="123"/>
                      <a:pt x="1608" y="125"/>
                      <a:pt x="1609" y="126"/>
                    </a:cubicBezTo>
                    <a:cubicBezTo>
                      <a:pt x="1612" y="126"/>
                      <a:pt x="1613" y="124"/>
                      <a:pt x="1616" y="124"/>
                    </a:cubicBezTo>
                    <a:cubicBezTo>
                      <a:pt x="1618" y="128"/>
                      <a:pt x="1619" y="130"/>
                      <a:pt x="1616" y="136"/>
                    </a:cubicBezTo>
                    <a:cubicBezTo>
                      <a:pt x="1616" y="135"/>
                      <a:pt x="1615" y="135"/>
                      <a:pt x="1614" y="135"/>
                    </a:cubicBezTo>
                    <a:cubicBezTo>
                      <a:pt x="1616" y="137"/>
                      <a:pt x="1617" y="139"/>
                      <a:pt x="1618" y="142"/>
                    </a:cubicBezTo>
                    <a:cubicBezTo>
                      <a:pt x="1618" y="143"/>
                      <a:pt x="1618" y="144"/>
                      <a:pt x="1619" y="144"/>
                    </a:cubicBezTo>
                    <a:cubicBezTo>
                      <a:pt x="1620" y="141"/>
                      <a:pt x="1628" y="142"/>
                      <a:pt x="1625" y="148"/>
                    </a:cubicBezTo>
                    <a:close/>
                    <a:moveTo>
                      <a:pt x="1295" y="40"/>
                    </a:moveTo>
                    <a:cubicBezTo>
                      <a:pt x="1294" y="41"/>
                      <a:pt x="1293" y="41"/>
                      <a:pt x="1292" y="40"/>
                    </a:cubicBezTo>
                    <a:cubicBezTo>
                      <a:pt x="1291" y="37"/>
                      <a:pt x="1296" y="37"/>
                      <a:pt x="1295" y="40"/>
                    </a:cubicBezTo>
                    <a:close/>
                    <a:moveTo>
                      <a:pt x="1387" y="42"/>
                    </a:moveTo>
                    <a:cubicBezTo>
                      <a:pt x="1388" y="41"/>
                      <a:pt x="1388" y="42"/>
                      <a:pt x="1389" y="42"/>
                    </a:cubicBezTo>
                    <a:cubicBezTo>
                      <a:pt x="1389" y="44"/>
                      <a:pt x="1387" y="44"/>
                      <a:pt x="1387" y="4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9" name="Freeform 2135">
                <a:extLst>
                  <a:ext uri="{FF2B5EF4-FFF2-40B4-BE49-F238E27FC236}">
                    <a16:creationId xmlns:a16="http://schemas.microsoft.com/office/drawing/2014/main" id="{65199A20-AEC8-4DC0-BCF9-9015337C8DB0}"/>
                  </a:ext>
                </a:extLst>
              </p:cNvPr>
              <p:cNvSpPr>
                <a:spLocks/>
              </p:cNvSpPr>
              <p:nvPr/>
            </p:nvSpPr>
            <p:spPr bwMode="auto">
              <a:xfrm>
                <a:off x="6427788" y="3254375"/>
                <a:ext cx="4763" cy="4763"/>
              </a:xfrm>
              <a:custGeom>
                <a:avLst/>
                <a:gdLst>
                  <a:gd name="T0" fmla="*/ 3 w 3"/>
                  <a:gd name="T1" fmla="*/ 3 h 3"/>
                  <a:gd name="T2" fmla="*/ 3 w 3"/>
                  <a:gd name="T3" fmla="*/ 2 h 3"/>
                  <a:gd name="T4" fmla="*/ 3 w 3"/>
                  <a:gd name="T5" fmla="*/ 0 h 3"/>
                  <a:gd name="T6" fmla="*/ 0 w 3"/>
                  <a:gd name="T7" fmla="*/ 1 h 3"/>
                  <a:gd name="T8" fmla="*/ 0 w 3"/>
                  <a:gd name="T9" fmla="*/ 2 h 3"/>
                  <a:gd name="T10" fmla="*/ 3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3" y="3"/>
                    </a:moveTo>
                    <a:cubicBezTo>
                      <a:pt x="3" y="3"/>
                      <a:pt x="3" y="2"/>
                      <a:pt x="3" y="2"/>
                    </a:cubicBezTo>
                    <a:cubicBezTo>
                      <a:pt x="3" y="1"/>
                      <a:pt x="3" y="1"/>
                      <a:pt x="3" y="0"/>
                    </a:cubicBezTo>
                    <a:cubicBezTo>
                      <a:pt x="2" y="0"/>
                      <a:pt x="1" y="0"/>
                      <a:pt x="0" y="1"/>
                    </a:cubicBezTo>
                    <a:cubicBezTo>
                      <a:pt x="0" y="1"/>
                      <a:pt x="0" y="1"/>
                      <a:pt x="0" y="2"/>
                    </a:cubicBezTo>
                    <a:cubicBezTo>
                      <a:pt x="1" y="2"/>
                      <a:pt x="2" y="3"/>
                      <a:pt x="3" y="3"/>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11" name="Freeform 2137">
                <a:extLst>
                  <a:ext uri="{FF2B5EF4-FFF2-40B4-BE49-F238E27FC236}">
                    <a16:creationId xmlns:a16="http://schemas.microsoft.com/office/drawing/2014/main" id="{B02F1BC8-AC06-4FA2-8911-24226CED1393}"/>
                  </a:ext>
                </a:extLst>
              </p:cNvPr>
              <p:cNvSpPr>
                <a:spLocks/>
              </p:cNvSpPr>
              <p:nvPr/>
            </p:nvSpPr>
            <p:spPr bwMode="auto">
              <a:xfrm>
                <a:off x="6729413" y="3255963"/>
                <a:ext cx="3175" cy="3175"/>
              </a:xfrm>
              <a:custGeom>
                <a:avLst/>
                <a:gdLst>
                  <a:gd name="T0" fmla="*/ 2 w 2"/>
                  <a:gd name="T1" fmla="*/ 1 h 2"/>
                  <a:gd name="T2" fmla="*/ 2 w 2"/>
                  <a:gd name="T3" fmla="*/ 0 h 2"/>
                  <a:gd name="T4" fmla="*/ 2 w 2"/>
                  <a:gd name="T5" fmla="*/ 1 h 2"/>
                </a:gdLst>
                <a:ahLst/>
                <a:cxnLst>
                  <a:cxn ang="0">
                    <a:pos x="T0" y="T1"/>
                  </a:cxn>
                  <a:cxn ang="0">
                    <a:pos x="T2" y="T3"/>
                  </a:cxn>
                  <a:cxn ang="0">
                    <a:pos x="T4" y="T5"/>
                  </a:cxn>
                </a:cxnLst>
                <a:rect l="0" t="0" r="r" b="b"/>
                <a:pathLst>
                  <a:path w="2" h="2">
                    <a:moveTo>
                      <a:pt x="2" y="1"/>
                    </a:moveTo>
                    <a:cubicBezTo>
                      <a:pt x="2" y="0"/>
                      <a:pt x="2" y="0"/>
                      <a:pt x="2" y="0"/>
                    </a:cubicBezTo>
                    <a:cubicBezTo>
                      <a:pt x="0" y="0"/>
                      <a:pt x="0" y="2"/>
                      <a:pt x="2" y="1"/>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1470466">
                                            <p:txEl>
                                              <p:pRg st="0" end="0"/>
                                            </p:txEl>
                                          </p:spTgt>
                                        </p:tgtEl>
                                        <p:attrNameLst>
                                          <p:attrName>style.visibility</p:attrName>
                                        </p:attrNameLst>
                                      </p:cBhvr>
                                      <p:to>
                                        <p:strVal val="visible"/>
                                      </p:to>
                                    </p:set>
                                    <p:animEffect transition="in" filter="dissolve">
                                      <p:cBhvr>
                                        <p:cTn id="7" dur="75"/>
                                        <p:tgtEl>
                                          <p:spTgt spid="1470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lt">
                                    <p:tmPct val="100000"/>
                                  </p:iterate>
                                  <p:childTnLst>
                                    <p:set>
                                      <p:cBhvr>
                                        <p:cTn id="11" dur="1" fill="hold">
                                          <p:stCondLst>
                                            <p:cond delay="0"/>
                                          </p:stCondLst>
                                        </p:cTn>
                                        <p:tgtEl>
                                          <p:spTgt spid="1470466">
                                            <p:txEl>
                                              <p:pRg st="1" end="1"/>
                                            </p:txEl>
                                          </p:spTgt>
                                        </p:tgtEl>
                                        <p:attrNameLst>
                                          <p:attrName>style.visibility</p:attrName>
                                        </p:attrNameLst>
                                      </p:cBhvr>
                                      <p:to>
                                        <p:strVal val="visible"/>
                                      </p:to>
                                    </p:set>
                                    <p:animEffect transition="in" filter="dissolve">
                                      <p:cBhvr>
                                        <p:cTn id="12" dur="75"/>
                                        <p:tgtEl>
                                          <p:spTgt spid="14704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70467"/>
                                        </p:tgtEl>
                                        <p:attrNameLst>
                                          <p:attrName>style.visibility</p:attrName>
                                        </p:attrNameLst>
                                      </p:cBhvr>
                                      <p:to>
                                        <p:strVal val="visible"/>
                                      </p:to>
                                    </p:set>
                                    <p:animEffect transition="in" filter="checkerboard(across)">
                                      <p:cBhvr>
                                        <p:cTn id="17" dur="500"/>
                                        <p:tgtEl>
                                          <p:spTgt spid="147046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470468"/>
                                        </p:tgtEl>
                                        <p:attrNameLst>
                                          <p:attrName>style.visibility</p:attrName>
                                        </p:attrNameLst>
                                      </p:cBhvr>
                                      <p:to>
                                        <p:strVal val="visible"/>
                                      </p:to>
                                    </p:set>
                                    <p:animEffect transition="in" filter="dissolve">
                                      <p:cBhvr>
                                        <p:cTn id="21" dur="500"/>
                                        <p:tgtEl>
                                          <p:spTgt spid="1470468"/>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circle(in)">
                                      <p:cBhvr>
                                        <p:cTn id="2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0466" grpId="0" build="p"/>
      <p:bldP spid="147149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50000">
              <a:srgbClr val="66FF99"/>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6B269C0-AC8C-4907-8AA7-182CF406FF55}"/>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2515" name="文本框 1472514"/>
          <p:cNvSpPr txBox="1"/>
          <p:nvPr/>
        </p:nvSpPr>
        <p:spPr>
          <a:xfrm>
            <a:off x="0" y="5220734"/>
            <a:ext cx="7981950" cy="1631216"/>
          </a:xfrm>
          <a:prstGeom prst="rect">
            <a:avLst/>
          </a:prstGeom>
          <a:noFill/>
          <a:ln w="25400" cap="rnd" cmpd="sng">
            <a:solidFill>
              <a:srgbClr val="993300"/>
            </a:solidFill>
            <a:prstDash val="sysDot"/>
            <a:miter/>
            <a:headEnd type="none" w="med" len="med"/>
            <a:tailEnd type="none" w="med" len="med"/>
          </a:ln>
        </p:spPr>
        <p:txBody>
          <a:bodyPr wrap="square">
            <a:spAutoFit/>
          </a:bodyPr>
          <a:lstStyle/>
          <a:p>
            <a:pPr>
              <a:spcBef>
                <a:spcPct val="0"/>
              </a:spcBef>
            </a:pPr>
            <a:r>
              <a:rPr lang="zh-CN" altLang="en-US" sz="2400" dirty="0">
                <a:solidFill>
                  <a:schemeClr val="tx1"/>
                </a:solidFill>
                <a:latin typeface="楷体_GB2312" pitchFamily="49" charset="-122"/>
                <a:ea typeface="楷体_GB2312" pitchFamily="49" charset="-122"/>
              </a:rPr>
              <a:t>表中：</a:t>
            </a:r>
            <a:r>
              <a:rPr lang="en-US" altLang="zh-CN" sz="2400" dirty="0">
                <a:solidFill>
                  <a:schemeClr val="tx1"/>
                </a:solidFill>
                <a:latin typeface="楷体_GB2312" pitchFamily="49" charset="-122"/>
                <a:ea typeface="楷体_GB2312" pitchFamily="49" charset="-122"/>
              </a:rPr>
              <a:t>1</a:t>
            </a:r>
            <a:r>
              <a:rPr lang="zh-CN" altLang="en-US" sz="2400" dirty="0">
                <a:solidFill>
                  <a:schemeClr val="tx1"/>
                </a:solidFill>
                <a:latin typeface="楷体_GB2312" pitchFamily="49" charset="-122"/>
                <a:ea typeface="楷体_GB2312" pitchFamily="49" charset="-122"/>
              </a:rPr>
              <a:t>）最左一列元素按</a:t>
            </a:r>
            <a:r>
              <a:rPr lang="en-US" altLang="zh-CN" sz="2800" i="1" dirty="0">
                <a:solidFill>
                  <a:schemeClr val="tx1"/>
                </a:solidFill>
                <a:latin typeface="Times New Roman" panose="02020603050405020304" pitchFamily="18" charset="0"/>
              </a:rPr>
              <a:t>s </a:t>
            </a:r>
            <a:r>
              <a:rPr lang="zh-CN" altLang="en-US" sz="2400" dirty="0">
                <a:solidFill>
                  <a:schemeClr val="tx1"/>
                </a:solidFill>
                <a:latin typeface="楷体_GB2312" pitchFamily="49" charset="-122"/>
                <a:ea typeface="楷体_GB2312" pitchFamily="49" charset="-122"/>
              </a:rPr>
              <a:t>的幂次排列，由高到低，只起标识作 用，不参与计算。</a:t>
            </a:r>
          </a:p>
          <a:p>
            <a:pPr>
              <a:spcBef>
                <a:spcPct val="0"/>
              </a:spcBef>
            </a:pPr>
            <a:r>
              <a:rPr lang="zh-CN" altLang="en-US" sz="2400" dirty="0">
                <a:solidFill>
                  <a:schemeClr val="tx1"/>
                </a:solidFill>
                <a:latin typeface="楷体_GB2312" pitchFamily="49" charset="-122"/>
                <a:ea typeface="楷体_GB2312" pitchFamily="49" charset="-122"/>
              </a:rPr>
              <a:t>      </a:t>
            </a:r>
            <a:r>
              <a:rPr lang="en-US" altLang="zh-CN" sz="2400" dirty="0">
                <a:solidFill>
                  <a:schemeClr val="tx1"/>
                </a:solidFill>
                <a:latin typeface="楷体_GB2312" pitchFamily="49" charset="-122"/>
                <a:ea typeface="楷体_GB2312" pitchFamily="49" charset="-122"/>
              </a:rPr>
              <a:t>2</a:t>
            </a:r>
            <a:r>
              <a:rPr lang="zh-CN" altLang="en-US" sz="2400" dirty="0">
                <a:solidFill>
                  <a:schemeClr val="tx1"/>
                </a:solidFill>
                <a:latin typeface="楷体_GB2312" pitchFamily="49" charset="-122"/>
                <a:ea typeface="楷体_GB2312" pitchFamily="49" charset="-122"/>
              </a:rPr>
              <a:t>）第一，二行元素，直接用特征方程式的元素填入。</a:t>
            </a:r>
          </a:p>
          <a:p>
            <a:pPr>
              <a:spcBef>
                <a:spcPct val="0"/>
              </a:spcBef>
            </a:pPr>
            <a:r>
              <a:rPr lang="zh-CN" altLang="en-US" sz="2400" dirty="0">
                <a:solidFill>
                  <a:schemeClr val="tx1"/>
                </a:solidFill>
                <a:latin typeface="楷体_GB2312" pitchFamily="49" charset="-122"/>
                <a:ea typeface="楷体_GB2312" pitchFamily="49" charset="-122"/>
              </a:rPr>
              <a:t>      </a:t>
            </a:r>
            <a:r>
              <a:rPr lang="en-US" altLang="zh-CN" sz="2400" dirty="0">
                <a:solidFill>
                  <a:schemeClr val="tx1"/>
                </a:solidFill>
                <a:latin typeface="楷体_GB2312" pitchFamily="49" charset="-122"/>
                <a:ea typeface="楷体_GB2312" pitchFamily="49" charset="-122"/>
              </a:rPr>
              <a:t>3</a:t>
            </a:r>
            <a:r>
              <a:rPr lang="zh-CN" altLang="en-US" sz="2400" dirty="0">
                <a:solidFill>
                  <a:schemeClr val="tx1"/>
                </a:solidFill>
                <a:latin typeface="楷体_GB2312" pitchFamily="49" charset="-122"/>
                <a:ea typeface="楷体_GB2312" pitchFamily="49" charset="-122"/>
              </a:rPr>
              <a:t>）从第三行起各元素，是根据前二行的元素计算得到。</a:t>
            </a:r>
          </a:p>
        </p:txBody>
      </p:sp>
      <p:sp>
        <p:nvSpPr>
          <p:cNvPr id="1472516" name="直接连接符 1472515"/>
          <p:cNvSpPr/>
          <p:nvPr/>
        </p:nvSpPr>
        <p:spPr>
          <a:xfrm flipH="1">
            <a:off x="2538413" y="1701800"/>
            <a:ext cx="1587" cy="3311525"/>
          </a:xfrm>
          <a:prstGeom prst="line">
            <a:avLst/>
          </a:prstGeom>
          <a:ln w="38100" cap="sq" cmpd="sng">
            <a:solidFill>
              <a:schemeClr val="tx1"/>
            </a:solidFill>
            <a:prstDash val="solid"/>
            <a:headEnd type="none" w="med" len="med"/>
            <a:tailEnd type="none" w="med" len="med"/>
          </a:ln>
        </p:spPr>
      </p:sp>
      <p:sp>
        <p:nvSpPr>
          <p:cNvPr id="1472517" name="文本框 1472516"/>
          <p:cNvSpPr txBox="1"/>
          <p:nvPr/>
        </p:nvSpPr>
        <p:spPr>
          <a:xfrm>
            <a:off x="2682875" y="1562100"/>
            <a:ext cx="3779838" cy="3254375"/>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0  </a:t>
            </a:r>
            <a:r>
              <a:rPr kumimoji="0" lang="en-US" altLang="zh-CN" sz="2800" b="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2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4     </a:t>
            </a: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a:t>
            </a:r>
          </a:p>
          <a:p>
            <a:pPr marR="0" defTabSz="914400">
              <a:lnSpc>
                <a:spcPct val="120000"/>
              </a:lnSpc>
              <a:spcBef>
                <a:spcPct val="0"/>
              </a:spcBef>
              <a:buClrTx/>
              <a:buSzTx/>
              <a:buFontTx/>
              <a:buNone/>
              <a:defRPr/>
            </a:pP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1 </a:t>
            </a:r>
            <a:r>
              <a:rPr kumimoji="0" lang="en-US" altLang="zh-CN" sz="2800" b="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3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5     </a:t>
            </a: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a:t>
            </a:r>
          </a:p>
          <a:p>
            <a:pPr marR="0" defTabSz="914400">
              <a:lnSpc>
                <a:spcPct val="130000"/>
              </a:lnSpc>
              <a:spcBef>
                <a:spcPct val="0"/>
              </a:spcBef>
              <a:buClrTx/>
              <a:buSzTx/>
              <a:buFontTx/>
              <a:buNone/>
              <a:defRPr/>
            </a:pP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b</a:t>
            </a:r>
            <a:r>
              <a:rPr kumimoji="0" lang="en-US" altLang="zh-CN" sz="280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1</a:t>
            </a:r>
            <a:r>
              <a:rPr kumimoji="0" lang="en-US" altLang="zh-CN" sz="2800" b="0" kern="1200" cap="none" spc="0" normalizeH="0" baseline="-30000" noProof="1">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b</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2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b</a:t>
            </a:r>
            <a:r>
              <a:rPr kumimoji="0" lang="en-US" altLang="zh-CN" sz="2800" kern="1200" cap="none" spc="0" normalizeH="0" baseline="-30000" noProof="1">
                <a:solidFill>
                  <a:schemeClr val="tx1"/>
                </a:solidFill>
                <a:latin typeface="Times New Roman" panose="02020603050405020304" pitchFamily="18" charset="0"/>
                <a:ea typeface="宋体" panose="02010600030101010101" pitchFamily="2" charset="-122"/>
                <a:cs typeface="+mn-cs"/>
              </a:rPr>
              <a:t>3     </a:t>
            </a: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a:t>
            </a:r>
          </a:p>
          <a:p>
            <a:pPr marR="0" defTabSz="914400">
              <a:lnSpc>
                <a:spcPct val="130000"/>
              </a:lnSpc>
              <a:spcBef>
                <a:spcPct val="0"/>
              </a:spcBef>
              <a:buClrTx/>
              <a:buSzTx/>
              <a:buFontTx/>
              <a:buNone/>
              <a:defRPr/>
            </a:pP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a:t>
            </a:r>
          </a:p>
          <a:p>
            <a:pPr marR="0" defTabSz="914400">
              <a:lnSpc>
                <a:spcPct val="120000"/>
              </a:lnSpc>
              <a:spcBef>
                <a:spcPct val="0"/>
              </a:spcBef>
              <a:buClrTx/>
              <a:buSzTx/>
              <a:buFontTx/>
              <a:buNone/>
              <a:defRPr/>
            </a:pP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a:t>
            </a:r>
            <a:endPar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endParaRPr>
          </a:p>
          <a:p>
            <a:pPr marR="0" defTabSz="914400">
              <a:lnSpc>
                <a:spcPct val="120000"/>
              </a:lnSpc>
              <a:spcBef>
                <a:spcPct val="0"/>
              </a:spcBef>
              <a:buClrTx/>
              <a:buSzTx/>
              <a:buFontTx/>
              <a:buNone/>
              <a:defRPr/>
            </a:pP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a</a:t>
            </a:r>
            <a:r>
              <a:rPr kumimoji="0" lang="en-US" altLang="zh-CN" sz="2800" i="1" kern="1200" cap="none" spc="0" normalizeH="0" baseline="-30000" noProof="1">
                <a:solidFill>
                  <a:schemeClr val="tx1"/>
                </a:solidFill>
                <a:latin typeface="Times New Roman" panose="02020603050405020304" pitchFamily="18" charset="0"/>
                <a:ea typeface="宋体" panose="02010600030101010101" pitchFamily="2" charset="-122"/>
                <a:cs typeface="+mn-cs"/>
              </a:rPr>
              <a:t>n</a:t>
            </a:r>
            <a:endPar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endParaRPr>
          </a:p>
        </p:txBody>
      </p:sp>
      <p:sp>
        <p:nvSpPr>
          <p:cNvPr id="1472518" name="文本框 1472517"/>
          <p:cNvSpPr txBox="1"/>
          <p:nvPr/>
        </p:nvSpPr>
        <p:spPr>
          <a:xfrm>
            <a:off x="1563688" y="1582738"/>
            <a:ext cx="1016000" cy="3254375"/>
          </a:xfrm>
          <a:prstGeom prst="rect">
            <a:avLst/>
          </a:prstGeom>
          <a:noFill/>
          <a:ln w="9525">
            <a:noFill/>
          </a:ln>
        </p:spPr>
        <p:txBody>
          <a:bodyPr>
            <a:spAutoFit/>
          </a:bodyPr>
          <a:lstStyle/>
          <a:p>
            <a:pPr algn="ctr">
              <a:lnSpc>
                <a:spcPct val="120000"/>
              </a:lnSpc>
              <a:spcBef>
                <a:spcPct val="0"/>
              </a:spcBef>
            </a:pPr>
            <a:r>
              <a:rPr lang="en-US" altLang="zh-CN" sz="2800" i="1" dirty="0">
                <a:solidFill>
                  <a:schemeClr val="tx1"/>
                </a:solidFill>
                <a:latin typeface="Times New Roman" panose="02020603050405020304" pitchFamily="18" charset="0"/>
              </a:rPr>
              <a:t>s</a:t>
            </a:r>
            <a:r>
              <a:rPr lang="en-US" altLang="zh-CN" sz="2800" i="1" baseline="30000" dirty="0">
                <a:solidFill>
                  <a:schemeClr val="tx1"/>
                </a:solidFill>
                <a:latin typeface="Times New Roman" panose="02020603050405020304" pitchFamily="18" charset="0"/>
              </a:rPr>
              <a:t>n</a:t>
            </a:r>
          </a:p>
          <a:p>
            <a:pPr algn="ctr">
              <a:lnSpc>
                <a:spcPct val="120000"/>
              </a:lnSpc>
              <a:spcBef>
                <a:spcPct val="0"/>
              </a:spcBef>
            </a:pPr>
            <a:r>
              <a:rPr lang="en-US" altLang="zh-CN" sz="2800" i="1" dirty="0">
                <a:solidFill>
                  <a:schemeClr val="tx1"/>
                </a:solidFill>
                <a:latin typeface="Times New Roman" panose="02020603050405020304" pitchFamily="18" charset="0"/>
              </a:rPr>
              <a:t>s</a:t>
            </a:r>
            <a:r>
              <a:rPr lang="en-US" altLang="zh-CN" sz="2800" i="1" baseline="30000" dirty="0">
                <a:solidFill>
                  <a:schemeClr val="tx1"/>
                </a:solidFill>
                <a:latin typeface="Times New Roman" panose="02020603050405020304" pitchFamily="18" charset="0"/>
              </a:rPr>
              <a:t>n</a:t>
            </a:r>
            <a:r>
              <a:rPr lang="en-US" altLang="zh-CN" sz="2800" baseline="30000" dirty="0">
                <a:solidFill>
                  <a:schemeClr val="tx1"/>
                </a:solidFill>
                <a:latin typeface="Times New Roman" panose="02020603050405020304" pitchFamily="18" charset="0"/>
              </a:rPr>
              <a:t>−1</a:t>
            </a:r>
            <a:r>
              <a:rPr lang="en-US" altLang="zh-CN" sz="2800" dirty="0">
                <a:solidFill>
                  <a:schemeClr val="tx1"/>
                </a:solidFill>
                <a:latin typeface="Times New Roman" panose="02020603050405020304" pitchFamily="18" charset="0"/>
              </a:rPr>
              <a:t> </a:t>
            </a:r>
            <a:br>
              <a:rPr lang="en-US" altLang="zh-CN" sz="2800" dirty="0">
                <a:solidFill>
                  <a:schemeClr val="tx1"/>
                </a:solidFill>
                <a:latin typeface="Times New Roman" panose="02020603050405020304" pitchFamily="18" charset="0"/>
              </a:rPr>
            </a:b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i="1" baseline="30000" dirty="0">
                <a:solidFill>
                  <a:schemeClr val="tx1"/>
                </a:solidFill>
                <a:latin typeface="Times New Roman" panose="02020603050405020304" pitchFamily="18" charset="0"/>
              </a:rPr>
              <a:t>n</a:t>
            </a:r>
            <a:r>
              <a:rPr lang="en-US" altLang="zh-CN" sz="2800" baseline="30000" dirty="0">
                <a:solidFill>
                  <a:schemeClr val="tx1"/>
                </a:solidFill>
                <a:latin typeface="Times New Roman" panose="02020603050405020304" pitchFamily="18" charset="0"/>
              </a:rPr>
              <a:t>−2</a:t>
            </a:r>
            <a:r>
              <a:rPr lang="en-US" altLang="zh-CN" sz="2800" dirty="0">
                <a:solidFill>
                  <a:schemeClr val="tx1"/>
                </a:solidFill>
                <a:latin typeface="Times New Roman" panose="02020603050405020304" pitchFamily="18" charset="0"/>
              </a:rPr>
              <a:t> </a:t>
            </a:r>
          </a:p>
          <a:p>
            <a:pPr algn="ctr">
              <a:lnSpc>
                <a:spcPct val="120000"/>
              </a:lnSpc>
              <a:spcBef>
                <a:spcPct val="0"/>
              </a:spcBef>
            </a:pPr>
            <a:r>
              <a:rPr lang="en-US" altLang="zh-CN" sz="2800" b="0" dirty="0">
                <a:solidFill>
                  <a:schemeClr val="tx1"/>
                </a:solidFill>
                <a:latin typeface="Arial" panose="020B0604020202020204" pitchFamily="34" charset="0"/>
              </a:rPr>
              <a:t>┋</a:t>
            </a:r>
          </a:p>
          <a:p>
            <a:pPr algn="ctr">
              <a:lnSpc>
                <a:spcPct val="130000"/>
              </a:lnSpc>
              <a:spcBef>
                <a:spcPct val="0"/>
              </a:spcBef>
            </a:pP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r>
              <a:rPr lang="en-US" altLang="zh-CN" sz="2800" dirty="0">
                <a:solidFill>
                  <a:schemeClr val="tx1"/>
                </a:solidFill>
                <a:latin typeface="Times New Roman" panose="02020603050405020304" pitchFamily="18" charset="0"/>
              </a:rPr>
              <a:t> </a:t>
            </a:r>
            <a:br>
              <a:rPr lang="en-US" altLang="zh-CN" sz="2800" dirty="0">
                <a:solidFill>
                  <a:schemeClr val="tx1"/>
                </a:solidFill>
                <a:latin typeface="Times New Roman" panose="02020603050405020304" pitchFamily="18" charset="0"/>
              </a:rPr>
            </a:b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r>
              <a:rPr lang="en-US" altLang="zh-CN" sz="2400" b="0" dirty="0">
                <a:solidFill>
                  <a:schemeClr val="tx1"/>
                </a:solidFill>
                <a:latin typeface="Times New Roman" panose="02020603050405020304" pitchFamily="18" charset="0"/>
              </a:rPr>
              <a:t> </a:t>
            </a:r>
            <a:endParaRPr lang="en-US" altLang="zh-CN" sz="2800" i="1" baseline="-30000" dirty="0">
              <a:solidFill>
                <a:schemeClr val="tx1"/>
              </a:solidFill>
              <a:latin typeface="Times New Roman" panose="02020603050405020304" pitchFamily="18" charset="0"/>
            </a:endParaRPr>
          </a:p>
        </p:txBody>
      </p:sp>
      <p:graphicFrame>
        <p:nvGraphicFramePr>
          <p:cNvPr id="1472520" name="内容占位符 1472519"/>
          <p:cNvGraphicFramePr>
            <a:graphicFrameLocks noGrp="1"/>
          </p:cNvGraphicFramePr>
          <p:nvPr>
            <p:ph sz="half" idx="1"/>
          </p:nvPr>
        </p:nvGraphicFramePr>
        <p:xfrm>
          <a:off x="5940425" y="2997200"/>
          <a:ext cx="2016125" cy="852488"/>
        </p:xfrm>
        <a:graphic>
          <a:graphicData uri="http://schemas.openxmlformats.org/presentationml/2006/ole">
            <mc:AlternateContent xmlns:mc="http://schemas.openxmlformats.org/markup-compatibility/2006">
              <mc:Choice xmlns:v="urn:schemas-microsoft-com:vml" Requires="v">
                <p:oleObj spid="_x0000_s38934" r:id="rId3" imgW="901065" imgH="381000" progId="Equation.3">
                  <p:embed/>
                </p:oleObj>
              </mc:Choice>
              <mc:Fallback>
                <p:oleObj r:id="rId3" imgW="901065" imgH="381000" progId="Equation.3">
                  <p:embed/>
                  <p:pic>
                    <p:nvPicPr>
                      <p:cNvPr id="0" name="图片 3169"/>
                      <p:cNvPicPr/>
                      <p:nvPr/>
                    </p:nvPicPr>
                    <p:blipFill>
                      <a:blip r:embed="rId4"/>
                      <a:srcRect/>
                      <a:stretch>
                        <a:fillRect/>
                      </a:stretch>
                    </p:blipFill>
                    <p:spPr>
                      <a:xfrm>
                        <a:off x="5940425" y="2997200"/>
                        <a:ext cx="2016125" cy="852488"/>
                      </a:xfrm>
                      <a:prstGeom prst="rect">
                        <a:avLst/>
                      </a:prstGeom>
                      <a:noFill/>
                      <a:ln w="38100">
                        <a:miter/>
                      </a:ln>
                    </p:spPr>
                  </p:pic>
                </p:oleObj>
              </mc:Fallback>
            </mc:AlternateContent>
          </a:graphicData>
        </a:graphic>
      </p:graphicFrame>
      <p:graphicFrame>
        <p:nvGraphicFramePr>
          <p:cNvPr id="1472522" name="内容占位符 1472521"/>
          <p:cNvGraphicFramePr>
            <a:graphicFrameLocks noGrp="1"/>
          </p:cNvGraphicFramePr>
          <p:nvPr>
            <p:ph sz="quarter" idx="2"/>
          </p:nvPr>
        </p:nvGraphicFramePr>
        <p:xfrm>
          <a:off x="6121400" y="2684463"/>
          <a:ext cx="901700" cy="381000"/>
        </p:xfrm>
        <a:graphic>
          <a:graphicData uri="http://schemas.openxmlformats.org/presentationml/2006/ole">
            <mc:AlternateContent xmlns:mc="http://schemas.openxmlformats.org/markup-compatibility/2006">
              <mc:Choice xmlns:v="urn:schemas-microsoft-com:vml" Requires="v">
                <p:oleObj spid="_x0000_s38935" r:id="rId5" imgW="901065" imgH="381000" progId="Equation.3">
                  <p:embed/>
                </p:oleObj>
              </mc:Choice>
              <mc:Fallback>
                <p:oleObj r:id="rId5" imgW="901065" imgH="381000" progId="Equation.3">
                  <p:embed/>
                  <p:pic>
                    <p:nvPicPr>
                      <p:cNvPr id="0" name="图片 3165"/>
                      <p:cNvPicPr/>
                      <p:nvPr/>
                    </p:nvPicPr>
                    <p:blipFill>
                      <a:blip r:embed="rId6"/>
                      <a:srcRect/>
                      <a:stretch>
                        <a:fillRect/>
                      </a:stretch>
                    </p:blipFill>
                    <p:spPr>
                      <a:xfrm>
                        <a:off x="6121400" y="2684463"/>
                        <a:ext cx="901700" cy="381000"/>
                      </a:xfrm>
                      <a:prstGeom prst="rect">
                        <a:avLst/>
                      </a:prstGeom>
                      <a:noFill/>
                      <a:ln w="38100">
                        <a:miter/>
                      </a:ln>
                    </p:spPr>
                  </p:pic>
                </p:oleObj>
              </mc:Fallback>
            </mc:AlternateContent>
          </a:graphicData>
        </a:graphic>
      </p:graphicFrame>
      <p:graphicFrame>
        <p:nvGraphicFramePr>
          <p:cNvPr id="1472528" name="内容占位符 1472527"/>
          <p:cNvGraphicFramePr>
            <a:graphicFrameLocks noGrp="1"/>
          </p:cNvGraphicFramePr>
          <p:nvPr>
            <p:ph sz="quarter" idx="3"/>
          </p:nvPr>
        </p:nvGraphicFramePr>
        <p:xfrm>
          <a:off x="688975" y="765175"/>
          <a:ext cx="7981950" cy="642938"/>
        </p:xfrm>
        <a:graphic>
          <a:graphicData uri="http://schemas.openxmlformats.org/presentationml/2006/ole">
            <mc:AlternateContent xmlns:mc="http://schemas.openxmlformats.org/markup-compatibility/2006">
              <mc:Choice xmlns:v="urn:schemas-microsoft-com:vml" Requires="v">
                <p:oleObj spid="_x0000_s38936" r:id="rId7" imgW="2995930" imgH="241300" progId="Equation.3">
                  <p:embed/>
                </p:oleObj>
              </mc:Choice>
              <mc:Fallback>
                <p:oleObj r:id="rId7" imgW="2995930" imgH="241300" progId="Equation.3">
                  <p:embed/>
                  <p:pic>
                    <p:nvPicPr>
                      <p:cNvPr id="0" name="图片 3167"/>
                      <p:cNvPicPr/>
                      <p:nvPr/>
                    </p:nvPicPr>
                    <p:blipFill>
                      <a:blip r:embed="rId8"/>
                      <a:srcRect/>
                      <a:stretch>
                        <a:fillRect/>
                      </a:stretch>
                    </p:blipFill>
                    <p:spPr>
                      <a:xfrm>
                        <a:off x="688975" y="765175"/>
                        <a:ext cx="7981950" cy="642938"/>
                      </a:xfrm>
                      <a:prstGeom prst="rect">
                        <a:avLst/>
                      </a:prstGeom>
                      <a:noFill/>
                      <a:ln w="38100">
                        <a:miter/>
                      </a:ln>
                    </p:spPr>
                  </p:pic>
                </p:oleObj>
              </mc:Fallback>
            </mc:AlternateContent>
          </a:graphicData>
        </a:graphic>
      </p:graphicFrame>
      <p:sp>
        <p:nvSpPr>
          <p:cNvPr id="1472525" name="直接连接符 1472524"/>
          <p:cNvSpPr/>
          <p:nvPr/>
        </p:nvSpPr>
        <p:spPr>
          <a:xfrm flipV="1">
            <a:off x="2987675" y="2024063"/>
            <a:ext cx="576263" cy="360362"/>
          </a:xfrm>
          <a:prstGeom prst="line">
            <a:avLst/>
          </a:prstGeom>
          <a:ln w="28575" cap="flat" cmpd="sng">
            <a:solidFill>
              <a:schemeClr val="tx1"/>
            </a:solidFill>
            <a:prstDash val="solid"/>
            <a:headEnd type="none" w="med" len="med"/>
            <a:tailEnd type="none" w="med" len="med"/>
          </a:ln>
        </p:spPr>
      </p:sp>
      <p:sp>
        <p:nvSpPr>
          <p:cNvPr id="1472526" name="直接连接符 1472525"/>
          <p:cNvSpPr/>
          <p:nvPr/>
        </p:nvSpPr>
        <p:spPr>
          <a:xfrm>
            <a:off x="3132138" y="2024063"/>
            <a:ext cx="431800" cy="360362"/>
          </a:xfrm>
          <a:prstGeom prst="line">
            <a:avLst/>
          </a:prstGeom>
          <a:ln w="28575" cap="flat" cmpd="sng">
            <a:solidFill>
              <a:schemeClr val="tx1"/>
            </a:solidFill>
            <a:prstDash val="solid"/>
            <a:headEnd type="none" w="med" len="med"/>
            <a:tailEnd type="none" w="med" len="med"/>
          </a:ln>
        </p:spPr>
      </p:sp>
      <p:sp>
        <p:nvSpPr>
          <p:cNvPr id="1472527" name="文本框 1472526"/>
          <p:cNvSpPr txBox="1"/>
          <p:nvPr/>
        </p:nvSpPr>
        <p:spPr>
          <a:xfrm>
            <a:off x="1062037" y="3969"/>
            <a:ext cx="3851275" cy="701675"/>
          </a:xfrm>
          <a:prstGeom prst="rect">
            <a:avLst/>
          </a:prstGeom>
          <a:noFill/>
          <a:ln w="9525">
            <a:noFill/>
          </a:ln>
        </p:spPr>
        <p:txBody>
          <a:bodyPr>
            <a:spAutoFit/>
          </a:bodyPr>
          <a:lstStyle/>
          <a:p>
            <a:pPr marL="342900" marR="0" indent="-342900" defTabSz="914400">
              <a:buClrTx/>
              <a:buSzTx/>
              <a:buFont typeface="Wingdings" panose="05000000000000000000" pitchFamily="2" charset="2"/>
              <a:buNone/>
              <a:defRPr/>
            </a:pPr>
            <a:r>
              <a:rPr kumimoji="0" lang="zh-CN" altLang="en-US"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劳斯表的构造：</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72528"/>
                                        </p:tgtEl>
                                        <p:attrNameLst>
                                          <p:attrName>style.visibility</p:attrName>
                                        </p:attrNameLst>
                                      </p:cBhvr>
                                      <p:to>
                                        <p:strVal val="visible"/>
                                      </p:to>
                                    </p:set>
                                    <p:animEffect transition="in" filter="checkerboard(across)">
                                      <p:cBhvr>
                                        <p:cTn id="7" dur="500"/>
                                        <p:tgtEl>
                                          <p:spTgt spid="147252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2518"/>
                                        </p:tgtEl>
                                        <p:attrNameLst>
                                          <p:attrName>style.visibility</p:attrName>
                                        </p:attrNameLst>
                                      </p:cBhvr>
                                      <p:to>
                                        <p:strVal val="visible"/>
                                      </p:to>
                                    </p:set>
                                    <p:animEffect transition="in" filter="dissolve">
                                      <p:cBhvr>
                                        <p:cTn id="12" dur="500"/>
                                        <p:tgtEl>
                                          <p:spTgt spid="1472518"/>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472516"/>
                                        </p:tgtEl>
                                        <p:attrNameLst>
                                          <p:attrName>style.visibility</p:attrName>
                                        </p:attrNameLst>
                                      </p:cBhvr>
                                      <p:to>
                                        <p:strVal val="visible"/>
                                      </p:to>
                                    </p:set>
                                    <p:animEffect transition="in" filter="dissolve">
                                      <p:cBhvr>
                                        <p:cTn id="16" dur="2000"/>
                                        <p:tgtEl>
                                          <p:spTgt spid="147251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1472515">
                                            <p:bg/>
                                          </p:spTgt>
                                        </p:tgtEl>
                                        <p:attrNameLst>
                                          <p:attrName>style.visibility</p:attrName>
                                        </p:attrNameLst>
                                      </p:cBhvr>
                                      <p:to>
                                        <p:strVal val="visible"/>
                                      </p:to>
                                    </p:set>
                                    <p:animEffect transition="in" filter="slide(fromRight)">
                                      <p:cBhvr>
                                        <p:cTn id="21" dur="500"/>
                                        <p:tgtEl>
                                          <p:spTgt spid="1472515">
                                            <p:bg/>
                                          </p:spTgt>
                                        </p:tgtEl>
                                      </p:cBhvr>
                                    </p:animEffect>
                                  </p:childTnLst>
                                </p:cTn>
                              </p:par>
                            </p:childTnLst>
                          </p:cTn>
                        </p:par>
                        <p:par>
                          <p:cTn id="22" fill="hold">
                            <p:stCondLst>
                              <p:cond delay="500"/>
                            </p:stCondLst>
                            <p:childTnLst>
                              <p:par>
                                <p:cTn id="23" presetID="12" presetClass="entr" presetSubtype="2" fill="hold" grpId="0" nodeType="afterEffect">
                                  <p:stCondLst>
                                    <p:cond delay="0"/>
                                  </p:stCondLst>
                                  <p:childTnLst>
                                    <p:set>
                                      <p:cBhvr>
                                        <p:cTn id="24" dur="1" fill="hold">
                                          <p:stCondLst>
                                            <p:cond delay="0"/>
                                          </p:stCondLst>
                                        </p:cTn>
                                        <p:tgtEl>
                                          <p:spTgt spid="1472515">
                                            <p:txEl>
                                              <p:pRg st="0" end="0"/>
                                            </p:txEl>
                                          </p:spTgt>
                                        </p:tgtEl>
                                        <p:attrNameLst>
                                          <p:attrName>style.visibility</p:attrName>
                                        </p:attrNameLst>
                                      </p:cBhvr>
                                      <p:to>
                                        <p:strVal val="visible"/>
                                      </p:to>
                                    </p:set>
                                    <p:animEffect transition="in" filter="slide(fromRight)">
                                      <p:cBhvr>
                                        <p:cTn id="25" dur="500"/>
                                        <p:tgtEl>
                                          <p:spTgt spid="147251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iterate type="wd">
                                    <p:tmPct val="100000"/>
                                  </p:iterate>
                                  <p:childTnLst>
                                    <p:set>
                                      <p:cBhvr>
                                        <p:cTn id="29" dur="1" fill="hold">
                                          <p:stCondLst>
                                            <p:cond delay="0"/>
                                          </p:stCondLst>
                                        </p:cTn>
                                        <p:tgtEl>
                                          <p:spTgt spid="1472517">
                                            <p:txEl>
                                              <p:pRg st="0" end="0"/>
                                            </p:txEl>
                                          </p:spTgt>
                                        </p:tgtEl>
                                        <p:attrNameLst>
                                          <p:attrName>style.visibility</p:attrName>
                                        </p:attrNameLst>
                                      </p:cBhvr>
                                      <p:to>
                                        <p:strVal val="visible"/>
                                      </p:to>
                                    </p:set>
                                    <p:animEffect transition="in" filter="dissolve">
                                      <p:cBhvr>
                                        <p:cTn id="30" dur="300"/>
                                        <p:tgtEl>
                                          <p:spTgt spid="147251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iterate type="wd">
                                    <p:tmPct val="100000"/>
                                  </p:iterate>
                                  <p:childTnLst>
                                    <p:set>
                                      <p:cBhvr>
                                        <p:cTn id="34" dur="1" fill="hold">
                                          <p:stCondLst>
                                            <p:cond delay="0"/>
                                          </p:stCondLst>
                                        </p:cTn>
                                        <p:tgtEl>
                                          <p:spTgt spid="1472517">
                                            <p:txEl>
                                              <p:pRg st="1" end="1"/>
                                            </p:txEl>
                                          </p:spTgt>
                                        </p:tgtEl>
                                        <p:attrNameLst>
                                          <p:attrName>style.visibility</p:attrName>
                                        </p:attrNameLst>
                                      </p:cBhvr>
                                      <p:to>
                                        <p:strVal val="visible"/>
                                      </p:to>
                                    </p:set>
                                    <p:animEffect transition="in" filter="dissolve">
                                      <p:cBhvr>
                                        <p:cTn id="35" dur="300"/>
                                        <p:tgtEl>
                                          <p:spTgt spid="147251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1472515">
                                            <p:txEl>
                                              <p:pRg st="1" end="1"/>
                                            </p:txEl>
                                          </p:spTgt>
                                        </p:tgtEl>
                                        <p:attrNameLst>
                                          <p:attrName>style.visibility</p:attrName>
                                        </p:attrNameLst>
                                      </p:cBhvr>
                                      <p:to>
                                        <p:strVal val="visible"/>
                                      </p:to>
                                    </p:set>
                                    <p:animEffect transition="in" filter="slide(fromRight)">
                                      <p:cBhvr>
                                        <p:cTn id="40" dur="500"/>
                                        <p:tgtEl>
                                          <p:spTgt spid="1472515">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1472515">
                                            <p:txEl>
                                              <p:pRg st="2" end="2"/>
                                            </p:txEl>
                                          </p:spTgt>
                                        </p:tgtEl>
                                        <p:attrNameLst>
                                          <p:attrName>style.visibility</p:attrName>
                                        </p:attrNameLst>
                                      </p:cBhvr>
                                      <p:to>
                                        <p:strVal val="visible"/>
                                      </p:to>
                                    </p:set>
                                    <p:animEffect transition="in" filter="slide(fromRight)">
                                      <p:cBhvr>
                                        <p:cTn id="45" dur="500"/>
                                        <p:tgtEl>
                                          <p:spTgt spid="1472515">
                                            <p:txEl>
                                              <p:pRg st="2" end="2"/>
                                            </p:txEl>
                                          </p:spTgt>
                                        </p:tgtEl>
                                      </p:cBhvr>
                                    </p:animEffect>
                                  </p:childTnLst>
                                </p:cTn>
                              </p:par>
                            </p:childTnLst>
                          </p:cTn>
                        </p:par>
                        <p:par>
                          <p:cTn id="46" fill="hold">
                            <p:stCondLst>
                              <p:cond delay="500"/>
                            </p:stCondLst>
                            <p:childTnLst>
                              <p:par>
                                <p:cTn id="47" presetID="23" presetClass="entr" presetSubtype="16" fill="hold" nodeType="afterEffect">
                                  <p:stCondLst>
                                    <p:cond delay="0"/>
                                  </p:stCondLst>
                                  <p:childTnLst>
                                    <p:set>
                                      <p:cBhvr>
                                        <p:cTn id="48" dur="1" fill="hold">
                                          <p:stCondLst>
                                            <p:cond delay="0"/>
                                          </p:stCondLst>
                                        </p:cTn>
                                        <p:tgtEl>
                                          <p:spTgt spid="1472525"/>
                                        </p:tgtEl>
                                        <p:attrNameLst>
                                          <p:attrName>style.visibility</p:attrName>
                                        </p:attrNameLst>
                                      </p:cBhvr>
                                      <p:to>
                                        <p:strVal val="visible"/>
                                      </p:to>
                                    </p:set>
                                    <p:anim calcmode="lin" valueType="num">
                                      <p:cBhvr>
                                        <p:cTn id="49" dur="500" fill="hold"/>
                                        <p:tgtEl>
                                          <p:spTgt spid="1472525"/>
                                        </p:tgtEl>
                                        <p:attrNameLst>
                                          <p:attrName>ppt_w</p:attrName>
                                        </p:attrNameLst>
                                      </p:cBhvr>
                                      <p:tavLst>
                                        <p:tav tm="0">
                                          <p:val>
                                            <p:fltVal val="0"/>
                                          </p:val>
                                        </p:tav>
                                        <p:tav tm="100000">
                                          <p:val>
                                            <p:strVal val="#ppt_w"/>
                                          </p:val>
                                        </p:tav>
                                      </p:tavLst>
                                    </p:anim>
                                    <p:anim calcmode="lin" valueType="num">
                                      <p:cBhvr>
                                        <p:cTn id="50" dur="500" fill="hold"/>
                                        <p:tgtEl>
                                          <p:spTgt spid="1472525"/>
                                        </p:tgtEl>
                                        <p:attrNameLst>
                                          <p:attrName>ppt_h</p:attrName>
                                        </p:attrNameLst>
                                      </p:cBhvr>
                                      <p:tavLst>
                                        <p:tav tm="0">
                                          <p:val>
                                            <p:fltVal val="0"/>
                                          </p:val>
                                        </p:tav>
                                        <p:tav tm="100000">
                                          <p:val>
                                            <p:strVal val="#ppt_h"/>
                                          </p:val>
                                        </p:tav>
                                      </p:tavLst>
                                    </p:anim>
                                  </p:childTnLst>
                                </p:cTn>
                              </p:par>
                            </p:childTnLst>
                          </p:cTn>
                        </p:par>
                        <p:par>
                          <p:cTn id="51" fill="hold">
                            <p:stCondLst>
                              <p:cond delay="1000"/>
                            </p:stCondLst>
                            <p:childTnLst>
                              <p:par>
                                <p:cTn id="52" presetID="23" presetClass="entr" presetSubtype="16" fill="hold" nodeType="afterEffect">
                                  <p:stCondLst>
                                    <p:cond delay="0"/>
                                  </p:stCondLst>
                                  <p:childTnLst>
                                    <p:set>
                                      <p:cBhvr>
                                        <p:cTn id="53" dur="1" fill="hold">
                                          <p:stCondLst>
                                            <p:cond delay="0"/>
                                          </p:stCondLst>
                                        </p:cTn>
                                        <p:tgtEl>
                                          <p:spTgt spid="1472526"/>
                                        </p:tgtEl>
                                        <p:attrNameLst>
                                          <p:attrName>style.visibility</p:attrName>
                                        </p:attrNameLst>
                                      </p:cBhvr>
                                      <p:to>
                                        <p:strVal val="visible"/>
                                      </p:to>
                                    </p:set>
                                    <p:anim calcmode="lin" valueType="num">
                                      <p:cBhvr>
                                        <p:cTn id="54" dur="500" fill="hold"/>
                                        <p:tgtEl>
                                          <p:spTgt spid="1472526"/>
                                        </p:tgtEl>
                                        <p:attrNameLst>
                                          <p:attrName>ppt_w</p:attrName>
                                        </p:attrNameLst>
                                      </p:cBhvr>
                                      <p:tavLst>
                                        <p:tav tm="0">
                                          <p:val>
                                            <p:fltVal val="0"/>
                                          </p:val>
                                        </p:tav>
                                        <p:tav tm="100000">
                                          <p:val>
                                            <p:strVal val="#ppt_w"/>
                                          </p:val>
                                        </p:tav>
                                      </p:tavLst>
                                    </p:anim>
                                    <p:anim calcmode="lin" valueType="num">
                                      <p:cBhvr>
                                        <p:cTn id="55" dur="500" fill="hold"/>
                                        <p:tgtEl>
                                          <p:spTgt spid="1472526"/>
                                        </p:tgtEl>
                                        <p:attrNameLst>
                                          <p:attrName>ppt_h</p:attrName>
                                        </p:attrNameLst>
                                      </p:cBhvr>
                                      <p:tavLst>
                                        <p:tav tm="0">
                                          <p:val>
                                            <p:fltVal val="0"/>
                                          </p:val>
                                        </p:tav>
                                        <p:tav tm="100000">
                                          <p:val>
                                            <p:strVal val="#ppt_h"/>
                                          </p:val>
                                        </p:tav>
                                      </p:tavLst>
                                    </p:anim>
                                  </p:childTnLst>
                                </p:cTn>
                              </p:par>
                            </p:childTnLst>
                          </p:cTn>
                        </p:par>
                        <p:par>
                          <p:cTn id="56" fill="hold">
                            <p:stCondLst>
                              <p:cond delay="1500"/>
                            </p:stCondLst>
                            <p:childTnLst>
                              <p:par>
                                <p:cTn id="57" presetID="12" presetClass="entr" presetSubtype="2" fill="hold" nodeType="afterEffect">
                                  <p:stCondLst>
                                    <p:cond delay="0"/>
                                  </p:stCondLst>
                                  <p:childTnLst>
                                    <p:set>
                                      <p:cBhvr>
                                        <p:cTn id="58" dur="1" fill="hold">
                                          <p:stCondLst>
                                            <p:cond delay="0"/>
                                          </p:stCondLst>
                                        </p:cTn>
                                        <p:tgtEl>
                                          <p:spTgt spid="1472520"/>
                                        </p:tgtEl>
                                        <p:attrNameLst>
                                          <p:attrName>style.visibility</p:attrName>
                                        </p:attrNameLst>
                                      </p:cBhvr>
                                      <p:to>
                                        <p:strVal val="visible"/>
                                      </p:to>
                                    </p:set>
                                    <p:animEffect transition="in" filter="slide(fromRight)">
                                      <p:cBhvr>
                                        <p:cTn id="59" dur="500"/>
                                        <p:tgtEl>
                                          <p:spTgt spid="1472520"/>
                                        </p:tgtEl>
                                      </p:cBhvr>
                                    </p:animEffect>
                                  </p:childTnLst>
                                </p:cTn>
                              </p:par>
                            </p:childTnLst>
                          </p:cTn>
                        </p:par>
                        <p:par>
                          <p:cTn id="60" fill="hold">
                            <p:stCondLst>
                              <p:cond delay="2000"/>
                            </p:stCondLst>
                            <p:childTnLst>
                              <p:par>
                                <p:cTn id="61" presetID="23" presetClass="entr" presetSubtype="16" fill="hold" nodeType="afterEffect">
                                  <p:stCondLst>
                                    <p:cond delay="0"/>
                                  </p:stCondLst>
                                  <p:childTnLst>
                                    <p:set>
                                      <p:cBhvr>
                                        <p:cTn id="62" dur="1" fill="hold">
                                          <p:stCondLst>
                                            <p:cond delay="0"/>
                                          </p:stCondLst>
                                        </p:cTn>
                                        <p:tgtEl>
                                          <p:spTgt spid="1472522"/>
                                        </p:tgtEl>
                                        <p:attrNameLst>
                                          <p:attrName>style.visibility</p:attrName>
                                        </p:attrNameLst>
                                      </p:cBhvr>
                                      <p:to>
                                        <p:strVal val="visible"/>
                                      </p:to>
                                    </p:set>
                                    <p:anim calcmode="lin" valueType="num">
                                      <p:cBhvr>
                                        <p:cTn id="63" dur="500" fill="hold"/>
                                        <p:tgtEl>
                                          <p:spTgt spid="1472522"/>
                                        </p:tgtEl>
                                        <p:attrNameLst>
                                          <p:attrName>ppt_w</p:attrName>
                                        </p:attrNameLst>
                                      </p:cBhvr>
                                      <p:tavLst>
                                        <p:tav tm="0">
                                          <p:val>
                                            <p:fltVal val="0"/>
                                          </p:val>
                                        </p:tav>
                                        <p:tav tm="100000">
                                          <p:val>
                                            <p:strVal val="#ppt_w"/>
                                          </p:val>
                                        </p:tav>
                                      </p:tavLst>
                                    </p:anim>
                                    <p:anim calcmode="lin" valueType="num">
                                      <p:cBhvr>
                                        <p:cTn id="64" dur="500" fill="hold"/>
                                        <p:tgtEl>
                                          <p:spTgt spid="1472522"/>
                                        </p:tgtEl>
                                        <p:attrNameLst>
                                          <p:attrName>ppt_h</p:attrName>
                                        </p:attrNameLst>
                                      </p:cBhvr>
                                      <p:tavLst>
                                        <p:tav tm="0">
                                          <p:val>
                                            <p:fltVal val="0"/>
                                          </p:val>
                                        </p:tav>
                                        <p:tav tm="100000">
                                          <p:val>
                                            <p:strVal val="#ppt_h"/>
                                          </p:val>
                                        </p:tav>
                                      </p:tavLst>
                                    </p:anim>
                                  </p:childTnLst>
                                </p:cTn>
                              </p:par>
                            </p:childTnLst>
                          </p:cTn>
                        </p:par>
                        <p:par>
                          <p:cTn id="65" fill="hold">
                            <p:stCondLst>
                              <p:cond delay="2500"/>
                            </p:stCondLst>
                            <p:childTnLst>
                              <p:par>
                                <p:cTn id="66" presetID="23" presetClass="entr" presetSubtype="16" fill="hold" nodeType="afterEffect">
                                  <p:stCondLst>
                                    <p:cond delay="0"/>
                                  </p:stCondLst>
                                  <p:iterate type="wd">
                                    <p:tmAbs val="0"/>
                                  </p:iterate>
                                  <p:childTnLst>
                                    <p:set>
                                      <p:cBhvr>
                                        <p:cTn id="67" dur="1" fill="hold">
                                          <p:stCondLst>
                                            <p:cond delay="0"/>
                                          </p:stCondLst>
                                        </p:cTn>
                                        <p:tgtEl>
                                          <p:spTgt spid="1472517">
                                            <p:txEl>
                                              <p:pRg st="2" end="2"/>
                                            </p:txEl>
                                          </p:spTgt>
                                        </p:tgtEl>
                                        <p:attrNameLst>
                                          <p:attrName>style.visibility</p:attrName>
                                        </p:attrNameLst>
                                      </p:cBhvr>
                                      <p:to>
                                        <p:strVal val="visible"/>
                                      </p:to>
                                    </p:set>
                                    <p:anim calcmode="lin" valueType="num">
                                      <p:cBhvr>
                                        <p:cTn id="68" dur="500" fill="hold"/>
                                        <p:tgtEl>
                                          <p:spTgt spid="1472517">
                                            <p:txEl>
                                              <p:pRg st="2" end="2"/>
                                            </p:txEl>
                                          </p:spTgt>
                                        </p:tgtEl>
                                        <p:attrNameLst>
                                          <p:attrName>ppt_w</p:attrName>
                                        </p:attrNameLst>
                                      </p:cBhvr>
                                      <p:tavLst>
                                        <p:tav tm="0">
                                          <p:val>
                                            <p:fltVal val="0"/>
                                          </p:val>
                                        </p:tav>
                                        <p:tav tm="100000">
                                          <p:val>
                                            <p:strVal val="#ppt_w"/>
                                          </p:val>
                                        </p:tav>
                                      </p:tavLst>
                                    </p:anim>
                                    <p:anim calcmode="lin" valueType="num">
                                      <p:cBhvr>
                                        <p:cTn id="69" dur="500" fill="hold"/>
                                        <p:tgtEl>
                                          <p:spTgt spid="147251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iterate type="wd">
                                    <p:tmPct val="100000"/>
                                  </p:iterate>
                                  <p:childTnLst>
                                    <p:set>
                                      <p:cBhvr>
                                        <p:cTn id="73" dur="1" fill="hold">
                                          <p:stCondLst>
                                            <p:cond delay="0"/>
                                          </p:stCondLst>
                                        </p:cTn>
                                        <p:tgtEl>
                                          <p:spTgt spid="1472517">
                                            <p:txEl>
                                              <p:pRg st="3" end="3"/>
                                            </p:txEl>
                                          </p:spTgt>
                                        </p:tgtEl>
                                        <p:attrNameLst>
                                          <p:attrName>style.visibility</p:attrName>
                                        </p:attrNameLst>
                                      </p:cBhvr>
                                      <p:to>
                                        <p:strVal val="visible"/>
                                      </p:to>
                                    </p:set>
                                    <p:animEffect transition="in" filter="dissolve">
                                      <p:cBhvr>
                                        <p:cTn id="74" dur="300"/>
                                        <p:tgtEl>
                                          <p:spTgt spid="1472517">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iterate type="wd">
                                    <p:tmPct val="100000"/>
                                  </p:iterate>
                                  <p:childTnLst>
                                    <p:set>
                                      <p:cBhvr>
                                        <p:cTn id="78" dur="1" fill="hold">
                                          <p:stCondLst>
                                            <p:cond delay="0"/>
                                          </p:stCondLst>
                                        </p:cTn>
                                        <p:tgtEl>
                                          <p:spTgt spid="1472517">
                                            <p:txEl>
                                              <p:pRg st="4" end="4"/>
                                            </p:txEl>
                                          </p:spTgt>
                                        </p:tgtEl>
                                        <p:attrNameLst>
                                          <p:attrName>style.visibility</p:attrName>
                                        </p:attrNameLst>
                                      </p:cBhvr>
                                      <p:to>
                                        <p:strVal val="visible"/>
                                      </p:to>
                                    </p:set>
                                    <p:animEffect transition="in" filter="dissolve">
                                      <p:cBhvr>
                                        <p:cTn id="79" dur="300"/>
                                        <p:tgtEl>
                                          <p:spTgt spid="1472517">
                                            <p:txEl>
                                              <p:pRg st="4" end="4"/>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iterate type="wd">
                                    <p:tmPct val="100000"/>
                                  </p:iterate>
                                  <p:childTnLst>
                                    <p:set>
                                      <p:cBhvr>
                                        <p:cTn id="83" dur="1" fill="hold">
                                          <p:stCondLst>
                                            <p:cond delay="0"/>
                                          </p:stCondLst>
                                        </p:cTn>
                                        <p:tgtEl>
                                          <p:spTgt spid="1472517">
                                            <p:txEl>
                                              <p:pRg st="5" end="5"/>
                                            </p:txEl>
                                          </p:spTgt>
                                        </p:tgtEl>
                                        <p:attrNameLst>
                                          <p:attrName>style.visibility</p:attrName>
                                        </p:attrNameLst>
                                      </p:cBhvr>
                                      <p:to>
                                        <p:strVal val="visible"/>
                                      </p:to>
                                    </p:set>
                                    <p:animEffect transition="in" filter="dissolve">
                                      <p:cBhvr>
                                        <p:cTn id="84" dur="300"/>
                                        <p:tgtEl>
                                          <p:spTgt spid="147251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515" grpId="0" build="p" animBg="1"/>
      <p:bldP spid="1472517" grpId="0" build="p"/>
      <p:bldP spid="14725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id="{5B485A90-F98E-4F09-9EDB-A823CE7D1197}"/>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3538" name="文本框 1473537"/>
          <p:cNvSpPr txBox="1"/>
          <p:nvPr/>
        </p:nvSpPr>
        <p:spPr>
          <a:xfrm>
            <a:off x="-38100" y="982002"/>
            <a:ext cx="9144000" cy="2215991"/>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zh-CN" altLang="en-US" sz="2800" kern="1200" cap="none" spc="0" normalizeH="0" baseline="0" noProof="1">
                <a:solidFill>
                  <a:schemeClr val="tx2"/>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kern="1200" cap="none" spc="0" normalizeH="0" baseline="0" noProof="1">
                <a:solidFill>
                  <a:schemeClr val="tx2"/>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1</a:t>
            </a:r>
            <a:r>
              <a:rPr kumimoji="0" lang="zh-CN" altLang="en-US" sz="2800" kern="1200" cap="none" spc="0" normalizeH="0" baseline="0" noProof="1">
                <a:solidFill>
                  <a:schemeClr val="tx2"/>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zh-CN" altLang="en-US" sz="28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判断系统的稳定性</a:t>
            </a:r>
          </a:p>
          <a:p>
            <a:pPr marR="0" defTabSz="914400">
              <a:lnSpc>
                <a:spcPct val="120000"/>
              </a:lnSpc>
              <a:spcBef>
                <a:spcPct val="0"/>
              </a:spcBef>
              <a:buClrTx/>
              <a:buSzTx/>
              <a:buFontTx/>
              <a:buNone/>
              <a:defRPr/>
            </a:pP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例</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3-3</a:t>
            </a:r>
            <a:r>
              <a:rPr kumimoji="0" lang="en-US" altLang="zh-CN" sz="24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设有下列特征方程 </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D</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 = </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kern="1200" cap="none" spc="0" normalizeH="0" baseline="3000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4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kern="1200" cap="none" spc="0" normalizeH="0" baseline="3000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3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kern="1200" cap="none" spc="0" normalizeH="0" baseline="3000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3</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400" kern="1200" cap="none" spc="0" normalizeH="0" baseline="3000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2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+ 4</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+ 5 = 0</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试用劳斯判据判别该特征方程的正实部根的数目。</a:t>
            </a:r>
          </a:p>
          <a:p>
            <a:pPr marR="0" defTabSz="914400">
              <a:buClrTx/>
              <a:buSzTx/>
              <a:buFontTx/>
              <a:buNone/>
              <a:defRPr/>
            </a:pPr>
            <a:r>
              <a:rPr kumimoji="0" lang="zh-CN" altLang="en-US" sz="2800" kern="1200" cap="none" spc="0" normalizeH="0" baseline="0" noProof="1">
                <a:solidFill>
                  <a:schemeClr val="tx1"/>
                </a:solidFill>
                <a:latin typeface="Times New Roman" panose="02020603050405020304" pitchFamily="18" charset="0"/>
                <a:ea typeface="宋体" panose="02010600030101010101" pitchFamily="2" charset="-122"/>
                <a:cs typeface="+mn-cs"/>
              </a:rPr>
              <a:t>     解</a:t>
            </a:r>
            <a:r>
              <a:rPr kumimoji="0" lang="zh-CN" altLang="en-US"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劳斯表</a:t>
            </a:r>
          </a:p>
        </p:txBody>
      </p:sp>
      <p:sp>
        <p:nvSpPr>
          <p:cNvPr id="1473539" name="文本框 1473538"/>
          <p:cNvSpPr txBox="1"/>
          <p:nvPr/>
        </p:nvSpPr>
        <p:spPr>
          <a:xfrm>
            <a:off x="244475" y="5649913"/>
            <a:ext cx="8899525" cy="946150"/>
          </a:xfrm>
          <a:prstGeom prst="rect">
            <a:avLst/>
          </a:prstGeom>
          <a:noFill/>
          <a:ln w="9525">
            <a:noFill/>
          </a:ln>
        </p:spPr>
        <p:txBody>
          <a:bodyPr>
            <a:spAutoFit/>
          </a:bodyPr>
          <a:lstStyle/>
          <a:p>
            <a:r>
              <a:rPr lang="zh-CN" altLang="en-US" sz="2800" dirty="0">
                <a:solidFill>
                  <a:schemeClr val="tx1"/>
                </a:solidFill>
                <a:latin typeface="Times New Roman" panose="02020603050405020304" pitchFamily="18" charset="0"/>
              </a:rPr>
              <a:t>第一列元素 符号改变了</a:t>
            </a:r>
            <a:r>
              <a:rPr lang="en-US" altLang="zh-CN" sz="2800" dirty="0">
                <a:solidFill>
                  <a:schemeClr val="tx1"/>
                </a:solidFill>
                <a:latin typeface="Times New Roman" panose="02020603050405020304" pitchFamily="18" charset="0"/>
              </a:rPr>
              <a:t>2</a:t>
            </a:r>
            <a:r>
              <a:rPr lang="zh-CN" altLang="en-US" sz="2800" dirty="0">
                <a:solidFill>
                  <a:schemeClr val="tx1"/>
                </a:solidFill>
                <a:latin typeface="Times New Roman" panose="02020603050405020304" pitchFamily="18" charset="0"/>
              </a:rPr>
              <a:t>次，</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Times New Roman" panose="02020603050405020304" pitchFamily="18" charset="0"/>
              </a:rPr>
              <a:t>系统不稳定，且</a:t>
            </a:r>
            <a:r>
              <a:rPr lang="en-US" altLang="zh-CN" sz="2800" i="1" dirty="0">
                <a:solidFill>
                  <a:schemeClr val="tx1"/>
                </a:solidFill>
                <a:latin typeface="Times New Roman" panose="02020603050405020304" pitchFamily="18" charset="0"/>
              </a:rPr>
              <a:t>s </a:t>
            </a:r>
            <a:r>
              <a:rPr lang="zh-CN" altLang="en-US" sz="2800" dirty="0">
                <a:solidFill>
                  <a:schemeClr val="tx1"/>
                </a:solidFill>
                <a:latin typeface="Times New Roman" panose="02020603050405020304" pitchFamily="18" charset="0"/>
              </a:rPr>
              <a:t>右半平面有</a:t>
            </a:r>
            <a:r>
              <a:rPr lang="en-US" altLang="zh-CN" sz="2800" dirty="0">
                <a:solidFill>
                  <a:schemeClr val="tx1"/>
                </a:solidFill>
                <a:latin typeface="Times New Roman" panose="02020603050405020304" pitchFamily="18" charset="0"/>
              </a:rPr>
              <a:t>2</a:t>
            </a:r>
            <a:r>
              <a:rPr lang="zh-CN" altLang="en-US" sz="2800" dirty="0">
                <a:solidFill>
                  <a:schemeClr val="tx1"/>
                </a:solidFill>
                <a:latin typeface="Times New Roman" panose="02020603050405020304" pitchFamily="18" charset="0"/>
              </a:rPr>
              <a:t>个根。</a:t>
            </a:r>
          </a:p>
        </p:txBody>
      </p:sp>
      <p:sp>
        <p:nvSpPr>
          <p:cNvPr id="1473540" name="左弧形箭头 1473539"/>
          <p:cNvSpPr/>
          <p:nvPr/>
        </p:nvSpPr>
        <p:spPr>
          <a:xfrm>
            <a:off x="3733800" y="4589463"/>
            <a:ext cx="304800" cy="666750"/>
          </a:xfrm>
          <a:prstGeom prst="curvedRightArrow">
            <a:avLst>
              <a:gd name="adj1" fmla="val 43750"/>
              <a:gd name="adj2" fmla="val 87500"/>
              <a:gd name="adj3" fmla="val 33305"/>
            </a:avLst>
          </a:prstGeom>
          <a:noFill/>
          <a:ln w="9525" cap="sq" cmpd="sng">
            <a:solidFill>
              <a:srgbClr val="FF66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473541" name="左弧形箭头 1473540"/>
          <p:cNvSpPr/>
          <p:nvPr/>
        </p:nvSpPr>
        <p:spPr>
          <a:xfrm>
            <a:off x="3756025" y="3887788"/>
            <a:ext cx="304800" cy="666750"/>
          </a:xfrm>
          <a:prstGeom prst="curvedRightArrow">
            <a:avLst>
              <a:gd name="adj1" fmla="val 43750"/>
              <a:gd name="adj2" fmla="val 87500"/>
              <a:gd name="adj3" fmla="val 33305"/>
            </a:avLst>
          </a:prstGeom>
          <a:noFill/>
          <a:ln w="9525" cap="sq" cmpd="sng">
            <a:solidFill>
              <a:srgbClr val="FF66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473542" name="直接连接符 1473541"/>
          <p:cNvSpPr/>
          <p:nvPr/>
        </p:nvSpPr>
        <p:spPr>
          <a:xfrm flipH="1">
            <a:off x="3576638" y="2254250"/>
            <a:ext cx="1587" cy="3311525"/>
          </a:xfrm>
          <a:prstGeom prst="line">
            <a:avLst/>
          </a:prstGeom>
          <a:ln w="38100" cap="sq" cmpd="sng">
            <a:solidFill>
              <a:schemeClr val="tx1"/>
            </a:solidFill>
            <a:prstDash val="solid"/>
            <a:headEnd type="none" w="med" len="med"/>
            <a:tailEnd type="none" w="med" len="med"/>
          </a:ln>
        </p:spPr>
      </p:sp>
      <p:sp>
        <p:nvSpPr>
          <p:cNvPr id="1473543" name="文本框 1473542"/>
          <p:cNvSpPr txBox="1"/>
          <p:nvPr/>
        </p:nvSpPr>
        <p:spPr>
          <a:xfrm>
            <a:off x="2925763" y="2398713"/>
            <a:ext cx="669925" cy="308451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endParaRPr lang="en-US" altLang="zh-CN" sz="2400" b="0" dirty="0">
              <a:solidFill>
                <a:schemeClr val="tx1"/>
              </a:solidFill>
              <a:latin typeface="Times New Roman" panose="02020603050405020304" pitchFamily="18" charset="0"/>
            </a:endParaRPr>
          </a:p>
        </p:txBody>
      </p:sp>
      <p:sp>
        <p:nvSpPr>
          <p:cNvPr id="1473544" name="文本框 1473543"/>
          <p:cNvSpPr txBox="1"/>
          <p:nvPr/>
        </p:nvSpPr>
        <p:spPr>
          <a:xfrm>
            <a:off x="4024313" y="2359025"/>
            <a:ext cx="3251200" cy="116046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1         3        5</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2         4</a:t>
            </a:r>
            <a:endParaRPr lang="en-US" altLang="zh-CN" sz="2800" baseline="30000" dirty="0">
              <a:solidFill>
                <a:schemeClr val="tx1"/>
              </a:solidFill>
              <a:latin typeface="Times New Roman" panose="02020603050405020304" pitchFamily="18" charset="0"/>
            </a:endParaRPr>
          </a:p>
        </p:txBody>
      </p:sp>
      <p:grpSp>
        <p:nvGrpSpPr>
          <p:cNvPr id="1473545" name="组合 1473544"/>
          <p:cNvGrpSpPr/>
          <p:nvPr/>
        </p:nvGrpSpPr>
        <p:grpSpPr>
          <a:xfrm>
            <a:off x="4365625" y="2657475"/>
            <a:ext cx="752475" cy="628650"/>
            <a:chOff x="2726" y="1626"/>
            <a:chExt cx="474" cy="396"/>
          </a:xfrm>
        </p:grpSpPr>
        <p:sp>
          <p:nvSpPr>
            <p:cNvPr id="56338" name="直接连接符 1473545"/>
            <p:cNvSpPr/>
            <p:nvPr/>
          </p:nvSpPr>
          <p:spPr>
            <a:xfrm>
              <a:off x="2726" y="1626"/>
              <a:ext cx="474" cy="384"/>
            </a:xfrm>
            <a:prstGeom prst="line">
              <a:avLst/>
            </a:prstGeom>
            <a:ln w="38100" cap="sq" cmpd="sng">
              <a:solidFill>
                <a:schemeClr val="tx1"/>
              </a:solidFill>
              <a:prstDash val="solid"/>
              <a:headEnd type="none" w="med" len="med"/>
              <a:tailEnd type="none" w="med" len="med"/>
            </a:ln>
          </p:spPr>
        </p:sp>
        <p:sp>
          <p:nvSpPr>
            <p:cNvPr id="56339" name="直接连接符 1473546"/>
            <p:cNvSpPr/>
            <p:nvPr/>
          </p:nvSpPr>
          <p:spPr>
            <a:xfrm flipV="1">
              <a:off x="2765" y="1677"/>
              <a:ext cx="397" cy="345"/>
            </a:xfrm>
            <a:prstGeom prst="line">
              <a:avLst/>
            </a:prstGeom>
            <a:ln w="38100" cap="sq" cmpd="sng">
              <a:solidFill>
                <a:schemeClr val="tx1"/>
              </a:solidFill>
              <a:prstDash val="solid"/>
              <a:headEnd type="none" w="med" len="med"/>
              <a:tailEnd type="none" w="med" len="med"/>
            </a:ln>
          </p:spPr>
        </p:sp>
      </p:grpSp>
      <p:sp>
        <p:nvSpPr>
          <p:cNvPr id="1473548" name="文本框 1473547"/>
          <p:cNvSpPr txBox="1"/>
          <p:nvPr/>
        </p:nvSpPr>
        <p:spPr>
          <a:xfrm>
            <a:off x="3944938" y="4291013"/>
            <a:ext cx="927100" cy="51911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6</a:t>
            </a:r>
            <a:endParaRPr lang="en-US" altLang="zh-CN" sz="2800" b="0" dirty="0">
              <a:solidFill>
                <a:schemeClr val="tx1"/>
              </a:solidFill>
              <a:latin typeface="Times New Roman" panose="02020603050405020304" pitchFamily="18" charset="0"/>
            </a:endParaRPr>
          </a:p>
        </p:txBody>
      </p:sp>
      <p:grpSp>
        <p:nvGrpSpPr>
          <p:cNvPr id="1473549" name="组合 1473548"/>
          <p:cNvGrpSpPr/>
          <p:nvPr/>
        </p:nvGrpSpPr>
        <p:grpSpPr>
          <a:xfrm>
            <a:off x="4324350" y="2571750"/>
            <a:ext cx="1657350" cy="666750"/>
            <a:chOff x="2724" y="1620"/>
            <a:chExt cx="1044" cy="420"/>
          </a:xfrm>
        </p:grpSpPr>
        <p:sp>
          <p:nvSpPr>
            <p:cNvPr id="56336" name="直接连接符 1473549"/>
            <p:cNvSpPr/>
            <p:nvPr/>
          </p:nvSpPr>
          <p:spPr>
            <a:xfrm>
              <a:off x="2724" y="1620"/>
              <a:ext cx="1044" cy="384"/>
            </a:xfrm>
            <a:prstGeom prst="line">
              <a:avLst/>
            </a:prstGeom>
            <a:ln w="38100" cap="sq" cmpd="sng">
              <a:solidFill>
                <a:srgbClr val="993300"/>
              </a:solidFill>
              <a:prstDash val="solid"/>
              <a:headEnd type="none" w="med" len="med"/>
              <a:tailEnd type="none" w="med" len="med"/>
            </a:ln>
          </p:spPr>
        </p:sp>
        <p:sp>
          <p:nvSpPr>
            <p:cNvPr id="56337" name="直接连接符 1473550"/>
            <p:cNvSpPr/>
            <p:nvPr/>
          </p:nvSpPr>
          <p:spPr>
            <a:xfrm flipV="1">
              <a:off x="2748" y="1680"/>
              <a:ext cx="960" cy="360"/>
            </a:xfrm>
            <a:prstGeom prst="line">
              <a:avLst/>
            </a:prstGeom>
            <a:ln w="38100" cap="sq" cmpd="sng">
              <a:solidFill>
                <a:srgbClr val="993300"/>
              </a:solidFill>
              <a:prstDash val="solid"/>
              <a:headEnd type="none" w="med" len="med"/>
              <a:tailEnd type="none" w="med" len="med"/>
            </a:ln>
          </p:spPr>
        </p:sp>
      </p:grpSp>
      <p:sp>
        <p:nvSpPr>
          <p:cNvPr id="1473552" name="文本框 1473551"/>
          <p:cNvSpPr txBox="1"/>
          <p:nvPr/>
        </p:nvSpPr>
        <p:spPr>
          <a:xfrm>
            <a:off x="4038600" y="3695700"/>
            <a:ext cx="495300" cy="51911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1</a:t>
            </a:r>
          </a:p>
        </p:txBody>
      </p:sp>
      <p:sp>
        <p:nvSpPr>
          <p:cNvPr id="1473553" name="文本框 1473552"/>
          <p:cNvSpPr txBox="1"/>
          <p:nvPr/>
        </p:nvSpPr>
        <p:spPr>
          <a:xfrm>
            <a:off x="4972050" y="3695700"/>
            <a:ext cx="495300" cy="51911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5</a:t>
            </a:r>
          </a:p>
        </p:txBody>
      </p:sp>
      <p:sp>
        <p:nvSpPr>
          <p:cNvPr id="1473554" name="文本框 1473553"/>
          <p:cNvSpPr txBox="1"/>
          <p:nvPr/>
        </p:nvSpPr>
        <p:spPr>
          <a:xfrm>
            <a:off x="4038600" y="4914900"/>
            <a:ext cx="495300" cy="51911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5</a:t>
            </a:r>
          </a:p>
        </p:txBody>
      </p:sp>
      <p:sp>
        <p:nvSpPr>
          <p:cNvPr id="20" name="Freeform 112">
            <a:extLst>
              <a:ext uri="{FF2B5EF4-FFF2-40B4-BE49-F238E27FC236}">
                <a16:creationId xmlns:a16="http://schemas.microsoft.com/office/drawing/2014/main" id="{4D77E0E5-6788-45A8-9C6D-4D8690668DA5}"/>
              </a:ext>
            </a:extLst>
          </p:cNvPr>
          <p:cNvSpPr>
            <a:spLocks noEditPoints="1"/>
          </p:cNvSpPr>
          <p:nvPr/>
        </p:nvSpPr>
        <p:spPr bwMode="auto">
          <a:xfrm>
            <a:off x="1259632" y="28684"/>
            <a:ext cx="4824536" cy="1203216"/>
          </a:xfrm>
          <a:custGeom>
            <a:avLst/>
            <a:gdLst>
              <a:gd name="T0" fmla="*/ 1477 w 1635"/>
              <a:gd name="T1" fmla="*/ 27 h 499"/>
              <a:gd name="T2" fmla="*/ 1246 w 1635"/>
              <a:gd name="T3" fmla="*/ 42 h 499"/>
              <a:gd name="T4" fmla="*/ 1058 w 1635"/>
              <a:gd name="T5" fmla="*/ 133 h 499"/>
              <a:gd name="T6" fmla="*/ 864 w 1635"/>
              <a:gd name="T7" fmla="*/ 121 h 499"/>
              <a:gd name="T8" fmla="*/ 502 w 1635"/>
              <a:gd name="T9" fmla="*/ 142 h 499"/>
              <a:gd name="T10" fmla="*/ 345 w 1635"/>
              <a:gd name="T11" fmla="*/ 7 h 499"/>
              <a:gd name="T12" fmla="*/ 57 w 1635"/>
              <a:gd name="T13" fmla="*/ 80 h 499"/>
              <a:gd name="T14" fmla="*/ 36 w 1635"/>
              <a:gd name="T15" fmla="*/ 356 h 499"/>
              <a:gd name="T16" fmla="*/ 245 w 1635"/>
              <a:gd name="T17" fmla="*/ 475 h 499"/>
              <a:gd name="T18" fmla="*/ 571 w 1635"/>
              <a:gd name="T19" fmla="*/ 426 h 499"/>
              <a:gd name="T20" fmla="*/ 928 w 1635"/>
              <a:gd name="T21" fmla="*/ 412 h 499"/>
              <a:gd name="T22" fmla="*/ 1287 w 1635"/>
              <a:gd name="T23" fmla="*/ 454 h 499"/>
              <a:gd name="T24" fmla="*/ 1594 w 1635"/>
              <a:gd name="T25" fmla="*/ 433 h 499"/>
              <a:gd name="T26" fmla="*/ 1537 w 1635"/>
              <a:gd name="T27" fmla="*/ 57 h 499"/>
              <a:gd name="T28" fmla="*/ 1443 w 1635"/>
              <a:gd name="T29" fmla="*/ 137 h 499"/>
              <a:gd name="T30" fmla="*/ 1314 w 1635"/>
              <a:gd name="T31" fmla="*/ 108 h 499"/>
              <a:gd name="T32" fmla="*/ 708 w 1635"/>
              <a:gd name="T33" fmla="*/ 133 h 499"/>
              <a:gd name="T34" fmla="*/ 242 w 1635"/>
              <a:gd name="T35" fmla="*/ 134 h 499"/>
              <a:gd name="T36" fmla="*/ 160 w 1635"/>
              <a:gd name="T37" fmla="*/ 33 h 499"/>
              <a:gd name="T38" fmla="*/ 143 w 1635"/>
              <a:gd name="T39" fmla="*/ 45 h 499"/>
              <a:gd name="T40" fmla="*/ 280 w 1635"/>
              <a:gd name="T41" fmla="*/ 13 h 499"/>
              <a:gd name="T42" fmla="*/ 247 w 1635"/>
              <a:gd name="T43" fmla="*/ 42 h 499"/>
              <a:gd name="T44" fmla="*/ 356 w 1635"/>
              <a:gd name="T45" fmla="*/ 55 h 499"/>
              <a:gd name="T46" fmla="*/ 312 w 1635"/>
              <a:gd name="T47" fmla="*/ 73 h 499"/>
              <a:gd name="T48" fmla="*/ 264 w 1635"/>
              <a:gd name="T49" fmla="*/ 95 h 499"/>
              <a:gd name="T50" fmla="*/ 277 w 1635"/>
              <a:gd name="T51" fmla="*/ 118 h 499"/>
              <a:gd name="T52" fmla="*/ 193 w 1635"/>
              <a:gd name="T53" fmla="*/ 161 h 499"/>
              <a:gd name="T54" fmla="*/ 17 w 1635"/>
              <a:gd name="T55" fmla="*/ 149 h 499"/>
              <a:gd name="T56" fmla="*/ 1572 w 1635"/>
              <a:gd name="T57" fmla="*/ 241 h 499"/>
              <a:gd name="T58" fmla="*/ 1568 w 1635"/>
              <a:gd name="T59" fmla="*/ 257 h 499"/>
              <a:gd name="T60" fmla="*/ 1516 w 1635"/>
              <a:gd name="T61" fmla="*/ 294 h 499"/>
              <a:gd name="T62" fmla="*/ 1460 w 1635"/>
              <a:gd name="T63" fmla="*/ 324 h 499"/>
              <a:gd name="T64" fmla="*/ 1478 w 1635"/>
              <a:gd name="T65" fmla="*/ 364 h 499"/>
              <a:gd name="T66" fmla="*/ 1484 w 1635"/>
              <a:gd name="T67" fmla="*/ 405 h 499"/>
              <a:gd name="T68" fmla="*/ 1511 w 1635"/>
              <a:gd name="T69" fmla="*/ 446 h 499"/>
              <a:gd name="T70" fmla="*/ 1524 w 1635"/>
              <a:gd name="T71" fmla="*/ 486 h 499"/>
              <a:gd name="T72" fmla="*/ 1238 w 1635"/>
              <a:gd name="T73" fmla="*/ 433 h 499"/>
              <a:gd name="T74" fmla="*/ 882 w 1635"/>
              <a:gd name="T75" fmla="*/ 397 h 499"/>
              <a:gd name="T76" fmla="*/ 516 w 1635"/>
              <a:gd name="T77" fmla="*/ 417 h 499"/>
              <a:gd name="T78" fmla="*/ 165 w 1635"/>
              <a:gd name="T79" fmla="*/ 478 h 499"/>
              <a:gd name="T80" fmla="*/ 154 w 1635"/>
              <a:gd name="T81" fmla="*/ 446 h 499"/>
              <a:gd name="T82" fmla="*/ 127 w 1635"/>
              <a:gd name="T83" fmla="*/ 417 h 499"/>
              <a:gd name="T84" fmla="*/ 99 w 1635"/>
              <a:gd name="T85" fmla="*/ 378 h 499"/>
              <a:gd name="T86" fmla="*/ 56 w 1635"/>
              <a:gd name="T87" fmla="*/ 339 h 499"/>
              <a:gd name="T88" fmla="*/ 57 w 1635"/>
              <a:gd name="T89" fmla="*/ 299 h 499"/>
              <a:gd name="T90" fmla="*/ 72 w 1635"/>
              <a:gd name="T91" fmla="*/ 282 h 499"/>
              <a:gd name="T92" fmla="*/ 140 w 1635"/>
              <a:gd name="T93" fmla="*/ 247 h 499"/>
              <a:gd name="T94" fmla="*/ 12 w 1635"/>
              <a:gd name="T95" fmla="*/ 198 h 499"/>
              <a:gd name="T96" fmla="*/ 202 w 1635"/>
              <a:gd name="T97" fmla="*/ 210 h 499"/>
              <a:gd name="T98" fmla="*/ 563 w 1635"/>
              <a:gd name="T99" fmla="*/ 148 h 499"/>
              <a:gd name="T100" fmla="*/ 857 w 1635"/>
              <a:gd name="T101" fmla="*/ 134 h 499"/>
              <a:gd name="T102" fmla="*/ 1046 w 1635"/>
              <a:gd name="T103" fmla="*/ 134 h 499"/>
              <a:gd name="T104" fmla="*/ 1357 w 1635"/>
              <a:gd name="T105" fmla="*/ 195 h 499"/>
              <a:gd name="T106" fmla="*/ 1479 w 1635"/>
              <a:gd name="T107" fmla="*/ 204 h 499"/>
              <a:gd name="T108" fmla="*/ 1462 w 1635"/>
              <a:gd name="T109" fmla="*/ 200 h 499"/>
              <a:gd name="T110" fmla="*/ 1395 w 1635"/>
              <a:gd name="T111" fmla="*/ 122 h 499"/>
              <a:gd name="T112" fmla="*/ 1422 w 1635"/>
              <a:gd name="T113" fmla="*/ 107 h 499"/>
              <a:gd name="T114" fmla="*/ 1302 w 1635"/>
              <a:gd name="T115" fmla="*/ 72 h 499"/>
              <a:gd name="T116" fmla="*/ 1363 w 1635"/>
              <a:gd name="T117" fmla="*/ 65 h 499"/>
              <a:gd name="T118" fmla="*/ 1398 w 1635"/>
              <a:gd name="T119" fmla="*/ 50 h 499"/>
              <a:gd name="T120" fmla="*/ 1304 w 1635"/>
              <a:gd name="T121" fmla="*/ 18 h 499"/>
              <a:gd name="T122" fmla="*/ 1490 w 1635"/>
              <a:gd name="T123" fmla="*/ 45 h 499"/>
              <a:gd name="T124" fmla="*/ 1575 w 1635"/>
              <a:gd name="T125" fmla="*/ 9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5" h="499">
                <a:moveTo>
                  <a:pt x="1635" y="177"/>
                </a:moveTo>
                <a:cubicBezTo>
                  <a:pt x="1635" y="172"/>
                  <a:pt x="1634" y="168"/>
                  <a:pt x="1634" y="164"/>
                </a:cubicBezTo>
                <a:cubicBezTo>
                  <a:pt x="1633" y="160"/>
                  <a:pt x="1632" y="156"/>
                  <a:pt x="1631" y="152"/>
                </a:cubicBezTo>
                <a:cubicBezTo>
                  <a:pt x="1630" y="145"/>
                  <a:pt x="1630" y="140"/>
                  <a:pt x="1629" y="140"/>
                </a:cubicBezTo>
                <a:cubicBezTo>
                  <a:pt x="1628" y="136"/>
                  <a:pt x="1625" y="132"/>
                  <a:pt x="1623" y="128"/>
                </a:cubicBezTo>
                <a:cubicBezTo>
                  <a:pt x="1621" y="124"/>
                  <a:pt x="1619" y="120"/>
                  <a:pt x="1617" y="117"/>
                </a:cubicBezTo>
                <a:cubicBezTo>
                  <a:pt x="1614" y="113"/>
                  <a:pt x="1611" y="110"/>
                  <a:pt x="1608" y="107"/>
                </a:cubicBezTo>
                <a:cubicBezTo>
                  <a:pt x="1605" y="103"/>
                  <a:pt x="1602" y="100"/>
                  <a:pt x="1600" y="97"/>
                </a:cubicBezTo>
                <a:cubicBezTo>
                  <a:pt x="1597" y="95"/>
                  <a:pt x="1594" y="93"/>
                  <a:pt x="1591" y="90"/>
                </a:cubicBezTo>
                <a:cubicBezTo>
                  <a:pt x="1588" y="88"/>
                  <a:pt x="1586" y="85"/>
                  <a:pt x="1583" y="83"/>
                </a:cubicBezTo>
                <a:cubicBezTo>
                  <a:pt x="1580" y="80"/>
                  <a:pt x="1577" y="78"/>
                  <a:pt x="1573" y="76"/>
                </a:cubicBezTo>
                <a:cubicBezTo>
                  <a:pt x="1570" y="74"/>
                  <a:pt x="1567" y="72"/>
                  <a:pt x="1564" y="70"/>
                </a:cubicBezTo>
                <a:cubicBezTo>
                  <a:pt x="1561" y="68"/>
                  <a:pt x="1557" y="67"/>
                  <a:pt x="1554" y="65"/>
                </a:cubicBezTo>
                <a:cubicBezTo>
                  <a:pt x="1552" y="63"/>
                  <a:pt x="1550" y="62"/>
                  <a:pt x="1547" y="61"/>
                </a:cubicBezTo>
                <a:cubicBezTo>
                  <a:pt x="1548" y="62"/>
                  <a:pt x="1547" y="64"/>
                  <a:pt x="1546" y="64"/>
                </a:cubicBezTo>
                <a:cubicBezTo>
                  <a:pt x="1544" y="63"/>
                  <a:pt x="1544" y="60"/>
                  <a:pt x="1547" y="60"/>
                </a:cubicBezTo>
                <a:cubicBezTo>
                  <a:pt x="1546" y="60"/>
                  <a:pt x="1545" y="59"/>
                  <a:pt x="1544" y="59"/>
                </a:cubicBezTo>
                <a:cubicBezTo>
                  <a:pt x="1541" y="57"/>
                  <a:pt x="1537" y="55"/>
                  <a:pt x="1534" y="53"/>
                </a:cubicBezTo>
                <a:cubicBezTo>
                  <a:pt x="1533" y="53"/>
                  <a:pt x="1533" y="52"/>
                  <a:pt x="1532" y="52"/>
                </a:cubicBezTo>
                <a:cubicBezTo>
                  <a:pt x="1532" y="53"/>
                  <a:pt x="1532" y="53"/>
                  <a:pt x="1531" y="53"/>
                </a:cubicBezTo>
                <a:cubicBezTo>
                  <a:pt x="1529" y="53"/>
                  <a:pt x="1527" y="53"/>
                  <a:pt x="1526" y="53"/>
                </a:cubicBezTo>
                <a:cubicBezTo>
                  <a:pt x="1525" y="52"/>
                  <a:pt x="1524" y="50"/>
                  <a:pt x="1525" y="49"/>
                </a:cubicBezTo>
                <a:cubicBezTo>
                  <a:pt x="1524" y="48"/>
                  <a:pt x="1523" y="48"/>
                  <a:pt x="1523" y="48"/>
                </a:cubicBezTo>
                <a:cubicBezTo>
                  <a:pt x="1520" y="46"/>
                  <a:pt x="1517" y="45"/>
                  <a:pt x="1514" y="43"/>
                </a:cubicBezTo>
                <a:cubicBezTo>
                  <a:pt x="1514" y="43"/>
                  <a:pt x="1514" y="43"/>
                  <a:pt x="1513" y="43"/>
                </a:cubicBezTo>
                <a:cubicBezTo>
                  <a:pt x="1513" y="44"/>
                  <a:pt x="1512" y="43"/>
                  <a:pt x="1512" y="42"/>
                </a:cubicBezTo>
                <a:cubicBezTo>
                  <a:pt x="1508" y="41"/>
                  <a:pt x="1504" y="39"/>
                  <a:pt x="1501" y="38"/>
                </a:cubicBezTo>
                <a:cubicBezTo>
                  <a:pt x="1497" y="36"/>
                  <a:pt x="1494" y="34"/>
                  <a:pt x="1490" y="32"/>
                </a:cubicBezTo>
                <a:cubicBezTo>
                  <a:pt x="1486" y="31"/>
                  <a:pt x="1482" y="29"/>
                  <a:pt x="1479" y="28"/>
                </a:cubicBezTo>
                <a:cubicBezTo>
                  <a:pt x="1478" y="28"/>
                  <a:pt x="1478" y="28"/>
                  <a:pt x="1477" y="27"/>
                </a:cubicBezTo>
                <a:cubicBezTo>
                  <a:pt x="1477" y="28"/>
                  <a:pt x="1477" y="28"/>
                  <a:pt x="1477" y="29"/>
                </a:cubicBezTo>
                <a:cubicBezTo>
                  <a:pt x="1474" y="30"/>
                  <a:pt x="1472" y="29"/>
                  <a:pt x="1472" y="26"/>
                </a:cubicBezTo>
                <a:cubicBezTo>
                  <a:pt x="1471" y="25"/>
                  <a:pt x="1469" y="25"/>
                  <a:pt x="1467" y="24"/>
                </a:cubicBezTo>
                <a:cubicBezTo>
                  <a:pt x="1467" y="24"/>
                  <a:pt x="1467" y="24"/>
                  <a:pt x="1466" y="24"/>
                </a:cubicBezTo>
                <a:cubicBezTo>
                  <a:pt x="1466" y="24"/>
                  <a:pt x="1465" y="25"/>
                  <a:pt x="1465" y="24"/>
                </a:cubicBezTo>
                <a:cubicBezTo>
                  <a:pt x="1465" y="24"/>
                  <a:pt x="1465" y="24"/>
                  <a:pt x="1465" y="23"/>
                </a:cubicBezTo>
                <a:cubicBezTo>
                  <a:pt x="1462" y="22"/>
                  <a:pt x="1459" y="21"/>
                  <a:pt x="1456" y="20"/>
                </a:cubicBezTo>
                <a:cubicBezTo>
                  <a:pt x="1452" y="19"/>
                  <a:pt x="1448" y="18"/>
                  <a:pt x="1444" y="17"/>
                </a:cubicBezTo>
                <a:cubicBezTo>
                  <a:pt x="1440" y="16"/>
                  <a:pt x="1436" y="15"/>
                  <a:pt x="1432" y="14"/>
                </a:cubicBezTo>
                <a:cubicBezTo>
                  <a:pt x="1428" y="13"/>
                  <a:pt x="1424" y="13"/>
                  <a:pt x="1420" y="12"/>
                </a:cubicBezTo>
                <a:cubicBezTo>
                  <a:pt x="1416" y="11"/>
                  <a:pt x="1412" y="10"/>
                  <a:pt x="1408" y="9"/>
                </a:cubicBezTo>
                <a:cubicBezTo>
                  <a:pt x="1404" y="8"/>
                  <a:pt x="1400" y="8"/>
                  <a:pt x="1397" y="7"/>
                </a:cubicBezTo>
                <a:cubicBezTo>
                  <a:pt x="1393" y="6"/>
                  <a:pt x="1389" y="5"/>
                  <a:pt x="1385" y="5"/>
                </a:cubicBezTo>
                <a:cubicBezTo>
                  <a:pt x="1381" y="4"/>
                  <a:pt x="1377" y="4"/>
                  <a:pt x="1373" y="4"/>
                </a:cubicBezTo>
                <a:cubicBezTo>
                  <a:pt x="1368" y="4"/>
                  <a:pt x="1364" y="4"/>
                  <a:pt x="1360" y="4"/>
                </a:cubicBezTo>
                <a:cubicBezTo>
                  <a:pt x="1356" y="3"/>
                  <a:pt x="1352" y="3"/>
                  <a:pt x="1348" y="3"/>
                </a:cubicBezTo>
                <a:cubicBezTo>
                  <a:pt x="1345" y="3"/>
                  <a:pt x="1341" y="3"/>
                  <a:pt x="1337" y="3"/>
                </a:cubicBezTo>
                <a:cubicBezTo>
                  <a:pt x="1333" y="3"/>
                  <a:pt x="1330" y="3"/>
                  <a:pt x="1326" y="3"/>
                </a:cubicBezTo>
                <a:cubicBezTo>
                  <a:pt x="1324" y="3"/>
                  <a:pt x="1323" y="4"/>
                  <a:pt x="1321" y="4"/>
                </a:cubicBezTo>
                <a:cubicBezTo>
                  <a:pt x="1321" y="5"/>
                  <a:pt x="1321" y="6"/>
                  <a:pt x="1320" y="6"/>
                </a:cubicBezTo>
                <a:cubicBezTo>
                  <a:pt x="1318" y="6"/>
                  <a:pt x="1318" y="6"/>
                  <a:pt x="1318" y="6"/>
                </a:cubicBezTo>
                <a:cubicBezTo>
                  <a:pt x="1317" y="6"/>
                  <a:pt x="1317" y="5"/>
                  <a:pt x="1317" y="5"/>
                </a:cubicBezTo>
                <a:cubicBezTo>
                  <a:pt x="1316" y="5"/>
                  <a:pt x="1316" y="5"/>
                  <a:pt x="1315" y="5"/>
                </a:cubicBezTo>
                <a:cubicBezTo>
                  <a:pt x="1311" y="6"/>
                  <a:pt x="1307" y="6"/>
                  <a:pt x="1304" y="7"/>
                </a:cubicBezTo>
                <a:cubicBezTo>
                  <a:pt x="1300" y="8"/>
                  <a:pt x="1296" y="9"/>
                  <a:pt x="1292" y="10"/>
                </a:cubicBezTo>
                <a:cubicBezTo>
                  <a:pt x="1288" y="11"/>
                  <a:pt x="1284" y="12"/>
                  <a:pt x="1280" y="13"/>
                </a:cubicBezTo>
                <a:cubicBezTo>
                  <a:pt x="1277" y="14"/>
                  <a:pt x="1273" y="16"/>
                  <a:pt x="1269" y="18"/>
                </a:cubicBezTo>
                <a:cubicBezTo>
                  <a:pt x="1266" y="20"/>
                  <a:pt x="1263" y="22"/>
                  <a:pt x="1260" y="25"/>
                </a:cubicBezTo>
                <a:cubicBezTo>
                  <a:pt x="1257" y="28"/>
                  <a:pt x="1254" y="31"/>
                  <a:pt x="1251" y="34"/>
                </a:cubicBezTo>
                <a:cubicBezTo>
                  <a:pt x="1249" y="37"/>
                  <a:pt x="1247" y="39"/>
                  <a:pt x="1246" y="42"/>
                </a:cubicBezTo>
                <a:cubicBezTo>
                  <a:pt x="1244" y="46"/>
                  <a:pt x="1243" y="49"/>
                  <a:pt x="1243" y="52"/>
                </a:cubicBezTo>
                <a:cubicBezTo>
                  <a:pt x="1242" y="56"/>
                  <a:pt x="1242" y="59"/>
                  <a:pt x="1242" y="62"/>
                </a:cubicBezTo>
                <a:cubicBezTo>
                  <a:pt x="1242" y="63"/>
                  <a:pt x="1242" y="63"/>
                  <a:pt x="1242" y="64"/>
                </a:cubicBezTo>
                <a:cubicBezTo>
                  <a:pt x="1242" y="66"/>
                  <a:pt x="1241" y="70"/>
                  <a:pt x="1241" y="75"/>
                </a:cubicBezTo>
                <a:cubicBezTo>
                  <a:pt x="1241" y="78"/>
                  <a:pt x="1241" y="82"/>
                  <a:pt x="1241" y="85"/>
                </a:cubicBezTo>
                <a:cubicBezTo>
                  <a:pt x="1241" y="90"/>
                  <a:pt x="1241" y="94"/>
                  <a:pt x="1241" y="96"/>
                </a:cubicBezTo>
                <a:cubicBezTo>
                  <a:pt x="1242" y="100"/>
                  <a:pt x="1242" y="103"/>
                  <a:pt x="1243" y="107"/>
                </a:cubicBezTo>
                <a:cubicBezTo>
                  <a:pt x="1243" y="111"/>
                  <a:pt x="1244" y="115"/>
                  <a:pt x="1245" y="118"/>
                </a:cubicBezTo>
                <a:cubicBezTo>
                  <a:pt x="1245" y="122"/>
                  <a:pt x="1246" y="126"/>
                  <a:pt x="1247" y="130"/>
                </a:cubicBezTo>
                <a:cubicBezTo>
                  <a:pt x="1248" y="133"/>
                  <a:pt x="1249" y="136"/>
                  <a:pt x="1250" y="139"/>
                </a:cubicBezTo>
                <a:cubicBezTo>
                  <a:pt x="1252" y="142"/>
                  <a:pt x="1253" y="146"/>
                  <a:pt x="1254" y="149"/>
                </a:cubicBezTo>
                <a:cubicBezTo>
                  <a:pt x="1255" y="152"/>
                  <a:pt x="1257" y="155"/>
                  <a:pt x="1258" y="158"/>
                </a:cubicBezTo>
                <a:cubicBezTo>
                  <a:pt x="1259" y="160"/>
                  <a:pt x="1259" y="161"/>
                  <a:pt x="1260" y="162"/>
                </a:cubicBezTo>
                <a:cubicBezTo>
                  <a:pt x="1256" y="161"/>
                  <a:pt x="1252" y="160"/>
                  <a:pt x="1248" y="159"/>
                </a:cubicBezTo>
                <a:cubicBezTo>
                  <a:pt x="1244" y="159"/>
                  <a:pt x="1240" y="158"/>
                  <a:pt x="1236" y="157"/>
                </a:cubicBezTo>
                <a:cubicBezTo>
                  <a:pt x="1232" y="156"/>
                  <a:pt x="1228" y="156"/>
                  <a:pt x="1224" y="155"/>
                </a:cubicBezTo>
                <a:cubicBezTo>
                  <a:pt x="1220" y="154"/>
                  <a:pt x="1216" y="154"/>
                  <a:pt x="1213" y="153"/>
                </a:cubicBezTo>
                <a:cubicBezTo>
                  <a:pt x="1209" y="153"/>
                  <a:pt x="1205" y="152"/>
                  <a:pt x="1201" y="152"/>
                </a:cubicBezTo>
                <a:cubicBezTo>
                  <a:pt x="1197" y="151"/>
                  <a:pt x="1193" y="150"/>
                  <a:pt x="1189" y="149"/>
                </a:cubicBezTo>
                <a:cubicBezTo>
                  <a:pt x="1185" y="148"/>
                  <a:pt x="1181" y="148"/>
                  <a:pt x="1177" y="147"/>
                </a:cubicBezTo>
                <a:cubicBezTo>
                  <a:pt x="1173" y="147"/>
                  <a:pt x="1169" y="147"/>
                  <a:pt x="1165" y="146"/>
                </a:cubicBezTo>
                <a:cubicBezTo>
                  <a:pt x="1161" y="145"/>
                  <a:pt x="1157" y="144"/>
                  <a:pt x="1154" y="144"/>
                </a:cubicBezTo>
                <a:cubicBezTo>
                  <a:pt x="1150" y="143"/>
                  <a:pt x="1146" y="143"/>
                  <a:pt x="1142" y="142"/>
                </a:cubicBezTo>
                <a:cubicBezTo>
                  <a:pt x="1138" y="142"/>
                  <a:pt x="1134" y="141"/>
                  <a:pt x="1130" y="141"/>
                </a:cubicBezTo>
                <a:cubicBezTo>
                  <a:pt x="1126" y="141"/>
                  <a:pt x="1122" y="140"/>
                  <a:pt x="1118" y="140"/>
                </a:cubicBezTo>
                <a:cubicBezTo>
                  <a:pt x="1114" y="139"/>
                  <a:pt x="1110" y="138"/>
                  <a:pt x="1106" y="138"/>
                </a:cubicBezTo>
                <a:cubicBezTo>
                  <a:pt x="1102" y="138"/>
                  <a:pt x="1098" y="137"/>
                  <a:pt x="1094" y="136"/>
                </a:cubicBezTo>
                <a:cubicBezTo>
                  <a:pt x="1090" y="136"/>
                  <a:pt x="1086" y="135"/>
                  <a:pt x="1082" y="135"/>
                </a:cubicBezTo>
                <a:cubicBezTo>
                  <a:pt x="1078" y="135"/>
                  <a:pt x="1074" y="134"/>
                  <a:pt x="1070" y="134"/>
                </a:cubicBezTo>
                <a:cubicBezTo>
                  <a:pt x="1066" y="134"/>
                  <a:pt x="1062" y="133"/>
                  <a:pt x="1058" y="133"/>
                </a:cubicBezTo>
                <a:cubicBezTo>
                  <a:pt x="1054" y="132"/>
                  <a:pt x="1049" y="133"/>
                  <a:pt x="1045" y="132"/>
                </a:cubicBezTo>
                <a:cubicBezTo>
                  <a:pt x="1041" y="132"/>
                  <a:pt x="1037" y="130"/>
                  <a:pt x="1033" y="130"/>
                </a:cubicBezTo>
                <a:cubicBezTo>
                  <a:pt x="1031" y="130"/>
                  <a:pt x="1029" y="130"/>
                  <a:pt x="1027" y="130"/>
                </a:cubicBezTo>
                <a:cubicBezTo>
                  <a:pt x="1027" y="130"/>
                  <a:pt x="1027" y="130"/>
                  <a:pt x="1027" y="130"/>
                </a:cubicBezTo>
                <a:cubicBezTo>
                  <a:pt x="1028" y="135"/>
                  <a:pt x="1023" y="137"/>
                  <a:pt x="1021" y="134"/>
                </a:cubicBezTo>
                <a:cubicBezTo>
                  <a:pt x="1020" y="132"/>
                  <a:pt x="1021" y="131"/>
                  <a:pt x="1022" y="130"/>
                </a:cubicBezTo>
                <a:cubicBezTo>
                  <a:pt x="1022" y="130"/>
                  <a:pt x="1022" y="130"/>
                  <a:pt x="1021" y="130"/>
                </a:cubicBezTo>
                <a:cubicBezTo>
                  <a:pt x="1020" y="130"/>
                  <a:pt x="1018" y="129"/>
                  <a:pt x="1017" y="129"/>
                </a:cubicBezTo>
                <a:cubicBezTo>
                  <a:pt x="1016" y="131"/>
                  <a:pt x="1015" y="134"/>
                  <a:pt x="1014" y="135"/>
                </a:cubicBezTo>
                <a:cubicBezTo>
                  <a:pt x="1009" y="137"/>
                  <a:pt x="1005" y="133"/>
                  <a:pt x="1006" y="128"/>
                </a:cubicBezTo>
                <a:cubicBezTo>
                  <a:pt x="1003" y="128"/>
                  <a:pt x="1000" y="128"/>
                  <a:pt x="997" y="128"/>
                </a:cubicBezTo>
                <a:cubicBezTo>
                  <a:pt x="993" y="128"/>
                  <a:pt x="990" y="127"/>
                  <a:pt x="986" y="126"/>
                </a:cubicBezTo>
                <a:cubicBezTo>
                  <a:pt x="986" y="127"/>
                  <a:pt x="985" y="127"/>
                  <a:pt x="985" y="128"/>
                </a:cubicBezTo>
                <a:cubicBezTo>
                  <a:pt x="985" y="127"/>
                  <a:pt x="984" y="127"/>
                  <a:pt x="984" y="126"/>
                </a:cubicBezTo>
                <a:cubicBezTo>
                  <a:pt x="984" y="128"/>
                  <a:pt x="983" y="128"/>
                  <a:pt x="982" y="130"/>
                </a:cubicBezTo>
                <a:cubicBezTo>
                  <a:pt x="980" y="129"/>
                  <a:pt x="980" y="128"/>
                  <a:pt x="979" y="127"/>
                </a:cubicBezTo>
                <a:cubicBezTo>
                  <a:pt x="979" y="127"/>
                  <a:pt x="979" y="126"/>
                  <a:pt x="980" y="126"/>
                </a:cubicBezTo>
                <a:cubicBezTo>
                  <a:pt x="977" y="126"/>
                  <a:pt x="975" y="126"/>
                  <a:pt x="973" y="125"/>
                </a:cubicBezTo>
                <a:cubicBezTo>
                  <a:pt x="969" y="125"/>
                  <a:pt x="966" y="126"/>
                  <a:pt x="962" y="125"/>
                </a:cubicBezTo>
                <a:cubicBezTo>
                  <a:pt x="963" y="127"/>
                  <a:pt x="964" y="130"/>
                  <a:pt x="962" y="132"/>
                </a:cubicBezTo>
                <a:cubicBezTo>
                  <a:pt x="960" y="132"/>
                  <a:pt x="957" y="132"/>
                  <a:pt x="956" y="131"/>
                </a:cubicBezTo>
                <a:cubicBezTo>
                  <a:pt x="954" y="129"/>
                  <a:pt x="954" y="127"/>
                  <a:pt x="956" y="125"/>
                </a:cubicBezTo>
                <a:cubicBezTo>
                  <a:pt x="953" y="125"/>
                  <a:pt x="951" y="125"/>
                  <a:pt x="949" y="125"/>
                </a:cubicBezTo>
                <a:cubicBezTo>
                  <a:pt x="945" y="124"/>
                  <a:pt x="940" y="124"/>
                  <a:pt x="937" y="124"/>
                </a:cubicBezTo>
                <a:cubicBezTo>
                  <a:pt x="932" y="123"/>
                  <a:pt x="928" y="123"/>
                  <a:pt x="924" y="123"/>
                </a:cubicBezTo>
                <a:cubicBezTo>
                  <a:pt x="920" y="122"/>
                  <a:pt x="916" y="122"/>
                  <a:pt x="912" y="122"/>
                </a:cubicBezTo>
                <a:cubicBezTo>
                  <a:pt x="908" y="122"/>
                  <a:pt x="904" y="122"/>
                  <a:pt x="900" y="122"/>
                </a:cubicBezTo>
                <a:cubicBezTo>
                  <a:pt x="896" y="122"/>
                  <a:pt x="892" y="122"/>
                  <a:pt x="888" y="121"/>
                </a:cubicBezTo>
                <a:cubicBezTo>
                  <a:pt x="884" y="121"/>
                  <a:pt x="880" y="120"/>
                  <a:pt x="876" y="120"/>
                </a:cubicBezTo>
                <a:cubicBezTo>
                  <a:pt x="872" y="120"/>
                  <a:pt x="868" y="121"/>
                  <a:pt x="864" y="121"/>
                </a:cubicBezTo>
                <a:cubicBezTo>
                  <a:pt x="860" y="121"/>
                  <a:pt x="855" y="120"/>
                  <a:pt x="852" y="120"/>
                </a:cubicBezTo>
                <a:cubicBezTo>
                  <a:pt x="847" y="120"/>
                  <a:pt x="843" y="120"/>
                  <a:pt x="840" y="120"/>
                </a:cubicBezTo>
                <a:cubicBezTo>
                  <a:pt x="835" y="120"/>
                  <a:pt x="831" y="120"/>
                  <a:pt x="827" y="120"/>
                </a:cubicBezTo>
                <a:cubicBezTo>
                  <a:pt x="823" y="120"/>
                  <a:pt x="819" y="120"/>
                  <a:pt x="815" y="120"/>
                </a:cubicBezTo>
                <a:cubicBezTo>
                  <a:pt x="811" y="120"/>
                  <a:pt x="807" y="120"/>
                  <a:pt x="803" y="120"/>
                </a:cubicBezTo>
                <a:cubicBezTo>
                  <a:pt x="799" y="120"/>
                  <a:pt x="795" y="120"/>
                  <a:pt x="791" y="120"/>
                </a:cubicBezTo>
                <a:cubicBezTo>
                  <a:pt x="787" y="120"/>
                  <a:pt x="783" y="120"/>
                  <a:pt x="779" y="121"/>
                </a:cubicBezTo>
                <a:cubicBezTo>
                  <a:pt x="774" y="121"/>
                  <a:pt x="770" y="120"/>
                  <a:pt x="767" y="121"/>
                </a:cubicBezTo>
                <a:cubicBezTo>
                  <a:pt x="763" y="121"/>
                  <a:pt x="760" y="120"/>
                  <a:pt x="756" y="120"/>
                </a:cubicBezTo>
                <a:cubicBezTo>
                  <a:pt x="752" y="120"/>
                  <a:pt x="748" y="121"/>
                  <a:pt x="744" y="121"/>
                </a:cubicBezTo>
                <a:cubicBezTo>
                  <a:pt x="740" y="121"/>
                  <a:pt x="736" y="121"/>
                  <a:pt x="732" y="121"/>
                </a:cubicBezTo>
                <a:cubicBezTo>
                  <a:pt x="728" y="121"/>
                  <a:pt x="724" y="121"/>
                  <a:pt x="719" y="122"/>
                </a:cubicBezTo>
                <a:cubicBezTo>
                  <a:pt x="716" y="122"/>
                  <a:pt x="711" y="122"/>
                  <a:pt x="707" y="122"/>
                </a:cubicBezTo>
                <a:cubicBezTo>
                  <a:pt x="703" y="122"/>
                  <a:pt x="699" y="122"/>
                  <a:pt x="695" y="122"/>
                </a:cubicBezTo>
                <a:cubicBezTo>
                  <a:pt x="691" y="122"/>
                  <a:pt x="687" y="123"/>
                  <a:pt x="683" y="123"/>
                </a:cubicBezTo>
                <a:cubicBezTo>
                  <a:pt x="679" y="124"/>
                  <a:pt x="675" y="124"/>
                  <a:pt x="671" y="124"/>
                </a:cubicBezTo>
                <a:cubicBezTo>
                  <a:pt x="667" y="124"/>
                  <a:pt x="663" y="124"/>
                  <a:pt x="659" y="124"/>
                </a:cubicBezTo>
                <a:cubicBezTo>
                  <a:pt x="655" y="125"/>
                  <a:pt x="651" y="125"/>
                  <a:pt x="647" y="125"/>
                </a:cubicBezTo>
                <a:cubicBezTo>
                  <a:pt x="643" y="126"/>
                  <a:pt x="639" y="126"/>
                  <a:pt x="635" y="126"/>
                </a:cubicBezTo>
                <a:cubicBezTo>
                  <a:pt x="631" y="127"/>
                  <a:pt x="627" y="128"/>
                  <a:pt x="623" y="128"/>
                </a:cubicBezTo>
                <a:cubicBezTo>
                  <a:pt x="619" y="128"/>
                  <a:pt x="615" y="128"/>
                  <a:pt x="610" y="129"/>
                </a:cubicBezTo>
                <a:cubicBezTo>
                  <a:pt x="606" y="129"/>
                  <a:pt x="602" y="129"/>
                  <a:pt x="598" y="129"/>
                </a:cubicBezTo>
                <a:cubicBezTo>
                  <a:pt x="594" y="130"/>
                  <a:pt x="590" y="130"/>
                  <a:pt x="586" y="131"/>
                </a:cubicBezTo>
                <a:cubicBezTo>
                  <a:pt x="582" y="131"/>
                  <a:pt x="578" y="132"/>
                  <a:pt x="574" y="132"/>
                </a:cubicBezTo>
                <a:cubicBezTo>
                  <a:pt x="570" y="133"/>
                  <a:pt x="566" y="133"/>
                  <a:pt x="562" y="133"/>
                </a:cubicBezTo>
                <a:cubicBezTo>
                  <a:pt x="558" y="134"/>
                  <a:pt x="554" y="135"/>
                  <a:pt x="550" y="135"/>
                </a:cubicBezTo>
                <a:cubicBezTo>
                  <a:pt x="546" y="136"/>
                  <a:pt x="542" y="137"/>
                  <a:pt x="538" y="137"/>
                </a:cubicBezTo>
                <a:cubicBezTo>
                  <a:pt x="534" y="138"/>
                  <a:pt x="530" y="137"/>
                  <a:pt x="526" y="138"/>
                </a:cubicBezTo>
                <a:cubicBezTo>
                  <a:pt x="522" y="138"/>
                  <a:pt x="518" y="139"/>
                  <a:pt x="514" y="139"/>
                </a:cubicBezTo>
                <a:cubicBezTo>
                  <a:pt x="510" y="140"/>
                  <a:pt x="506" y="141"/>
                  <a:pt x="502" y="142"/>
                </a:cubicBezTo>
                <a:cubicBezTo>
                  <a:pt x="498" y="142"/>
                  <a:pt x="494" y="143"/>
                  <a:pt x="490" y="143"/>
                </a:cubicBezTo>
                <a:cubicBezTo>
                  <a:pt x="486" y="144"/>
                  <a:pt x="482" y="144"/>
                  <a:pt x="478" y="145"/>
                </a:cubicBezTo>
                <a:cubicBezTo>
                  <a:pt x="474" y="146"/>
                  <a:pt x="470" y="146"/>
                  <a:pt x="466" y="146"/>
                </a:cubicBezTo>
                <a:cubicBezTo>
                  <a:pt x="462" y="147"/>
                  <a:pt x="458" y="148"/>
                  <a:pt x="454" y="148"/>
                </a:cubicBezTo>
                <a:cubicBezTo>
                  <a:pt x="450" y="149"/>
                  <a:pt x="446" y="150"/>
                  <a:pt x="442" y="151"/>
                </a:cubicBezTo>
                <a:cubicBezTo>
                  <a:pt x="438" y="151"/>
                  <a:pt x="434" y="152"/>
                  <a:pt x="430" y="152"/>
                </a:cubicBezTo>
                <a:cubicBezTo>
                  <a:pt x="426" y="153"/>
                  <a:pt x="422" y="154"/>
                  <a:pt x="417" y="155"/>
                </a:cubicBezTo>
                <a:cubicBezTo>
                  <a:pt x="413" y="155"/>
                  <a:pt x="409" y="156"/>
                  <a:pt x="405" y="157"/>
                </a:cubicBezTo>
                <a:cubicBezTo>
                  <a:pt x="401" y="157"/>
                  <a:pt x="397" y="158"/>
                  <a:pt x="392" y="159"/>
                </a:cubicBezTo>
                <a:cubicBezTo>
                  <a:pt x="388" y="160"/>
                  <a:pt x="384" y="161"/>
                  <a:pt x="380" y="162"/>
                </a:cubicBezTo>
                <a:cubicBezTo>
                  <a:pt x="380" y="161"/>
                  <a:pt x="380" y="160"/>
                  <a:pt x="380" y="160"/>
                </a:cubicBezTo>
                <a:cubicBezTo>
                  <a:pt x="381" y="159"/>
                  <a:pt x="380" y="159"/>
                  <a:pt x="381" y="158"/>
                </a:cubicBezTo>
                <a:cubicBezTo>
                  <a:pt x="382" y="154"/>
                  <a:pt x="384" y="151"/>
                  <a:pt x="386" y="147"/>
                </a:cubicBezTo>
                <a:cubicBezTo>
                  <a:pt x="386" y="147"/>
                  <a:pt x="388" y="143"/>
                  <a:pt x="389" y="138"/>
                </a:cubicBezTo>
                <a:cubicBezTo>
                  <a:pt x="390" y="134"/>
                  <a:pt x="391" y="131"/>
                  <a:pt x="391" y="128"/>
                </a:cubicBezTo>
                <a:cubicBezTo>
                  <a:pt x="392" y="127"/>
                  <a:pt x="393" y="121"/>
                  <a:pt x="393" y="120"/>
                </a:cubicBezTo>
                <a:cubicBezTo>
                  <a:pt x="393" y="117"/>
                  <a:pt x="394" y="117"/>
                  <a:pt x="394" y="114"/>
                </a:cubicBezTo>
                <a:cubicBezTo>
                  <a:pt x="394" y="111"/>
                  <a:pt x="395" y="111"/>
                  <a:pt x="395" y="108"/>
                </a:cubicBezTo>
                <a:cubicBezTo>
                  <a:pt x="396" y="107"/>
                  <a:pt x="396" y="103"/>
                  <a:pt x="396" y="99"/>
                </a:cubicBezTo>
                <a:cubicBezTo>
                  <a:pt x="397" y="95"/>
                  <a:pt x="396" y="90"/>
                  <a:pt x="396" y="89"/>
                </a:cubicBezTo>
                <a:cubicBezTo>
                  <a:pt x="396" y="87"/>
                  <a:pt x="396" y="87"/>
                  <a:pt x="396" y="84"/>
                </a:cubicBezTo>
                <a:cubicBezTo>
                  <a:pt x="396" y="80"/>
                  <a:pt x="397" y="76"/>
                  <a:pt x="397" y="73"/>
                </a:cubicBezTo>
                <a:cubicBezTo>
                  <a:pt x="397" y="67"/>
                  <a:pt x="397" y="63"/>
                  <a:pt x="397" y="62"/>
                </a:cubicBezTo>
                <a:cubicBezTo>
                  <a:pt x="397" y="58"/>
                  <a:pt x="396" y="55"/>
                  <a:pt x="395" y="51"/>
                </a:cubicBezTo>
                <a:cubicBezTo>
                  <a:pt x="394" y="47"/>
                  <a:pt x="394" y="43"/>
                  <a:pt x="392" y="40"/>
                </a:cubicBezTo>
                <a:cubicBezTo>
                  <a:pt x="390" y="36"/>
                  <a:pt x="387" y="34"/>
                  <a:pt x="385" y="31"/>
                </a:cubicBezTo>
                <a:cubicBezTo>
                  <a:pt x="382" y="28"/>
                  <a:pt x="380" y="25"/>
                  <a:pt x="377" y="23"/>
                </a:cubicBezTo>
                <a:cubicBezTo>
                  <a:pt x="374" y="21"/>
                  <a:pt x="371" y="18"/>
                  <a:pt x="367" y="17"/>
                </a:cubicBezTo>
                <a:cubicBezTo>
                  <a:pt x="364" y="15"/>
                  <a:pt x="361" y="13"/>
                  <a:pt x="357" y="12"/>
                </a:cubicBezTo>
                <a:cubicBezTo>
                  <a:pt x="353" y="10"/>
                  <a:pt x="349" y="8"/>
                  <a:pt x="345" y="7"/>
                </a:cubicBezTo>
                <a:cubicBezTo>
                  <a:pt x="341" y="6"/>
                  <a:pt x="337" y="6"/>
                  <a:pt x="332" y="5"/>
                </a:cubicBezTo>
                <a:cubicBezTo>
                  <a:pt x="328" y="4"/>
                  <a:pt x="324" y="3"/>
                  <a:pt x="320" y="2"/>
                </a:cubicBezTo>
                <a:cubicBezTo>
                  <a:pt x="315" y="2"/>
                  <a:pt x="311" y="1"/>
                  <a:pt x="307" y="1"/>
                </a:cubicBezTo>
                <a:cubicBezTo>
                  <a:pt x="303" y="0"/>
                  <a:pt x="298" y="1"/>
                  <a:pt x="294" y="1"/>
                </a:cubicBezTo>
                <a:cubicBezTo>
                  <a:pt x="290" y="1"/>
                  <a:pt x="286" y="1"/>
                  <a:pt x="282" y="1"/>
                </a:cubicBezTo>
                <a:cubicBezTo>
                  <a:pt x="278" y="1"/>
                  <a:pt x="274" y="2"/>
                  <a:pt x="270" y="2"/>
                </a:cubicBezTo>
                <a:cubicBezTo>
                  <a:pt x="269" y="2"/>
                  <a:pt x="268" y="2"/>
                  <a:pt x="267" y="2"/>
                </a:cubicBezTo>
                <a:cubicBezTo>
                  <a:pt x="267" y="3"/>
                  <a:pt x="266" y="3"/>
                  <a:pt x="266" y="4"/>
                </a:cubicBezTo>
                <a:cubicBezTo>
                  <a:pt x="266" y="4"/>
                  <a:pt x="266" y="3"/>
                  <a:pt x="266" y="2"/>
                </a:cubicBezTo>
                <a:cubicBezTo>
                  <a:pt x="263" y="2"/>
                  <a:pt x="260" y="2"/>
                  <a:pt x="258" y="3"/>
                </a:cubicBezTo>
                <a:cubicBezTo>
                  <a:pt x="254" y="3"/>
                  <a:pt x="250" y="4"/>
                  <a:pt x="246" y="4"/>
                </a:cubicBezTo>
                <a:cubicBezTo>
                  <a:pt x="242" y="5"/>
                  <a:pt x="238" y="6"/>
                  <a:pt x="234" y="6"/>
                </a:cubicBezTo>
                <a:cubicBezTo>
                  <a:pt x="230" y="7"/>
                  <a:pt x="226" y="8"/>
                  <a:pt x="222" y="9"/>
                </a:cubicBezTo>
                <a:cubicBezTo>
                  <a:pt x="218" y="10"/>
                  <a:pt x="214" y="9"/>
                  <a:pt x="210" y="10"/>
                </a:cubicBezTo>
                <a:cubicBezTo>
                  <a:pt x="206" y="11"/>
                  <a:pt x="202" y="13"/>
                  <a:pt x="198" y="14"/>
                </a:cubicBezTo>
                <a:cubicBezTo>
                  <a:pt x="194" y="15"/>
                  <a:pt x="190" y="16"/>
                  <a:pt x="187" y="17"/>
                </a:cubicBezTo>
                <a:cubicBezTo>
                  <a:pt x="183" y="18"/>
                  <a:pt x="179" y="19"/>
                  <a:pt x="175" y="20"/>
                </a:cubicBezTo>
                <a:cubicBezTo>
                  <a:pt x="172" y="21"/>
                  <a:pt x="170" y="22"/>
                  <a:pt x="167" y="23"/>
                </a:cubicBezTo>
                <a:cubicBezTo>
                  <a:pt x="167" y="23"/>
                  <a:pt x="166" y="23"/>
                  <a:pt x="165" y="23"/>
                </a:cubicBezTo>
                <a:cubicBezTo>
                  <a:pt x="165" y="24"/>
                  <a:pt x="164" y="24"/>
                  <a:pt x="163" y="24"/>
                </a:cubicBezTo>
                <a:cubicBezTo>
                  <a:pt x="160" y="25"/>
                  <a:pt x="156" y="27"/>
                  <a:pt x="152" y="28"/>
                </a:cubicBezTo>
                <a:cubicBezTo>
                  <a:pt x="149" y="30"/>
                  <a:pt x="145" y="31"/>
                  <a:pt x="141" y="33"/>
                </a:cubicBezTo>
                <a:cubicBezTo>
                  <a:pt x="137" y="34"/>
                  <a:pt x="134" y="36"/>
                  <a:pt x="130" y="38"/>
                </a:cubicBezTo>
                <a:cubicBezTo>
                  <a:pt x="126" y="40"/>
                  <a:pt x="123" y="41"/>
                  <a:pt x="119" y="43"/>
                </a:cubicBezTo>
                <a:cubicBezTo>
                  <a:pt x="115" y="44"/>
                  <a:pt x="111" y="46"/>
                  <a:pt x="108" y="48"/>
                </a:cubicBezTo>
                <a:cubicBezTo>
                  <a:pt x="104" y="49"/>
                  <a:pt x="101" y="52"/>
                  <a:pt x="98" y="54"/>
                </a:cubicBezTo>
                <a:cubicBezTo>
                  <a:pt x="94" y="56"/>
                  <a:pt x="90" y="57"/>
                  <a:pt x="87" y="59"/>
                </a:cubicBezTo>
                <a:cubicBezTo>
                  <a:pt x="83" y="61"/>
                  <a:pt x="80" y="64"/>
                  <a:pt x="77" y="66"/>
                </a:cubicBezTo>
                <a:cubicBezTo>
                  <a:pt x="73" y="68"/>
                  <a:pt x="70" y="70"/>
                  <a:pt x="67" y="73"/>
                </a:cubicBezTo>
                <a:cubicBezTo>
                  <a:pt x="63" y="75"/>
                  <a:pt x="60" y="77"/>
                  <a:pt x="57" y="80"/>
                </a:cubicBezTo>
                <a:cubicBezTo>
                  <a:pt x="54" y="82"/>
                  <a:pt x="50" y="84"/>
                  <a:pt x="47" y="86"/>
                </a:cubicBezTo>
                <a:cubicBezTo>
                  <a:pt x="45" y="88"/>
                  <a:pt x="43" y="89"/>
                  <a:pt x="41" y="91"/>
                </a:cubicBezTo>
                <a:cubicBezTo>
                  <a:pt x="42" y="91"/>
                  <a:pt x="42" y="91"/>
                  <a:pt x="43" y="91"/>
                </a:cubicBezTo>
                <a:cubicBezTo>
                  <a:pt x="44" y="96"/>
                  <a:pt x="39" y="96"/>
                  <a:pt x="37" y="94"/>
                </a:cubicBezTo>
                <a:cubicBezTo>
                  <a:pt x="33" y="97"/>
                  <a:pt x="34" y="98"/>
                  <a:pt x="30" y="101"/>
                </a:cubicBezTo>
                <a:cubicBezTo>
                  <a:pt x="29" y="103"/>
                  <a:pt x="27" y="105"/>
                  <a:pt x="25" y="106"/>
                </a:cubicBezTo>
                <a:cubicBezTo>
                  <a:pt x="24" y="107"/>
                  <a:pt x="23" y="108"/>
                  <a:pt x="22" y="109"/>
                </a:cubicBezTo>
                <a:cubicBezTo>
                  <a:pt x="20" y="111"/>
                  <a:pt x="18" y="114"/>
                  <a:pt x="16" y="117"/>
                </a:cubicBezTo>
                <a:cubicBezTo>
                  <a:pt x="14" y="121"/>
                  <a:pt x="12" y="124"/>
                  <a:pt x="11" y="128"/>
                </a:cubicBezTo>
                <a:cubicBezTo>
                  <a:pt x="10" y="131"/>
                  <a:pt x="9" y="131"/>
                  <a:pt x="8" y="135"/>
                </a:cubicBezTo>
                <a:cubicBezTo>
                  <a:pt x="6" y="138"/>
                  <a:pt x="7" y="139"/>
                  <a:pt x="6" y="142"/>
                </a:cubicBezTo>
                <a:cubicBezTo>
                  <a:pt x="5" y="144"/>
                  <a:pt x="4" y="146"/>
                  <a:pt x="4" y="148"/>
                </a:cubicBezTo>
                <a:cubicBezTo>
                  <a:pt x="4" y="149"/>
                  <a:pt x="3" y="149"/>
                  <a:pt x="3" y="150"/>
                </a:cubicBezTo>
                <a:cubicBezTo>
                  <a:pt x="3" y="152"/>
                  <a:pt x="2" y="158"/>
                  <a:pt x="2" y="165"/>
                </a:cubicBezTo>
                <a:cubicBezTo>
                  <a:pt x="1" y="170"/>
                  <a:pt x="0" y="176"/>
                  <a:pt x="0" y="179"/>
                </a:cubicBezTo>
                <a:cubicBezTo>
                  <a:pt x="0" y="183"/>
                  <a:pt x="0" y="187"/>
                  <a:pt x="0" y="191"/>
                </a:cubicBezTo>
                <a:cubicBezTo>
                  <a:pt x="0" y="195"/>
                  <a:pt x="0" y="199"/>
                  <a:pt x="1" y="203"/>
                </a:cubicBezTo>
                <a:cubicBezTo>
                  <a:pt x="1" y="207"/>
                  <a:pt x="2" y="211"/>
                  <a:pt x="2" y="215"/>
                </a:cubicBezTo>
                <a:cubicBezTo>
                  <a:pt x="2" y="219"/>
                  <a:pt x="3" y="223"/>
                  <a:pt x="3" y="227"/>
                </a:cubicBezTo>
                <a:cubicBezTo>
                  <a:pt x="4" y="231"/>
                  <a:pt x="5" y="235"/>
                  <a:pt x="6" y="239"/>
                </a:cubicBezTo>
                <a:cubicBezTo>
                  <a:pt x="6" y="243"/>
                  <a:pt x="6" y="247"/>
                  <a:pt x="7" y="251"/>
                </a:cubicBezTo>
                <a:cubicBezTo>
                  <a:pt x="8" y="255"/>
                  <a:pt x="9" y="259"/>
                  <a:pt x="10" y="263"/>
                </a:cubicBezTo>
                <a:cubicBezTo>
                  <a:pt x="11" y="266"/>
                  <a:pt x="12" y="270"/>
                  <a:pt x="13" y="274"/>
                </a:cubicBezTo>
                <a:cubicBezTo>
                  <a:pt x="14" y="278"/>
                  <a:pt x="15" y="282"/>
                  <a:pt x="17" y="286"/>
                </a:cubicBezTo>
                <a:cubicBezTo>
                  <a:pt x="18" y="290"/>
                  <a:pt x="20" y="295"/>
                  <a:pt x="21" y="300"/>
                </a:cubicBezTo>
                <a:cubicBezTo>
                  <a:pt x="22" y="304"/>
                  <a:pt x="23" y="307"/>
                  <a:pt x="24" y="311"/>
                </a:cubicBezTo>
                <a:cubicBezTo>
                  <a:pt x="25" y="315"/>
                  <a:pt x="27" y="318"/>
                  <a:pt x="28" y="322"/>
                </a:cubicBezTo>
                <a:cubicBezTo>
                  <a:pt x="29" y="326"/>
                  <a:pt x="30" y="329"/>
                  <a:pt x="31" y="333"/>
                </a:cubicBezTo>
                <a:cubicBezTo>
                  <a:pt x="32" y="337"/>
                  <a:pt x="32" y="341"/>
                  <a:pt x="33" y="344"/>
                </a:cubicBezTo>
                <a:cubicBezTo>
                  <a:pt x="34" y="348"/>
                  <a:pt x="35" y="352"/>
                  <a:pt x="36" y="356"/>
                </a:cubicBezTo>
                <a:cubicBezTo>
                  <a:pt x="37" y="359"/>
                  <a:pt x="38" y="363"/>
                  <a:pt x="38" y="367"/>
                </a:cubicBezTo>
                <a:cubicBezTo>
                  <a:pt x="39" y="371"/>
                  <a:pt x="40" y="374"/>
                  <a:pt x="40" y="378"/>
                </a:cubicBezTo>
                <a:cubicBezTo>
                  <a:pt x="41" y="382"/>
                  <a:pt x="40" y="386"/>
                  <a:pt x="41" y="390"/>
                </a:cubicBezTo>
                <a:cubicBezTo>
                  <a:pt x="41" y="394"/>
                  <a:pt x="42" y="397"/>
                  <a:pt x="42" y="401"/>
                </a:cubicBezTo>
                <a:cubicBezTo>
                  <a:pt x="42" y="405"/>
                  <a:pt x="42" y="409"/>
                  <a:pt x="42" y="413"/>
                </a:cubicBezTo>
                <a:cubicBezTo>
                  <a:pt x="42" y="417"/>
                  <a:pt x="42" y="421"/>
                  <a:pt x="42" y="424"/>
                </a:cubicBezTo>
                <a:cubicBezTo>
                  <a:pt x="41" y="428"/>
                  <a:pt x="41" y="432"/>
                  <a:pt x="41" y="436"/>
                </a:cubicBezTo>
                <a:cubicBezTo>
                  <a:pt x="41" y="440"/>
                  <a:pt x="42" y="444"/>
                  <a:pt x="43" y="448"/>
                </a:cubicBezTo>
                <a:cubicBezTo>
                  <a:pt x="44" y="452"/>
                  <a:pt x="44" y="456"/>
                  <a:pt x="46" y="460"/>
                </a:cubicBezTo>
                <a:cubicBezTo>
                  <a:pt x="48" y="464"/>
                  <a:pt x="50" y="468"/>
                  <a:pt x="52" y="471"/>
                </a:cubicBezTo>
                <a:cubicBezTo>
                  <a:pt x="54" y="475"/>
                  <a:pt x="57" y="478"/>
                  <a:pt x="60" y="481"/>
                </a:cubicBezTo>
                <a:cubicBezTo>
                  <a:pt x="63" y="484"/>
                  <a:pt x="67" y="487"/>
                  <a:pt x="70" y="489"/>
                </a:cubicBezTo>
                <a:cubicBezTo>
                  <a:pt x="74" y="491"/>
                  <a:pt x="78" y="493"/>
                  <a:pt x="82" y="495"/>
                </a:cubicBezTo>
                <a:cubicBezTo>
                  <a:pt x="86" y="496"/>
                  <a:pt x="90" y="497"/>
                  <a:pt x="95" y="498"/>
                </a:cubicBezTo>
                <a:cubicBezTo>
                  <a:pt x="99" y="498"/>
                  <a:pt x="103" y="499"/>
                  <a:pt x="108" y="499"/>
                </a:cubicBezTo>
                <a:cubicBezTo>
                  <a:pt x="108" y="499"/>
                  <a:pt x="108" y="499"/>
                  <a:pt x="109" y="499"/>
                </a:cubicBezTo>
                <a:cubicBezTo>
                  <a:pt x="113" y="499"/>
                  <a:pt x="118" y="499"/>
                  <a:pt x="122" y="498"/>
                </a:cubicBezTo>
                <a:cubicBezTo>
                  <a:pt x="126" y="498"/>
                  <a:pt x="130" y="498"/>
                  <a:pt x="135" y="497"/>
                </a:cubicBezTo>
                <a:cubicBezTo>
                  <a:pt x="139" y="497"/>
                  <a:pt x="143" y="496"/>
                  <a:pt x="147" y="496"/>
                </a:cubicBezTo>
                <a:cubicBezTo>
                  <a:pt x="151" y="495"/>
                  <a:pt x="155" y="493"/>
                  <a:pt x="160" y="492"/>
                </a:cubicBezTo>
                <a:cubicBezTo>
                  <a:pt x="164" y="491"/>
                  <a:pt x="168" y="490"/>
                  <a:pt x="172" y="489"/>
                </a:cubicBezTo>
                <a:cubicBezTo>
                  <a:pt x="176" y="489"/>
                  <a:pt x="179" y="488"/>
                  <a:pt x="183" y="487"/>
                </a:cubicBezTo>
                <a:cubicBezTo>
                  <a:pt x="186" y="486"/>
                  <a:pt x="190" y="485"/>
                  <a:pt x="193" y="485"/>
                </a:cubicBezTo>
                <a:cubicBezTo>
                  <a:pt x="197" y="484"/>
                  <a:pt x="200" y="484"/>
                  <a:pt x="204" y="484"/>
                </a:cubicBezTo>
                <a:cubicBezTo>
                  <a:pt x="207" y="483"/>
                  <a:pt x="207" y="482"/>
                  <a:pt x="211" y="482"/>
                </a:cubicBezTo>
                <a:cubicBezTo>
                  <a:pt x="214" y="481"/>
                  <a:pt x="214" y="482"/>
                  <a:pt x="218" y="481"/>
                </a:cubicBezTo>
                <a:cubicBezTo>
                  <a:pt x="221" y="481"/>
                  <a:pt x="221" y="481"/>
                  <a:pt x="225" y="480"/>
                </a:cubicBezTo>
                <a:cubicBezTo>
                  <a:pt x="230" y="479"/>
                  <a:pt x="230" y="478"/>
                  <a:pt x="236" y="477"/>
                </a:cubicBezTo>
                <a:cubicBezTo>
                  <a:pt x="238" y="476"/>
                  <a:pt x="238" y="476"/>
                  <a:pt x="240" y="475"/>
                </a:cubicBezTo>
                <a:cubicBezTo>
                  <a:pt x="243" y="475"/>
                  <a:pt x="243" y="475"/>
                  <a:pt x="245" y="475"/>
                </a:cubicBezTo>
                <a:cubicBezTo>
                  <a:pt x="248" y="474"/>
                  <a:pt x="248" y="475"/>
                  <a:pt x="250" y="474"/>
                </a:cubicBezTo>
                <a:cubicBezTo>
                  <a:pt x="254" y="474"/>
                  <a:pt x="257" y="472"/>
                  <a:pt x="261" y="471"/>
                </a:cubicBezTo>
                <a:cubicBezTo>
                  <a:pt x="265" y="471"/>
                  <a:pt x="269" y="470"/>
                  <a:pt x="273" y="470"/>
                </a:cubicBezTo>
                <a:cubicBezTo>
                  <a:pt x="276" y="469"/>
                  <a:pt x="280" y="468"/>
                  <a:pt x="284" y="467"/>
                </a:cubicBezTo>
                <a:cubicBezTo>
                  <a:pt x="288" y="466"/>
                  <a:pt x="292" y="467"/>
                  <a:pt x="295" y="466"/>
                </a:cubicBezTo>
                <a:cubicBezTo>
                  <a:pt x="299" y="465"/>
                  <a:pt x="303" y="464"/>
                  <a:pt x="307" y="464"/>
                </a:cubicBezTo>
                <a:cubicBezTo>
                  <a:pt x="310" y="463"/>
                  <a:pt x="314" y="462"/>
                  <a:pt x="318" y="461"/>
                </a:cubicBezTo>
                <a:cubicBezTo>
                  <a:pt x="322" y="461"/>
                  <a:pt x="325" y="460"/>
                  <a:pt x="329" y="459"/>
                </a:cubicBezTo>
                <a:cubicBezTo>
                  <a:pt x="333" y="458"/>
                  <a:pt x="337" y="458"/>
                  <a:pt x="341" y="458"/>
                </a:cubicBezTo>
                <a:cubicBezTo>
                  <a:pt x="345" y="457"/>
                  <a:pt x="348" y="456"/>
                  <a:pt x="352" y="455"/>
                </a:cubicBezTo>
                <a:cubicBezTo>
                  <a:pt x="356" y="454"/>
                  <a:pt x="360" y="454"/>
                  <a:pt x="364" y="454"/>
                </a:cubicBezTo>
                <a:cubicBezTo>
                  <a:pt x="367" y="453"/>
                  <a:pt x="371" y="453"/>
                  <a:pt x="375" y="452"/>
                </a:cubicBezTo>
                <a:cubicBezTo>
                  <a:pt x="379" y="452"/>
                  <a:pt x="382" y="450"/>
                  <a:pt x="386" y="450"/>
                </a:cubicBezTo>
                <a:cubicBezTo>
                  <a:pt x="390" y="449"/>
                  <a:pt x="394" y="449"/>
                  <a:pt x="398" y="448"/>
                </a:cubicBezTo>
                <a:cubicBezTo>
                  <a:pt x="402" y="448"/>
                  <a:pt x="405" y="446"/>
                  <a:pt x="409" y="446"/>
                </a:cubicBezTo>
                <a:cubicBezTo>
                  <a:pt x="413" y="445"/>
                  <a:pt x="417" y="445"/>
                  <a:pt x="420" y="444"/>
                </a:cubicBezTo>
                <a:cubicBezTo>
                  <a:pt x="424" y="443"/>
                  <a:pt x="428" y="443"/>
                  <a:pt x="432" y="442"/>
                </a:cubicBezTo>
                <a:cubicBezTo>
                  <a:pt x="436" y="442"/>
                  <a:pt x="439" y="442"/>
                  <a:pt x="443" y="441"/>
                </a:cubicBezTo>
                <a:cubicBezTo>
                  <a:pt x="447" y="441"/>
                  <a:pt x="451" y="439"/>
                  <a:pt x="454" y="439"/>
                </a:cubicBezTo>
                <a:cubicBezTo>
                  <a:pt x="457" y="439"/>
                  <a:pt x="461" y="439"/>
                  <a:pt x="464" y="438"/>
                </a:cubicBezTo>
                <a:cubicBezTo>
                  <a:pt x="468" y="438"/>
                  <a:pt x="471" y="437"/>
                  <a:pt x="474" y="437"/>
                </a:cubicBezTo>
                <a:cubicBezTo>
                  <a:pt x="478" y="437"/>
                  <a:pt x="481" y="437"/>
                  <a:pt x="485" y="436"/>
                </a:cubicBezTo>
                <a:cubicBezTo>
                  <a:pt x="489" y="436"/>
                  <a:pt x="493" y="435"/>
                  <a:pt x="497" y="434"/>
                </a:cubicBezTo>
                <a:cubicBezTo>
                  <a:pt x="502" y="434"/>
                  <a:pt x="506" y="433"/>
                  <a:pt x="510" y="433"/>
                </a:cubicBezTo>
                <a:cubicBezTo>
                  <a:pt x="516" y="432"/>
                  <a:pt x="520" y="431"/>
                  <a:pt x="522" y="430"/>
                </a:cubicBezTo>
                <a:cubicBezTo>
                  <a:pt x="526" y="430"/>
                  <a:pt x="530" y="429"/>
                  <a:pt x="534" y="429"/>
                </a:cubicBezTo>
                <a:cubicBezTo>
                  <a:pt x="538" y="428"/>
                  <a:pt x="542" y="428"/>
                  <a:pt x="546" y="428"/>
                </a:cubicBezTo>
                <a:cubicBezTo>
                  <a:pt x="550" y="427"/>
                  <a:pt x="554" y="427"/>
                  <a:pt x="557" y="426"/>
                </a:cubicBezTo>
                <a:cubicBezTo>
                  <a:pt x="563" y="426"/>
                  <a:pt x="567" y="425"/>
                  <a:pt x="569" y="425"/>
                </a:cubicBezTo>
                <a:cubicBezTo>
                  <a:pt x="570" y="425"/>
                  <a:pt x="570" y="426"/>
                  <a:pt x="571" y="426"/>
                </a:cubicBezTo>
                <a:cubicBezTo>
                  <a:pt x="575" y="425"/>
                  <a:pt x="575" y="425"/>
                  <a:pt x="579" y="424"/>
                </a:cubicBezTo>
                <a:cubicBezTo>
                  <a:pt x="583" y="424"/>
                  <a:pt x="587" y="424"/>
                  <a:pt x="591" y="423"/>
                </a:cubicBezTo>
                <a:cubicBezTo>
                  <a:pt x="594" y="423"/>
                  <a:pt x="598" y="422"/>
                  <a:pt x="602" y="422"/>
                </a:cubicBezTo>
                <a:cubicBezTo>
                  <a:pt x="606" y="421"/>
                  <a:pt x="610" y="422"/>
                  <a:pt x="614" y="421"/>
                </a:cubicBezTo>
                <a:cubicBezTo>
                  <a:pt x="617" y="421"/>
                  <a:pt x="621" y="419"/>
                  <a:pt x="625" y="419"/>
                </a:cubicBezTo>
                <a:cubicBezTo>
                  <a:pt x="629" y="418"/>
                  <a:pt x="633" y="419"/>
                  <a:pt x="636" y="419"/>
                </a:cubicBezTo>
                <a:cubicBezTo>
                  <a:pt x="640" y="418"/>
                  <a:pt x="644" y="418"/>
                  <a:pt x="648" y="417"/>
                </a:cubicBezTo>
                <a:cubicBezTo>
                  <a:pt x="652" y="417"/>
                  <a:pt x="656" y="416"/>
                  <a:pt x="659" y="416"/>
                </a:cubicBezTo>
                <a:cubicBezTo>
                  <a:pt x="664" y="416"/>
                  <a:pt x="668" y="415"/>
                  <a:pt x="672" y="414"/>
                </a:cubicBezTo>
                <a:cubicBezTo>
                  <a:pt x="676" y="414"/>
                  <a:pt x="681" y="415"/>
                  <a:pt x="685" y="414"/>
                </a:cubicBezTo>
                <a:cubicBezTo>
                  <a:pt x="689" y="414"/>
                  <a:pt x="693" y="413"/>
                  <a:pt x="697" y="413"/>
                </a:cubicBezTo>
                <a:cubicBezTo>
                  <a:pt x="702" y="412"/>
                  <a:pt x="706" y="412"/>
                  <a:pt x="710" y="412"/>
                </a:cubicBezTo>
                <a:cubicBezTo>
                  <a:pt x="715" y="412"/>
                  <a:pt x="719" y="412"/>
                  <a:pt x="723" y="411"/>
                </a:cubicBezTo>
                <a:cubicBezTo>
                  <a:pt x="727" y="411"/>
                  <a:pt x="731" y="411"/>
                  <a:pt x="735" y="411"/>
                </a:cubicBezTo>
                <a:cubicBezTo>
                  <a:pt x="739" y="411"/>
                  <a:pt x="742" y="411"/>
                  <a:pt x="746" y="411"/>
                </a:cubicBezTo>
                <a:cubicBezTo>
                  <a:pt x="750" y="411"/>
                  <a:pt x="754" y="410"/>
                  <a:pt x="758" y="410"/>
                </a:cubicBezTo>
                <a:cubicBezTo>
                  <a:pt x="762" y="409"/>
                  <a:pt x="766" y="409"/>
                  <a:pt x="770" y="409"/>
                </a:cubicBezTo>
                <a:cubicBezTo>
                  <a:pt x="774" y="409"/>
                  <a:pt x="778" y="409"/>
                  <a:pt x="782" y="409"/>
                </a:cubicBezTo>
                <a:cubicBezTo>
                  <a:pt x="786" y="409"/>
                  <a:pt x="790" y="408"/>
                  <a:pt x="794" y="408"/>
                </a:cubicBezTo>
                <a:cubicBezTo>
                  <a:pt x="799" y="408"/>
                  <a:pt x="803" y="408"/>
                  <a:pt x="807" y="408"/>
                </a:cubicBezTo>
                <a:cubicBezTo>
                  <a:pt x="811" y="408"/>
                  <a:pt x="816" y="408"/>
                  <a:pt x="820" y="408"/>
                </a:cubicBezTo>
                <a:cubicBezTo>
                  <a:pt x="824" y="408"/>
                  <a:pt x="828" y="408"/>
                  <a:pt x="832" y="408"/>
                </a:cubicBezTo>
                <a:cubicBezTo>
                  <a:pt x="836" y="408"/>
                  <a:pt x="840" y="409"/>
                  <a:pt x="844" y="409"/>
                </a:cubicBezTo>
                <a:cubicBezTo>
                  <a:pt x="848" y="409"/>
                  <a:pt x="852" y="408"/>
                  <a:pt x="856" y="408"/>
                </a:cubicBezTo>
                <a:cubicBezTo>
                  <a:pt x="860" y="408"/>
                  <a:pt x="864" y="409"/>
                  <a:pt x="868" y="409"/>
                </a:cubicBezTo>
                <a:cubicBezTo>
                  <a:pt x="872" y="409"/>
                  <a:pt x="876" y="410"/>
                  <a:pt x="880" y="410"/>
                </a:cubicBezTo>
                <a:cubicBezTo>
                  <a:pt x="884" y="410"/>
                  <a:pt x="888" y="410"/>
                  <a:pt x="892" y="410"/>
                </a:cubicBezTo>
                <a:cubicBezTo>
                  <a:pt x="896" y="410"/>
                  <a:pt x="900" y="411"/>
                  <a:pt x="904" y="411"/>
                </a:cubicBezTo>
                <a:cubicBezTo>
                  <a:pt x="908" y="411"/>
                  <a:pt x="912" y="411"/>
                  <a:pt x="916" y="411"/>
                </a:cubicBezTo>
                <a:cubicBezTo>
                  <a:pt x="920" y="412"/>
                  <a:pt x="924" y="412"/>
                  <a:pt x="928" y="412"/>
                </a:cubicBezTo>
                <a:cubicBezTo>
                  <a:pt x="932" y="412"/>
                  <a:pt x="936" y="412"/>
                  <a:pt x="940" y="413"/>
                </a:cubicBezTo>
                <a:cubicBezTo>
                  <a:pt x="944" y="413"/>
                  <a:pt x="948" y="413"/>
                  <a:pt x="952" y="413"/>
                </a:cubicBezTo>
                <a:cubicBezTo>
                  <a:pt x="956" y="414"/>
                  <a:pt x="960" y="414"/>
                  <a:pt x="964" y="414"/>
                </a:cubicBezTo>
                <a:cubicBezTo>
                  <a:pt x="968" y="414"/>
                  <a:pt x="972" y="415"/>
                  <a:pt x="976" y="415"/>
                </a:cubicBezTo>
                <a:cubicBezTo>
                  <a:pt x="980" y="415"/>
                  <a:pt x="984" y="416"/>
                  <a:pt x="988" y="416"/>
                </a:cubicBezTo>
                <a:cubicBezTo>
                  <a:pt x="992" y="416"/>
                  <a:pt x="996" y="417"/>
                  <a:pt x="1000" y="417"/>
                </a:cubicBezTo>
                <a:cubicBezTo>
                  <a:pt x="1004" y="418"/>
                  <a:pt x="1008" y="418"/>
                  <a:pt x="1012" y="418"/>
                </a:cubicBezTo>
                <a:cubicBezTo>
                  <a:pt x="1016" y="419"/>
                  <a:pt x="1020" y="419"/>
                  <a:pt x="1024" y="419"/>
                </a:cubicBezTo>
                <a:cubicBezTo>
                  <a:pt x="1028" y="419"/>
                  <a:pt x="1032" y="420"/>
                  <a:pt x="1036" y="420"/>
                </a:cubicBezTo>
                <a:cubicBezTo>
                  <a:pt x="1040" y="420"/>
                  <a:pt x="1044" y="421"/>
                  <a:pt x="1048" y="421"/>
                </a:cubicBezTo>
                <a:cubicBezTo>
                  <a:pt x="1052" y="422"/>
                  <a:pt x="1056" y="423"/>
                  <a:pt x="1060" y="423"/>
                </a:cubicBezTo>
                <a:cubicBezTo>
                  <a:pt x="1064" y="423"/>
                  <a:pt x="1068" y="424"/>
                  <a:pt x="1072" y="425"/>
                </a:cubicBezTo>
                <a:cubicBezTo>
                  <a:pt x="1076" y="425"/>
                  <a:pt x="1080" y="425"/>
                  <a:pt x="1084" y="425"/>
                </a:cubicBezTo>
                <a:cubicBezTo>
                  <a:pt x="1088" y="426"/>
                  <a:pt x="1092" y="426"/>
                  <a:pt x="1096" y="427"/>
                </a:cubicBezTo>
                <a:cubicBezTo>
                  <a:pt x="1100" y="427"/>
                  <a:pt x="1104" y="428"/>
                  <a:pt x="1108" y="428"/>
                </a:cubicBezTo>
                <a:cubicBezTo>
                  <a:pt x="1112" y="429"/>
                  <a:pt x="1116" y="429"/>
                  <a:pt x="1120" y="429"/>
                </a:cubicBezTo>
                <a:cubicBezTo>
                  <a:pt x="1124" y="430"/>
                  <a:pt x="1128" y="430"/>
                  <a:pt x="1132" y="431"/>
                </a:cubicBezTo>
                <a:cubicBezTo>
                  <a:pt x="1136" y="431"/>
                  <a:pt x="1140" y="433"/>
                  <a:pt x="1144" y="433"/>
                </a:cubicBezTo>
                <a:cubicBezTo>
                  <a:pt x="1148" y="434"/>
                  <a:pt x="1152" y="434"/>
                  <a:pt x="1156" y="435"/>
                </a:cubicBezTo>
                <a:cubicBezTo>
                  <a:pt x="1160" y="435"/>
                  <a:pt x="1164" y="435"/>
                  <a:pt x="1168" y="436"/>
                </a:cubicBezTo>
                <a:cubicBezTo>
                  <a:pt x="1172" y="436"/>
                  <a:pt x="1176" y="437"/>
                  <a:pt x="1180" y="437"/>
                </a:cubicBezTo>
                <a:cubicBezTo>
                  <a:pt x="1184" y="438"/>
                  <a:pt x="1188" y="439"/>
                  <a:pt x="1192" y="439"/>
                </a:cubicBezTo>
                <a:cubicBezTo>
                  <a:pt x="1196" y="440"/>
                  <a:pt x="1200" y="440"/>
                  <a:pt x="1204" y="441"/>
                </a:cubicBezTo>
                <a:cubicBezTo>
                  <a:pt x="1208" y="442"/>
                  <a:pt x="1212" y="442"/>
                  <a:pt x="1215" y="443"/>
                </a:cubicBezTo>
                <a:cubicBezTo>
                  <a:pt x="1219" y="444"/>
                  <a:pt x="1223" y="444"/>
                  <a:pt x="1227" y="444"/>
                </a:cubicBezTo>
                <a:cubicBezTo>
                  <a:pt x="1231" y="445"/>
                  <a:pt x="1235" y="445"/>
                  <a:pt x="1239" y="446"/>
                </a:cubicBezTo>
                <a:cubicBezTo>
                  <a:pt x="1243" y="447"/>
                  <a:pt x="1247" y="447"/>
                  <a:pt x="1251" y="448"/>
                </a:cubicBezTo>
                <a:cubicBezTo>
                  <a:pt x="1255" y="448"/>
                  <a:pt x="1259" y="449"/>
                  <a:pt x="1263" y="450"/>
                </a:cubicBezTo>
                <a:cubicBezTo>
                  <a:pt x="1267" y="450"/>
                  <a:pt x="1271" y="451"/>
                  <a:pt x="1275" y="452"/>
                </a:cubicBezTo>
                <a:cubicBezTo>
                  <a:pt x="1279" y="452"/>
                  <a:pt x="1283" y="453"/>
                  <a:pt x="1287" y="454"/>
                </a:cubicBezTo>
                <a:cubicBezTo>
                  <a:pt x="1291" y="455"/>
                  <a:pt x="1295" y="456"/>
                  <a:pt x="1298" y="456"/>
                </a:cubicBezTo>
                <a:cubicBezTo>
                  <a:pt x="1302" y="457"/>
                  <a:pt x="1306" y="458"/>
                  <a:pt x="1310" y="458"/>
                </a:cubicBezTo>
                <a:cubicBezTo>
                  <a:pt x="1314" y="459"/>
                  <a:pt x="1318" y="459"/>
                  <a:pt x="1322" y="460"/>
                </a:cubicBezTo>
                <a:cubicBezTo>
                  <a:pt x="1326" y="460"/>
                  <a:pt x="1330" y="462"/>
                  <a:pt x="1334" y="463"/>
                </a:cubicBezTo>
                <a:cubicBezTo>
                  <a:pt x="1338" y="463"/>
                  <a:pt x="1342" y="463"/>
                  <a:pt x="1346" y="464"/>
                </a:cubicBezTo>
                <a:cubicBezTo>
                  <a:pt x="1350" y="465"/>
                  <a:pt x="1354" y="465"/>
                  <a:pt x="1358" y="466"/>
                </a:cubicBezTo>
                <a:cubicBezTo>
                  <a:pt x="1362" y="467"/>
                  <a:pt x="1366" y="468"/>
                  <a:pt x="1370" y="469"/>
                </a:cubicBezTo>
                <a:cubicBezTo>
                  <a:pt x="1373" y="470"/>
                  <a:pt x="1378" y="470"/>
                  <a:pt x="1381" y="471"/>
                </a:cubicBezTo>
                <a:cubicBezTo>
                  <a:pt x="1385" y="471"/>
                  <a:pt x="1389" y="472"/>
                  <a:pt x="1393" y="473"/>
                </a:cubicBezTo>
                <a:cubicBezTo>
                  <a:pt x="1397" y="474"/>
                  <a:pt x="1401" y="475"/>
                  <a:pt x="1405" y="476"/>
                </a:cubicBezTo>
                <a:cubicBezTo>
                  <a:pt x="1409" y="476"/>
                  <a:pt x="1413" y="477"/>
                  <a:pt x="1417" y="477"/>
                </a:cubicBezTo>
                <a:cubicBezTo>
                  <a:pt x="1421" y="478"/>
                  <a:pt x="1425" y="479"/>
                  <a:pt x="1429" y="480"/>
                </a:cubicBezTo>
                <a:cubicBezTo>
                  <a:pt x="1433" y="481"/>
                  <a:pt x="1437" y="481"/>
                  <a:pt x="1441" y="482"/>
                </a:cubicBezTo>
                <a:cubicBezTo>
                  <a:pt x="1445" y="483"/>
                  <a:pt x="1448" y="484"/>
                  <a:pt x="1452" y="485"/>
                </a:cubicBezTo>
                <a:cubicBezTo>
                  <a:pt x="1456" y="486"/>
                  <a:pt x="1460" y="487"/>
                  <a:pt x="1464" y="488"/>
                </a:cubicBezTo>
                <a:cubicBezTo>
                  <a:pt x="1468" y="489"/>
                  <a:pt x="1472" y="490"/>
                  <a:pt x="1476" y="490"/>
                </a:cubicBezTo>
                <a:cubicBezTo>
                  <a:pt x="1477" y="491"/>
                  <a:pt x="1477" y="490"/>
                  <a:pt x="1478" y="490"/>
                </a:cubicBezTo>
                <a:cubicBezTo>
                  <a:pt x="1482" y="491"/>
                  <a:pt x="1486" y="492"/>
                  <a:pt x="1490" y="493"/>
                </a:cubicBezTo>
                <a:cubicBezTo>
                  <a:pt x="1494" y="494"/>
                  <a:pt x="1498" y="494"/>
                  <a:pt x="1502" y="495"/>
                </a:cubicBezTo>
                <a:cubicBezTo>
                  <a:pt x="1506" y="496"/>
                  <a:pt x="1510" y="496"/>
                  <a:pt x="1513" y="497"/>
                </a:cubicBezTo>
                <a:cubicBezTo>
                  <a:pt x="1517" y="497"/>
                  <a:pt x="1522" y="497"/>
                  <a:pt x="1526" y="497"/>
                </a:cubicBezTo>
                <a:cubicBezTo>
                  <a:pt x="1529" y="497"/>
                  <a:pt x="1533" y="497"/>
                  <a:pt x="1536" y="497"/>
                </a:cubicBezTo>
                <a:cubicBezTo>
                  <a:pt x="1540" y="496"/>
                  <a:pt x="1543" y="495"/>
                  <a:pt x="1546" y="494"/>
                </a:cubicBezTo>
                <a:cubicBezTo>
                  <a:pt x="1550" y="493"/>
                  <a:pt x="1553" y="493"/>
                  <a:pt x="1556" y="492"/>
                </a:cubicBezTo>
                <a:cubicBezTo>
                  <a:pt x="1560" y="490"/>
                  <a:pt x="1563" y="488"/>
                  <a:pt x="1566" y="486"/>
                </a:cubicBezTo>
                <a:cubicBezTo>
                  <a:pt x="1569" y="484"/>
                  <a:pt x="1572" y="481"/>
                  <a:pt x="1575" y="479"/>
                </a:cubicBezTo>
                <a:cubicBezTo>
                  <a:pt x="1578" y="476"/>
                  <a:pt x="1582" y="473"/>
                  <a:pt x="1584" y="469"/>
                </a:cubicBezTo>
                <a:cubicBezTo>
                  <a:pt x="1586" y="466"/>
                  <a:pt x="1588" y="462"/>
                  <a:pt x="1590" y="458"/>
                </a:cubicBezTo>
                <a:cubicBezTo>
                  <a:pt x="1591" y="454"/>
                  <a:pt x="1591" y="450"/>
                  <a:pt x="1592" y="446"/>
                </a:cubicBezTo>
                <a:cubicBezTo>
                  <a:pt x="1593" y="442"/>
                  <a:pt x="1594" y="438"/>
                  <a:pt x="1594" y="433"/>
                </a:cubicBezTo>
                <a:cubicBezTo>
                  <a:pt x="1594" y="429"/>
                  <a:pt x="1595" y="425"/>
                  <a:pt x="1595" y="421"/>
                </a:cubicBezTo>
                <a:cubicBezTo>
                  <a:pt x="1594" y="417"/>
                  <a:pt x="1594" y="412"/>
                  <a:pt x="1594" y="408"/>
                </a:cubicBezTo>
                <a:cubicBezTo>
                  <a:pt x="1594" y="404"/>
                  <a:pt x="1593" y="400"/>
                  <a:pt x="1593" y="396"/>
                </a:cubicBezTo>
                <a:cubicBezTo>
                  <a:pt x="1593" y="392"/>
                  <a:pt x="1594" y="388"/>
                  <a:pt x="1595" y="384"/>
                </a:cubicBezTo>
                <a:cubicBezTo>
                  <a:pt x="1595" y="380"/>
                  <a:pt x="1595" y="376"/>
                  <a:pt x="1596" y="372"/>
                </a:cubicBezTo>
                <a:cubicBezTo>
                  <a:pt x="1597" y="368"/>
                  <a:pt x="1597" y="364"/>
                  <a:pt x="1597" y="360"/>
                </a:cubicBezTo>
                <a:cubicBezTo>
                  <a:pt x="1598" y="357"/>
                  <a:pt x="1599" y="353"/>
                  <a:pt x="1600" y="349"/>
                </a:cubicBezTo>
                <a:cubicBezTo>
                  <a:pt x="1601" y="345"/>
                  <a:pt x="1602" y="341"/>
                  <a:pt x="1603" y="337"/>
                </a:cubicBezTo>
                <a:cubicBezTo>
                  <a:pt x="1604" y="333"/>
                  <a:pt x="1605" y="329"/>
                  <a:pt x="1606" y="326"/>
                </a:cubicBezTo>
                <a:cubicBezTo>
                  <a:pt x="1607" y="322"/>
                  <a:pt x="1609" y="318"/>
                  <a:pt x="1610" y="314"/>
                </a:cubicBezTo>
                <a:cubicBezTo>
                  <a:pt x="1611" y="310"/>
                  <a:pt x="1612" y="306"/>
                  <a:pt x="1613" y="303"/>
                </a:cubicBezTo>
                <a:cubicBezTo>
                  <a:pt x="1615" y="298"/>
                  <a:pt x="1616" y="293"/>
                  <a:pt x="1617" y="289"/>
                </a:cubicBezTo>
                <a:cubicBezTo>
                  <a:pt x="1619" y="284"/>
                  <a:pt x="1620" y="280"/>
                  <a:pt x="1621" y="275"/>
                </a:cubicBezTo>
                <a:cubicBezTo>
                  <a:pt x="1622" y="271"/>
                  <a:pt x="1624" y="267"/>
                  <a:pt x="1626" y="263"/>
                </a:cubicBezTo>
                <a:cubicBezTo>
                  <a:pt x="1627" y="259"/>
                  <a:pt x="1627" y="255"/>
                  <a:pt x="1628" y="251"/>
                </a:cubicBezTo>
                <a:cubicBezTo>
                  <a:pt x="1629" y="247"/>
                  <a:pt x="1630" y="243"/>
                  <a:pt x="1630" y="239"/>
                </a:cubicBezTo>
                <a:cubicBezTo>
                  <a:pt x="1631" y="235"/>
                  <a:pt x="1632" y="231"/>
                  <a:pt x="1632" y="227"/>
                </a:cubicBezTo>
                <a:cubicBezTo>
                  <a:pt x="1633" y="222"/>
                  <a:pt x="1633" y="218"/>
                  <a:pt x="1634" y="214"/>
                </a:cubicBezTo>
                <a:cubicBezTo>
                  <a:pt x="1634" y="210"/>
                  <a:pt x="1635" y="206"/>
                  <a:pt x="1635" y="202"/>
                </a:cubicBezTo>
                <a:cubicBezTo>
                  <a:pt x="1635" y="197"/>
                  <a:pt x="1635" y="193"/>
                  <a:pt x="1635" y="189"/>
                </a:cubicBezTo>
                <a:cubicBezTo>
                  <a:pt x="1635" y="185"/>
                  <a:pt x="1635" y="181"/>
                  <a:pt x="1635" y="177"/>
                </a:cubicBezTo>
                <a:close/>
                <a:moveTo>
                  <a:pt x="1607" y="111"/>
                </a:moveTo>
                <a:cubicBezTo>
                  <a:pt x="1611" y="110"/>
                  <a:pt x="1612" y="116"/>
                  <a:pt x="1609" y="117"/>
                </a:cubicBezTo>
                <a:cubicBezTo>
                  <a:pt x="1606" y="118"/>
                  <a:pt x="1602" y="112"/>
                  <a:pt x="1607" y="111"/>
                </a:cubicBezTo>
                <a:close/>
                <a:moveTo>
                  <a:pt x="1595" y="103"/>
                </a:moveTo>
                <a:cubicBezTo>
                  <a:pt x="1600" y="102"/>
                  <a:pt x="1604" y="110"/>
                  <a:pt x="1601" y="111"/>
                </a:cubicBezTo>
                <a:cubicBezTo>
                  <a:pt x="1602" y="106"/>
                  <a:pt x="1594" y="109"/>
                  <a:pt x="1595" y="103"/>
                </a:cubicBezTo>
                <a:close/>
                <a:moveTo>
                  <a:pt x="1537" y="57"/>
                </a:moveTo>
                <a:cubicBezTo>
                  <a:pt x="1538" y="57"/>
                  <a:pt x="1539" y="59"/>
                  <a:pt x="1539" y="61"/>
                </a:cubicBezTo>
                <a:cubicBezTo>
                  <a:pt x="1536" y="65"/>
                  <a:pt x="1532" y="57"/>
                  <a:pt x="1537" y="57"/>
                </a:cubicBezTo>
                <a:close/>
                <a:moveTo>
                  <a:pt x="1268" y="23"/>
                </a:moveTo>
                <a:cubicBezTo>
                  <a:pt x="1269" y="23"/>
                  <a:pt x="1269" y="23"/>
                  <a:pt x="1270" y="23"/>
                </a:cubicBezTo>
                <a:cubicBezTo>
                  <a:pt x="1269" y="24"/>
                  <a:pt x="1269" y="25"/>
                  <a:pt x="1267" y="25"/>
                </a:cubicBezTo>
                <a:cubicBezTo>
                  <a:pt x="1267" y="23"/>
                  <a:pt x="1268" y="23"/>
                  <a:pt x="1268" y="23"/>
                </a:cubicBezTo>
                <a:close/>
                <a:moveTo>
                  <a:pt x="1259" y="133"/>
                </a:moveTo>
                <a:cubicBezTo>
                  <a:pt x="1257" y="129"/>
                  <a:pt x="1257" y="124"/>
                  <a:pt x="1257" y="124"/>
                </a:cubicBezTo>
                <a:cubicBezTo>
                  <a:pt x="1257" y="124"/>
                  <a:pt x="1256" y="124"/>
                  <a:pt x="1256" y="124"/>
                </a:cubicBezTo>
                <a:cubicBezTo>
                  <a:pt x="1256" y="122"/>
                  <a:pt x="1256" y="120"/>
                  <a:pt x="1255" y="116"/>
                </a:cubicBezTo>
                <a:cubicBezTo>
                  <a:pt x="1254" y="113"/>
                  <a:pt x="1254" y="113"/>
                  <a:pt x="1254" y="110"/>
                </a:cubicBezTo>
                <a:cubicBezTo>
                  <a:pt x="1253" y="107"/>
                  <a:pt x="1254" y="107"/>
                  <a:pt x="1253" y="104"/>
                </a:cubicBezTo>
                <a:cubicBezTo>
                  <a:pt x="1253" y="103"/>
                  <a:pt x="1252" y="99"/>
                  <a:pt x="1252" y="95"/>
                </a:cubicBezTo>
                <a:cubicBezTo>
                  <a:pt x="1251" y="91"/>
                  <a:pt x="1252" y="87"/>
                  <a:pt x="1252" y="86"/>
                </a:cubicBezTo>
                <a:cubicBezTo>
                  <a:pt x="1252" y="84"/>
                  <a:pt x="1250" y="84"/>
                  <a:pt x="1252" y="82"/>
                </a:cubicBezTo>
                <a:cubicBezTo>
                  <a:pt x="1254" y="84"/>
                  <a:pt x="1255" y="87"/>
                  <a:pt x="1258" y="88"/>
                </a:cubicBezTo>
                <a:cubicBezTo>
                  <a:pt x="1261" y="91"/>
                  <a:pt x="1265" y="92"/>
                  <a:pt x="1269" y="94"/>
                </a:cubicBezTo>
                <a:cubicBezTo>
                  <a:pt x="1272" y="96"/>
                  <a:pt x="1275" y="98"/>
                  <a:pt x="1279" y="100"/>
                </a:cubicBezTo>
                <a:cubicBezTo>
                  <a:pt x="1283" y="102"/>
                  <a:pt x="1286" y="103"/>
                  <a:pt x="1290" y="105"/>
                </a:cubicBezTo>
                <a:cubicBezTo>
                  <a:pt x="1294" y="107"/>
                  <a:pt x="1297" y="108"/>
                  <a:pt x="1301" y="109"/>
                </a:cubicBezTo>
                <a:cubicBezTo>
                  <a:pt x="1305" y="111"/>
                  <a:pt x="1309" y="112"/>
                  <a:pt x="1312" y="113"/>
                </a:cubicBezTo>
                <a:cubicBezTo>
                  <a:pt x="1316" y="115"/>
                  <a:pt x="1320" y="116"/>
                  <a:pt x="1324" y="117"/>
                </a:cubicBezTo>
                <a:cubicBezTo>
                  <a:pt x="1328" y="118"/>
                  <a:pt x="1331" y="120"/>
                  <a:pt x="1335" y="121"/>
                </a:cubicBezTo>
                <a:cubicBezTo>
                  <a:pt x="1339" y="122"/>
                  <a:pt x="1343" y="123"/>
                  <a:pt x="1347" y="125"/>
                </a:cubicBezTo>
                <a:cubicBezTo>
                  <a:pt x="1351" y="126"/>
                  <a:pt x="1355" y="126"/>
                  <a:pt x="1358" y="127"/>
                </a:cubicBezTo>
                <a:cubicBezTo>
                  <a:pt x="1362" y="128"/>
                  <a:pt x="1366" y="129"/>
                  <a:pt x="1369" y="130"/>
                </a:cubicBezTo>
                <a:cubicBezTo>
                  <a:pt x="1373" y="131"/>
                  <a:pt x="1377" y="131"/>
                  <a:pt x="1381" y="132"/>
                </a:cubicBezTo>
                <a:cubicBezTo>
                  <a:pt x="1384" y="132"/>
                  <a:pt x="1388" y="133"/>
                  <a:pt x="1392" y="133"/>
                </a:cubicBezTo>
                <a:cubicBezTo>
                  <a:pt x="1396" y="134"/>
                  <a:pt x="1400" y="133"/>
                  <a:pt x="1403" y="134"/>
                </a:cubicBezTo>
                <a:cubicBezTo>
                  <a:pt x="1407" y="134"/>
                  <a:pt x="1411" y="135"/>
                  <a:pt x="1415" y="135"/>
                </a:cubicBezTo>
                <a:cubicBezTo>
                  <a:pt x="1419" y="135"/>
                  <a:pt x="1422" y="136"/>
                  <a:pt x="1426" y="136"/>
                </a:cubicBezTo>
                <a:cubicBezTo>
                  <a:pt x="1432" y="136"/>
                  <a:pt x="1438" y="137"/>
                  <a:pt x="1443" y="137"/>
                </a:cubicBezTo>
                <a:cubicBezTo>
                  <a:pt x="1445" y="137"/>
                  <a:pt x="1447" y="137"/>
                  <a:pt x="1448" y="137"/>
                </a:cubicBezTo>
                <a:cubicBezTo>
                  <a:pt x="1446" y="135"/>
                  <a:pt x="1451" y="131"/>
                  <a:pt x="1451" y="136"/>
                </a:cubicBezTo>
                <a:cubicBezTo>
                  <a:pt x="1450" y="136"/>
                  <a:pt x="1450" y="137"/>
                  <a:pt x="1450" y="137"/>
                </a:cubicBezTo>
                <a:cubicBezTo>
                  <a:pt x="1448" y="142"/>
                  <a:pt x="1447" y="142"/>
                  <a:pt x="1443" y="148"/>
                </a:cubicBezTo>
                <a:cubicBezTo>
                  <a:pt x="1441" y="152"/>
                  <a:pt x="1439" y="156"/>
                  <a:pt x="1437" y="159"/>
                </a:cubicBezTo>
                <a:cubicBezTo>
                  <a:pt x="1434" y="163"/>
                  <a:pt x="1431" y="167"/>
                  <a:pt x="1429" y="170"/>
                </a:cubicBezTo>
                <a:cubicBezTo>
                  <a:pt x="1426" y="175"/>
                  <a:pt x="1424" y="178"/>
                  <a:pt x="1422" y="181"/>
                </a:cubicBezTo>
                <a:cubicBezTo>
                  <a:pt x="1418" y="188"/>
                  <a:pt x="1416" y="192"/>
                  <a:pt x="1416" y="193"/>
                </a:cubicBezTo>
                <a:cubicBezTo>
                  <a:pt x="1412" y="192"/>
                  <a:pt x="1408" y="192"/>
                  <a:pt x="1404" y="191"/>
                </a:cubicBezTo>
                <a:cubicBezTo>
                  <a:pt x="1401" y="190"/>
                  <a:pt x="1397" y="190"/>
                  <a:pt x="1394" y="189"/>
                </a:cubicBezTo>
                <a:cubicBezTo>
                  <a:pt x="1393" y="191"/>
                  <a:pt x="1390" y="190"/>
                  <a:pt x="1389" y="190"/>
                </a:cubicBezTo>
                <a:cubicBezTo>
                  <a:pt x="1389" y="189"/>
                  <a:pt x="1389" y="188"/>
                  <a:pt x="1389" y="188"/>
                </a:cubicBezTo>
                <a:cubicBezTo>
                  <a:pt x="1387" y="188"/>
                  <a:pt x="1385" y="187"/>
                  <a:pt x="1382" y="187"/>
                </a:cubicBezTo>
                <a:cubicBezTo>
                  <a:pt x="1379" y="186"/>
                  <a:pt x="1375" y="185"/>
                  <a:pt x="1371" y="184"/>
                </a:cubicBezTo>
                <a:cubicBezTo>
                  <a:pt x="1367" y="183"/>
                  <a:pt x="1364" y="183"/>
                  <a:pt x="1360" y="182"/>
                </a:cubicBezTo>
                <a:cubicBezTo>
                  <a:pt x="1356" y="181"/>
                  <a:pt x="1352" y="181"/>
                  <a:pt x="1348" y="180"/>
                </a:cubicBezTo>
                <a:cubicBezTo>
                  <a:pt x="1345" y="179"/>
                  <a:pt x="1341" y="178"/>
                  <a:pt x="1337" y="177"/>
                </a:cubicBezTo>
                <a:cubicBezTo>
                  <a:pt x="1333" y="176"/>
                  <a:pt x="1330" y="176"/>
                  <a:pt x="1326" y="175"/>
                </a:cubicBezTo>
                <a:cubicBezTo>
                  <a:pt x="1322" y="174"/>
                  <a:pt x="1318" y="173"/>
                  <a:pt x="1314" y="173"/>
                </a:cubicBezTo>
                <a:cubicBezTo>
                  <a:pt x="1311" y="172"/>
                  <a:pt x="1307" y="171"/>
                  <a:pt x="1303" y="171"/>
                </a:cubicBezTo>
                <a:cubicBezTo>
                  <a:pt x="1299" y="170"/>
                  <a:pt x="1296" y="168"/>
                  <a:pt x="1292" y="167"/>
                </a:cubicBezTo>
                <a:cubicBezTo>
                  <a:pt x="1288" y="167"/>
                  <a:pt x="1284" y="167"/>
                  <a:pt x="1280" y="166"/>
                </a:cubicBezTo>
                <a:cubicBezTo>
                  <a:pt x="1277" y="165"/>
                  <a:pt x="1273" y="164"/>
                  <a:pt x="1269" y="163"/>
                </a:cubicBezTo>
                <a:cubicBezTo>
                  <a:pt x="1269" y="162"/>
                  <a:pt x="1268" y="160"/>
                  <a:pt x="1268" y="159"/>
                </a:cubicBezTo>
                <a:cubicBezTo>
                  <a:pt x="1267" y="157"/>
                  <a:pt x="1267" y="157"/>
                  <a:pt x="1266" y="155"/>
                </a:cubicBezTo>
                <a:cubicBezTo>
                  <a:pt x="1266" y="154"/>
                  <a:pt x="1266" y="152"/>
                  <a:pt x="1265" y="150"/>
                </a:cubicBezTo>
                <a:cubicBezTo>
                  <a:pt x="1264" y="148"/>
                  <a:pt x="1262" y="145"/>
                  <a:pt x="1262" y="142"/>
                </a:cubicBezTo>
                <a:cubicBezTo>
                  <a:pt x="1261" y="140"/>
                  <a:pt x="1260" y="137"/>
                  <a:pt x="1259" y="133"/>
                </a:cubicBezTo>
                <a:close/>
                <a:moveTo>
                  <a:pt x="1318" y="107"/>
                </a:moveTo>
                <a:cubicBezTo>
                  <a:pt x="1318" y="109"/>
                  <a:pt x="1315" y="110"/>
                  <a:pt x="1314" y="108"/>
                </a:cubicBezTo>
                <a:cubicBezTo>
                  <a:pt x="1313" y="105"/>
                  <a:pt x="1317" y="106"/>
                  <a:pt x="1318" y="107"/>
                </a:cubicBezTo>
                <a:close/>
                <a:moveTo>
                  <a:pt x="1342" y="121"/>
                </a:moveTo>
                <a:cubicBezTo>
                  <a:pt x="1343" y="120"/>
                  <a:pt x="1346" y="120"/>
                  <a:pt x="1346" y="123"/>
                </a:cubicBezTo>
                <a:cubicBezTo>
                  <a:pt x="1344" y="124"/>
                  <a:pt x="1342" y="123"/>
                  <a:pt x="1342" y="121"/>
                </a:cubicBezTo>
                <a:close/>
                <a:moveTo>
                  <a:pt x="996" y="139"/>
                </a:moveTo>
                <a:cubicBezTo>
                  <a:pt x="995" y="139"/>
                  <a:pt x="994" y="139"/>
                  <a:pt x="994" y="138"/>
                </a:cubicBezTo>
                <a:cubicBezTo>
                  <a:pt x="995" y="138"/>
                  <a:pt x="996" y="138"/>
                  <a:pt x="996" y="139"/>
                </a:cubicBezTo>
                <a:close/>
                <a:moveTo>
                  <a:pt x="984" y="134"/>
                </a:moveTo>
                <a:cubicBezTo>
                  <a:pt x="984" y="135"/>
                  <a:pt x="982" y="136"/>
                  <a:pt x="980" y="135"/>
                </a:cubicBezTo>
                <a:cubicBezTo>
                  <a:pt x="979" y="134"/>
                  <a:pt x="980" y="133"/>
                  <a:pt x="978" y="133"/>
                </a:cubicBezTo>
                <a:cubicBezTo>
                  <a:pt x="980" y="128"/>
                  <a:pt x="984" y="131"/>
                  <a:pt x="984" y="134"/>
                </a:cubicBezTo>
                <a:close/>
                <a:moveTo>
                  <a:pt x="924" y="126"/>
                </a:moveTo>
                <a:cubicBezTo>
                  <a:pt x="925" y="124"/>
                  <a:pt x="930" y="123"/>
                  <a:pt x="933" y="124"/>
                </a:cubicBezTo>
                <a:cubicBezTo>
                  <a:pt x="937" y="130"/>
                  <a:pt x="928" y="138"/>
                  <a:pt x="924" y="131"/>
                </a:cubicBezTo>
                <a:cubicBezTo>
                  <a:pt x="924" y="129"/>
                  <a:pt x="925" y="128"/>
                  <a:pt x="924" y="126"/>
                </a:cubicBezTo>
                <a:close/>
                <a:moveTo>
                  <a:pt x="921" y="122"/>
                </a:moveTo>
                <a:cubicBezTo>
                  <a:pt x="921" y="124"/>
                  <a:pt x="921" y="124"/>
                  <a:pt x="921" y="124"/>
                </a:cubicBezTo>
                <a:cubicBezTo>
                  <a:pt x="919" y="124"/>
                  <a:pt x="919" y="124"/>
                  <a:pt x="919" y="122"/>
                </a:cubicBezTo>
                <a:lnTo>
                  <a:pt x="921" y="122"/>
                </a:lnTo>
                <a:close/>
                <a:moveTo>
                  <a:pt x="819" y="121"/>
                </a:moveTo>
                <a:cubicBezTo>
                  <a:pt x="820" y="122"/>
                  <a:pt x="817" y="122"/>
                  <a:pt x="817" y="121"/>
                </a:cubicBezTo>
                <a:cubicBezTo>
                  <a:pt x="818" y="120"/>
                  <a:pt x="818" y="121"/>
                  <a:pt x="819" y="121"/>
                </a:cubicBezTo>
                <a:close/>
                <a:moveTo>
                  <a:pt x="708" y="130"/>
                </a:moveTo>
                <a:cubicBezTo>
                  <a:pt x="708" y="130"/>
                  <a:pt x="709" y="130"/>
                  <a:pt x="708" y="131"/>
                </a:cubicBezTo>
                <a:cubicBezTo>
                  <a:pt x="707" y="131"/>
                  <a:pt x="707" y="131"/>
                  <a:pt x="707" y="131"/>
                </a:cubicBezTo>
                <a:cubicBezTo>
                  <a:pt x="707" y="131"/>
                  <a:pt x="707" y="130"/>
                  <a:pt x="708" y="130"/>
                </a:cubicBezTo>
                <a:close/>
                <a:moveTo>
                  <a:pt x="708" y="133"/>
                </a:moveTo>
                <a:cubicBezTo>
                  <a:pt x="708" y="136"/>
                  <a:pt x="708" y="136"/>
                  <a:pt x="708" y="136"/>
                </a:cubicBezTo>
                <a:cubicBezTo>
                  <a:pt x="706" y="136"/>
                  <a:pt x="705" y="136"/>
                  <a:pt x="704" y="135"/>
                </a:cubicBezTo>
                <a:cubicBezTo>
                  <a:pt x="704" y="133"/>
                  <a:pt x="705" y="132"/>
                  <a:pt x="708" y="133"/>
                </a:cubicBezTo>
                <a:close/>
                <a:moveTo>
                  <a:pt x="385" y="84"/>
                </a:moveTo>
                <a:cubicBezTo>
                  <a:pt x="385" y="90"/>
                  <a:pt x="385" y="95"/>
                  <a:pt x="385" y="98"/>
                </a:cubicBezTo>
                <a:cubicBezTo>
                  <a:pt x="385" y="102"/>
                  <a:pt x="385" y="105"/>
                  <a:pt x="385" y="109"/>
                </a:cubicBezTo>
                <a:cubicBezTo>
                  <a:pt x="384" y="112"/>
                  <a:pt x="383" y="115"/>
                  <a:pt x="383" y="119"/>
                </a:cubicBezTo>
                <a:cubicBezTo>
                  <a:pt x="382" y="122"/>
                  <a:pt x="382" y="126"/>
                  <a:pt x="381" y="129"/>
                </a:cubicBezTo>
                <a:cubicBezTo>
                  <a:pt x="380" y="134"/>
                  <a:pt x="378" y="139"/>
                  <a:pt x="377" y="143"/>
                </a:cubicBezTo>
                <a:cubicBezTo>
                  <a:pt x="376" y="148"/>
                  <a:pt x="374" y="152"/>
                  <a:pt x="373" y="157"/>
                </a:cubicBezTo>
                <a:cubicBezTo>
                  <a:pt x="372" y="159"/>
                  <a:pt x="370" y="161"/>
                  <a:pt x="370" y="163"/>
                </a:cubicBezTo>
                <a:cubicBezTo>
                  <a:pt x="365" y="164"/>
                  <a:pt x="361" y="165"/>
                  <a:pt x="357" y="165"/>
                </a:cubicBezTo>
                <a:cubicBezTo>
                  <a:pt x="353" y="166"/>
                  <a:pt x="348" y="167"/>
                  <a:pt x="344" y="168"/>
                </a:cubicBezTo>
                <a:cubicBezTo>
                  <a:pt x="340" y="169"/>
                  <a:pt x="335" y="171"/>
                  <a:pt x="331" y="172"/>
                </a:cubicBezTo>
                <a:cubicBezTo>
                  <a:pt x="327" y="173"/>
                  <a:pt x="322" y="173"/>
                  <a:pt x="318" y="174"/>
                </a:cubicBezTo>
                <a:cubicBezTo>
                  <a:pt x="314" y="175"/>
                  <a:pt x="310" y="176"/>
                  <a:pt x="306" y="177"/>
                </a:cubicBezTo>
                <a:cubicBezTo>
                  <a:pt x="302" y="178"/>
                  <a:pt x="298" y="179"/>
                  <a:pt x="294" y="180"/>
                </a:cubicBezTo>
                <a:cubicBezTo>
                  <a:pt x="290" y="180"/>
                  <a:pt x="286" y="181"/>
                  <a:pt x="281" y="182"/>
                </a:cubicBezTo>
                <a:cubicBezTo>
                  <a:pt x="277" y="183"/>
                  <a:pt x="273" y="184"/>
                  <a:pt x="269" y="185"/>
                </a:cubicBezTo>
                <a:cubicBezTo>
                  <a:pt x="265" y="185"/>
                  <a:pt x="261" y="186"/>
                  <a:pt x="257" y="186"/>
                </a:cubicBezTo>
                <a:cubicBezTo>
                  <a:pt x="253" y="187"/>
                  <a:pt x="249" y="188"/>
                  <a:pt x="245" y="189"/>
                </a:cubicBezTo>
                <a:cubicBezTo>
                  <a:pt x="241" y="190"/>
                  <a:pt x="237" y="191"/>
                  <a:pt x="233" y="192"/>
                </a:cubicBezTo>
                <a:cubicBezTo>
                  <a:pt x="228" y="192"/>
                  <a:pt x="225" y="193"/>
                  <a:pt x="220" y="193"/>
                </a:cubicBezTo>
                <a:cubicBezTo>
                  <a:pt x="219" y="191"/>
                  <a:pt x="217" y="187"/>
                  <a:pt x="214" y="182"/>
                </a:cubicBezTo>
                <a:cubicBezTo>
                  <a:pt x="212" y="179"/>
                  <a:pt x="210" y="175"/>
                  <a:pt x="207" y="171"/>
                </a:cubicBezTo>
                <a:cubicBezTo>
                  <a:pt x="205" y="168"/>
                  <a:pt x="203" y="164"/>
                  <a:pt x="200" y="160"/>
                </a:cubicBezTo>
                <a:cubicBezTo>
                  <a:pt x="198" y="157"/>
                  <a:pt x="196" y="153"/>
                  <a:pt x="194" y="149"/>
                </a:cubicBezTo>
                <a:cubicBezTo>
                  <a:pt x="190" y="143"/>
                  <a:pt x="189" y="143"/>
                  <a:pt x="187" y="137"/>
                </a:cubicBezTo>
                <a:cubicBezTo>
                  <a:pt x="190" y="137"/>
                  <a:pt x="194" y="137"/>
                  <a:pt x="198" y="137"/>
                </a:cubicBezTo>
                <a:cubicBezTo>
                  <a:pt x="201" y="137"/>
                  <a:pt x="204" y="137"/>
                  <a:pt x="207" y="137"/>
                </a:cubicBezTo>
                <a:cubicBezTo>
                  <a:pt x="210" y="137"/>
                  <a:pt x="213" y="136"/>
                  <a:pt x="216" y="136"/>
                </a:cubicBezTo>
                <a:cubicBezTo>
                  <a:pt x="221" y="136"/>
                  <a:pt x="225" y="136"/>
                  <a:pt x="229" y="135"/>
                </a:cubicBezTo>
                <a:cubicBezTo>
                  <a:pt x="233" y="135"/>
                  <a:pt x="238" y="135"/>
                  <a:pt x="242" y="134"/>
                </a:cubicBezTo>
                <a:cubicBezTo>
                  <a:pt x="246" y="134"/>
                  <a:pt x="250" y="134"/>
                  <a:pt x="255" y="133"/>
                </a:cubicBezTo>
                <a:cubicBezTo>
                  <a:pt x="259" y="132"/>
                  <a:pt x="263" y="131"/>
                  <a:pt x="267" y="130"/>
                </a:cubicBezTo>
                <a:cubicBezTo>
                  <a:pt x="271" y="129"/>
                  <a:pt x="275" y="129"/>
                  <a:pt x="280" y="128"/>
                </a:cubicBezTo>
                <a:cubicBezTo>
                  <a:pt x="284" y="127"/>
                  <a:pt x="288" y="126"/>
                  <a:pt x="292" y="124"/>
                </a:cubicBezTo>
                <a:cubicBezTo>
                  <a:pt x="296" y="123"/>
                  <a:pt x="300" y="123"/>
                  <a:pt x="304" y="121"/>
                </a:cubicBezTo>
                <a:cubicBezTo>
                  <a:pt x="308" y="120"/>
                  <a:pt x="313" y="119"/>
                  <a:pt x="317" y="117"/>
                </a:cubicBezTo>
                <a:cubicBezTo>
                  <a:pt x="321" y="116"/>
                  <a:pt x="325" y="114"/>
                  <a:pt x="329" y="113"/>
                </a:cubicBezTo>
                <a:cubicBezTo>
                  <a:pt x="333" y="112"/>
                  <a:pt x="337" y="110"/>
                  <a:pt x="341" y="108"/>
                </a:cubicBezTo>
                <a:cubicBezTo>
                  <a:pt x="345" y="107"/>
                  <a:pt x="349" y="106"/>
                  <a:pt x="353" y="104"/>
                </a:cubicBezTo>
                <a:cubicBezTo>
                  <a:pt x="355" y="103"/>
                  <a:pt x="357" y="102"/>
                  <a:pt x="359" y="101"/>
                </a:cubicBezTo>
                <a:cubicBezTo>
                  <a:pt x="363" y="99"/>
                  <a:pt x="366" y="98"/>
                  <a:pt x="369" y="96"/>
                </a:cubicBezTo>
                <a:cubicBezTo>
                  <a:pt x="372" y="95"/>
                  <a:pt x="375" y="93"/>
                  <a:pt x="378" y="90"/>
                </a:cubicBezTo>
                <a:cubicBezTo>
                  <a:pt x="380" y="89"/>
                  <a:pt x="383" y="87"/>
                  <a:pt x="385" y="84"/>
                </a:cubicBezTo>
                <a:close/>
                <a:moveTo>
                  <a:pt x="275" y="120"/>
                </a:moveTo>
                <a:cubicBezTo>
                  <a:pt x="276" y="120"/>
                  <a:pt x="276" y="120"/>
                  <a:pt x="277" y="120"/>
                </a:cubicBezTo>
                <a:cubicBezTo>
                  <a:pt x="277" y="121"/>
                  <a:pt x="277" y="122"/>
                  <a:pt x="276" y="121"/>
                </a:cubicBezTo>
                <a:cubicBezTo>
                  <a:pt x="276" y="121"/>
                  <a:pt x="275" y="121"/>
                  <a:pt x="275" y="120"/>
                </a:cubicBezTo>
                <a:close/>
                <a:moveTo>
                  <a:pt x="281" y="3"/>
                </a:moveTo>
                <a:cubicBezTo>
                  <a:pt x="283" y="2"/>
                  <a:pt x="283" y="4"/>
                  <a:pt x="284" y="4"/>
                </a:cubicBezTo>
                <a:cubicBezTo>
                  <a:pt x="284" y="5"/>
                  <a:pt x="283" y="7"/>
                  <a:pt x="283" y="8"/>
                </a:cubicBezTo>
                <a:cubicBezTo>
                  <a:pt x="280" y="8"/>
                  <a:pt x="280" y="8"/>
                  <a:pt x="280" y="8"/>
                </a:cubicBezTo>
                <a:cubicBezTo>
                  <a:pt x="279" y="6"/>
                  <a:pt x="280" y="4"/>
                  <a:pt x="281" y="3"/>
                </a:cubicBezTo>
                <a:close/>
                <a:moveTo>
                  <a:pt x="215" y="12"/>
                </a:moveTo>
                <a:cubicBezTo>
                  <a:pt x="216" y="12"/>
                  <a:pt x="216" y="11"/>
                  <a:pt x="217" y="12"/>
                </a:cubicBezTo>
                <a:cubicBezTo>
                  <a:pt x="218" y="13"/>
                  <a:pt x="218" y="12"/>
                  <a:pt x="217" y="14"/>
                </a:cubicBezTo>
                <a:cubicBezTo>
                  <a:pt x="215" y="14"/>
                  <a:pt x="215" y="14"/>
                  <a:pt x="215" y="14"/>
                </a:cubicBezTo>
                <a:lnTo>
                  <a:pt x="215" y="12"/>
                </a:lnTo>
                <a:close/>
                <a:moveTo>
                  <a:pt x="161" y="33"/>
                </a:moveTo>
                <a:cubicBezTo>
                  <a:pt x="161" y="35"/>
                  <a:pt x="161" y="35"/>
                  <a:pt x="161" y="35"/>
                </a:cubicBezTo>
                <a:cubicBezTo>
                  <a:pt x="160" y="35"/>
                  <a:pt x="160" y="34"/>
                  <a:pt x="160" y="33"/>
                </a:cubicBezTo>
                <a:lnTo>
                  <a:pt x="161" y="33"/>
                </a:lnTo>
                <a:close/>
                <a:moveTo>
                  <a:pt x="118" y="56"/>
                </a:moveTo>
                <a:cubicBezTo>
                  <a:pt x="116" y="56"/>
                  <a:pt x="116" y="56"/>
                  <a:pt x="116" y="56"/>
                </a:cubicBezTo>
                <a:cubicBezTo>
                  <a:pt x="116" y="54"/>
                  <a:pt x="118" y="54"/>
                  <a:pt x="118" y="56"/>
                </a:cubicBezTo>
                <a:close/>
                <a:moveTo>
                  <a:pt x="17" y="149"/>
                </a:moveTo>
                <a:cubicBezTo>
                  <a:pt x="18" y="145"/>
                  <a:pt x="19" y="141"/>
                  <a:pt x="20" y="137"/>
                </a:cubicBezTo>
                <a:cubicBezTo>
                  <a:pt x="21" y="134"/>
                  <a:pt x="23" y="132"/>
                  <a:pt x="24" y="129"/>
                </a:cubicBezTo>
                <a:cubicBezTo>
                  <a:pt x="24" y="128"/>
                  <a:pt x="25" y="126"/>
                  <a:pt x="26" y="124"/>
                </a:cubicBezTo>
                <a:cubicBezTo>
                  <a:pt x="27" y="124"/>
                  <a:pt x="27" y="124"/>
                  <a:pt x="28" y="124"/>
                </a:cubicBezTo>
                <a:cubicBezTo>
                  <a:pt x="30" y="121"/>
                  <a:pt x="32" y="118"/>
                  <a:pt x="35" y="115"/>
                </a:cubicBezTo>
                <a:cubicBezTo>
                  <a:pt x="36" y="113"/>
                  <a:pt x="38" y="111"/>
                  <a:pt x="40" y="109"/>
                </a:cubicBezTo>
                <a:cubicBezTo>
                  <a:pt x="40" y="107"/>
                  <a:pt x="43" y="102"/>
                  <a:pt x="47" y="103"/>
                </a:cubicBezTo>
                <a:cubicBezTo>
                  <a:pt x="48" y="102"/>
                  <a:pt x="48" y="102"/>
                  <a:pt x="49" y="101"/>
                </a:cubicBezTo>
                <a:cubicBezTo>
                  <a:pt x="49" y="99"/>
                  <a:pt x="50" y="97"/>
                  <a:pt x="53" y="97"/>
                </a:cubicBezTo>
                <a:cubicBezTo>
                  <a:pt x="53" y="97"/>
                  <a:pt x="53" y="97"/>
                  <a:pt x="53" y="97"/>
                </a:cubicBezTo>
                <a:cubicBezTo>
                  <a:pt x="56" y="95"/>
                  <a:pt x="60" y="93"/>
                  <a:pt x="63" y="91"/>
                </a:cubicBezTo>
                <a:cubicBezTo>
                  <a:pt x="66" y="88"/>
                  <a:pt x="70" y="86"/>
                  <a:pt x="73" y="84"/>
                </a:cubicBezTo>
                <a:cubicBezTo>
                  <a:pt x="76" y="82"/>
                  <a:pt x="79" y="80"/>
                  <a:pt x="83" y="78"/>
                </a:cubicBezTo>
                <a:cubicBezTo>
                  <a:pt x="86" y="75"/>
                  <a:pt x="89" y="73"/>
                  <a:pt x="92" y="71"/>
                </a:cubicBezTo>
                <a:cubicBezTo>
                  <a:pt x="95" y="69"/>
                  <a:pt x="97" y="68"/>
                  <a:pt x="99" y="67"/>
                </a:cubicBezTo>
                <a:cubicBezTo>
                  <a:pt x="99" y="67"/>
                  <a:pt x="99" y="67"/>
                  <a:pt x="99" y="66"/>
                </a:cubicBezTo>
                <a:cubicBezTo>
                  <a:pt x="98" y="66"/>
                  <a:pt x="100" y="65"/>
                  <a:pt x="102" y="65"/>
                </a:cubicBezTo>
                <a:cubicBezTo>
                  <a:pt x="102" y="65"/>
                  <a:pt x="103" y="65"/>
                  <a:pt x="103" y="65"/>
                </a:cubicBezTo>
                <a:cubicBezTo>
                  <a:pt x="105" y="64"/>
                  <a:pt x="107" y="63"/>
                  <a:pt x="109" y="62"/>
                </a:cubicBezTo>
                <a:cubicBezTo>
                  <a:pt x="109" y="61"/>
                  <a:pt x="110" y="60"/>
                  <a:pt x="110" y="59"/>
                </a:cubicBezTo>
                <a:cubicBezTo>
                  <a:pt x="111" y="59"/>
                  <a:pt x="113" y="59"/>
                  <a:pt x="114" y="59"/>
                </a:cubicBezTo>
                <a:cubicBezTo>
                  <a:pt x="114" y="59"/>
                  <a:pt x="114" y="59"/>
                  <a:pt x="114" y="59"/>
                </a:cubicBezTo>
                <a:cubicBezTo>
                  <a:pt x="117" y="57"/>
                  <a:pt x="120" y="56"/>
                  <a:pt x="124" y="54"/>
                </a:cubicBezTo>
                <a:cubicBezTo>
                  <a:pt x="127" y="52"/>
                  <a:pt x="131" y="51"/>
                  <a:pt x="134" y="49"/>
                </a:cubicBezTo>
                <a:cubicBezTo>
                  <a:pt x="137" y="48"/>
                  <a:pt x="140" y="47"/>
                  <a:pt x="143" y="45"/>
                </a:cubicBezTo>
                <a:cubicBezTo>
                  <a:pt x="143" y="44"/>
                  <a:pt x="144" y="44"/>
                  <a:pt x="144" y="45"/>
                </a:cubicBezTo>
                <a:cubicBezTo>
                  <a:pt x="145" y="45"/>
                  <a:pt x="145" y="44"/>
                  <a:pt x="145" y="44"/>
                </a:cubicBezTo>
                <a:cubicBezTo>
                  <a:pt x="146" y="44"/>
                  <a:pt x="146" y="44"/>
                  <a:pt x="147" y="44"/>
                </a:cubicBezTo>
                <a:cubicBezTo>
                  <a:pt x="147" y="44"/>
                  <a:pt x="147" y="44"/>
                  <a:pt x="147" y="43"/>
                </a:cubicBezTo>
                <a:cubicBezTo>
                  <a:pt x="147" y="44"/>
                  <a:pt x="147" y="44"/>
                  <a:pt x="147" y="44"/>
                </a:cubicBezTo>
                <a:cubicBezTo>
                  <a:pt x="150" y="43"/>
                  <a:pt x="153" y="42"/>
                  <a:pt x="156" y="40"/>
                </a:cubicBezTo>
                <a:cubicBezTo>
                  <a:pt x="156" y="40"/>
                  <a:pt x="156" y="40"/>
                  <a:pt x="157" y="40"/>
                </a:cubicBezTo>
                <a:cubicBezTo>
                  <a:pt x="156" y="40"/>
                  <a:pt x="156" y="39"/>
                  <a:pt x="156" y="38"/>
                </a:cubicBezTo>
                <a:cubicBezTo>
                  <a:pt x="159" y="37"/>
                  <a:pt x="160" y="38"/>
                  <a:pt x="162" y="38"/>
                </a:cubicBezTo>
                <a:cubicBezTo>
                  <a:pt x="163" y="38"/>
                  <a:pt x="164" y="38"/>
                  <a:pt x="165" y="37"/>
                </a:cubicBezTo>
                <a:cubicBezTo>
                  <a:pt x="165" y="37"/>
                  <a:pt x="165" y="37"/>
                  <a:pt x="165" y="37"/>
                </a:cubicBezTo>
                <a:cubicBezTo>
                  <a:pt x="166" y="35"/>
                  <a:pt x="169" y="34"/>
                  <a:pt x="172" y="35"/>
                </a:cubicBezTo>
                <a:cubicBezTo>
                  <a:pt x="174" y="34"/>
                  <a:pt x="176" y="33"/>
                  <a:pt x="178" y="32"/>
                </a:cubicBezTo>
                <a:cubicBezTo>
                  <a:pt x="179" y="32"/>
                  <a:pt x="181" y="32"/>
                  <a:pt x="182" y="31"/>
                </a:cubicBezTo>
                <a:cubicBezTo>
                  <a:pt x="182" y="31"/>
                  <a:pt x="182" y="31"/>
                  <a:pt x="182" y="31"/>
                </a:cubicBezTo>
                <a:cubicBezTo>
                  <a:pt x="182" y="29"/>
                  <a:pt x="185" y="28"/>
                  <a:pt x="186" y="30"/>
                </a:cubicBezTo>
                <a:cubicBezTo>
                  <a:pt x="187" y="30"/>
                  <a:pt x="188" y="30"/>
                  <a:pt x="190" y="29"/>
                </a:cubicBezTo>
                <a:cubicBezTo>
                  <a:pt x="193" y="28"/>
                  <a:pt x="197" y="27"/>
                  <a:pt x="201" y="26"/>
                </a:cubicBezTo>
                <a:cubicBezTo>
                  <a:pt x="205" y="25"/>
                  <a:pt x="209" y="23"/>
                  <a:pt x="212" y="23"/>
                </a:cubicBezTo>
                <a:cubicBezTo>
                  <a:pt x="216" y="22"/>
                  <a:pt x="220" y="20"/>
                  <a:pt x="224" y="20"/>
                </a:cubicBezTo>
                <a:cubicBezTo>
                  <a:pt x="227" y="19"/>
                  <a:pt x="230" y="19"/>
                  <a:pt x="233" y="18"/>
                </a:cubicBezTo>
                <a:cubicBezTo>
                  <a:pt x="233" y="18"/>
                  <a:pt x="233" y="17"/>
                  <a:pt x="233" y="17"/>
                </a:cubicBezTo>
                <a:cubicBezTo>
                  <a:pt x="234" y="17"/>
                  <a:pt x="236" y="17"/>
                  <a:pt x="237" y="17"/>
                </a:cubicBezTo>
                <a:cubicBezTo>
                  <a:pt x="237" y="17"/>
                  <a:pt x="237" y="17"/>
                  <a:pt x="237" y="17"/>
                </a:cubicBezTo>
                <a:cubicBezTo>
                  <a:pt x="240" y="17"/>
                  <a:pt x="244" y="16"/>
                  <a:pt x="247" y="16"/>
                </a:cubicBezTo>
                <a:cubicBezTo>
                  <a:pt x="251" y="15"/>
                  <a:pt x="255" y="16"/>
                  <a:pt x="259" y="15"/>
                </a:cubicBezTo>
                <a:cubicBezTo>
                  <a:pt x="263" y="15"/>
                  <a:pt x="267" y="14"/>
                  <a:pt x="271" y="14"/>
                </a:cubicBezTo>
                <a:cubicBezTo>
                  <a:pt x="273" y="13"/>
                  <a:pt x="275" y="13"/>
                  <a:pt x="277" y="13"/>
                </a:cubicBezTo>
                <a:cubicBezTo>
                  <a:pt x="278" y="13"/>
                  <a:pt x="278" y="12"/>
                  <a:pt x="278" y="12"/>
                </a:cubicBezTo>
                <a:cubicBezTo>
                  <a:pt x="279" y="12"/>
                  <a:pt x="280" y="12"/>
                  <a:pt x="280" y="13"/>
                </a:cubicBezTo>
                <a:cubicBezTo>
                  <a:pt x="281" y="13"/>
                  <a:pt x="282" y="13"/>
                  <a:pt x="282" y="13"/>
                </a:cubicBezTo>
                <a:cubicBezTo>
                  <a:pt x="282" y="13"/>
                  <a:pt x="282" y="13"/>
                  <a:pt x="282" y="12"/>
                </a:cubicBezTo>
                <a:cubicBezTo>
                  <a:pt x="282" y="13"/>
                  <a:pt x="282" y="13"/>
                  <a:pt x="282" y="13"/>
                </a:cubicBezTo>
                <a:cubicBezTo>
                  <a:pt x="286" y="13"/>
                  <a:pt x="290" y="12"/>
                  <a:pt x="294" y="12"/>
                </a:cubicBezTo>
                <a:cubicBezTo>
                  <a:pt x="298" y="12"/>
                  <a:pt x="302" y="13"/>
                  <a:pt x="306" y="13"/>
                </a:cubicBezTo>
                <a:cubicBezTo>
                  <a:pt x="310" y="14"/>
                  <a:pt x="314" y="14"/>
                  <a:pt x="318" y="15"/>
                </a:cubicBezTo>
                <a:cubicBezTo>
                  <a:pt x="322" y="15"/>
                  <a:pt x="326" y="15"/>
                  <a:pt x="330" y="16"/>
                </a:cubicBezTo>
                <a:cubicBezTo>
                  <a:pt x="334" y="16"/>
                  <a:pt x="338" y="17"/>
                  <a:pt x="341" y="18"/>
                </a:cubicBezTo>
                <a:cubicBezTo>
                  <a:pt x="345" y="19"/>
                  <a:pt x="349" y="21"/>
                  <a:pt x="353" y="22"/>
                </a:cubicBezTo>
                <a:cubicBezTo>
                  <a:pt x="356" y="23"/>
                  <a:pt x="358" y="24"/>
                  <a:pt x="361" y="26"/>
                </a:cubicBezTo>
                <a:cubicBezTo>
                  <a:pt x="357" y="26"/>
                  <a:pt x="353" y="26"/>
                  <a:pt x="349" y="27"/>
                </a:cubicBezTo>
                <a:cubicBezTo>
                  <a:pt x="349" y="27"/>
                  <a:pt x="349" y="27"/>
                  <a:pt x="348" y="27"/>
                </a:cubicBezTo>
                <a:cubicBezTo>
                  <a:pt x="348" y="27"/>
                  <a:pt x="348" y="28"/>
                  <a:pt x="348" y="28"/>
                </a:cubicBezTo>
                <a:cubicBezTo>
                  <a:pt x="348" y="28"/>
                  <a:pt x="347" y="27"/>
                  <a:pt x="347" y="27"/>
                </a:cubicBezTo>
                <a:cubicBezTo>
                  <a:pt x="346" y="27"/>
                  <a:pt x="345" y="27"/>
                  <a:pt x="344" y="27"/>
                </a:cubicBezTo>
                <a:cubicBezTo>
                  <a:pt x="344" y="28"/>
                  <a:pt x="342" y="28"/>
                  <a:pt x="341" y="28"/>
                </a:cubicBezTo>
                <a:cubicBezTo>
                  <a:pt x="340" y="28"/>
                  <a:pt x="341" y="28"/>
                  <a:pt x="341" y="28"/>
                </a:cubicBezTo>
                <a:cubicBezTo>
                  <a:pt x="339" y="28"/>
                  <a:pt x="338" y="28"/>
                  <a:pt x="337" y="28"/>
                </a:cubicBezTo>
                <a:cubicBezTo>
                  <a:pt x="333" y="29"/>
                  <a:pt x="329" y="29"/>
                  <a:pt x="325" y="30"/>
                </a:cubicBezTo>
                <a:cubicBezTo>
                  <a:pt x="321" y="30"/>
                  <a:pt x="317" y="30"/>
                  <a:pt x="313" y="30"/>
                </a:cubicBezTo>
                <a:cubicBezTo>
                  <a:pt x="309" y="31"/>
                  <a:pt x="305" y="32"/>
                  <a:pt x="301" y="32"/>
                </a:cubicBezTo>
                <a:cubicBezTo>
                  <a:pt x="297" y="33"/>
                  <a:pt x="293" y="33"/>
                  <a:pt x="289" y="34"/>
                </a:cubicBezTo>
                <a:cubicBezTo>
                  <a:pt x="285" y="35"/>
                  <a:pt x="281" y="36"/>
                  <a:pt x="277" y="36"/>
                </a:cubicBezTo>
                <a:cubicBezTo>
                  <a:pt x="275" y="37"/>
                  <a:pt x="272" y="37"/>
                  <a:pt x="269" y="37"/>
                </a:cubicBezTo>
                <a:cubicBezTo>
                  <a:pt x="268" y="39"/>
                  <a:pt x="266" y="41"/>
                  <a:pt x="262" y="40"/>
                </a:cubicBezTo>
                <a:cubicBezTo>
                  <a:pt x="262" y="39"/>
                  <a:pt x="262" y="39"/>
                  <a:pt x="263" y="38"/>
                </a:cubicBezTo>
                <a:cubicBezTo>
                  <a:pt x="261" y="39"/>
                  <a:pt x="259" y="39"/>
                  <a:pt x="257" y="40"/>
                </a:cubicBezTo>
                <a:cubicBezTo>
                  <a:pt x="257" y="40"/>
                  <a:pt x="257" y="40"/>
                  <a:pt x="257" y="40"/>
                </a:cubicBezTo>
                <a:cubicBezTo>
                  <a:pt x="257" y="42"/>
                  <a:pt x="256" y="45"/>
                  <a:pt x="254" y="46"/>
                </a:cubicBezTo>
                <a:cubicBezTo>
                  <a:pt x="250" y="47"/>
                  <a:pt x="247" y="45"/>
                  <a:pt x="247" y="42"/>
                </a:cubicBezTo>
                <a:cubicBezTo>
                  <a:pt x="245" y="42"/>
                  <a:pt x="243" y="43"/>
                  <a:pt x="242" y="43"/>
                </a:cubicBezTo>
                <a:cubicBezTo>
                  <a:pt x="238" y="44"/>
                  <a:pt x="234" y="45"/>
                  <a:pt x="230" y="46"/>
                </a:cubicBezTo>
                <a:cubicBezTo>
                  <a:pt x="226" y="47"/>
                  <a:pt x="222" y="48"/>
                  <a:pt x="218" y="50"/>
                </a:cubicBezTo>
                <a:cubicBezTo>
                  <a:pt x="218" y="50"/>
                  <a:pt x="218" y="50"/>
                  <a:pt x="218" y="50"/>
                </a:cubicBezTo>
                <a:cubicBezTo>
                  <a:pt x="219" y="52"/>
                  <a:pt x="218" y="53"/>
                  <a:pt x="216" y="53"/>
                </a:cubicBezTo>
                <a:cubicBezTo>
                  <a:pt x="215" y="53"/>
                  <a:pt x="215" y="52"/>
                  <a:pt x="216" y="51"/>
                </a:cubicBezTo>
                <a:cubicBezTo>
                  <a:pt x="213" y="52"/>
                  <a:pt x="210" y="53"/>
                  <a:pt x="207" y="55"/>
                </a:cubicBezTo>
                <a:cubicBezTo>
                  <a:pt x="212" y="59"/>
                  <a:pt x="212" y="54"/>
                  <a:pt x="220" y="53"/>
                </a:cubicBezTo>
                <a:cubicBezTo>
                  <a:pt x="223" y="52"/>
                  <a:pt x="227" y="52"/>
                  <a:pt x="232" y="51"/>
                </a:cubicBezTo>
                <a:cubicBezTo>
                  <a:pt x="236" y="51"/>
                  <a:pt x="240" y="51"/>
                  <a:pt x="244" y="50"/>
                </a:cubicBezTo>
                <a:cubicBezTo>
                  <a:pt x="248" y="50"/>
                  <a:pt x="252" y="49"/>
                  <a:pt x="256" y="49"/>
                </a:cubicBezTo>
                <a:cubicBezTo>
                  <a:pt x="260" y="48"/>
                  <a:pt x="265" y="49"/>
                  <a:pt x="269" y="48"/>
                </a:cubicBezTo>
                <a:cubicBezTo>
                  <a:pt x="273" y="48"/>
                  <a:pt x="277" y="48"/>
                  <a:pt x="281" y="47"/>
                </a:cubicBezTo>
                <a:cubicBezTo>
                  <a:pt x="283" y="47"/>
                  <a:pt x="284" y="47"/>
                  <a:pt x="286" y="47"/>
                </a:cubicBezTo>
                <a:cubicBezTo>
                  <a:pt x="286" y="46"/>
                  <a:pt x="286" y="46"/>
                  <a:pt x="287" y="45"/>
                </a:cubicBezTo>
                <a:cubicBezTo>
                  <a:pt x="289" y="44"/>
                  <a:pt x="290" y="45"/>
                  <a:pt x="290" y="46"/>
                </a:cubicBezTo>
                <a:cubicBezTo>
                  <a:pt x="291" y="46"/>
                  <a:pt x="292" y="46"/>
                  <a:pt x="293" y="46"/>
                </a:cubicBezTo>
                <a:cubicBezTo>
                  <a:pt x="298" y="46"/>
                  <a:pt x="302" y="45"/>
                  <a:pt x="306" y="45"/>
                </a:cubicBezTo>
                <a:cubicBezTo>
                  <a:pt x="310" y="45"/>
                  <a:pt x="314" y="44"/>
                  <a:pt x="318" y="44"/>
                </a:cubicBezTo>
                <a:cubicBezTo>
                  <a:pt x="322" y="44"/>
                  <a:pt x="327" y="44"/>
                  <a:pt x="331" y="44"/>
                </a:cubicBezTo>
                <a:cubicBezTo>
                  <a:pt x="335" y="44"/>
                  <a:pt x="339" y="43"/>
                  <a:pt x="343" y="43"/>
                </a:cubicBezTo>
                <a:cubicBezTo>
                  <a:pt x="347" y="43"/>
                  <a:pt x="351" y="42"/>
                  <a:pt x="355" y="42"/>
                </a:cubicBezTo>
                <a:cubicBezTo>
                  <a:pt x="360" y="42"/>
                  <a:pt x="364" y="43"/>
                  <a:pt x="368" y="43"/>
                </a:cubicBezTo>
                <a:cubicBezTo>
                  <a:pt x="368" y="43"/>
                  <a:pt x="369" y="43"/>
                  <a:pt x="369" y="43"/>
                </a:cubicBezTo>
                <a:cubicBezTo>
                  <a:pt x="371" y="40"/>
                  <a:pt x="378" y="42"/>
                  <a:pt x="381" y="42"/>
                </a:cubicBezTo>
                <a:cubicBezTo>
                  <a:pt x="381" y="42"/>
                  <a:pt x="381" y="43"/>
                  <a:pt x="380" y="44"/>
                </a:cubicBezTo>
                <a:cubicBezTo>
                  <a:pt x="382" y="47"/>
                  <a:pt x="384" y="50"/>
                  <a:pt x="385" y="53"/>
                </a:cubicBezTo>
                <a:cubicBezTo>
                  <a:pt x="382" y="53"/>
                  <a:pt x="377" y="54"/>
                  <a:pt x="372" y="54"/>
                </a:cubicBezTo>
                <a:cubicBezTo>
                  <a:pt x="369" y="54"/>
                  <a:pt x="365" y="54"/>
                  <a:pt x="360" y="55"/>
                </a:cubicBezTo>
                <a:cubicBezTo>
                  <a:pt x="359" y="55"/>
                  <a:pt x="357" y="55"/>
                  <a:pt x="356" y="55"/>
                </a:cubicBezTo>
                <a:cubicBezTo>
                  <a:pt x="356" y="55"/>
                  <a:pt x="356" y="55"/>
                  <a:pt x="356" y="55"/>
                </a:cubicBezTo>
                <a:cubicBezTo>
                  <a:pt x="356" y="59"/>
                  <a:pt x="349" y="56"/>
                  <a:pt x="346" y="57"/>
                </a:cubicBezTo>
                <a:cubicBezTo>
                  <a:pt x="347" y="56"/>
                  <a:pt x="347" y="56"/>
                  <a:pt x="348" y="55"/>
                </a:cubicBezTo>
                <a:cubicBezTo>
                  <a:pt x="344" y="56"/>
                  <a:pt x="340" y="56"/>
                  <a:pt x="337" y="56"/>
                </a:cubicBezTo>
                <a:cubicBezTo>
                  <a:pt x="333" y="57"/>
                  <a:pt x="329" y="57"/>
                  <a:pt x="325" y="58"/>
                </a:cubicBezTo>
                <a:cubicBezTo>
                  <a:pt x="321" y="58"/>
                  <a:pt x="317" y="59"/>
                  <a:pt x="313" y="59"/>
                </a:cubicBezTo>
                <a:cubicBezTo>
                  <a:pt x="309" y="60"/>
                  <a:pt x="305" y="61"/>
                  <a:pt x="301" y="61"/>
                </a:cubicBezTo>
                <a:cubicBezTo>
                  <a:pt x="297" y="62"/>
                  <a:pt x="293" y="62"/>
                  <a:pt x="289" y="62"/>
                </a:cubicBezTo>
                <a:cubicBezTo>
                  <a:pt x="288" y="62"/>
                  <a:pt x="288" y="62"/>
                  <a:pt x="287" y="63"/>
                </a:cubicBezTo>
                <a:cubicBezTo>
                  <a:pt x="286" y="64"/>
                  <a:pt x="285" y="65"/>
                  <a:pt x="283" y="66"/>
                </a:cubicBezTo>
                <a:cubicBezTo>
                  <a:pt x="281" y="65"/>
                  <a:pt x="279" y="65"/>
                  <a:pt x="277" y="65"/>
                </a:cubicBezTo>
                <a:cubicBezTo>
                  <a:pt x="277" y="65"/>
                  <a:pt x="277" y="65"/>
                  <a:pt x="277" y="65"/>
                </a:cubicBezTo>
                <a:cubicBezTo>
                  <a:pt x="277" y="65"/>
                  <a:pt x="277" y="65"/>
                  <a:pt x="277" y="65"/>
                </a:cubicBezTo>
                <a:cubicBezTo>
                  <a:pt x="277" y="65"/>
                  <a:pt x="277" y="66"/>
                  <a:pt x="277" y="66"/>
                </a:cubicBezTo>
                <a:cubicBezTo>
                  <a:pt x="275" y="66"/>
                  <a:pt x="272" y="66"/>
                  <a:pt x="270" y="66"/>
                </a:cubicBezTo>
                <a:cubicBezTo>
                  <a:pt x="270" y="66"/>
                  <a:pt x="270" y="66"/>
                  <a:pt x="270" y="66"/>
                </a:cubicBezTo>
                <a:cubicBezTo>
                  <a:pt x="268" y="66"/>
                  <a:pt x="267" y="67"/>
                  <a:pt x="266" y="67"/>
                </a:cubicBezTo>
                <a:cubicBezTo>
                  <a:pt x="266" y="68"/>
                  <a:pt x="267" y="71"/>
                  <a:pt x="265" y="72"/>
                </a:cubicBezTo>
                <a:cubicBezTo>
                  <a:pt x="264" y="72"/>
                  <a:pt x="263" y="72"/>
                  <a:pt x="262" y="72"/>
                </a:cubicBezTo>
                <a:cubicBezTo>
                  <a:pt x="262" y="70"/>
                  <a:pt x="261" y="70"/>
                  <a:pt x="261" y="68"/>
                </a:cubicBezTo>
                <a:cubicBezTo>
                  <a:pt x="259" y="68"/>
                  <a:pt x="256" y="69"/>
                  <a:pt x="253" y="69"/>
                </a:cubicBezTo>
                <a:cubicBezTo>
                  <a:pt x="251" y="70"/>
                  <a:pt x="248" y="70"/>
                  <a:pt x="245" y="71"/>
                </a:cubicBezTo>
                <a:cubicBezTo>
                  <a:pt x="247" y="72"/>
                  <a:pt x="248" y="74"/>
                  <a:pt x="248" y="76"/>
                </a:cubicBezTo>
                <a:cubicBezTo>
                  <a:pt x="248" y="77"/>
                  <a:pt x="247" y="78"/>
                  <a:pt x="246" y="79"/>
                </a:cubicBezTo>
                <a:cubicBezTo>
                  <a:pt x="249" y="79"/>
                  <a:pt x="251" y="78"/>
                  <a:pt x="254" y="78"/>
                </a:cubicBezTo>
                <a:cubicBezTo>
                  <a:pt x="257" y="78"/>
                  <a:pt x="261" y="77"/>
                  <a:pt x="265" y="77"/>
                </a:cubicBezTo>
                <a:cubicBezTo>
                  <a:pt x="269" y="77"/>
                  <a:pt x="273" y="77"/>
                  <a:pt x="277" y="77"/>
                </a:cubicBezTo>
                <a:cubicBezTo>
                  <a:pt x="281" y="76"/>
                  <a:pt x="284" y="75"/>
                  <a:pt x="288" y="75"/>
                </a:cubicBezTo>
                <a:cubicBezTo>
                  <a:pt x="292" y="74"/>
                  <a:pt x="296" y="75"/>
                  <a:pt x="300" y="75"/>
                </a:cubicBezTo>
                <a:cubicBezTo>
                  <a:pt x="304" y="74"/>
                  <a:pt x="308" y="73"/>
                  <a:pt x="312" y="73"/>
                </a:cubicBezTo>
                <a:cubicBezTo>
                  <a:pt x="313" y="73"/>
                  <a:pt x="314" y="73"/>
                  <a:pt x="316" y="73"/>
                </a:cubicBezTo>
                <a:cubicBezTo>
                  <a:pt x="317" y="72"/>
                  <a:pt x="318" y="72"/>
                  <a:pt x="319" y="72"/>
                </a:cubicBezTo>
                <a:cubicBezTo>
                  <a:pt x="319" y="72"/>
                  <a:pt x="319" y="72"/>
                  <a:pt x="319" y="73"/>
                </a:cubicBezTo>
                <a:cubicBezTo>
                  <a:pt x="320" y="73"/>
                  <a:pt x="322" y="73"/>
                  <a:pt x="323" y="72"/>
                </a:cubicBezTo>
                <a:cubicBezTo>
                  <a:pt x="327" y="72"/>
                  <a:pt x="331" y="72"/>
                  <a:pt x="335" y="72"/>
                </a:cubicBezTo>
                <a:cubicBezTo>
                  <a:pt x="337" y="72"/>
                  <a:pt x="339" y="72"/>
                  <a:pt x="341" y="72"/>
                </a:cubicBezTo>
                <a:cubicBezTo>
                  <a:pt x="341" y="69"/>
                  <a:pt x="346" y="69"/>
                  <a:pt x="347" y="72"/>
                </a:cubicBezTo>
                <a:cubicBezTo>
                  <a:pt x="351" y="72"/>
                  <a:pt x="354" y="71"/>
                  <a:pt x="358" y="71"/>
                </a:cubicBezTo>
                <a:cubicBezTo>
                  <a:pt x="362" y="71"/>
                  <a:pt x="366" y="71"/>
                  <a:pt x="370" y="71"/>
                </a:cubicBezTo>
                <a:cubicBezTo>
                  <a:pt x="374" y="71"/>
                  <a:pt x="378" y="71"/>
                  <a:pt x="381" y="72"/>
                </a:cubicBezTo>
                <a:cubicBezTo>
                  <a:pt x="378" y="76"/>
                  <a:pt x="374" y="79"/>
                  <a:pt x="370" y="82"/>
                </a:cubicBezTo>
                <a:cubicBezTo>
                  <a:pt x="366" y="82"/>
                  <a:pt x="363" y="83"/>
                  <a:pt x="358" y="84"/>
                </a:cubicBezTo>
                <a:cubicBezTo>
                  <a:pt x="355" y="84"/>
                  <a:pt x="351" y="84"/>
                  <a:pt x="347" y="84"/>
                </a:cubicBezTo>
                <a:cubicBezTo>
                  <a:pt x="343" y="85"/>
                  <a:pt x="339" y="85"/>
                  <a:pt x="335" y="86"/>
                </a:cubicBezTo>
                <a:cubicBezTo>
                  <a:pt x="331" y="86"/>
                  <a:pt x="327" y="86"/>
                  <a:pt x="323" y="87"/>
                </a:cubicBezTo>
                <a:cubicBezTo>
                  <a:pt x="319" y="87"/>
                  <a:pt x="315" y="87"/>
                  <a:pt x="311" y="88"/>
                </a:cubicBezTo>
                <a:cubicBezTo>
                  <a:pt x="307" y="88"/>
                  <a:pt x="304" y="90"/>
                  <a:pt x="300" y="90"/>
                </a:cubicBezTo>
                <a:cubicBezTo>
                  <a:pt x="298" y="90"/>
                  <a:pt x="297" y="90"/>
                  <a:pt x="296" y="91"/>
                </a:cubicBezTo>
                <a:cubicBezTo>
                  <a:pt x="296" y="91"/>
                  <a:pt x="295" y="91"/>
                  <a:pt x="294" y="91"/>
                </a:cubicBezTo>
                <a:cubicBezTo>
                  <a:pt x="293" y="91"/>
                  <a:pt x="292" y="91"/>
                  <a:pt x="291" y="91"/>
                </a:cubicBezTo>
                <a:cubicBezTo>
                  <a:pt x="291" y="91"/>
                  <a:pt x="291" y="91"/>
                  <a:pt x="291" y="91"/>
                </a:cubicBezTo>
                <a:cubicBezTo>
                  <a:pt x="290" y="91"/>
                  <a:pt x="289" y="92"/>
                  <a:pt x="288" y="92"/>
                </a:cubicBezTo>
                <a:cubicBezTo>
                  <a:pt x="285" y="92"/>
                  <a:pt x="283" y="92"/>
                  <a:pt x="280" y="93"/>
                </a:cubicBezTo>
                <a:cubicBezTo>
                  <a:pt x="280" y="93"/>
                  <a:pt x="279" y="94"/>
                  <a:pt x="279" y="93"/>
                </a:cubicBezTo>
                <a:cubicBezTo>
                  <a:pt x="279" y="93"/>
                  <a:pt x="279" y="93"/>
                  <a:pt x="279" y="93"/>
                </a:cubicBezTo>
                <a:cubicBezTo>
                  <a:pt x="278" y="93"/>
                  <a:pt x="278" y="93"/>
                  <a:pt x="277" y="93"/>
                </a:cubicBezTo>
                <a:cubicBezTo>
                  <a:pt x="277" y="93"/>
                  <a:pt x="277" y="93"/>
                  <a:pt x="277" y="93"/>
                </a:cubicBezTo>
                <a:cubicBezTo>
                  <a:pt x="277" y="93"/>
                  <a:pt x="277" y="93"/>
                  <a:pt x="277" y="93"/>
                </a:cubicBezTo>
                <a:cubicBezTo>
                  <a:pt x="276" y="93"/>
                  <a:pt x="276" y="93"/>
                  <a:pt x="276" y="93"/>
                </a:cubicBezTo>
                <a:cubicBezTo>
                  <a:pt x="272" y="94"/>
                  <a:pt x="268" y="95"/>
                  <a:pt x="264" y="95"/>
                </a:cubicBezTo>
                <a:cubicBezTo>
                  <a:pt x="260" y="96"/>
                  <a:pt x="257" y="97"/>
                  <a:pt x="253" y="98"/>
                </a:cubicBezTo>
                <a:cubicBezTo>
                  <a:pt x="249" y="99"/>
                  <a:pt x="245" y="100"/>
                  <a:pt x="241" y="101"/>
                </a:cubicBezTo>
                <a:cubicBezTo>
                  <a:pt x="240" y="101"/>
                  <a:pt x="238" y="102"/>
                  <a:pt x="237" y="102"/>
                </a:cubicBezTo>
                <a:cubicBezTo>
                  <a:pt x="237" y="103"/>
                  <a:pt x="237" y="103"/>
                  <a:pt x="238" y="103"/>
                </a:cubicBezTo>
                <a:cubicBezTo>
                  <a:pt x="238" y="106"/>
                  <a:pt x="235" y="107"/>
                  <a:pt x="232" y="106"/>
                </a:cubicBezTo>
                <a:cubicBezTo>
                  <a:pt x="232" y="106"/>
                  <a:pt x="231" y="105"/>
                  <a:pt x="231" y="103"/>
                </a:cubicBezTo>
                <a:cubicBezTo>
                  <a:pt x="231" y="104"/>
                  <a:pt x="230" y="104"/>
                  <a:pt x="230" y="104"/>
                </a:cubicBezTo>
                <a:cubicBezTo>
                  <a:pt x="226" y="105"/>
                  <a:pt x="222" y="105"/>
                  <a:pt x="218" y="107"/>
                </a:cubicBezTo>
                <a:cubicBezTo>
                  <a:pt x="214" y="108"/>
                  <a:pt x="211" y="110"/>
                  <a:pt x="207" y="112"/>
                </a:cubicBezTo>
                <a:cubicBezTo>
                  <a:pt x="207" y="112"/>
                  <a:pt x="207" y="112"/>
                  <a:pt x="207" y="112"/>
                </a:cubicBezTo>
                <a:cubicBezTo>
                  <a:pt x="212" y="115"/>
                  <a:pt x="212" y="111"/>
                  <a:pt x="220" y="110"/>
                </a:cubicBezTo>
                <a:cubicBezTo>
                  <a:pt x="223" y="110"/>
                  <a:pt x="227" y="110"/>
                  <a:pt x="232" y="110"/>
                </a:cubicBezTo>
                <a:cubicBezTo>
                  <a:pt x="236" y="109"/>
                  <a:pt x="240" y="108"/>
                  <a:pt x="244" y="107"/>
                </a:cubicBezTo>
                <a:cubicBezTo>
                  <a:pt x="248" y="107"/>
                  <a:pt x="252" y="106"/>
                  <a:pt x="257" y="106"/>
                </a:cubicBezTo>
                <a:cubicBezTo>
                  <a:pt x="261" y="106"/>
                  <a:pt x="265" y="106"/>
                  <a:pt x="269" y="106"/>
                </a:cubicBezTo>
                <a:cubicBezTo>
                  <a:pt x="271" y="105"/>
                  <a:pt x="274" y="105"/>
                  <a:pt x="276" y="105"/>
                </a:cubicBezTo>
                <a:cubicBezTo>
                  <a:pt x="275" y="104"/>
                  <a:pt x="275" y="101"/>
                  <a:pt x="278" y="100"/>
                </a:cubicBezTo>
                <a:cubicBezTo>
                  <a:pt x="281" y="100"/>
                  <a:pt x="282" y="103"/>
                  <a:pt x="281" y="105"/>
                </a:cubicBezTo>
                <a:cubicBezTo>
                  <a:pt x="281" y="105"/>
                  <a:pt x="281" y="105"/>
                  <a:pt x="282" y="105"/>
                </a:cubicBezTo>
                <a:cubicBezTo>
                  <a:pt x="286" y="105"/>
                  <a:pt x="290" y="103"/>
                  <a:pt x="294" y="103"/>
                </a:cubicBezTo>
                <a:cubicBezTo>
                  <a:pt x="298" y="103"/>
                  <a:pt x="302" y="102"/>
                  <a:pt x="306" y="102"/>
                </a:cubicBezTo>
                <a:cubicBezTo>
                  <a:pt x="310" y="102"/>
                  <a:pt x="315" y="102"/>
                  <a:pt x="319" y="101"/>
                </a:cubicBezTo>
                <a:cubicBezTo>
                  <a:pt x="323" y="101"/>
                  <a:pt x="327" y="101"/>
                  <a:pt x="331" y="101"/>
                </a:cubicBezTo>
                <a:cubicBezTo>
                  <a:pt x="326" y="103"/>
                  <a:pt x="322" y="104"/>
                  <a:pt x="317" y="106"/>
                </a:cubicBezTo>
                <a:cubicBezTo>
                  <a:pt x="313" y="107"/>
                  <a:pt x="308" y="110"/>
                  <a:pt x="304" y="111"/>
                </a:cubicBezTo>
                <a:cubicBezTo>
                  <a:pt x="304" y="111"/>
                  <a:pt x="304" y="111"/>
                  <a:pt x="303" y="111"/>
                </a:cubicBezTo>
                <a:cubicBezTo>
                  <a:pt x="303" y="112"/>
                  <a:pt x="301" y="112"/>
                  <a:pt x="300" y="112"/>
                </a:cubicBezTo>
                <a:cubicBezTo>
                  <a:pt x="297" y="113"/>
                  <a:pt x="294" y="113"/>
                  <a:pt x="292" y="114"/>
                </a:cubicBezTo>
                <a:cubicBezTo>
                  <a:pt x="288" y="115"/>
                  <a:pt x="285" y="116"/>
                  <a:pt x="281" y="117"/>
                </a:cubicBezTo>
                <a:cubicBezTo>
                  <a:pt x="281" y="118"/>
                  <a:pt x="280" y="119"/>
                  <a:pt x="277" y="118"/>
                </a:cubicBezTo>
                <a:cubicBezTo>
                  <a:pt x="277" y="118"/>
                  <a:pt x="277" y="118"/>
                  <a:pt x="277" y="117"/>
                </a:cubicBezTo>
                <a:cubicBezTo>
                  <a:pt x="274" y="118"/>
                  <a:pt x="271" y="118"/>
                  <a:pt x="267" y="119"/>
                </a:cubicBezTo>
                <a:cubicBezTo>
                  <a:pt x="264" y="120"/>
                  <a:pt x="260" y="121"/>
                  <a:pt x="256" y="121"/>
                </a:cubicBezTo>
                <a:cubicBezTo>
                  <a:pt x="256" y="121"/>
                  <a:pt x="256" y="122"/>
                  <a:pt x="256" y="122"/>
                </a:cubicBezTo>
                <a:cubicBezTo>
                  <a:pt x="254" y="122"/>
                  <a:pt x="252" y="122"/>
                  <a:pt x="250" y="122"/>
                </a:cubicBezTo>
                <a:cubicBezTo>
                  <a:pt x="250" y="122"/>
                  <a:pt x="250" y="122"/>
                  <a:pt x="250" y="122"/>
                </a:cubicBezTo>
                <a:cubicBezTo>
                  <a:pt x="249" y="122"/>
                  <a:pt x="248" y="122"/>
                  <a:pt x="246" y="123"/>
                </a:cubicBezTo>
                <a:cubicBezTo>
                  <a:pt x="246" y="126"/>
                  <a:pt x="242" y="124"/>
                  <a:pt x="240" y="123"/>
                </a:cubicBezTo>
                <a:cubicBezTo>
                  <a:pt x="239" y="123"/>
                  <a:pt x="238" y="123"/>
                  <a:pt x="237" y="124"/>
                </a:cubicBezTo>
                <a:cubicBezTo>
                  <a:pt x="237" y="124"/>
                  <a:pt x="237" y="124"/>
                  <a:pt x="237" y="124"/>
                </a:cubicBezTo>
                <a:cubicBezTo>
                  <a:pt x="237" y="124"/>
                  <a:pt x="236" y="124"/>
                  <a:pt x="236" y="124"/>
                </a:cubicBezTo>
                <a:cubicBezTo>
                  <a:pt x="234" y="124"/>
                  <a:pt x="232" y="124"/>
                  <a:pt x="230" y="124"/>
                </a:cubicBezTo>
                <a:cubicBezTo>
                  <a:pt x="226" y="125"/>
                  <a:pt x="222" y="125"/>
                  <a:pt x="218" y="126"/>
                </a:cubicBezTo>
                <a:cubicBezTo>
                  <a:pt x="214" y="126"/>
                  <a:pt x="209" y="126"/>
                  <a:pt x="205" y="126"/>
                </a:cubicBezTo>
                <a:cubicBezTo>
                  <a:pt x="200" y="126"/>
                  <a:pt x="196" y="125"/>
                  <a:pt x="192" y="125"/>
                </a:cubicBezTo>
                <a:cubicBezTo>
                  <a:pt x="189" y="125"/>
                  <a:pt x="185" y="126"/>
                  <a:pt x="182" y="126"/>
                </a:cubicBezTo>
                <a:cubicBezTo>
                  <a:pt x="182" y="126"/>
                  <a:pt x="182" y="126"/>
                  <a:pt x="182" y="126"/>
                </a:cubicBezTo>
                <a:cubicBezTo>
                  <a:pt x="181" y="126"/>
                  <a:pt x="181" y="126"/>
                  <a:pt x="181" y="126"/>
                </a:cubicBezTo>
                <a:cubicBezTo>
                  <a:pt x="181" y="126"/>
                  <a:pt x="180" y="125"/>
                  <a:pt x="180" y="125"/>
                </a:cubicBezTo>
                <a:cubicBezTo>
                  <a:pt x="180" y="125"/>
                  <a:pt x="180" y="125"/>
                  <a:pt x="180" y="125"/>
                </a:cubicBezTo>
                <a:cubicBezTo>
                  <a:pt x="179" y="125"/>
                  <a:pt x="179" y="125"/>
                  <a:pt x="178" y="125"/>
                </a:cubicBezTo>
                <a:cubicBezTo>
                  <a:pt x="176" y="125"/>
                  <a:pt x="173" y="127"/>
                  <a:pt x="172" y="132"/>
                </a:cubicBezTo>
                <a:cubicBezTo>
                  <a:pt x="172" y="132"/>
                  <a:pt x="172" y="133"/>
                  <a:pt x="172" y="133"/>
                </a:cubicBezTo>
                <a:cubicBezTo>
                  <a:pt x="174" y="136"/>
                  <a:pt x="175" y="137"/>
                  <a:pt x="175" y="138"/>
                </a:cubicBezTo>
                <a:cubicBezTo>
                  <a:pt x="176" y="138"/>
                  <a:pt x="176" y="138"/>
                  <a:pt x="177" y="138"/>
                </a:cubicBezTo>
                <a:cubicBezTo>
                  <a:pt x="178" y="139"/>
                  <a:pt x="178" y="140"/>
                  <a:pt x="177" y="141"/>
                </a:cubicBezTo>
                <a:cubicBezTo>
                  <a:pt x="178" y="141"/>
                  <a:pt x="178" y="142"/>
                  <a:pt x="179" y="143"/>
                </a:cubicBezTo>
                <a:cubicBezTo>
                  <a:pt x="182" y="148"/>
                  <a:pt x="182" y="147"/>
                  <a:pt x="185" y="152"/>
                </a:cubicBezTo>
                <a:cubicBezTo>
                  <a:pt x="187" y="155"/>
                  <a:pt x="188" y="158"/>
                  <a:pt x="190" y="161"/>
                </a:cubicBezTo>
                <a:cubicBezTo>
                  <a:pt x="191" y="161"/>
                  <a:pt x="192" y="161"/>
                  <a:pt x="193" y="161"/>
                </a:cubicBezTo>
                <a:cubicBezTo>
                  <a:pt x="193" y="162"/>
                  <a:pt x="193" y="163"/>
                  <a:pt x="192" y="164"/>
                </a:cubicBezTo>
                <a:cubicBezTo>
                  <a:pt x="193" y="166"/>
                  <a:pt x="195" y="168"/>
                  <a:pt x="196" y="170"/>
                </a:cubicBezTo>
                <a:cubicBezTo>
                  <a:pt x="198" y="173"/>
                  <a:pt x="200" y="176"/>
                  <a:pt x="202" y="179"/>
                </a:cubicBezTo>
                <a:cubicBezTo>
                  <a:pt x="204" y="183"/>
                  <a:pt x="206" y="186"/>
                  <a:pt x="207" y="188"/>
                </a:cubicBezTo>
                <a:cubicBezTo>
                  <a:pt x="209" y="191"/>
                  <a:pt x="210" y="194"/>
                  <a:pt x="211" y="196"/>
                </a:cubicBezTo>
                <a:cubicBezTo>
                  <a:pt x="207" y="196"/>
                  <a:pt x="204" y="197"/>
                  <a:pt x="200" y="197"/>
                </a:cubicBezTo>
                <a:cubicBezTo>
                  <a:pt x="197" y="198"/>
                  <a:pt x="194" y="199"/>
                  <a:pt x="190" y="199"/>
                </a:cubicBezTo>
                <a:cubicBezTo>
                  <a:pt x="187" y="200"/>
                  <a:pt x="184" y="200"/>
                  <a:pt x="180" y="200"/>
                </a:cubicBezTo>
                <a:cubicBezTo>
                  <a:pt x="179" y="200"/>
                  <a:pt x="178" y="200"/>
                  <a:pt x="177" y="200"/>
                </a:cubicBezTo>
                <a:cubicBezTo>
                  <a:pt x="176" y="201"/>
                  <a:pt x="176" y="201"/>
                  <a:pt x="175" y="201"/>
                </a:cubicBezTo>
                <a:cubicBezTo>
                  <a:pt x="174" y="201"/>
                  <a:pt x="174" y="201"/>
                  <a:pt x="174" y="201"/>
                </a:cubicBezTo>
                <a:cubicBezTo>
                  <a:pt x="171" y="201"/>
                  <a:pt x="169" y="201"/>
                  <a:pt x="166" y="202"/>
                </a:cubicBezTo>
                <a:cubicBezTo>
                  <a:pt x="162" y="202"/>
                  <a:pt x="158" y="204"/>
                  <a:pt x="154" y="204"/>
                </a:cubicBezTo>
                <a:cubicBezTo>
                  <a:pt x="151" y="205"/>
                  <a:pt x="147" y="204"/>
                  <a:pt x="143" y="205"/>
                </a:cubicBezTo>
                <a:cubicBezTo>
                  <a:pt x="139" y="205"/>
                  <a:pt x="135" y="206"/>
                  <a:pt x="131" y="206"/>
                </a:cubicBezTo>
                <a:cubicBezTo>
                  <a:pt x="127" y="207"/>
                  <a:pt x="123" y="206"/>
                  <a:pt x="119" y="206"/>
                </a:cubicBezTo>
                <a:cubicBezTo>
                  <a:pt x="115" y="207"/>
                  <a:pt x="111" y="207"/>
                  <a:pt x="107" y="207"/>
                </a:cubicBezTo>
                <a:cubicBezTo>
                  <a:pt x="103" y="207"/>
                  <a:pt x="99" y="207"/>
                  <a:pt x="95" y="207"/>
                </a:cubicBezTo>
                <a:cubicBezTo>
                  <a:pt x="94" y="207"/>
                  <a:pt x="92" y="207"/>
                  <a:pt x="91" y="207"/>
                </a:cubicBezTo>
                <a:cubicBezTo>
                  <a:pt x="91" y="207"/>
                  <a:pt x="91" y="207"/>
                  <a:pt x="91" y="207"/>
                </a:cubicBezTo>
                <a:cubicBezTo>
                  <a:pt x="91" y="207"/>
                  <a:pt x="91" y="207"/>
                  <a:pt x="91" y="207"/>
                </a:cubicBezTo>
                <a:cubicBezTo>
                  <a:pt x="88" y="206"/>
                  <a:pt x="86" y="206"/>
                  <a:pt x="84" y="206"/>
                </a:cubicBezTo>
                <a:cubicBezTo>
                  <a:pt x="79" y="206"/>
                  <a:pt x="76" y="204"/>
                  <a:pt x="72" y="203"/>
                </a:cubicBezTo>
                <a:cubicBezTo>
                  <a:pt x="68" y="202"/>
                  <a:pt x="64" y="202"/>
                  <a:pt x="60" y="201"/>
                </a:cubicBezTo>
                <a:cubicBezTo>
                  <a:pt x="56" y="200"/>
                  <a:pt x="53" y="198"/>
                  <a:pt x="49" y="196"/>
                </a:cubicBezTo>
                <a:cubicBezTo>
                  <a:pt x="47" y="195"/>
                  <a:pt x="43" y="193"/>
                  <a:pt x="39" y="190"/>
                </a:cubicBezTo>
                <a:cubicBezTo>
                  <a:pt x="36" y="188"/>
                  <a:pt x="32" y="185"/>
                  <a:pt x="29" y="182"/>
                </a:cubicBezTo>
                <a:cubicBezTo>
                  <a:pt x="26" y="180"/>
                  <a:pt x="23" y="177"/>
                  <a:pt x="21" y="173"/>
                </a:cubicBezTo>
                <a:cubicBezTo>
                  <a:pt x="19" y="170"/>
                  <a:pt x="17" y="166"/>
                  <a:pt x="17" y="162"/>
                </a:cubicBezTo>
                <a:cubicBezTo>
                  <a:pt x="16" y="158"/>
                  <a:pt x="16" y="154"/>
                  <a:pt x="17" y="149"/>
                </a:cubicBezTo>
                <a:close/>
                <a:moveTo>
                  <a:pt x="261" y="45"/>
                </a:moveTo>
                <a:cubicBezTo>
                  <a:pt x="261" y="40"/>
                  <a:pt x="265" y="38"/>
                  <a:pt x="268" y="41"/>
                </a:cubicBezTo>
                <a:cubicBezTo>
                  <a:pt x="269" y="46"/>
                  <a:pt x="263" y="48"/>
                  <a:pt x="261" y="45"/>
                </a:cubicBezTo>
                <a:close/>
                <a:moveTo>
                  <a:pt x="236" y="50"/>
                </a:moveTo>
                <a:cubicBezTo>
                  <a:pt x="235" y="50"/>
                  <a:pt x="235" y="50"/>
                  <a:pt x="235" y="49"/>
                </a:cubicBezTo>
                <a:cubicBezTo>
                  <a:pt x="236" y="49"/>
                  <a:pt x="237" y="49"/>
                  <a:pt x="236" y="50"/>
                </a:cubicBezTo>
                <a:close/>
                <a:moveTo>
                  <a:pt x="228" y="106"/>
                </a:moveTo>
                <a:cubicBezTo>
                  <a:pt x="228" y="107"/>
                  <a:pt x="228" y="107"/>
                  <a:pt x="228" y="108"/>
                </a:cubicBezTo>
                <a:cubicBezTo>
                  <a:pt x="227" y="108"/>
                  <a:pt x="226" y="108"/>
                  <a:pt x="226" y="108"/>
                </a:cubicBezTo>
                <a:cubicBezTo>
                  <a:pt x="226" y="106"/>
                  <a:pt x="226" y="106"/>
                  <a:pt x="226" y="106"/>
                </a:cubicBezTo>
                <a:cubicBezTo>
                  <a:pt x="226" y="106"/>
                  <a:pt x="228" y="106"/>
                  <a:pt x="228" y="106"/>
                </a:cubicBezTo>
                <a:close/>
                <a:moveTo>
                  <a:pt x="183" y="138"/>
                </a:moveTo>
                <a:cubicBezTo>
                  <a:pt x="182" y="139"/>
                  <a:pt x="181" y="139"/>
                  <a:pt x="180" y="139"/>
                </a:cubicBezTo>
                <a:cubicBezTo>
                  <a:pt x="181" y="137"/>
                  <a:pt x="182" y="138"/>
                  <a:pt x="183" y="138"/>
                </a:cubicBezTo>
                <a:close/>
                <a:moveTo>
                  <a:pt x="48" y="397"/>
                </a:moveTo>
                <a:cubicBezTo>
                  <a:pt x="48" y="398"/>
                  <a:pt x="48" y="399"/>
                  <a:pt x="50" y="399"/>
                </a:cubicBezTo>
                <a:cubicBezTo>
                  <a:pt x="50" y="397"/>
                  <a:pt x="51" y="396"/>
                  <a:pt x="52" y="399"/>
                </a:cubicBezTo>
                <a:cubicBezTo>
                  <a:pt x="50" y="402"/>
                  <a:pt x="42" y="399"/>
                  <a:pt x="48" y="397"/>
                </a:cubicBezTo>
                <a:close/>
                <a:moveTo>
                  <a:pt x="61" y="471"/>
                </a:moveTo>
                <a:cubicBezTo>
                  <a:pt x="61" y="468"/>
                  <a:pt x="55" y="470"/>
                  <a:pt x="56" y="466"/>
                </a:cubicBezTo>
                <a:cubicBezTo>
                  <a:pt x="59" y="465"/>
                  <a:pt x="67" y="469"/>
                  <a:pt x="61" y="471"/>
                </a:cubicBezTo>
                <a:close/>
                <a:moveTo>
                  <a:pt x="1625" y="189"/>
                </a:moveTo>
                <a:cubicBezTo>
                  <a:pt x="1625" y="193"/>
                  <a:pt x="1625" y="196"/>
                  <a:pt x="1625" y="201"/>
                </a:cubicBezTo>
                <a:cubicBezTo>
                  <a:pt x="1625" y="204"/>
                  <a:pt x="1625" y="208"/>
                  <a:pt x="1624" y="212"/>
                </a:cubicBezTo>
                <a:cubicBezTo>
                  <a:pt x="1624" y="216"/>
                  <a:pt x="1623" y="220"/>
                  <a:pt x="1622" y="224"/>
                </a:cubicBezTo>
                <a:cubicBezTo>
                  <a:pt x="1622" y="227"/>
                  <a:pt x="1621" y="231"/>
                  <a:pt x="1620" y="235"/>
                </a:cubicBezTo>
                <a:cubicBezTo>
                  <a:pt x="1616" y="236"/>
                  <a:pt x="1612" y="237"/>
                  <a:pt x="1609" y="238"/>
                </a:cubicBezTo>
                <a:cubicBezTo>
                  <a:pt x="1604" y="238"/>
                  <a:pt x="1600" y="238"/>
                  <a:pt x="1596" y="239"/>
                </a:cubicBezTo>
                <a:cubicBezTo>
                  <a:pt x="1592" y="239"/>
                  <a:pt x="1588" y="240"/>
                  <a:pt x="1584" y="240"/>
                </a:cubicBezTo>
                <a:cubicBezTo>
                  <a:pt x="1580" y="241"/>
                  <a:pt x="1576" y="241"/>
                  <a:pt x="1572" y="241"/>
                </a:cubicBezTo>
                <a:cubicBezTo>
                  <a:pt x="1569" y="242"/>
                  <a:pt x="1567" y="242"/>
                  <a:pt x="1564" y="242"/>
                </a:cubicBezTo>
                <a:cubicBezTo>
                  <a:pt x="1564" y="242"/>
                  <a:pt x="1563" y="242"/>
                  <a:pt x="1563" y="242"/>
                </a:cubicBezTo>
                <a:cubicBezTo>
                  <a:pt x="1562" y="242"/>
                  <a:pt x="1561" y="243"/>
                  <a:pt x="1560" y="243"/>
                </a:cubicBezTo>
                <a:cubicBezTo>
                  <a:pt x="1557" y="243"/>
                  <a:pt x="1554" y="243"/>
                  <a:pt x="1551" y="243"/>
                </a:cubicBezTo>
                <a:cubicBezTo>
                  <a:pt x="1549" y="243"/>
                  <a:pt x="1546" y="244"/>
                  <a:pt x="1545" y="243"/>
                </a:cubicBezTo>
                <a:cubicBezTo>
                  <a:pt x="1545" y="243"/>
                  <a:pt x="1545" y="243"/>
                  <a:pt x="1545" y="243"/>
                </a:cubicBezTo>
                <a:cubicBezTo>
                  <a:pt x="1541" y="243"/>
                  <a:pt x="1538" y="243"/>
                  <a:pt x="1535" y="243"/>
                </a:cubicBezTo>
                <a:cubicBezTo>
                  <a:pt x="1531" y="243"/>
                  <a:pt x="1527" y="243"/>
                  <a:pt x="1523" y="243"/>
                </a:cubicBezTo>
                <a:cubicBezTo>
                  <a:pt x="1522" y="243"/>
                  <a:pt x="1521" y="243"/>
                  <a:pt x="1519" y="243"/>
                </a:cubicBezTo>
                <a:cubicBezTo>
                  <a:pt x="1517" y="246"/>
                  <a:pt x="1515" y="245"/>
                  <a:pt x="1514" y="244"/>
                </a:cubicBezTo>
                <a:cubicBezTo>
                  <a:pt x="1513" y="244"/>
                  <a:pt x="1512" y="244"/>
                  <a:pt x="1511" y="244"/>
                </a:cubicBezTo>
                <a:cubicBezTo>
                  <a:pt x="1507" y="244"/>
                  <a:pt x="1503" y="243"/>
                  <a:pt x="1499" y="243"/>
                </a:cubicBezTo>
                <a:cubicBezTo>
                  <a:pt x="1495" y="243"/>
                  <a:pt x="1491" y="243"/>
                  <a:pt x="1487" y="242"/>
                </a:cubicBezTo>
                <a:cubicBezTo>
                  <a:pt x="1483" y="242"/>
                  <a:pt x="1479" y="242"/>
                  <a:pt x="1474" y="242"/>
                </a:cubicBezTo>
                <a:cubicBezTo>
                  <a:pt x="1470" y="242"/>
                  <a:pt x="1466" y="241"/>
                  <a:pt x="1462" y="241"/>
                </a:cubicBezTo>
                <a:cubicBezTo>
                  <a:pt x="1466" y="242"/>
                  <a:pt x="1470" y="242"/>
                  <a:pt x="1474" y="243"/>
                </a:cubicBezTo>
                <a:cubicBezTo>
                  <a:pt x="1474" y="243"/>
                  <a:pt x="1474" y="243"/>
                  <a:pt x="1475" y="244"/>
                </a:cubicBezTo>
                <a:cubicBezTo>
                  <a:pt x="1476" y="243"/>
                  <a:pt x="1479" y="243"/>
                  <a:pt x="1481" y="243"/>
                </a:cubicBezTo>
                <a:cubicBezTo>
                  <a:pt x="1481" y="244"/>
                  <a:pt x="1481" y="245"/>
                  <a:pt x="1481" y="245"/>
                </a:cubicBezTo>
                <a:cubicBezTo>
                  <a:pt x="1483" y="246"/>
                  <a:pt x="1484" y="246"/>
                  <a:pt x="1485" y="246"/>
                </a:cubicBezTo>
                <a:cubicBezTo>
                  <a:pt x="1488" y="247"/>
                  <a:pt x="1490" y="247"/>
                  <a:pt x="1492" y="248"/>
                </a:cubicBezTo>
                <a:cubicBezTo>
                  <a:pt x="1493" y="247"/>
                  <a:pt x="1495" y="247"/>
                  <a:pt x="1497" y="247"/>
                </a:cubicBezTo>
                <a:cubicBezTo>
                  <a:pt x="1500" y="247"/>
                  <a:pt x="1501" y="249"/>
                  <a:pt x="1504" y="249"/>
                </a:cubicBezTo>
                <a:cubicBezTo>
                  <a:pt x="1504" y="249"/>
                  <a:pt x="1504" y="250"/>
                  <a:pt x="1504" y="250"/>
                </a:cubicBezTo>
                <a:cubicBezTo>
                  <a:pt x="1506" y="250"/>
                  <a:pt x="1507" y="250"/>
                  <a:pt x="1509" y="251"/>
                </a:cubicBezTo>
                <a:cubicBezTo>
                  <a:pt x="1513" y="251"/>
                  <a:pt x="1517" y="252"/>
                  <a:pt x="1521" y="253"/>
                </a:cubicBezTo>
                <a:cubicBezTo>
                  <a:pt x="1525" y="254"/>
                  <a:pt x="1528" y="254"/>
                  <a:pt x="1532" y="254"/>
                </a:cubicBezTo>
                <a:cubicBezTo>
                  <a:pt x="1536" y="255"/>
                  <a:pt x="1540" y="255"/>
                  <a:pt x="1544" y="256"/>
                </a:cubicBezTo>
                <a:cubicBezTo>
                  <a:pt x="1548" y="256"/>
                  <a:pt x="1552" y="256"/>
                  <a:pt x="1556" y="256"/>
                </a:cubicBezTo>
                <a:cubicBezTo>
                  <a:pt x="1560" y="257"/>
                  <a:pt x="1564" y="257"/>
                  <a:pt x="1568" y="257"/>
                </a:cubicBezTo>
                <a:cubicBezTo>
                  <a:pt x="1572" y="257"/>
                  <a:pt x="1576" y="258"/>
                  <a:pt x="1580" y="258"/>
                </a:cubicBezTo>
                <a:cubicBezTo>
                  <a:pt x="1584" y="258"/>
                  <a:pt x="1588" y="259"/>
                  <a:pt x="1592" y="259"/>
                </a:cubicBezTo>
                <a:cubicBezTo>
                  <a:pt x="1596" y="259"/>
                  <a:pt x="1600" y="259"/>
                  <a:pt x="1604" y="259"/>
                </a:cubicBezTo>
                <a:cubicBezTo>
                  <a:pt x="1608" y="259"/>
                  <a:pt x="1612" y="258"/>
                  <a:pt x="1616" y="258"/>
                </a:cubicBezTo>
                <a:cubicBezTo>
                  <a:pt x="1615" y="261"/>
                  <a:pt x="1614" y="265"/>
                  <a:pt x="1614" y="267"/>
                </a:cubicBezTo>
                <a:cubicBezTo>
                  <a:pt x="1613" y="270"/>
                  <a:pt x="1612" y="273"/>
                  <a:pt x="1611" y="276"/>
                </a:cubicBezTo>
                <a:cubicBezTo>
                  <a:pt x="1607" y="277"/>
                  <a:pt x="1603" y="277"/>
                  <a:pt x="1599" y="277"/>
                </a:cubicBezTo>
                <a:cubicBezTo>
                  <a:pt x="1596" y="278"/>
                  <a:pt x="1593" y="278"/>
                  <a:pt x="1590" y="279"/>
                </a:cubicBezTo>
                <a:cubicBezTo>
                  <a:pt x="1589" y="279"/>
                  <a:pt x="1589" y="280"/>
                  <a:pt x="1588" y="280"/>
                </a:cubicBezTo>
                <a:cubicBezTo>
                  <a:pt x="1587" y="280"/>
                  <a:pt x="1587" y="280"/>
                  <a:pt x="1587" y="280"/>
                </a:cubicBezTo>
                <a:cubicBezTo>
                  <a:pt x="1583" y="280"/>
                  <a:pt x="1579" y="280"/>
                  <a:pt x="1575" y="281"/>
                </a:cubicBezTo>
                <a:cubicBezTo>
                  <a:pt x="1572" y="281"/>
                  <a:pt x="1568" y="282"/>
                  <a:pt x="1565" y="282"/>
                </a:cubicBezTo>
                <a:cubicBezTo>
                  <a:pt x="1564" y="283"/>
                  <a:pt x="1562" y="284"/>
                  <a:pt x="1561" y="282"/>
                </a:cubicBezTo>
                <a:cubicBezTo>
                  <a:pt x="1557" y="282"/>
                  <a:pt x="1554" y="283"/>
                  <a:pt x="1551" y="283"/>
                </a:cubicBezTo>
                <a:cubicBezTo>
                  <a:pt x="1547" y="283"/>
                  <a:pt x="1543" y="283"/>
                  <a:pt x="1539" y="283"/>
                </a:cubicBezTo>
                <a:cubicBezTo>
                  <a:pt x="1539" y="283"/>
                  <a:pt x="1539" y="283"/>
                  <a:pt x="1539" y="283"/>
                </a:cubicBezTo>
                <a:cubicBezTo>
                  <a:pt x="1539" y="284"/>
                  <a:pt x="1539" y="285"/>
                  <a:pt x="1539" y="285"/>
                </a:cubicBezTo>
                <a:cubicBezTo>
                  <a:pt x="1538" y="285"/>
                  <a:pt x="1537" y="284"/>
                  <a:pt x="1536" y="284"/>
                </a:cubicBezTo>
                <a:cubicBezTo>
                  <a:pt x="1533" y="284"/>
                  <a:pt x="1530" y="284"/>
                  <a:pt x="1527" y="284"/>
                </a:cubicBezTo>
                <a:cubicBezTo>
                  <a:pt x="1523" y="284"/>
                  <a:pt x="1519" y="284"/>
                  <a:pt x="1515" y="284"/>
                </a:cubicBezTo>
                <a:cubicBezTo>
                  <a:pt x="1511" y="284"/>
                  <a:pt x="1507" y="284"/>
                  <a:pt x="1503" y="284"/>
                </a:cubicBezTo>
                <a:cubicBezTo>
                  <a:pt x="1499" y="283"/>
                  <a:pt x="1495" y="284"/>
                  <a:pt x="1491" y="283"/>
                </a:cubicBezTo>
                <a:cubicBezTo>
                  <a:pt x="1487" y="283"/>
                  <a:pt x="1483" y="283"/>
                  <a:pt x="1479" y="283"/>
                </a:cubicBezTo>
                <a:cubicBezTo>
                  <a:pt x="1475" y="283"/>
                  <a:pt x="1471" y="283"/>
                  <a:pt x="1467" y="282"/>
                </a:cubicBezTo>
                <a:cubicBezTo>
                  <a:pt x="1463" y="282"/>
                  <a:pt x="1459" y="282"/>
                  <a:pt x="1454" y="281"/>
                </a:cubicBezTo>
                <a:cubicBezTo>
                  <a:pt x="1459" y="282"/>
                  <a:pt x="1463" y="283"/>
                  <a:pt x="1467" y="284"/>
                </a:cubicBezTo>
                <a:cubicBezTo>
                  <a:pt x="1471" y="285"/>
                  <a:pt x="1475" y="286"/>
                  <a:pt x="1479" y="287"/>
                </a:cubicBezTo>
                <a:cubicBezTo>
                  <a:pt x="1484" y="288"/>
                  <a:pt x="1488" y="289"/>
                  <a:pt x="1492" y="289"/>
                </a:cubicBezTo>
                <a:cubicBezTo>
                  <a:pt x="1496" y="290"/>
                  <a:pt x="1500" y="291"/>
                  <a:pt x="1504" y="292"/>
                </a:cubicBezTo>
                <a:cubicBezTo>
                  <a:pt x="1508" y="292"/>
                  <a:pt x="1512" y="293"/>
                  <a:pt x="1516" y="294"/>
                </a:cubicBezTo>
                <a:cubicBezTo>
                  <a:pt x="1520" y="295"/>
                  <a:pt x="1525" y="295"/>
                  <a:pt x="1529" y="295"/>
                </a:cubicBezTo>
                <a:cubicBezTo>
                  <a:pt x="1533" y="296"/>
                  <a:pt x="1537" y="296"/>
                  <a:pt x="1541" y="296"/>
                </a:cubicBezTo>
                <a:cubicBezTo>
                  <a:pt x="1541" y="296"/>
                  <a:pt x="1541" y="296"/>
                  <a:pt x="1542" y="296"/>
                </a:cubicBezTo>
                <a:cubicBezTo>
                  <a:pt x="1542" y="296"/>
                  <a:pt x="1542" y="296"/>
                  <a:pt x="1543" y="295"/>
                </a:cubicBezTo>
                <a:cubicBezTo>
                  <a:pt x="1544" y="295"/>
                  <a:pt x="1544" y="296"/>
                  <a:pt x="1544" y="297"/>
                </a:cubicBezTo>
                <a:cubicBezTo>
                  <a:pt x="1547" y="297"/>
                  <a:pt x="1550" y="297"/>
                  <a:pt x="1554" y="297"/>
                </a:cubicBezTo>
                <a:cubicBezTo>
                  <a:pt x="1558" y="298"/>
                  <a:pt x="1562" y="298"/>
                  <a:pt x="1566" y="298"/>
                </a:cubicBezTo>
                <a:cubicBezTo>
                  <a:pt x="1570" y="298"/>
                  <a:pt x="1574" y="299"/>
                  <a:pt x="1578" y="299"/>
                </a:cubicBezTo>
                <a:cubicBezTo>
                  <a:pt x="1582" y="299"/>
                  <a:pt x="1587" y="299"/>
                  <a:pt x="1591" y="299"/>
                </a:cubicBezTo>
                <a:cubicBezTo>
                  <a:pt x="1595" y="299"/>
                  <a:pt x="1599" y="299"/>
                  <a:pt x="1603" y="299"/>
                </a:cubicBezTo>
                <a:cubicBezTo>
                  <a:pt x="1603" y="301"/>
                  <a:pt x="1603" y="302"/>
                  <a:pt x="1602" y="303"/>
                </a:cubicBezTo>
                <a:cubicBezTo>
                  <a:pt x="1601" y="307"/>
                  <a:pt x="1601" y="307"/>
                  <a:pt x="1600" y="311"/>
                </a:cubicBezTo>
                <a:cubicBezTo>
                  <a:pt x="1600" y="313"/>
                  <a:pt x="1598" y="315"/>
                  <a:pt x="1598" y="317"/>
                </a:cubicBezTo>
                <a:cubicBezTo>
                  <a:pt x="1594" y="318"/>
                  <a:pt x="1590" y="318"/>
                  <a:pt x="1586" y="319"/>
                </a:cubicBezTo>
                <a:cubicBezTo>
                  <a:pt x="1582" y="319"/>
                  <a:pt x="1579" y="321"/>
                  <a:pt x="1575" y="321"/>
                </a:cubicBezTo>
                <a:cubicBezTo>
                  <a:pt x="1571" y="321"/>
                  <a:pt x="1567" y="321"/>
                  <a:pt x="1563" y="322"/>
                </a:cubicBezTo>
                <a:cubicBezTo>
                  <a:pt x="1559" y="322"/>
                  <a:pt x="1556" y="322"/>
                  <a:pt x="1552" y="323"/>
                </a:cubicBezTo>
                <a:cubicBezTo>
                  <a:pt x="1548" y="323"/>
                  <a:pt x="1544" y="324"/>
                  <a:pt x="1540" y="324"/>
                </a:cubicBezTo>
                <a:cubicBezTo>
                  <a:pt x="1536" y="324"/>
                  <a:pt x="1533" y="324"/>
                  <a:pt x="1529" y="325"/>
                </a:cubicBezTo>
                <a:cubicBezTo>
                  <a:pt x="1526" y="325"/>
                  <a:pt x="1524" y="325"/>
                  <a:pt x="1522" y="325"/>
                </a:cubicBezTo>
                <a:cubicBezTo>
                  <a:pt x="1521" y="325"/>
                  <a:pt x="1521" y="325"/>
                  <a:pt x="1521" y="326"/>
                </a:cubicBezTo>
                <a:cubicBezTo>
                  <a:pt x="1520" y="325"/>
                  <a:pt x="1520" y="325"/>
                  <a:pt x="1519" y="325"/>
                </a:cubicBezTo>
                <a:cubicBezTo>
                  <a:pt x="1519" y="325"/>
                  <a:pt x="1518" y="325"/>
                  <a:pt x="1517" y="325"/>
                </a:cubicBezTo>
                <a:cubicBezTo>
                  <a:pt x="1513" y="325"/>
                  <a:pt x="1510" y="324"/>
                  <a:pt x="1506" y="324"/>
                </a:cubicBezTo>
                <a:cubicBezTo>
                  <a:pt x="1502" y="324"/>
                  <a:pt x="1498" y="324"/>
                  <a:pt x="1494" y="324"/>
                </a:cubicBezTo>
                <a:cubicBezTo>
                  <a:pt x="1490" y="324"/>
                  <a:pt x="1487" y="324"/>
                  <a:pt x="1483" y="324"/>
                </a:cubicBezTo>
                <a:cubicBezTo>
                  <a:pt x="1479" y="324"/>
                  <a:pt x="1475" y="323"/>
                  <a:pt x="1471" y="323"/>
                </a:cubicBezTo>
                <a:cubicBezTo>
                  <a:pt x="1467" y="323"/>
                  <a:pt x="1463" y="323"/>
                  <a:pt x="1459" y="323"/>
                </a:cubicBezTo>
                <a:cubicBezTo>
                  <a:pt x="1456" y="323"/>
                  <a:pt x="1451" y="322"/>
                  <a:pt x="1447" y="322"/>
                </a:cubicBezTo>
                <a:cubicBezTo>
                  <a:pt x="1451" y="323"/>
                  <a:pt x="1456" y="323"/>
                  <a:pt x="1460" y="324"/>
                </a:cubicBezTo>
                <a:cubicBezTo>
                  <a:pt x="1464" y="325"/>
                  <a:pt x="1468" y="326"/>
                  <a:pt x="1472" y="327"/>
                </a:cubicBezTo>
                <a:cubicBezTo>
                  <a:pt x="1476" y="328"/>
                  <a:pt x="1480" y="328"/>
                  <a:pt x="1484" y="329"/>
                </a:cubicBezTo>
                <a:cubicBezTo>
                  <a:pt x="1488" y="330"/>
                  <a:pt x="1491" y="331"/>
                  <a:pt x="1495" y="332"/>
                </a:cubicBezTo>
                <a:cubicBezTo>
                  <a:pt x="1499" y="333"/>
                  <a:pt x="1503" y="333"/>
                  <a:pt x="1507" y="334"/>
                </a:cubicBezTo>
                <a:cubicBezTo>
                  <a:pt x="1511" y="335"/>
                  <a:pt x="1515" y="334"/>
                  <a:pt x="1519" y="335"/>
                </a:cubicBezTo>
                <a:cubicBezTo>
                  <a:pt x="1523" y="335"/>
                  <a:pt x="1527" y="336"/>
                  <a:pt x="1531" y="336"/>
                </a:cubicBezTo>
                <a:cubicBezTo>
                  <a:pt x="1535" y="337"/>
                  <a:pt x="1539" y="337"/>
                  <a:pt x="1543" y="338"/>
                </a:cubicBezTo>
                <a:cubicBezTo>
                  <a:pt x="1547" y="338"/>
                  <a:pt x="1551" y="339"/>
                  <a:pt x="1555" y="339"/>
                </a:cubicBezTo>
                <a:cubicBezTo>
                  <a:pt x="1559" y="339"/>
                  <a:pt x="1563" y="339"/>
                  <a:pt x="1568" y="340"/>
                </a:cubicBezTo>
                <a:cubicBezTo>
                  <a:pt x="1569" y="340"/>
                  <a:pt x="1570" y="340"/>
                  <a:pt x="1571" y="340"/>
                </a:cubicBezTo>
                <a:cubicBezTo>
                  <a:pt x="1571" y="339"/>
                  <a:pt x="1571" y="339"/>
                  <a:pt x="1571" y="339"/>
                </a:cubicBezTo>
                <a:cubicBezTo>
                  <a:pt x="1572" y="339"/>
                  <a:pt x="1572" y="339"/>
                  <a:pt x="1572" y="339"/>
                </a:cubicBezTo>
                <a:cubicBezTo>
                  <a:pt x="1575" y="339"/>
                  <a:pt x="1577" y="339"/>
                  <a:pt x="1580" y="339"/>
                </a:cubicBezTo>
                <a:cubicBezTo>
                  <a:pt x="1584" y="339"/>
                  <a:pt x="1588" y="339"/>
                  <a:pt x="1592" y="340"/>
                </a:cubicBezTo>
                <a:cubicBezTo>
                  <a:pt x="1591" y="343"/>
                  <a:pt x="1590" y="346"/>
                  <a:pt x="1589" y="349"/>
                </a:cubicBezTo>
                <a:cubicBezTo>
                  <a:pt x="1588" y="352"/>
                  <a:pt x="1588" y="356"/>
                  <a:pt x="1588" y="359"/>
                </a:cubicBezTo>
                <a:cubicBezTo>
                  <a:pt x="1584" y="359"/>
                  <a:pt x="1579" y="359"/>
                  <a:pt x="1575" y="360"/>
                </a:cubicBezTo>
                <a:cubicBezTo>
                  <a:pt x="1573" y="360"/>
                  <a:pt x="1570" y="361"/>
                  <a:pt x="1568" y="361"/>
                </a:cubicBezTo>
                <a:cubicBezTo>
                  <a:pt x="1568" y="362"/>
                  <a:pt x="1568" y="362"/>
                  <a:pt x="1568" y="362"/>
                </a:cubicBezTo>
                <a:cubicBezTo>
                  <a:pt x="1566" y="362"/>
                  <a:pt x="1566" y="362"/>
                  <a:pt x="1566" y="361"/>
                </a:cubicBezTo>
                <a:cubicBezTo>
                  <a:pt x="1565" y="362"/>
                  <a:pt x="1564" y="362"/>
                  <a:pt x="1563" y="362"/>
                </a:cubicBezTo>
                <a:cubicBezTo>
                  <a:pt x="1559" y="362"/>
                  <a:pt x="1555" y="363"/>
                  <a:pt x="1551" y="363"/>
                </a:cubicBezTo>
                <a:cubicBezTo>
                  <a:pt x="1547" y="363"/>
                  <a:pt x="1543" y="364"/>
                  <a:pt x="1539" y="364"/>
                </a:cubicBezTo>
                <a:cubicBezTo>
                  <a:pt x="1538" y="364"/>
                  <a:pt x="1537" y="364"/>
                  <a:pt x="1536" y="364"/>
                </a:cubicBezTo>
                <a:cubicBezTo>
                  <a:pt x="1535" y="365"/>
                  <a:pt x="1535" y="364"/>
                  <a:pt x="1535" y="364"/>
                </a:cubicBezTo>
                <a:cubicBezTo>
                  <a:pt x="1532" y="364"/>
                  <a:pt x="1529" y="364"/>
                  <a:pt x="1526" y="364"/>
                </a:cubicBezTo>
                <a:cubicBezTo>
                  <a:pt x="1522" y="365"/>
                  <a:pt x="1518" y="365"/>
                  <a:pt x="1514" y="365"/>
                </a:cubicBezTo>
                <a:cubicBezTo>
                  <a:pt x="1510" y="365"/>
                  <a:pt x="1506" y="365"/>
                  <a:pt x="1502" y="365"/>
                </a:cubicBezTo>
                <a:cubicBezTo>
                  <a:pt x="1498" y="365"/>
                  <a:pt x="1494" y="365"/>
                  <a:pt x="1490" y="365"/>
                </a:cubicBezTo>
                <a:cubicBezTo>
                  <a:pt x="1486" y="365"/>
                  <a:pt x="1482" y="364"/>
                  <a:pt x="1478" y="364"/>
                </a:cubicBezTo>
                <a:cubicBezTo>
                  <a:pt x="1474" y="364"/>
                  <a:pt x="1470" y="364"/>
                  <a:pt x="1465" y="364"/>
                </a:cubicBezTo>
                <a:cubicBezTo>
                  <a:pt x="1461" y="364"/>
                  <a:pt x="1457" y="363"/>
                  <a:pt x="1453" y="363"/>
                </a:cubicBezTo>
                <a:cubicBezTo>
                  <a:pt x="1449" y="363"/>
                  <a:pt x="1445" y="363"/>
                  <a:pt x="1441" y="362"/>
                </a:cubicBezTo>
                <a:cubicBezTo>
                  <a:pt x="1445" y="363"/>
                  <a:pt x="1449" y="364"/>
                  <a:pt x="1453" y="365"/>
                </a:cubicBezTo>
                <a:cubicBezTo>
                  <a:pt x="1457" y="366"/>
                  <a:pt x="1461" y="367"/>
                  <a:pt x="1464" y="368"/>
                </a:cubicBezTo>
                <a:cubicBezTo>
                  <a:pt x="1468" y="369"/>
                  <a:pt x="1472" y="369"/>
                  <a:pt x="1476" y="370"/>
                </a:cubicBezTo>
                <a:cubicBezTo>
                  <a:pt x="1480" y="370"/>
                  <a:pt x="1484" y="371"/>
                  <a:pt x="1488" y="372"/>
                </a:cubicBezTo>
                <a:cubicBezTo>
                  <a:pt x="1492" y="373"/>
                  <a:pt x="1496" y="374"/>
                  <a:pt x="1500" y="374"/>
                </a:cubicBezTo>
                <a:cubicBezTo>
                  <a:pt x="1504" y="375"/>
                  <a:pt x="1508" y="376"/>
                  <a:pt x="1512" y="376"/>
                </a:cubicBezTo>
                <a:cubicBezTo>
                  <a:pt x="1516" y="377"/>
                  <a:pt x="1520" y="377"/>
                  <a:pt x="1524" y="377"/>
                </a:cubicBezTo>
                <a:cubicBezTo>
                  <a:pt x="1528" y="378"/>
                  <a:pt x="1532" y="378"/>
                  <a:pt x="1536" y="378"/>
                </a:cubicBezTo>
                <a:cubicBezTo>
                  <a:pt x="1540" y="378"/>
                  <a:pt x="1544" y="379"/>
                  <a:pt x="1548" y="379"/>
                </a:cubicBezTo>
                <a:cubicBezTo>
                  <a:pt x="1552" y="379"/>
                  <a:pt x="1556" y="380"/>
                  <a:pt x="1560" y="380"/>
                </a:cubicBezTo>
                <a:cubicBezTo>
                  <a:pt x="1564" y="380"/>
                  <a:pt x="1568" y="380"/>
                  <a:pt x="1572" y="380"/>
                </a:cubicBezTo>
                <a:cubicBezTo>
                  <a:pt x="1576" y="380"/>
                  <a:pt x="1580" y="380"/>
                  <a:pt x="1584" y="380"/>
                </a:cubicBezTo>
                <a:cubicBezTo>
                  <a:pt x="1583" y="383"/>
                  <a:pt x="1583" y="386"/>
                  <a:pt x="1582" y="389"/>
                </a:cubicBezTo>
                <a:cubicBezTo>
                  <a:pt x="1582" y="392"/>
                  <a:pt x="1583" y="396"/>
                  <a:pt x="1583" y="399"/>
                </a:cubicBezTo>
                <a:cubicBezTo>
                  <a:pt x="1582" y="399"/>
                  <a:pt x="1582" y="399"/>
                  <a:pt x="1581" y="399"/>
                </a:cubicBezTo>
                <a:cubicBezTo>
                  <a:pt x="1580" y="400"/>
                  <a:pt x="1578" y="401"/>
                  <a:pt x="1577" y="400"/>
                </a:cubicBezTo>
                <a:cubicBezTo>
                  <a:pt x="1575" y="400"/>
                  <a:pt x="1573" y="401"/>
                  <a:pt x="1571" y="401"/>
                </a:cubicBezTo>
                <a:cubicBezTo>
                  <a:pt x="1566" y="401"/>
                  <a:pt x="1562" y="401"/>
                  <a:pt x="1558" y="402"/>
                </a:cubicBezTo>
                <a:cubicBezTo>
                  <a:pt x="1554" y="402"/>
                  <a:pt x="1550" y="402"/>
                  <a:pt x="1546" y="403"/>
                </a:cubicBezTo>
                <a:cubicBezTo>
                  <a:pt x="1545" y="403"/>
                  <a:pt x="1545" y="403"/>
                  <a:pt x="1544" y="403"/>
                </a:cubicBezTo>
                <a:cubicBezTo>
                  <a:pt x="1544" y="403"/>
                  <a:pt x="1544" y="404"/>
                  <a:pt x="1545" y="404"/>
                </a:cubicBezTo>
                <a:cubicBezTo>
                  <a:pt x="1544" y="404"/>
                  <a:pt x="1543" y="403"/>
                  <a:pt x="1542" y="403"/>
                </a:cubicBezTo>
                <a:cubicBezTo>
                  <a:pt x="1539" y="404"/>
                  <a:pt x="1536" y="404"/>
                  <a:pt x="1533" y="405"/>
                </a:cubicBezTo>
                <a:cubicBezTo>
                  <a:pt x="1529" y="405"/>
                  <a:pt x="1525" y="405"/>
                  <a:pt x="1521" y="405"/>
                </a:cubicBezTo>
                <a:cubicBezTo>
                  <a:pt x="1517" y="405"/>
                  <a:pt x="1513" y="406"/>
                  <a:pt x="1508" y="406"/>
                </a:cubicBezTo>
                <a:cubicBezTo>
                  <a:pt x="1504" y="406"/>
                  <a:pt x="1500" y="405"/>
                  <a:pt x="1496" y="405"/>
                </a:cubicBezTo>
                <a:cubicBezTo>
                  <a:pt x="1492" y="405"/>
                  <a:pt x="1488" y="405"/>
                  <a:pt x="1484" y="405"/>
                </a:cubicBezTo>
                <a:cubicBezTo>
                  <a:pt x="1479" y="405"/>
                  <a:pt x="1475" y="406"/>
                  <a:pt x="1471" y="405"/>
                </a:cubicBezTo>
                <a:cubicBezTo>
                  <a:pt x="1467" y="405"/>
                  <a:pt x="1463" y="405"/>
                  <a:pt x="1459" y="405"/>
                </a:cubicBezTo>
                <a:cubicBezTo>
                  <a:pt x="1455" y="404"/>
                  <a:pt x="1451" y="404"/>
                  <a:pt x="1446" y="404"/>
                </a:cubicBezTo>
                <a:cubicBezTo>
                  <a:pt x="1442" y="404"/>
                  <a:pt x="1438" y="403"/>
                  <a:pt x="1434" y="403"/>
                </a:cubicBezTo>
                <a:cubicBezTo>
                  <a:pt x="1437" y="404"/>
                  <a:pt x="1441" y="404"/>
                  <a:pt x="1445" y="405"/>
                </a:cubicBezTo>
                <a:cubicBezTo>
                  <a:pt x="1445" y="404"/>
                  <a:pt x="1446" y="405"/>
                  <a:pt x="1448" y="406"/>
                </a:cubicBezTo>
                <a:cubicBezTo>
                  <a:pt x="1451" y="406"/>
                  <a:pt x="1454" y="407"/>
                  <a:pt x="1457" y="408"/>
                </a:cubicBezTo>
                <a:cubicBezTo>
                  <a:pt x="1461" y="408"/>
                  <a:pt x="1464" y="409"/>
                  <a:pt x="1468" y="410"/>
                </a:cubicBezTo>
                <a:cubicBezTo>
                  <a:pt x="1472" y="411"/>
                  <a:pt x="1476" y="411"/>
                  <a:pt x="1480" y="412"/>
                </a:cubicBezTo>
                <a:cubicBezTo>
                  <a:pt x="1483" y="413"/>
                  <a:pt x="1487" y="413"/>
                  <a:pt x="1491" y="414"/>
                </a:cubicBezTo>
                <a:cubicBezTo>
                  <a:pt x="1495" y="415"/>
                  <a:pt x="1499" y="416"/>
                  <a:pt x="1502" y="417"/>
                </a:cubicBezTo>
                <a:cubicBezTo>
                  <a:pt x="1506" y="417"/>
                  <a:pt x="1510" y="417"/>
                  <a:pt x="1514" y="418"/>
                </a:cubicBezTo>
                <a:cubicBezTo>
                  <a:pt x="1518" y="418"/>
                  <a:pt x="1522" y="418"/>
                  <a:pt x="1526" y="418"/>
                </a:cubicBezTo>
                <a:cubicBezTo>
                  <a:pt x="1528" y="418"/>
                  <a:pt x="1531" y="419"/>
                  <a:pt x="1534" y="419"/>
                </a:cubicBezTo>
                <a:cubicBezTo>
                  <a:pt x="1534" y="419"/>
                  <a:pt x="1534" y="418"/>
                  <a:pt x="1535" y="418"/>
                </a:cubicBezTo>
                <a:cubicBezTo>
                  <a:pt x="1536" y="418"/>
                  <a:pt x="1536" y="419"/>
                  <a:pt x="1536" y="419"/>
                </a:cubicBezTo>
                <a:cubicBezTo>
                  <a:pt x="1537" y="419"/>
                  <a:pt x="1537" y="419"/>
                  <a:pt x="1537" y="419"/>
                </a:cubicBezTo>
                <a:cubicBezTo>
                  <a:pt x="1541" y="420"/>
                  <a:pt x="1545" y="420"/>
                  <a:pt x="1549" y="421"/>
                </a:cubicBezTo>
                <a:cubicBezTo>
                  <a:pt x="1552" y="421"/>
                  <a:pt x="1556" y="421"/>
                  <a:pt x="1560" y="421"/>
                </a:cubicBezTo>
                <a:cubicBezTo>
                  <a:pt x="1564" y="421"/>
                  <a:pt x="1568" y="421"/>
                  <a:pt x="1572" y="421"/>
                </a:cubicBezTo>
                <a:cubicBezTo>
                  <a:pt x="1576" y="421"/>
                  <a:pt x="1580" y="420"/>
                  <a:pt x="1584" y="420"/>
                </a:cubicBezTo>
                <a:cubicBezTo>
                  <a:pt x="1584" y="426"/>
                  <a:pt x="1583" y="432"/>
                  <a:pt x="1583" y="438"/>
                </a:cubicBezTo>
                <a:cubicBezTo>
                  <a:pt x="1579" y="438"/>
                  <a:pt x="1575" y="439"/>
                  <a:pt x="1571" y="440"/>
                </a:cubicBezTo>
                <a:cubicBezTo>
                  <a:pt x="1567" y="440"/>
                  <a:pt x="1563" y="441"/>
                  <a:pt x="1559" y="442"/>
                </a:cubicBezTo>
                <a:cubicBezTo>
                  <a:pt x="1555" y="442"/>
                  <a:pt x="1551" y="442"/>
                  <a:pt x="1547" y="442"/>
                </a:cubicBezTo>
                <a:cubicBezTo>
                  <a:pt x="1547" y="442"/>
                  <a:pt x="1548" y="442"/>
                  <a:pt x="1548" y="443"/>
                </a:cubicBezTo>
                <a:cubicBezTo>
                  <a:pt x="1545" y="446"/>
                  <a:pt x="1542" y="445"/>
                  <a:pt x="1542" y="443"/>
                </a:cubicBezTo>
                <a:cubicBezTo>
                  <a:pt x="1539" y="444"/>
                  <a:pt x="1537" y="444"/>
                  <a:pt x="1535" y="444"/>
                </a:cubicBezTo>
                <a:cubicBezTo>
                  <a:pt x="1531" y="445"/>
                  <a:pt x="1527" y="445"/>
                  <a:pt x="1523" y="445"/>
                </a:cubicBezTo>
                <a:cubicBezTo>
                  <a:pt x="1519" y="446"/>
                  <a:pt x="1515" y="446"/>
                  <a:pt x="1511" y="446"/>
                </a:cubicBezTo>
                <a:cubicBezTo>
                  <a:pt x="1507" y="446"/>
                  <a:pt x="1503" y="446"/>
                  <a:pt x="1499" y="446"/>
                </a:cubicBezTo>
                <a:cubicBezTo>
                  <a:pt x="1495" y="446"/>
                  <a:pt x="1491" y="446"/>
                  <a:pt x="1487" y="446"/>
                </a:cubicBezTo>
                <a:cubicBezTo>
                  <a:pt x="1483" y="446"/>
                  <a:pt x="1479" y="446"/>
                  <a:pt x="1475" y="446"/>
                </a:cubicBezTo>
                <a:cubicBezTo>
                  <a:pt x="1475" y="446"/>
                  <a:pt x="1475" y="446"/>
                  <a:pt x="1475" y="446"/>
                </a:cubicBezTo>
                <a:cubicBezTo>
                  <a:pt x="1474" y="446"/>
                  <a:pt x="1474" y="446"/>
                  <a:pt x="1474" y="446"/>
                </a:cubicBezTo>
                <a:cubicBezTo>
                  <a:pt x="1470" y="446"/>
                  <a:pt x="1467" y="445"/>
                  <a:pt x="1463" y="445"/>
                </a:cubicBezTo>
                <a:cubicBezTo>
                  <a:pt x="1459" y="445"/>
                  <a:pt x="1455" y="445"/>
                  <a:pt x="1451" y="444"/>
                </a:cubicBezTo>
                <a:cubicBezTo>
                  <a:pt x="1447" y="444"/>
                  <a:pt x="1443" y="445"/>
                  <a:pt x="1439" y="445"/>
                </a:cubicBezTo>
                <a:cubicBezTo>
                  <a:pt x="1435" y="444"/>
                  <a:pt x="1431" y="444"/>
                  <a:pt x="1426" y="443"/>
                </a:cubicBezTo>
                <a:cubicBezTo>
                  <a:pt x="1430" y="444"/>
                  <a:pt x="1434" y="445"/>
                  <a:pt x="1438" y="445"/>
                </a:cubicBezTo>
                <a:cubicBezTo>
                  <a:pt x="1442" y="446"/>
                  <a:pt x="1446" y="448"/>
                  <a:pt x="1449" y="449"/>
                </a:cubicBezTo>
                <a:cubicBezTo>
                  <a:pt x="1453" y="449"/>
                  <a:pt x="1457" y="450"/>
                  <a:pt x="1461" y="451"/>
                </a:cubicBezTo>
                <a:cubicBezTo>
                  <a:pt x="1465" y="451"/>
                  <a:pt x="1468" y="452"/>
                  <a:pt x="1472" y="453"/>
                </a:cubicBezTo>
                <a:cubicBezTo>
                  <a:pt x="1476" y="453"/>
                  <a:pt x="1480" y="454"/>
                  <a:pt x="1484" y="454"/>
                </a:cubicBezTo>
                <a:cubicBezTo>
                  <a:pt x="1487" y="455"/>
                  <a:pt x="1491" y="456"/>
                  <a:pt x="1495" y="457"/>
                </a:cubicBezTo>
                <a:cubicBezTo>
                  <a:pt x="1499" y="457"/>
                  <a:pt x="1503" y="457"/>
                  <a:pt x="1506" y="458"/>
                </a:cubicBezTo>
                <a:cubicBezTo>
                  <a:pt x="1510" y="458"/>
                  <a:pt x="1514" y="459"/>
                  <a:pt x="1518" y="459"/>
                </a:cubicBezTo>
                <a:cubicBezTo>
                  <a:pt x="1522" y="459"/>
                  <a:pt x="1526" y="460"/>
                  <a:pt x="1529" y="460"/>
                </a:cubicBezTo>
                <a:cubicBezTo>
                  <a:pt x="1533" y="460"/>
                  <a:pt x="1537" y="460"/>
                  <a:pt x="1541" y="461"/>
                </a:cubicBezTo>
                <a:cubicBezTo>
                  <a:pt x="1545" y="461"/>
                  <a:pt x="1549" y="461"/>
                  <a:pt x="1553" y="461"/>
                </a:cubicBezTo>
                <a:cubicBezTo>
                  <a:pt x="1556" y="461"/>
                  <a:pt x="1560" y="461"/>
                  <a:pt x="1564" y="461"/>
                </a:cubicBezTo>
                <a:cubicBezTo>
                  <a:pt x="1568" y="461"/>
                  <a:pt x="1572" y="461"/>
                  <a:pt x="1576" y="461"/>
                </a:cubicBezTo>
                <a:cubicBezTo>
                  <a:pt x="1576" y="461"/>
                  <a:pt x="1576" y="461"/>
                  <a:pt x="1576" y="461"/>
                </a:cubicBezTo>
                <a:cubicBezTo>
                  <a:pt x="1575" y="464"/>
                  <a:pt x="1573" y="466"/>
                  <a:pt x="1571" y="467"/>
                </a:cubicBezTo>
                <a:cubicBezTo>
                  <a:pt x="1571" y="468"/>
                  <a:pt x="1571" y="468"/>
                  <a:pt x="1570" y="468"/>
                </a:cubicBezTo>
                <a:cubicBezTo>
                  <a:pt x="1570" y="469"/>
                  <a:pt x="1569" y="470"/>
                  <a:pt x="1568" y="470"/>
                </a:cubicBezTo>
                <a:cubicBezTo>
                  <a:pt x="1565" y="473"/>
                  <a:pt x="1563" y="476"/>
                  <a:pt x="1559" y="478"/>
                </a:cubicBezTo>
                <a:cubicBezTo>
                  <a:pt x="1556" y="480"/>
                  <a:pt x="1551" y="481"/>
                  <a:pt x="1548" y="482"/>
                </a:cubicBezTo>
                <a:cubicBezTo>
                  <a:pt x="1544" y="484"/>
                  <a:pt x="1540" y="485"/>
                  <a:pt x="1536" y="486"/>
                </a:cubicBezTo>
                <a:cubicBezTo>
                  <a:pt x="1532" y="486"/>
                  <a:pt x="1528" y="486"/>
                  <a:pt x="1524" y="486"/>
                </a:cubicBezTo>
                <a:cubicBezTo>
                  <a:pt x="1520" y="486"/>
                  <a:pt x="1515" y="486"/>
                  <a:pt x="1511" y="486"/>
                </a:cubicBezTo>
                <a:cubicBezTo>
                  <a:pt x="1506" y="485"/>
                  <a:pt x="1502" y="484"/>
                  <a:pt x="1498" y="483"/>
                </a:cubicBezTo>
                <a:cubicBezTo>
                  <a:pt x="1491" y="481"/>
                  <a:pt x="1491" y="481"/>
                  <a:pt x="1485" y="480"/>
                </a:cubicBezTo>
                <a:cubicBezTo>
                  <a:pt x="1479" y="478"/>
                  <a:pt x="1479" y="480"/>
                  <a:pt x="1472" y="478"/>
                </a:cubicBezTo>
                <a:cubicBezTo>
                  <a:pt x="1468" y="477"/>
                  <a:pt x="1465" y="476"/>
                  <a:pt x="1461" y="475"/>
                </a:cubicBezTo>
                <a:cubicBezTo>
                  <a:pt x="1457" y="475"/>
                  <a:pt x="1453" y="473"/>
                  <a:pt x="1449" y="473"/>
                </a:cubicBezTo>
                <a:cubicBezTo>
                  <a:pt x="1445" y="472"/>
                  <a:pt x="1441" y="471"/>
                  <a:pt x="1437" y="470"/>
                </a:cubicBezTo>
                <a:cubicBezTo>
                  <a:pt x="1434" y="469"/>
                  <a:pt x="1429" y="469"/>
                  <a:pt x="1426" y="468"/>
                </a:cubicBezTo>
                <a:cubicBezTo>
                  <a:pt x="1424" y="468"/>
                  <a:pt x="1422" y="467"/>
                  <a:pt x="1420" y="467"/>
                </a:cubicBezTo>
                <a:cubicBezTo>
                  <a:pt x="1420" y="467"/>
                  <a:pt x="1420" y="467"/>
                  <a:pt x="1420" y="468"/>
                </a:cubicBezTo>
                <a:cubicBezTo>
                  <a:pt x="1418" y="467"/>
                  <a:pt x="1418" y="467"/>
                  <a:pt x="1418" y="466"/>
                </a:cubicBezTo>
                <a:cubicBezTo>
                  <a:pt x="1416" y="466"/>
                  <a:pt x="1415" y="466"/>
                  <a:pt x="1414" y="465"/>
                </a:cubicBezTo>
                <a:cubicBezTo>
                  <a:pt x="1410" y="465"/>
                  <a:pt x="1406" y="464"/>
                  <a:pt x="1402" y="464"/>
                </a:cubicBezTo>
                <a:cubicBezTo>
                  <a:pt x="1402" y="464"/>
                  <a:pt x="1402" y="464"/>
                  <a:pt x="1402" y="464"/>
                </a:cubicBezTo>
                <a:cubicBezTo>
                  <a:pt x="1401" y="464"/>
                  <a:pt x="1399" y="464"/>
                  <a:pt x="1397" y="464"/>
                </a:cubicBezTo>
                <a:cubicBezTo>
                  <a:pt x="1397" y="463"/>
                  <a:pt x="1397" y="463"/>
                  <a:pt x="1397" y="462"/>
                </a:cubicBezTo>
                <a:cubicBezTo>
                  <a:pt x="1395" y="462"/>
                  <a:pt x="1393" y="461"/>
                  <a:pt x="1390" y="461"/>
                </a:cubicBezTo>
                <a:cubicBezTo>
                  <a:pt x="1387" y="460"/>
                  <a:pt x="1383" y="459"/>
                  <a:pt x="1379" y="458"/>
                </a:cubicBezTo>
                <a:cubicBezTo>
                  <a:pt x="1375" y="457"/>
                  <a:pt x="1371" y="456"/>
                  <a:pt x="1367" y="456"/>
                </a:cubicBezTo>
                <a:cubicBezTo>
                  <a:pt x="1363" y="455"/>
                  <a:pt x="1359" y="454"/>
                  <a:pt x="1355" y="453"/>
                </a:cubicBezTo>
                <a:cubicBezTo>
                  <a:pt x="1352" y="453"/>
                  <a:pt x="1348" y="452"/>
                  <a:pt x="1344" y="451"/>
                </a:cubicBezTo>
                <a:cubicBezTo>
                  <a:pt x="1340" y="450"/>
                  <a:pt x="1336" y="450"/>
                  <a:pt x="1332" y="449"/>
                </a:cubicBezTo>
                <a:cubicBezTo>
                  <a:pt x="1328" y="449"/>
                  <a:pt x="1324" y="448"/>
                  <a:pt x="1320" y="448"/>
                </a:cubicBezTo>
                <a:cubicBezTo>
                  <a:pt x="1316" y="447"/>
                  <a:pt x="1312" y="446"/>
                  <a:pt x="1308" y="446"/>
                </a:cubicBezTo>
                <a:cubicBezTo>
                  <a:pt x="1304" y="445"/>
                  <a:pt x="1301" y="444"/>
                  <a:pt x="1297" y="444"/>
                </a:cubicBezTo>
                <a:cubicBezTo>
                  <a:pt x="1293" y="443"/>
                  <a:pt x="1289" y="441"/>
                  <a:pt x="1285" y="441"/>
                </a:cubicBezTo>
                <a:cubicBezTo>
                  <a:pt x="1281" y="440"/>
                  <a:pt x="1277" y="439"/>
                  <a:pt x="1273" y="439"/>
                </a:cubicBezTo>
                <a:cubicBezTo>
                  <a:pt x="1269" y="438"/>
                  <a:pt x="1265" y="438"/>
                  <a:pt x="1261" y="437"/>
                </a:cubicBezTo>
                <a:cubicBezTo>
                  <a:pt x="1257" y="436"/>
                  <a:pt x="1254" y="435"/>
                  <a:pt x="1250" y="435"/>
                </a:cubicBezTo>
                <a:cubicBezTo>
                  <a:pt x="1246" y="434"/>
                  <a:pt x="1242" y="434"/>
                  <a:pt x="1238" y="433"/>
                </a:cubicBezTo>
                <a:cubicBezTo>
                  <a:pt x="1234" y="433"/>
                  <a:pt x="1230" y="432"/>
                  <a:pt x="1226" y="431"/>
                </a:cubicBezTo>
                <a:cubicBezTo>
                  <a:pt x="1222" y="431"/>
                  <a:pt x="1218" y="431"/>
                  <a:pt x="1214" y="430"/>
                </a:cubicBezTo>
                <a:cubicBezTo>
                  <a:pt x="1210" y="429"/>
                  <a:pt x="1206" y="429"/>
                  <a:pt x="1202" y="428"/>
                </a:cubicBezTo>
                <a:cubicBezTo>
                  <a:pt x="1198" y="428"/>
                  <a:pt x="1194" y="427"/>
                  <a:pt x="1191" y="426"/>
                </a:cubicBezTo>
                <a:cubicBezTo>
                  <a:pt x="1187" y="425"/>
                  <a:pt x="1183" y="425"/>
                  <a:pt x="1179" y="425"/>
                </a:cubicBezTo>
                <a:cubicBezTo>
                  <a:pt x="1175" y="424"/>
                  <a:pt x="1171" y="424"/>
                  <a:pt x="1167" y="423"/>
                </a:cubicBezTo>
                <a:cubicBezTo>
                  <a:pt x="1163" y="423"/>
                  <a:pt x="1159" y="422"/>
                  <a:pt x="1155" y="422"/>
                </a:cubicBezTo>
                <a:cubicBezTo>
                  <a:pt x="1151" y="421"/>
                  <a:pt x="1147" y="420"/>
                  <a:pt x="1143" y="419"/>
                </a:cubicBezTo>
                <a:cubicBezTo>
                  <a:pt x="1139" y="419"/>
                  <a:pt x="1135" y="419"/>
                  <a:pt x="1131" y="419"/>
                </a:cubicBezTo>
                <a:cubicBezTo>
                  <a:pt x="1127" y="418"/>
                  <a:pt x="1123" y="418"/>
                  <a:pt x="1119" y="417"/>
                </a:cubicBezTo>
                <a:cubicBezTo>
                  <a:pt x="1115" y="417"/>
                  <a:pt x="1111" y="416"/>
                  <a:pt x="1107" y="416"/>
                </a:cubicBezTo>
                <a:cubicBezTo>
                  <a:pt x="1103" y="415"/>
                  <a:pt x="1099" y="415"/>
                  <a:pt x="1096" y="414"/>
                </a:cubicBezTo>
                <a:cubicBezTo>
                  <a:pt x="1092" y="414"/>
                  <a:pt x="1088" y="414"/>
                  <a:pt x="1084" y="413"/>
                </a:cubicBezTo>
                <a:cubicBezTo>
                  <a:pt x="1080" y="413"/>
                  <a:pt x="1076" y="412"/>
                  <a:pt x="1072" y="411"/>
                </a:cubicBezTo>
                <a:cubicBezTo>
                  <a:pt x="1068" y="411"/>
                  <a:pt x="1064" y="410"/>
                  <a:pt x="1060" y="410"/>
                </a:cubicBezTo>
                <a:cubicBezTo>
                  <a:pt x="1056" y="410"/>
                  <a:pt x="1052" y="409"/>
                  <a:pt x="1048" y="409"/>
                </a:cubicBezTo>
                <a:cubicBezTo>
                  <a:pt x="1044" y="408"/>
                  <a:pt x="1040" y="408"/>
                  <a:pt x="1036" y="408"/>
                </a:cubicBezTo>
                <a:cubicBezTo>
                  <a:pt x="1032" y="407"/>
                  <a:pt x="1028" y="407"/>
                  <a:pt x="1024" y="406"/>
                </a:cubicBezTo>
                <a:cubicBezTo>
                  <a:pt x="1020" y="406"/>
                  <a:pt x="1016" y="406"/>
                  <a:pt x="1012" y="406"/>
                </a:cubicBezTo>
                <a:cubicBezTo>
                  <a:pt x="1008" y="405"/>
                  <a:pt x="1004" y="405"/>
                  <a:pt x="1000" y="405"/>
                </a:cubicBezTo>
                <a:cubicBezTo>
                  <a:pt x="997" y="404"/>
                  <a:pt x="993" y="403"/>
                  <a:pt x="989" y="403"/>
                </a:cubicBezTo>
                <a:cubicBezTo>
                  <a:pt x="985" y="403"/>
                  <a:pt x="981" y="403"/>
                  <a:pt x="977" y="402"/>
                </a:cubicBezTo>
                <a:cubicBezTo>
                  <a:pt x="973" y="402"/>
                  <a:pt x="969" y="402"/>
                  <a:pt x="965" y="401"/>
                </a:cubicBezTo>
                <a:cubicBezTo>
                  <a:pt x="961" y="401"/>
                  <a:pt x="957" y="400"/>
                  <a:pt x="953" y="400"/>
                </a:cubicBezTo>
                <a:cubicBezTo>
                  <a:pt x="949" y="400"/>
                  <a:pt x="945" y="400"/>
                  <a:pt x="941" y="400"/>
                </a:cubicBezTo>
                <a:cubicBezTo>
                  <a:pt x="938" y="400"/>
                  <a:pt x="934" y="400"/>
                  <a:pt x="930" y="399"/>
                </a:cubicBezTo>
                <a:cubicBezTo>
                  <a:pt x="926" y="399"/>
                  <a:pt x="922" y="399"/>
                  <a:pt x="918" y="399"/>
                </a:cubicBezTo>
                <a:cubicBezTo>
                  <a:pt x="914" y="399"/>
                  <a:pt x="910" y="398"/>
                  <a:pt x="906" y="398"/>
                </a:cubicBezTo>
                <a:cubicBezTo>
                  <a:pt x="902" y="398"/>
                  <a:pt x="898" y="397"/>
                  <a:pt x="894" y="397"/>
                </a:cubicBezTo>
                <a:cubicBezTo>
                  <a:pt x="890" y="396"/>
                  <a:pt x="886" y="397"/>
                  <a:pt x="882" y="397"/>
                </a:cubicBezTo>
                <a:cubicBezTo>
                  <a:pt x="878" y="397"/>
                  <a:pt x="875" y="396"/>
                  <a:pt x="871" y="395"/>
                </a:cubicBezTo>
                <a:cubicBezTo>
                  <a:pt x="867" y="395"/>
                  <a:pt x="863" y="395"/>
                  <a:pt x="859" y="395"/>
                </a:cubicBezTo>
                <a:cubicBezTo>
                  <a:pt x="855" y="395"/>
                  <a:pt x="851" y="395"/>
                  <a:pt x="847" y="395"/>
                </a:cubicBezTo>
                <a:cubicBezTo>
                  <a:pt x="843" y="395"/>
                  <a:pt x="839" y="395"/>
                  <a:pt x="835" y="395"/>
                </a:cubicBezTo>
                <a:cubicBezTo>
                  <a:pt x="831" y="395"/>
                  <a:pt x="827" y="395"/>
                  <a:pt x="823" y="395"/>
                </a:cubicBezTo>
                <a:cubicBezTo>
                  <a:pt x="819" y="395"/>
                  <a:pt x="816" y="394"/>
                  <a:pt x="812" y="394"/>
                </a:cubicBezTo>
                <a:cubicBezTo>
                  <a:pt x="807" y="394"/>
                  <a:pt x="802" y="395"/>
                  <a:pt x="797" y="395"/>
                </a:cubicBezTo>
                <a:cubicBezTo>
                  <a:pt x="792" y="395"/>
                  <a:pt x="787" y="395"/>
                  <a:pt x="783" y="395"/>
                </a:cubicBezTo>
                <a:cubicBezTo>
                  <a:pt x="779" y="395"/>
                  <a:pt x="775" y="396"/>
                  <a:pt x="770" y="396"/>
                </a:cubicBezTo>
                <a:cubicBezTo>
                  <a:pt x="766" y="396"/>
                  <a:pt x="762" y="395"/>
                  <a:pt x="758" y="395"/>
                </a:cubicBezTo>
                <a:cubicBezTo>
                  <a:pt x="754" y="395"/>
                  <a:pt x="750" y="395"/>
                  <a:pt x="745" y="395"/>
                </a:cubicBezTo>
                <a:cubicBezTo>
                  <a:pt x="742" y="396"/>
                  <a:pt x="738" y="396"/>
                  <a:pt x="733" y="396"/>
                </a:cubicBezTo>
                <a:cubicBezTo>
                  <a:pt x="729" y="397"/>
                  <a:pt x="725" y="397"/>
                  <a:pt x="721" y="397"/>
                </a:cubicBezTo>
                <a:cubicBezTo>
                  <a:pt x="717" y="398"/>
                  <a:pt x="713" y="397"/>
                  <a:pt x="709" y="397"/>
                </a:cubicBezTo>
                <a:cubicBezTo>
                  <a:pt x="705" y="398"/>
                  <a:pt x="701" y="399"/>
                  <a:pt x="697" y="399"/>
                </a:cubicBezTo>
                <a:cubicBezTo>
                  <a:pt x="693" y="399"/>
                  <a:pt x="689" y="399"/>
                  <a:pt x="685" y="399"/>
                </a:cubicBezTo>
                <a:cubicBezTo>
                  <a:pt x="681" y="400"/>
                  <a:pt x="677" y="400"/>
                  <a:pt x="673" y="400"/>
                </a:cubicBezTo>
                <a:cubicBezTo>
                  <a:pt x="669" y="400"/>
                  <a:pt x="665" y="401"/>
                  <a:pt x="661" y="402"/>
                </a:cubicBezTo>
                <a:cubicBezTo>
                  <a:pt x="657" y="402"/>
                  <a:pt x="653" y="402"/>
                  <a:pt x="649" y="402"/>
                </a:cubicBezTo>
                <a:cubicBezTo>
                  <a:pt x="645" y="403"/>
                  <a:pt x="641" y="404"/>
                  <a:pt x="636" y="404"/>
                </a:cubicBezTo>
                <a:cubicBezTo>
                  <a:pt x="632" y="405"/>
                  <a:pt x="628" y="405"/>
                  <a:pt x="624" y="406"/>
                </a:cubicBezTo>
                <a:cubicBezTo>
                  <a:pt x="620" y="406"/>
                  <a:pt x="616" y="406"/>
                  <a:pt x="612" y="407"/>
                </a:cubicBezTo>
                <a:cubicBezTo>
                  <a:pt x="608" y="407"/>
                  <a:pt x="604" y="407"/>
                  <a:pt x="600" y="407"/>
                </a:cubicBezTo>
                <a:cubicBezTo>
                  <a:pt x="596" y="408"/>
                  <a:pt x="592" y="409"/>
                  <a:pt x="588" y="409"/>
                </a:cubicBezTo>
                <a:cubicBezTo>
                  <a:pt x="584" y="410"/>
                  <a:pt x="580" y="410"/>
                  <a:pt x="576" y="410"/>
                </a:cubicBezTo>
                <a:cubicBezTo>
                  <a:pt x="572" y="411"/>
                  <a:pt x="568" y="411"/>
                  <a:pt x="564" y="412"/>
                </a:cubicBezTo>
                <a:cubicBezTo>
                  <a:pt x="560" y="412"/>
                  <a:pt x="556" y="412"/>
                  <a:pt x="552" y="413"/>
                </a:cubicBezTo>
                <a:cubicBezTo>
                  <a:pt x="548" y="413"/>
                  <a:pt x="544" y="414"/>
                  <a:pt x="540" y="415"/>
                </a:cubicBezTo>
                <a:cubicBezTo>
                  <a:pt x="536" y="415"/>
                  <a:pt x="532" y="416"/>
                  <a:pt x="528" y="416"/>
                </a:cubicBezTo>
                <a:cubicBezTo>
                  <a:pt x="524" y="417"/>
                  <a:pt x="520" y="417"/>
                  <a:pt x="516" y="417"/>
                </a:cubicBezTo>
                <a:cubicBezTo>
                  <a:pt x="512" y="418"/>
                  <a:pt x="508" y="419"/>
                  <a:pt x="504" y="419"/>
                </a:cubicBezTo>
                <a:cubicBezTo>
                  <a:pt x="500" y="420"/>
                  <a:pt x="496" y="420"/>
                  <a:pt x="492" y="420"/>
                </a:cubicBezTo>
                <a:cubicBezTo>
                  <a:pt x="488" y="421"/>
                  <a:pt x="484" y="422"/>
                  <a:pt x="480" y="422"/>
                </a:cubicBezTo>
                <a:cubicBezTo>
                  <a:pt x="476" y="423"/>
                  <a:pt x="472" y="424"/>
                  <a:pt x="468" y="424"/>
                </a:cubicBezTo>
                <a:cubicBezTo>
                  <a:pt x="464" y="425"/>
                  <a:pt x="460" y="425"/>
                  <a:pt x="456" y="425"/>
                </a:cubicBezTo>
                <a:cubicBezTo>
                  <a:pt x="452" y="426"/>
                  <a:pt x="448" y="427"/>
                  <a:pt x="444" y="428"/>
                </a:cubicBezTo>
                <a:cubicBezTo>
                  <a:pt x="440" y="428"/>
                  <a:pt x="436" y="428"/>
                  <a:pt x="432" y="429"/>
                </a:cubicBezTo>
                <a:cubicBezTo>
                  <a:pt x="428" y="430"/>
                  <a:pt x="425" y="431"/>
                  <a:pt x="421" y="431"/>
                </a:cubicBezTo>
                <a:cubicBezTo>
                  <a:pt x="417" y="432"/>
                  <a:pt x="413" y="432"/>
                  <a:pt x="409" y="432"/>
                </a:cubicBezTo>
                <a:cubicBezTo>
                  <a:pt x="405" y="433"/>
                  <a:pt x="401" y="435"/>
                  <a:pt x="397" y="435"/>
                </a:cubicBezTo>
                <a:cubicBezTo>
                  <a:pt x="393" y="436"/>
                  <a:pt x="389" y="436"/>
                  <a:pt x="385" y="436"/>
                </a:cubicBezTo>
                <a:cubicBezTo>
                  <a:pt x="381" y="437"/>
                  <a:pt x="377" y="437"/>
                  <a:pt x="373" y="438"/>
                </a:cubicBezTo>
                <a:cubicBezTo>
                  <a:pt x="369" y="439"/>
                  <a:pt x="365" y="440"/>
                  <a:pt x="361" y="440"/>
                </a:cubicBezTo>
                <a:cubicBezTo>
                  <a:pt x="357" y="441"/>
                  <a:pt x="353" y="442"/>
                  <a:pt x="349" y="443"/>
                </a:cubicBezTo>
                <a:cubicBezTo>
                  <a:pt x="345" y="444"/>
                  <a:pt x="341" y="444"/>
                  <a:pt x="337" y="444"/>
                </a:cubicBezTo>
                <a:cubicBezTo>
                  <a:pt x="333" y="445"/>
                  <a:pt x="329" y="447"/>
                  <a:pt x="326" y="447"/>
                </a:cubicBezTo>
                <a:cubicBezTo>
                  <a:pt x="322" y="448"/>
                  <a:pt x="318" y="448"/>
                  <a:pt x="314" y="449"/>
                </a:cubicBezTo>
                <a:cubicBezTo>
                  <a:pt x="310" y="450"/>
                  <a:pt x="306" y="450"/>
                  <a:pt x="302" y="451"/>
                </a:cubicBezTo>
                <a:cubicBezTo>
                  <a:pt x="298" y="452"/>
                  <a:pt x="294" y="452"/>
                  <a:pt x="290" y="453"/>
                </a:cubicBezTo>
                <a:cubicBezTo>
                  <a:pt x="286" y="454"/>
                  <a:pt x="282" y="454"/>
                  <a:pt x="278" y="455"/>
                </a:cubicBezTo>
                <a:cubicBezTo>
                  <a:pt x="274" y="456"/>
                  <a:pt x="270" y="457"/>
                  <a:pt x="266" y="458"/>
                </a:cubicBezTo>
                <a:cubicBezTo>
                  <a:pt x="262" y="458"/>
                  <a:pt x="258" y="459"/>
                  <a:pt x="254" y="460"/>
                </a:cubicBezTo>
                <a:cubicBezTo>
                  <a:pt x="250" y="461"/>
                  <a:pt x="246" y="461"/>
                  <a:pt x="242" y="462"/>
                </a:cubicBezTo>
                <a:cubicBezTo>
                  <a:pt x="238" y="463"/>
                  <a:pt x="234" y="464"/>
                  <a:pt x="230" y="465"/>
                </a:cubicBezTo>
                <a:cubicBezTo>
                  <a:pt x="226" y="465"/>
                  <a:pt x="222" y="466"/>
                  <a:pt x="218" y="467"/>
                </a:cubicBezTo>
                <a:cubicBezTo>
                  <a:pt x="215" y="468"/>
                  <a:pt x="211" y="469"/>
                  <a:pt x="207" y="470"/>
                </a:cubicBezTo>
                <a:cubicBezTo>
                  <a:pt x="203" y="470"/>
                  <a:pt x="199" y="471"/>
                  <a:pt x="195" y="472"/>
                </a:cubicBezTo>
                <a:cubicBezTo>
                  <a:pt x="192" y="473"/>
                  <a:pt x="188" y="473"/>
                  <a:pt x="185" y="473"/>
                </a:cubicBezTo>
                <a:cubicBezTo>
                  <a:pt x="182" y="474"/>
                  <a:pt x="178" y="475"/>
                  <a:pt x="175" y="476"/>
                </a:cubicBezTo>
                <a:cubicBezTo>
                  <a:pt x="172" y="477"/>
                  <a:pt x="168" y="478"/>
                  <a:pt x="165" y="478"/>
                </a:cubicBezTo>
                <a:cubicBezTo>
                  <a:pt x="162" y="479"/>
                  <a:pt x="158" y="479"/>
                  <a:pt x="154" y="480"/>
                </a:cubicBezTo>
                <a:cubicBezTo>
                  <a:pt x="151" y="481"/>
                  <a:pt x="147" y="482"/>
                  <a:pt x="143" y="483"/>
                </a:cubicBezTo>
                <a:cubicBezTo>
                  <a:pt x="140" y="483"/>
                  <a:pt x="136" y="484"/>
                  <a:pt x="132" y="484"/>
                </a:cubicBezTo>
                <a:cubicBezTo>
                  <a:pt x="129" y="485"/>
                  <a:pt x="125" y="486"/>
                  <a:pt x="121" y="486"/>
                </a:cubicBezTo>
                <a:cubicBezTo>
                  <a:pt x="118" y="486"/>
                  <a:pt x="114" y="486"/>
                  <a:pt x="110" y="486"/>
                </a:cubicBezTo>
                <a:cubicBezTo>
                  <a:pt x="109" y="486"/>
                  <a:pt x="107" y="486"/>
                  <a:pt x="105" y="486"/>
                </a:cubicBezTo>
                <a:cubicBezTo>
                  <a:pt x="105" y="486"/>
                  <a:pt x="105" y="486"/>
                  <a:pt x="105" y="486"/>
                </a:cubicBezTo>
                <a:cubicBezTo>
                  <a:pt x="105" y="486"/>
                  <a:pt x="104" y="487"/>
                  <a:pt x="104" y="487"/>
                </a:cubicBezTo>
                <a:cubicBezTo>
                  <a:pt x="100" y="487"/>
                  <a:pt x="95" y="486"/>
                  <a:pt x="91" y="485"/>
                </a:cubicBezTo>
                <a:cubicBezTo>
                  <a:pt x="87" y="484"/>
                  <a:pt x="83" y="482"/>
                  <a:pt x="79" y="480"/>
                </a:cubicBezTo>
                <a:cubicBezTo>
                  <a:pt x="75" y="477"/>
                  <a:pt x="72" y="474"/>
                  <a:pt x="69" y="471"/>
                </a:cubicBezTo>
                <a:cubicBezTo>
                  <a:pt x="66" y="468"/>
                  <a:pt x="63" y="465"/>
                  <a:pt x="60" y="461"/>
                </a:cubicBezTo>
                <a:cubicBezTo>
                  <a:pt x="65" y="461"/>
                  <a:pt x="68" y="461"/>
                  <a:pt x="72" y="461"/>
                </a:cubicBezTo>
                <a:cubicBezTo>
                  <a:pt x="77" y="461"/>
                  <a:pt x="81" y="461"/>
                  <a:pt x="85" y="461"/>
                </a:cubicBezTo>
                <a:cubicBezTo>
                  <a:pt x="89" y="460"/>
                  <a:pt x="93" y="460"/>
                  <a:pt x="97" y="460"/>
                </a:cubicBezTo>
                <a:cubicBezTo>
                  <a:pt x="101" y="460"/>
                  <a:pt x="105" y="460"/>
                  <a:pt x="109" y="460"/>
                </a:cubicBezTo>
                <a:cubicBezTo>
                  <a:pt x="112" y="459"/>
                  <a:pt x="115" y="459"/>
                  <a:pt x="118" y="459"/>
                </a:cubicBezTo>
                <a:cubicBezTo>
                  <a:pt x="119" y="458"/>
                  <a:pt x="121" y="457"/>
                  <a:pt x="123" y="459"/>
                </a:cubicBezTo>
                <a:cubicBezTo>
                  <a:pt x="127" y="458"/>
                  <a:pt x="130" y="458"/>
                  <a:pt x="133" y="457"/>
                </a:cubicBezTo>
                <a:cubicBezTo>
                  <a:pt x="137" y="457"/>
                  <a:pt x="142" y="456"/>
                  <a:pt x="146" y="455"/>
                </a:cubicBezTo>
                <a:cubicBezTo>
                  <a:pt x="150" y="455"/>
                  <a:pt x="154" y="454"/>
                  <a:pt x="158" y="453"/>
                </a:cubicBezTo>
                <a:cubicBezTo>
                  <a:pt x="162" y="453"/>
                  <a:pt x="166" y="452"/>
                  <a:pt x="170" y="451"/>
                </a:cubicBezTo>
                <a:cubicBezTo>
                  <a:pt x="173" y="450"/>
                  <a:pt x="177" y="449"/>
                  <a:pt x="182" y="449"/>
                </a:cubicBezTo>
                <a:cubicBezTo>
                  <a:pt x="185" y="448"/>
                  <a:pt x="190" y="447"/>
                  <a:pt x="194" y="447"/>
                </a:cubicBezTo>
                <a:cubicBezTo>
                  <a:pt x="198" y="446"/>
                  <a:pt x="202" y="444"/>
                  <a:pt x="206" y="443"/>
                </a:cubicBezTo>
                <a:cubicBezTo>
                  <a:pt x="202" y="444"/>
                  <a:pt x="198" y="444"/>
                  <a:pt x="194" y="444"/>
                </a:cubicBezTo>
                <a:cubicBezTo>
                  <a:pt x="190" y="444"/>
                  <a:pt x="186" y="445"/>
                  <a:pt x="182" y="445"/>
                </a:cubicBezTo>
                <a:cubicBezTo>
                  <a:pt x="178" y="445"/>
                  <a:pt x="174" y="445"/>
                  <a:pt x="170" y="445"/>
                </a:cubicBezTo>
                <a:cubicBezTo>
                  <a:pt x="166" y="445"/>
                  <a:pt x="162" y="445"/>
                  <a:pt x="158" y="446"/>
                </a:cubicBezTo>
                <a:cubicBezTo>
                  <a:pt x="157" y="446"/>
                  <a:pt x="156" y="446"/>
                  <a:pt x="154" y="446"/>
                </a:cubicBezTo>
                <a:cubicBezTo>
                  <a:pt x="153" y="447"/>
                  <a:pt x="152" y="446"/>
                  <a:pt x="151" y="446"/>
                </a:cubicBezTo>
                <a:cubicBezTo>
                  <a:pt x="150" y="446"/>
                  <a:pt x="148" y="446"/>
                  <a:pt x="147" y="446"/>
                </a:cubicBezTo>
                <a:cubicBezTo>
                  <a:pt x="143" y="446"/>
                  <a:pt x="139" y="446"/>
                  <a:pt x="135" y="446"/>
                </a:cubicBezTo>
                <a:cubicBezTo>
                  <a:pt x="131" y="446"/>
                  <a:pt x="127" y="446"/>
                  <a:pt x="123" y="446"/>
                </a:cubicBezTo>
                <a:cubicBezTo>
                  <a:pt x="119" y="446"/>
                  <a:pt x="115" y="446"/>
                  <a:pt x="111" y="445"/>
                </a:cubicBezTo>
                <a:cubicBezTo>
                  <a:pt x="107" y="445"/>
                  <a:pt x="103" y="445"/>
                  <a:pt x="99" y="444"/>
                </a:cubicBezTo>
                <a:cubicBezTo>
                  <a:pt x="96" y="444"/>
                  <a:pt x="92" y="443"/>
                  <a:pt x="88" y="443"/>
                </a:cubicBezTo>
                <a:cubicBezTo>
                  <a:pt x="87" y="443"/>
                  <a:pt x="86" y="443"/>
                  <a:pt x="85" y="443"/>
                </a:cubicBezTo>
                <a:cubicBezTo>
                  <a:pt x="86" y="444"/>
                  <a:pt x="82" y="447"/>
                  <a:pt x="79" y="443"/>
                </a:cubicBezTo>
                <a:cubicBezTo>
                  <a:pt x="79" y="442"/>
                  <a:pt x="80" y="442"/>
                  <a:pt x="81" y="442"/>
                </a:cubicBezTo>
                <a:cubicBezTo>
                  <a:pt x="79" y="442"/>
                  <a:pt x="78" y="442"/>
                  <a:pt x="76" y="441"/>
                </a:cubicBezTo>
                <a:cubicBezTo>
                  <a:pt x="74" y="441"/>
                  <a:pt x="71" y="441"/>
                  <a:pt x="69" y="440"/>
                </a:cubicBezTo>
                <a:cubicBezTo>
                  <a:pt x="68" y="441"/>
                  <a:pt x="68" y="441"/>
                  <a:pt x="67" y="441"/>
                </a:cubicBezTo>
                <a:cubicBezTo>
                  <a:pt x="67" y="441"/>
                  <a:pt x="67" y="440"/>
                  <a:pt x="67" y="440"/>
                </a:cubicBezTo>
                <a:cubicBezTo>
                  <a:pt x="66" y="440"/>
                  <a:pt x="65" y="440"/>
                  <a:pt x="64" y="440"/>
                </a:cubicBezTo>
                <a:cubicBezTo>
                  <a:pt x="61" y="439"/>
                  <a:pt x="57" y="439"/>
                  <a:pt x="53" y="438"/>
                </a:cubicBezTo>
                <a:cubicBezTo>
                  <a:pt x="53" y="437"/>
                  <a:pt x="52" y="436"/>
                  <a:pt x="52" y="435"/>
                </a:cubicBezTo>
                <a:cubicBezTo>
                  <a:pt x="52" y="433"/>
                  <a:pt x="52" y="431"/>
                  <a:pt x="53" y="429"/>
                </a:cubicBezTo>
                <a:cubicBezTo>
                  <a:pt x="51" y="432"/>
                  <a:pt x="49" y="434"/>
                  <a:pt x="48" y="431"/>
                </a:cubicBezTo>
                <a:cubicBezTo>
                  <a:pt x="52" y="431"/>
                  <a:pt x="49" y="423"/>
                  <a:pt x="53" y="424"/>
                </a:cubicBezTo>
                <a:cubicBezTo>
                  <a:pt x="53" y="423"/>
                  <a:pt x="54" y="422"/>
                  <a:pt x="54" y="421"/>
                </a:cubicBezTo>
                <a:cubicBezTo>
                  <a:pt x="58" y="421"/>
                  <a:pt x="62" y="420"/>
                  <a:pt x="66" y="420"/>
                </a:cubicBezTo>
                <a:cubicBezTo>
                  <a:pt x="70" y="420"/>
                  <a:pt x="74" y="420"/>
                  <a:pt x="78" y="420"/>
                </a:cubicBezTo>
                <a:cubicBezTo>
                  <a:pt x="82" y="420"/>
                  <a:pt x="86" y="420"/>
                  <a:pt x="90" y="420"/>
                </a:cubicBezTo>
                <a:cubicBezTo>
                  <a:pt x="90" y="420"/>
                  <a:pt x="90" y="420"/>
                  <a:pt x="90" y="420"/>
                </a:cubicBezTo>
                <a:cubicBezTo>
                  <a:pt x="91" y="419"/>
                  <a:pt x="91" y="418"/>
                  <a:pt x="92" y="418"/>
                </a:cubicBezTo>
                <a:cubicBezTo>
                  <a:pt x="93" y="419"/>
                  <a:pt x="93" y="419"/>
                  <a:pt x="94" y="420"/>
                </a:cubicBezTo>
                <a:cubicBezTo>
                  <a:pt x="97" y="419"/>
                  <a:pt x="99" y="419"/>
                  <a:pt x="102" y="419"/>
                </a:cubicBezTo>
                <a:cubicBezTo>
                  <a:pt x="106" y="418"/>
                  <a:pt x="110" y="418"/>
                  <a:pt x="114" y="418"/>
                </a:cubicBezTo>
                <a:cubicBezTo>
                  <a:pt x="118" y="418"/>
                  <a:pt x="123" y="417"/>
                  <a:pt x="127" y="417"/>
                </a:cubicBezTo>
                <a:cubicBezTo>
                  <a:pt x="131" y="416"/>
                  <a:pt x="134" y="415"/>
                  <a:pt x="139" y="414"/>
                </a:cubicBezTo>
                <a:cubicBezTo>
                  <a:pt x="143" y="414"/>
                  <a:pt x="147" y="413"/>
                  <a:pt x="151" y="412"/>
                </a:cubicBezTo>
                <a:cubicBezTo>
                  <a:pt x="154" y="412"/>
                  <a:pt x="158" y="411"/>
                  <a:pt x="163" y="410"/>
                </a:cubicBezTo>
                <a:cubicBezTo>
                  <a:pt x="166" y="409"/>
                  <a:pt x="171" y="409"/>
                  <a:pt x="175" y="408"/>
                </a:cubicBezTo>
                <a:cubicBezTo>
                  <a:pt x="176" y="408"/>
                  <a:pt x="178" y="408"/>
                  <a:pt x="180" y="407"/>
                </a:cubicBezTo>
                <a:cubicBezTo>
                  <a:pt x="179" y="407"/>
                  <a:pt x="179" y="407"/>
                  <a:pt x="178" y="406"/>
                </a:cubicBezTo>
                <a:cubicBezTo>
                  <a:pt x="182" y="403"/>
                  <a:pt x="183" y="405"/>
                  <a:pt x="183" y="407"/>
                </a:cubicBezTo>
                <a:cubicBezTo>
                  <a:pt x="184" y="406"/>
                  <a:pt x="185" y="406"/>
                  <a:pt x="187" y="406"/>
                </a:cubicBezTo>
                <a:cubicBezTo>
                  <a:pt x="191" y="405"/>
                  <a:pt x="195" y="404"/>
                  <a:pt x="199" y="403"/>
                </a:cubicBezTo>
                <a:cubicBezTo>
                  <a:pt x="195" y="403"/>
                  <a:pt x="190" y="404"/>
                  <a:pt x="186" y="404"/>
                </a:cubicBezTo>
                <a:cubicBezTo>
                  <a:pt x="182" y="404"/>
                  <a:pt x="178" y="404"/>
                  <a:pt x="174" y="404"/>
                </a:cubicBezTo>
                <a:cubicBezTo>
                  <a:pt x="170" y="404"/>
                  <a:pt x="166" y="405"/>
                  <a:pt x="162" y="405"/>
                </a:cubicBezTo>
                <a:cubicBezTo>
                  <a:pt x="158" y="405"/>
                  <a:pt x="154" y="405"/>
                  <a:pt x="150" y="405"/>
                </a:cubicBezTo>
                <a:cubicBezTo>
                  <a:pt x="146" y="405"/>
                  <a:pt x="142" y="406"/>
                  <a:pt x="138" y="406"/>
                </a:cubicBezTo>
                <a:cubicBezTo>
                  <a:pt x="134" y="406"/>
                  <a:pt x="130" y="405"/>
                  <a:pt x="126" y="405"/>
                </a:cubicBezTo>
                <a:cubicBezTo>
                  <a:pt x="122" y="405"/>
                  <a:pt x="118" y="406"/>
                  <a:pt x="114" y="405"/>
                </a:cubicBezTo>
                <a:cubicBezTo>
                  <a:pt x="110" y="405"/>
                  <a:pt x="106" y="404"/>
                  <a:pt x="101" y="404"/>
                </a:cubicBezTo>
                <a:cubicBezTo>
                  <a:pt x="98" y="404"/>
                  <a:pt x="93" y="404"/>
                  <a:pt x="89" y="404"/>
                </a:cubicBezTo>
                <a:cubicBezTo>
                  <a:pt x="88" y="404"/>
                  <a:pt x="86" y="403"/>
                  <a:pt x="84" y="403"/>
                </a:cubicBezTo>
                <a:cubicBezTo>
                  <a:pt x="84" y="404"/>
                  <a:pt x="83" y="404"/>
                  <a:pt x="82" y="404"/>
                </a:cubicBezTo>
                <a:cubicBezTo>
                  <a:pt x="83" y="404"/>
                  <a:pt x="83" y="403"/>
                  <a:pt x="83" y="403"/>
                </a:cubicBezTo>
                <a:cubicBezTo>
                  <a:pt x="81" y="403"/>
                  <a:pt x="79" y="403"/>
                  <a:pt x="77" y="403"/>
                </a:cubicBezTo>
                <a:cubicBezTo>
                  <a:pt x="73" y="402"/>
                  <a:pt x="69" y="401"/>
                  <a:pt x="65" y="400"/>
                </a:cubicBezTo>
                <a:cubicBezTo>
                  <a:pt x="61" y="400"/>
                  <a:pt x="58" y="399"/>
                  <a:pt x="53" y="399"/>
                </a:cubicBezTo>
                <a:cubicBezTo>
                  <a:pt x="53" y="396"/>
                  <a:pt x="52" y="393"/>
                  <a:pt x="52" y="390"/>
                </a:cubicBezTo>
                <a:cubicBezTo>
                  <a:pt x="52" y="386"/>
                  <a:pt x="52" y="383"/>
                  <a:pt x="51" y="380"/>
                </a:cubicBezTo>
                <a:cubicBezTo>
                  <a:pt x="55" y="380"/>
                  <a:pt x="60" y="380"/>
                  <a:pt x="63" y="380"/>
                </a:cubicBezTo>
                <a:cubicBezTo>
                  <a:pt x="67" y="380"/>
                  <a:pt x="71" y="380"/>
                  <a:pt x="75" y="380"/>
                </a:cubicBezTo>
                <a:cubicBezTo>
                  <a:pt x="79" y="380"/>
                  <a:pt x="83" y="379"/>
                  <a:pt x="87" y="379"/>
                </a:cubicBezTo>
                <a:cubicBezTo>
                  <a:pt x="91" y="378"/>
                  <a:pt x="95" y="379"/>
                  <a:pt x="99" y="378"/>
                </a:cubicBezTo>
                <a:cubicBezTo>
                  <a:pt x="103" y="378"/>
                  <a:pt x="107" y="378"/>
                  <a:pt x="110" y="377"/>
                </a:cubicBezTo>
                <a:cubicBezTo>
                  <a:pt x="114" y="377"/>
                  <a:pt x="118" y="376"/>
                  <a:pt x="122" y="375"/>
                </a:cubicBezTo>
                <a:cubicBezTo>
                  <a:pt x="126" y="375"/>
                  <a:pt x="130" y="374"/>
                  <a:pt x="134" y="374"/>
                </a:cubicBezTo>
                <a:cubicBezTo>
                  <a:pt x="137" y="373"/>
                  <a:pt x="141" y="372"/>
                  <a:pt x="145" y="371"/>
                </a:cubicBezTo>
                <a:cubicBezTo>
                  <a:pt x="149" y="371"/>
                  <a:pt x="153" y="371"/>
                  <a:pt x="157" y="370"/>
                </a:cubicBezTo>
                <a:cubicBezTo>
                  <a:pt x="161" y="369"/>
                  <a:pt x="165" y="369"/>
                  <a:pt x="168" y="368"/>
                </a:cubicBezTo>
                <a:cubicBezTo>
                  <a:pt x="172" y="367"/>
                  <a:pt x="176" y="366"/>
                  <a:pt x="180" y="365"/>
                </a:cubicBezTo>
                <a:cubicBezTo>
                  <a:pt x="184" y="364"/>
                  <a:pt x="187" y="363"/>
                  <a:pt x="191" y="362"/>
                </a:cubicBezTo>
                <a:cubicBezTo>
                  <a:pt x="187" y="363"/>
                  <a:pt x="183" y="363"/>
                  <a:pt x="180" y="364"/>
                </a:cubicBezTo>
                <a:cubicBezTo>
                  <a:pt x="175" y="364"/>
                  <a:pt x="171" y="363"/>
                  <a:pt x="167" y="363"/>
                </a:cubicBezTo>
                <a:cubicBezTo>
                  <a:pt x="163" y="364"/>
                  <a:pt x="159" y="365"/>
                  <a:pt x="156" y="365"/>
                </a:cubicBezTo>
                <a:cubicBezTo>
                  <a:pt x="151" y="365"/>
                  <a:pt x="147" y="365"/>
                  <a:pt x="144" y="365"/>
                </a:cubicBezTo>
                <a:cubicBezTo>
                  <a:pt x="140" y="365"/>
                  <a:pt x="136" y="365"/>
                  <a:pt x="132" y="365"/>
                </a:cubicBezTo>
                <a:cubicBezTo>
                  <a:pt x="128" y="365"/>
                  <a:pt x="124" y="365"/>
                  <a:pt x="120" y="365"/>
                </a:cubicBezTo>
                <a:cubicBezTo>
                  <a:pt x="116" y="365"/>
                  <a:pt x="112" y="365"/>
                  <a:pt x="108" y="365"/>
                </a:cubicBezTo>
                <a:cubicBezTo>
                  <a:pt x="104" y="364"/>
                  <a:pt x="100" y="364"/>
                  <a:pt x="96" y="364"/>
                </a:cubicBezTo>
                <a:cubicBezTo>
                  <a:pt x="95" y="364"/>
                  <a:pt x="94" y="364"/>
                  <a:pt x="93" y="364"/>
                </a:cubicBezTo>
                <a:cubicBezTo>
                  <a:pt x="92" y="364"/>
                  <a:pt x="91" y="365"/>
                  <a:pt x="91" y="363"/>
                </a:cubicBezTo>
                <a:cubicBezTo>
                  <a:pt x="88" y="363"/>
                  <a:pt x="86" y="363"/>
                  <a:pt x="84" y="363"/>
                </a:cubicBezTo>
                <a:cubicBezTo>
                  <a:pt x="80" y="362"/>
                  <a:pt x="76" y="362"/>
                  <a:pt x="72" y="362"/>
                </a:cubicBezTo>
                <a:cubicBezTo>
                  <a:pt x="68" y="361"/>
                  <a:pt x="65" y="361"/>
                  <a:pt x="61" y="361"/>
                </a:cubicBezTo>
                <a:cubicBezTo>
                  <a:pt x="61" y="362"/>
                  <a:pt x="61" y="362"/>
                  <a:pt x="59" y="362"/>
                </a:cubicBezTo>
                <a:cubicBezTo>
                  <a:pt x="59" y="362"/>
                  <a:pt x="59" y="361"/>
                  <a:pt x="59" y="361"/>
                </a:cubicBezTo>
                <a:cubicBezTo>
                  <a:pt x="56" y="360"/>
                  <a:pt x="52" y="359"/>
                  <a:pt x="48" y="359"/>
                </a:cubicBezTo>
                <a:cubicBezTo>
                  <a:pt x="48" y="355"/>
                  <a:pt x="47" y="352"/>
                  <a:pt x="46" y="349"/>
                </a:cubicBezTo>
                <a:cubicBezTo>
                  <a:pt x="46" y="346"/>
                  <a:pt x="45" y="343"/>
                  <a:pt x="44" y="340"/>
                </a:cubicBezTo>
                <a:cubicBezTo>
                  <a:pt x="48" y="340"/>
                  <a:pt x="52" y="339"/>
                  <a:pt x="55" y="339"/>
                </a:cubicBezTo>
                <a:cubicBezTo>
                  <a:pt x="55" y="339"/>
                  <a:pt x="55" y="339"/>
                  <a:pt x="56" y="339"/>
                </a:cubicBezTo>
                <a:cubicBezTo>
                  <a:pt x="56" y="339"/>
                  <a:pt x="56" y="339"/>
                  <a:pt x="56" y="339"/>
                </a:cubicBezTo>
                <a:cubicBezTo>
                  <a:pt x="56" y="339"/>
                  <a:pt x="56" y="339"/>
                  <a:pt x="56" y="339"/>
                </a:cubicBezTo>
                <a:cubicBezTo>
                  <a:pt x="60" y="339"/>
                  <a:pt x="64" y="339"/>
                  <a:pt x="68" y="339"/>
                </a:cubicBezTo>
                <a:cubicBezTo>
                  <a:pt x="72" y="339"/>
                  <a:pt x="76" y="338"/>
                  <a:pt x="79" y="338"/>
                </a:cubicBezTo>
                <a:cubicBezTo>
                  <a:pt x="83" y="338"/>
                  <a:pt x="87" y="338"/>
                  <a:pt x="91" y="338"/>
                </a:cubicBezTo>
                <a:cubicBezTo>
                  <a:pt x="95" y="337"/>
                  <a:pt x="99" y="337"/>
                  <a:pt x="103" y="336"/>
                </a:cubicBezTo>
                <a:cubicBezTo>
                  <a:pt x="107" y="336"/>
                  <a:pt x="111" y="335"/>
                  <a:pt x="115" y="335"/>
                </a:cubicBezTo>
                <a:cubicBezTo>
                  <a:pt x="119" y="334"/>
                  <a:pt x="122" y="334"/>
                  <a:pt x="126" y="333"/>
                </a:cubicBezTo>
                <a:cubicBezTo>
                  <a:pt x="130" y="333"/>
                  <a:pt x="134" y="332"/>
                  <a:pt x="138" y="331"/>
                </a:cubicBezTo>
                <a:cubicBezTo>
                  <a:pt x="142" y="331"/>
                  <a:pt x="146" y="331"/>
                  <a:pt x="150" y="330"/>
                </a:cubicBezTo>
                <a:cubicBezTo>
                  <a:pt x="154" y="329"/>
                  <a:pt x="157" y="328"/>
                  <a:pt x="161" y="327"/>
                </a:cubicBezTo>
                <a:cubicBezTo>
                  <a:pt x="165" y="326"/>
                  <a:pt x="169" y="325"/>
                  <a:pt x="173" y="324"/>
                </a:cubicBezTo>
                <a:cubicBezTo>
                  <a:pt x="176" y="323"/>
                  <a:pt x="180" y="323"/>
                  <a:pt x="184" y="322"/>
                </a:cubicBezTo>
                <a:cubicBezTo>
                  <a:pt x="180" y="322"/>
                  <a:pt x="176" y="322"/>
                  <a:pt x="172" y="322"/>
                </a:cubicBezTo>
                <a:cubicBezTo>
                  <a:pt x="168" y="322"/>
                  <a:pt x="164" y="324"/>
                  <a:pt x="160" y="324"/>
                </a:cubicBezTo>
                <a:cubicBezTo>
                  <a:pt x="156" y="324"/>
                  <a:pt x="152" y="324"/>
                  <a:pt x="148" y="324"/>
                </a:cubicBezTo>
                <a:cubicBezTo>
                  <a:pt x="143" y="324"/>
                  <a:pt x="139" y="324"/>
                  <a:pt x="135" y="324"/>
                </a:cubicBezTo>
                <a:cubicBezTo>
                  <a:pt x="131" y="324"/>
                  <a:pt x="127" y="324"/>
                  <a:pt x="123" y="324"/>
                </a:cubicBezTo>
                <a:cubicBezTo>
                  <a:pt x="119" y="324"/>
                  <a:pt x="115" y="324"/>
                  <a:pt x="111" y="324"/>
                </a:cubicBezTo>
                <a:cubicBezTo>
                  <a:pt x="110" y="324"/>
                  <a:pt x="109" y="324"/>
                  <a:pt x="108" y="324"/>
                </a:cubicBezTo>
                <a:cubicBezTo>
                  <a:pt x="108" y="325"/>
                  <a:pt x="107" y="325"/>
                  <a:pt x="105" y="326"/>
                </a:cubicBezTo>
                <a:cubicBezTo>
                  <a:pt x="106" y="325"/>
                  <a:pt x="106" y="325"/>
                  <a:pt x="105" y="324"/>
                </a:cubicBezTo>
                <a:cubicBezTo>
                  <a:pt x="103" y="324"/>
                  <a:pt x="101" y="324"/>
                  <a:pt x="99" y="324"/>
                </a:cubicBezTo>
                <a:cubicBezTo>
                  <a:pt x="95" y="324"/>
                  <a:pt x="91" y="323"/>
                  <a:pt x="87" y="323"/>
                </a:cubicBezTo>
                <a:cubicBezTo>
                  <a:pt x="83" y="323"/>
                  <a:pt x="79" y="323"/>
                  <a:pt x="74" y="323"/>
                </a:cubicBezTo>
                <a:cubicBezTo>
                  <a:pt x="70" y="322"/>
                  <a:pt x="66" y="321"/>
                  <a:pt x="62" y="321"/>
                </a:cubicBezTo>
                <a:cubicBezTo>
                  <a:pt x="58" y="320"/>
                  <a:pt x="54" y="320"/>
                  <a:pt x="50" y="320"/>
                </a:cubicBezTo>
                <a:cubicBezTo>
                  <a:pt x="46" y="319"/>
                  <a:pt x="42" y="319"/>
                  <a:pt x="38" y="318"/>
                </a:cubicBezTo>
                <a:cubicBezTo>
                  <a:pt x="37" y="315"/>
                  <a:pt x="36" y="312"/>
                  <a:pt x="35" y="309"/>
                </a:cubicBezTo>
                <a:cubicBezTo>
                  <a:pt x="34" y="305"/>
                  <a:pt x="33" y="302"/>
                  <a:pt x="32" y="299"/>
                </a:cubicBezTo>
                <a:cubicBezTo>
                  <a:pt x="36" y="299"/>
                  <a:pt x="41" y="299"/>
                  <a:pt x="45" y="299"/>
                </a:cubicBezTo>
                <a:cubicBezTo>
                  <a:pt x="49" y="299"/>
                  <a:pt x="53" y="299"/>
                  <a:pt x="57" y="299"/>
                </a:cubicBezTo>
                <a:cubicBezTo>
                  <a:pt x="60" y="299"/>
                  <a:pt x="63" y="299"/>
                  <a:pt x="66" y="299"/>
                </a:cubicBezTo>
                <a:cubicBezTo>
                  <a:pt x="67" y="298"/>
                  <a:pt x="68" y="298"/>
                  <a:pt x="68" y="298"/>
                </a:cubicBezTo>
                <a:cubicBezTo>
                  <a:pt x="69" y="298"/>
                  <a:pt x="69" y="298"/>
                  <a:pt x="69" y="298"/>
                </a:cubicBezTo>
                <a:cubicBezTo>
                  <a:pt x="72" y="298"/>
                  <a:pt x="75" y="298"/>
                  <a:pt x="78" y="298"/>
                </a:cubicBezTo>
                <a:cubicBezTo>
                  <a:pt x="79" y="297"/>
                  <a:pt x="79" y="297"/>
                  <a:pt x="81" y="297"/>
                </a:cubicBezTo>
                <a:cubicBezTo>
                  <a:pt x="81" y="297"/>
                  <a:pt x="81" y="297"/>
                  <a:pt x="81" y="298"/>
                </a:cubicBezTo>
                <a:cubicBezTo>
                  <a:pt x="81" y="298"/>
                  <a:pt x="81" y="298"/>
                  <a:pt x="81" y="298"/>
                </a:cubicBezTo>
                <a:cubicBezTo>
                  <a:pt x="82" y="297"/>
                  <a:pt x="82" y="297"/>
                  <a:pt x="83" y="297"/>
                </a:cubicBezTo>
                <a:cubicBezTo>
                  <a:pt x="83" y="296"/>
                  <a:pt x="83" y="295"/>
                  <a:pt x="84" y="295"/>
                </a:cubicBezTo>
                <a:cubicBezTo>
                  <a:pt x="85" y="296"/>
                  <a:pt x="85" y="297"/>
                  <a:pt x="86" y="297"/>
                </a:cubicBezTo>
                <a:cubicBezTo>
                  <a:pt x="89" y="297"/>
                  <a:pt x="91" y="296"/>
                  <a:pt x="93" y="296"/>
                </a:cubicBezTo>
                <a:cubicBezTo>
                  <a:pt x="97" y="296"/>
                  <a:pt x="101" y="296"/>
                  <a:pt x="105" y="295"/>
                </a:cubicBezTo>
                <a:cubicBezTo>
                  <a:pt x="109" y="295"/>
                  <a:pt x="113" y="293"/>
                  <a:pt x="117" y="293"/>
                </a:cubicBezTo>
                <a:cubicBezTo>
                  <a:pt x="121" y="292"/>
                  <a:pt x="125" y="292"/>
                  <a:pt x="129" y="291"/>
                </a:cubicBezTo>
                <a:cubicBezTo>
                  <a:pt x="133" y="290"/>
                  <a:pt x="137" y="290"/>
                  <a:pt x="142" y="289"/>
                </a:cubicBezTo>
                <a:cubicBezTo>
                  <a:pt x="145" y="288"/>
                  <a:pt x="149" y="288"/>
                  <a:pt x="153" y="287"/>
                </a:cubicBezTo>
                <a:cubicBezTo>
                  <a:pt x="157" y="286"/>
                  <a:pt x="161" y="284"/>
                  <a:pt x="165" y="284"/>
                </a:cubicBezTo>
                <a:cubicBezTo>
                  <a:pt x="169" y="283"/>
                  <a:pt x="173" y="282"/>
                  <a:pt x="177" y="281"/>
                </a:cubicBezTo>
                <a:cubicBezTo>
                  <a:pt x="173" y="282"/>
                  <a:pt x="169" y="282"/>
                  <a:pt x="166" y="282"/>
                </a:cubicBezTo>
                <a:cubicBezTo>
                  <a:pt x="162" y="282"/>
                  <a:pt x="158" y="282"/>
                  <a:pt x="154" y="282"/>
                </a:cubicBezTo>
                <a:cubicBezTo>
                  <a:pt x="150" y="283"/>
                  <a:pt x="146" y="283"/>
                  <a:pt x="142" y="283"/>
                </a:cubicBezTo>
                <a:cubicBezTo>
                  <a:pt x="138" y="283"/>
                  <a:pt x="134" y="283"/>
                  <a:pt x="130" y="283"/>
                </a:cubicBezTo>
                <a:cubicBezTo>
                  <a:pt x="126" y="283"/>
                  <a:pt x="123" y="284"/>
                  <a:pt x="119" y="284"/>
                </a:cubicBezTo>
                <a:cubicBezTo>
                  <a:pt x="115" y="284"/>
                  <a:pt x="111" y="284"/>
                  <a:pt x="107" y="284"/>
                </a:cubicBezTo>
                <a:cubicBezTo>
                  <a:pt x="103" y="284"/>
                  <a:pt x="99" y="284"/>
                  <a:pt x="95" y="284"/>
                </a:cubicBezTo>
                <a:cubicBezTo>
                  <a:pt x="94" y="284"/>
                  <a:pt x="92" y="284"/>
                  <a:pt x="91" y="283"/>
                </a:cubicBezTo>
                <a:cubicBezTo>
                  <a:pt x="90" y="284"/>
                  <a:pt x="89" y="285"/>
                  <a:pt x="88" y="285"/>
                </a:cubicBezTo>
                <a:cubicBezTo>
                  <a:pt x="88" y="284"/>
                  <a:pt x="88" y="284"/>
                  <a:pt x="88" y="283"/>
                </a:cubicBezTo>
                <a:cubicBezTo>
                  <a:pt x="87" y="283"/>
                  <a:pt x="85" y="283"/>
                  <a:pt x="84" y="283"/>
                </a:cubicBezTo>
                <a:cubicBezTo>
                  <a:pt x="80" y="282"/>
                  <a:pt x="76" y="283"/>
                  <a:pt x="72" y="282"/>
                </a:cubicBezTo>
                <a:cubicBezTo>
                  <a:pt x="70" y="282"/>
                  <a:pt x="69" y="282"/>
                  <a:pt x="67" y="282"/>
                </a:cubicBezTo>
                <a:cubicBezTo>
                  <a:pt x="65" y="285"/>
                  <a:pt x="62" y="283"/>
                  <a:pt x="62" y="281"/>
                </a:cubicBezTo>
                <a:cubicBezTo>
                  <a:pt x="61" y="281"/>
                  <a:pt x="61" y="281"/>
                  <a:pt x="60" y="281"/>
                </a:cubicBezTo>
                <a:cubicBezTo>
                  <a:pt x="57" y="280"/>
                  <a:pt x="53" y="280"/>
                  <a:pt x="49" y="280"/>
                </a:cubicBezTo>
                <a:cubicBezTo>
                  <a:pt x="46" y="280"/>
                  <a:pt x="43" y="279"/>
                  <a:pt x="40" y="279"/>
                </a:cubicBezTo>
                <a:cubicBezTo>
                  <a:pt x="40" y="279"/>
                  <a:pt x="40" y="279"/>
                  <a:pt x="40" y="280"/>
                </a:cubicBezTo>
                <a:cubicBezTo>
                  <a:pt x="38" y="280"/>
                  <a:pt x="37" y="279"/>
                  <a:pt x="36" y="278"/>
                </a:cubicBezTo>
                <a:cubicBezTo>
                  <a:pt x="32" y="278"/>
                  <a:pt x="29" y="278"/>
                  <a:pt x="25" y="277"/>
                </a:cubicBezTo>
                <a:cubicBezTo>
                  <a:pt x="25" y="275"/>
                  <a:pt x="24" y="273"/>
                  <a:pt x="24" y="271"/>
                </a:cubicBezTo>
                <a:cubicBezTo>
                  <a:pt x="22" y="269"/>
                  <a:pt x="20" y="267"/>
                  <a:pt x="23" y="266"/>
                </a:cubicBezTo>
                <a:cubicBezTo>
                  <a:pt x="22" y="264"/>
                  <a:pt x="21" y="261"/>
                  <a:pt x="20" y="258"/>
                </a:cubicBezTo>
                <a:cubicBezTo>
                  <a:pt x="24" y="258"/>
                  <a:pt x="28" y="259"/>
                  <a:pt x="32" y="259"/>
                </a:cubicBezTo>
                <a:cubicBezTo>
                  <a:pt x="36" y="259"/>
                  <a:pt x="40" y="258"/>
                  <a:pt x="44" y="258"/>
                </a:cubicBezTo>
                <a:cubicBezTo>
                  <a:pt x="48" y="258"/>
                  <a:pt x="52" y="258"/>
                  <a:pt x="55" y="258"/>
                </a:cubicBezTo>
                <a:cubicBezTo>
                  <a:pt x="59" y="258"/>
                  <a:pt x="63" y="258"/>
                  <a:pt x="67" y="258"/>
                </a:cubicBezTo>
                <a:cubicBezTo>
                  <a:pt x="71" y="258"/>
                  <a:pt x="75" y="257"/>
                  <a:pt x="79" y="257"/>
                </a:cubicBezTo>
                <a:cubicBezTo>
                  <a:pt x="83" y="257"/>
                  <a:pt x="86" y="256"/>
                  <a:pt x="90" y="256"/>
                </a:cubicBezTo>
                <a:cubicBezTo>
                  <a:pt x="91" y="256"/>
                  <a:pt x="91" y="256"/>
                  <a:pt x="92" y="256"/>
                </a:cubicBezTo>
                <a:cubicBezTo>
                  <a:pt x="91" y="255"/>
                  <a:pt x="90" y="255"/>
                  <a:pt x="90" y="255"/>
                </a:cubicBezTo>
                <a:cubicBezTo>
                  <a:pt x="90" y="253"/>
                  <a:pt x="92" y="253"/>
                  <a:pt x="95" y="253"/>
                </a:cubicBezTo>
                <a:cubicBezTo>
                  <a:pt x="94" y="253"/>
                  <a:pt x="95" y="253"/>
                  <a:pt x="95" y="254"/>
                </a:cubicBezTo>
                <a:cubicBezTo>
                  <a:pt x="94" y="255"/>
                  <a:pt x="93" y="254"/>
                  <a:pt x="92" y="256"/>
                </a:cubicBezTo>
                <a:cubicBezTo>
                  <a:pt x="95" y="255"/>
                  <a:pt x="99" y="255"/>
                  <a:pt x="102" y="254"/>
                </a:cubicBezTo>
                <a:cubicBezTo>
                  <a:pt x="106" y="254"/>
                  <a:pt x="109" y="253"/>
                  <a:pt x="113" y="252"/>
                </a:cubicBezTo>
                <a:cubicBezTo>
                  <a:pt x="116" y="252"/>
                  <a:pt x="120" y="251"/>
                  <a:pt x="123" y="250"/>
                </a:cubicBezTo>
                <a:cubicBezTo>
                  <a:pt x="123" y="250"/>
                  <a:pt x="123" y="249"/>
                  <a:pt x="123" y="249"/>
                </a:cubicBezTo>
                <a:cubicBezTo>
                  <a:pt x="126" y="249"/>
                  <a:pt x="127" y="247"/>
                  <a:pt x="130" y="247"/>
                </a:cubicBezTo>
                <a:cubicBezTo>
                  <a:pt x="133" y="247"/>
                  <a:pt x="134" y="247"/>
                  <a:pt x="135" y="248"/>
                </a:cubicBezTo>
                <a:cubicBezTo>
                  <a:pt x="136" y="248"/>
                  <a:pt x="136" y="248"/>
                  <a:pt x="136" y="248"/>
                </a:cubicBezTo>
                <a:cubicBezTo>
                  <a:pt x="137" y="248"/>
                  <a:pt x="139" y="247"/>
                  <a:pt x="140" y="247"/>
                </a:cubicBezTo>
                <a:cubicBezTo>
                  <a:pt x="141" y="247"/>
                  <a:pt x="141" y="247"/>
                  <a:pt x="142" y="247"/>
                </a:cubicBezTo>
                <a:cubicBezTo>
                  <a:pt x="142" y="247"/>
                  <a:pt x="142" y="247"/>
                  <a:pt x="142" y="247"/>
                </a:cubicBezTo>
                <a:cubicBezTo>
                  <a:pt x="143" y="247"/>
                  <a:pt x="145" y="246"/>
                  <a:pt x="146" y="246"/>
                </a:cubicBezTo>
                <a:cubicBezTo>
                  <a:pt x="146" y="245"/>
                  <a:pt x="146" y="244"/>
                  <a:pt x="146" y="243"/>
                </a:cubicBezTo>
                <a:cubicBezTo>
                  <a:pt x="148" y="243"/>
                  <a:pt x="152" y="243"/>
                  <a:pt x="153" y="245"/>
                </a:cubicBezTo>
                <a:cubicBezTo>
                  <a:pt x="155" y="244"/>
                  <a:pt x="157" y="244"/>
                  <a:pt x="159" y="243"/>
                </a:cubicBezTo>
                <a:cubicBezTo>
                  <a:pt x="162" y="242"/>
                  <a:pt x="166" y="242"/>
                  <a:pt x="170" y="241"/>
                </a:cubicBezTo>
                <a:cubicBezTo>
                  <a:pt x="166" y="241"/>
                  <a:pt x="162" y="242"/>
                  <a:pt x="158" y="242"/>
                </a:cubicBezTo>
                <a:cubicBezTo>
                  <a:pt x="154" y="242"/>
                  <a:pt x="150" y="242"/>
                  <a:pt x="146" y="242"/>
                </a:cubicBezTo>
                <a:cubicBezTo>
                  <a:pt x="142" y="243"/>
                  <a:pt x="138" y="243"/>
                  <a:pt x="134" y="243"/>
                </a:cubicBezTo>
                <a:cubicBezTo>
                  <a:pt x="130" y="244"/>
                  <a:pt x="126" y="243"/>
                  <a:pt x="122" y="243"/>
                </a:cubicBezTo>
                <a:cubicBezTo>
                  <a:pt x="119" y="244"/>
                  <a:pt x="116" y="243"/>
                  <a:pt x="113" y="243"/>
                </a:cubicBezTo>
                <a:cubicBezTo>
                  <a:pt x="112" y="245"/>
                  <a:pt x="110" y="246"/>
                  <a:pt x="107" y="243"/>
                </a:cubicBezTo>
                <a:cubicBezTo>
                  <a:pt x="107" y="243"/>
                  <a:pt x="107" y="243"/>
                  <a:pt x="108" y="243"/>
                </a:cubicBezTo>
                <a:cubicBezTo>
                  <a:pt x="105" y="243"/>
                  <a:pt x="102" y="243"/>
                  <a:pt x="99" y="243"/>
                </a:cubicBezTo>
                <a:cubicBezTo>
                  <a:pt x="95" y="243"/>
                  <a:pt x="91" y="243"/>
                  <a:pt x="87" y="243"/>
                </a:cubicBezTo>
                <a:cubicBezTo>
                  <a:pt x="85" y="243"/>
                  <a:pt x="84" y="243"/>
                  <a:pt x="82" y="243"/>
                </a:cubicBezTo>
                <a:cubicBezTo>
                  <a:pt x="82" y="243"/>
                  <a:pt x="82" y="243"/>
                  <a:pt x="82" y="243"/>
                </a:cubicBezTo>
                <a:cubicBezTo>
                  <a:pt x="80" y="244"/>
                  <a:pt x="77" y="243"/>
                  <a:pt x="76" y="242"/>
                </a:cubicBezTo>
                <a:cubicBezTo>
                  <a:pt x="75" y="242"/>
                  <a:pt x="75" y="242"/>
                  <a:pt x="75" y="242"/>
                </a:cubicBezTo>
                <a:cubicBezTo>
                  <a:pt x="72" y="242"/>
                  <a:pt x="69" y="242"/>
                  <a:pt x="65" y="242"/>
                </a:cubicBezTo>
                <a:cubicBezTo>
                  <a:pt x="64" y="242"/>
                  <a:pt x="63" y="243"/>
                  <a:pt x="62" y="242"/>
                </a:cubicBezTo>
                <a:cubicBezTo>
                  <a:pt x="59" y="241"/>
                  <a:pt x="55" y="241"/>
                  <a:pt x="51" y="241"/>
                </a:cubicBezTo>
                <a:cubicBezTo>
                  <a:pt x="47" y="240"/>
                  <a:pt x="43" y="239"/>
                  <a:pt x="39" y="239"/>
                </a:cubicBezTo>
                <a:cubicBezTo>
                  <a:pt x="36" y="238"/>
                  <a:pt x="32" y="238"/>
                  <a:pt x="28" y="237"/>
                </a:cubicBezTo>
                <a:cubicBezTo>
                  <a:pt x="24" y="237"/>
                  <a:pt x="20" y="236"/>
                  <a:pt x="16" y="235"/>
                </a:cubicBezTo>
                <a:cubicBezTo>
                  <a:pt x="15" y="232"/>
                  <a:pt x="15" y="228"/>
                  <a:pt x="14" y="225"/>
                </a:cubicBezTo>
                <a:cubicBezTo>
                  <a:pt x="14" y="221"/>
                  <a:pt x="13" y="217"/>
                  <a:pt x="13" y="214"/>
                </a:cubicBezTo>
                <a:cubicBezTo>
                  <a:pt x="13" y="210"/>
                  <a:pt x="12" y="206"/>
                  <a:pt x="12" y="202"/>
                </a:cubicBezTo>
                <a:cubicBezTo>
                  <a:pt x="12" y="201"/>
                  <a:pt x="12" y="199"/>
                  <a:pt x="12" y="198"/>
                </a:cubicBezTo>
                <a:cubicBezTo>
                  <a:pt x="11" y="198"/>
                  <a:pt x="10" y="198"/>
                  <a:pt x="10" y="199"/>
                </a:cubicBezTo>
                <a:cubicBezTo>
                  <a:pt x="9" y="194"/>
                  <a:pt x="4" y="195"/>
                  <a:pt x="2" y="191"/>
                </a:cubicBezTo>
                <a:cubicBezTo>
                  <a:pt x="4" y="189"/>
                  <a:pt x="8" y="191"/>
                  <a:pt x="11" y="193"/>
                </a:cubicBezTo>
                <a:cubicBezTo>
                  <a:pt x="11" y="192"/>
                  <a:pt x="11" y="192"/>
                  <a:pt x="11" y="191"/>
                </a:cubicBezTo>
                <a:cubicBezTo>
                  <a:pt x="11" y="187"/>
                  <a:pt x="11" y="184"/>
                  <a:pt x="11" y="181"/>
                </a:cubicBezTo>
                <a:cubicBezTo>
                  <a:pt x="12" y="183"/>
                  <a:pt x="13" y="185"/>
                  <a:pt x="15" y="187"/>
                </a:cubicBezTo>
                <a:cubicBezTo>
                  <a:pt x="16" y="186"/>
                  <a:pt x="17" y="187"/>
                  <a:pt x="18" y="188"/>
                </a:cubicBezTo>
                <a:cubicBezTo>
                  <a:pt x="18" y="188"/>
                  <a:pt x="17" y="189"/>
                  <a:pt x="17" y="189"/>
                </a:cubicBezTo>
                <a:cubicBezTo>
                  <a:pt x="17" y="189"/>
                  <a:pt x="18" y="190"/>
                  <a:pt x="18" y="190"/>
                </a:cubicBezTo>
                <a:cubicBezTo>
                  <a:pt x="21" y="194"/>
                  <a:pt x="24" y="197"/>
                  <a:pt x="28" y="199"/>
                </a:cubicBezTo>
                <a:cubicBezTo>
                  <a:pt x="31" y="202"/>
                  <a:pt x="35" y="204"/>
                  <a:pt x="38" y="206"/>
                </a:cubicBezTo>
                <a:cubicBezTo>
                  <a:pt x="42" y="208"/>
                  <a:pt x="46" y="209"/>
                  <a:pt x="50" y="210"/>
                </a:cubicBezTo>
                <a:cubicBezTo>
                  <a:pt x="54" y="212"/>
                  <a:pt x="58" y="214"/>
                  <a:pt x="62" y="215"/>
                </a:cubicBezTo>
                <a:cubicBezTo>
                  <a:pt x="67" y="216"/>
                  <a:pt x="71" y="217"/>
                  <a:pt x="75" y="218"/>
                </a:cubicBezTo>
                <a:cubicBezTo>
                  <a:pt x="80" y="219"/>
                  <a:pt x="84" y="219"/>
                  <a:pt x="87" y="219"/>
                </a:cubicBezTo>
                <a:cubicBezTo>
                  <a:pt x="91" y="219"/>
                  <a:pt x="94" y="219"/>
                  <a:pt x="98" y="219"/>
                </a:cubicBezTo>
                <a:cubicBezTo>
                  <a:pt x="101" y="220"/>
                  <a:pt x="104" y="220"/>
                  <a:pt x="108" y="220"/>
                </a:cubicBezTo>
                <a:cubicBezTo>
                  <a:pt x="112" y="220"/>
                  <a:pt x="116" y="220"/>
                  <a:pt x="120" y="220"/>
                </a:cubicBezTo>
                <a:cubicBezTo>
                  <a:pt x="120" y="220"/>
                  <a:pt x="121" y="220"/>
                  <a:pt x="121" y="220"/>
                </a:cubicBezTo>
                <a:cubicBezTo>
                  <a:pt x="121" y="220"/>
                  <a:pt x="121" y="219"/>
                  <a:pt x="121" y="218"/>
                </a:cubicBezTo>
                <a:cubicBezTo>
                  <a:pt x="123" y="218"/>
                  <a:pt x="125" y="218"/>
                  <a:pt x="126" y="220"/>
                </a:cubicBezTo>
                <a:cubicBezTo>
                  <a:pt x="127" y="220"/>
                  <a:pt x="129" y="219"/>
                  <a:pt x="130" y="219"/>
                </a:cubicBezTo>
                <a:cubicBezTo>
                  <a:pt x="131" y="218"/>
                  <a:pt x="133" y="218"/>
                  <a:pt x="136" y="218"/>
                </a:cubicBezTo>
                <a:cubicBezTo>
                  <a:pt x="136" y="218"/>
                  <a:pt x="136" y="218"/>
                  <a:pt x="136" y="219"/>
                </a:cubicBezTo>
                <a:cubicBezTo>
                  <a:pt x="138" y="218"/>
                  <a:pt x="141" y="218"/>
                  <a:pt x="143" y="218"/>
                </a:cubicBezTo>
                <a:cubicBezTo>
                  <a:pt x="147" y="217"/>
                  <a:pt x="151" y="218"/>
                  <a:pt x="155" y="217"/>
                </a:cubicBezTo>
                <a:cubicBezTo>
                  <a:pt x="159" y="217"/>
                  <a:pt x="163" y="216"/>
                  <a:pt x="167" y="215"/>
                </a:cubicBezTo>
                <a:cubicBezTo>
                  <a:pt x="170" y="215"/>
                  <a:pt x="174" y="215"/>
                  <a:pt x="178" y="214"/>
                </a:cubicBezTo>
                <a:cubicBezTo>
                  <a:pt x="182" y="213"/>
                  <a:pt x="186" y="213"/>
                  <a:pt x="190" y="212"/>
                </a:cubicBezTo>
                <a:cubicBezTo>
                  <a:pt x="194" y="212"/>
                  <a:pt x="198" y="211"/>
                  <a:pt x="202" y="210"/>
                </a:cubicBezTo>
                <a:cubicBezTo>
                  <a:pt x="207" y="210"/>
                  <a:pt x="211" y="209"/>
                  <a:pt x="215" y="208"/>
                </a:cubicBezTo>
                <a:cubicBezTo>
                  <a:pt x="219" y="208"/>
                  <a:pt x="223" y="208"/>
                  <a:pt x="227" y="207"/>
                </a:cubicBezTo>
                <a:cubicBezTo>
                  <a:pt x="232" y="206"/>
                  <a:pt x="236" y="204"/>
                  <a:pt x="240" y="203"/>
                </a:cubicBezTo>
                <a:cubicBezTo>
                  <a:pt x="244" y="203"/>
                  <a:pt x="248" y="203"/>
                  <a:pt x="252" y="202"/>
                </a:cubicBezTo>
                <a:cubicBezTo>
                  <a:pt x="256" y="201"/>
                  <a:pt x="260" y="200"/>
                  <a:pt x="265" y="199"/>
                </a:cubicBezTo>
                <a:cubicBezTo>
                  <a:pt x="269" y="198"/>
                  <a:pt x="273" y="198"/>
                  <a:pt x="277" y="197"/>
                </a:cubicBezTo>
                <a:cubicBezTo>
                  <a:pt x="281" y="196"/>
                  <a:pt x="285" y="195"/>
                  <a:pt x="290" y="194"/>
                </a:cubicBezTo>
                <a:cubicBezTo>
                  <a:pt x="293" y="193"/>
                  <a:pt x="297" y="193"/>
                  <a:pt x="301" y="192"/>
                </a:cubicBezTo>
                <a:cubicBezTo>
                  <a:pt x="304" y="192"/>
                  <a:pt x="308" y="190"/>
                  <a:pt x="312" y="189"/>
                </a:cubicBezTo>
                <a:cubicBezTo>
                  <a:pt x="315" y="188"/>
                  <a:pt x="319" y="188"/>
                  <a:pt x="323" y="188"/>
                </a:cubicBezTo>
                <a:cubicBezTo>
                  <a:pt x="327" y="187"/>
                  <a:pt x="330" y="186"/>
                  <a:pt x="334" y="185"/>
                </a:cubicBezTo>
                <a:cubicBezTo>
                  <a:pt x="339" y="185"/>
                  <a:pt x="343" y="183"/>
                  <a:pt x="347" y="182"/>
                </a:cubicBezTo>
                <a:cubicBezTo>
                  <a:pt x="352" y="181"/>
                  <a:pt x="356" y="181"/>
                  <a:pt x="361" y="180"/>
                </a:cubicBezTo>
                <a:cubicBezTo>
                  <a:pt x="365" y="180"/>
                  <a:pt x="370" y="178"/>
                  <a:pt x="374" y="178"/>
                </a:cubicBezTo>
                <a:cubicBezTo>
                  <a:pt x="380" y="176"/>
                  <a:pt x="385" y="174"/>
                  <a:pt x="386" y="173"/>
                </a:cubicBezTo>
                <a:cubicBezTo>
                  <a:pt x="391" y="173"/>
                  <a:pt x="395" y="172"/>
                  <a:pt x="398" y="172"/>
                </a:cubicBezTo>
                <a:cubicBezTo>
                  <a:pt x="402" y="171"/>
                  <a:pt x="407" y="170"/>
                  <a:pt x="410" y="170"/>
                </a:cubicBezTo>
                <a:cubicBezTo>
                  <a:pt x="414" y="169"/>
                  <a:pt x="418" y="168"/>
                  <a:pt x="422" y="168"/>
                </a:cubicBezTo>
                <a:cubicBezTo>
                  <a:pt x="426" y="167"/>
                  <a:pt x="430" y="166"/>
                  <a:pt x="434" y="165"/>
                </a:cubicBezTo>
                <a:cubicBezTo>
                  <a:pt x="439" y="165"/>
                  <a:pt x="442" y="164"/>
                  <a:pt x="446" y="163"/>
                </a:cubicBezTo>
                <a:cubicBezTo>
                  <a:pt x="452" y="163"/>
                  <a:pt x="456" y="162"/>
                  <a:pt x="458" y="162"/>
                </a:cubicBezTo>
                <a:cubicBezTo>
                  <a:pt x="461" y="162"/>
                  <a:pt x="465" y="162"/>
                  <a:pt x="470" y="161"/>
                </a:cubicBezTo>
                <a:cubicBezTo>
                  <a:pt x="473" y="160"/>
                  <a:pt x="477" y="159"/>
                  <a:pt x="481" y="159"/>
                </a:cubicBezTo>
                <a:cubicBezTo>
                  <a:pt x="485" y="158"/>
                  <a:pt x="489" y="158"/>
                  <a:pt x="493" y="157"/>
                </a:cubicBezTo>
                <a:cubicBezTo>
                  <a:pt x="497" y="156"/>
                  <a:pt x="500" y="156"/>
                  <a:pt x="504" y="155"/>
                </a:cubicBezTo>
                <a:cubicBezTo>
                  <a:pt x="508" y="155"/>
                  <a:pt x="512" y="155"/>
                  <a:pt x="516" y="154"/>
                </a:cubicBezTo>
                <a:cubicBezTo>
                  <a:pt x="520" y="154"/>
                  <a:pt x="524" y="152"/>
                  <a:pt x="528" y="152"/>
                </a:cubicBezTo>
                <a:cubicBezTo>
                  <a:pt x="532" y="151"/>
                  <a:pt x="535" y="151"/>
                  <a:pt x="539" y="151"/>
                </a:cubicBezTo>
                <a:cubicBezTo>
                  <a:pt x="543" y="150"/>
                  <a:pt x="547" y="149"/>
                  <a:pt x="551" y="149"/>
                </a:cubicBezTo>
                <a:cubicBezTo>
                  <a:pt x="555" y="148"/>
                  <a:pt x="559" y="149"/>
                  <a:pt x="563" y="148"/>
                </a:cubicBezTo>
                <a:cubicBezTo>
                  <a:pt x="567" y="148"/>
                  <a:pt x="571" y="147"/>
                  <a:pt x="574" y="146"/>
                </a:cubicBezTo>
                <a:cubicBezTo>
                  <a:pt x="579" y="146"/>
                  <a:pt x="583" y="146"/>
                  <a:pt x="586" y="146"/>
                </a:cubicBezTo>
                <a:cubicBezTo>
                  <a:pt x="590" y="145"/>
                  <a:pt x="594" y="145"/>
                  <a:pt x="598" y="144"/>
                </a:cubicBezTo>
                <a:cubicBezTo>
                  <a:pt x="602" y="144"/>
                  <a:pt x="605" y="144"/>
                  <a:pt x="609" y="144"/>
                </a:cubicBezTo>
                <a:cubicBezTo>
                  <a:pt x="613" y="143"/>
                  <a:pt x="617" y="142"/>
                  <a:pt x="621" y="142"/>
                </a:cubicBezTo>
                <a:cubicBezTo>
                  <a:pt x="625" y="142"/>
                  <a:pt x="629" y="142"/>
                  <a:pt x="632" y="142"/>
                </a:cubicBezTo>
                <a:cubicBezTo>
                  <a:pt x="636" y="142"/>
                  <a:pt x="640" y="140"/>
                  <a:pt x="644" y="140"/>
                </a:cubicBezTo>
                <a:cubicBezTo>
                  <a:pt x="648" y="140"/>
                  <a:pt x="652" y="140"/>
                  <a:pt x="656" y="140"/>
                </a:cubicBezTo>
                <a:cubicBezTo>
                  <a:pt x="660" y="140"/>
                  <a:pt x="663" y="139"/>
                  <a:pt x="667" y="139"/>
                </a:cubicBezTo>
                <a:cubicBezTo>
                  <a:pt x="671" y="138"/>
                  <a:pt x="675" y="139"/>
                  <a:pt x="679" y="139"/>
                </a:cubicBezTo>
                <a:cubicBezTo>
                  <a:pt x="683" y="139"/>
                  <a:pt x="687" y="137"/>
                  <a:pt x="691" y="137"/>
                </a:cubicBezTo>
                <a:cubicBezTo>
                  <a:pt x="695" y="137"/>
                  <a:pt x="699" y="137"/>
                  <a:pt x="703" y="136"/>
                </a:cubicBezTo>
                <a:cubicBezTo>
                  <a:pt x="707" y="136"/>
                  <a:pt x="711" y="136"/>
                  <a:pt x="715" y="136"/>
                </a:cubicBezTo>
                <a:cubicBezTo>
                  <a:pt x="719" y="136"/>
                  <a:pt x="723" y="136"/>
                  <a:pt x="728" y="136"/>
                </a:cubicBezTo>
                <a:cubicBezTo>
                  <a:pt x="732" y="135"/>
                  <a:pt x="736" y="135"/>
                  <a:pt x="740" y="135"/>
                </a:cubicBezTo>
                <a:cubicBezTo>
                  <a:pt x="744" y="135"/>
                  <a:pt x="748" y="135"/>
                  <a:pt x="752" y="135"/>
                </a:cubicBezTo>
                <a:cubicBezTo>
                  <a:pt x="752" y="135"/>
                  <a:pt x="753" y="135"/>
                  <a:pt x="753" y="135"/>
                </a:cubicBezTo>
                <a:cubicBezTo>
                  <a:pt x="753" y="131"/>
                  <a:pt x="757" y="131"/>
                  <a:pt x="760" y="133"/>
                </a:cubicBezTo>
                <a:cubicBezTo>
                  <a:pt x="760" y="134"/>
                  <a:pt x="760" y="134"/>
                  <a:pt x="760" y="135"/>
                </a:cubicBezTo>
                <a:cubicBezTo>
                  <a:pt x="762" y="135"/>
                  <a:pt x="763" y="135"/>
                  <a:pt x="764" y="135"/>
                </a:cubicBezTo>
                <a:cubicBezTo>
                  <a:pt x="768" y="135"/>
                  <a:pt x="772" y="135"/>
                  <a:pt x="776" y="135"/>
                </a:cubicBezTo>
                <a:cubicBezTo>
                  <a:pt x="780" y="134"/>
                  <a:pt x="783" y="134"/>
                  <a:pt x="787" y="134"/>
                </a:cubicBezTo>
                <a:cubicBezTo>
                  <a:pt x="791" y="134"/>
                  <a:pt x="795" y="133"/>
                  <a:pt x="799" y="133"/>
                </a:cubicBezTo>
                <a:cubicBezTo>
                  <a:pt x="802" y="133"/>
                  <a:pt x="806" y="134"/>
                  <a:pt x="809" y="134"/>
                </a:cubicBezTo>
                <a:cubicBezTo>
                  <a:pt x="809" y="133"/>
                  <a:pt x="810" y="133"/>
                  <a:pt x="811" y="133"/>
                </a:cubicBezTo>
                <a:cubicBezTo>
                  <a:pt x="811" y="134"/>
                  <a:pt x="811" y="134"/>
                  <a:pt x="811" y="134"/>
                </a:cubicBezTo>
                <a:cubicBezTo>
                  <a:pt x="814" y="134"/>
                  <a:pt x="818" y="134"/>
                  <a:pt x="821" y="134"/>
                </a:cubicBezTo>
                <a:cubicBezTo>
                  <a:pt x="825" y="134"/>
                  <a:pt x="829" y="133"/>
                  <a:pt x="833" y="133"/>
                </a:cubicBezTo>
                <a:cubicBezTo>
                  <a:pt x="837" y="133"/>
                  <a:pt x="841" y="133"/>
                  <a:pt x="845" y="133"/>
                </a:cubicBezTo>
                <a:cubicBezTo>
                  <a:pt x="849" y="133"/>
                  <a:pt x="853" y="134"/>
                  <a:pt x="857" y="134"/>
                </a:cubicBezTo>
                <a:cubicBezTo>
                  <a:pt x="859" y="134"/>
                  <a:pt x="860" y="134"/>
                  <a:pt x="861" y="134"/>
                </a:cubicBezTo>
                <a:cubicBezTo>
                  <a:pt x="862" y="130"/>
                  <a:pt x="867" y="130"/>
                  <a:pt x="868" y="134"/>
                </a:cubicBezTo>
                <a:cubicBezTo>
                  <a:pt x="868" y="134"/>
                  <a:pt x="868" y="134"/>
                  <a:pt x="868" y="134"/>
                </a:cubicBezTo>
                <a:cubicBezTo>
                  <a:pt x="869" y="134"/>
                  <a:pt x="869" y="134"/>
                  <a:pt x="869" y="134"/>
                </a:cubicBezTo>
                <a:cubicBezTo>
                  <a:pt x="873" y="134"/>
                  <a:pt x="877" y="134"/>
                  <a:pt x="881" y="135"/>
                </a:cubicBezTo>
                <a:cubicBezTo>
                  <a:pt x="885" y="135"/>
                  <a:pt x="889" y="135"/>
                  <a:pt x="893" y="135"/>
                </a:cubicBezTo>
                <a:cubicBezTo>
                  <a:pt x="897" y="135"/>
                  <a:pt x="901" y="135"/>
                  <a:pt x="905" y="135"/>
                </a:cubicBezTo>
                <a:cubicBezTo>
                  <a:pt x="909" y="135"/>
                  <a:pt x="913" y="136"/>
                  <a:pt x="917" y="136"/>
                </a:cubicBezTo>
                <a:cubicBezTo>
                  <a:pt x="921" y="136"/>
                  <a:pt x="925" y="135"/>
                  <a:pt x="929" y="136"/>
                </a:cubicBezTo>
                <a:cubicBezTo>
                  <a:pt x="933" y="136"/>
                  <a:pt x="937" y="136"/>
                  <a:pt x="941" y="137"/>
                </a:cubicBezTo>
                <a:cubicBezTo>
                  <a:pt x="945" y="137"/>
                  <a:pt x="949" y="137"/>
                  <a:pt x="953" y="137"/>
                </a:cubicBezTo>
                <a:cubicBezTo>
                  <a:pt x="957" y="138"/>
                  <a:pt x="961" y="138"/>
                  <a:pt x="965" y="138"/>
                </a:cubicBezTo>
                <a:cubicBezTo>
                  <a:pt x="964" y="137"/>
                  <a:pt x="965" y="136"/>
                  <a:pt x="967" y="136"/>
                </a:cubicBezTo>
                <a:cubicBezTo>
                  <a:pt x="968" y="136"/>
                  <a:pt x="969" y="137"/>
                  <a:pt x="969" y="138"/>
                </a:cubicBezTo>
                <a:cubicBezTo>
                  <a:pt x="972" y="138"/>
                  <a:pt x="975" y="138"/>
                  <a:pt x="977" y="138"/>
                </a:cubicBezTo>
                <a:cubicBezTo>
                  <a:pt x="981" y="139"/>
                  <a:pt x="985" y="139"/>
                  <a:pt x="989" y="140"/>
                </a:cubicBezTo>
                <a:cubicBezTo>
                  <a:pt x="993" y="140"/>
                  <a:pt x="997" y="140"/>
                  <a:pt x="1001" y="141"/>
                </a:cubicBezTo>
                <a:cubicBezTo>
                  <a:pt x="1005" y="141"/>
                  <a:pt x="1009" y="141"/>
                  <a:pt x="1013" y="141"/>
                </a:cubicBezTo>
                <a:cubicBezTo>
                  <a:pt x="1017" y="141"/>
                  <a:pt x="1021" y="142"/>
                  <a:pt x="1025" y="142"/>
                </a:cubicBezTo>
                <a:cubicBezTo>
                  <a:pt x="1028" y="143"/>
                  <a:pt x="1032" y="143"/>
                  <a:pt x="1035" y="143"/>
                </a:cubicBezTo>
                <a:cubicBezTo>
                  <a:pt x="1035" y="142"/>
                  <a:pt x="1035" y="142"/>
                  <a:pt x="1035" y="141"/>
                </a:cubicBezTo>
                <a:cubicBezTo>
                  <a:pt x="1036" y="141"/>
                  <a:pt x="1037" y="142"/>
                  <a:pt x="1036" y="143"/>
                </a:cubicBezTo>
                <a:cubicBezTo>
                  <a:pt x="1037" y="143"/>
                  <a:pt x="1037" y="143"/>
                  <a:pt x="1037" y="143"/>
                </a:cubicBezTo>
                <a:cubicBezTo>
                  <a:pt x="1038" y="143"/>
                  <a:pt x="1039" y="143"/>
                  <a:pt x="1040" y="143"/>
                </a:cubicBezTo>
                <a:cubicBezTo>
                  <a:pt x="1040" y="143"/>
                  <a:pt x="1040" y="143"/>
                  <a:pt x="1040" y="143"/>
                </a:cubicBezTo>
                <a:cubicBezTo>
                  <a:pt x="1040" y="142"/>
                  <a:pt x="1040" y="141"/>
                  <a:pt x="1040" y="140"/>
                </a:cubicBezTo>
                <a:cubicBezTo>
                  <a:pt x="1040" y="140"/>
                  <a:pt x="1041" y="140"/>
                  <a:pt x="1041" y="139"/>
                </a:cubicBezTo>
                <a:cubicBezTo>
                  <a:pt x="1042" y="139"/>
                  <a:pt x="1043" y="139"/>
                  <a:pt x="1043" y="140"/>
                </a:cubicBezTo>
                <a:cubicBezTo>
                  <a:pt x="1044" y="140"/>
                  <a:pt x="1043" y="138"/>
                  <a:pt x="1045" y="138"/>
                </a:cubicBezTo>
                <a:cubicBezTo>
                  <a:pt x="1045" y="137"/>
                  <a:pt x="1045" y="136"/>
                  <a:pt x="1046" y="134"/>
                </a:cubicBezTo>
                <a:cubicBezTo>
                  <a:pt x="1052" y="132"/>
                  <a:pt x="1049" y="140"/>
                  <a:pt x="1050" y="142"/>
                </a:cubicBezTo>
                <a:cubicBezTo>
                  <a:pt x="1047" y="146"/>
                  <a:pt x="1044" y="142"/>
                  <a:pt x="1041" y="143"/>
                </a:cubicBezTo>
                <a:cubicBezTo>
                  <a:pt x="1041" y="143"/>
                  <a:pt x="1042" y="143"/>
                  <a:pt x="1042" y="143"/>
                </a:cubicBezTo>
                <a:cubicBezTo>
                  <a:pt x="1044" y="144"/>
                  <a:pt x="1047" y="144"/>
                  <a:pt x="1049" y="144"/>
                </a:cubicBezTo>
                <a:cubicBezTo>
                  <a:pt x="1053" y="145"/>
                  <a:pt x="1057" y="145"/>
                  <a:pt x="1061" y="146"/>
                </a:cubicBezTo>
                <a:cubicBezTo>
                  <a:pt x="1065" y="146"/>
                  <a:pt x="1069" y="146"/>
                  <a:pt x="1073" y="146"/>
                </a:cubicBezTo>
                <a:cubicBezTo>
                  <a:pt x="1077" y="147"/>
                  <a:pt x="1081" y="147"/>
                  <a:pt x="1085" y="148"/>
                </a:cubicBezTo>
                <a:cubicBezTo>
                  <a:pt x="1089" y="148"/>
                  <a:pt x="1093" y="149"/>
                  <a:pt x="1097" y="149"/>
                </a:cubicBezTo>
                <a:cubicBezTo>
                  <a:pt x="1101" y="150"/>
                  <a:pt x="1105" y="150"/>
                  <a:pt x="1109" y="151"/>
                </a:cubicBezTo>
                <a:cubicBezTo>
                  <a:pt x="1113" y="151"/>
                  <a:pt x="1117" y="152"/>
                  <a:pt x="1121" y="152"/>
                </a:cubicBezTo>
                <a:cubicBezTo>
                  <a:pt x="1125" y="153"/>
                  <a:pt x="1129" y="153"/>
                  <a:pt x="1133" y="153"/>
                </a:cubicBezTo>
                <a:cubicBezTo>
                  <a:pt x="1137" y="154"/>
                  <a:pt x="1141" y="155"/>
                  <a:pt x="1145" y="155"/>
                </a:cubicBezTo>
                <a:cubicBezTo>
                  <a:pt x="1149" y="156"/>
                  <a:pt x="1153" y="157"/>
                  <a:pt x="1157" y="157"/>
                </a:cubicBezTo>
                <a:cubicBezTo>
                  <a:pt x="1161" y="158"/>
                  <a:pt x="1165" y="158"/>
                  <a:pt x="1169" y="159"/>
                </a:cubicBezTo>
                <a:cubicBezTo>
                  <a:pt x="1173" y="160"/>
                  <a:pt x="1177" y="160"/>
                  <a:pt x="1181" y="160"/>
                </a:cubicBezTo>
                <a:cubicBezTo>
                  <a:pt x="1185" y="161"/>
                  <a:pt x="1189" y="161"/>
                  <a:pt x="1193" y="162"/>
                </a:cubicBezTo>
                <a:cubicBezTo>
                  <a:pt x="1197" y="163"/>
                  <a:pt x="1201" y="164"/>
                  <a:pt x="1205" y="165"/>
                </a:cubicBezTo>
                <a:cubicBezTo>
                  <a:pt x="1209" y="165"/>
                  <a:pt x="1213" y="166"/>
                  <a:pt x="1217" y="166"/>
                </a:cubicBezTo>
                <a:cubicBezTo>
                  <a:pt x="1220" y="167"/>
                  <a:pt x="1225" y="168"/>
                  <a:pt x="1228" y="168"/>
                </a:cubicBezTo>
                <a:cubicBezTo>
                  <a:pt x="1232" y="169"/>
                  <a:pt x="1236" y="170"/>
                  <a:pt x="1240" y="171"/>
                </a:cubicBezTo>
                <a:cubicBezTo>
                  <a:pt x="1244" y="172"/>
                  <a:pt x="1248" y="171"/>
                  <a:pt x="1252" y="172"/>
                </a:cubicBezTo>
                <a:cubicBezTo>
                  <a:pt x="1256" y="173"/>
                  <a:pt x="1260" y="174"/>
                  <a:pt x="1264" y="174"/>
                </a:cubicBezTo>
                <a:cubicBezTo>
                  <a:pt x="1268" y="175"/>
                  <a:pt x="1272" y="176"/>
                  <a:pt x="1275" y="177"/>
                </a:cubicBezTo>
                <a:cubicBezTo>
                  <a:pt x="1279" y="178"/>
                  <a:pt x="1283" y="178"/>
                  <a:pt x="1287" y="179"/>
                </a:cubicBezTo>
                <a:cubicBezTo>
                  <a:pt x="1291" y="180"/>
                  <a:pt x="1295" y="181"/>
                  <a:pt x="1299" y="182"/>
                </a:cubicBezTo>
                <a:cubicBezTo>
                  <a:pt x="1303" y="183"/>
                  <a:pt x="1307" y="183"/>
                  <a:pt x="1310" y="184"/>
                </a:cubicBezTo>
                <a:cubicBezTo>
                  <a:pt x="1314" y="185"/>
                  <a:pt x="1318" y="187"/>
                  <a:pt x="1322" y="187"/>
                </a:cubicBezTo>
                <a:cubicBezTo>
                  <a:pt x="1326" y="188"/>
                  <a:pt x="1330" y="188"/>
                  <a:pt x="1334" y="189"/>
                </a:cubicBezTo>
                <a:cubicBezTo>
                  <a:pt x="1338" y="190"/>
                  <a:pt x="1341" y="191"/>
                  <a:pt x="1345" y="192"/>
                </a:cubicBezTo>
                <a:cubicBezTo>
                  <a:pt x="1349" y="193"/>
                  <a:pt x="1353" y="194"/>
                  <a:pt x="1357" y="195"/>
                </a:cubicBezTo>
                <a:cubicBezTo>
                  <a:pt x="1361" y="196"/>
                  <a:pt x="1365" y="196"/>
                  <a:pt x="1369" y="197"/>
                </a:cubicBezTo>
                <a:cubicBezTo>
                  <a:pt x="1373" y="198"/>
                  <a:pt x="1377" y="198"/>
                  <a:pt x="1381" y="199"/>
                </a:cubicBezTo>
                <a:cubicBezTo>
                  <a:pt x="1385" y="200"/>
                  <a:pt x="1389" y="200"/>
                  <a:pt x="1393" y="201"/>
                </a:cubicBezTo>
                <a:cubicBezTo>
                  <a:pt x="1396" y="202"/>
                  <a:pt x="1400" y="203"/>
                  <a:pt x="1404" y="203"/>
                </a:cubicBezTo>
                <a:cubicBezTo>
                  <a:pt x="1408" y="204"/>
                  <a:pt x="1412" y="205"/>
                  <a:pt x="1416" y="206"/>
                </a:cubicBezTo>
                <a:cubicBezTo>
                  <a:pt x="1420" y="207"/>
                  <a:pt x="1424" y="207"/>
                  <a:pt x="1428" y="208"/>
                </a:cubicBezTo>
                <a:cubicBezTo>
                  <a:pt x="1432" y="208"/>
                  <a:pt x="1436" y="209"/>
                  <a:pt x="1440" y="209"/>
                </a:cubicBezTo>
                <a:cubicBezTo>
                  <a:pt x="1444" y="210"/>
                  <a:pt x="1448" y="211"/>
                  <a:pt x="1452" y="212"/>
                </a:cubicBezTo>
                <a:cubicBezTo>
                  <a:pt x="1456" y="212"/>
                  <a:pt x="1459" y="213"/>
                  <a:pt x="1463" y="213"/>
                </a:cubicBezTo>
                <a:cubicBezTo>
                  <a:pt x="1467" y="214"/>
                  <a:pt x="1471" y="214"/>
                  <a:pt x="1475" y="215"/>
                </a:cubicBezTo>
                <a:cubicBezTo>
                  <a:pt x="1479" y="215"/>
                  <a:pt x="1483" y="215"/>
                  <a:pt x="1487" y="216"/>
                </a:cubicBezTo>
                <a:cubicBezTo>
                  <a:pt x="1491" y="216"/>
                  <a:pt x="1495" y="216"/>
                  <a:pt x="1499" y="217"/>
                </a:cubicBezTo>
                <a:cubicBezTo>
                  <a:pt x="1503" y="217"/>
                  <a:pt x="1507" y="217"/>
                  <a:pt x="1511" y="217"/>
                </a:cubicBezTo>
                <a:cubicBezTo>
                  <a:pt x="1514" y="218"/>
                  <a:pt x="1518" y="218"/>
                  <a:pt x="1521" y="218"/>
                </a:cubicBezTo>
                <a:cubicBezTo>
                  <a:pt x="1524" y="218"/>
                  <a:pt x="1527" y="218"/>
                  <a:pt x="1530" y="218"/>
                </a:cubicBezTo>
                <a:cubicBezTo>
                  <a:pt x="1535" y="218"/>
                  <a:pt x="1539" y="218"/>
                  <a:pt x="1543" y="218"/>
                </a:cubicBezTo>
                <a:cubicBezTo>
                  <a:pt x="1548" y="218"/>
                  <a:pt x="1552" y="217"/>
                  <a:pt x="1556" y="216"/>
                </a:cubicBezTo>
                <a:cubicBezTo>
                  <a:pt x="1561" y="216"/>
                  <a:pt x="1565" y="215"/>
                  <a:pt x="1569" y="214"/>
                </a:cubicBezTo>
                <a:cubicBezTo>
                  <a:pt x="1573" y="213"/>
                  <a:pt x="1578" y="212"/>
                  <a:pt x="1582" y="211"/>
                </a:cubicBezTo>
                <a:cubicBezTo>
                  <a:pt x="1585" y="209"/>
                  <a:pt x="1589" y="208"/>
                  <a:pt x="1592" y="207"/>
                </a:cubicBezTo>
                <a:cubicBezTo>
                  <a:pt x="1595" y="205"/>
                  <a:pt x="1598" y="202"/>
                  <a:pt x="1601" y="200"/>
                </a:cubicBezTo>
                <a:cubicBezTo>
                  <a:pt x="1605" y="198"/>
                  <a:pt x="1608" y="196"/>
                  <a:pt x="1610" y="194"/>
                </a:cubicBezTo>
                <a:cubicBezTo>
                  <a:pt x="1613" y="191"/>
                  <a:pt x="1616" y="189"/>
                  <a:pt x="1619" y="186"/>
                </a:cubicBezTo>
                <a:cubicBezTo>
                  <a:pt x="1621" y="183"/>
                  <a:pt x="1623" y="181"/>
                  <a:pt x="1625" y="178"/>
                </a:cubicBezTo>
                <a:cubicBezTo>
                  <a:pt x="1625" y="181"/>
                  <a:pt x="1625" y="185"/>
                  <a:pt x="1625" y="189"/>
                </a:cubicBezTo>
                <a:close/>
                <a:moveTo>
                  <a:pt x="71" y="252"/>
                </a:moveTo>
                <a:cubicBezTo>
                  <a:pt x="72" y="253"/>
                  <a:pt x="73" y="253"/>
                  <a:pt x="73" y="254"/>
                </a:cubicBezTo>
                <a:cubicBezTo>
                  <a:pt x="72" y="255"/>
                  <a:pt x="71" y="254"/>
                  <a:pt x="71" y="254"/>
                </a:cubicBezTo>
                <a:cubicBezTo>
                  <a:pt x="70" y="253"/>
                  <a:pt x="71" y="253"/>
                  <a:pt x="71" y="252"/>
                </a:cubicBezTo>
                <a:close/>
                <a:moveTo>
                  <a:pt x="1479" y="204"/>
                </a:moveTo>
                <a:cubicBezTo>
                  <a:pt x="1481" y="204"/>
                  <a:pt x="1481" y="207"/>
                  <a:pt x="1479" y="207"/>
                </a:cubicBezTo>
                <a:cubicBezTo>
                  <a:pt x="1478" y="206"/>
                  <a:pt x="1478" y="204"/>
                  <a:pt x="1479" y="204"/>
                </a:cubicBezTo>
                <a:close/>
                <a:moveTo>
                  <a:pt x="1614" y="190"/>
                </a:moveTo>
                <a:cubicBezTo>
                  <a:pt x="1609" y="192"/>
                  <a:pt x="1614" y="183"/>
                  <a:pt x="1614" y="190"/>
                </a:cubicBezTo>
                <a:close/>
                <a:moveTo>
                  <a:pt x="1625" y="148"/>
                </a:moveTo>
                <a:cubicBezTo>
                  <a:pt x="1623" y="149"/>
                  <a:pt x="1620" y="149"/>
                  <a:pt x="1619" y="147"/>
                </a:cubicBezTo>
                <a:cubicBezTo>
                  <a:pt x="1620" y="150"/>
                  <a:pt x="1620" y="152"/>
                  <a:pt x="1620" y="155"/>
                </a:cubicBezTo>
                <a:cubicBezTo>
                  <a:pt x="1620" y="159"/>
                  <a:pt x="1619" y="163"/>
                  <a:pt x="1617" y="167"/>
                </a:cubicBezTo>
                <a:cubicBezTo>
                  <a:pt x="1615" y="171"/>
                  <a:pt x="1614" y="175"/>
                  <a:pt x="1611" y="178"/>
                </a:cubicBezTo>
                <a:cubicBezTo>
                  <a:pt x="1608" y="182"/>
                  <a:pt x="1605" y="184"/>
                  <a:pt x="1602" y="187"/>
                </a:cubicBezTo>
                <a:cubicBezTo>
                  <a:pt x="1598" y="190"/>
                  <a:pt x="1595" y="192"/>
                  <a:pt x="1591" y="194"/>
                </a:cubicBezTo>
                <a:cubicBezTo>
                  <a:pt x="1590" y="194"/>
                  <a:pt x="1590" y="195"/>
                  <a:pt x="1589" y="195"/>
                </a:cubicBezTo>
                <a:cubicBezTo>
                  <a:pt x="1589" y="195"/>
                  <a:pt x="1589" y="195"/>
                  <a:pt x="1589" y="195"/>
                </a:cubicBezTo>
                <a:cubicBezTo>
                  <a:pt x="1586" y="196"/>
                  <a:pt x="1583" y="198"/>
                  <a:pt x="1579" y="199"/>
                </a:cubicBezTo>
                <a:cubicBezTo>
                  <a:pt x="1576" y="200"/>
                  <a:pt x="1572" y="201"/>
                  <a:pt x="1568" y="202"/>
                </a:cubicBezTo>
                <a:cubicBezTo>
                  <a:pt x="1564" y="203"/>
                  <a:pt x="1559" y="204"/>
                  <a:pt x="1555" y="205"/>
                </a:cubicBezTo>
                <a:cubicBezTo>
                  <a:pt x="1554" y="205"/>
                  <a:pt x="1553" y="205"/>
                  <a:pt x="1552" y="205"/>
                </a:cubicBezTo>
                <a:cubicBezTo>
                  <a:pt x="1553" y="206"/>
                  <a:pt x="1553" y="206"/>
                  <a:pt x="1551" y="207"/>
                </a:cubicBezTo>
                <a:cubicBezTo>
                  <a:pt x="1552" y="205"/>
                  <a:pt x="1547" y="206"/>
                  <a:pt x="1546" y="206"/>
                </a:cubicBezTo>
                <a:cubicBezTo>
                  <a:pt x="1545" y="206"/>
                  <a:pt x="1544" y="206"/>
                  <a:pt x="1543" y="206"/>
                </a:cubicBezTo>
                <a:cubicBezTo>
                  <a:pt x="1539" y="206"/>
                  <a:pt x="1535" y="205"/>
                  <a:pt x="1531" y="205"/>
                </a:cubicBezTo>
                <a:cubicBezTo>
                  <a:pt x="1528" y="205"/>
                  <a:pt x="1526" y="206"/>
                  <a:pt x="1523" y="206"/>
                </a:cubicBezTo>
                <a:cubicBezTo>
                  <a:pt x="1519" y="205"/>
                  <a:pt x="1515" y="205"/>
                  <a:pt x="1511" y="205"/>
                </a:cubicBezTo>
                <a:cubicBezTo>
                  <a:pt x="1507" y="205"/>
                  <a:pt x="1503" y="205"/>
                  <a:pt x="1499" y="205"/>
                </a:cubicBezTo>
                <a:cubicBezTo>
                  <a:pt x="1494" y="204"/>
                  <a:pt x="1490" y="203"/>
                  <a:pt x="1486" y="203"/>
                </a:cubicBezTo>
                <a:cubicBezTo>
                  <a:pt x="1482" y="202"/>
                  <a:pt x="1478" y="202"/>
                  <a:pt x="1474" y="202"/>
                </a:cubicBezTo>
                <a:cubicBezTo>
                  <a:pt x="1471" y="202"/>
                  <a:pt x="1469" y="201"/>
                  <a:pt x="1467" y="201"/>
                </a:cubicBezTo>
                <a:cubicBezTo>
                  <a:pt x="1467" y="201"/>
                  <a:pt x="1467" y="201"/>
                  <a:pt x="1467" y="201"/>
                </a:cubicBezTo>
                <a:cubicBezTo>
                  <a:pt x="1467" y="201"/>
                  <a:pt x="1467" y="201"/>
                  <a:pt x="1467" y="201"/>
                </a:cubicBezTo>
                <a:cubicBezTo>
                  <a:pt x="1465" y="201"/>
                  <a:pt x="1463" y="200"/>
                  <a:pt x="1462" y="200"/>
                </a:cubicBezTo>
                <a:cubicBezTo>
                  <a:pt x="1457" y="199"/>
                  <a:pt x="1453" y="199"/>
                  <a:pt x="1449" y="198"/>
                </a:cubicBezTo>
                <a:cubicBezTo>
                  <a:pt x="1445" y="197"/>
                  <a:pt x="1441" y="197"/>
                  <a:pt x="1437" y="196"/>
                </a:cubicBezTo>
                <a:cubicBezTo>
                  <a:pt x="1433" y="196"/>
                  <a:pt x="1429" y="195"/>
                  <a:pt x="1425" y="194"/>
                </a:cubicBezTo>
                <a:cubicBezTo>
                  <a:pt x="1425" y="193"/>
                  <a:pt x="1425" y="193"/>
                  <a:pt x="1426" y="193"/>
                </a:cubicBezTo>
                <a:cubicBezTo>
                  <a:pt x="1426" y="192"/>
                  <a:pt x="1427" y="191"/>
                  <a:pt x="1427" y="191"/>
                </a:cubicBezTo>
                <a:cubicBezTo>
                  <a:pt x="1428" y="189"/>
                  <a:pt x="1429" y="189"/>
                  <a:pt x="1430" y="187"/>
                </a:cubicBezTo>
                <a:cubicBezTo>
                  <a:pt x="1433" y="182"/>
                  <a:pt x="1432" y="184"/>
                  <a:pt x="1436" y="177"/>
                </a:cubicBezTo>
                <a:cubicBezTo>
                  <a:pt x="1438" y="174"/>
                  <a:pt x="1441" y="171"/>
                  <a:pt x="1443" y="167"/>
                </a:cubicBezTo>
                <a:cubicBezTo>
                  <a:pt x="1445" y="164"/>
                  <a:pt x="1447" y="160"/>
                  <a:pt x="1450" y="157"/>
                </a:cubicBezTo>
                <a:cubicBezTo>
                  <a:pt x="1452" y="153"/>
                  <a:pt x="1454" y="150"/>
                  <a:pt x="1456" y="146"/>
                </a:cubicBezTo>
                <a:cubicBezTo>
                  <a:pt x="1456" y="146"/>
                  <a:pt x="1456" y="146"/>
                  <a:pt x="1456" y="146"/>
                </a:cubicBezTo>
                <a:cubicBezTo>
                  <a:pt x="1456" y="146"/>
                  <a:pt x="1456" y="146"/>
                  <a:pt x="1456" y="146"/>
                </a:cubicBezTo>
                <a:cubicBezTo>
                  <a:pt x="1456" y="145"/>
                  <a:pt x="1455" y="145"/>
                  <a:pt x="1455" y="144"/>
                </a:cubicBezTo>
                <a:cubicBezTo>
                  <a:pt x="1456" y="143"/>
                  <a:pt x="1457" y="142"/>
                  <a:pt x="1458" y="143"/>
                </a:cubicBezTo>
                <a:cubicBezTo>
                  <a:pt x="1460" y="140"/>
                  <a:pt x="1461" y="138"/>
                  <a:pt x="1463" y="136"/>
                </a:cubicBezTo>
                <a:cubicBezTo>
                  <a:pt x="1464" y="134"/>
                  <a:pt x="1464" y="134"/>
                  <a:pt x="1465" y="132"/>
                </a:cubicBezTo>
                <a:cubicBezTo>
                  <a:pt x="1465" y="132"/>
                  <a:pt x="1466" y="131"/>
                  <a:pt x="1465" y="130"/>
                </a:cubicBezTo>
                <a:cubicBezTo>
                  <a:pt x="1465" y="129"/>
                  <a:pt x="1463" y="125"/>
                  <a:pt x="1459" y="125"/>
                </a:cubicBezTo>
                <a:cubicBezTo>
                  <a:pt x="1459" y="125"/>
                  <a:pt x="1458" y="126"/>
                  <a:pt x="1458" y="126"/>
                </a:cubicBezTo>
                <a:cubicBezTo>
                  <a:pt x="1454" y="126"/>
                  <a:pt x="1454" y="126"/>
                  <a:pt x="1450" y="126"/>
                </a:cubicBezTo>
                <a:cubicBezTo>
                  <a:pt x="1448" y="126"/>
                  <a:pt x="1448" y="126"/>
                  <a:pt x="1445" y="126"/>
                </a:cubicBezTo>
                <a:cubicBezTo>
                  <a:pt x="1441" y="126"/>
                  <a:pt x="1437" y="126"/>
                  <a:pt x="1433" y="126"/>
                </a:cubicBezTo>
                <a:cubicBezTo>
                  <a:pt x="1429" y="126"/>
                  <a:pt x="1425" y="126"/>
                  <a:pt x="1421" y="125"/>
                </a:cubicBezTo>
                <a:cubicBezTo>
                  <a:pt x="1416" y="125"/>
                  <a:pt x="1412" y="124"/>
                  <a:pt x="1408" y="124"/>
                </a:cubicBezTo>
                <a:cubicBezTo>
                  <a:pt x="1407" y="124"/>
                  <a:pt x="1406" y="124"/>
                  <a:pt x="1406" y="124"/>
                </a:cubicBezTo>
                <a:cubicBezTo>
                  <a:pt x="1406" y="124"/>
                  <a:pt x="1405" y="124"/>
                  <a:pt x="1405" y="124"/>
                </a:cubicBezTo>
                <a:cubicBezTo>
                  <a:pt x="1405" y="124"/>
                  <a:pt x="1405" y="124"/>
                  <a:pt x="1405" y="124"/>
                </a:cubicBezTo>
                <a:cubicBezTo>
                  <a:pt x="1404" y="124"/>
                  <a:pt x="1403" y="123"/>
                  <a:pt x="1402" y="123"/>
                </a:cubicBezTo>
                <a:cubicBezTo>
                  <a:pt x="1400" y="124"/>
                  <a:pt x="1396" y="126"/>
                  <a:pt x="1396" y="122"/>
                </a:cubicBezTo>
                <a:cubicBezTo>
                  <a:pt x="1396" y="122"/>
                  <a:pt x="1395" y="122"/>
                  <a:pt x="1395" y="122"/>
                </a:cubicBezTo>
                <a:cubicBezTo>
                  <a:pt x="1394" y="122"/>
                  <a:pt x="1393" y="122"/>
                  <a:pt x="1392" y="122"/>
                </a:cubicBezTo>
                <a:cubicBezTo>
                  <a:pt x="1392" y="122"/>
                  <a:pt x="1392" y="122"/>
                  <a:pt x="1392" y="122"/>
                </a:cubicBezTo>
                <a:cubicBezTo>
                  <a:pt x="1390" y="122"/>
                  <a:pt x="1388" y="122"/>
                  <a:pt x="1386" y="122"/>
                </a:cubicBezTo>
                <a:cubicBezTo>
                  <a:pt x="1386" y="122"/>
                  <a:pt x="1386" y="121"/>
                  <a:pt x="1386" y="121"/>
                </a:cubicBezTo>
                <a:cubicBezTo>
                  <a:pt x="1385" y="121"/>
                  <a:pt x="1384" y="121"/>
                  <a:pt x="1383" y="120"/>
                </a:cubicBezTo>
                <a:cubicBezTo>
                  <a:pt x="1378" y="120"/>
                  <a:pt x="1374" y="119"/>
                  <a:pt x="1370" y="118"/>
                </a:cubicBezTo>
                <a:cubicBezTo>
                  <a:pt x="1368" y="118"/>
                  <a:pt x="1367" y="117"/>
                  <a:pt x="1365" y="117"/>
                </a:cubicBezTo>
                <a:cubicBezTo>
                  <a:pt x="1365" y="117"/>
                  <a:pt x="1365" y="118"/>
                  <a:pt x="1365" y="118"/>
                </a:cubicBezTo>
                <a:cubicBezTo>
                  <a:pt x="1362" y="119"/>
                  <a:pt x="1361" y="118"/>
                  <a:pt x="1361" y="116"/>
                </a:cubicBezTo>
                <a:cubicBezTo>
                  <a:pt x="1360" y="116"/>
                  <a:pt x="1359" y="115"/>
                  <a:pt x="1358" y="115"/>
                </a:cubicBezTo>
                <a:cubicBezTo>
                  <a:pt x="1354" y="114"/>
                  <a:pt x="1349" y="114"/>
                  <a:pt x="1345" y="113"/>
                </a:cubicBezTo>
                <a:cubicBezTo>
                  <a:pt x="1344" y="113"/>
                  <a:pt x="1343" y="112"/>
                  <a:pt x="1342" y="112"/>
                </a:cubicBezTo>
                <a:cubicBezTo>
                  <a:pt x="1341" y="112"/>
                  <a:pt x="1339" y="112"/>
                  <a:pt x="1338" y="110"/>
                </a:cubicBezTo>
                <a:cubicBezTo>
                  <a:pt x="1337" y="110"/>
                  <a:pt x="1335" y="109"/>
                  <a:pt x="1333" y="108"/>
                </a:cubicBezTo>
                <a:cubicBezTo>
                  <a:pt x="1329" y="107"/>
                  <a:pt x="1325" y="107"/>
                  <a:pt x="1321" y="105"/>
                </a:cubicBezTo>
                <a:cubicBezTo>
                  <a:pt x="1317" y="104"/>
                  <a:pt x="1313" y="102"/>
                  <a:pt x="1308" y="101"/>
                </a:cubicBezTo>
                <a:cubicBezTo>
                  <a:pt x="1313" y="101"/>
                  <a:pt x="1317" y="101"/>
                  <a:pt x="1321" y="101"/>
                </a:cubicBezTo>
                <a:cubicBezTo>
                  <a:pt x="1325" y="102"/>
                  <a:pt x="1329" y="103"/>
                  <a:pt x="1334" y="103"/>
                </a:cubicBezTo>
                <a:cubicBezTo>
                  <a:pt x="1338" y="103"/>
                  <a:pt x="1342" y="103"/>
                  <a:pt x="1346" y="104"/>
                </a:cubicBezTo>
                <a:cubicBezTo>
                  <a:pt x="1350" y="104"/>
                  <a:pt x="1354" y="104"/>
                  <a:pt x="1359" y="104"/>
                </a:cubicBezTo>
                <a:cubicBezTo>
                  <a:pt x="1361" y="104"/>
                  <a:pt x="1363" y="104"/>
                  <a:pt x="1366" y="105"/>
                </a:cubicBezTo>
                <a:cubicBezTo>
                  <a:pt x="1365" y="104"/>
                  <a:pt x="1364" y="103"/>
                  <a:pt x="1364" y="102"/>
                </a:cubicBezTo>
                <a:cubicBezTo>
                  <a:pt x="1366" y="100"/>
                  <a:pt x="1370" y="100"/>
                  <a:pt x="1372" y="102"/>
                </a:cubicBezTo>
                <a:cubicBezTo>
                  <a:pt x="1372" y="103"/>
                  <a:pt x="1372" y="104"/>
                  <a:pt x="1371" y="105"/>
                </a:cubicBezTo>
                <a:cubicBezTo>
                  <a:pt x="1375" y="106"/>
                  <a:pt x="1380" y="106"/>
                  <a:pt x="1384" y="106"/>
                </a:cubicBezTo>
                <a:cubicBezTo>
                  <a:pt x="1388" y="107"/>
                  <a:pt x="1392" y="108"/>
                  <a:pt x="1396" y="108"/>
                </a:cubicBezTo>
                <a:cubicBezTo>
                  <a:pt x="1400" y="108"/>
                  <a:pt x="1405" y="109"/>
                  <a:pt x="1408" y="109"/>
                </a:cubicBezTo>
                <a:cubicBezTo>
                  <a:pt x="1413" y="110"/>
                  <a:pt x="1417" y="110"/>
                  <a:pt x="1421" y="110"/>
                </a:cubicBezTo>
                <a:cubicBezTo>
                  <a:pt x="1429" y="111"/>
                  <a:pt x="1428" y="115"/>
                  <a:pt x="1433" y="111"/>
                </a:cubicBezTo>
                <a:cubicBezTo>
                  <a:pt x="1430" y="110"/>
                  <a:pt x="1426" y="108"/>
                  <a:pt x="1422" y="107"/>
                </a:cubicBezTo>
                <a:cubicBezTo>
                  <a:pt x="1419" y="105"/>
                  <a:pt x="1415" y="105"/>
                  <a:pt x="1411" y="104"/>
                </a:cubicBezTo>
                <a:cubicBezTo>
                  <a:pt x="1407" y="103"/>
                  <a:pt x="1403" y="101"/>
                  <a:pt x="1399" y="100"/>
                </a:cubicBezTo>
                <a:cubicBezTo>
                  <a:pt x="1395" y="99"/>
                  <a:pt x="1391" y="99"/>
                  <a:pt x="1387" y="98"/>
                </a:cubicBezTo>
                <a:cubicBezTo>
                  <a:pt x="1383" y="97"/>
                  <a:pt x="1380" y="96"/>
                  <a:pt x="1376" y="96"/>
                </a:cubicBezTo>
                <a:cubicBezTo>
                  <a:pt x="1372" y="95"/>
                  <a:pt x="1368" y="94"/>
                  <a:pt x="1364" y="93"/>
                </a:cubicBezTo>
                <a:cubicBezTo>
                  <a:pt x="1364" y="93"/>
                  <a:pt x="1363" y="93"/>
                  <a:pt x="1363" y="93"/>
                </a:cubicBezTo>
                <a:cubicBezTo>
                  <a:pt x="1363" y="93"/>
                  <a:pt x="1363" y="93"/>
                  <a:pt x="1363" y="93"/>
                </a:cubicBezTo>
                <a:cubicBezTo>
                  <a:pt x="1363" y="94"/>
                  <a:pt x="1363" y="93"/>
                  <a:pt x="1362" y="93"/>
                </a:cubicBezTo>
                <a:cubicBezTo>
                  <a:pt x="1359" y="92"/>
                  <a:pt x="1355" y="92"/>
                  <a:pt x="1352" y="91"/>
                </a:cubicBezTo>
                <a:cubicBezTo>
                  <a:pt x="1352" y="91"/>
                  <a:pt x="1352" y="91"/>
                  <a:pt x="1351" y="91"/>
                </a:cubicBezTo>
                <a:cubicBezTo>
                  <a:pt x="1351" y="91"/>
                  <a:pt x="1351" y="91"/>
                  <a:pt x="1352" y="91"/>
                </a:cubicBezTo>
                <a:cubicBezTo>
                  <a:pt x="1350" y="91"/>
                  <a:pt x="1349" y="91"/>
                  <a:pt x="1348" y="91"/>
                </a:cubicBezTo>
                <a:cubicBezTo>
                  <a:pt x="1347" y="91"/>
                  <a:pt x="1346" y="91"/>
                  <a:pt x="1346" y="91"/>
                </a:cubicBezTo>
                <a:cubicBezTo>
                  <a:pt x="1344" y="90"/>
                  <a:pt x="1342" y="90"/>
                  <a:pt x="1340" y="90"/>
                </a:cubicBezTo>
                <a:cubicBezTo>
                  <a:pt x="1336" y="89"/>
                  <a:pt x="1332" y="89"/>
                  <a:pt x="1328" y="89"/>
                </a:cubicBezTo>
                <a:cubicBezTo>
                  <a:pt x="1324" y="88"/>
                  <a:pt x="1320" y="87"/>
                  <a:pt x="1316" y="87"/>
                </a:cubicBezTo>
                <a:cubicBezTo>
                  <a:pt x="1314" y="86"/>
                  <a:pt x="1311" y="86"/>
                  <a:pt x="1309" y="86"/>
                </a:cubicBezTo>
                <a:cubicBezTo>
                  <a:pt x="1308" y="86"/>
                  <a:pt x="1308" y="86"/>
                  <a:pt x="1307" y="86"/>
                </a:cubicBezTo>
                <a:cubicBezTo>
                  <a:pt x="1307" y="86"/>
                  <a:pt x="1307" y="86"/>
                  <a:pt x="1307" y="85"/>
                </a:cubicBezTo>
                <a:cubicBezTo>
                  <a:pt x="1306" y="85"/>
                  <a:pt x="1305" y="85"/>
                  <a:pt x="1304" y="85"/>
                </a:cubicBezTo>
                <a:cubicBezTo>
                  <a:pt x="1300" y="85"/>
                  <a:pt x="1296" y="85"/>
                  <a:pt x="1292" y="84"/>
                </a:cubicBezTo>
                <a:cubicBezTo>
                  <a:pt x="1288" y="84"/>
                  <a:pt x="1284" y="83"/>
                  <a:pt x="1280" y="83"/>
                </a:cubicBezTo>
                <a:cubicBezTo>
                  <a:pt x="1276" y="83"/>
                  <a:pt x="1272" y="83"/>
                  <a:pt x="1268" y="82"/>
                </a:cubicBezTo>
                <a:cubicBezTo>
                  <a:pt x="1265" y="80"/>
                  <a:pt x="1262" y="78"/>
                  <a:pt x="1260" y="75"/>
                </a:cubicBezTo>
                <a:cubicBezTo>
                  <a:pt x="1258" y="74"/>
                  <a:pt x="1257" y="73"/>
                  <a:pt x="1256" y="72"/>
                </a:cubicBezTo>
                <a:cubicBezTo>
                  <a:pt x="1260" y="72"/>
                  <a:pt x="1264" y="71"/>
                  <a:pt x="1268" y="71"/>
                </a:cubicBezTo>
                <a:cubicBezTo>
                  <a:pt x="1272" y="71"/>
                  <a:pt x="1276" y="71"/>
                  <a:pt x="1280" y="71"/>
                </a:cubicBezTo>
                <a:cubicBezTo>
                  <a:pt x="1284" y="71"/>
                  <a:pt x="1287" y="72"/>
                  <a:pt x="1292" y="72"/>
                </a:cubicBezTo>
                <a:cubicBezTo>
                  <a:pt x="1293" y="72"/>
                  <a:pt x="1294" y="72"/>
                  <a:pt x="1295" y="72"/>
                </a:cubicBezTo>
                <a:cubicBezTo>
                  <a:pt x="1296" y="69"/>
                  <a:pt x="1302" y="69"/>
                  <a:pt x="1302" y="72"/>
                </a:cubicBezTo>
                <a:cubicBezTo>
                  <a:pt x="1302" y="72"/>
                  <a:pt x="1303" y="72"/>
                  <a:pt x="1303" y="72"/>
                </a:cubicBezTo>
                <a:cubicBezTo>
                  <a:pt x="1307" y="72"/>
                  <a:pt x="1311" y="72"/>
                  <a:pt x="1315" y="73"/>
                </a:cubicBezTo>
                <a:cubicBezTo>
                  <a:pt x="1318" y="73"/>
                  <a:pt x="1321" y="73"/>
                  <a:pt x="1323" y="73"/>
                </a:cubicBezTo>
                <a:cubicBezTo>
                  <a:pt x="1323" y="72"/>
                  <a:pt x="1323" y="72"/>
                  <a:pt x="1323" y="72"/>
                </a:cubicBezTo>
                <a:cubicBezTo>
                  <a:pt x="1325" y="72"/>
                  <a:pt x="1326" y="72"/>
                  <a:pt x="1326" y="73"/>
                </a:cubicBezTo>
                <a:cubicBezTo>
                  <a:pt x="1327" y="73"/>
                  <a:pt x="1327" y="73"/>
                  <a:pt x="1327" y="73"/>
                </a:cubicBezTo>
                <a:cubicBezTo>
                  <a:pt x="1331" y="73"/>
                  <a:pt x="1335" y="74"/>
                  <a:pt x="1339" y="74"/>
                </a:cubicBezTo>
                <a:cubicBezTo>
                  <a:pt x="1343" y="74"/>
                  <a:pt x="1347" y="75"/>
                  <a:pt x="1351" y="76"/>
                </a:cubicBezTo>
                <a:cubicBezTo>
                  <a:pt x="1355" y="76"/>
                  <a:pt x="1359" y="76"/>
                  <a:pt x="1363" y="76"/>
                </a:cubicBezTo>
                <a:cubicBezTo>
                  <a:pt x="1367" y="76"/>
                  <a:pt x="1370" y="77"/>
                  <a:pt x="1374" y="77"/>
                </a:cubicBezTo>
                <a:cubicBezTo>
                  <a:pt x="1378" y="77"/>
                  <a:pt x="1382" y="78"/>
                  <a:pt x="1386" y="79"/>
                </a:cubicBezTo>
                <a:cubicBezTo>
                  <a:pt x="1390" y="79"/>
                  <a:pt x="1394" y="78"/>
                  <a:pt x="1398" y="79"/>
                </a:cubicBezTo>
                <a:cubicBezTo>
                  <a:pt x="1402" y="79"/>
                  <a:pt x="1406" y="80"/>
                  <a:pt x="1410" y="80"/>
                </a:cubicBezTo>
                <a:cubicBezTo>
                  <a:pt x="1411" y="80"/>
                  <a:pt x="1411" y="80"/>
                  <a:pt x="1412" y="80"/>
                </a:cubicBezTo>
                <a:cubicBezTo>
                  <a:pt x="1412" y="80"/>
                  <a:pt x="1413" y="80"/>
                  <a:pt x="1413" y="80"/>
                </a:cubicBezTo>
                <a:cubicBezTo>
                  <a:pt x="1413" y="80"/>
                  <a:pt x="1413" y="80"/>
                  <a:pt x="1413" y="80"/>
                </a:cubicBezTo>
                <a:cubicBezTo>
                  <a:pt x="1416" y="81"/>
                  <a:pt x="1419" y="81"/>
                  <a:pt x="1421" y="82"/>
                </a:cubicBezTo>
                <a:cubicBezTo>
                  <a:pt x="1429" y="83"/>
                  <a:pt x="1430" y="88"/>
                  <a:pt x="1434" y="83"/>
                </a:cubicBezTo>
                <a:cubicBezTo>
                  <a:pt x="1433" y="83"/>
                  <a:pt x="1433" y="83"/>
                  <a:pt x="1433" y="83"/>
                </a:cubicBezTo>
                <a:cubicBezTo>
                  <a:pt x="1431" y="82"/>
                  <a:pt x="1429" y="81"/>
                  <a:pt x="1426" y="80"/>
                </a:cubicBezTo>
                <a:cubicBezTo>
                  <a:pt x="1424" y="82"/>
                  <a:pt x="1421" y="80"/>
                  <a:pt x="1418" y="78"/>
                </a:cubicBezTo>
                <a:cubicBezTo>
                  <a:pt x="1416" y="77"/>
                  <a:pt x="1413" y="76"/>
                  <a:pt x="1410" y="75"/>
                </a:cubicBezTo>
                <a:cubicBezTo>
                  <a:pt x="1406" y="74"/>
                  <a:pt x="1402" y="73"/>
                  <a:pt x="1398" y="72"/>
                </a:cubicBezTo>
                <a:cubicBezTo>
                  <a:pt x="1395" y="71"/>
                  <a:pt x="1391" y="70"/>
                  <a:pt x="1387" y="69"/>
                </a:cubicBezTo>
                <a:cubicBezTo>
                  <a:pt x="1383" y="68"/>
                  <a:pt x="1379" y="67"/>
                  <a:pt x="1375" y="67"/>
                </a:cubicBezTo>
                <a:cubicBezTo>
                  <a:pt x="1374" y="66"/>
                  <a:pt x="1373" y="66"/>
                  <a:pt x="1372" y="66"/>
                </a:cubicBezTo>
                <a:cubicBezTo>
                  <a:pt x="1373" y="66"/>
                  <a:pt x="1373" y="66"/>
                  <a:pt x="1373" y="66"/>
                </a:cubicBezTo>
                <a:cubicBezTo>
                  <a:pt x="1370" y="66"/>
                  <a:pt x="1368" y="66"/>
                  <a:pt x="1365" y="66"/>
                </a:cubicBezTo>
                <a:cubicBezTo>
                  <a:pt x="1365" y="66"/>
                  <a:pt x="1365" y="66"/>
                  <a:pt x="1365" y="65"/>
                </a:cubicBezTo>
                <a:cubicBezTo>
                  <a:pt x="1364" y="65"/>
                  <a:pt x="1363" y="65"/>
                  <a:pt x="1363" y="65"/>
                </a:cubicBezTo>
                <a:cubicBezTo>
                  <a:pt x="1359" y="64"/>
                  <a:pt x="1355" y="63"/>
                  <a:pt x="1351" y="63"/>
                </a:cubicBezTo>
                <a:cubicBezTo>
                  <a:pt x="1346" y="62"/>
                  <a:pt x="1342" y="62"/>
                  <a:pt x="1338" y="61"/>
                </a:cubicBezTo>
                <a:cubicBezTo>
                  <a:pt x="1334" y="61"/>
                  <a:pt x="1330" y="60"/>
                  <a:pt x="1326" y="59"/>
                </a:cubicBezTo>
                <a:cubicBezTo>
                  <a:pt x="1322" y="59"/>
                  <a:pt x="1318" y="59"/>
                  <a:pt x="1314" y="58"/>
                </a:cubicBezTo>
                <a:cubicBezTo>
                  <a:pt x="1310" y="58"/>
                  <a:pt x="1306" y="57"/>
                  <a:pt x="1302" y="57"/>
                </a:cubicBezTo>
                <a:cubicBezTo>
                  <a:pt x="1300" y="57"/>
                  <a:pt x="1297" y="56"/>
                  <a:pt x="1295" y="56"/>
                </a:cubicBezTo>
                <a:cubicBezTo>
                  <a:pt x="1295" y="56"/>
                  <a:pt x="1296" y="57"/>
                  <a:pt x="1296" y="57"/>
                </a:cubicBezTo>
                <a:cubicBezTo>
                  <a:pt x="1293" y="56"/>
                  <a:pt x="1286" y="59"/>
                  <a:pt x="1286" y="55"/>
                </a:cubicBezTo>
                <a:cubicBezTo>
                  <a:pt x="1283" y="55"/>
                  <a:pt x="1280" y="55"/>
                  <a:pt x="1278" y="55"/>
                </a:cubicBezTo>
                <a:cubicBezTo>
                  <a:pt x="1278" y="55"/>
                  <a:pt x="1278" y="55"/>
                  <a:pt x="1277" y="55"/>
                </a:cubicBezTo>
                <a:cubicBezTo>
                  <a:pt x="1277" y="57"/>
                  <a:pt x="1277" y="57"/>
                  <a:pt x="1277" y="57"/>
                </a:cubicBezTo>
                <a:cubicBezTo>
                  <a:pt x="1276" y="58"/>
                  <a:pt x="1275" y="57"/>
                  <a:pt x="1274" y="57"/>
                </a:cubicBezTo>
                <a:cubicBezTo>
                  <a:pt x="1274" y="56"/>
                  <a:pt x="1274" y="55"/>
                  <a:pt x="1275" y="55"/>
                </a:cubicBezTo>
                <a:cubicBezTo>
                  <a:pt x="1271" y="54"/>
                  <a:pt x="1268" y="54"/>
                  <a:pt x="1266" y="54"/>
                </a:cubicBezTo>
                <a:cubicBezTo>
                  <a:pt x="1260" y="53"/>
                  <a:pt x="1256" y="53"/>
                  <a:pt x="1254" y="52"/>
                </a:cubicBezTo>
                <a:cubicBezTo>
                  <a:pt x="1255" y="49"/>
                  <a:pt x="1256" y="46"/>
                  <a:pt x="1258" y="43"/>
                </a:cubicBezTo>
                <a:cubicBezTo>
                  <a:pt x="1259" y="43"/>
                  <a:pt x="1260" y="43"/>
                  <a:pt x="1261" y="43"/>
                </a:cubicBezTo>
                <a:cubicBezTo>
                  <a:pt x="1261" y="42"/>
                  <a:pt x="1261" y="42"/>
                  <a:pt x="1261" y="42"/>
                </a:cubicBezTo>
                <a:cubicBezTo>
                  <a:pt x="1264" y="42"/>
                  <a:pt x="1271" y="40"/>
                  <a:pt x="1272" y="42"/>
                </a:cubicBezTo>
                <a:cubicBezTo>
                  <a:pt x="1275" y="42"/>
                  <a:pt x="1278" y="42"/>
                  <a:pt x="1281" y="42"/>
                </a:cubicBezTo>
                <a:cubicBezTo>
                  <a:pt x="1285" y="43"/>
                  <a:pt x="1289" y="43"/>
                  <a:pt x="1293" y="43"/>
                </a:cubicBezTo>
                <a:cubicBezTo>
                  <a:pt x="1296" y="44"/>
                  <a:pt x="1300" y="44"/>
                  <a:pt x="1304" y="44"/>
                </a:cubicBezTo>
                <a:cubicBezTo>
                  <a:pt x="1308" y="44"/>
                  <a:pt x="1312" y="44"/>
                  <a:pt x="1316" y="44"/>
                </a:cubicBezTo>
                <a:cubicBezTo>
                  <a:pt x="1320" y="44"/>
                  <a:pt x="1324" y="44"/>
                  <a:pt x="1328" y="44"/>
                </a:cubicBezTo>
                <a:cubicBezTo>
                  <a:pt x="1332" y="45"/>
                  <a:pt x="1336" y="46"/>
                  <a:pt x="1340" y="46"/>
                </a:cubicBezTo>
                <a:cubicBezTo>
                  <a:pt x="1344" y="46"/>
                  <a:pt x="1347" y="46"/>
                  <a:pt x="1351" y="46"/>
                </a:cubicBezTo>
                <a:cubicBezTo>
                  <a:pt x="1355" y="47"/>
                  <a:pt x="1359" y="47"/>
                  <a:pt x="1363" y="47"/>
                </a:cubicBezTo>
                <a:cubicBezTo>
                  <a:pt x="1367" y="47"/>
                  <a:pt x="1371" y="49"/>
                  <a:pt x="1375" y="49"/>
                </a:cubicBezTo>
                <a:cubicBezTo>
                  <a:pt x="1379" y="49"/>
                  <a:pt x="1383" y="49"/>
                  <a:pt x="1387" y="49"/>
                </a:cubicBezTo>
                <a:cubicBezTo>
                  <a:pt x="1391" y="49"/>
                  <a:pt x="1395" y="50"/>
                  <a:pt x="1398" y="50"/>
                </a:cubicBezTo>
                <a:cubicBezTo>
                  <a:pt x="1402" y="50"/>
                  <a:pt x="1406" y="51"/>
                  <a:pt x="1410" y="51"/>
                </a:cubicBezTo>
                <a:cubicBezTo>
                  <a:pt x="1414" y="52"/>
                  <a:pt x="1418" y="52"/>
                  <a:pt x="1422" y="53"/>
                </a:cubicBezTo>
                <a:cubicBezTo>
                  <a:pt x="1427" y="53"/>
                  <a:pt x="1429" y="57"/>
                  <a:pt x="1431" y="56"/>
                </a:cubicBezTo>
                <a:cubicBezTo>
                  <a:pt x="1431" y="56"/>
                  <a:pt x="1431" y="56"/>
                  <a:pt x="1431" y="55"/>
                </a:cubicBezTo>
                <a:cubicBezTo>
                  <a:pt x="1431" y="55"/>
                  <a:pt x="1431" y="54"/>
                  <a:pt x="1432" y="54"/>
                </a:cubicBezTo>
                <a:cubicBezTo>
                  <a:pt x="1429" y="52"/>
                  <a:pt x="1425" y="51"/>
                  <a:pt x="1422" y="50"/>
                </a:cubicBezTo>
                <a:cubicBezTo>
                  <a:pt x="1418" y="49"/>
                  <a:pt x="1415" y="47"/>
                  <a:pt x="1411" y="46"/>
                </a:cubicBezTo>
                <a:cubicBezTo>
                  <a:pt x="1407" y="45"/>
                  <a:pt x="1403" y="43"/>
                  <a:pt x="1399" y="42"/>
                </a:cubicBezTo>
                <a:cubicBezTo>
                  <a:pt x="1395" y="42"/>
                  <a:pt x="1391" y="42"/>
                  <a:pt x="1387" y="41"/>
                </a:cubicBezTo>
                <a:cubicBezTo>
                  <a:pt x="1385" y="40"/>
                  <a:pt x="1382" y="40"/>
                  <a:pt x="1380" y="39"/>
                </a:cubicBezTo>
                <a:cubicBezTo>
                  <a:pt x="1380" y="39"/>
                  <a:pt x="1380" y="39"/>
                  <a:pt x="1380" y="40"/>
                </a:cubicBezTo>
                <a:cubicBezTo>
                  <a:pt x="1377" y="40"/>
                  <a:pt x="1374" y="39"/>
                  <a:pt x="1373" y="37"/>
                </a:cubicBezTo>
                <a:cubicBezTo>
                  <a:pt x="1370" y="37"/>
                  <a:pt x="1367" y="37"/>
                  <a:pt x="1363" y="36"/>
                </a:cubicBezTo>
                <a:cubicBezTo>
                  <a:pt x="1359" y="36"/>
                  <a:pt x="1355" y="34"/>
                  <a:pt x="1351" y="34"/>
                </a:cubicBezTo>
                <a:cubicBezTo>
                  <a:pt x="1347" y="33"/>
                  <a:pt x="1343" y="33"/>
                  <a:pt x="1339" y="32"/>
                </a:cubicBezTo>
                <a:cubicBezTo>
                  <a:pt x="1335" y="32"/>
                  <a:pt x="1331" y="31"/>
                  <a:pt x="1327" y="31"/>
                </a:cubicBezTo>
                <a:cubicBezTo>
                  <a:pt x="1323" y="30"/>
                  <a:pt x="1319" y="30"/>
                  <a:pt x="1315" y="30"/>
                </a:cubicBezTo>
                <a:cubicBezTo>
                  <a:pt x="1311" y="29"/>
                  <a:pt x="1307" y="28"/>
                  <a:pt x="1303" y="28"/>
                </a:cubicBezTo>
                <a:cubicBezTo>
                  <a:pt x="1303" y="27"/>
                  <a:pt x="1302" y="28"/>
                  <a:pt x="1302" y="27"/>
                </a:cubicBezTo>
                <a:cubicBezTo>
                  <a:pt x="1302" y="28"/>
                  <a:pt x="1302" y="28"/>
                  <a:pt x="1302" y="28"/>
                </a:cubicBezTo>
                <a:cubicBezTo>
                  <a:pt x="1300" y="28"/>
                  <a:pt x="1299" y="28"/>
                  <a:pt x="1298" y="27"/>
                </a:cubicBezTo>
                <a:cubicBezTo>
                  <a:pt x="1297" y="27"/>
                  <a:pt x="1296" y="27"/>
                  <a:pt x="1295" y="27"/>
                </a:cubicBezTo>
                <a:cubicBezTo>
                  <a:pt x="1295" y="27"/>
                  <a:pt x="1294" y="28"/>
                  <a:pt x="1294" y="28"/>
                </a:cubicBezTo>
                <a:cubicBezTo>
                  <a:pt x="1294" y="28"/>
                  <a:pt x="1294" y="28"/>
                  <a:pt x="1294" y="27"/>
                </a:cubicBezTo>
                <a:cubicBezTo>
                  <a:pt x="1293" y="27"/>
                  <a:pt x="1292" y="27"/>
                  <a:pt x="1291" y="27"/>
                </a:cubicBezTo>
                <a:cubicBezTo>
                  <a:pt x="1287" y="27"/>
                  <a:pt x="1283" y="26"/>
                  <a:pt x="1279" y="26"/>
                </a:cubicBezTo>
                <a:cubicBezTo>
                  <a:pt x="1282" y="24"/>
                  <a:pt x="1286" y="23"/>
                  <a:pt x="1289" y="22"/>
                </a:cubicBezTo>
                <a:cubicBezTo>
                  <a:pt x="1291" y="21"/>
                  <a:pt x="1293" y="21"/>
                  <a:pt x="1295" y="20"/>
                </a:cubicBezTo>
                <a:cubicBezTo>
                  <a:pt x="1294" y="16"/>
                  <a:pt x="1302" y="12"/>
                  <a:pt x="1304" y="17"/>
                </a:cubicBezTo>
                <a:cubicBezTo>
                  <a:pt x="1304" y="17"/>
                  <a:pt x="1304" y="17"/>
                  <a:pt x="1304" y="18"/>
                </a:cubicBezTo>
                <a:cubicBezTo>
                  <a:pt x="1306" y="17"/>
                  <a:pt x="1308" y="16"/>
                  <a:pt x="1311" y="16"/>
                </a:cubicBezTo>
                <a:cubicBezTo>
                  <a:pt x="1314" y="15"/>
                  <a:pt x="1318" y="15"/>
                  <a:pt x="1321" y="15"/>
                </a:cubicBezTo>
                <a:cubicBezTo>
                  <a:pt x="1325" y="14"/>
                  <a:pt x="1329" y="14"/>
                  <a:pt x="1333" y="13"/>
                </a:cubicBezTo>
                <a:cubicBezTo>
                  <a:pt x="1336" y="13"/>
                  <a:pt x="1340" y="14"/>
                  <a:pt x="1344" y="14"/>
                </a:cubicBezTo>
                <a:cubicBezTo>
                  <a:pt x="1347" y="14"/>
                  <a:pt x="1351" y="13"/>
                  <a:pt x="1354" y="13"/>
                </a:cubicBezTo>
                <a:cubicBezTo>
                  <a:pt x="1358" y="13"/>
                  <a:pt x="1361" y="14"/>
                  <a:pt x="1365" y="14"/>
                </a:cubicBezTo>
                <a:cubicBezTo>
                  <a:pt x="1365" y="14"/>
                  <a:pt x="1365" y="14"/>
                  <a:pt x="1365" y="14"/>
                </a:cubicBezTo>
                <a:cubicBezTo>
                  <a:pt x="1366" y="11"/>
                  <a:pt x="1370" y="11"/>
                  <a:pt x="1372" y="14"/>
                </a:cubicBezTo>
                <a:cubicBezTo>
                  <a:pt x="1372" y="14"/>
                  <a:pt x="1372" y="14"/>
                  <a:pt x="1372" y="15"/>
                </a:cubicBezTo>
                <a:cubicBezTo>
                  <a:pt x="1373" y="15"/>
                  <a:pt x="1374" y="15"/>
                  <a:pt x="1375" y="15"/>
                </a:cubicBezTo>
                <a:cubicBezTo>
                  <a:pt x="1379" y="15"/>
                  <a:pt x="1382" y="16"/>
                  <a:pt x="1386" y="16"/>
                </a:cubicBezTo>
                <a:cubicBezTo>
                  <a:pt x="1390" y="17"/>
                  <a:pt x="1394" y="17"/>
                  <a:pt x="1398" y="18"/>
                </a:cubicBezTo>
                <a:cubicBezTo>
                  <a:pt x="1400" y="18"/>
                  <a:pt x="1403" y="19"/>
                  <a:pt x="1405" y="20"/>
                </a:cubicBezTo>
                <a:cubicBezTo>
                  <a:pt x="1405" y="19"/>
                  <a:pt x="1405" y="18"/>
                  <a:pt x="1405" y="17"/>
                </a:cubicBezTo>
                <a:cubicBezTo>
                  <a:pt x="1407" y="17"/>
                  <a:pt x="1408" y="17"/>
                  <a:pt x="1409" y="17"/>
                </a:cubicBezTo>
                <a:cubicBezTo>
                  <a:pt x="1409" y="18"/>
                  <a:pt x="1409" y="19"/>
                  <a:pt x="1409" y="20"/>
                </a:cubicBezTo>
                <a:cubicBezTo>
                  <a:pt x="1409" y="20"/>
                  <a:pt x="1409" y="20"/>
                  <a:pt x="1409" y="20"/>
                </a:cubicBezTo>
                <a:cubicBezTo>
                  <a:pt x="1409" y="20"/>
                  <a:pt x="1409" y="21"/>
                  <a:pt x="1410" y="21"/>
                </a:cubicBezTo>
                <a:cubicBezTo>
                  <a:pt x="1414" y="21"/>
                  <a:pt x="1418" y="22"/>
                  <a:pt x="1422" y="23"/>
                </a:cubicBezTo>
                <a:cubicBezTo>
                  <a:pt x="1426" y="24"/>
                  <a:pt x="1430" y="25"/>
                  <a:pt x="1434" y="26"/>
                </a:cubicBezTo>
                <a:cubicBezTo>
                  <a:pt x="1438" y="27"/>
                  <a:pt x="1442" y="27"/>
                  <a:pt x="1446" y="29"/>
                </a:cubicBezTo>
                <a:cubicBezTo>
                  <a:pt x="1449" y="30"/>
                  <a:pt x="1453" y="31"/>
                  <a:pt x="1457" y="32"/>
                </a:cubicBezTo>
                <a:cubicBezTo>
                  <a:pt x="1461" y="34"/>
                  <a:pt x="1465" y="35"/>
                  <a:pt x="1469" y="37"/>
                </a:cubicBezTo>
                <a:cubicBezTo>
                  <a:pt x="1472" y="38"/>
                  <a:pt x="1475" y="39"/>
                  <a:pt x="1478" y="40"/>
                </a:cubicBezTo>
                <a:cubicBezTo>
                  <a:pt x="1480" y="39"/>
                  <a:pt x="1481" y="37"/>
                  <a:pt x="1486" y="38"/>
                </a:cubicBezTo>
                <a:cubicBezTo>
                  <a:pt x="1486" y="40"/>
                  <a:pt x="1485" y="41"/>
                  <a:pt x="1485" y="42"/>
                </a:cubicBezTo>
                <a:cubicBezTo>
                  <a:pt x="1486" y="43"/>
                  <a:pt x="1488" y="44"/>
                  <a:pt x="1489" y="44"/>
                </a:cubicBezTo>
                <a:cubicBezTo>
                  <a:pt x="1489" y="44"/>
                  <a:pt x="1489" y="44"/>
                  <a:pt x="1489" y="44"/>
                </a:cubicBezTo>
                <a:cubicBezTo>
                  <a:pt x="1490" y="44"/>
                  <a:pt x="1490" y="44"/>
                  <a:pt x="1490" y="44"/>
                </a:cubicBezTo>
                <a:cubicBezTo>
                  <a:pt x="1490" y="45"/>
                  <a:pt x="1490" y="45"/>
                  <a:pt x="1490" y="45"/>
                </a:cubicBezTo>
                <a:cubicBezTo>
                  <a:pt x="1491" y="45"/>
                  <a:pt x="1491" y="45"/>
                  <a:pt x="1491" y="45"/>
                </a:cubicBezTo>
                <a:cubicBezTo>
                  <a:pt x="1492" y="46"/>
                  <a:pt x="1493" y="46"/>
                  <a:pt x="1494" y="46"/>
                </a:cubicBezTo>
                <a:cubicBezTo>
                  <a:pt x="1493" y="46"/>
                  <a:pt x="1493" y="44"/>
                  <a:pt x="1495" y="43"/>
                </a:cubicBezTo>
                <a:cubicBezTo>
                  <a:pt x="1496" y="45"/>
                  <a:pt x="1496" y="46"/>
                  <a:pt x="1497" y="45"/>
                </a:cubicBezTo>
                <a:cubicBezTo>
                  <a:pt x="1497" y="45"/>
                  <a:pt x="1497" y="45"/>
                  <a:pt x="1497" y="45"/>
                </a:cubicBezTo>
                <a:cubicBezTo>
                  <a:pt x="1497" y="44"/>
                  <a:pt x="1499" y="43"/>
                  <a:pt x="1499" y="45"/>
                </a:cubicBezTo>
                <a:cubicBezTo>
                  <a:pt x="1500" y="45"/>
                  <a:pt x="1501" y="45"/>
                  <a:pt x="1502" y="46"/>
                </a:cubicBezTo>
                <a:cubicBezTo>
                  <a:pt x="1504" y="47"/>
                  <a:pt x="1504" y="49"/>
                  <a:pt x="1504" y="51"/>
                </a:cubicBezTo>
                <a:cubicBezTo>
                  <a:pt x="1505" y="51"/>
                  <a:pt x="1506" y="52"/>
                  <a:pt x="1507" y="52"/>
                </a:cubicBezTo>
                <a:cubicBezTo>
                  <a:pt x="1507" y="51"/>
                  <a:pt x="1508" y="51"/>
                  <a:pt x="1509" y="51"/>
                </a:cubicBezTo>
                <a:cubicBezTo>
                  <a:pt x="1510" y="52"/>
                  <a:pt x="1511" y="53"/>
                  <a:pt x="1511" y="54"/>
                </a:cubicBezTo>
                <a:cubicBezTo>
                  <a:pt x="1512" y="55"/>
                  <a:pt x="1513" y="55"/>
                  <a:pt x="1514" y="56"/>
                </a:cubicBezTo>
                <a:cubicBezTo>
                  <a:pt x="1517" y="57"/>
                  <a:pt x="1520" y="59"/>
                  <a:pt x="1524" y="61"/>
                </a:cubicBezTo>
                <a:cubicBezTo>
                  <a:pt x="1525" y="62"/>
                  <a:pt x="1527" y="62"/>
                  <a:pt x="1528" y="63"/>
                </a:cubicBezTo>
                <a:cubicBezTo>
                  <a:pt x="1528" y="62"/>
                  <a:pt x="1528" y="60"/>
                  <a:pt x="1528" y="59"/>
                </a:cubicBezTo>
                <a:cubicBezTo>
                  <a:pt x="1529" y="59"/>
                  <a:pt x="1531" y="59"/>
                  <a:pt x="1532" y="59"/>
                </a:cubicBezTo>
                <a:cubicBezTo>
                  <a:pt x="1532" y="61"/>
                  <a:pt x="1535" y="62"/>
                  <a:pt x="1532" y="63"/>
                </a:cubicBezTo>
                <a:cubicBezTo>
                  <a:pt x="1532" y="61"/>
                  <a:pt x="1532" y="60"/>
                  <a:pt x="1530" y="61"/>
                </a:cubicBezTo>
                <a:cubicBezTo>
                  <a:pt x="1530" y="62"/>
                  <a:pt x="1530" y="63"/>
                  <a:pt x="1529" y="64"/>
                </a:cubicBezTo>
                <a:cubicBezTo>
                  <a:pt x="1531" y="64"/>
                  <a:pt x="1533" y="65"/>
                  <a:pt x="1534" y="66"/>
                </a:cubicBezTo>
                <a:cubicBezTo>
                  <a:pt x="1535" y="66"/>
                  <a:pt x="1535" y="67"/>
                  <a:pt x="1536" y="67"/>
                </a:cubicBezTo>
                <a:cubicBezTo>
                  <a:pt x="1536" y="67"/>
                  <a:pt x="1536" y="67"/>
                  <a:pt x="1536" y="66"/>
                </a:cubicBezTo>
                <a:cubicBezTo>
                  <a:pt x="1538" y="64"/>
                  <a:pt x="1544" y="65"/>
                  <a:pt x="1543" y="66"/>
                </a:cubicBezTo>
                <a:cubicBezTo>
                  <a:pt x="1542" y="68"/>
                  <a:pt x="1541" y="69"/>
                  <a:pt x="1541" y="70"/>
                </a:cubicBezTo>
                <a:cubicBezTo>
                  <a:pt x="1542" y="70"/>
                  <a:pt x="1543" y="71"/>
                  <a:pt x="1544" y="72"/>
                </a:cubicBezTo>
                <a:cubicBezTo>
                  <a:pt x="1547" y="74"/>
                  <a:pt x="1551" y="75"/>
                  <a:pt x="1554" y="77"/>
                </a:cubicBezTo>
                <a:cubicBezTo>
                  <a:pt x="1557" y="79"/>
                  <a:pt x="1561" y="81"/>
                  <a:pt x="1564" y="83"/>
                </a:cubicBezTo>
                <a:cubicBezTo>
                  <a:pt x="1565" y="84"/>
                  <a:pt x="1566" y="84"/>
                  <a:pt x="1567" y="85"/>
                </a:cubicBezTo>
                <a:cubicBezTo>
                  <a:pt x="1568" y="78"/>
                  <a:pt x="1576" y="80"/>
                  <a:pt x="1578" y="86"/>
                </a:cubicBezTo>
                <a:cubicBezTo>
                  <a:pt x="1577" y="88"/>
                  <a:pt x="1576" y="89"/>
                  <a:pt x="1575" y="90"/>
                </a:cubicBezTo>
                <a:cubicBezTo>
                  <a:pt x="1577" y="92"/>
                  <a:pt x="1580" y="94"/>
                  <a:pt x="1583" y="97"/>
                </a:cubicBezTo>
                <a:cubicBezTo>
                  <a:pt x="1584" y="98"/>
                  <a:pt x="1586" y="99"/>
                  <a:pt x="1587" y="101"/>
                </a:cubicBezTo>
                <a:cubicBezTo>
                  <a:pt x="1587" y="100"/>
                  <a:pt x="1588" y="99"/>
                  <a:pt x="1588" y="97"/>
                </a:cubicBezTo>
                <a:cubicBezTo>
                  <a:pt x="1593" y="96"/>
                  <a:pt x="1595" y="102"/>
                  <a:pt x="1591" y="104"/>
                </a:cubicBezTo>
                <a:cubicBezTo>
                  <a:pt x="1591" y="104"/>
                  <a:pt x="1591" y="104"/>
                  <a:pt x="1591" y="105"/>
                </a:cubicBezTo>
                <a:cubicBezTo>
                  <a:pt x="1594" y="107"/>
                  <a:pt x="1596" y="111"/>
                  <a:pt x="1599" y="113"/>
                </a:cubicBezTo>
                <a:cubicBezTo>
                  <a:pt x="1601" y="116"/>
                  <a:pt x="1604" y="119"/>
                  <a:pt x="1606" y="122"/>
                </a:cubicBezTo>
                <a:cubicBezTo>
                  <a:pt x="1607" y="123"/>
                  <a:pt x="1608" y="125"/>
                  <a:pt x="1609" y="126"/>
                </a:cubicBezTo>
                <a:cubicBezTo>
                  <a:pt x="1612" y="126"/>
                  <a:pt x="1613" y="124"/>
                  <a:pt x="1616" y="124"/>
                </a:cubicBezTo>
                <a:cubicBezTo>
                  <a:pt x="1618" y="128"/>
                  <a:pt x="1619" y="130"/>
                  <a:pt x="1616" y="136"/>
                </a:cubicBezTo>
                <a:cubicBezTo>
                  <a:pt x="1616" y="135"/>
                  <a:pt x="1615" y="135"/>
                  <a:pt x="1614" y="135"/>
                </a:cubicBezTo>
                <a:cubicBezTo>
                  <a:pt x="1616" y="137"/>
                  <a:pt x="1617" y="139"/>
                  <a:pt x="1618" y="142"/>
                </a:cubicBezTo>
                <a:cubicBezTo>
                  <a:pt x="1618" y="143"/>
                  <a:pt x="1618" y="144"/>
                  <a:pt x="1619" y="144"/>
                </a:cubicBezTo>
                <a:cubicBezTo>
                  <a:pt x="1620" y="141"/>
                  <a:pt x="1628" y="142"/>
                  <a:pt x="1625" y="148"/>
                </a:cubicBezTo>
                <a:close/>
                <a:moveTo>
                  <a:pt x="1295" y="40"/>
                </a:moveTo>
                <a:cubicBezTo>
                  <a:pt x="1294" y="41"/>
                  <a:pt x="1293" y="41"/>
                  <a:pt x="1292" y="40"/>
                </a:cubicBezTo>
                <a:cubicBezTo>
                  <a:pt x="1291" y="37"/>
                  <a:pt x="1296" y="37"/>
                  <a:pt x="1295" y="40"/>
                </a:cubicBezTo>
                <a:close/>
                <a:moveTo>
                  <a:pt x="1387" y="42"/>
                </a:moveTo>
                <a:cubicBezTo>
                  <a:pt x="1388" y="41"/>
                  <a:pt x="1388" y="42"/>
                  <a:pt x="1389" y="42"/>
                </a:cubicBezTo>
                <a:cubicBezTo>
                  <a:pt x="1389" y="44"/>
                  <a:pt x="1387" y="44"/>
                  <a:pt x="1387" y="4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sp>
        <p:nvSpPr>
          <p:cNvPr id="22" name="文本框 21">
            <a:extLst>
              <a:ext uri="{FF2B5EF4-FFF2-40B4-BE49-F238E27FC236}">
                <a16:creationId xmlns:a16="http://schemas.microsoft.com/office/drawing/2014/main" id="{FE4052CE-3036-4589-976D-B7103170A522}"/>
              </a:ext>
            </a:extLst>
          </p:cNvPr>
          <p:cNvSpPr txBox="1"/>
          <p:nvPr/>
        </p:nvSpPr>
        <p:spPr>
          <a:xfrm>
            <a:off x="1524000" y="411461"/>
            <a:ext cx="4464049" cy="707886"/>
          </a:xfrm>
          <a:prstGeom prst="rect">
            <a:avLst/>
          </a:prstGeom>
          <a:noFill/>
        </p:spPr>
        <p:txBody>
          <a:bodyPr wrap="square">
            <a:spAutoFit/>
          </a:bodyPr>
          <a:lstStyle/>
          <a:p>
            <a:r>
              <a:rPr kumimoji="0" lang="en-US" altLang="zh-CN" sz="4000" kern="1200" cap="none" spc="0" normalizeH="0" baseline="0" noProof="1">
                <a:solidFill>
                  <a:srgbClr val="FF0000"/>
                </a:solidFill>
                <a:latin typeface="华文新魏" panose="02010800040101010101" pitchFamily="2" charset="-122"/>
                <a:ea typeface="华文新魏" panose="02010800040101010101" pitchFamily="2" charset="-122"/>
                <a:cs typeface="+mn-cs"/>
              </a:rPr>
              <a:t> 2.</a:t>
            </a:r>
            <a:r>
              <a:rPr kumimoji="0" lang="zh-CN" altLang="en-US" sz="4000" kern="1200" cap="none" spc="0" normalizeH="0" baseline="0" noProof="1">
                <a:solidFill>
                  <a:srgbClr val="FF0000"/>
                </a:solidFill>
                <a:latin typeface="华文新魏" panose="02010800040101010101" pitchFamily="2" charset="-122"/>
                <a:ea typeface="华文新魏" panose="02010800040101010101" pitchFamily="2" charset="-122"/>
                <a:cs typeface="+mn-cs"/>
              </a:rPr>
              <a:t>劳斯判据的应用</a:t>
            </a:r>
            <a:endParaRPr lang="zh-CN" altLang="en-US" dirty="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3538">
                                            <p:txEl>
                                              <p:pRg st="0" end="0"/>
                                            </p:txEl>
                                          </p:spTgt>
                                        </p:tgtEl>
                                        <p:attrNameLst>
                                          <p:attrName>style.visibility</p:attrName>
                                        </p:attrNameLst>
                                      </p:cBhvr>
                                      <p:to>
                                        <p:strVal val="visible"/>
                                      </p:to>
                                    </p:set>
                                    <p:animEffect transition="in" filter="dissolve">
                                      <p:cBhvr>
                                        <p:cTn id="7" dur="500"/>
                                        <p:tgtEl>
                                          <p:spTgt spid="14735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3538">
                                            <p:txEl>
                                              <p:pRg st="1" end="1"/>
                                            </p:txEl>
                                          </p:spTgt>
                                        </p:tgtEl>
                                        <p:attrNameLst>
                                          <p:attrName>style.visibility</p:attrName>
                                        </p:attrNameLst>
                                      </p:cBhvr>
                                      <p:to>
                                        <p:strVal val="visible"/>
                                      </p:to>
                                    </p:set>
                                    <p:animEffect transition="in" filter="dissolve">
                                      <p:cBhvr>
                                        <p:cTn id="12" dur="500"/>
                                        <p:tgtEl>
                                          <p:spTgt spid="14735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73538">
                                            <p:txEl>
                                              <p:pRg st="2" end="2"/>
                                            </p:txEl>
                                          </p:spTgt>
                                        </p:tgtEl>
                                        <p:attrNameLst>
                                          <p:attrName>style.visibility</p:attrName>
                                        </p:attrNameLst>
                                      </p:cBhvr>
                                      <p:to>
                                        <p:strVal val="visible"/>
                                      </p:to>
                                    </p:set>
                                    <p:animEffect transition="in" filter="dissolve">
                                      <p:cBhvr>
                                        <p:cTn id="17" dur="500"/>
                                        <p:tgtEl>
                                          <p:spTgt spid="14735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73543"/>
                                        </p:tgtEl>
                                        <p:attrNameLst>
                                          <p:attrName>style.visibility</p:attrName>
                                        </p:attrNameLst>
                                      </p:cBhvr>
                                      <p:to>
                                        <p:strVal val="visible"/>
                                      </p:to>
                                    </p:set>
                                    <p:animEffect transition="in" filter="dissolve">
                                      <p:cBhvr>
                                        <p:cTn id="22" dur="500"/>
                                        <p:tgtEl>
                                          <p:spTgt spid="1473543"/>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473542"/>
                                        </p:tgtEl>
                                        <p:attrNameLst>
                                          <p:attrName>style.visibility</p:attrName>
                                        </p:attrNameLst>
                                      </p:cBhvr>
                                      <p:to>
                                        <p:strVal val="visible"/>
                                      </p:to>
                                    </p:set>
                                    <p:animEffect transition="in" filter="dissolve">
                                      <p:cBhvr>
                                        <p:cTn id="26" dur="500"/>
                                        <p:tgtEl>
                                          <p:spTgt spid="147354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iterate type="wd">
                                    <p:tmPct val="100000"/>
                                  </p:iterate>
                                  <p:childTnLst>
                                    <p:set>
                                      <p:cBhvr>
                                        <p:cTn id="30" dur="1" fill="hold">
                                          <p:stCondLst>
                                            <p:cond delay="0"/>
                                          </p:stCondLst>
                                        </p:cTn>
                                        <p:tgtEl>
                                          <p:spTgt spid="1473544">
                                            <p:txEl>
                                              <p:pRg st="0" end="0"/>
                                            </p:txEl>
                                          </p:spTgt>
                                        </p:tgtEl>
                                        <p:attrNameLst>
                                          <p:attrName>style.visibility</p:attrName>
                                        </p:attrNameLst>
                                      </p:cBhvr>
                                      <p:to>
                                        <p:strVal val="visible"/>
                                      </p:to>
                                    </p:set>
                                    <p:animEffect transition="in" filter="dissolve">
                                      <p:cBhvr>
                                        <p:cTn id="31" dur="300"/>
                                        <p:tgtEl>
                                          <p:spTgt spid="147354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wd">
                                    <p:tmPct val="100000"/>
                                  </p:iterate>
                                  <p:childTnLst>
                                    <p:set>
                                      <p:cBhvr>
                                        <p:cTn id="35" dur="1" fill="hold">
                                          <p:stCondLst>
                                            <p:cond delay="0"/>
                                          </p:stCondLst>
                                        </p:cTn>
                                        <p:tgtEl>
                                          <p:spTgt spid="1473544">
                                            <p:txEl>
                                              <p:pRg st="1" end="1"/>
                                            </p:txEl>
                                          </p:spTgt>
                                        </p:tgtEl>
                                        <p:attrNameLst>
                                          <p:attrName>style.visibility</p:attrName>
                                        </p:attrNameLst>
                                      </p:cBhvr>
                                      <p:to>
                                        <p:strVal val="visible"/>
                                      </p:to>
                                    </p:set>
                                    <p:animEffect transition="in" filter="dissolve">
                                      <p:cBhvr>
                                        <p:cTn id="36" dur="300"/>
                                        <p:tgtEl>
                                          <p:spTgt spid="147354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473545"/>
                                        </p:tgtEl>
                                        <p:attrNameLst>
                                          <p:attrName>style.visibility</p:attrName>
                                        </p:attrNameLst>
                                      </p:cBhvr>
                                      <p:to>
                                        <p:strVal val="visible"/>
                                      </p:to>
                                    </p:set>
                                    <p:animEffect transition="in" filter="dissolve">
                                      <p:cBhvr>
                                        <p:cTn id="41" dur="500"/>
                                        <p:tgtEl>
                                          <p:spTgt spid="1473545"/>
                                        </p:tgtEl>
                                      </p:cBhvr>
                                    </p:animEffect>
                                  </p:childTnLst>
                                  <p:subTnLst>
                                    <p:set>
                                      <p:cBhvr override="childStyle">
                                        <p:cTn dur="1" fill="hold" display="0" masterRel="nextClick" afterEffect="1"/>
                                        <p:tgtEl>
                                          <p:spTgt spid="1473545"/>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473552"/>
                                        </p:tgtEl>
                                        <p:attrNameLst>
                                          <p:attrName>style.visibility</p:attrName>
                                        </p:attrNameLst>
                                      </p:cBhvr>
                                      <p:to>
                                        <p:strVal val="visible"/>
                                      </p:to>
                                    </p:set>
                                    <p:animEffect transition="in" filter="dissolve">
                                      <p:cBhvr>
                                        <p:cTn id="46" dur="500"/>
                                        <p:tgtEl>
                                          <p:spTgt spid="1473552"/>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473549"/>
                                        </p:tgtEl>
                                        <p:attrNameLst>
                                          <p:attrName>style.visibility</p:attrName>
                                        </p:attrNameLst>
                                      </p:cBhvr>
                                      <p:to>
                                        <p:strVal val="visible"/>
                                      </p:to>
                                    </p:set>
                                    <p:animEffect transition="in" filter="dissolve">
                                      <p:cBhvr>
                                        <p:cTn id="51" dur="500"/>
                                        <p:tgtEl>
                                          <p:spTgt spid="1473549"/>
                                        </p:tgtEl>
                                      </p:cBhvr>
                                    </p:animEffect>
                                  </p:childTnLst>
                                  <p:subTnLst>
                                    <p:set>
                                      <p:cBhvr override="childStyle">
                                        <p:cTn dur="1" fill="hold" display="0" masterRel="nextClick" afterEffect="1"/>
                                        <p:tgtEl>
                                          <p:spTgt spid="1473549"/>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473553"/>
                                        </p:tgtEl>
                                        <p:attrNameLst>
                                          <p:attrName>style.visibility</p:attrName>
                                        </p:attrNameLst>
                                      </p:cBhvr>
                                      <p:to>
                                        <p:strVal val="visible"/>
                                      </p:to>
                                    </p:set>
                                    <p:animEffect transition="in" filter="dissolve">
                                      <p:cBhvr>
                                        <p:cTn id="56" dur="500"/>
                                        <p:tgtEl>
                                          <p:spTgt spid="1473553"/>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473548">
                                            <p:txEl>
                                              <p:pRg st="0" end="0"/>
                                            </p:txEl>
                                          </p:spTgt>
                                        </p:tgtEl>
                                        <p:attrNameLst>
                                          <p:attrName>style.visibility</p:attrName>
                                        </p:attrNameLst>
                                      </p:cBhvr>
                                      <p:to>
                                        <p:strVal val="visible"/>
                                      </p:to>
                                    </p:set>
                                    <p:animEffect transition="in" filter="dissolve">
                                      <p:cBhvr>
                                        <p:cTn id="61" dur="500"/>
                                        <p:tgtEl>
                                          <p:spTgt spid="1473548">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1473554"/>
                                        </p:tgtEl>
                                        <p:attrNameLst>
                                          <p:attrName>style.visibility</p:attrName>
                                        </p:attrNameLst>
                                      </p:cBhvr>
                                      <p:to>
                                        <p:strVal val="visible"/>
                                      </p:to>
                                    </p:set>
                                    <p:animEffect transition="in" filter="dissolve">
                                      <p:cBhvr>
                                        <p:cTn id="66" dur="500"/>
                                        <p:tgtEl>
                                          <p:spTgt spid="1473554"/>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473541"/>
                                        </p:tgtEl>
                                        <p:attrNameLst>
                                          <p:attrName>style.visibility</p:attrName>
                                        </p:attrNameLst>
                                      </p:cBhvr>
                                      <p:to>
                                        <p:strVal val="visible"/>
                                      </p:to>
                                    </p:set>
                                    <p:animEffect transition="in" filter="dissolve">
                                      <p:cBhvr>
                                        <p:cTn id="71" dur="500"/>
                                        <p:tgtEl>
                                          <p:spTgt spid="1473541"/>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473540"/>
                                        </p:tgtEl>
                                        <p:attrNameLst>
                                          <p:attrName>style.visibility</p:attrName>
                                        </p:attrNameLst>
                                      </p:cBhvr>
                                      <p:to>
                                        <p:strVal val="visible"/>
                                      </p:to>
                                    </p:set>
                                    <p:animEffect transition="in" filter="dissolve">
                                      <p:cBhvr>
                                        <p:cTn id="76" dur="500"/>
                                        <p:tgtEl>
                                          <p:spTgt spid="1473540"/>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1473539"/>
                                        </p:tgtEl>
                                        <p:attrNameLst>
                                          <p:attrName>style.visibility</p:attrName>
                                        </p:attrNameLst>
                                      </p:cBhvr>
                                      <p:to>
                                        <p:strVal val="visible"/>
                                      </p:to>
                                    </p:set>
                                    <p:animEffect transition="in" filter="dissolve">
                                      <p:cBhvr>
                                        <p:cTn id="81" dur="500"/>
                                        <p:tgtEl>
                                          <p:spTgt spid="1473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3538" grpId="0" build="p"/>
      <p:bldP spid="1473539" grpId="0"/>
      <p:bldP spid="1473543" grpId="0"/>
      <p:bldP spid="1473544" grpId="0" build="p"/>
      <p:bldP spid="1473548" grpId="0" build="p"/>
      <p:bldP spid="1473552" grpId="0"/>
      <p:bldP spid="1473553" grpId="0"/>
      <p:bldP spid="14735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125D119-D8CC-4B94-8177-08B08E7F7320}"/>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4562" name="文本框 1474561"/>
          <p:cNvSpPr txBox="1"/>
          <p:nvPr/>
        </p:nvSpPr>
        <p:spPr>
          <a:xfrm>
            <a:off x="1180900" y="-64293"/>
            <a:ext cx="8129588" cy="2143125"/>
          </a:xfrm>
          <a:prstGeom prst="rect">
            <a:avLst/>
          </a:prstGeom>
          <a:noFill/>
          <a:ln w="9525">
            <a:noFill/>
          </a:ln>
        </p:spPr>
        <p:txBody>
          <a:bodyPr>
            <a:spAutoFit/>
          </a:bodyPr>
          <a:lstStyle/>
          <a:p>
            <a:pPr>
              <a:lnSpc>
                <a:spcPct val="120000"/>
              </a:lnSpc>
              <a:spcBef>
                <a:spcPct val="0"/>
              </a:spcBef>
            </a:pPr>
            <a:r>
              <a:rPr lang="zh-CN" altLang="en-US" sz="2800" dirty="0">
                <a:solidFill>
                  <a:schemeClr val="tx1"/>
                </a:solidFill>
                <a:latin typeface="Arial" panose="020B0604020202020204" pitchFamily="34" charset="0"/>
              </a:rPr>
              <a:t>例</a:t>
            </a:r>
            <a:r>
              <a:rPr lang="en-US" altLang="zh-CN" sz="2800" dirty="0">
                <a:solidFill>
                  <a:schemeClr val="tx1"/>
                </a:solidFill>
                <a:latin typeface="Times New Roman" panose="02020603050405020304" pitchFamily="18" charset="0"/>
              </a:rPr>
              <a:t>3-4  </a:t>
            </a:r>
            <a:r>
              <a:rPr lang="zh-CN" altLang="en-US" sz="2800" dirty="0">
                <a:solidFill>
                  <a:schemeClr val="tx1"/>
                </a:solidFill>
                <a:latin typeface="Arial" panose="020B0604020202020204" pitchFamily="34" charset="0"/>
              </a:rPr>
              <a:t>系统的特征方程为</a:t>
            </a:r>
          </a:p>
          <a:p>
            <a:pPr>
              <a:lnSpc>
                <a:spcPct val="120000"/>
              </a:lnSpc>
              <a:spcBef>
                <a:spcPct val="0"/>
              </a:spcBef>
            </a:pPr>
            <a:r>
              <a:rPr lang="zh-CN" altLang="en-US" sz="2800" i="1"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D</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rPr>
              <a:t>3</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+ 2 = 0</a:t>
            </a:r>
          </a:p>
          <a:p>
            <a:pPr>
              <a:lnSpc>
                <a:spcPct val="120000"/>
              </a:lnSpc>
              <a:spcBef>
                <a:spcPct val="0"/>
              </a:spcBef>
            </a:pPr>
            <a:r>
              <a:rPr lang="zh-CN" altLang="en-US" sz="2800" dirty="0">
                <a:solidFill>
                  <a:schemeClr val="tx1"/>
                </a:solidFill>
                <a:latin typeface="Arial" panose="020B0604020202020204" pitchFamily="34" charset="0"/>
              </a:rPr>
              <a:t>试用劳斯判据确定正实数根的个数。</a:t>
            </a:r>
          </a:p>
          <a:p>
            <a:pPr>
              <a:lnSpc>
                <a:spcPct val="120000"/>
              </a:lnSpc>
              <a:spcBef>
                <a:spcPct val="0"/>
              </a:spcBef>
            </a:pPr>
            <a:r>
              <a:rPr lang="zh-CN" altLang="en-US" sz="2800" dirty="0">
                <a:solidFill>
                  <a:schemeClr val="tx1"/>
                </a:solidFill>
                <a:latin typeface="Arial" panose="020B0604020202020204" pitchFamily="34" charset="0"/>
              </a:rPr>
              <a:t>解：系统的劳斯表为</a:t>
            </a:r>
          </a:p>
        </p:txBody>
      </p:sp>
      <p:sp>
        <p:nvSpPr>
          <p:cNvPr id="1474563" name="文本框 1474562"/>
          <p:cNvSpPr txBox="1"/>
          <p:nvPr/>
        </p:nvSpPr>
        <p:spPr>
          <a:xfrm>
            <a:off x="4171950" y="2241550"/>
            <a:ext cx="4972050" cy="2143125"/>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黑体" panose="02010609060101010101" pitchFamily="49" charset="-122"/>
                <a:cs typeface="+mn-cs"/>
              </a:rPr>
              <a:t>第一种特殊情况</a:t>
            </a:r>
            <a:r>
              <a:rPr kumimoji="0" lang="zh-CN" altLang="en-US" sz="2800" b="0" kern="1200" cap="none" spc="0" normalizeH="0" baseline="0" noProof="1">
                <a:solidFill>
                  <a:schemeClr val="tx1"/>
                </a:solidFill>
                <a:latin typeface="Arial" panose="020B0604020202020204" pitchFamily="34" charset="0"/>
                <a:ea typeface="宋体" panose="02010600030101010101" pitchFamily="2" charset="-122"/>
                <a:cs typeface="+mn-cs"/>
              </a:rPr>
              <a:t>：</a:t>
            </a:r>
            <a:r>
              <a:rPr kumimoji="0" lang="zh-CN" altLang="en-US" sz="2800" kern="1200" cap="none" spc="0" normalizeH="0" baseline="0" noProof="1">
                <a:solidFill>
                  <a:schemeClr val="tx1"/>
                </a:solidFill>
                <a:latin typeface="楷体_GB2312" pitchFamily="49" charset="-122"/>
                <a:ea typeface="楷体_GB2312" pitchFamily="49" charset="-122"/>
                <a:cs typeface="+mn-cs"/>
              </a:rPr>
              <a:t>劳斯表中某行的第一列元素为零，而其余各项不为零，或不全为零。对此情况，可作如下处理：</a:t>
            </a:r>
          </a:p>
        </p:txBody>
      </p:sp>
      <p:sp>
        <p:nvSpPr>
          <p:cNvPr id="1474564" name="文本框 1474563"/>
          <p:cNvSpPr txBox="1"/>
          <p:nvPr/>
        </p:nvSpPr>
        <p:spPr>
          <a:xfrm>
            <a:off x="538163" y="2227263"/>
            <a:ext cx="669925" cy="244316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endParaRPr lang="en-US" altLang="zh-CN" sz="2400" b="0" dirty="0">
              <a:solidFill>
                <a:schemeClr val="tx1"/>
              </a:solidFill>
              <a:latin typeface="Times New Roman" panose="02020603050405020304" pitchFamily="18" charset="0"/>
            </a:endParaRPr>
          </a:p>
        </p:txBody>
      </p:sp>
      <p:sp>
        <p:nvSpPr>
          <p:cNvPr id="1474565" name="文本框 1474564"/>
          <p:cNvSpPr txBox="1"/>
          <p:nvPr/>
        </p:nvSpPr>
        <p:spPr>
          <a:xfrm>
            <a:off x="1574800" y="2228850"/>
            <a:ext cx="1990725" cy="180181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1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3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0         2</a:t>
            </a:r>
          </a:p>
          <a:p>
            <a:r>
              <a:rPr lang="en-US" altLang="zh-CN" sz="2800" dirty="0">
                <a:solidFill>
                  <a:schemeClr val="tx1"/>
                </a:solidFill>
                <a:latin typeface="Times New Roman" panose="02020603050405020304" pitchFamily="18" charset="0"/>
              </a:rPr>
              <a:t>∞</a:t>
            </a:r>
          </a:p>
        </p:txBody>
      </p:sp>
      <p:sp>
        <p:nvSpPr>
          <p:cNvPr id="1474566" name="直接连接符 1474565"/>
          <p:cNvSpPr/>
          <p:nvPr/>
        </p:nvSpPr>
        <p:spPr>
          <a:xfrm>
            <a:off x="1168400" y="2268538"/>
            <a:ext cx="0" cy="2336800"/>
          </a:xfrm>
          <a:prstGeom prst="line">
            <a:avLst/>
          </a:prstGeom>
          <a:ln w="38100" cap="sq" cmpd="sng">
            <a:solidFill>
              <a:schemeClr val="tx1"/>
            </a:solidFill>
            <a:prstDash val="solid"/>
            <a:headEnd type="none" w="med" len="med"/>
            <a:tailEnd type="none" w="med" len="med"/>
          </a:ln>
        </p:spPr>
      </p:sp>
      <p:grpSp>
        <p:nvGrpSpPr>
          <p:cNvPr id="2" name="组合 1">
            <a:extLst>
              <a:ext uri="{FF2B5EF4-FFF2-40B4-BE49-F238E27FC236}">
                <a16:creationId xmlns:a16="http://schemas.microsoft.com/office/drawing/2014/main" id="{25ECE768-1E69-4585-AAC0-812A2659B8BC}"/>
              </a:ext>
            </a:extLst>
          </p:cNvPr>
          <p:cNvGrpSpPr/>
          <p:nvPr/>
        </p:nvGrpSpPr>
        <p:grpSpPr>
          <a:xfrm>
            <a:off x="0" y="4667250"/>
            <a:ext cx="9144001" cy="2190749"/>
            <a:chOff x="0" y="4667250"/>
            <a:chExt cx="9144001" cy="2190749"/>
          </a:xfrm>
        </p:grpSpPr>
        <p:sp>
          <p:nvSpPr>
            <p:cNvPr id="1474567" name="文本框 1474566"/>
            <p:cNvSpPr txBox="1"/>
            <p:nvPr/>
          </p:nvSpPr>
          <p:spPr>
            <a:xfrm>
              <a:off x="0" y="4667250"/>
              <a:ext cx="9144000" cy="1971675"/>
            </a:xfrm>
            <a:prstGeom prst="rect">
              <a:avLst/>
            </a:prstGeom>
            <a:noFill/>
            <a:ln w="9525">
              <a:noFill/>
            </a:ln>
          </p:spPr>
          <p:txBody>
            <a:bodyPr>
              <a:spAutoFit/>
            </a:bodyPr>
            <a:lstStyle/>
            <a:p>
              <a:pPr>
                <a:lnSpc>
                  <a:spcPct val="110000"/>
                </a:lnSpc>
                <a:spcBef>
                  <a:spcPct val="0"/>
                </a:spcBef>
              </a:pPr>
              <a:r>
                <a:rPr lang="en-US" altLang="zh-CN" sz="2800" dirty="0">
                  <a:solidFill>
                    <a:schemeClr val="tx1"/>
                  </a:solidFill>
                  <a:latin typeface="楷体_GB2312" pitchFamily="49" charset="-122"/>
                  <a:ea typeface="楷体_GB2312" pitchFamily="49" charset="-122"/>
                </a:rPr>
                <a:t>①</a:t>
              </a:r>
              <a:r>
                <a:rPr lang="zh-CN" altLang="en-US" sz="2800" dirty="0">
                  <a:solidFill>
                    <a:schemeClr val="tx1"/>
                  </a:solidFill>
                  <a:latin typeface="楷体_GB2312" pitchFamily="49" charset="-122"/>
                  <a:ea typeface="楷体_GB2312" pitchFamily="49" charset="-122"/>
                </a:rPr>
                <a:t>用一个很小的正数</a:t>
              </a:r>
              <a:r>
                <a:rPr lang="en-US" altLang="zh-CN" sz="2800" i="1" dirty="0">
                  <a:solidFill>
                    <a:schemeClr val="tx1"/>
                  </a:solidFill>
                  <a:latin typeface="Times New Roman" panose="02020603050405020304" pitchFamily="18" charset="0"/>
                </a:rPr>
                <a:t>ε </a:t>
              </a:r>
              <a:r>
                <a:rPr lang="zh-CN" altLang="en-US" sz="2800" dirty="0">
                  <a:solidFill>
                    <a:schemeClr val="tx1"/>
                  </a:solidFill>
                  <a:latin typeface="楷体_GB2312" pitchFamily="49" charset="-122"/>
                  <a:ea typeface="楷体_GB2312" pitchFamily="49" charset="-122"/>
                </a:rPr>
                <a:t>来代替第一列为零的项，从而使劳斯表继续下去。</a:t>
              </a:r>
            </a:p>
            <a:p>
              <a:pPr>
                <a:lnSpc>
                  <a:spcPct val="110000"/>
                </a:lnSpc>
                <a:spcBef>
                  <a:spcPct val="0"/>
                </a:spcBef>
              </a:pPr>
              <a:r>
                <a:rPr lang="en-US" altLang="zh-CN" sz="2800" dirty="0">
                  <a:solidFill>
                    <a:schemeClr val="tx1"/>
                  </a:solidFill>
                  <a:latin typeface="楷体_GB2312" pitchFamily="49" charset="-122"/>
                  <a:ea typeface="楷体_GB2312" pitchFamily="49" charset="-122"/>
                </a:rPr>
                <a:t>②</a:t>
              </a:r>
              <a:r>
                <a:rPr lang="zh-CN" altLang="en-US" sz="2800" dirty="0">
                  <a:solidFill>
                    <a:schemeClr val="tx1"/>
                  </a:solidFill>
                  <a:latin typeface="楷体_GB2312" pitchFamily="49" charset="-122"/>
                  <a:ea typeface="楷体_GB2312" pitchFamily="49" charset="-122"/>
                </a:rPr>
                <a:t>可用因子</a:t>
              </a:r>
              <a:r>
                <a:rPr lang="zh-CN" altLang="en-US" sz="2800" dirty="0">
                  <a:solidFill>
                    <a:schemeClr val="tx1"/>
                  </a:solidFill>
                  <a:latin typeface="Times New Roman" panose="02020603050405020304" pitchFamily="18" charset="0"/>
                  <a:ea typeface="楷体_GB2312" pitchFamily="49" charset="-122"/>
                </a:rPr>
                <a:t>（</a:t>
              </a:r>
              <a:r>
                <a:rPr lang="en-US" altLang="zh-CN" sz="2800" i="1" dirty="0">
                  <a:solidFill>
                    <a:schemeClr val="tx1"/>
                  </a:solidFill>
                  <a:latin typeface="Times New Roman" panose="02020603050405020304" pitchFamily="18" charset="0"/>
                  <a:ea typeface="楷体_GB2312" pitchFamily="49" charset="-122"/>
                </a:rPr>
                <a:t>s</a:t>
              </a:r>
              <a:r>
                <a:rPr lang="en-US" altLang="zh-CN" sz="2800" dirty="0">
                  <a:solidFill>
                    <a:schemeClr val="tx1"/>
                  </a:solidFill>
                  <a:latin typeface="Times New Roman" panose="02020603050405020304" pitchFamily="18" charset="0"/>
                  <a:ea typeface="楷体_GB2312" pitchFamily="49" charset="-122"/>
                </a:rPr>
                <a:t>+</a:t>
              </a:r>
              <a:r>
                <a:rPr lang="en-US" altLang="zh-CN" sz="2800" i="1" dirty="0">
                  <a:solidFill>
                    <a:schemeClr val="tx1"/>
                  </a:solidFill>
                  <a:latin typeface="Times New Roman" panose="02020603050405020304" pitchFamily="18" charset="0"/>
                  <a:ea typeface="楷体_GB2312" pitchFamily="49" charset="-122"/>
                </a:rPr>
                <a:t>a</a:t>
              </a:r>
              <a:r>
                <a:rPr lang="zh-CN" altLang="en-US" sz="2800" dirty="0">
                  <a:solidFill>
                    <a:schemeClr val="tx1"/>
                  </a:solidFill>
                  <a:latin typeface="Times New Roman" panose="02020603050405020304" pitchFamily="18" charset="0"/>
                  <a:ea typeface="楷体_GB2312" pitchFamily="49" charset="-122"/>
                </a:rPr>
                <a:t>）</a:t>
              </a:r>
              <a:r>
                <a:rPr lang="zh-CN" altLang="en-US" sz="2800" dirty="0">
                  <a:solidFill>
                    <a:schemeClr val="tx1"/>
                  </a:solidFill>
                  <a:latin typeface="楷体_GB2312" pitchFamily="49" charset="-122"/>
                  <a:ea typeface="楷体_GB2312" pitchFamily="49" charset="-122"/>
                </a:rPr>
                <a:t>乘以原特征方程，其中</a:t>
              </a:r>
              <a:r>
                <a:rPr lang="en-US" altLang="zh-CN" sz="2800" i="1" dirty="0">
                  <a:solidFill>
                    <a:schemeClr val="tx1"/>
                  </a:solidFill>
                  <a:latin typeface="Times New Roman" panose="02020603050405020304" pitchFamily="18" charset="0"/>
                  <a:ea typeface="楷体_GB2312" pitchFamily="49" charset="-122"/>
                </a:rPr>
                <a:t>a</a:t>
              </a:r>
              <a:r>
                <a:rPr lang="zh-CN" altLang="en-US" sz="2800" dirty="0">
                  <a:solidFill>
                    <a:schemeClr val="tx1"/>
                  </a:solidFill>
                  <a:latin typeface="楷体_GB2312" pitchFamily="49" charset="-122"/>
                  <a:ea typeface="楷体_GB2312" pitchFamily="49" charset="-122"/>
                </a:rPr>
                <a:t>可为任意正数，再对新的特征方程应用劳斯判据。</a:t>
              </a:r>
              <a:endParaRPr lang="zh-CN" altLang="en-US" sz="2400" dirty="0">
                <a:solidFill>
                  <a:schemeClr val="tx1"/>
                </a:solidFill>
                <a:latin typeface="Times New Roman" panose="02020603050405020304" pitchFamily="18" charset="0"/>
              </a:endParaRPr>
            </a:p>
          </p:txBody>
        </p:sp>
        <p:sp>
          <p:nvSpPr>
            <p:cNvPr id="10" name="Freeform 2524">
              <a:extLst>
                <a:ext uri="{FF2B5EF4-FFF2-40B4-BE49-F238E27FC236}">
                  <a16:creationId xmlns:a16="http://schemas.microsoft.com/office/drawing/2014/main" id="{7A334E34-F557-4F5F-889E-228983FDF4AE}"/>
                </a:ext>
              </a:extLst>
            </p:cNvPr>
            <p:cNvSpPr>
              <a:spLocks noEditPoints="1"/>
            </p:cNvSpPr>
            <p:nvPr/>
          </p:nvSpPr>
          <p:spPr bwMode="auto">
            <a:xfrm rot="16200000">
              <a:off x="3532586" y="1246584"/>
              <a:ext cx="2078832" cy="9143998"/>
            </a:xfrm>
            <a:custGeom>
              <a:avLst/>
              <a:gdLst/>
              <a:ahLst/>
              <a:cxnLst>
                <a:cxn ang="0">
                  <a:pos x="314" y="1"/>
                </a:cxn>
                <a:cxn ang="0">
                  <a:pos x="12" y="32"/>
                </a:cxn>
                <a:cxn ang="0">
                  <a:pos x="17" y="65"/>
                </a:cxn>
                <a:cxn ang="0">
                  <a:pos x="17" y="102"/>
                </a:cxn>
                <a:cxn ang="0">
                  <a:pos x="17" y="131"/>
                </a:cxn>
                <a:cxn ang="0">
                  <a:pos x="9" y="171"/>
                </a:cxn>
                <a:cxn ang="0">
                  <a:pos x="11" y="196"/>
                </a:cxn>
                <a:cxn ang="0">
                  <a:pos x="4" y="223"/>
                </a:cxn>
                <a:cxn ang="0">
                  <a:pos x="0" y="246"/>
                </a:cxn>
                <a:cxn ang="0">
                  <a:pos x="3" y="275"/>
                </a:cxn>
                <a:cxn ang="0">
                  <a:pos x="4" y="302"/>
                </a:cxn>
                <a:cxn ang="0">
                  <a:pos x="8" y="330"/>
                </a:cxn>
                <a:cxn ang="0">
                  <a:pos x="11" y="353"/>
                </a:cxn>
                <a:cxn ang="0">
                  <a:pos x="8" y="385"/>
                </a:cxn>
                <a:cxn ang="0">
                  <a:pos x="10" y="414"/>
                </a:cxn>
                <a:cxn ang="0">
                  <a:pos x="13" y="446"/>
                </a:cxn>
                <a:cxn ang="0">
                  <a:pos x="17" y="476"/>
                </a:cxn>
                <a:cxn ang="0">
                  <a:pos x="17" y="514"/>
                </a:cxn>
                <a:cxn ang="0">
                  <a:pos x="17" y="549"/>
                </a:cxn>
                <a:cxn ang="0">
                  <a:pos x="17" y="580"/>
                </a:cxn>
                <a:cxn ang="0">
                  <a:pos x="20" y="621"/>
                </a:cxn>
                <a:cxn ang="0">
                  <a:pos x="368" y="644"/>
                </a:cxn>
                <a:cxn ang="0">
                  <a:pos x="502" y="173"/>
                </a:cxn>
                <a:cxn ang="0">
                  <a:pos x="14" y="591"/>
                </a:cxn>
                <a:cxn ang="0">
                  <a:pos x="15" y="558"/>
                </a:cxn>
                <a:cxn ang="0">
                  <a:pos x="13" y="524"/>
                </a:cxn>
                <a:cxn ang="0">
                  <a:pos x="17" y="485"/>
                </a:cxn>
                <a:cxn ang="0">
                  <a:pos x="12" y="458"/>
                </a:cxn>
                <a:cxn ang="0">
                  <a:pos x="11" y="424"/>
                </a:cxn>
                <a:cxn ang="0">
                  <a:pos x="12" y="392"/>
                </a:cxn>
                <a:cxn ang="0">
                  <a:pos x="17" y="361"/>
                </a:cxn>
                <a:cxn ang="0">
                  <a:pos x="17" y="341"/>
                </a:cxn>
                <a:cxn ang="0">
                  <a:pos x="17" y="280"/>
                </a:cxn>
                <a:cxn ang="0">
                  <a:pos x="17" y="280"/>
                </a:cxn>
                <a:cxn ang="0">
                  <a:pos x="17" y="249"/>
                </a:cxn>
                <a:cxn ang="0">
                  <a:pos x="17" y="222"/>
                </a:cxn>
                <a:cxn ang="0">
                  <a:pos x="11" y="161"/>
                </a:cxn>
                <a:cxn ang="0">
                  <a:pos x="12" y="119"/>
                </a:cxn>
                <a:cxn ang="0">
                  <a:pos x="11" y="82"/>
                </a:cxn>
                <a:cxn ang="0">
                  <a:pos x="13" y="46"/>
                </a:cxn>
                <a:cxn ang="0">
                  <a:pos x="493" y="617"/>
                </a:cxn>
                <a:cxn ang="0">
                  <a:pos x="61" y="636"/>
                </a:cxn>
                <a:cxn ang="0">
                  <a:pos x="31" y="593"/>
                </a:cxn>
                <a:cxn ang="0">
                  <a:pos x="26" y="559"/>
                </a:cxn>
                <a:cxn ang="0">
                  <a:pos x="32" y="527"/>
                </a:cxn>
                <a:cxn ang="0">
                  <a:pos x="34" y="490"/>
                </a:cxn>
                <a:cxn ang="0">
                  <a:pos x="32" y="458"/>
                </a:cxn>
                <a:cxn ang="0">
                  <a:pos x="26" y="444"/>
                </a:cxn>
                <a:cxn ang="0">
                  <a:pos x="26" y="414"/>
                </a:cxn>
                <a:cxn ang="0">
                  <a:pos x="31" y="387"/>
                </a:cxn>
                <a:cxn ang="0">
                  <a:pos x="35" y="359"/>
                </a:cxn>
                <a:cxn ang="0">
                  <a:pos x="26" y="328"/>
                </a:cxn>
                <a:cxn ang="0">
                  <a:pos x="26" y="297"/>
                </a:cxn>
                <a:cxn ang="0">
                  <a:pos x="26" y="267"/>
                </a:cxn>
                <a:cxn ang="0">
                  <a:pos x="26" y="237"/>
                </a:cxn>
                <a:cxn ang="0">
                  <a:pos x="26" y="203"/>
                </a:cxn>
                <a:cxn ang="0">
                  <a:pos x="26" y="176"/>
                </a:cxn>
                <a:cxn ang="0">
                  <a:pos x="31" y="146"/>
                </a:cxn>
                <a:cxn ang="0">
                  <a:pos x="32" y="104"/>
                </a:cxn>
                <a:cxn ang="0">
                  <a:pos x="26" y="64"/>
                </a:cxn>
                <a:cxn ang="0">
                  <a:pos x="38" y="32"/>
                </a:cxn>
                <a:cxn ang="0">
                  <a:pos x="67" y="9"/>
                </a:cxn>
                <a:cxn ang="0">
                  <a:pos x="493" y="35"/>
                </a:cxn>
              </a:cxnLst>
              <a:rect l="0" t="0" r="r" b="b"/>
              <a:pathLst>
                <a:path w="503" h="644">
                  <a:moveTo>
                    <a:pt x="498" y="17"/>
                  </a:moveTo>
                  <a:lnTo>
                    <a:pt x="498" y="17"/>
                  </a:lnTo>
                  <a:lnTo>
                    <a:pt x="495" y="13"/>
                  </a:lnTo>
                  <a:lnTo>
                    <a:pt x="493" y="10"/>
                  </a:lnTo>
                  <a:lnTo>
                    <a:pt x="489" y="8"/>
                  </a:lnTo>
                  <a:lnTo>
                    <a:pt x="486" y="5"/>
                  </a:lnTo>
                  <a:lnTo>
                    <a:pt x="478" y="2"/>
                  </a:lnTo>
                  <a:lnTo>
                    <a:pt x="469" y="1"/>
                  </a:lnTo>
                  <a:lnTo>
                    <a:pt x="460" y="0"/>
                  </a:lnTo>
                  <a:lnTo>
                    <a:pt x="450" y="0"/>
                  </a:lnTo>
                  <a:lnTo>
                    <a:pt x="433" y="1"/>
                  </a:lnTo>
                  <a:lnTo>
                    <a:pt x="433" y="1"/>
                  </a:lnTo>
                  <a:lnTo>
                    <a:pt x="314" y="1"/>
                  </a:lnTo>
                  <a:lnTo>
                    <a:pt x="314" y="1"/>
                  </a:lnTo>
                  <a:lnTo>
                    <a:pt x="67" y="1"/>
                  </a:lnTo>
                  <a:lnTo>
                    <a:pt x="67" y="1"/>
                  </a:lnTo>
                  <a:lnTo>
                    <a:pt x="51" y="1"/>
                  </a:lnTo>
                  <a:lnTo>
                    <a:pt x="51" y="1"/>
                  </a:lnTo>
                  <a:lnTo>
                    <a:pt x="45" y="1"/>
                  </a:lnTo>
                  <a:lnTo>
                    <a:pt x="39" y="3"/>
                  </a:lnTo>
                  <a:lnTo>
                    <a:pt x="34" y="6"/>
                  </a:lnTo>
                  <a:lnTo>
                    <a:pt x="29" y="9"/>
                  </a:lnTo>
                  <a:lnTo>
                    <a:pt x="25" y="13"/>
                  </a:lnTo>
                  <a:lnTo>
                    <a:pt x="22" y="18"/>
                  </a:lnTo>
                  <a:lnTo>
                    <a:pt x="19" y="24"/>
                  </a:lnTo>
                  <a:lnTo>
                    <a:pt x="18" y="30"/>
                  </a:lnTo>
                  <a:lnTo>
                    <a:pt x="18" y="30"/>
                  </a:lnTo>
                  <a:lnTo>
                    <a:pt x="12" y="32"/>
                  </a:lnTo>
                  <a:lnTo>
                    <a:pt x="8" y="36"/>
                  </a:lnTo>
                  <a:lnTo>
                    <a:pt x="8" y="36"/>
                  </a:lnTo>
                  <a:lnTo>
                    <a:pt x="6" y="39"/>
                  </a:lnTo>
                  <a:lnTo>
                    <a:pt x="4" y="42"/>
                  </a:lnTo>
                  <a:lnTo>
                    <a:pt x="4" y="45"/>
                  </a:lnTo>
                  <a:lnTo>
                    <a:pt x="4" y="49"/>
                  </a:lnTo>
                  <a:lnTo>
                    <a:pt x="4" y="49"/>
                  </a:lnTo>
                  <a:lnTo>
                    <a:pt x="7" y="53"/>
                  </a:lnTo>
                  <a:lnTo>
                    <a:pt x="10" y="56"/>
                  </a:lnTo>
                  <a:lnTo>
                    <a:pt x="13" y="58"/>
                  </a:lnTo>
                  <a:lnTo>
                    <a:pt x="17" y="60"/>
                  </a:lnTo>
                  <a:lnTo>
                    <a:pt x="17" y="60"/>
                  </a:lnTo>
                  <a:lnTo>
                    <a:pt x="17" y="65"/>
                  </a:lnTo>
                  <a:lnTo>
                    <a:pt x="17" y="65"/>
                  </a:lnTo>
                  <a:lnTo>
                    <a:pt x="11" y="66"/>
                  </a:lnTo>
                  <a:lnTo>
                    <a:pt x="6" y="70"/>
                  </a:lnTo>
                  <a:lnTo>
                    <a:pt x="6" y="70"/>
                  </a:lnTo>
                  <a:lnTo>
                    <a:pt x="3" y="73"/>
                  </a:lnTo>
                  <a:lnTo>
                    <a:pt x="2" y="78"/>
                  </a:lnTo>
                  <a:lnTo>
                    <a:pt x="2" y="83"/>
                  </a:lnTo>
                  <a:lnTo>
                    <a:pt x="3" y="87"/>
                  </a:lnTo>
                  <a:lnTo>
                    <a:pt x="3" y="87"/>
                  </a:lnTo>
                  <a:lnTo>
                    <a:pt x="6" y="91"/>
                  </a:lnTo>
                  <a:lnTo>
                    <a:pt x="9" y="94"/>
                  </a:lnTo>
                  <a:lnTo>
                    <a:pt x="13" y="97"/>
                  </a:lnTo>
                  <a:lnTo>
                    <a:pt x="17" y="99"/>
                  </a:lnTo>
                  <a:lnTo>
                    <a:pt x="17" y="99"/>
                  </a:lnTo>
                  <a:lnTo>
                    <a:pt x="17" y="102"/>
                  </a:lnTo>
                  <a:lnTo>
                    <a:pt x="17" y="102"/>
                  </a:lnTo>
                  <a:lnTo>
                    <a:pt x="13" y="103"/>
                  </a:lnTo>
                  <a:lnTo>
                    <a:pt x="9" y="104"/>
                  </a:lnTo>
                  <a:lnTo>
                    <a:pt x="6" y="107"/>
                  </a:lnTo>
                  <a:lnTo>
                    <a:pt x="3" y="110"/>
                  </a:lnTo>
                  <a:lnTo>
                    <a:pt x="3" y="110"/>
                  </a:lnTo>
                  <a:lnTo>
                    <a:pt x="1" y="114"/>
                  </a:lnTo>
                  <a:lnTo>
                    <a:pt x="1" y="118"/>
                  </a:lnTo>
                  <a:lnTo>
                    <a:pt x="2" y="121"/>
                  </a:lnTo>
                  <a:lnTo>
                    <a:pt x="4" y="124"/>
                  </a:lnTo>
                  <a:lnTo>
                    <a:pt x="7" y="126"/>
                  </a:lnTo>
                  <a:lnTo>
                    <a:pt x="10" y="128"/>
                  </a:lnTo>
                  <a:lnTo>
                    <a:pt x="17" y="131"/>
                  </a:lnTo>
                  <a:lnTo>
                    <a:pt x="17" y="131"/>
                  </a:lnTo>
                  <a:lnTo>
                    <a:pt x="17" y="144"/>
                  </a:lnTo>
                  <a:lnTo>
                    <a:pt x="17" y="144"/>
                  </a:lnTo>
                  <a:lnTo>
                    <a:pt x="14" y="145"/>
                  </a:lnTo>
                  <a:lnTo>
                    <a:pt x="10" y="146"/>
                  </a:lnTo>
                  <a:lnTo>
                    <a:pt x="7" y="149"/>
                  </a:lnTo>
                  <a:lnTo>
                    <a:pt x="5" y="151"/>
                  </a:lnTo>
                  <a:lnTo>
                    <a:pt x="5" y="151"/>
                  </a:lnTo>
                  <a:lnTo>
                    <a:pt x="3" y="155"/>
                  </a:lnTo>
                  <a:lnTo>
                    <a:pt x="2" y="158"/>
                  </a:lnTo>
                  <a:lnTo>
                    <a:pt x="2" y="161"/>
                  </a:lnTo>
                  <a:lnTo>
                    <a:pt x="3" y="165"/>
                  </a:lnTo>
                  <a:lnTo>
                    <a:pt x="3" y="165"/>
                  </a:lnTo>
                  <a:lnTo>
                    <a:pt x="5" y="168"/>
                  </a:lnTo>
                  <a:lnTo>
                    <a:pt x="9" y="171"/>
                  </a:lnTo>
                  <a:lnTo>
                    <a:pt x="13" y="173"/>
                  </a:lnTo>
                  <a:lnTo>
                    <a:pt x="17" y="174"/>
                  </a:lnTo>
                  <a:lnTo>
                    <a:pt x="17" y="174"/>
                  </a:lnTo>
                  <a:lnTo>
                    <a:pt x="17" y="175"/>
                  </a:lnTo>
                  <a:lnTo>
                    <a:pt x="17" y="175"/>
                  </a:lnTo>
                  <a:lnTo>
                    <a:pt x="14" y="176"/>
                  </a:lnTo>
                  <a:lnTo>
                    <a:pt x="10" y="178"/>
                  </a:lnTo>
                  <a:lnTo>
                    <a:pt x="10" y="178"/>
                  </a:lnTo>
                  <a:lnTo>
                    <a:pt x="8" y="181"/>
                  </a:lnTo>
                  <a:lnTo>
                    <a:pt x="6" y="184"/>
                  </a:lnTo>
                  <a:lnTo>
                    <a:pt x="6" y="187"/>
                  </a:lnTo>
                  <a:lnTo>
                    <a:pt x="7" y="190"/>
                  </a:lnTo>
                  <a:lnTo>
                    <a:pt x="8" y="193"/>
                  </a:lnTo>
                  <a:lnTo>
                    <a:pt x="11" y="196"/>
                  </a:lnTo>
                  <a:lnTo>
                    <a:pt x="14" y="198"/>
                  </a:lnTo>
                  <a:lnTo>
                    <a:pt x="17" y="200"/>
                  </a:lnTo>
                  <a:lnTo>
                    <a:pt x="17" y="200"/>
                  </a:lnTo>
                  <a:lnTo>
                    <a:pt x="17" y="202"/>
                  </a:lnTo>
                  <a:lnTo>
                    <a:pt x="17" y="202"/>
                  </a:lnTo>
                  <a:lnTo>
                    <a:pt x="14" y="203"/>
                  </a:lnTo>
                  <a:lnTo>
                    <a:pt x="10" y="204"/>
                  </a:lnTo>
                  <a:lnTo>
                    <a:pt x="7" y="205"/>
                  </a:lnTo>
                  <a:lnTo>
                    <a:pt x="4" y="208"/>
                  </a:lnTo>
                  <a:lnTo>
                    <a:pt x="4" y="208"/>
                  </a:lnTo>
                  <a:lnTo>
                    <a:pt x="2" y="213"/>
                  </a:lnTo>
                  <a:lnTo>
                    <a:pt x="2" y="216"/>
                  </a:lnTo>
                  <a:lnTo>
                    <a:pt x="3" y="220"/>
                  </a:lnTo>
                  <a:lnTo>
                    <a:pt x="4" y="223"/>
                  </a:lnTo>
                  <a:lnTo>
                    <a:pt x="7" y="226"/>
                  </a:lnTo>
                  <a:lnTo>
                    <a:pt x="10" y="228"/>
                  </a:lnTo>
                  <a:lnTo>
                    <a:pt x="14" y="230"/>
                  </a:lnTo>
                  <a:lnTo>
                    <a:pt x="17" y="231"/>
                  </a:lnTo>
                  <a:lnTo>
                    <a:pt x="17" y="231"/>
                  </a:lnTo>
                  <a:lnTo>
                    <a:pt x="17" y="234"/>
                  </a:lnTo>
                  <a:lnTo>
                    <a:pt x="17" y="234"/>
                  </a:lnTo>
                  <a:lnTo>
                    <a:pt x="13" y="234"/>
                  </a:lnTo>
                  <a:lnTo>
                    <a:pt x="9" y="234"/>
                  </a:lnTo>
                  <a:lnTo>
                    <a:pt x="5" y="236"/>
                  </a:lnTo>
                  <a:lnTo>
                    <a:pt x="2" y="239"/>
                  </a:lnTo>
                  <a:lnTo>
                    <a:pt x="2" y="239"/>
                  </a:lnTo>
                  <a:lnTo>
                    <a:pt x="0" y="243"/>
                  </a:lnTo>
                  <a:lnTo>
                    <a:pt x="0" y="246"/>
                  </a:lnTo>
                  <a:lnTo>
                    <a:pt x="2" y="249"/>
                  </a:lnTo>
                  <a:lnTo>
                    <a:pt x="4" y="251"/>
                  </a:lnTo>
                  <a:lnTo>
                    <a:pt x="7" y="254"/>
                  </a:lnTo>
                  <a:lnTo>
                    <a:pt x="10" y="256"/>
                  </a:lnTo>
                  <a:lnTo>
                    <a:pt x="17" y="258"/>
                  </a:lnTo>
                  <a:lnTo>
                    <a:pt x="17" y="258"/>
                  </a:lnTo>
                  <a:lnTo>
                    <a:pt x="17" y="266"/>
                  </a:lnTo>
                  <a:lnTo>
                    <a:pt x="17" y="266"/>
                  </a:lnTo>
                  <a:lnTo>
                    <a:pt x="12" y="266"/>
                  </a:lnTo>
                  <a:lnTo>
                    <a:pt x="12" y="266"/>
                  </a:lnTo>
                  <a:lnTo>
                    <a:pt x="9" y="268"/>
                  </a:lnTo>
                  <a:lnTo>
                    <a:pt x="6" y="269"/>
                  </a:lnTo>
                  <a:lnTo>
                    <a:pt x="4" y="272"/>
                  </a:lnTo>
                  <a:lnTo>
                    <a:pt x="3" y="275"/>
                  </a:lnTo>
                  <a:lnTo>
                    <a:pt x="3" y="275"/>
                  </a:lnTo>
                  <a:lnTo>
                    <a:pt x="2" y="278"/>
                  </a:lnTo>
                  <a:lnTo>
                    <a:pt x="3" y="281"/>
                  </a:lnTo>
                  <a:lnTo>
                    <a:pt x="5" y="283"/>
                  </a:lnTo>
                  <a:lnTo>
                    <a:pt x="7" y="285"/>
                  </a:lnTo>
                  <a:lnTo>
                    <a:pt x="12" y="288"/>
                  </a:lnTo>
                  <a:lnTo>
                    <a:pt x="17" y="289"/>
                  </a:lnTo>
                  <a:lnTo>
                    <a:pt x="17" y="289"/>
                  </a:lnTo>
                  <a:lnTo>
                    <a:pt x="17" y="296"/>
                  </a:lnTo>
                  <a:lnTo>
                    <a:pt x="17" y="296"/>
                  </a:lnTo>
                  <a:lnTo>
                    <a:pt x="14" y="296"/>
                  </a:lnTo>
                  <a:lnTo>
                    <a:pt x="10" y="297"/>
                  </a:lnTo>
                  <a:lnTo>
                    <a:pt x="7" y="299"/>
                  </a:lnTo>
                  <a:lnTo>
                    <a:pt x="4" y="302"/>
                  </a:lnTo>
                  <a:lnTo>
                    <a:pt x="4" y="302"/>
                  </a:lnTo>
                  <a:lnTo>
                    <a:pt x="3" y="305"/>
                  </a:lnTo>
                  <a:lnTo>
                    <a:pt x="2" y="308"/>
                  </a:lnTo>
                  <a:lnTo>
                    <a:pt x="3" y="311"/>
                  </a:lnTo>
                  <a:lnTo>
                    <a:pt x="5" y="313"/>
                  </a:lnTo>
                  <a:lnTo>
                    <a:pt x="11" y="317"/>
                  </a:lnTo>
                  <a:lnTo>
                    <a:pt x="17" y="319"/>
                  </a:lnTo>
                  <a:lnTo>
                    <a:pt x="17" y="319"/>
                  </a:lnTo>
                  <a:lnTo>
                    <a:pt x="17" y="327"/>
                  </a:lnTo>
                  <a:lnTo>
                    <a:pt x="17" y="327"/>
                  </a:lnTo>
                  <a:lnTo>
                    <a:pt x="14" y="327"/>
                  </a:lnTo>
                  <a:lnTo>
                    <a:pt x="14" y="327"/>
                  </a:lnTo>
                  <a:lnTo>
                    <a:pt x="11" y="328"/>
                  </a:lnTo>
                  <a:lnTo>
                    <a:pt x="8" y="330"/>
                  </a:lnTo>
                  <a:lnTo>
                    <a:pt x="5" y="332"/>
                  </a:lnTo>
                  <a:lnTo>
                    <a:pt x="4" y="335"/>
                  </a:lnTo>
                  <a:lnTo>
                    <a:pt x="4" y="335"/>
                  </a:lnTo>
                  <a:lnTo>
                    <a:pt x="4" y="338"/>
                  </a:lnTo>
                  <a:lnTo>
                    <a:pt x="4" y="341"/>
                  </a:lnTo>
                  <a:lnTo>
                    <a:pt x="6" y="343"/>
                  </a:lnTo>
                  <a:lnTo>
                    <a:pt x="7" y="345"/>
                  </a:lnTo>
                  <a:lnTo>
                    <a:pt x="12" y="348"/>
                  </a:lnTo>
                  <a:lnTo>
                    <a:pt x="17" y="350"/>
                  </a:lnTo>
                  <a:lnTo>
                    <a:pt x="17" y="350"/>
                  </a:lnTo>
                  <a:lnTo>
                    <a:pt x="17" y="353"/>
                  </a:lnTo>
                  <a:lnTo>
                    <a:pt x="17" y="353"/>
                  </a:lnTo>
                  <a:lnTo>
                    <a:pt x="14" y="353"/>
                  </a:lnTo>
                  <a:lnTo>
                    <a:pt x="11" y="353"/>
                  </a:lnTo>
                  <a:lnTo>
                    <a:pt x="8" y="355"/>
                  </a:lnTo>
                  <a:lnTo>
                    <a:pt x="6" y="358"/>
                  </a:lnTo>
                  <a:lnTo>
                    <a:pt x="6" y="358"/>
                  </a:lnTo>
                  <a:lnTo>
                    <a:pt x="4" y="361"/>
                  </a:lnTo>
                  <a:lnTo>
                    <a:pt x="4" y="364"/>
                  </a:lnTo>
                  <a:lnTo>
                    <a:pt x="4" y="367"/>
                  </a:lnTo>
                  <a:lnTo>
                    <a:pt x="6" y="370"/>
                  </a:lnTo>
                  <a:lnTo>
                    <a:pt x="11" y="376"/>
                  </a:lnTo>
                  <a:lnTo>
                    <a:pt x="17" y="379"/>
                  </a:lnTo>
                  <a:lnTo>
                    <a:pt x="17" y="379"/>
                  </a:lnTo>
                  <a:lnTo>
                    <a:pt x="17" y="383"/>
                  </a:lnTo>
                  <a:lnTo>
                    <a:pt x="17" y="383"/>
                  </a:lnTo>
                  <a:lnTo>
                    <a:pt x="11" y="384"/>
                  </a:lnTo>
                  <a:lnTo>
                    <a:pt x="8" y="385"/>
                  </a:lnTo>
                  <a:lnTo>
                    <a:pt x="5" y="386"/>
                  </a:lnTo>
                  <a:lnTo>
                    <a:pt x="5" y="386"/>
                  </a:lnTo>
                  <a:lnTo>
                    <a:pt x="2" y="389"/>
                  </a:lnTo>
                  <a:lnTo>
                    <a:pt x="1" y="393"/>
                  </a:lnTo>
                  <a:lnTo>
                    <a:pt x="2" y="396"/>
                  </a:lnTo>
                  <a:lnTo>
                    <a:pt x="4" y="399"/>
                  </a:lnTo>
                  <a:lnTo>
                    <a:pt x="7" y="402"/>
                  </a:lnTo>
                  <a:lnTo>
                    <a:pt x="10" y="405"/>
                  </a:lnTo>
                  <a:lnTo>
                    <a:pt x="17" y="408"/>
                  </a:lnTo>
                  <a:lnTo>
                    <a:pt x="17" y="408"/>
                  </a:lnTo>
                  <a:lnTo>
                    <a:pt x="17" y="413"/>
                  </a:lnTo>
                  <a:lnTo>
                    <a:pt x="17" y="413"/>
                  </a:lnTo>
                  <a:lnTo>
                    <a:pt x="14" y="413"/>
                  </a:lnTo>
                  <a:lnTo>
                    <a:pt x="10" y="414"/>
                  </a:lnTo>
                  <a:lnTo>
                    <a:pt x="7" y="415"/>
                  </a:lnTo>
                  <a:lnTo>
                    <a:pt x="4" y="418"/>
                  </a:lnTo>
                  <a:lnTo>
                    <a:pt x="4" y="418"/>
                  </a:lnTo>
                  <a:lnTo>
                    <a:pt x="2" y="421"/>
                  </a:lnTo>
                  <a:lnTo>
                    <a:pt x="2" y="424"/>
                  </a:lnTo>
                  <a:lnTo>
                    <a:pt x="2" y="427"/>
                  </a:lnTo>
                  <a:lnTo>
                    <a:pt x="4" y="430"/>
                  </a:lnTo>
                  <a:lnTo>
                    <a:pt x="7" y="432"/>
                  </a:lnTo>
                  <a:lnTo>
                    <a:pt x="10" y="434"/>
                  </a:lnTo>
                  <a:lnTo>
                    <a:pt x="17" y="437"/>
                  </a:lnTo>
                  <a:lnTo>
                    <a:pt x="17" y="437"/>
                  </a:lnTo>
                  <a:lnTo>
                    <a:pt x="17" y="444"/>
                  </a:lnTo>
                  <a:lnTo>
                    <a:pt x="17" y="444"/>
                  </a:lnTo>
                  <a:lnTo>
                    <a:pt x="13" y="446"/>
                  </a:lnTo>
                  <a:lnTo>
                    <a:pt x="10" y="448"/>
                  </a:lnTo>
                  <a:lnTo>
                    <a:pt x="10" y="448"/>
                  </a:lnTo>
                  <a:lnTo>
                    <a:pt x="7" y="450"/>
                  </a:lnTo>
                  <a:lnTo>
                    <a:pt x="5" y="454"/>
                  </a:lnTo>
                  <a:lnTo>
                    <a:pt x="4" y="457"/>
                  </a:lnTo>
                  <a:lnTo>
                    <a:pt x="4" y="460"/>
                  </a:lnTo>
                  <a:lnTo>
                    <a:pt x="4" y="460"/>
                  </a:lnTo>
                  <a:lnTo>
                    <a:pt x="6" y="464"/>
                  </a:lnTo>
                  <a:lnTo>
                    <a:pt x="9" y="467"/>
                  </a:lnTo>
                  <a:lnTo>
                    <a:pt x="13" y="469"/>
                  </a:lnTo>
                  <a:lnTo>
                    <a:pt x="17" y="471"/>
                  </a:lnTo>
                  <a:lnTo>
                    <a:pt x="17" y="471"/>
                  </a:lnTo>
                  <a:lnTo>
                    <a:pt x="17" y="476"/>
                  </a:lnTo>
                  <a:lnTo>
                    <a:pt x="17" y="476"/>
                  </a:lnTo>
                  <a:lnTo>
                    <a:pt x="13" y="477"/>
                  </a:lnTo>
                  <a:lnTo>
                    <a:pt x="10" y="478"/>
                  </a:lnTo>
                  <a:lnTo>
                    <a:pt x="6" y="480"/>
                  </a:lnTo>
                  <a:lnTo>
                    <a:pt x="3" y="484"/>
                  </a:lnTo>
                  <a:lnTo>
                    <a:pt x="3" y="484"/>
                  </a:lnTo>
                  <a:lnTo>
                    <a:pt x="1" y="488"/>
                  </a:lnTo>
                  <a:lnTo>
                    <a:pt x="1" y="492"/>
                  </a:lnTo>
                  <a:lnTo>
                    <a:pt x="2" y="495"/>
                  </a:lnTo>
                  <a:lnTo>
                    <a:pt x="4" y="497"/>
                  </a:lnTo>
                  <a:lnTo>
                    <a:pt x="7" y="499"/>
                  </a:lnTo>
                  <a:lnTo>
                    <a:pt x="10" y="501"/>
                  </a:lnTo>
                  <a:lnTo>
                    <a:pt x="17" y="504"/>
                  </a:lnTo>
                  <a:lnTo>
                    <a:pt x="17" y="504"/>
                  </a:lnTo>
                  <a:lnTo>
                    <a:pt x="17" y="514"/>
                  </a:lnTo>
                  <a:lnTo>
                    <a:pt x="17" y="514"/>
                  </a:lnTo>
                  <a:lnTo>
                    <a:pt x="13" y="514"/>
                  </a:lnTo>
                  <a:lnTo>
                    <a:pt x="10" y="516"/>
                  </a:lnTo>
                  <a:lnTo>
                    <a:pt x="6" y="518"/>
                  </a:lnTo>
                  <a:lnTo>
                    <a:pt x="4" y="521"/>
                  </a:lnTo>
                  <a:lnTo>
                    <a:pt x="4" y="521"/>
                  </a:lnTo>
                  <a:lnTo>
                    <a:pt x="2" y="524"/>
                  </a:lnTo>
                  <a:lnTo>
                    <a:pt x="2" y="527"/>
                  </a:lnTo>
                  <a:lnTo>
                    <a:pt x="4" y="530"/>
                  </a:lnTo>
                  <a:lnTo>
                    <a:pt x="6" y="532"/>
                  </a:lnTo>
                  <a:lnTo>
                    <a:pt x="11" y="537"/>
                  </a:lnTo>
                  <a:lnTo>
                    <a:pt x="17" y="539"/>
                  </a:lnTo>
                  <a:lnTo>
                    <a:pt x="17" y="539"/>
                  </a:lnTo>
                  <a:lnTo>
                    <a:pt x="17" y="549"/>
                  </a:lnTo>
                  <a:lnTo>
                    <a:pt x="17" y="549"/>
                  </a:lnTo>
                  <a:lnTo>
                    <a:pt x="14" y="549"/>
                  </a:lnTo>
                  <a:lnTo>
                    <a:pt x="12" y="550"/>
                  </a:lnTo>
                  <a:lnTo>
                    <a:pt x="9" y="552"/>
                  </a:lnTo>
                  <a:lnTo>
                    <a:pt x="7" y="554"/>
                  </a:lnTo>
                  <a:lnTo>
                    <a:pt x="7" y="554"/>
                  </a:lnTo>
                  <a:lnTo>
                    <a:pt x="6" y="557"/>
                  </a:lnTo>
                  <a:lnTo>
                    <a:pt x="6" y="560"/>
                  </a:lnTo>
                  <a:lnTo>
                    <a:pt x="6" y="563"/>
                  </a:lnTo>
                  <a:lnTo>
                    <a:pt x="8" y="565"/>
                  </a:lnTo>
                  <a:lnTo>
                    <a:pt x="12" y="569"/>
                  </a:lnTo>
                  <a:lnTo>
                    <a:pt x="17" y="572"/>
                  </a:lnTo>
                  <a:lnTo>
                    <a:pt x="17" y="572"/>
                  </a:lnTo>
                  <a:lnTo>
                    <a:pt x="17" y="580"/>
                  </a:lnTo>
                  <a:lnTo>
                    <a:pt x="17" y="580"/>
                  </a:lnTo>
                  <a:lnTo>
                    <a:pt x="12" y="581"/>
                  </a:lnTo>
                  <a:lnTo>
                    <a:pt x="8" y="584"/>
                  </a:lnTo>
                  <a:lnTo>
                    <a:pt x="8" y="584"/>
                  </a:lnTo>
                  <a:lnTo>
                    <a:pt x="6" y="587"/>
                  </a:lnTo>
                  <a:lnTo>
                    <a:pt x="5" y="590"/>
                  </a:lnTo>
                  <a:lnTo>
                    <a:pt x="5" y="593"/>
                  </a:lnTo>
                  <a:lnTo>
                    <a:pt x="7" y="596"/>
                  </a:lnTo>
                  <a:lnTo>
                    <a:pt x="9" y="599"/>
                  </a:lnTo>
                  <a:lnTo>
                    <a:pt x="11" y="601"/>
                  </a:lnTo>
                  <a:lnTo>
                    <a:pt x="17" y="605"/>
                  </a:lnTo>
                  <a:lnTo>
                    <a:pt x="17" y="605"/>
                  </a:lnTo>
                  <a:lnTo>
                    <a:pt x="19" y="616"/>
                  </a:lnTo>
                  <a:lnTo>
                    <a:pt x="20" y="621"/>
                  </a:lnTo>
                  <a:lnTo>
                    <a:pt x="22" y="626"/>
                  </a:lnTo>
                  <a:lnTo>
                    <a:pt x="24" y="631"/>
                  </a:lnTo>
                  <a:lnTo>
                    <a:pt x="28" y="635"/>
                  </a:lnTo>
                  <a:lnTo>
                    <a:pt x="32" y="638"/>
                  </a:lnTo>
                  <a:lnTo>
                    <a:pt x="37" y="642"/>
                  </a:lnTo>
                  <a:lnTo>
                    <a:pt x="37" y="642"/>
                  </a:lnTo>
                  <a:lnTo>
                    <a:pt x="43" y="644"/>
                  </a:lnTo>
                  <a:lnTo>
                    <a:pt x="49" y="644"/>
                  </a:lnTo>
                  <a:lnTo>
                    <a:pt x="62" y="644"/>
                  </a:lnTo>
                  <a:lnTo>
                    <a:pt x="62" y="644"/>
                  </a:lnTo>
                  <a:lnTo>
                    <a:pt x="99" y="644"/>
                  </a:lnTo>
                  <a:lnTo>
                    <a:pt x="99" y="644"/>
                  </a:lnTo>
                  <a:lnTo>
                    <a:pt x="368" y="644"/>
                  </a:lnTo>
                  <a:lnTo>
                    <a:pt x="368" y="644"/>
                  </a:lnTo>
                  <a:lnTo>
                    <a:pt x="452" y="644"/>
                  </a:lnTo>
                  <a:lnTo>
                    <a:pt x="452" y="644"/>
                  </a:lnTo>
                  <a:lnTo>
                    <a:pt x="462" y="644"/>
                  </a:lnTo>
                  <a:lnTo>
                    <a:pt x="470" y="643"/>
                  </a:lnTo>
                  <a:lnTo>
                    <a:pt x="478" y="642"/>
                  </a:lnTo>
                  <a:lnTo>
                    <a:pt x="485" y="639"/>
                  </a:lnTo>
                  <a:lnTo>
                    <a:pt x="492" y="635"/>
                  </a:lnTo>
                  <a:lnTo>
                    <a:pt x="497" y="629"/>
                  </a:lnTo>
                  <a:lnTo>
                    <a:pt x="500" y="622"/>
                  </a:lnTo>
                  <a:lnTo>
                    <a:pt x="502" y="611"/>
                  </a:lnTo>
                  <a:lnTo>
                    <a:pt x="502" y="611"/>
                  </a:lnTo>
                  <a:lnTo>
                    <a:pt x="502" y="610"/>
                  </a:lnTo>
                  <a:lnTo>
                    <a:pt x="502" y="610"/>
                  </a:lnTo>
                  <a:lnTo>
                    <a:pt x="502" y="173"/>
                  </a:lnTo>
                  <a:lnTo>
                    <a:pt x="502" y="173"/>
                  </a:lnTo>
                  <a:lnTo>
                    <a:pt x="502" y="70"/>
                  </a:lnTo>
                  <a:lnTo>
                    <a:pt x="502" y="70"/>
                  </a:lnTo>
                  <a:lnTo>
                    <a:pt x="503" y="42"/>
                  </a:lnTo>
                  <a:lnTo>
                    <a:pt x="501" y="29"/>
                  </a:lnTo>
                  <a:lnTo>
                    <a:pt x="500" y="23"/>
                  </a:lnTo>
                  <a:lnTo>
                    <a:pt x="498" y="17"/>
                  </a:lnTo>
                  <a:lnTo>
                    <a:pt x="498" y="17"/>
                  </a:lnTo>
                  <a:close/>
                  <a:moveTo>
                    <a:pt x="17" y="595"/>
                  </a:moveTo>
                  <a:lnTo>
                    <a:pt x="17" y="595"/>
                  </a:lnTo>
                  <a:lnTo>
                    <a:pt x="15" y="594"/>
                  </a:lnTo>
                  <a:lnTo>
                    <a:pt x="15" y="594"/>
                  </a:lnTo>
                  <a:lnTo>
                    <a:pt x="14" y="592"/>
                  </a:lnTo>
                  <a:lnTo>
                    <a:pt x="14" y="591"/>
                  </a:lnTo>
                  <a:lnTo>
                    <a:pt x="16" y="589"/>
                  </a:lnTo>
                  <a:lnTo>
                    <a:pt x="16" y="589"/>
                  </a:lnTo>
                  <a:lnTo>
                    <a:pt x="17" y="589"/>
                  </a:lnTo>
                  <a:lnTo>
                    <a:pt x="17" y="589"/>
                  </a:lnTo>
                  <a:lnTo>
                    <a:pt x="17" y="595"/>
                  </a:lnTo>
                  <a:lnTo>
                    <a:pt x="17" y="595"/>
                  </a:lnTo>
                  <a:close/>
                  <a:moveTo>
                    <a:pt x="17" y="563"/>
                  </a:moveTo>
                  <a:lnTo>
                    <a:pt x="17" y="563"/>
                  </a:lnTo>
                  <a:lnTo>
                    <a:pt x="15" y="561"/>
                  </a:lnTo>
                  <a:lnTo>
                    <a:pt x="15" y="561"/>
                  </a:lnTo>
                  <a:lnTo>
                    <a:pt x="15" y="559"/>
                  </a:lnTo>
                  <a:lnTo>
                    <a:pt x="15" y="559"/>
                  </a:lnTo>
                  <a:lnTo>
                    <a:pt x="15" y="558"/>
                  </a:lnTo>
                  <a:lnTo>
                    <a:pt x="15" y="558"/>
                  </a:lnTo>
                  <a:lnTo>
                    <a:pt x="17" y="557"/>
                  </a:lnTo>
                  <a:lnTo>
                    <a:pt x="17" y="557"/>
                  </a:lnTo>
                  <a:lnTo>
                    <a:pt x="17" y="563"/>
                  </a:lnTo>
                  <a:lnTo>
                    <a:pt x="17" y="563"/>
                  </a:lnTo>
                  <a:close/>
                  <a:moveTo>
                    <a:pt x="17" y="529"/>
                  </a:moveTo>
                  <a:lnTo>
                    <a:pt x="17" y="529"/>
                  </a:lnTo>
                  <a:lnTo>
                    <a:pt x="14" y="528"/>
                  </a:lnTo>
                  <a:lnTo>
                    <a:pt x="14" y="528"/>
                  </a:lnTo>
                  <a:lnTo>
                    <a:pt x="11" y="525"/>
                  </a:lnTo>
                  <a:lnTo>
                    <a:pt x="11" y="525"/>
                  </a:lnTo>
                  <a:lnTo>
                    <a:pt x="11" y="525"/>
                  </a:lnTo>
                  <a:lnTo>
                    <a:pt x="11" y="525"/>
                  </a:lnTo>
                  <a:lnTo>
                    <a:pt x="13" y="524"/>
                  </a:lnTo>
                  <a:lnTo>
                    <a:pt x="13" y="524"/>
                  </a:lnTo>
                  <a:lnTo>
                    <a:pt x="15" y="523"/>
                  </a:lnTo>
                  <a:lnTo>
                    <a:pt x="17" y="523"/>
                  </a:lnTo>
                  <a:lnTo>
                    <a:pt x="17" y="523"/>
                  </a:lnTo>
                  <a:lnTo>
                    <a:pt x="17" y="529"/>
                  </a:lnTo>
                  <a:lnTo>
                    <a:pt x="17" y="529"/>
                  </a:lnTo>
                  <a:close/>
                  <a:moveTo>
                    <a:pt x="17" y="495"/>
                  </a:moveTo>
                  <a:lnTo>
                    <a:pt x="17" y="495"/>
                  </a:lnTo>
                  <a:lnTo>
                    <a:pt x="14" y="494"/>
                  </a:lnTo>
                  <a:lnTo>
                    <a:pt x="12" y="492"/>
                  </a:lnTo>
                  <a:lnTo>
                    <a:pt x="10" y="490"/>
                  </a:lnTo>
                  <a:lnTo>
                    <a:pt x="11" y="488"/>
                  </a:lnTo>
                  <a:lnTo>
                    <a:pt x="11" y="488"/>
                  </a:lnTo>
                  <a:lnTo>
                    <a:pt x="14" y="485"/>
                  </a:lnTo>
                  <a:lnTo>
                    <a:pt x="17" y="485"/>
                  </a:lnTo>
                  <a:lnTo>
                    <a:pt x="17" y="485"/>
                  </a:lnTo>
                  <a:lnTo>
                    <a:pt x="17" y="495"/>
                  </a:lnTo>
                  <a:lnTo>
                    <a:pt x="17" y="495"/>
                  </a:lnTo>
                  <a:close/>
                  <a:moveTo>
                    <a:pt x="17" y="461"/>
                  </a:moveTo>
                  <a:lnTo>
                    <a:pt x="17" y="461"/>
                  </a:lnTo>
                  <a:lnTo>
                    <a:pt x="15" y="460"/>
                  </a:lnTo>
                  <a:lnTo>
                    <a:pt x="15" y="460"/>
                  </a:lnTo>
                  <a:lnTo>
                    <a:pt x="13" y="459"/>
                  </a:lnTo>
                  <a:lnTo>
                    <a:pt x="13" y="459"/>
                  </a:lnTo>
                  <a:lnTo>
                    <a:pt x="13" y="458"/>
                  </a:lnTo>
                  <a:lnTo>
                    <a:pt x="13" y="458"/>
                  </a:lnTo>
                  <a:lnTo>
                    <a:pt x="12" y="458"/>
                  </a:lnTo>
                  <a:lnTo>
                    <a:pt x="12" y="458"/>
                  </a:lnTo>
                  <a:lnTo>
                    <a:pt x="12" y="458"/>
                  </a:lnTo>
                  <a:lnTo>
                    <a:pt x="12" y="458"/>
                  </a:lnTo>
                  <a:lnTo>
                    <a:pt x="13" y="457"/>
                  </a:lnTo>
                  <a:lnTo>
                    <a:pt x="13" y="457"/>
                  </a:lnTo>
                  <a:lnTo>
                    <a:pt x="15" y="456"/>
                  </a:lnTo>
                  <a:lnTo>
                    <a:pt x="15" y="456"/>
                  </a:lnTo>
                  <a:lnTo>
                    <a:pt x="17" y="454"/>
                  </a:lnTo>
                  <a:lnTo>
                    <a:pt x="17" y="454"/>
                  </a:lnTo>
                  <a:lnTo>
                    <a:pt x="17" y="461"/>
                  </a:lnTo>
                  <a:lnTo>
                    <a:pt x="17" y="461"/>
                  </a:lnTo>
                  <a:close/>
                  <a:moveTo>
                    <a:pt x="17" y="428"/>
                  </a:moveTo>
                  <a:lnTo>
                    <a:pt x="17" y="428"/>
                  </a:lnTo>
                  <a:lnTo>
                    <a:pt x="14" y="427"/>
                  </a:lnTo>
                  <a:lnTo>
                    <a:pt x="12" y="425"/>
                  </a:lnTo>
                  <a:lnTo>
                    <a:pt x="11" y="424"/>
                  </a:lnTo>
                  <a:lnTo>
                    <a:pt x="11" y="423"/>
                  </a:lnTo>
                  <a:lnTo>
                    <a:pt x="14" y="422"/>
                  </a:lnTo>
                  <a:lnTo>
                    <a:pt x="14" y="422"/>
                  </a:lnTo>
                  <a:lnTo>
                    <a:pt x="17" y="421"/>
                  </a:lnTo>
                  <a:lnTo>
                    <a:pt x="17" y="421"/>
                  </a:lnTo>
                  <a:lnTo>
                    <a:pt x="17" y="428"/>
                  </a:lnTo>
                  <a:lnTo>
                    <a:pt x="17" y="428"/>
                  </a:lnTo>
                  <a:close/>
                  <a:moveTo>
                    <a:pt x="17" y="398"/>
                  </a:moveTo>
                  <a:lnTo>
                    <a:pt x="17" y="398"/>
                  </a:lnTo>
                  <a:lnTo>
                    <a:pt x="12" y="395"/>
                  </a:lnTo>
                  <a:lnTo>
                    <a:pt x="11" y="393"/>
                  </a:lnTo>
                  <a:lnTo>
                    <a:pt x="11" y="392"/>
                  </a:lnTo>
                  <a:lnTo>
                    <a:pt x="12" y="392"/>
                  </a:lnTo>
                  <a:lnTo>
                    <a:pt x="12" y="392"/>
                  </a:lnTo>
                  <a:lnTo>
                    <a:pt x="17" y="392"/>
                  </a:lnTo>
                  <a:lnTo>
                    <a:pt x="17" y="392"/>
                  </a:lnTo>
                  <a:lnTo>
                    <a:pt x="17" y="398"/>
                  </a:lnTo>
                  <a:lnTo>
                    <a:pt x="17" y="398"/>
                  </a:lnTo>
                  <a:close/>
                  <a:moveTo>
                    <a:pt x="17" y="368"/>
                  </a:moveTo>
                  <a:lnTo>
                    <a:pt x="17" y="368"/>
                  </a:lnTo>
                  <a:lnTo>
                    <a:pt x="15" y="367"/>
                  </a:lnTo>
                  <a:lnTo>
                    <a:pt x="13" y="365"/>
                  </a:lnTo>
                  <a:lnTo>
                    <a:pt x="13" y="363"/>
                  </a:lnTo>
                  <a:lnTo>
                    <a:pt x="14" y="362"/>
                  </a:lnTo>
                  <a:lnTo>
                    <a:pt x="14" y="362"/>
                  </a:lnTo>
                  <a:lnTo>
                    <a:pt x="16" y="361"/>
                  </a:lnTo>
                  <a:lnTo>
                    <a:pt x="17" y="361"/>
                  </a:lnTo>
                  <a:lnTo>
                    <a:pt x="17" y="361"/>
                  </a:lnTo>
                  <a:lnTo>
                    <a:pt x="17" y="368"/>
                  </a:lnTo>
                  <a:lnTo>
                    <a:pt x="17" y="368"/>
                  </a:lnTo>
                  <a:close/>
                  <a:moveTo>
                    <a:pt x="17" y="341"/>
                  </a:moveTo>
                  <a:lnTo>
                    <a:pt x="17" y="341"/>
                  </a:lnTo>
                  <a:lnTo>
                    <a:pt x="14" y="339"/>
                  </a:lnTo>
                  <a:lnTo>
                    <a:pt x="13" y="338"/>
                  </a:lnTo>
                  <a:lnTo>
                    <a:pt x="12" y="337"/>
                  </a:lnTo>
                  <a:lnTo>
                    <a:pt x="12" y="337"/>
                  </a:lnTo>
                  <a:lnTo>
                    <a:pt x="13" y="336"/>
                  </a:lnTo>
                  <a:lnTo>
                    <a:pt x="14" y="336"/>
                  </a:lnTo>
                  <a:lnTo>
                    <a:pt x="17" y="336"/>
                  </a:lnTo>
                  <a:lnTo>
                    <a:pt x="17" y="336"/>
                  </a:lnTo>
                  <a:lnTo>
                    <a:pt x="17" y="341"/>
                  </a:lnTo>
                  <a:lnTo>
                    <a:pt x="17" y="341"/>
                  </a:lnTo>
                  <a:close/>
                  <a:moveTo>
                    <a:pt x="17" y="310"/>
                  </a:moveTo>
                  <a:lnTo>
                    <a:pt x="17" y="310"/>
                  </a:lnTo>
                  <a:lnTo>
                    <a:pt x="14" y="309"/>
                  </a:lnTo>
                  <a:lnTo>
                    <a:pt x="14" y="309"/>
                  </a:lnTo>
                  <a:lnTo>
                    <a:pt x="12" y="308"/>
                  </a:lnTo>
                  <a:lnTo>
                    <a:pt x="11" y="307"/>
                  </a:lnTo>
                  <a:lnTo>
                    <a:pt x="14" y="305"/>
                  </a:lnTo>
                  <a:lnTo>
                    <a:pt x="14" y="305"/>
                  </a:lnTo>
                  <a:lnTo>
                    <a:pt x="17" y="304"/>
                  </a:lnTo>
                  <a:lnTo>
                    <a:pt x="17" y="304"/>
                  </a:lnTo>
                  <a:lnTo>
                    <a:pt x="17" y="310"/>
                  </a:lnTo>
                  <a:lnTo>
                    <a:pt x="17" y="310"/>
                  </a:lnTo>
                  <a:close/>
                  <a:moveTo>
                    <a:pt x="17" y="280"/>
                  </a:moveTo>
                  <a:lnTo>
                    <a:pt x="17" y="280"/>
                  </a:lnTo>
                  <a:lnTo>
                    <a:pt x="14" y="279"/>
                  </a:lnTo>
                  <a:lnTo>
                    <a:pt x="14" y="279"/>
                  </a:lnTo>
                  <a:lnTo>
                    <a:pt x="12" y="277"/>
                  </a:lnTo>
                  <a:lnTo>
                    <a:pt x="12" y="277"/>
                  </a:lnTo>
                  <a:lnTo>
                    <a:pt x="11" y="277"/>
                  </a:lnTo>
                  <a:lnTo>
                    <a:pt x="11" y="277"/>
                  </a:lnTo>
                  <a:lnTo>
                    <a:pt x="11" y="277"/>
                  </a:lnTo>
                  <a:lnTo>
                    <a:pt x="12" y="276"/>
                  </a:lnTo>
                  <a:lnTo>
                    <a:pt x="13" y="275"/>
                  </a:lnTo>
                  <a:lnTo>
                    <a:pt x="16" y="274"/>
                  </a:lnTo>
                  <a:lnTo>
                    <a:pt x="16" y="274"/>
                  </a:lnTo>
                  <a:lnTo>
                    <a:pt x="17" y="274"/>
                  </a:lnTo>
                  <a:lnTo>
                    <a:pt x="17" y="274"/>
                  </a:lnTo>
                  <a:lnTo>
                    <a:pt x="17" y="280"/>
                  </a:lnTo>
                  <a:lnTo>
                    <a:pt x="17" y="280"/>
                  </a:lnTo>
                  <a:close/>
                  <a:moveTo>
                    <a:pt x="17" y="249"/>
                  </a:moveTo>
                  <a:lnTo>
                    <a:pt x="17" y="249"/>
                  </a:lnTo>
                  <a:lnTo>
                    <a:pt x="12" y="247"/>
                  </a:lnTo>
                  <a:lnTo>
                    <a:pt x="12" y="247"/>
                  </a:lnTo>
                  <a:lnTo>
                    <a:pt x="10" y="245"/>
                  </a:lnTo>
                  <a:lnTo>
                    <a:pt x="10" y="245"/>
                  </a:lnTo>
                  <a:lnTo>
                    <a:pt x="9" y="244"/>
                  </a:lnTo>
                  <a:lnTo>
                    <a:pt x="9" y="244"/>
                  </a:lnTo>
                  <a:lnTo>
                    <a:pt x="13" y="243"/>
                  </a:lnTo>
                  <a:lnTo>
                    <a:pt x="17" y="243"/>
                  </a:lnTo>
                  <a:lnTo>
                    <a:pt x="17" y="243"/>
                  </a:lnTo>
                  <a:lnTo>
                    <a:pt x="17" y="249"/>
                  </a:lnTo>
                  <a:lnTo>
                    <a:pt x="17" y="249"/>
                  </a:lnTo>
                  <a:close/>
                  <a:moveTo>
                    <a:pt x="17" y="222"/>
                  </a:moveTo>
                  <a:lnTo>
                    <a:pt x="17" y="222"/>
                  </a:lnTo>
                  <a:lnTo>
                    <a:pt x="14" y="220"/>
                  </a:lnTo>
                  <a:lnTo>
                    <a:pt x="11" y="218"/>
                  </a:lnTo>
                  <a:lnTo>
                    <a:pt x="11" y="217"/>
                  </a:lnTo>
                  <a:lnTo>
                    <a:pt x="11" y="216"/>
                  </a:lnTo>
                  <a:lnTo>
                    <a:pt x="11" y="214"/>
                  </a:lnTo>
                  <a:lnTo>
                    <a:pt x="13" y="213"/>
                  </a:lnTo>
                  <a:lnTo>
                    <a:pt x="13" y="213"/>
                  </a:lnTo>
                  <a:lnTo>
                    <a:pt x="15" y="212"/>
                  </a:lnTo>
                  <a:lnTo>
                    <a:pt x="17" y="212"/>
                  </a:lnTo>
                  <a:lnTo>
                    <a:pt x="17" y="212"/>
                  </a:lnTo>
                  <a:lnTo>
                    <a:pt x="17" y="222"/>
                  </a:lnTo>
                  <a:lnTo>
                    <a:pt x="17" y="222"/>
                  </a:lnTo>
                  <a:close/>
                  <a:moveTo>
                    <a:pt x="17" y="190"/>
                  </a:moveTo>
                  <a:lnTo>
                    <a:pt x="17" y="190"/>
                  </a:lnTo>
                  <a:lnTo>
                    <a:pt x="16" y="189"/>
                  </a:lnTo>
                  <a:lnTo>
                    <a:pt x="15" y="187"/>
                  </a:lnTo>
                  <a:lnTo>
                    <a:pt x="15" y="185"/>
                  </a:lnTo>
                  <a:lnTo>
                    <a:pt x="17" y="184"/>
                  </a:lnTo>
                  <a:lnTo>
                    <a:pt x="17" y="184"/>
                  </a:lnTo>
                  <a:lnTo>
                    <a:pt x="17" y="190"/>
                  </a:lnTo>
                  <a:lnTo>
                    <a:pt x="17" y="190"/>
                  </a:lnTo>
                  <a:close/>
                  <a:moveTo>
                    <a:pt x="17" y="165"/>
                  </a:moveTo>
                  <a:lnTo>
                    <a:pt x="17" y="165"/>
                  </a:lnTo>
                  <a:lnTo>
                    <a:pt x="13" y="163"/>
                  </a:lnTo>
                  <a:lnTo>
                    <a:pt x="11" y="161"/>
                  </a:lnTo>
                  <a:lnTo>
                    <a:pt x="11" y="161"/>
                  </a:lnTo>
                  <a:lnTo>
                    <a:pt x="10" y="159"/>
                  </a:lnTo>
                  <a:lnTo>
                    <a:pt x="10" y="159"/>
                  </a:lnTo>
                  <a:lnTo>
                    <a:pt x="11" y="158"/>
                  </a:lnTo>
                  <a:lnTo>
                    <a:pt x="12" y="156"/>
                  </a:lnTo>
                  <a:lnTo>
                    <a:pt x="12" y="156"/>
                  </a:lnTo>
                  <a:lnTo>
                    <a:pt x="14" y="154"/>
                  </a:lnTo>
                  <a:lnTo>
                    <a:pt x="17" y="153"/>
                  </a:lnTo>
                  <a:lnTo>
                    <a:pt x="17" y="153"/>
                  </a:lnTo>
                  <a:lnTo>
                    <a:pt x="17" y="165"/>
                  </a:lnTo>
                  <a:lnTo>
                    <a:pt x="17" y="165"/>
                  </a:lnTo>
                  <a:close/>
                  <a:moveTo>
                    <a:pt x="17" y="121"/>
                  </a:moveTo>
                  <a:lnTo>
                    <a:pt x="17" y="121"/>
                  </a:lnTo>
                  <a:lnTo>
                    <a:pt x="12" y="119"/>
                  </a:lnTo>
                  <a:lnTo>
                    <a:pt x="12" y="119"/>
                  </a:lnTo>
                  <a:lnTo>
                    <a:pt x="11" y="118"/>
                  </a:lnTo>
                  <a:lnTo>
                    <a:pt x="10" y="117"/>
                  </a:lnTo>
                  <a:lnTo>
                    <a:pt x="10" y="115"/>
                  </a:lnTo>
                  <a:lnTo>
                    <a:pt x="12" y="113"/>
                  </a:lnTo>
                  <a:lnTo>
                    <a:pt x="12" y="113"/>
                  </a:lnTo>
                  <a:lnTo>
                    <a:pt x="14" y="111"/>
                  </a:lnTo>
                  <a:lnTo>
                    <a:pt x="17" y="110"/>
                  </a:lnTo>
                  <a:lnTo>
                    <a:pt x="17" y="110"/>
                  </a:lnTo>
                  <a:lnTo>
                    <a:pt x="17" y="121"/>
                  </a:lnTo>
                  <a:lnTo>
                    <a:pt x="17" y="121"/>
                  </a:lnTo>
                  <a:close/>
                  <a:moveTo>
                    <a:pt x="17" y="89"/>
                  </a:moveTo>
                  <a:lnTo>
                    <a:pt x="17" y="89"/>
                  </a:lnTo>
                  <a:lnTo>
                    <a:pt x="13" y="86"/>
                  </a:lnTo>
                  <a:lnTo>
                    <a:pt x="11" y="82"/>
                  </a:lnTo>
                  <a:lnTo>
                    <a:pt x="10" y="79"/>
                  </a:lnTo>
                  <a:lnTo>
                    <a:pt x="11" y="77"/>
                  </a:lnTo>
                  <a:lnTo>
                    <a:pt x="12" y="76"/>
                  </a:lnTo>
                  <a:lnTo>
                    <a:pt x="15" y="74"/>
                  </a:lnTo>
                  <a:lnTo>
                    <a:pt x="15" y="74"/>
                  </a:lnTo>
                  <a:lnTo>
                    <a:pt x="17" y="73"/>
                  </a:lnTo>
                  <a:lnTo>
                    <a:pt x="17" y="73"/>
                  </a:lnTo>
                  <a:lnTo>
                    <a:pt x="17" y="89"/>
                  </a:lnTo>
                  <a:lnTo>
                    <a:pt x="17" y="89"/>
                  </a:lnTo>
                  <a:close/>
                  <a:moveTo>
                    <a:pt x="17" y="50"/>
                  </a:moveTo>
                  <a:lnTo>
                    <a:pt x="17" y="50"/>
                  </a:lnTo>
                  <a:lnTo>
                    <a:pt x="14" y="49"/>
                  </a:lnTo>
                  <a:lnTo>
                    <a:pt x="13" y="46"/>
                  </a:lnTo>
                  <a:lnTo>
                    <a:pt x="13" y="46"/>
                  </a:lnTo>
                  <a:lnTo>
                    <a:pt x="13" y="43"/>
                  </a:lnTo>
                  <a:lnTo>
                    <a:pt x="15" y="41"/>
                  </a:lnTo>
                  <a:lnTo>
                    <a:pt x="15" y="41"/>
                  </a:lnTo>
                  <a:lnTo>
                    <a:pt x="17" y="39"/>
                  </a:lnTo>
                  <a:lnTo>
                    <a:pt x="17" y="39"/>
                  </a:lnTo>
                  <a:lnTo>
                    <a:pt x="17" y="50"/>
                  </a:lnTo>
                  <a:lnTo>
                    <a:pt x="17" y="50"/>
                  </a:lnTo>
                  <a:close/>
                  <a:moveTo>
                    <a:pt x="493" y="89"/>
                  </a:moveTo>
                  <a:lnTo>
                    <a:pt x="493" y="89"/>
                  </a:lnTo>
                  <a:lnTo>
                    <a:pt x="493" y="584"/>
                  </a:lnTo>
                  <a:lnTo>
                    <a:pt x="493" y="584"/>
                  </a:lnTo>
                  <a:lnTo>
                    <a:pt x="493" y="610"/>
                  </a:lnTo>
                  <a:lnTo>
                    <a:pt x="493" y="610"/>
                  </a:lnTo>
                  <a:lnTo>
                    <a:pt x="493" y="617"/>
                  </a:lnTo>
                  <a:lnTo>
                    <a:pt x="491" y="622"/>
                  </a:lnTo>
                  <a:lnTo>
                    <a:pt x="488" y="626"/>
                  </a:lnTo>
                  <a:lnTo>
                    <a:pt x="485" y="629"/>
                  </a:lnTo>
                  <a:lnTo>
                    <a:pt x="481" y="631"/>
                  </a:lnTo>
                  <a:lnTo>
                    <a:pt x="476" y="633"/>
                  </a:lnTo>
                  <a:lnTo>
                    <a:pt x="466" y="636"/>
                  </a:lnTo>
                  <a:lnTo>
                    <a:pt x="454" y="637"/>
                  </a:lnTo>
                  <a:lnTo>
                    <a:pt x="442" y="637"/>
                  </a:lnTo>
                  <a:lnTo>
                    <a:pt x="422" y="636"/>
                  </a:lnTo>
                  <a:lnTo>
                    <a:pt x="422" y="636"/>
                  </a:lnTo>
                  <a:lnTo>
                    <a:pt x="296" y="636"/>
                  </a:lnTo>
                  <a:lnTo>
                    <a:pt x="296" y="636"/>
                  </a:lnTo>
                  <a:lnTo>
                    <a:pt x="61" y="636"/>
                  </a:lnTo>
                  <a:lnTo>
                    <a:pt x="61" y="636"/>
                  </a:lnTo>
                  <a:lnTo>
                    <a:pt x="55" y="636"/>
                  </a:lnTo>
                  <a:lnTo>
                    <a:pt x="48" y="635"/>
                  </a:lnTo>
                  <a:lnTo>
                    <a:pt x="42" y="633"/>
                  </a:lnTo>
                  <a:lnTo>
                    <a:pt x="37" y="631"/>
                  </a:lnTo>
                  <a:lnTo>
                    <a:pt x="33" y="628"/>
                  </a:lnTo>
                  <a:lnTo>
                    <a:pt x="30" y="624"/>
                  </a:lnTo>
                  <a:lnTo>
                    <a:pt x="27" y="618"/>
                  </a:lnTo>
                  <a:lnTo>
                    <a:pt x="26" y="610"/>
                  </a:lnTo>
                  <a:lnTo>
                    <a:pt x="26" y="610"/>
                  </a:lnTo>
                  <a:lnTo>
                    <a:pt x="26" y="598"/>
                  </a:lnTo>
                  <a:lnTo>
                    <a:pt x="26" y="598"/>
                  </a:lnTo>
                  <a:lnTo>
                    <a:pt x="26" y="590"/>
                  </a:lnTo>
                  <a:lnTo>
                    <a:pt x="26" y="590"/>
                  </a:lnTo>
                  <a:lnTo>
                    <a:pt x="31" y="593"/>
                  </a:lnTo>
                  <a:lnTo>
                    <a:pt x="31" y="593"/>
                  </a:lnTo>
                  <a:lnTo>
                    <a:pt x="33" y="593"/>
                  </a:lnTo>
                  <a:lnTo>
                    <a:pt x="34" y="593"/>
                  </a:lnTo>
                  <a:lnTo>
                    <a:pt x="36" y="593"/>
                  </a:lnTo>
                  <a:lnTo>
                    <a:pt x="37" y="591"/>
                  </a:lnTo>
                  <a:lnTo>
                    <a:pt x="37" y="588"/>
                  </a:lnTo>
                  <a:lnTo>
                    <a:pt x="37" y="586"/>
                  </a:lnTo>
                  <a:lnTo>
                    <a:pt x="36" y="585"/>
                  </a:lnTo>
                  <a:lnTo>
                    <a:pt x="36" y="585"/>
                  </a:lnTo>
                  <a:lnTo>
                    <a:pt x="31" y="582"/>
                  </a:lnTo>
                  <a:lnTo>
                    <a:pt x="26" y="581"/>
                  </a:lnTo>
                  <a:lnTo>
                    <a:pt x="26" y="581"/>
                  </a:lnTo>
                  <a:lnTo>
                    <a:pt x="26" y="559"/>
                  </a:lnTo>
                  <a:lnTo>
                    <a:pt x="26" y="559"/>
                  </a:lnTo>
                  <a:lnTo>
                    <a:pt x="34" y="561"/>
                  </a:lnTo>
                  <a:lnTo>
                    <a:pt x="34" y="561"/>
                  </a:lnTo>
                  <a:lnTo>
                    <a:pt x="36" y="561"/>
                  </a:lnTo>
                  <a:lnTo>
                    <a:pt x="38" y="560"/>
                  </a:lnTo>
                  <a:lnTo>
                    <a:pt x="39" y="558"/>
                  </a:lnTo>
                  <a:lnTo>
                    <a:pt x="39" y="555"/>
                  </a:lnTo>
                  <a:lnTo>
                    <a:pt x="38" y="553"/>
                  </a:lnTo>
                  <a:lnTo>
                    <a:pt x="36" y="553"/>
                  </a:lnTo>
                  <a:lnTo>
                    <a:pt x="36" y="553"/>
                  </a:lnTo>
                  <a:lnTo>
                    <a:pt x="26" y="550"/>
                  </a:lnTo>
                  <a:lnTo>
                    <a:pt x="26" y="550"/>
                  </a:lnTo>
                  <a:lnTo>
                    <a:pt x="26" y="525"/>
                  </a:lnTo>
                  <a:lnTo>
                    <a:pt x="26" y="525"/>
                  </a:lnTo>
                  <a:lnTo>
                    <a:pt x="32" y="527"/>
                  </a:lnTo>
                  <a:lnTo>
                    <a:pt x="32" y="527"/>
                  </a:lnTo>
                  <a:lnTo>
                    <a:pt x="34" y="527"/>
                  </a:lnTo>
                  <a:lnTo>
                    <a:pt x="36" y="527"/>
                  </a:lnTo>
                  <a:lnTo>
                    <a:pt x="37" y="524"/>
                  </a:lnTo>
                  <a:lnTo>
                    <a:pt x="37" y="521"/>
                  </a:lnTo>
                  <a:lnTo>
                    <a:pt x="36" y="520"/>
                  </a:lnTo>
                  <a:lnTo>
                    <a:pt x="35" y="519"/>
                  </a:lnTo>
                  <a:lnTo>
                    <a:pt x="35" y="519"/>
                  </a:lnTo>
                  <a:lnTo>
                    <a:pt x="26" y="516"/>
                  </a:lnTo>
                  <a:lnTo>
                    <a:pt x="26" y="516"/>
                  </a:lnTo>
                  <a:lnTo>
                    <a:pt x="26" y="487"/>
                  </a:lnTo>
                  <a:lnTo>
                    <a:pt x="26" y="487"/>
                  </a:lnTo>
                  <a:lnTo>
                    <a:pt x="34" y="490"/>
                  </a:lnTo>
                  <a:lnTo>
                    <a:pt x="34" y="490"/>
                  </a:lnTo>
                  <a:lnTo>
                    <a:pt x="36" y="491"/>
                  </a:lnTo>
                  <a:lnTo>
                    <a:pt x="37" y="490"/>
                  </a:lnTo>
                  <a:lnTo>
                    <a:pt x="39" y="489"/>
                  </a:lnTo>
                  <a:lnTo>
                    <a:pt x="39" y="488"/>
                  </a:lnTo>
                  <a:lnTo>
                    <a:pt x="39" y="484"/>
                  </a:lnTo>
                  <a:lnTo>
                    <a:pt x="38" y="483"/>
                  </a:lnTo>
                  <a:lnTo>
                    <a:pt x="36" y="482"/>
                  </a:lnTo>
                  <a:lnTo>
                    <a:pt x="36" y="482"/>
                  </a:lnTo>
                  <a:lnTo>
                    <a:pt x="26" y="478"/>
                  </a:lnTo>
                  <a:lnTo>
                    <a:pt x="26" y="478"/>
                  </a:lnTo>
                  <a:lnTo>
                    <a:pt x="26" y="454"/>
                  </a:lnTo>
                  <a:lnTo>
                    <a:pt x="26" y="454"/>
                  </a:lnTo>
                  <a:lnTo>
                    <a:pt x="29" y="456"/>
                  </a:lnTo>
                  <a:lnTo>
                    <a:pt x="32" y="458"/>
                  </a:lnTo>
                  <a:lnTo>
                    <a:pt x="32" y="458"/>
                  </a:lnTo>
                  <a:lnTo>
                    <a:pt x="33" y="460"/>
                  </a:lnTo>
                  <a:lnTo>
                    <a:pt x="35" y="460"/>
                  </a:lnTo>
                  <a:lnTo>
                    <a:pt x="38" y="460"/>
                  </a:lnTo>
                  <a:lnTo>
                    <a:pt x="39" y="459"/>
                  </a:lnTo>
                  <a:lnTo>
                    <a:pt x="40" y="457"/>
                  </a:lnTo>
                  <a:lnTo>
                    <a:pt x="40" y="456"/>
                  </a:lnTo>
                  <a:lnTo>
                    <a:pt x="39" y="454"/>
                  </a:lnTo>
                  <a:lnTo>
                    <a:pt x="39" y="454"/>
                  </a:lnTo>
                  <a:lnTo>
                    <a:pt x="36" y="450"/>
                  </a:lnTo>
                  <a:lnTo>
                    <a:pt x="33" y="447"/>
                  </a:lnTo>
                  <a:lnTo>
                    <a:pt x="30" y="446"/>
                  </a:lnTo>
                  <a:lnTo>
                    <a:pt x="26" y="444"/>
                  </a:lnTo>
                  <a:lnTo>
                    <a:pt x="26" y="444"/>
                  </a:lnTo>
                  <a:lnTo>
                    <a:pt x="26" y="424"/>
                  </a:lnTo>
                  <a:lnTo>
                    <a:pt x="26" y="424"/>
                  </a:lnTo>
                  <a:lnTo>
                    <a:pt x="32" y="427"/>
                  </a:lnTo>
                  <a:lnTo>
                    <a:pt x="32" y="427"/>
                  </a:lnTo>
                  <a:lnTo>
                    <a:pt x="34" y="428"/>
                  </a:lnTo>
                  <a:lnTo>
                    <a:pt x="35" y="428"/>
                  </a:lnTo>
                  <a:lnTo>
                    <a:pt x="37" y="427"/>
                  </a:lnTo>
                  <a:lnTo>
                    <a:pt x="38" y="426"/>
                  </a:lnTo>
                  <a:lnTo>
                    <a:pt x="38" y="423"/>
                  </a:lnTo>
                  <a:lnTo>
                    <a:pt x="38" y="421"/>
                  </a:lnTo>
                  <a:lnTo>
                    <a:pt x="37" y="420"/>
                  </a:lnTo>
                  <a:lnTo>
                    <a:pt x="37" y="420"/>
                  </a:lnTo>
                  <a:lnTo>
                    <a:pt x="32" y="417"/>
                  </a:lnTo>
                  <a:lnTo>
                    <a:pt x="26" y="414"/>
                  </a:lnTo>
                  <a:lnTo>
                    <a:pt x="26" y="414"/>
                  </a:lnTo>
                  <a:lnTo>
                    <a:pt x="26" y="394"/>
                  </a:lnTo>
                  <a:lnTo>
                    <a:pt x="26" y="394"/>
                  </a:lnTo>
                  <a:lnTo>
                    <a:pt x="31" y="397"/>
                  </a:lnTo>
                  <a:lnTo>
                    <a:pt x="31" y="397"/>
                  </a:lnTo>
                  <a:lnTo>
                    <a:pt x="33" y="398"/>
                  </a:lnTo>
                  <a:lnTo>
                    <a:pt x="34" y="398"/>
                  </a:lnTo>
                  <a:lnTo>
                    <a:pt x="36" y="397"/>
                  </a:lnTo>
                  <a:lnTo>
                    <a:pt x="37" y="396"/>
                  </a:lnTo>
                  <a:lnTo>
                    <a:pt x="37" y="392"/>
                  </a:lnTo>
                  <a:lnTo>
                    <a:pt x="37" y="391"/>
                  </a:lnTo>
                  <a:lnTo>
                    <a:pt x="36" y="390"/>
                  </a:lnTo>
                  <a:lnTo>
                    <a:pt x="36" y="390"/>
                  </a:lnTo>
                  <a:lnTo>
                    <a:pt x="31" y="387"/>
                  </a:lnTo>
                  <a:lnTo>
                    <a:pt x="26" y="385"/>
                  </a:lnTo>
                  <a:lnTo>
                    <a:pt x="26" y="385"/>
                  </a:lnTo>
                  <a:lnTo>
                    <a:pt x="26" y="364"/>
                  </a:lnTo>
                  <a:lnTo>
                    <a:pt x="26" y="364"/>
                  </a:lnTo>
                  <a:lnTo>
                    <a:pt x="33" y="367"/>
                  </a:lnTo>
                  <a:lnTo>
                    <a:pt x="33" y="367"/>
                  </a:lnTo>
                  <a:lnTo>
                    <a:pt x="35" y="368"/>
                  </a:lnTo>
                  <a:lnTo>
                    <a:pt x="37" y="367"/>
                  </a:lnTo>
                  <a:lnTo>
                    <a:pt x="38" y="366"/>
                  </a:lnTo>
                  <a:lnTo>
                    <a:pt x="38" y="365"/>
                  </a:lnTo>
                  <a:lnTo>
                    <a:pt x="38" y="361"/>
                  </a:lnTo>
                  <a:lnTo>
                    <a:pt x="37" y="360"/>
                  </a:lnTo>
                  <a:lnTo>
                    <a:pt x="35" y="359"/>
                  </a:lnTo>
                  <a:lnTo>
                    <a:pt x="35" y="359"/>
                  </a:lnTo>
                  <a:lnTo>
                    <a:pt x="26" y="355"/>
                  </a:lnTo>
                  <a:lnTo>
                    <a:pt x="26" y="355"/>
                  </a:lnTo>
                  <a:lnTo>
                    <a:pt x="26" y="337"/>
                  </a:lnTo>
                  <a:lnTo>
                    <a:pt x="26" y="337"/>
                  </a:lnTo>
                  <a:lnTo>
                    <a:pt x="31" y="339"/>
                  </a:lnTo>
                  <a:lnTo>
                    <a:pt x="31" y="339"/>
                  </a:lnTo>
                  <a:lnTo>
                    <a:pt x="33" y="340"/>
                  </a:lnTo>
                  <a:lnTo>
                    <a:pt x="35" y="339"/>
                  </a:lnTo>
                  <a:lnTo>
                    <a:pt x="36" y="337"/>
                  </a:lnTo>
                  <a:lnTo>
                    <a:pt x="36" y="333"/>
                  </a:lnTo>
                  <a:lnTo>
                    <a:pt x="35" y="332"/>
                  </a:lnTo>
                  <a:lnTo>
                    <a:pt x="34" y="331"/>
                  </a:lnTo>
                  <a:lnTo>
                    <a:pt x="34" y="331"/>
                  </a:lnTo>
                  <a:lnTo>
                    <a:pt x="26" y="328"/>
                  </a:lnTo>
                  <a:lnTo>
                    <a:pt x="26" y="328"/>
                  </a:lnTo>
                  <a:lnTo>
                    <a:pt x="26" y="305"/>
                  </a:lnTo>
                  <a:lnTo>
                    <a:pt x="26" y="305"/>
                  </a:lnTo>
                  <a:lnTo>
                    <a:pt x="32" y="307"/>
                  </a:lnTo>
                  <a:lnTo>
                    <a:pt x="32" y="307"/>
                  </a:lnTo>
                  <a:lnTo>
                    <a:pt x="34" y="308"/>
                  </a:lnTo>
                  <a:lnTo>
                    <a:pt x="36" y="307"/>
                  </a:lnTo>
                  <a:lnTo>
                    <a:pt x="37" y="306"/>
                  </a:lnTo>
                  <a:lnTo>
                    <a:pt x="37" y="305"/>
                  </a:lnTo>
                  <a:lnTo>
                    <a:pt x="37" y="301"/>
                  </a:lnTo>
                  <a:lnTo>
                    <a:pt x="36" y="300"/>
                  </a:lnTo>
                  <a:lnTo>
                    <a:pt x="35" y="299"/>
                  </a:lnTo>
                  <a:lnTo>
                    <a:pt x="35" y="299"/>
                  </a:lnTo>
                  <a:lnTo>
                    <a:pt x="26" y="297"/>
                  </a:lnTo>
                  <a:lnTo>
                    <a:pt x="26" y="297"/>
                  </a:lnTo>
                  <a:lnTo>
                    <a:pt x="26" y="276"/>
                  </a:lnTo>
                  <a:lnTo>
                    <a:pt x="26" y="276"/>
                  </a:lnTo>
                  <a:lnTo>
                    <a:pt x="30" y="277"/>
                  </a:lnTo>
                  <a:lnTo>
                    <a:pt x="30" y="277"/>
                  </a:lnTo>
                  <a:lnTo>
                    <a:pt x="32" y="278"/>
                  </a:lnTo>
                  <a:lnTo>
                    <a:pt x="34" y="277"/>
                  </a:lnTo>
                  <a:lnTo>
                    <a:pt x="35" y="275"/>
                  </a:lnTo>
                  <a:lnTo>
                    <a:pt x="35" y="271"/>
                  </a:lnTo>
                  <a:lnTo>
                    <a:pt x="34" y="270"/>
                  </a:lnTo>
                  <a:lnTo>
                    <a:pt x="33" y="269"/>
                  </a:lnTo>
                  <a:lnTo>
                    <a:pt x="33" y="269"/>
                  </a:lnTo>
                  <a:lnTo>
                    <a:pt x="26" y="267"/>
                  </a:lnTo>
                  <a:lnTo>
                    <a:pt x="26" y="267"/>
                  </a:lnTo>
                  <a:lnTo>
                    <a:pt x="26" y="246"/>
                  </a:lnTo>
                  <a:lnTo>
                    <a:pt x="26" y="246"/>
                  </a:lnTo>
                  <a:lnTo>
                    <a:pt x="28" y="248"/>
                  </a:lnTo>
                  <a:lnTo>
                    <a:pt x="28" y="248"/>
                  </a:lnTo>
                  <a:lnTo>
                    <a:pt x="30" y="249"/>
                  </a:lnTo>
                  <a:lnTo>
                    <a:pt x="32" y="249"/>
                  </a:lnTo>
                  <a:lnTo>
                    <a:pt x="34" y="248"/>
                  </a:lnTo>
                  <a:lnTo>
                    <a:pt x="36" y="245"/>
                  </a:lnTo>
                  <a:lnTo>
                    <a:pt x="36" y="244"/>
                  </a:lnTo>
                  <a:lnTo>
                    <a:pt x="35" y="242"/>
                  </a:lnTo>
                  <a:lnTo>
                    <a:pt x="35" y="242"/>
                  </a:lnTo>
                  <a:lnTo>
                    <a:pt x="31" y="239"/>
                  </a:lnTo>
                  <a:lnTo>
                    <a:pt x="26" y="237"/>
                  </a:lnTo>
                  <a:lnTo>
                    <a:pt x="26" y="237"/>
                  </a:lnTo>
                  <a:lnTo>
                    <a:pt x="26" y="213"/>
                  </a:lnTo>
                  <a:lnTo>
                    <a:pt x="26" y="213"/>
                  </a:lnTo>
                  <a:lnTo>
                    <a:pt x="31" y="215"/>
                  </a:lnTo>
                  <a:lnTo>
                    <a:pt x="31" y="215"/>
                  </a:lnTo>
                  <a:lnTo>
                    <a:pt x="33" y="216"/>
                  </a:lnTo>
                  <a:lnTo>
                    <a:pt x="35" y="215"/>
                  </a:lnTo>
                  <a:lnTo>
                    <a:pt x="37" y="213"/>
                  </a:lnTo>
                  <a:lnTo>
                    <a:pt x="38" y="212"/>
                  </a:lnTo>
                  <a:lnTo>
                    <a:pt x="38" y="209"/>
                  </a:lnTo>
                  <a:lnTo>
                    <a:pt x="37" y="208"/>
                  </a:lnTo>
                  <a:lnTo>
                    <a:pt x="36" y="207"/>
                  </a:lnTo>
                  <a:lnTo>
                    <a:pt x="36" y="207"/>
                  </a:lnTo>
                  <a:lnTo>
                    <a:pt x="26" y="203"/>
                  </a:lnTo>
                  <a:lnTo>
                    <a:pt x="26" y="203"/>
                  </a:lnTo>
                  <a:lnTo>
                    <a:pt x="26" y="185"/>
                  </a:lnTo>
                  <a:lnTo>
                    <a:pt x="26" y="185"/>
                  </a:lnTo>
                  <a:lnTo>
                    <a:pt x="30" y="187"/>
                  </a:lnTo>
                  <a:lnTo>
                    <a:pt x="30" y="187"/>
                  </a:lnTo>
                  <a:lnTo>
                    <a:pt x="32" y="188"/>
                  </a:lnTo>
                  <a:lnTo>
                    <a:pt x="33" y="188"/>
                  </a:lnTo>
                  <a:lnTo>
                    <a:pt x="35" y="187"/>
                  </a:lnTo>
                  <a:lnTo>
                    <a:pt x="36" y="186"/>
                  </a:lnTo>
                  <a:lnTo>
                    <a:pt x="36" y="182"/>
                  </a:lnTo>
                  <a:lnTo>
                    <a:pt x="36" y="181"/>
                  </a:lnTo>
                  <a:lnTo>
                    <a:pt x="35" y="179"/>
                  </a:lnTo>
                  <a:lnTo>
                    <a:pt x="35" y="179"/>
                  </a:lnTo>
                  <a:lnTo>
                    <a:pt x="31" y="177"/>
                  </a:lnTo>
                  <a:lnTo>
                    <a:pt x="26" y="176"/>
                  </a:lnTo>
                  <a:lnTo>
                    <a:pt x="26" y="176"/>
                  </a:lnTo>
                  <a:lnTo>
                    <a:pt x="26" y="153"/>
                  </a:lnTo>
                  <a:lnTo>
                    <a:pt x="26" y="153"/>
                  </a:lnTo>
                  <a:lnTo>
                    <a:pt x="31" y="156"/>
                  </a:lnTo>
                  <a:lnTo>
                    <a:pt x="31" y="156"/>
                  </a:lnTo>
                  <a:lnTo>
                    <a:pt x="33" y="157"/>
                  </a:lnTo>
                  <a:lnTo>
                    <a:pt x="34" y="157"/>
                  </a:lnTo>
                  <a:lnTo>
                    <a:pt x="36" y="156"/>
                  </a:lnTo>
                  <a:lnTo>
                    <a:pt x="37" y="155"/>
                  </a:lnTo>
                  <a:lnTo>
                    <a:pt x="37" y="152"/>
                  </a:lnTo>
                  <a:lnTo>
                    <a:pt x="37" y="150"/>
                  </a:lnTo>
                  <a:lnTo>
                    <a:pt x="36" y="148"/>
                  </a:lnTo>
                  <a:lnTo>
                    <a:pt x="36" y="148"/>
                  </a:lnTo>
                  <a:lnTo>
                    <a:pt x="31" y="146"/>
                  </a:lnTo>
                  <a:lnTo>
                    <a:pt x="26" y="144"/>
                  </a:lnTo>
                  <a:lnTo>
                    <a:pt x="26" y="144"/>
                  </a:lnTo>
                  <a:lnTo>
                    <a:pt x="26" y="111"/>
                  </a:lnTo>
                  <a:lnTo>
                    <a:pt x="26" y="111"/>
                  </a:lnTo>
                  <a:lnTo>
                    <a:pt x="33" y="114"/>
                  </a:lnTo>
                  <a:lnTo>
                    <a:pt x="33" y="114"/>
                  </a:lnTo>
                  <a:lnTo>
                    <a:pt x="34" y="115"/>
                  </a:lnTo>
                  <a:lnTo>
                    <a:pt x="36" y="115"/>
                  </a:lnTo>
                  <a:lnTo>
                    <a:pt x="38" y="113"/>
                  </a:lnTo>
                  <a:lnTo>
                    <a:pt x="39" y="110"/>
                  </a:lnTo>
                  <a:lnTo>
                    <a:pt x="38" y="108"/>
                  </a:lnTo>
                  <a:lnTo>
                    <a:pt x="37" y="107"/>
                  </a:lnTo>
                  <a:lnTo>
                    <a:pt x="37" y="107"/>
                  </a:lnTo>
                  <a:lnTo>
                    <a:pt x="32" y="104"/>
                  </a:lnTo>
                  <a:lnTo>
                    <a:pt x="26" y="103"/>
                  </a:lnTo>
                  <a:lnTo>
                    <a:pt x="26" y="103"/>
                  </a:lnTo>
                  <a:lnTo>
                    <a:pt x="26" y="73"/>
                  </a:lnTo>
                  <a:lnTo>
                    <a:pt x="26" y="73"/>
                  </a:lnTo>
                  <a:lnTo>
                    <a:pt x="34" y="74"/>
                  </a:lnTo>
                  <a:lnTo>
                    <a:pt x="34" y="74"/>
                  </a:lnTo>
                  <a:lnTo>
                    <a:pt x="36" y="74"/>
                  </a:lnTo>
                  <a:lnTo>
                    <a:pt x="37" y="74"/>
                  </a:lnTo>
                  <a:lnTo>
                    <a:pt x="39" y="71"/>
                  </a:lnTo>
                  <a:lnTo>
                    <a:pt x="39" y="68"/>
                  </a:lnTo>
                  <a:lnTo>
                    <a:pt x="38" y="67"/>
                  </a:lnTo>
                  <a:lnTo>
                    <a:pt x="36" y="66"/>
                  </a:lnTo>
                  <a:lnTo>
                    <a:pt x="36" y="66"/>
                  </a:lnTo>
                  <a:lnTo>
                    <a:pt x="26" y="64"/>
                  </a:lnTo>
                  <a:lnTo>
                    <a:pt x="26" y="64"/>
                  </a:lnTo>
                  <a:lnTo>
                    <a:pt x="26" y="41"/>
                  </a:lnTo>
                  <a:lnTo>
                    <a:pt x="26" y="41"/>
                  </a:lnTo>
                  <a:lnTo>
                    <a:pt x="26" y="37"/>
                  </a:lnTo>
                  <a:lnTo>
                    <a:pt x="26" y="37"/>
                  </a:lnTo>
                  <a:lnTo>
                    <a:pt x="30" y="38"/>
                  </a:lnTo>
                  <a:lnTo>
                    <a:pt x="34" y="39"/>
                  </a:lnTo>
                  <a:lnTo>
                    <a:pt x="34" y="39"/>
                  </a:lnTo>
                  <a:lnTo>
                    <a:pt x="36" y="40"/>
                  </a:lnTo>
                  <a:lnTo>
                    <a:pt x="38" y="40"/>
                  </a:lnTo>
                  <a:lnTo>
                    <a:pt x="40" y="37"/>
                  </a:lnTo>
                  <a:lnTo>
                    <a:pt x="41" y="34"/>
                  </a:lnTo>
                  <a:lnTo>
                    <a:pt x="40" y="33"/>
                  </a:lnTo>
                  <a:lnTo>
                    <a:pt x="38" y="32"/>
                  </a:lnTo>
                  <a:lnTo>
                    <a:pt x="38" y="32"/>
                  </a:lnTo>
                  <a:lnTo>
                    <a:pt x="33" y="30"/>
                  </a:lnTo>
                  <a:lnTo>
                    <a:pt x="28" y="29"/>
                  </a:lnTo>
                  <a:lnTo>
                    <a:pt x="28" y="29"/>
                  </a:lnTo>
                  <a:lnTo>
                    <a:pt x="30" y="22"/>
                  </a:lnTo>
                  <a:lnTo>
                    <a:pt x="33" y="18"/>
                  </a:lnTo>
                  <a:lnTo>
                    <a:pt x="35" y="16"/>
                  </a:lnTo>
                  <a:lnTo>
                    <a:pt x="38" y="13"/>
                  </a:lnTo>
                  <a:lnTo>
                    <a:pt x="42" y="11"/>
                  </a:lnTo>
                  <a:lnTo>
                    <a:pt x="46" y="10"/>
                  </a:lnTo>
                  <a:lnTo>
                    <a:pt x="51" y="9"/>
                  </a:lnTo>
                  <a:lnTo>
                    <a:pt x="51" y="9"/>
                  </a:lnTo>
                  <a:lnTo>
                    <a:pt x="67" y="9"/>
                  </a:lnTo>
                  <a:lnTo>
                    <a:pt x="67" y="9"/>
                  </a:lnTo>
                  <a:lnTo>
                    <a:pt x="170" y="9"/>
                  </a:lnTo>
                  <a:lnTo>
                    <a:pt x="170" y="9"/>
                  </a:lnTo>
                  <a:lnTo>
                    <a:pt x="433" y="9"/>
                  </a:lnTo>
                  <a:lnTo>
                    <a:pt x="433" y="9"/>
                  </a:lnTo>
                  <a:lnTo>
                    <a:pt x="451" y="9"/>
                  </a:lnTo>
                  <a:lnTo>
                    <a:pt x="462" y="9"/>
                  </a:lnTo>
                  <a:lnTo>
                    <a:pt x="472" y="10"/>
                  </a:lnTo>
                  <a:lnTo>
                    <a:pt x="480" y="13"/>
                  </a:lnTo>
                  <a:lnTo>
                    <a:pt x="484" y="15"/>
                  </a:lnTo>
                  <a:lnTo>
                    <a:pt x="487" y="18"/>
                  </a:lnTo>
                  <a:lnTo>
                    <a:pt x="490" y="21"/>
                  </a:lnTo>
                  <a:lnTo>
                    <a:pt x="492" y="25"/>
                  </a:lnTo>
                  <a:lnTo>
                    <a:pt x="493" y="29"/>
                  </a:lnTo>
                  <a:lnTo>
                    <a:pt x="493" y="35"/>
                  </a:lnTo>
                  <a:lnTo>
                    <a:pt x="493" y="35"/>
                  </a:lnTo>
                  <a:lnTo>
                    <a:pt x="493" y="89"/>
                  </a:lnTo>
                  <a:lnTo>
                    <a:pt x="493" y="89"/>
                  </a:lnTo>
                  <a:close/>
                </a:path>
              </a:pathLst>
            </a:cu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4562">
                                            <p:txEl>
                                              <p:pRg st="0" end="0"/>
                                            </p:txEl>
                                          </p:spTgt>
                                        </p:tgtEl>
                                        <p:attrNameLst>
                                          <p:attrName>style.visibility</p:attrName>
                                        </p:attrNameLst>
                                      </p:cBhvr>
                                      <p:to>
                                        <p:strVal val="visible"/>
                                      </p:to>
                                    </p:set>
                                    <p:animEffect transition="in" filter="dissolve">
                                      <p:cBhvr>
                                        <p:cTn id="7" dur="500"/>
                                        <p:tgtEl>
                                          <p:spTgt spid="14745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4562">
                                            <p:txEl>
                                              <p:pRg st="1" end="1"/>
                                            </p:txEl>
                                          </p:spTgt>
                                        </p:tgtEl>
                                        <p:attrNameLst>
                                          <p:attrName>style.visibility</p:attrName>
                                        </p:attrNameLst>
                                      </p:cBhvr>
                                      <p:to>
                                        <p:strVal val="visible"/>
                                      </p:to>
                                    </p:set>
                                    <p:animEffect transition="in" filter="dissolve">
                                      <p:cBhvr>
                                        <p:cTn id="12" dur="500"/>
                                        <p:tgtEl>
                                          <p:spTgt spid="14745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74562">
                                            <p:txEl>
                                              <p:pRg st="2" end="2"/>
                                            </p:txEl>
                                          </p:spTgt>
                                        </p:tgtEl>
                                        <p:attrNameLst>
                                          <p:attrName>style.visibility</p:attrName>
                                        </p:attrNameLst>
                                      </p:cBhvr>
                                      <p:to>
                                        <p:strVal val="visible"/>
                                      </p:to>
                                    </p:set>
                                    <p:animEffect transition="in" filter="dissolve">
                                      <p:cBhvr>
                                        <p:cTn id="17" dur="500"/>
                                        <p:tgtEl>
                                          <p:spTgt spid="14745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74562">
                                            <p:txEl>
                                              <p:pRg st="3" end="3"/>
                                            </p:txEl>
                                          </p:spTgt>
                                        </p:tgtEl>
                                        <p:attrNameLst>
                                          <p:attrName>style.visibility</p:attrName>
                                        </p:attrNameLst>
                                      </p:cBhvr>
                                      <p:to>
                                        <p:strVal val="visible"/>
                                      </p:to>
                                    </p:set>
                                    <p:animEffect transition="in" filter="dissolve">
                                      <p:cBhvr>
                                        <p:cTn id="22" dur="500"/>
                                        <p:tgtEl>
                                          <p:spTgt spid="14745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74564"/>
                                        </p:tgtEl>
                                        <p:attrNameLst>
                                          <p:attrName>style.visibility</p:attrName>
                                        </p:attrNameLst>
                                      </p:cBhvr>
                                      <p:to>
                                        <p:strVal val="visible"/>
                                      </p:to>
                                    </p:set>
                                    <p:animEffect transition="in" filter="dissolve">
                                      <p:cBhvr>
                                        <p:cTn id="27" dur="500"/>
                                        <p:tgtEl>
                                          <p:spTgt spid="1474564"/>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1474566"/>
                                        </p:tgtEl>
                                        <p:attrNameLst>
                                          <p:attrName>style.visibility</p:attrName>
                                        </p:attrNameLst>
                                      </p:cBhvr>
                                      <p:to>
                                        <p:strVal val="visible"/>
                                      </p:to>
                                    </p:set>
                                    <p:animEffect transition="in" filter="dissolve">
                                      <p:cBhvr>
                                        <p:cTn id="31" dur="500"/>
                                        <p:tgtEl>
                                          <p:spTgt spid="147456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wd">
                                    <p:tmPct val="100000"/>
                                  </p:iterate>
                                  <p:childTnLst>
                                    <p:set>
                                      <p:cBhvr>
                                        <p:cTn id="35" dur="1" fill="hold">
                                          <p:stCondLst>
                                            <p:cond delay="0"/>
                                          </p:stCondLst>
                                        </p:cTn>
                                        <p:tgtEl>
                                          <p:spTgt spid="1474565">
                                            <p:txEl>
                                              <p:pRg st="0" end="0"/>
                                            </p:txEl>
                                          </p:spTgt>
                                        </p:tgtEl>
                                        <p:attrNameLst>
                                          <p:attrName>style.visibility</p:attrName>
                                        </p:attrNameLst>
                                      </p:cBhvr>
                                      <p:to>
                                        <p:strVal val="visible"/>
                                      </p:to>
                                    </p:set>
                                    <p:animEffect transition="in" filter="dissolve">
                                      <p:cBhvr>
                                        <p:cTn id="36" dur="300"/>
                                        <p:tgtEl>
                                          <p:spTgt spid="147456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iterate type="wd">
                                    <p:tmPct val="100000"/>
                                  </p:iterate>
                                  <p:childTnLst>
                                    <p:set>
                                      <p:cBhvr>
                                        <p:cTn id="40" dur="1" fill="hold">
                                          <p:stCondLst>
                                            <p:cond delay="0"/>
                                          </p:stCondLst>
                                        </p:cTn>
                                        <p:tgtEl>
                                          <p:spTgt spid="1474565">
                                            <p:txEl>
                                              <p:pRg st="1" end="1"/>
                                            </p:txEl>
                                          </p:spTgt>
                                        </p:tgtEl>
                                        <p:attrNameLst>
                                          <p:attrName>style.visibility</p:attrName>
                                        </p:attrNameLst>
                                      </p:cBhvr>
                                      <p:to>
                                        <p:strVal val="visible"/>
                                      </p:to>
                                    </p:set>
                                    <p:animEffect transition="in" filter="dissolve">
                                      <p:cBhvr>
                                        <p:cTn id="41" dur="300"/>
                                        <p:tgtEl>
                                          <p:spTgt spid="1474565">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iterate type="wd">
                                    <p:tmPct val="100000"/>
                                  </p:iterate>
                                  <p:childTnLst>
                                    <p:set>
                                      <p:cBhvr>
                                        <p:cTn id="45" dur="1" fill="hold">
                                          <p:stCondLst>
                                            <p:cond delay="0"/>
                                          </p:stCondLst>
                                        </p:cTn>
                                        <p:tgtEl>
                                          <p:spTgt spid="1474565">
                                            <p:txEl>
                                              <p:pRg st="2" end="2"/>
                                            </p:txEl>
                                          </p:spTgt>
                                        </p:tgtEl>
                                        <p:attrNameLst>
                                          <p:attrName>style.visibility</p:attrName>
                                        </p:attrNameLst>
                                      </p:cBhvr>
                                      <p:to>
                                        <p:strVal val="visible"/>
                                      </p:to>
                                    </p:set>
                                    <p:animEffect transition="in" filter="dissolve">
                                      <p:cBhvr>
                                        <p:cTn id="46" dur="300"/>
                                        <p:tgtEl>
                                          <p:spTgt spid="1474565">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2" fill="hold" grpId="0" nodeType="clickEffect">
                                  <p:stCondLst>
                                    <p:cond delay="0"/>
                                  </p:stCondLst>
                                  <p:childTnLst>
                                    <p:set>
                                      <p:cBhvr>
                                        <p:cTn id="50" dur="1" fill="hold">
                                          <p:stCondLst>
                                            <p:cond delay="0"/>
                                          </p:stCondLst>
                                        </p:cTn>
                                        <p:tgtEl>
                                          <p:spTgt spid="1474563">
                                            <p:txEl>
                                              <p:pRg st="0" end="0"/>
                                            </p:txEl>
                                          </p:spTgt>
                                        </p:tgtEl>
                                        <p:attrNameLst>
                                          <p:attrName>style.visibility</p:attrName>
                                        </p:attrNameLst>
                                      </p:cBhvr>
                                      <p:to>
                                        <p:strVal val="visible"/>
                                      </p:to>
                                    </p:set>
                                    <p:animEffect transition="in" filter="slide(fromRight)">
                                      <p:cBhvr>
                                        <p:cTn id="51" dur="500"/>
                                        <p:tgtEl>
                                          <p:spTgt spid="147456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circle(in)">
                                      <p:cBhvr>
                                        <p:cTn id="5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62" grpId="0" build="p"/>
      <p:bldP spid="1474563" grpId="0" build="p"/>
      <p:bldP spid="1474564" grpId="0"/>
      <p:bldP spid="147456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47A3DB82-9E9E-492D-A876-6E7D7190B736}"/>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graphicFrame>
        <p:nvGraphicFramePr>
          <p:cNvPr id="1475586" name="对象 1475585"/>
          <p:cNvGraphicFramePr/>
          <p:nvPr/>
        </p:nvGraphicFramePr>
        <p:xfrm>
          <a:off x="1941513" y="1238250"/>
          <a:ext cx="1114425" cy="633413"/>
        </p:xfrm>
        <a:graphic>
          <a:graphicData uri="http://schemas.openxmlformats.org/presentationml/2006/ole">
            <mc:AlternateContent xmlns:mc="http://schemas.openxmlformats.org/markup-compatibility/2006">
              <mc:Choice xmlns:v="urn:schemas-microsoft-com:vml" Requires="v">
                <p:oleObj spid="_x0000_s39944" r:id="rId3" imgW="735965" imgH="405765" progId="Equation.3">
                  <p:embed/>
                </p:oleObj>
              </mc:Choice>
              <mc:Fallback>
                <p:oleObj r:id="rId3" imgW="735965" imgH="405765" progId="Equation.3">
                  <p:embed/>
                  <p:pic>
                    <p:nvPicPr>
                      <p:cNvPr id="0" name="图片 3080"/>
                      <p:cNvPicPr/>
                      <p:nvPr/>
                    </p:nvPicPr>
                    <p:blipFill>
                      <a:blip r:embed="rId4"/>
                      <a:stretch>
                        <a:fillRect/>
                      </a:stretch>
                    </p:blipFill>
                    <p:spPr>
                      <a:xfrm>
                        <a:off x="1941513" y="1238250"/>
                        <a:ext cx="1114425" cy="633413"/>
                      </a:xfrm>
                      <a:prstGeom prst="rect">
                        <a:avLst/>
                      </a:prstGeom>
                      <a:noFill/>
                      <a:ln w="38100">
                        <a:noFill/>
                        <a:miter/>
                      </a:ln>
                    </p:spPr>
                  </p:pic>
                </p:oleObj>
              </mc:Fallback>
            </mc:AlternateContent>
          </a:graphicData>
        </a:graphic>
      </p:graphicFrame>
      <p:sp>
        <p:nvSpPr>
          <p:cNvPr id="1475587" name="文本框 1475586"/>
          <p:cNvSpPr txBox="1"/>
          <p:nvPr/>
        </p:nvSpPr>
        <p:spPr>
          <a:xfrm>
            <a:off x="4535488" y="41275"/>
            <a:ext cx="4608512" cy="2441575"/>
          </a:xfrm>
          <a:prstGeom prst="rect">
            <a:avLst/>
          </a:prstGeom>
          <a:noFill/>
          <a:ln w="9525">
            <a:noFill/>
          </a:ln>
        </p:spPr>
        <p:txBody>
          <a:bodyPr>
            <a:spAutoFit/>
          </a:bodyPr>
          <a:lstStyle/>
          <a:p>
            <a:r>
              <a:rPr lang="en-US" altLang="zh-CN" sz="2800" dirty="0">
                <a:solidFill>
                  <a:schemeClr val="tx1"/>
                </a:solidFill>
                <a:latin typeface="Arial" panose="020B0604020202020204" pitchFamily="34" charset="0"/>
              </a:rPr>
              <a:t>∵</a:t>
            </a:r>
            <a:r>
              <a:rPr lang="en-US" altLang="zh-CN" sz="2800" i="1" dirty="0">
                <a:solidFill>
                  <a:schemeClr val="tx1"/>
                </a:solidFill>
                <a:latin typeface="Times New Roman" panose="02020603050405020304" pitchFamily="18" charset="0"/>
              </a:rPr>
              <a:t>ε</a:t>
            </a:r>
            <a:r>
              <a:rPr lang="en-US" altLang="zh-CN" sz="2800" dirty="0">
                <a:solidFill>
                  <a:schemeClr val="tx1"/>
                </a:solidFill>
                <a:latin typeface="Times New Roman" panose="02020603050405020304" pitchFamily="18" charset="0"/>
              </a:rPr>
              <a:t>→0</a:t>
            </a:r>
            <a:r>
              <a:rPr lang="en-US" altLang="zh-CN" sz="2800" baseline="30000" dirty="0">
                <a:solidFill>
                  <a:schemeClr val="tx1"/>
                </a:solidFill>
                <a:latin typeface="Times New Roman" panose="02020603050405020304" pitchFamily="18" charset="0"/>
              </a:rPr>
              <a:t>+</a:t>
            </a:r>
            <a:r>
              <a:rPr lang="zh-CN" altLang="en-US" sz="2800" dirty="0">
                <a:solidFill>
                  <a:schemeClr val="tx1"/>
                </a:solidFill>
                <a:latin typeface="Arial" panose="020B0604020202020204" pitchFamily="34" charset="0"/>
              </a:rPr>
              <a:t>时，</a:t>
            </a:r>
            <a:r>
              <a:rPr lang="en-US" altLang="zh-CN" sz="2800" i="1" dirty="0">
                <a:solidFill>
                  <a:schemeClr val="tx1"/>
                </a:solidFill>
                <a:latin typeface="Times New Roman" panose="02020603050405020304" pitchFamily="18" charset="0"/>
              </a:rPr>
              <a:t>b</a:t>
            </a:r>
            <a:r>
              <a:rPr lang="en-US" altLang="zh-CN" sz="2800" baseline="-30000" dirty="0">
                <a:solidFill>
                  <a:schemeClr val="tx1"/>
                </a:solidFill>
                <a:latin typeface="Times New Roman" panose="02020603050405020304" pitchFamily="18" charset="0"/>
              </a:rPr>
              <a:t>1</a:t>
            </a:r>
            <a:r>
              <a:rPr lang="en-US" altLang="zh-CN" sz="2800" dirty="0">
                <a:solidFill>
                  <a:schemeClr val="tx1"/>
                </a:solidFill>
                <a:latin typeface="Times New Roman" panose="02020603050405020304" pitchFamily="18" charset="0"/>
              </a:rPr>
              <a:t>&lt; 0</a:t>
            </a:r>
            <a:r>
              <a:rPr lang="zh-CN" altLang="en-US" sz="2800" dirty="0">
                <a:solidFill>
                  <a:schemeClr val="tx1"/>
                </a:solidFill>
                <a:latin typeface="Arial" panose="020B0604020202020204" pitchFamily="34" charset="0"/>
              </a:rPr>
              <a:t>，劳斯表中第一列元素符号改变了两次</a:t>
            </a:r>
          </a:p>
          <a:p>
            <a:r>
              <a:rPr lang="en-US" altLang="zh-CN" sz="2800" dirty="0">
                <a:solidFill>
                  <a:schemeClr val="tx1"/>
                </a:solidFill>
                <a:latin typeface="Arial" panose="020B0604020202020204" pitchFamily="34" charset="0"/>
              </a:rPr>
              <a:t>∴</a:t>
            </a:r>
            <a:r>
              <a:rPr lang="zh-CN" altLang="en-US" sz="2800" dirty="0">
                <a:solidFill>
                  <a:schemeClr val="tx1"/>
                </a:solidFill>
                <a:latin typeface="Arial" panose="020B0604020202020204" pitchFamily="34" charset="0"/>
              </a:rPr>
              <a:t>系统有两个正根，不稳定。</a:t>
            </a:r>
          </a:p>
        </p:txBody>
      </p:sp>
      <p:sp>
        <p:nvSpPr>
          <p:cNvPr id="1475588" name="文本框 1475587"/>
          <p:cNvSpPr txBox="1"/>
          <p:nvPr/>
        </p:nvSpPr>
        <p:spPr>
          <a:xfrm>
            <a:off x="0" y="2659063"/>
            <a:ext cx="8705850" cy="989012"/>
          </a:xfrm>
          <a:prstGeom prst="rect">
            <a:avLst/>
          </a:prstGeom>
          <a:noFill/>
          <a:ln w="9525">
            <a:noFill/>
          </a:ln>
        </p:spPr>
        <p:txBody>
          <a:bodyPr>
            <a:spAutoFit/>
          </a:bodyPr>
          <a:lstStyle/>
          <a:p>
            <a:pPr>
              <a:lnSpc>
                <a:spcPct val="80000"/>
              </a:lnSpc>
            </a:pPr>
            <a:r>
              <a:rPr lang="en-US" altLang="zh-CN" sz="2800" b="0" dirty="0">
                <a:solidFill>
                  <a:schemeClr val="tx1"/>
                </a:solidFill>
                <a:latin typeface="Arial" panose="020B0604020202020204" pitchFamily="34" charset="0"/>
              </a:rPr>
              <a:t>      </a:t>
            </a: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用（</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+3</a:t>
            </a:r>
            <a:r>
              <a:rPr lang="zh-CN" altLang="en-US" sz="2800" dirty="0">
                <a:solidFill>
                  <a:schemeClr val="tx1"/>
                </a:solidFill>
                <a:latin typeface="Arial" panose="020B0604020202020204" pitchFamily="34" charset="0"/>
              </a:rPr>
              <a:t>）乘以原特征方程，得新的特征方程为：</a:t>
            </a:r>
          </a:p>
          <a:p>
            <a:pPr>
              <a:lnSpc>
                <a:spcPct val="80000"/>
              </a:lnSpc>
            </a:pPr>
            <a:r>
              <a:rPr lang="zh-CN" altLang="en-US" sz="28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D</a:t>
            </a:r>
            <a:r>
              <a:rPr lang="en-US" altLang="zh-CN" sz="2800" baseline="-30000" dirty="0">
                <a:solidFill>
                  <a:schemeClr val="tx1"/>
                </a:solidFill>
                <a:latin typeface="Times New Roman" panose="02020603050405020304" pitchFamily="18" charset="0"/>
              </a:rPr>
              <a:t>1</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D</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+ 3 ) =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  </a:t>
            </a:r>
            <a:r>
              <a:rPr lang="en-US" altLang="zh-CN" sz="2800" dirty="0">
                <a:solidFill>
                  <a:schemeClr val="tx1"/>
                </a:solidFill>
                <a:latin typeface="Times New Roman" panose="02020603050405020304" pitchFamily="18" charset="0"/>
              </a:rPr>
              <a:t>+ </a:t>
            </a:r>
            <a:r>
              <a:rPr lang="en-US" altLang="zh-CN" sz="2800" baseline="300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3</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baseline="300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3</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baseline="300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7</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+ 6 = 0</a:t>
            </a:r>
            <a:endParaRPr lang="en-US" altLang="zh-CN" sz="2800" dirty="0">
              <a:solidFill>
                <a:schemeClr val="tx1"/>
              </a:solidFill>
              <a:latin typeface="Times New Roman" panose="02020603050405020304" pitchFamily="18" charset="0"/>
              <a:ea typeface="Times New Roman" panose="02020603050405020304" pitchFamily="18" charset="0"/>
            </a:endParaRPr>
          </a:p>
        </p:txBody>
      </p:sp>
      <p:sp>
        <p:nvSpPr>
          <p:cNvPr id="1475589" name="左弧形箭头 1475588"/>
          <p:cNvSpPr/>
          <p:nvPr/>
        </p:nvSpPr>
        <p:spPr>
          <a:xfrm>
            <a:off x="3248025" y="4568825"/>
            <a:ext cx="304800" cy="666750"/>
          </a:xfrm>
          <a:prstGeom prst="curvedRightArrow">
            <a:avLst>
              <a:gd name="adj1" fmla="val 43750"/>
              <a:gd name="adj2" fmla="val 87500"/>
              <a:gd name="adj3" fmla="val 33305"/>
            </a:avLst>
          </a:prstGeom>
          <a:noFill/>
          <a:ln w="9525" cap="sq" cmpd="sng">
            <a:solidFill>
              <a:srgbClr val="FF66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475590" name="左弧形箭头 1475589"/>
          <p:cNvSpPr/>
          <p:nvPr/>
        </p:nvSpPr>
        <p:spPr>
          <a:xfrm>
            <a:off x="3222625" y="5264150"/>
            <a:ext cx="304800" cy="666750"/>
          </a:xfrm>
          <a:prstGeom prst="curvedRightArrow">
            <a:avLst>
              <a:gd name="adj1" fmla="val 43750"/>
              <a:gd name="adj2" fmla="val 87500"/>
              <a:gd name="adj3" fmla="val 33305"/>
            </a:avLst>
          </a:prstGeom>
          <a:noFill/>
          <a:ln w="9525" cap="sq" cmpd="sng">
            <a:solidFill>
              <a:srgbClr val="FF9900"/>
            </a:solidFill>
            <a:prstDash val="solid"/>
            <a:miter/>
            <a:headEnd type="none" w="med" len="med"/>
            <a:tailEnd type="none" w="med" len="med"/>
          </a:ln>
        </p:spPr>
        <p:txBody>
          <a:bodyPr wrap="none" anchor="ctr" anchorCtr="0"/>
          <a:lstStyle/>
          <a:p>
            <a:pPr algn="ctr">
              <a:spcBef>
                <a:spcPct val="0"/>
              </a:spcBef>
            </a:pPr>
            <a:endParaRPr lang="zh-CN" altLang="zh-CN" sz="2400" b="0" dirty="0">
              <a:solidFill>
                <a:srgbClr val="FF3300"/>
              </a:solidFill>
              <a:latin typeface="Times New Roman" panose="02020603050405020304" pitchFamily="18" charset="0"/>
            </a:endParaRPr>
          </a:p>
        </p:txBody>
      </p:sp>
      <p:sp>
        <p:nvSpPr>
          <p:cNvPr id="1475591" name="左弧形箭头 1475590"/>
          <p:cNvSpPr/>
          <p:nvPr/>
        </p:nvSpPr>
        <p:spPr>
          <a:xfrm>
            <a:off x="1697038" y="911225"/>
            <a:ext cx="304800" cy="666750"/>
          </a:xfrm>
          <a:prstGeom prst="curvedRightArrow">
            <a:avLst>
              <a:gd name="adj1" fmla="val 43750"/>
              <a:gd name="adj2" fmla="val 87500"/>
              <a:gd name="adj3" fmla="val 33305"/>
            </a:avLst>
          </a:prstGeom>
          <a:noFill/>
          <a:ln w="9525" cap="sq" cmpd="sng">
            <a:solidFill>
              <a:srgbClr val="FF66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475592" name="左弧形箭头 1475591"/>
          <p:cNvSpPr/>
          <p:nvPr/>
        </p:nvSpPr>
        <p:spPr>
          <a:xfrm>
            <a:off x="1643063" y="1606550"/>
            <a:ext cx="304800" cy="666750"/>
          </a:xfrm>
          <a:prstGeom prst="curvedRightArrow">
            <a:avLst>
              <a:gd name="adj1" fmla="val 43750"/>
              <a:gd name="adj2" fmla="val 87500"/>
              <a:gd name="adj3" fmla="val 33305"/>
            </a:avLst>
          </a:prstGeom>
          <a:noFill/>
          <a:ln w="9525" cap="sq" cmpd="sng">
            <a:solidFill>
              <a:srgbClr val="FF66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475593" name="文本框 1475592"/>
          <p:cNvSpPr txBox="1"/>
          <p:nvPr/>
        </p:nvSpPr>
        <p:spPr>
          <a:xfrm>
            <a:off x="1157288" y="0"/>
            <a:ext cx="669925" cy="2443163"/>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endParaRPr lang="en-US" altLang="zh-CN" sz="2400" b="0" dirty="0">
              <a:solidFill>
                <a:schemeClr val="tx1"/>
              </a:solidFill>
              <a:latin typeface="Times New Roman" panose="02020603050405020304" pitchFamily="18" charset="0"/>
            </a:endParaRPr>
          </a:p>
        </p:txBody>
      </p:sp>
      <p:sp>
        <p:nvSpPr>
          <p:cNvPr id="1475594" name="文本框 1475593"/>
          <p:cNvSpPr txBox="1"/>
          <p:nvPr/>
        </p:nvSpPr>
        <p:spPr>
          <a:xfrm>
            <a:off x="2193925" y="1588"/>
            <a:ext cx="1990725" cy="180181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1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3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0(</a:t>
            </a:r>
            <a:r>
              <a:rPr lang="en-US" altLang="zh-CN" sz="2800" i="1" dirty="0">
                <a:solidFill>
                  <a:schemeClr val="tx1"/>
                </a:solidFill>
                <a:latin typeface="Times New Roman" panose="02020603050405020304" pitchFamily="18" charset="0"/>
              </a:rPr>
              <a:t>ε</a:t>
            </a:r>
            <a:r>
              <a:rPr lang="en-US" altLang="zh-CN" sz="2800" dirty="0">
                <a:solidFill>
                  <a:schemeClr val="tx1"/>
                </a:solidFill>
                <a:latin typeface="Times New Roman" panose="02020603050405020304" pitchFamily="18" charset="0"/>
              </a:rPr>
              <a:t>)         2</a:t>
            </a:r>
          </a:p>
          <a:p>
            <a:endParaRPr lang="en-US" altLang="zh-CN" sz="2800" dirty="0">
              <a:solidFill>
                <a:schemeClr val="tx1"/>
              </a:solidFill>
              <a:latin typeface="Times New Roman" panose="02020603050405020304" pitchFamily="18" charset="0"/>
            </a:endParaRPr>
          </a:p>
        </p:txBody>
      </p:sp>
      <p:sp>
        <p:nvSpPr>
          <p:cNvPr id="1475595" name="直接连接符 1475594"/>
          <p:cNvSpPr/>
          <p:nvPr/>
        </p:nvSpPr>
        <p:spPr>
          <a:xfrm>
            <a:off x="1787525" y="41275"/>
            <a:ext cx="0" cy="2336800"/>
          </a:xfrm>
          <a:prstGeom prst="line">
            <a:avLst/>
          </a:prstGeom>
          <a:ln w="38100" cap="sq" cmpd="sng">
            <a:solidFill>
              <a:schemeClr val="tx1"/>
            </a:solidFill>
            <a:prstDash val="solid"/>
            <a:headEnd type="none" w="med" len="med"/>
            <a:tailEnd type="none" w="med" len="med"/>
          </a:ln>
        </p:spPr>
      </p:sp>
      <p:sp>
        <p:nvSpPr>
          <p:cNvPr id="1475596" name="矩形 1475595"/>
          <p:cNvSpPr/>
          <p:nvPr/>
        </p:nvSpPr>
        <p:spPr>
          <a:xfrm flipH="1">
            <a:off x="1684338" y="1870075"/>
            <a:ext cx="1589087" cy="519113"/>
          </a:xfrm>
          <a:prstGeom prst="rect">
            <a:avLst/>
          </a:prstGeom>
          <a:noFill/>
          <a:ln w="9525">
            <a:noFill/>
          </a:ln>
        </p:spPr>
        <p:txBody>
          <a:bodyPr>
            <a:spAutoFit/>
          </a:bodyPr>
          <a:lstStyle/>
          <a:p>
            <a:pPr algn="ctr">
              <a:spcBef>
                <a:spcPct val="0"/>
              </a:spcBef>
            </a:pPr>
            <a:r>
              <a:rPr lang="en-US" altLang="zh-CN" sz="2800" dirty="0">
                <a:solidFill>
                  <a:schemeClr val="tx1"/>
                </a:solidFill>
                <a:latin typeface="Times New Roman" panose="02020603050405020304" pitchFamily="18" charset="0"/>
              </a:rPr>
              <a:t>2</a:t>
            </a:r>
          </a:p>
        </p:txBody>
      </p:sp>
      <p:sp>
        <p:nvSpPr>
          <p:cNvPr id="1475597" name="文本框 1475596"/>
          <p:cNvSpPr txBox="1"/>
          <p:nvPr/>
        </p:nvSpPr>
        <p:spPr>
          <a:xfrm>
            <a:off x="2551113" y="3656013"/>
            <a:ext cx="669925" cy="308451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a:t>
            </a:r>
            <a:endParaRPr lang="en-US" altLang="zh-CN" sz="2800" i="1" dirty="0">
              <a:solidFill>
                <a:schemeClr val="tx1"/>
              </a:solidFill>
              <a:latin typeface="Times New Roman" panose="02020603050405020304" pitchFamily="18" charset="0"/>
            </a:endParaRP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p>
        </p:txBody>
      </p:sp>
      <p:sp>
        <p:nvSpPr>
          <p:cNvPr id="1475598" name="文本框 1475597"/>
          <p:cNvSpPr txBox="1"/>
          <p:nvPr/>
        </p:nvSpPr>
        <p:spPr>
          <a:xfrm>
            <a:off x="3587750" y="3657600"/>
            <a:ext cx="2924175" cy="308451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3        6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3            </a:t>
            </a:r>
            <a:r>
              <a:rPr lang="en-US" altLang="zh-CN" sz="2800" dirty="0">
                <a:solidFill>
                  <a:schemeClr val="tx1"/>
                </a:solidFill>
                <a:latin typeface="Times New Roman" panose="02020603050405020304" pitchFamily="18" charset="0"/>
                <a:sym typeface="Symbol" panose="05050102010706020507" pitchFamily="18" charset="2"/>
              </a:rPr>
              <a:t>7  </a:t>
            </a:r>
            <a:endParaRPr lang="en-US" altLang="zh-CN" sz="28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sym typeface="Symbol" panose="05050102010706020507" pitchFamily="18" charset="2"/>
              </a:rPr>
              <a:t>2</a:t>
            </a:r>
            <a:r>
              <a:rPr lang="en-US" altLang="zh-CN" sz="2800" dirty="0">
                <a:solidFill>
                  <a:schemeClr val="tx1"/>
                </a:solidFill>
                <a:latin typeface="Times New Roman" panose="02020603050405020304" pitchFamily="18" charset="0"/>
              </a:rPr>
              <a:t>/3           6</a:t>
            </a:r>
          </a:p>
          <a:p>
            <a:r>
              <a:rPr lang="en-US" altLang="zh-CN" sz="2800" dirty="0">
                <a:solidFill>
                  <a:schemeClr val="tx1"/>
                </a:solidFill>
                <a:latin typeface="Times New Roman" panose="02020603050405020304" pitchFamily="18" charset="0"/>
              </a:rPr>
              <a:t>  20</a:t>
            </a:r>
          </a:p>
          <a:p>
            <a:r>
              <a:rPr lang="en-US" altLang="zh-CN" sz="2800" dirty="0">
                <a:solidFill>
                  <a:schemeClr val="tx1"/>
                </a:solidFill>
                <a:latin typeface="Times New Roman" panose="02020603050405020304" pitchFamily="18" charset="0"/>
              </a:rPr>
              <a:t>  6</a:t>
            </a:r>
          </a:p>
        </p:txBody>
      </p:sp>
      <p:sp>
        <p:nvSpPr>
          <p:cNvPr id="1475599" name="直接连接符 1475598"/>
          <p:cNvSpPr/>
          <p:nvPr/>
        </p:nvSpPr>
        <p:spPr>
          <a:xfrm>
            <a:off x="3181350" y="3697288"/>
            <a:ext cx="0" cy="3044825"/>
          </a:xfrm>
          <a:prstGeom prst="line">
            <a:avLst/>
          </a:prstGeom>
          <a:ln w="38100" cap="sq" cmpd="sng">
            <a:solidFill>
              <a:schemeClr val="tx1"/>
            </a:solidFill>
            <a:prstDash val="solid"/>
            <a:headEnd type="none" w="med" len="med"/>
            <a:tailEnd type="none" w="med" len="med"/>
          </a:ln>
        </p:spPr>
      </p:sp>
      <p:sp>
        <p:nvSpPr>
          <p:cNvPr id="1475601" name="文本框 1475600"/>
          <p:cNvSpPr txBox="1"/>
          <p:nvPr/>
        </p:nvSpPr>
        <p:spPr>
          <a:xfrm>
            <a:off x="5436096" y="5502236"/>
            <a:ext cx="3384550" cy="457200"/>
          </a:xfrm>
          <a:prstGeom prst="rect">
            <a:avLst/>
          </a:prstGeom>
          <a:noFill/>
          <a:ln w="9525">
            <a:noFill/>
          </a:ln>
        </p:spPr>
        <p:txBody>
          <a:bodyPr>
            <a:spAutoFit/>
          </a:bodyPr>
          <a:lstStyle/>
          <a:p>
            <a:pPr marL="342900" marR="0" indent="-342900" defTabSz="914400">
              <a:buClrTx/>
              <a:buSzTx/>
              <a:buFont typeface="Wingdings" panose="05000000000000000000" pitchFamily="2" charset="2"/>
              <a:buNone/>
              <a:defRPr/>
            </a:pPr>
            <a:r>
              <a:rPr kumimoji="0" lang="zh-CN" altLang="en-US" sz="2400" kern="1200" cap="none" spc="0" normalizeH="0" baseline="0" noProof="1">
                <a:solidFill>
                  <a:schemeClr val="tx2"/>
                </a:solidFill>
                <a:effectLst>
                  <a:outerShdw blurRad="38100" dist="38100" dir="2700000">
                    <a:srgbClr val="C0C0C0"/>
                  </a:outerShdw>
                </a:effectLst>
                <a:latin typeface="Arial" panose="020B0604020202020204" pitchFamily="34" charset="0"/>
                <a:ea typeface="宋体" panose="02010600030101010101" pitchFamily="2" charset="-122"/>
                <a:cs typeface="+mn-cs"/>
              </a:rPr>
              <a:t>会得到相同的判断结果</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5593"/>
                                        </p:tgtEl>
                                        <p:attrNameLst>
                                          <p:attrName>style.visibility</p:attrName>
                                        </p:attrNameLst>
                                      </p:cBhvr>
                                      <p:to>
                                        <p:strVal val="visible"/>
                                      </p:to>
                                    </p:set>
                                    <p:animEffect transition="in" filter="dissolve">
                                      <p:cBhvr>
                                        <p:cTn id="7" dur="500"/>
                                        <p:tgtEl>
                                          <p:spTgt spid="147559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75595"/>
                                        </p:tgtEl>
                                        <p:attrNameLst>
                                          <p:attrName>style.visibility</p:attrName>
                                        </p:attrNameLst>
                                      </p:cBhvr>
                                      <p:to>
                                        <p:strVal val="visible"/>
                                      </p:to>
                                    </p:set>
                                    <p:animEffect transition="in" filter="dissolve">
                                      <p:cBhvr>
                                        <p:cTn id="11" dur="500"/>
                                        <p:tgtEl>
                                          <p:spTgt spid="147559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iterate type="wd">
                                    <p:tmPct val="100000"/>
                                  </p:iterate>
                                  <p:childTnLst>
                                    <p:set>
                                      <p:cBhvr>
                                        <p:cTn id="15" dur="1" fill="hold">
                                          <p:stCondLst>
                                            <p:cond delay="0"/>
                                          </p:stCondLst>
                                        </p:cTn>
                                        <p:tgtEl>
                                          <p:spTgt spid="1475594">
                                            <p:txEl>
                                              <p:pRg st="0" end="0"/>
                                            </p:txEl>
                                          </p:spTgt>
                                        </p:tgtEl>
                                        <p:attrNameLst>
                                          <p:attrName>style.visibility</p:attrName>
                                        </p:attrNameLst>
                                      </p:cBhvr>
                                      <p:to>
                                        <p:strVal val="visible"/>
                                      </p:to>
                                    </p:set>
                                    <p:animEffect transition="in" filter="dissolve">
                                      <p:cBhvr>
                                        <p:cTn id="16" dur="300"/>
                                        <p:tgtEl>
                                          <p:spTgt spid="147559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iterate type="wd">
                                    <p:tmPct val="100000"/>
                                  </p:iterate>
                                  <p:childTnLst>
                                    <p:set>
                                      <p:cBhvr>
                                        <p:cTn id="20" dur="1" fill="hold">
                                          <p:stCondLst>
                                            <p:cond delay="0"/>
                                          </p:stCondLst>
                                        </p:cTn>
                                        <p:tgtEl>
                                          <p:spTgt spid="1475594">
                                            <p:txEl>
                                              <p:pRg st="1" end="1"/>
                                            </p:txEl>
                                          </p:spTgt>
                                        </p:tgtEl>
                                        <p:attrNameLst>
                                          <p:attrName>style.visibility</p:attrName>
                                        </p:attrNameLst>
                                      </p:cBhvr>
                                      <p:to>
                                        <p:strVal val="visible"/>
                                      </p:to>
                                    </p:set>
                                    <p:animEffect transition="in" filter="dissolve">
                                      <p:cBhvr>
                                        <p:cTn id="21" dur="300"/>
                                        <p:tgtEl>
                                          <p:spTgt spid="147559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475586"/>
                                        </p:tgtEl>
                                        <p:attrNameLst>
                                          <p:attrName>style.visibility</p:attrName>
                                        </p:attrNameLst>
                                      </p:cBhvr>
                                      <p:to>
                                        <p:strVal val="visible"/>
                                      </p:to>
                                    </p:set>
                                    <p:animEffect transition="in" filter="dissolve">
                                      <p:cBhvr>
                                        <p:cTn id="26" dur="500"/>
                                        <p:tgtEl>
                                          <p:spTgt spid="147558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475596"/>
                                        </p:tgtEl>
                                        <p:attrNameLst>
                                          <p:attrName>style.visibility</p:attrName>
                                        </p:attrNameLst>
                                      </p:cBhvr>
                                      <p:to>
                                        <p:strVal val="visible"/>
                                      </p:to>
                                    </p:set>
                                    <p:animEffect transition="in" filter="dissolve">
                                      <p:cBhvr>
                                        <p:cTn id="31" dur="500"/>
                                        <p:tgtEl>
                                          <p:spTgt spid="147559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75591"/>
                                        </p:tgtEl>
                                        <p:attrNameLst>
                                          <p:attrName>style.visibility</p:attrName>
                                        </p:attrNameLst>
                                      </p:cBhvr>
                                      <p:to>
                                        <p:strVal val="visible"/>
                                      </p:to>
                                    </p:set>
                                    <p:animEffect transition="in" filter="dissolve">
                                      <p:cBhvr>
                                        <p:cTn id="36" dur="500"/>
                                        <p:tgtEl>
                                          <p:spTgt spid="147559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475592"/>
                                        </p:tgtEl>
                                        <p:attrNameLst>
                                          <p:attrName>style.visibility</p:attrName>
                                        </p:attrNameLst>
                                      </p:cBhvr>
                                      <p:to>
                                        <p:strVal val="visible"/>
                                      </p:to>
                                    </p:set>
                                    <p:animEffect transition="in" filter="dissolve">
                                      <p:cBhvr>
                                        <p:cTn id="41" dur="500"/>
                                        <p:tgtEl>
                                          <p:spTgt spid="147559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475587">
                                            <p:txEl>
                                              <p:pRg st="0" end="0"/>
                                            </p:txEl>
                                          </p:spTgt>
                                        </p:tgtEl>
                                        <p:attrNameLst>
                                          <p:attrName>style.visibility</p:attrName>
                                        </p:attrNameLst>
                                      </p:cBhvr>
                                      <p:to>
                                        <p:strVal val="visible"/>
                                      </p:to>
                                    </p:set>
                                    <p:anim calcmode="lin" valueType="num">
                                      <p:cBhvr additive="base">
                                        <p:cTn id="46" dur="500" fill="hold"/>
                                        <p:tgtEl>
                                          <p:spTgt spid="1475587">
                                            <p:txEl>
                                              <p:pRg st="0" end="0"/>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1475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1475587">
                                            <p:txEl>
                                              <p:pRg st="1" end="1"/>
                                            </p:txEl>
                                          </p:spTgt>
                                        </p:tgtEl>
                                        <p:attrNameLst>
                                          <p:attrName>style.visibility</p:attrName>
                                        </p:attrNameLst>
                                      </p:cBhvr>
                                      <p:to>
                                        <p:strVal val="visible"/>
                                      </p:to>
                                    </p:set>
                                    <p:anim calcmode="lin" valueType="num">
                                      <p:cBhvr additive="base">
                                        <p:cTn id="52" dur="500" fill="hold"/>
                                        <p:tgtEl>
                                          <p:spTgt spid="1475587">
                                            <p:txEl>
                                              <p:pRg st="1" end="1"/>
                                            </p:txEl>
                                          </p:spTgt>
                                        </p:tgtEl>
                                        <p:attrNameLst>
                                          <p:attrName>ppt_x</p:attrName>
                                        </p:attrNameLst>
                                      </p:cBhvr>
                                      <p:tavLst>
                                        <p:tav tm="0">
                                          <p:val>
                                            <p:strVal val="1+#ppt_w/2"/>
                                          </p:val>
                                        </p:tav>
                                        <p:tav tm="100000">
                                          <p:val>
                                            <p:strVal val="#ppt_x"/>
                                          </p:val>
                                        </p:tav>
                                      </p:tavLst>
                                    </p:anim>
                                    <p:anim calcmode="lin" valueType="num">
                                      <p:cBhvr additive="base">
                                        <p:cTn id="53" dur="500" fill="hold"/>
                                        <p:tgtEl>
                                          <p:spTgt spid="1475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475588">
                                            <p:txEl>
                                              <p:pRg st="0" end="0"/>
                                            </p:txEl>
                                          </p:spTgt>
                                        </p:tgtEl>
                                        <p:attrNameLst>
                                          <p:attrName>style.visibility</p:attrName>
                                        </p:attrNameLst>
                                      </p:cBhvr>
                                      <p:to>
                                        <p:strVal val="visible"/>
                                      </p:to>
                                    </p:set>
                                    <p:animEffect transition="in" filter="wipe(left)">
                                      <p:cBhvr>
                                        <p:cTn id="58" dur="500"/>
                                        <p:tgtEl>
                                          <p:spTgt spid="1475588">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475588">
                                            <p:txEl>
                                              <p:pRg st="1" end="1"/>
                                            </p:txEl>
                                          </p:spTgt>
                                        </p:tgtEl>
                                        <p:attrNameLst>
                                          <p:attrName>style.visibility</p:attrName>
                                        </p:attrNameLst>
                                      </p:cBhvr>
                                      <p:to>
                                        <p:strVal val="visible"/>
                                      </p:to>
                                    </p:set>
                                    <p:animEffect transition="in" filter="slide(fromBottom)">
                                      <p:cBhvr>
                                        <p:cTn id="63" dur="500"/>
                                        <p:tgtEl>
                                          <p:spTgt spid="1475588">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1475597"/>
                                        </p:tgtEl>
                                        <p:attrNameLst>
                                          <p:attrName>style.visibility</p:attrName>
                                        </p:attrNameLst>
                                      </p:cBhvr>
                                      <p:to>
                                        <p:strVal val="visible"/>
                                      </p:to>
                                    </p:set>
                                    <p:animEffect transition="in" filter="dissolve">
                                      <p:cBhvr>
                                        <p:cTn id="68" dur="500"/>
                                        <p:tgtEl>
                                          <p:spTgt spid="1475597"/>
                                        </p:tgtEl>
                                      </p:cBhvr>
                                    </p:animEffect>
                                  </p:childTnLst>
                                </p:cTn>
                              </p:par>
                            </p:childTnLst>
                          </p:cTn>
                        </p:par>
                        <p:par>
                          <p:cTn id="69" fill="hold">
                            <p:stCondLst>
                              <p:cond delay="500"/>
                            </p:stCondLst>
                            <p:childTnLst>
                              <p:par>
                                <p:cTn id="70" presetID="9" presetClass="entr" presetSubtype="0" fill="hold" nodeType="afterEffect">
                                  <p:stCondLst>
                                    <p:cond delay="0"/>
                                  </p:stCondLst>
                                  <p:childTnLst>
                                    <p:set>
                                      <p:cBhvr>
                                        <p:cTn id="71" dur="1" fill="hold">
                                          <p:stCondLst>
                                            <p:cond delay="0"/>
                                          </p:stCondLst>
                                        </p:cTn>
                                        <p:tgtEl>
                                          <p:spTgt spid="1475599"/>
                                        </p:tgtEl>
                                        <p:attrNameLst>
                                          <p:attrName>style.visibility</p:attrName>
                                        </p:attrNameLst>
                                      </p:cBhvr>
                                      <p:to>
                                        <p:strVal val="visible"/>
                                      </p:to>
                                    </p:set>
                                    <p:animEffect transition="in" filter="dissolve">
                                      <p:cBhvr>
                                        <p:cTn id="72" dur="500"/>
                                        <p:tgtEl>
                                          <p:spTgt spid="1475599"/>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iterate type="wd">
                                    <p:tmPct val="100000"/>
                                  </p:iterate>
                                  <p:childTnLst>
                                    <p:set>
                                      <p:cBhvr>
                                        <p:cTn id="76" dur="1" fill="hold">
                                          <p:stCondLst>
                                            <p:cond delay="0"/>
                                          </p:stCondLst>
                                        </p:cTn>
                                        <p:tgtEl>
                                          <p:spTgt spid="1475598">
                                            <p:txEl>
                                              <p:pRg st="0" end="0"/>
                                            </p:txEl>
                                          </p:spTgt>
                                        </p:tgtEl>
                                        <p:attrNameLst>
                                          <p:attrName>style.visibility</p:attrName>
                                        </p:attrNameLst>
                                      </p:cBhvr>
                                      <p:to>
                                        <p:strVal val="visible"/>
                                      </p:to>
                                    </p:set>
                                    <p:animEffect transition="in" filter="dissolve">
                                      <p:cBhvr>
                                        <p:cTn id="77" dur="300"/>
                                        <p:tgtEl>
                                          <p:spTgt spid="1475598">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iterate type="wd">
                                    <p:tmPct val="100000"/>
                                  </p:iterate>
                                  <p:childTnLst>
                                    <p:set>
                                      <p:cBhvr>
                                        <p:cTn id="81" dur="1" fill="hold">
                                          <p:stCondLst>
                                            <p:cond delay="0"/>
                                          </p:stCondLst>
                                        </p:cTn>
                                        <p:tgtEl>
                                          <p:spTgt spid="1475598">
                                            <p:txEl>
                                              <p:pRg st="1" end="1"/>
                                            </p:txEl>
                                          </p:spTgt>
                                        </p:tgtEl>
                                        <p:attrNameLst>
                                          <p:attrName>style.visibility</p:attrName>
                                        </p:attrNameLst>
                                      </p:cBhvr>
                                      <p:to>
                                        <p:strVal val="visible"/>
                                      </p:to>
                                    </p:set>
                                    <p:animEffect transition="in" filter="dissolve">
                                      <p:cBhvr>
                                        <p:cTn id="82" dur="300"/>
                                        <p:tgtEl>
                                          <p:spTgt spid="1475598">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iterate type="wd">
                                    <p:tmPct val="100000"/>
                                  </p:iterate>
                                  <p:childTnLst>
                                    <p:set>
                                      <p:cBhvr>
                                        <p:cTn id="86" dur="1" fill="hold">
                                          <p:stCondLst>
                                            <p:cond delay="0"/>
                                          </p:stCondLst>
                                        </p:cTn>
                                        <p:tgtEl>
                                          <p:spTgt spid="1475598">
                                            <p:txEl>
                                              <p:pRg st="2" end="2"/>
                                            </p:txEl>
                                          </p:spTgt>
                                        </p:tgtEl>
                                        <p:attrNameLst>
                                          <p:attrName>style.visibility</p:attrName>
                                        </p:attrNameLst>
                                      </p:cBhvr>
                                      <p:to>
                                        <p:strVal val="visible"/>
                                      </p:to>
                                    </p:set>
                                    <p:animEffect transition="in" filter="dissolve">
                                      <p:cBhvr>
                                        <p:cTn id="87" dur="300"/>
                                        <p:tgtEl>
                                          <p:spTgt spid="1475598">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iterate type="wd">
                                    <p:tmPct val="100000"/>
                                  </p:iterate>
                                  <p:childTnLst>
                                    <p:set>
                                      <p:cBhvr>
                                        <p:cTn id="91" dur="1" fill="hold">
                                          <p:stCondLst>
                                            <p:cond delay="0"/>
                                          </p:stCondLst>
                                        </p:cTn>
                                        <p:tgtEl>
                                          <p:spTgt spid="1475598">
                                            <p:txEl>
                                              <p:pRg st="3" end="3"/>
                                            </p:txEl>
                                          </p:spTgt>
                                        </p:tgtEl>
                                        <p:attrNameLst>
                                          <p:attrName>style.visibility</p:attrName>
                                        </p:attrNameLst>
                                      </p:cBhvr>
                                      <p:to>
                                        <p:strVal val="visible"/>
                                      </p:to>
                                    </p:set>
                                    <p:animEffect transition="in" filter="dissolve">
                                      <p:cBhvr>
                                        <p:cTn id="92" dur="300"/>
                                        <p:tgtEl>
                                          <p:spTgt spid="1475598">
                                            <p:txEl>
                                              <p:pRg st="3" end="3"/>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iterate type="wd">
                                    <p:tmPct val="100000"/>
                                  </p:iterate>
                                  <p:childTnLst>
                                    <p:set>
                                      <p:cBhvr>
                                        <p:cTn id="96" dur="1" fill="hold">
                                          <p:stCondLst>
                                            <p:cond delay="0"/>
                                          </p:stCondLst>
                                        </p:cTn>
                                        <p:tgtEl>
                                          <p:spTgt spid="1475598">
                                            <p:txEl>
                                              <p:pRg st="4" end="4"/>
                                            </p:txEl>
                                          </p:spTgt>
                                        </p:tgtEl>
                                        <p:attrNameLst>
                                          <p:attrName>style.visibility</p:attrName>
                                        </p:attrNameLst>
                                      </p:cBhvr>
                                      <p:to>
                                        <p:strVal val="visible"/>
                                      </p:to>
                                    </p:set>
                                    <p:animEffect transition="in" filter="dissolve">
                                      <p:cBhvr>
                                        <p:cTn id="97" dur="300"/>
                                        <p:tgtEl>
                                          <p:spTgt spid="1475598">
                                            <p:txEl>
                                              <p:pRg st="4" end="4"/>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1475589"/>
                                        </p:tgtEl>
                                        <p:attrNameLst>
                                          <p:attrName>style.visibility</p:attrName>
                                        </p:attrNameLst>
                                      </p:cBhvr>
                                      <p:to>
                                        <p:strVal val="visible"/>
                                      </p:to>
                                    </p:set>
                                    <p:animEffect transition="in" filter="dissolve">
                                      <p:cBhvr>
                                        <p:cTn id="102" dur="500"/>
                                        <p:tgtEl>
                                          <p:spTgt spid="1475589"/>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475590"/>
                                        </p:tgtEl>
                                        <p:attrNameLst>
                                          <p:attrName>style.visibility</p:attrName>
                                        </p:attrNameLst>
                                      </p:cBhvr>
                                      <p:to>
                                        <p:strVal val="visible"/>
                                      </p:to>
                                    </p:set>
                                    <p:animEffect transition="in" filter="dissolve">
                                      <p:cBhvr>
                                        <p:cTn id="107" dur="500"/>
                                        <p:tgtEl>
                                          <p:spTgt spid="1475590"/>
                                        </p:tgtEl>
                                      </p:cBhvr>
                                    </p:animEffect>
                                  </p:childTnLst>
                                </p:cTn>
                              </p:par>
                            </p:childTnLst>
                          </p:cTn>
                        </p:par>
                      </p:childTnLst>
                    </p:cTn>
                  </p:par>
                  <p:par>
                    <p:cTn id="108" fill="hold">
                      <p:stCondLst>
                        <p:cond delay="indefinite"/>
                      </p:stCondLst>
                      <p:childTnLst>
                        <p:par>
                          <p:cTn id="109" fill="hold">
                            <p:stCondLst>
                              <p:cond delay="0"/>
                            </p:stCondLst>
                            <p:childTnLst>
                              <p:par>
                                <p:cTn id="110" presetID="26" presetClass="entr" presetSubtype="0" fill="hold" grpId="0" nodeType="clickEffect">
                                  <p:stCondLst>
                                    <p:cond delay="0"/>
                                  </p:stCondLst>
                                  <p:childTnLst>
                                    <p:set>
                                      <p:cBhvr>
                                        <p:cTn id="111" dur="1" fill="hold">
                                          <p:stCondLst>
                                            <p:cond delay="0"/>
                                          </p:stCondLst>
                                        </p:cTn>
                                        <p:tgtEl>
                                          <p:spTgt spid="1475601"/>
                                        </p:tgtEl>
                                        <p:attrNameLst>
                                          <p:attrName>style.visibility</p:attrName>
                                        </p:attrNameLst>
                                      </p:cBhvr>
                                      <p:to>
                                        <p:strVal val="visible"/>
                                      </p:to>
                                    </p:set>
                                    <p:animEffect transition="in" filter="wipe(down)">
                                      <p:cBhvr>
                                        <p:cTn id="112" dur="580">
                                          <p:stCondLst>
                                            <p:cond delay="0"/>
                                          </p:stCondLst>
                                        </p:cTn>
                                        <p:tgtEl>
                                          <p:spTgt spid="1475601"/>
                                        </p:tgtEl>
                                      </p:cBhvr>
                                    </p:animEffect>
                                    <p:anim calcmode="lin" valueType="num">
                                      <p:cBhvr>
                                        <p:cTn id="113" dur="1822" tmFilter="0,0; 0.14,0.36; 0.43,0.73; 0.71,0.91; 1.0,1.0">
                                          <p:stCondLst>
                                            <p:cond delay="0"/>
                                          </p:stCondLst>
                                        </p:cTn>
                                        <p:tgtEl>
                                          <p:spTgt spid="1475601"/>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1475601"/>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1475601"/>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1475601"/>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1475601"/>
                                        </p:tgtEl>
                                        <p:attrNameLst>
                                          <p:attrName>ppt_y</p:attrName>
                                        </p:attrNameLst>
                                      </p:cBhvr>
                                      <p:tavLst>
                                        <p:tav tm="0" fmla="#ppt_y-sin(pi*$)/81">
                                          <p:val>
                                            <p:fltVal val="0"/>
                                          </p:val>
                                        </p:tav>
                                        <p:tav tm="100000">
                                          <p:val>
                                            <p:fltVal val="1"/>
                                          </p:val>
                                        </p:tav>
                                      </p:tavLst>
                                    </p:anim>
                                    <p:animScale>
                                      <p:cBhvr>
                                        <p:cTn id="118" dur="26">
                                          <p:stCondLst>
                                            <p:cond delay="650"/>
                                          </p:stCondLst>
                                        </p:cTn>
                                        <p:tgtEl>
                                          <p:spTgt spid="1475601"/>
                                        </p:tgtEl>
                                      </p:cBhvr>
                                      <p:to x="100000" y="60000"/>
                                    </p:animScale>
                                    <p:animScale>
                                      <p:cBhvr>
                                        <p:cTn id="119" dur="166" decel="50000">
                                          <p:stCondLst>
                                            <p:cond delay="676"/>
                                          </p:stCondLst>
                                        </p:cTn>
                                        <p:tgtEl>
                                          <p:spTgt spid="1475601"/>
                                        </p:tgtEl>
                                      </p:cBhvr>
                                      <p:to x="100000" y="100000"/>
                                    </p:animScale>
                                    <p:animScale>
                                      <p:cBhvr>
                                        <p:cTn id="120" dur="26">
                                          <p:stCondLst>
                                            <p:cond delay="1312"/>
                                          </p:stCondLst>
                                        </p:cTn>
                                        <p:tgtEl>
                                          <p:spTgt spid="1475601"/>
                                        </p:tgtEl>
                                      </p:cBhvr>
                                      <p:to x="100000" y="80000"/>
                                    </p:animScale>
                                    <p:animScale>
                                      <p:cBhvr>
                                        <p:cTn id="121" dur="166" decel="50000">
                                          <p:stCondLst>
                                            <p:cond delay="1338"/>
                                          </p:stCondLst>
                                        </p:cTn>
                                        <p:tgtEl>
                                          <p:spTgt spid="1475601"/>
                                        </p:tgtEl>
                                      </p:cBhvr>
                                      <p:to x="100000" y="100000"/>
                                    </p:animScale>
                                    <p:animScale>
                                      <p:cBhvr>
                                        <p:cTn id="122" dur="26">
                                          <p:stCondLst>
                                            <p:cond delay="1642"/>
                                          </p:stCondLst>
                                        </p:cTn>
                                        <p:tgtEl>
                                          <p:spTgt spid="1475601"/>
                                        </p:tgtEl>
                                      </p:cBhvr>
                                      <p:to x="100000" y="90000"/>
                                    </p:animScale>
                                    <p:animScale>
                                      <p:cBhvr>
                                        <p:cTn id="123" dur="166" decel="50000">
                                          <p:stCondLst>
                                            <p:cond delay="1668"/>
                                          </p:stCondLst>
                                        </p:cTn>
                                        <p:tgtEl>
                                          <p:spTgt spid="1475601"/>
                                        </p:tgtEl>
                                      </p:cBhvr>
                                      <p:to x="100000" y="100000"/>
                                    </p:animScale>
                                    <p:animScale>
                                      <p:cBhvr>
                                        <p:cTn id="124" dur="26">
                                          <p:stCondLst>
                                            <p:cond delay="1808"/>
                                          </p:stCondLst>
                                        </p:cTn>
                                        <p:tgtEl>
                                          <p:spTgt spid="1475601"/>
                                        </p:tgtEl>
                                      </p:cBhvr>
                                      <p:to x="100000" y="95000"/>
                                    </p:animScale>
                                    <p:animScale>
                                      <p:cBhvr>
                                        <p:cTn id="125" dur="166" decel="50000">
                                          <p:stCondLst>
                                            <p:cond delay="1834"/>
                                          </p:stCondLst>
                                        </p:cTn>
                                        <p:tgtEl>
                                          <p:spTgt spid="147560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5587" grpId="0" build="p"/>
      <p:bldP spid="1475588" grpId="0" build="p"/>
      <p:bldP spid="1475590" grpId="0" animBg="1"/>
      <p:bldP spid="1475593" grpId="0"/>
      <p:bldP spid="1475594" grpId="0" build="p"/>
      <p:bldP spid="1475596" grpId="0"/>
      <p:bldP spid="1475597" grpId="0"/>
      <p:bldP spid="1475598" grpId="0" build="p"/>
      <p:bldP spid="147560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F4D85F65-80B0-420E-B474-AC395540409E}"/>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6610" name="文本框 1476609"/>
          <p:cNvSpPr txBox="1"/>
          <p:nvPr/>
        </p:nvSpPr>
        <p:spPr>
          <a:xfrm>
            <a:off x="1403648" y="18288"/>
            <a:ext cx="8110537" cy="2143125"/>
          </a:xfrm>
          <a:prstGeom prst="rect">
            <a:avLst/>
          </a:prstGeom>
          <a:noFill/>
          <a:ln w="9525">
            <a:noFill/>
          </a:ln>
        </p:spPr>
        <p:txBody>
          <a:bodyPr>
            <a:spAutoFit/>
          </a:bodyPr>
          <a:lstStyle/>
          <a:p>
            <a:pPr>
              <a:lnSpc>
                <a:spcPct val="120000"/>
              </a:lnSpc>
              <a:spcBef>
                <a:spcPct val="0"/>
              </a:spcBef>
            </a:pPr>
            <a:r>
              <a:rPr lang="zh-CN" altLang="en-US" sz="2800" dirty="0">
                <a:solidFill>
                  <a:schemeClr val="tx1"/>
                </a:solidFill>
                <a:latin typeface="Arial" panose="020B0604020202020204" pitchFamily="34" charset="0"/>
              </a:rPr>
              <a:t>例</a:t>
            </a:r>
            <a:r>
              <a:rPr lang="en-US" altLang="zh-CN" sz="2800" dirty="0">
                <a:solidFill>
                  <a:schemeClr val="tx1"/>
                </a:solidFill>
                <a:latin typeface="Times New Roman" panose="02020603050405020304" pitchFamily="18" charset="0"/>
              </a:rPr>
              <a:t>3-5</a:t>
            </a:r>
            <a:r>
              <a:rPr lang="en-US" altLang="zh-CN" sz="2800" b="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设某线性系统的闭环特征方程为</a:t>
            </a:r>
          </a:p>
          <a:p>
            <a:pPr>
              <a:lnSpc>
                <a:spcPct val="120000"/>
              </a:lnSpc>
              <a:spcBef>
                <a:spcPct val="0"/>
              </a:spcBef>
            </a:pPr>
            <a:r>
              <a:rPr lang="zh-CN" altLang="en-US" sz="2800" dirty="0">
                <a:solidFill>
                  <a:schemeClr val="tx1"/>
                </a:solidFill>
                <a:latin typeface="Arial" panose="020B0604020202020204" pitchFamily="34" charset="0"/>
              </a:rPr>
              <a:t>               </a:t>
            </a:r>
            <a:r>
              <a:rPr lang="en-US" altLang="zh-CN" sz="2800" i="1" dirty="0">
                <a:solidFill>
                  <a:schemeClr val="tx1"/>
                </a:solidFill>
                <a:latin typeface="Times New Roman" panose="02020603050405020304" pitchFamily="18" charset="0"/>
              </a:rPr>
              <a:t>D</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  </a:t>
            </a:r>
            <a:r>
              <a:rPr lang="en-US" altLang="zh-CN" sz="2800" dirty="0">
                <a:solidFill>
                  <a:schemeClr val="tx1"/>
                </a:solidFill>
                <a:latin typeface="Times New Roman" panose="02020603050405020304" pitchFamily="18" charset="0"/>
              </a:rPr>
              <a:t>+ </a:t>
            </a:r>
            <a:r>
              <a:rPr lang="en-US" altLang="zh-CN" sz="2800"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baseline="300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3</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+ 2 = 0</a:t>
            </a:r>
          </a:p>
          <a:p>
            <a:pPr>
              <a:lnSpc>
                <a:spcPct val="120000"/>
              </a:lnSpc>
              <a:spcBef>
                <a:spcPct val="0"/>
              </a:spcBef>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试用劳斯判据判断系统稳定性。</a:t>
            </a:r>
          </a:p>
          <a:p>
            <a:pPr>
              <a:lnSpc>
                <a:spcPct val="120000"/>
              </a:lnSpc>
              <a:spcBef>
                <a:spcPct val="0"/>
              </a:spcBef>
            </a:pPr>
            <a:r>
              <a:rPr lang="zh-CN" altLang="en-US" sz="2800" dirty="0">
                <a:solidFill>
                  <a:schemeClr val="tx1"/>
                </a:solidFill>
                <a:latin typeface="Arial" panose="020B0604020202020204" pitchFamily="34" charset="0"/>
              </a:rPr>
              <a:t>解</a:t>
            </a:r>
            <a:r>
              <a:rPr lang="en-US" altLang="zh-CN" sz="2800" dirty="0">
                <a:solidFill>
                  <a:schemeClr val="tx1"/>
                </a:solidFill>
                <a:latin typeface="Arial" panose="020B0604020202020204" pitchFamily="34" charset="0"/>
              </a:rPr>
              <a:t>:</a:t>
            </a:r>
            <a:r>
              <a:rPr lang="zh-CN" altLang="en-US" sz="2800" dirty="0">
                <a:solidFill>
                  <a:schemeClr val="tx1"/>
                </a:solidFill>
                <a:latin typeface="Arial" panose="020B0604020202020204" pitchFamily="34" charset="0"/>
              </a:rPr>
              <a:t>　该系统的劳斯表如下</a:t>
            </a:r>
          </a:p>
        </p:txBody>
      </p:sp>
      <p:sp>
        <p:nvSpPr>
          <p:cNvPr id="1476611" name="文本框 1476610"/>
          <p:cNvSpPr txBox="1"/>
          <p:nvPr/>
        </p:nvSpPr>
        <p:spPr>
          <a:xfrm>
            <a:off x="0" y="5235575"/>
            <a:ext cx="9144000" cy="1373188"/>
          </a:xfrm>
          <a:prstGeom prst="rect">
            <a:avLst/>
          </a:prstGeom>
          <a:noFill/>
          <a:ln w="9525">
            <a:noFill/>
          </a:ln>
        </p:spPr>
        <p:txBody>
          <a:bodyPr>
            <a:spAutoFit/>
          </a:bodyPr>
          <a:lstStyle/>
          <a:p>
            <a:pPr marR="0" defTabSz="914400">
              <a:spcBef>
                <a:spcPct val="0"/>
              </a:spcBef>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第二种特殊情况：</a:t>
            </a:r>
            <a:r>
              <a:rPr kumimoji="0" lang="zh-CN" altLang="en-US" sz="2800" kern="1200" cap="none" spc="0" normalizeH="0" baseline="0" noProof="1">
                <a:solidFill>
                  <a:schemeClr val="tx1"/>
                </a:solidFill>
                <a:latin typeface="楷体_GB2312" pitchFamily="49" charset="-122"/>
                <a:ea typeface="楷体_GB2312" pitchFamily="49" charset="-122"/>
                <a:cs typeface="+mn-cs"/>
              </a:rPr>
              <a:t>劳斯表中某行元素全为零。此时，特征方程中存在关于原点对称的根（实根，共轭虚根或共轭复数根）。对此情况，可作如下处理：</a:t>
            </a:r>
          </a:p>
        </p:txBody>
      </p:sp>
      <p:sp>
        <p:nvSpPr>
          <p:cNvPr id="1476612" name="文本框 1476611"/>
          <p:cNvSpPr txBox="1"/>
          <p:nvPr/>
        </p:nvSpPr>
        <p:spPr>
          <a:xfrm>
            <a:off x="1990725" y="2152650"/>
            <a:ext cx="669925" cy="3084513"/>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a:t>
            </a:r>
            <a:endParaRPr lang="en-US" altLang="zh-CN" sz="2800" i="1" dirty="0">
              <a:solidFill>
                <a:schemeClr val="tx1"/>
              </a:solidFill>
              <a:latin typeface="Times New Roman" panose="02020603050405020304" pitchFamily="18" charset="0"/>
            </a:endParaRP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p>
        </p:txBody>
      </p:sp>
      <p:sp>
        <p:nvSpPr>
          <p:cNvPr id="1476613" name="文本框 1476612"/>
          <p:cNvSpPr txBox="1"/>
          <p:nvPr/>
        </p:nvSpPr>
        <p:spPr>
          <a:xfrm>
            <a:off x="3027363" y="2154238"/>
            <a:ext cx="2924175" cy="244316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3        2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1  </a:t>
            </a:r>
            <a:endParaRPr lang="en-US" altLang="zh-CN" sz="28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sym typeface="Symbol" panose="05050102010706020507" pitchFamily="18" charset="2"/>
              </a:rPr>
              <a:t>2</a:t>
            </a:r>
            <a:r>
              <a:rPr lang="en-US" altLang="zh-CN" sz="2800" dirty="0">
                <a:solidFill>
                  <a:schemeClr val="tx1"/>
                </a:solidFill>
                <a:latin typeface="Times New Roman" panose="02020603050405020304" pitchFamily="18" charset="0"/>
              </a:rPr>
              <a:t>            2</a:t>
            </a:r>
          </a:p>
          <a:p>
            <a:r>
              <a:rPr lang="en-US" altLang="zh-CN" sz="2800" dirty="0">
                <a:solidFill>
                  <a:schemeClr val="tx1"/>
                </a:solidFill>
                <a:latin typeface="Times New Roman" panose="02020603050405020304" pitchFamily="18" charset="0"/>
              </a:rPr>
              <a:t> 0              0</a:t>
            </a:r>
          </a:p>
        </p:txBody>
      </p:sp>
      <p:sp>
        <p:nvSpPr>
          <p:cNvPr id="1476614" name="直接连接符 1476613"/>
          <p:cNvSpPr/>
          <p:nvPr/>
        </p:nvSpPr>
        <p:spPr>
          <a:xfrm>
            <a:off x="2620963" y="2193925"/>
            <a:ext cx="0" cy="3044825"/>
          </a:xfrm>
          <a:prstGeom prst="line">
            <a:avLst/>
          </a:prstGeom>
          <a:ln w="38100" cap="sq" cmpd="sng">
            <a:solidFill>
              <a:schemeClr val="tx1"/>
            </a:solidFill>
            <a:prstDash val="solid"/>
            <a:headEnd type="none" w="med" len="med"/>
            <a:tailEnd type="none" w="med" len="med"/>
          </a:ln>
        </p:spPr>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6610">
                                            <p:txEl>
                                              <p:pRg st="0" end="0"/>
                                            </p:txEl>
                                          </p:spTgt>
                                        </p:tgtEl>
                                        <p:attrNameLst>
                                          <p:attrName>style.visibility</p:attrName>
                                        </p:attrNameLst>
                                      </p:cBhvr>
                                      <p:to>
                                        <p:strVal val="visible"/>
                                      </p:to>
                                    </p:set>
                                    <p:animEffect transition="in" filter="dissolve">
                                      <p:cBhvr>
                                        <p:cTn id="7" dur="500"/>
                                        <p:tgtEl>
                                          <p:spTgt spid="14766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6610">
                                            <p:txEl>
                                              <p:pRg st="1" end="1"/>
                                            </p:txEl>
                                          </p:spTgt>
                                        </p:tgtEl>
                                        <p:attrNameLst>
                                          <p:attrName>style.visibility</p:attrName>
                                        </p:attrNameLst>
                                      </p:cBhvr>
                                      <p:to>
                                        <p:strVal val="visible"/>
                                      </p:to>
                                    </p:set>
                                    <p:animEffect transition="in" filter="dissolve">
                                      <p:cBhvr>
                                        <p:cTn id="12" dur="500"/>
                                        <p:tgtEl>
                                          <p:spTgt spid="14766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76610">
                                            <p:txEl>
                                              <p:pRg st="2" end="2"/>
                                            </p:txEl>
                                          </p:spTgt>
                                        </p:tgtEl>
                                        <p:attrNameLst>
                                          <p:attrName>style.visibility</p:attrName>
                                        </p:attrNameLst>
                                      </p:cBhvr>
                                      <p:to>
                                        <p:strVal val="visible"/>
                                      </p:to>
                                    </p:set>
                                    <p:animEffect transition="in" filter="dissolve">
                                      <p:cBhvr>
                                        <p:cTn id="17" dur="500"/>
                                        <p:tgtEl>
                                          <p:spTgt spid="14766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76610">
                                            <p:txEl>
                                              <p:pRg st="3" end="3"/>
                                            </p:txEl>
                                          </p:spTgt>
                                        </p:tgtEl>
                                        <p:attrNameLst>
                                          <p:attrName>style.visibility</p:attrName>
                                        </p:attrNameLst>
                                      </p:cBhvr>
                                      <p:to>
                                        <p:strVal val="visible"/>
                                      </p:to>
                                    </p:set>
                                    <p:animEffect transition="in" filter="dissolve">
                                      <p:cBhvr>
                                        <p:cTn id="22" dur="500"/>
                                        <p:tgtEl>
                                          <p:spTgt spid="14766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76612"/>
                                        </p:tgtEl>
                                        <p:attrNameLst>
                                          <p:attrName>style.visibility</p:attrName>
                                        </p:attrNameLst>
                                      </p:cBhvr>
                                      <p:to>
                                        <p:strVal val="visible"/>
                                      </p:to>
                                    </p:set>
                                    <p:animEffect transition="in" filter="dissolve">
                                      <p:cBhvr>
                                        <p:cTn id="27" dur="500"/>
                                        <p:tgtEl>
                                          <p:spTgt spid="1476612"/>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1476614"/>
                                        </p:tgtEl>
                                        <p:attrNameLst>
                                          <p:attrName>style.visibility</p:attrName>
                                        </p:attrNameLst>
                                      </p:cBhvr>
                                      <p:to>
                                        <p:strVal val="visible"/>
                                      </p:to>
                                    </p:set>
                                    <p:animEffect transition="in" filter="dissolve">
                                      <p:cBhvr>
                                        <p:cTn id="31" dur="500"/>
                                        <p:tgtEl>
                                          <p:spTgt spid="1476614"/>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wd">
                                    <p:tmPct val="100000"/>
                                  </p:iterate>
                                  <p:childTnLst>
                                    <p:set>
                                      <p:cBhvr>
                                        <p:cTn id="35" dur="1" fill="hold">
                                          <p:stCondLst>
                                            <p:cond delay="0"/>
                                          </p:stCondLst>
                                        </p:cTn>
                                        <p:tgtEl>
                                          <p:spTgt spid="1476613">
                                            <p:txEl>
                                              <p:pRg st="0" end="0"/>
                                            </p:txEl>
                                          </p:spTgt>
                                        </p:tgtEl>
                                        <p:attrNameLst>
                                          <p:attrName>style.visibility</p:attrName>
                                        </p:attrNameLst>
                                      </p:cBhvr>
                                      <p:to>
                                        <p:strVal val="visible"/>
                                      </p:to>
                                    </p:set>
                                    <p:animEffect transition="in" filter="dissolve">
                                      <p:cBhvr>
                                        <p:cTn id="36" dur="300"/>
                                        <p:tgtEl>
                                          <p:spTgt spid="147661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iterate type="wd">
                                    <p:tmPct val="100000"/>
                                  </p:iterate>
                                  <p:childTnLst>
                                    <p:set>
                                      <p:cBhvr>
                                        <p:cTn id="40" dur="1" fill="hold">
                                          <p:stCondLst>
                                            <p:cond delay="0"/>
                                          </p:stCondLst>
                                        </p:cTn>
                                        <p:tgtEl>
                                          <p:spTgt spid="1476613">
                                            <p:txEl>
                                              <p:pRg st="1" end="1"/>
                                            </p:txEl>
                                          </p:spTgt>
                                        </p:tgtEl>
                                        <p:attrNameLst>
                                          <p:attrName>style.visibility</p:attrName>
                                        </p:attrNameLst>
                                      </p:cBhvr>
                                      <p:to>
                                        <p:strVal val="visible"/>
                                      </p:to>
                                    </p:set>
                                    <p:animEffect transition="in" filter="dissolve">
                                      <p:cBhvr>
                                        <p:cTn id="41" dur="300"/>
                                        <p:tgtEl>
                                          <p:spTgt spid="1476613">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iterate type="wd">
                                    <p:tmPct val="100000"/>
                                  </p:iterate>
                                  <p:childTnLst>
                                    <p:set>
                                      <p:cBhvr>
                                        <p:cTn id="45" dur="1" fill="hold">
                                          <p:stCondLst>
                                            <p:cond delay="0"/>
                                          </p:stCondLst>
                                        </p:cTn>
                                        <p:tgtEl>
                                          <p:spTgt spid="1476613">
                                            <p:txEl>
                                              <p:pRg st="2" end="2"/>
                                            </p:txEl>
                                          </p:spTgt>
                                        </p:tgtEl>
                                        <p:attrNameLst>
                                          <p:attrName>style.visibility</p:attrName>
                                        </p:attrNameLst>
                                      </p:cBhvr>
                                      <p:to>
                                        <p:strVal val="visible"/>
                                      </p:to>
                                    </p:set>
                                    <p:animEffect transition="in" filter="dissolve">
                                      <p:cBhvr>
                                        <p:cTn id="46" dur="300"/>
                                        <p:tgtEl>
                                          <p:spTgt spid="1476613">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iterate type="wd">
                                    <p:tmPct val="100000"/>
                                  </p:iterate>
                                  <p:childTnLst>
                                    <p:set>
                                      <p:cBhvr>
                                        <p:cTn id="50" dur="1" fill="hold">
                                          <p:stCondLst>
                                            <p:cond delay="0"/>
                                          </p:stCondLst>
                                        </p:cTn>
                                        <p:tgtEl>
                                          <p:spTgt spid="1476613">
                                            <p:txEl>
                                              <p:pRg st="3" end="3"/>
                                            </p:txEl>
                                          </p:spTgt>
                                        </p:tgtEl>
                                        <p:attrNameLst>
                                          <p:attrName>style.visibility</p:attrName>
                                        </p:attrNameLst>
                                      </p:cBhvr>
                                      <p:to>
                                        <p:strVal val="visible"/>
                                      </p:to>
                                    </p:set>
                                    <p:animEffect transition="in" filter="dissolve">
                                      <p:cBhvr>
                                        <p:cTn id="51" dur="300"/>
                                        <p:tgtEl>
                                          <p:spTgt spid="1476613">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6" fill="hold" grpId="0" nodeType="clickEffect">
                                  <p:stCondLst>
                                    <p:cond delay="0"/>
                                  </p:stCondLst>
                                  <p:childTnLst>
                                    <p:set>
                                      <p:cBhvr>
                                        <p:cTn id="55" dur="1" fill="hold">
                                          <p:stCondLst>
                                            <p:cond delay="0"/>
                                          </p:stCondLst>
                                        </p:cTn>
                                        <p:tgtEl>
                                          <p:spTgt spid="1476611">
                                            <p:txEl>
                                              <p:pRg st="0" end="0"/>
                                            </p:txEl>
                                          </p:spTgt>
                                        </p:tgtEl>
                                        <p:attrNameLst>
                                          <p:attrName>style.visibility</p:attrName>
                                        </p:attrNameLst>
                                      </p:cBhvr>
                                      <p:to>
                                        <p:strVal val="visible"/>
                                      </p:to>
                                    </p:set>
                                    <p:animEffect transition="in" filter="barn(inHorizontal)">
                                      <p:cBhvr>
                                        <p:cTn id="56" dur="500"/>
                                        <p:tgtEl>
                                          <p:spTgt spid="14766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6610" grpId="0" build="p"/>
      <p:bldP spid="1476611" grpId="0" build="p"/>
      <p:bldP spid="1476612" grpId="0"/>
      <p:bldP spid="147661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3579D97D-3AE9-49AD-B758-F74A401CFAD6}"/>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7634" name="文本框 1477633"/>
          <p:cNvSpPr txBox="1"/>
          <p:nvPr/>
        </p:nvSpPr>
        <p:spPr>
          <a:xfrm>
            <a:off x="0" y="4757738"/>
            <a:ext cx="9144000" cy="1766887"/>
          </a:xfrm>
          <a:prstGeom prst="rect">
            <a:avLst/>
          </a:prstGeom>
          <a:noFill/>
          <a:ln w="9525">
            <a:noFill/>
          </a:ln>
        </p:spPr>
        <p:txBody>
          <a:bodyPr>
            <a:spAutoFit/>
          </a:bodyPr>
          <a:lstStyle/>
          <a:p>
            <a:pPr>
              <a:lnSpc>
                <a:spcPct val="110000"/>
              </a:lnSpc>
              <a:spcBef>
                <a:spcPct val="0"/>
              </a:spcBef>
            </a:pPr>
            <a:r>
              <a:rPr lang="en-US" altLang="zh-CN" sz="2800" b="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由于劳斯表中第一列元素的符号改变了两次，</a:t>
            </a:r>
            <a:r>
              <a:rPr lang="en-US" altLang="zh-CN" sz="2400" dirty="0">
                <a:solidFill>
                  <a:schemeClr val="tx1"/>
                </a:solidFill>
                <a:latin typeface="Arial" panose="020B0604020202020204" pitchFamily="34" charset="0"/>
              </a:rPr>
              <a:t>∴</a:t>
            </a:r>
            <a:r>
              <a:rPr lang="zh-CN" altLang="en-US" sz="2400" dirty="0">
                <a:solidFill>
                  <a:schemeClr val="tx1"/>
                </a:solidFill>
                <a:latin typeface="Arial" panose="020B0604020202020204" pitchFamily="34" charset="0"/>
              </a:rPr>
              <a:t>系统有两个正根，系统不稳定。通过解辅助方程可求出关于原点对称的根：</a:t>
            </a:r>
          </a:p>
          <a:p>
            <a:pPr>
              <a:lnSpc>
                <a:spcPct val="110000"/>
              </a:lnSpc>
              <a:spcBef>
                <a:spcPct val="0"/>
              </a:spcBef>
            </a:pPr>
            <a:r>
              <a:rPr lang="zh-CN" altLang="en-US" sz="2400" dirty="0">
                <a:solidFill>
                  <a:schemeClr val="tx1"/>
                </a:solidFill>
                <a:latin typeface="Arial" panose="020B0604020202020204" pitchFamily="34" charset="0"/>
              </a:rPr>
              <a:t> </a:t>
            </a:r>
            <a:r>
              <a:rPr lang="en-US" altLang="zh-CN" sz="2400" i="1" dirty="0">
                <a:solidFill>
                  <a:schemeClr val="tx1"/>
                </a:solidFill>
                <a:latin typeface="Times New Roman" panose="02020603050405020304" pitchFamily="18" charset="0"/>
              </a:rPr>
              <a:t>s</a:t>
            </a:r>
            <a:r>
              <a:rPr lang="en-US" altLang="zh-CN" sz="2400" baseline="-30000" dirty="0">
                <a:solidFill>
                  <a:schemeClr val="tx1"/>
                </a:solidFill>
                <a:latin typeface="Times New Roman" panose="02020603050405020304" pitchFamily="18" charset="0"/>
              </a:rPr>
              <a:t>1</a:t>
            </a:r>
            <a:r>
              <a:rPr lang="en-US" altLang="zh-CN" sz="2400" dirty="0">
                <a:solidFill>
                  <a:schemeClr val="tx1"/>
                </a:solidFill>
                <a:latin typeface="Times New Roman" panose="02020603050405020304" pitchFamily="18" charset="0"/>
              </a:rPr>
              <a:t>=1 </a:t>
            </a:r>
            <a:r>
              <a:rPr lang="zh-CN" altLang="en-US" sz="2400" dirty="0">
                <a:solidFill>
                  <a:schemeClr val="tx1"/>
                </a:solidFill>
                <a:latin typeface="Arial" panose="020B0604020202020204" pitchFamily="34" charset="0"/>
              </a:rPr>
              <a:t>和 </a:t>
            </a:r>
            <a:r>
              <a:rPr lang="en-US" altLang="zh-CN" sz="2400" i="1" dirty="0">
                <a:solidFill>
                  <a:schemeClr val="tx1"/>
                </a:solidFill>
                <a:latin typeface="Times New Roman" panose="02020603050405020304" pitchFamily="18" charset="0"/>
              </a:rPr>
              <a:t>s</a:t>
            </a:r>
            <a:r>
              <a:rPr lang="en-US" altLang="zh-CN" sz="2400" baseline="-30000" dirty="0">
                <a:solidFill>
                  <a:schemeClr val="tx1"/>
                </a:solidFill>
                <a:latin typeface="Times New Roman" panose="02020603050405020304" pitchFamily="18" charset="0"/>
              </a:rPr>
              <a:t>2</a:t>
            </a:r>
            <a:r>
              <a:rPr lang="en-US" altLang="zh-CN"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sym typeface="Symbol" panose="05050102010706020507" pitchFamily="18" charset="2"/>
              </a:rPr>
              <a:t></a:t>
            </a:r>
            <a:r>
              <a:rPr lang="en-US" altLang="zh-CN" sz="2400" dirty="0">
                <a:solidFill>
                  <a:schemeClr val="tx1"/>
                </a:solidFill>
                <a:latin typeface="Times New Roman" panose="02020603050405020304" pitchFamily="18" charset="0"/>
              </a:rPr>
              <a:t>1</a:t>
            </a:r>
            <a:r>
              <a:rPr lang="en-US" altLang="zh-CN" sz="240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a:t>
            </a:r>
          </a:p>
          <a:p>
            <a:pPr>
              <a:lnSpc>
                <a:spcPct val="110000"/>
              </a:lnSpc>
              <a:spcBef>
                <a:spcPct val="0"/>
              </a:spcBef>
            </a:pPr>
            <a:r>
              <a:rPr lang="zh-CN" altLang="en-US" sz="2400" dirty="0">
                <a:solidFill>
                  <a:schemeClr val="tx1"/>
                </a:solidFill>
                <a:latin typeface="Arial" panose="020B0604020202020204" pitchFamily="34" charset="0"/>
              </a:rPr>
              <a:t>      对本例题，可用长除法求出另二个根，分别为 </a:t>
            </a:r>
            <a:r>
              <a:rPr lang="en-US" altLang="zh-CN" sz="2400" i="1" dirty="0">
                <a:solidFill>
                  <a:schemeClr val="tx1"/>
                </a:solidFill>
                <a:latin typeface="Times New Roman" panose="02020603050405020304" pitchFamily="18" charset="0"/>
              </a:rPr>
              <a:t>s</a:t>
            </a:r>
            <a:r>
              <a:rPr lang="en-US" altLang="zh-CN" sz="2400" baseline="-30000" dirty="0">
                <a:solidFill>
                  <a:schemeClr val="tx1"/>
                </a:solidFill>
                <a:latin typeface="Times New Roman" panose="02020603050405020304" pitchFamily="18" charset="0"/>
              </a:rPr>
              <a:t>3</a:t>
            </a:r>
            <a:r>
              <a:rPr lang="en-US" altLang="zh-CN" sz="2400" dirty="0">
                <a:solidFill>
                  <a:schemeClr val="tx1"/>
                </a:solidFill>
                <a:latin typeface="Times New Roman" panose="02020603050405020304" pitchFamily="18" charset="0"/>
              </a:rPr>
              <a:t>=1 </a:t>
            </a:r>
            <a:r>
              <a:rPr lang="zh-CN" altLang="en-US" sz="2400" dirty="0">
                <a:solidFill>
                  <a:schemeClr val="tx1"/>
                </a:solidFill>
                <a:latin typeface="Arial" panose="020B0604020202020204" pitchFamily="34" charset="0"/>
              </a:rPr>
              <a:t>和 </a:t>
            </a:r>
            <a:r>
              <a:rPr lang="en-US" altLang="zh-CN" sz="2400" i="1" dirty="0">
                <a:solidFill>
                  <a:schemeClr val="tx1"/>
                </a:solidFill>
                <a:latin typeface="Times New Roman" panose="02020603050405020304" pitchFamily="18" charset="0"/>
              </a:rPr>
              <a:t>s</a:t>
            </a:r>
            <a:r>
              <a:rPr lang="en-US" altLang="zh-CN" sz="2400" baseline="-30000" dirty="0">
                <a:solidFill>
                  <a:schemeClr val="tx1"/>
                </a:solidFill>
                <a:latin typeface="Times New Roman" panose="02020603050405020304" pitchFamily="18" charset="0"/>
              </a:rPr>
              <a:t>4</a:t>
            </a:r>
            <a:r>
              <a:rPr lang="en-US" altLang="zh-CN" sz="2400" dirty="0">
                <a:solidFill>
                  <a:schemeClr val="tx1"/>
                </a:solidFill>
                <a:latin typeface="Times New Roman" panose="02020603050405020304" pitchFamily="18" charset="0"/>
              </a:rPr>
              <a:t>= </a:t>
            </a:r>
            <a:r>
              <a:rPr lang="en-US" altLang="zh-CN" sz="2400" dirty="0">
                <a:solidFill>
                  <a:schemeClr val="tx1"/>
                </a:solidFill>
                <a:latin typeface="Times New Roman" panose="02020603050405020304" pitchFamily="18" charset="0"/>
                <a:sym typeface="Symbol" panose="05050102010706020507" pitchFamily="18" charset="2"/>
              </a:rPr>
              <a:t></a:t>
            </a:r>
            <a:r>
              <a:rPr lang="en-US" altLang="zh-CN" sz="2400" dirty="0">
                <a:solidFill>
                  <a:schemeClr val="tx1"/>
                </a:solidFill>
                <a:latin typeface="Times New Roman" panose="02020603050405020304" pitchFamily="18" charset="0"/>
              </a:rPr>
              <a:t>2</a:t>
            </a:r>
            <a:r>
              <a:rPr lang="en-US" altLang="zh-CN" sz="240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a:t>
            </a:r>
          </a:p>
        </p:txBody>
      </p:sp>
      <p:sp>
        <p:nvSpPr>
          <p:cNvPr id="1477635" name="矩形 1477634"/>
          <p:cNvSpPr/>
          <p:nvPr/>
        </p:nvSpPr>
        <p:spPr>
          <a:xfrm>
            <a:off x="444768" y="550716"/>
            <a:ext cx="8856984" cy="954107"/>
          </a:xfrm>
          <a:prstGeom prst="rect">
            <a:avLst/>
          </a:prstGeom>
          <a:noFill/>
          <a:ln w="9525">
            <a:noFill/>
          </a:ln>
        </p:spPr>
        <p:txBody>
          <a:bodyPr wrap="square">
            <a:spAutoFit/>
          </a:bodyPr>
          <a:lstStyle/>
          <a:p>
            <a:pPr>
              <a:spcBef>
                <a:spcPct val="0"/>
              </a:spcBef>
            </a:pPr>
            <a:r>
              <a:rPr lang="en-US" altLang="zh-CN" sz="28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用全零行的上一行的系数构成一个辅助方程，对辅助</a:t>
            </a:r>
          </a:p>
          <a:p>
            <a:pPr>
              <a:spcBef>
                <a:spcPct val="0"/>
              </a:spcBef>
            </a:pPr>
            <a:r>
              <a:rPr lang="zh-CN" altLang="en-US" sz="2800" dirty="0">
                <a:solidFill>
                  <a:schemeClr val="tx1"/>
                </a:solidFill>
                <a:latin typeface="楷体_GB2312" pitchFamily="49" charset="-122"/>
                <a:ea typeface="楷体_GB2312" pitchFamily="49" charset="-122"/>
              </a:rPr>
              <a:t>方程求导，用所得方程的系数代替全零行，继续劳斯表。</a:t>
            </a:r>
          </a:p>
        </p:txBody>
      </p:sp>
      <p:sp>
        <p:nvSpPr>
          <p:cNvPr id="1477636" name="文本框 1477635"/>
          <p:cNvSpPr txBox="1"/>
          <p:nvPr/>
        </p:nvSpPr>
        <p:spPr>
          <a:xfrm>
            <a:off x="1471613" y="1633538"/>
            <a:ext cx="669925" cy="308451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4</a:t>
            </a:r>
            <a:endParaRPr lang="en-US" altLang="zh-CN" sz="2800" i="1" dirty="0">
              <a:solidFill>
                <a:schemeClr val="tx1"/>
              </a:solidFill>
              <a:latin typeface="Times New Roman" panose="02020603050405020304" pitchFamily="18" charset="0"/>
            </a:endParaRP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p>
        </p:txBody>
      </p:sp>
      <p:sp>
        <p:nvSpPr>
          <p:cNvPr id="1477637" name="文本框 1477636"/>
          <p:cNvSpPr txBox="1"/>
          <p:nvPr/>
        </p:nvSpPr>
        <p:spPr>
          <a:xfrm>
            <a:off x="2181225" y="1570038"/>
            <a:ext cx="5765800" cy="180181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3           2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1  </a:t>
            </a:r>
            <a:endParaRPr lang="en-US" altLang="zh-CN" sz="28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sym typeface="Symbol" panose="05050102010706020507" pitchFamily="18" charset="2"/>
              </a:rPr>
              <a:t>2</a:t>
            </a:r>
            <a:r>
              <a:rPr lang="en-US" altLang="zh-CN" sz="2800" dirty="0">
                <a:solidFill>
                  <a:schemeClr val="tx1"/>
                </a:solidFill>
                <a:latin typeface="Times New Roman" panose="02020603050405020304" pitchFamily="18" charset="0"/>
              </a:rPr>
              <a:t>             2           </a:t>
            </a:r>
            <a:r>
              <a:rPr lang="zh-CN" altLang="en-US" sz="2800" dirty="0">
                <a:solidFill>
                  <a:schemeClr val="tx1"/>
                </a:solidFill>
                <a:latin typeface="Times New Roman" panose="02020603050405020304" pitchFamily="18" charset="0"/>
              </a:rPr>
              <a:t>　</a:t>
            </a:r>
          </a:p>
        </p:txBody>
      </p:sp>
      <p:sp>
        <p:nvSpPr>
          <p:cNvPr id="1477638" name="直接连接符 1477637"/>
          <p:cNvSpPr/>
          <p:nvPr/>
        </p:nvSpPr>
        <p:spPr>
          <a:xfrm>
            <a:off x="2101850" y="1674813"/>
            <a:ext cx="0" cy="3044825"/>
          </a:xfrm>
          <a:prstGeom prst="line">
            <a:avLst/>
          </a:prstGeom>
          <a:ln w="38100" cap="sq" cmpd="sng">
            <a:solidFill>
              <a:schemeClr val="tx1"/>
            </a:solidFill>
            <a:prstDash val="solid"/>
            <a:headEnd type="none" w="med" len="med"/>
            <a:tailEnd type="none" w="med" len="med"/>
          </a:ln>
        </p:spPr>
      </p:sp>
      <p:sp>
        <p:nvSpPr>
          <p:cNvPr id="1477639" name="矩形 1477638"/>
          <p:cNvSpPr/>
          <p:nvPr/>
        </p:nvSpPr>
        <p:spPr>
          <a:xfrm>
            <a:off x="2019300" y="3349625"/>
            <a:ext cx="2054225" cy="1374775"/>
          </a:xfrm>
          <a:prstGeom prst="rect">
            <a:avLst/>
          </a:prstGeom>
          <a:noFill/>
          <a:ln w="9525">
            <a:noFill/>
          </a:ln>
        </p:spPr>
        <p:txBody>
          <a:bodyPr>
            <a:spAutoFit/>
          </a:bodyPr>
          <a:lstStyle/>
          <a:p>
            <a:pPr marL="342900" indent="-342900">
              <a:lnSpc>
                <a:spcPct val="150000"/>
              </a:lnSpc>
              <a:spcBef>
                <a:spcPct val="0"/>
              </a:spcBef>
            </a:pPr>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rPr>
              <a:t>4</a:t>
            </a:r>
          </a:p>
          <a:p>
            <a:pPr marL="342900" indent="-342900">
              <a:lnSpc>
                <a:spcPct val="150000"/>
              </a:lnSpc>
              <a:spcBef>
                <a:spcPct val="0"/>
              </a:spcBef>
            </a:pPr>
            <a:r>
              <a:rPr lang="en-US" altLang="zh-CN" sz="2800" dirty="0">
                <a:solidFill>
                  <a:schemeClr val="tx1"/>
                </a:solidFill>
                <a:latin typeface="Times New Roman" panose="02020603050405020304" pitchFamily="18" charset="0"/>
              </a:rPr>
              <a:t>    2</a:t>
            </a:r>
          </a:p>
        </p:txBody>
      </p:sp>
      <p:sp>
        <p:nvSpPr>
          <p:cNvPr id="1477640" name="文本框 1477639"/>
          <p:cNvSpPr txBox="1"/>
          <p:nvPr/>
        </p:nvSpPr>
        <p:spPr>
          <a:xfrm>
            <a:off x="4799013" y="2798763"/>
            <a:ext cx="3471862" cy="1757362"/>
          </a:xfrm>
          <a:prstGeom prst="rect">
            <a:avLst/>
          </a:prstGeom>
          <a:noFill/>
          <a:ln w="9525">
            <a:noFill/>
          </a:ln>
        </p:spPr>
        <p:txBody>
          <a:bodyPr>
            <a:spAutoFit/>
          </a:bodyPr>
          <a:lstStyle/>
          <a:p>
            <a:pPr>
              <a:lnSpc>
                <a:spcPct val="110000"/>
              </a:lnSpc>
              <a:buFont typeface="Symbol" panose="05050102010706020507" pitchFamily="18" charset="2"/>
            </a:pP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F</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2</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r>
              <a:rPr lang="en-US" altLang="zh-CN" sz="2800" dirty="0">
                <a:solidFill>
                  <a:schemeClr val="tx1"/>
                </a:solidFill>
                <a:latin typeface="Times New Roman" panose="02020603050405020304" pitchFamily="18" charset="0"/>
              </a:rPr>
              <a:t>+ 2</a:t>
            </a:r>
          </a:p>
          <a:p>
            <a:pPr>
              <a:lnSpc>
                <a:spcPct val="110000"/>
              </a:lnSpc>
              <a:buFont typeface="Symbol" panose="05050102010706020507" pitchFamily="18" charset="2"/>
            </a:pP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 F</a:t>
            </a:r>
            <a:r>
              <a:rPr lang="en-US" altLang="zh-CN" sz="2800" i="1"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4</a:t>
            </a:r>
            <a:r>
              <a:rPr lang="en-US" altLang="zh-CN" sz="2800" i="1" dirty="0">
                <a:solidFill>
                  <a:schemeClr val="tx1"/>
                </a:solidFill>
                <a:latin typeface="Times New Roman" panose="02020603050405020304" pitchFamily="18" charset="0"/>
              </a:rPr>
              <a:t>s</a:t>
            </a:r>
          </a:p>
          <a:p>
            <a:pPr algn="ctr">
              <a:lnSpc>
                <a:spcPct val="90000"/>
              </a:lnSpc>
            </a:pPr>
            <a:endParaRPr lang="en-US" altLang="zh-CN" sz="2400" b="0" dirty="0">
              <a:solidFill>
                <a:schemeClr val="tx1"/>
              </a:solidFill>
              <a:latin typeface="Times New Roman" panose="02020603050405020304" pitchFamily="18" charset="0"/>
            </a:endParaRP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7635">
                                            <p:txEl>
                                              <p:pRg st="0" end="0"/>
                                            </p:txEl>
                                          </p:spTgt>
                                        </p:tgtEl>
                                        <p:attrNameLst>
                                          <p:attrName>style.visibility</p:attrName>
                                        </p:attrNameLst>
                                      </p:cBhvr>
                                      <p:to>
                                        <p:strVal val="visible"/>
                                      </p:to>
                                    </p:set>
                                    <p:anim calcmode="lin" valueType="num">
                                      <p:cBhvr additive="base">
                                        <p:cTn id="7" dur="500" fill="hold"/>
                                        <p:tgtEl>
                                          <p:spTgt spid="1477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763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77635">
                                            <p:txEl>
                                              <p:pRg st="1" end="1"/>
                                            </p:txEl>
                                          </p:spTgt>
                                        </p:tgtEl>
                                        <p:attrNameLst>
                                          <p:attrName>style.visibility</p:attrName>
                                        </p:attrNameLst>
                                      </p:cBhvr>
                                      <p:to>
                                        <p:strVal val="visible"/>
                                      </p:to>
                                    </p:set>
                                    <p:anim calcmode="lin" valueType="num">
                                      <p:cBhvr additive="base">
                                        <p:cTn id="12" dur="500" fill="hold"/>
                                        <p:tgtEl>
                                          <p:spTgt spid="147763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77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477636"/>
                                        </p:tgtEl>
                                        <p:attrNameLst>
                                          <p:attrName>style.visibility</p:attrName>
                                        </p:attrNameLst>
                                      </p:cBhvr>
                                      <p:to>
                                        <p:strVal val="visible"/>
                                      </p:to>
                                    </p:set>
                                    <p:animEffect transition="in" filter="dissolve">
                                      <p:cBhvr>
                                        <p:cTn id="18" dur="500"/>
                                        <p:tgtEl>
                                          <p:spTgt spid="1477636"/>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1477638"/>
                                        </p:tgtEl>
                                        <p:attrNameLst>
                                          <p:attrName>style.visibility</p:attrName>
                                        </p:attrNameLst>
                                      </p:cBhvr>
                                      <p:to>
                                        <p:strVal val="visible"/>
                                      </p:to>
                                    </p:set>
                                    <p:animEffect transition="in" filter="dissolve">
                                      <p:cBhvr>
                                        <p:cTn id="22" dur="500"/>
                                        <p:tgtEl>
                                          <p:spTgt spid="1477638"/>
                                        </p:tgtEl>
                                      </p:cBhvr>
                                    </p:animEffect>
                                  </p:childTnLst>
                                </p:cTn>
                              </p:par>
                            </p:childTnLst>
                          </p:cTn>
                        </p:par>
                        <p:par>
                          <p:cTn id="23" fill="hold">
                            <p:stCondLst>
                              <p:cond delay="1000"/>
                            </p:stCondLst>
                            <p:childTnLst>
                              <p:par>
                                <p:cTn id="24" presetID="9" presetClass="entr" presetSubtype="0" fill="hold" grpId="0" nodeType="afterEffect">
                                  <p:stCondLst>
                                    <p:cond delay="0"/>
                                  </p:stCondLst>
                                  <p:childTnLst>
                                    <p:set>
                                      <p:cBhvr>
                                        <p:cTn id="25" dur="1" fill="hold">
                                          <p:stCondLst>
                                            <p:cond delay="0"/>
                                          </p:stCondLst>
                                        </p:cTn>
                                        <p:tgtEl>
                                          <p:spTgt spid="1477637"/>
                                        </p:tgtEl>
                                        <p:attrNameLst>
                                          <p:attrName>style.visibility</p:attrName>
                                        </p:attrNameLst>
                                      </p:cBhvr>
                                      <p:to>
                                        <p:strVal val="visible"/>
                                      </p:to>
                                    </p:set>
                                    <p:animEffect transition="in" filter="dissolve">
                                      <p:cBhvr>
                                        <p:cTn id="26" dur="500"/>
                                        <p:tgtEl>
                                          <p:spTgt spid="147763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iterate type="lt">
                                    <p:tmPct val="100000"/>
                                  </p:iterate>
                                  <p:childTnLst>
                                    <p:set>
                                      <p:cBhvr>
                                        <p:cTn id="30" dur="1" fill="hold">
                                          <p:stCondLst>
                                            <p:cond delay="0"/>
                                          </p:stCondLst>
                                        </p:cTn>
                                        <p:tgtEl>
                                          <p:spTgt spid="1477640">
                                            <p:txEl>
                                              <p:pRg st="0" end="0"/>
                                            </p:txEl>
                                          </p:spTgt>
                                        </p:tgtEl>
                                        <p:attrNameLst>
                                          <p:attrName>style.visibility</p:attrName>
                                        </p:attrNameLst>
                                      </p:cBhvr>
                                      <p:to>
                                        <p:strVal val="visible"/>
                                      </p:to>
                                    </p:set>
                                    <p:animEffect transition="in" filter="dissolve">
                                      <p:cBhvr>
                                        <p:cTn id="31" dur="75"/>
                                        <p:tgtEl>
                                          <p:spTgt spid="147764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lt">
                                    <p:tmPct val="100000"/>
                                  </p:iterate>
                                  <p:childTnLst>
                                    <p:set>
                                      <p:cBhvr>
                                        <p:cTn id="35" dur="1" fill="hold">
                                          <p:stCondLst>
                                            <p:cond delay="0"/>
                                          </p:stCondLst>
                                        </p:cTn>
                                        <p:tgtEl>
                                          <p:spTgt spid="1477640">
                                            <p:txEl>
                                              <p:pRg st="1" end="1"/>
                                            </p:txEl>
                                          </p:spTgt>
                                        </p:tgtEl>
                                        <p:attrNameLst>
                                          <p:attrName>style.visibility</p:attrName>
                                        </p:attrNameLst>
                                      </p:cBhvr>
                                      <p:to>
                                        <p:strVal val="visible"/>
                                      </p:to>
                                    </p:set>
                                    <p:animEffect transition="in" filter="dissolve">
                                      <p:cBhvr>
                                        <p:cTn id="36" dur="75"/>
                                        <p:tgtEl>
                                          <p:spTgt spid="1477640">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iterate type="lt">
                                    <p:tmPct val="100000"/>
                                  </p:iterate>
                                  <p:childTnLst>
                                    <p:set>
                                      <p:cBhvr>
                                        <p:cTn id="40" dur="1" fill="hold">
                                          <p:stCondLst>
                                            <p:cond delay="0"/>
                                          </p:stCondLst>
                                        </p:cTn>
                                        <p:tgtEl>
                                          <p:spTgt spid="1477639">
                                            <p:txEl>
                                              <p:pRg st="0" end="0"/>
                                            </p:txEl>
                                          </p:spTgt>
                                        </p:tgtEl>
                                        <p:attrNameLst>
                                          <p:attrName>style.visibility</p:attrName>
                                        </p:attrNameLst>
                                      </p:cBhvr>
                                      <p:to>
                                        <p:strVal val="visible"/>
                                      </p:to>
                                    </p:set>
                                    <p:animEffect transition="in" filter="dissolve">
                                      <p:cBhvr>
                                        <p:cTn id="41" dur="75"/>
                                        <p:tgtEl>
                                          <p:spTgt spid="1477639">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iterate type="lt">
                                    <p:tmPct val="100000"/>
                                  </p:iterate>
                                  <p:childTnLst>
                                    <p:set>
                                      <p:cBhvr>
                                        <p:cTn id="45" dur="1" fill="hold">
                                          <p:stCondLst>
                                            <p:cond delay="0"/>
                                          </p:stCondLst>
                                        </p:cTn>
                                        <p:tgtEl>
                                          <p:spTgt spid="1477639">
                                            <p:txEl>
                                              <p:pRg st="1" end="1"/>
                                            </p:txEl>
                                          </p:spTgt>
                                        </p:tgtEl>
                                        <p:attrNameLst>
                                          <p:attrName>style.visibility</p:attrName>
                                        </p:attrNameLst>
                                      </p:cBhvr>
                                      <p:to>
                                        <p:strVal val="visible"/>
                                      </p:to>
                                    </p:set>
                                    <p:animEffect transition="in" filter="dissolve">
                                      <p:cBhvr>
                                        <p:cTn id="46" dur="75"/>
                                        <p:tgtEl>
                                          <p:spTgt spid="1477639">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477634">
                                            <p:txEl>
                                              <p:pRg st="0" end="0"/>
                                            </p:txEl>
                                          </p:spTgt>
                                        </p:tgtEl>
                                        <p:attrNameLst>
                                          <p:attrName>style.visibility</p:attrName>
                                        </p:attrNameLst>
                                      </p:cBhvr>
                                      <p:to>
                                        <p:strVal val="visible"/>
                                      </p:to>
                                    </p:set>
                                    <p:animEffect transition="in" filter="dissolve">
                                      <p:cBhvr>
                                        <p:cTn id="51" dur="500"/>
                                        <p:tgtEl>
                                          <p:spTgt spid="1477634">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477634">
                                            <p:txEl>
                                              <p:pRg st="1" end="1"/>
                                            </p:txEl>
                                          </p:spTgt>
                                        </p:tgtEl>
                                        <p:attrNameLst>
                                          <p:attrName>style.visibility</p:attrName>
                                        </p:attrNameLst>
                                      </p:cBhvr>
                                      <p:to>
                                        <p:strVal val="visible"/>
                                      </p:to>
                                    </p:set>
                                    <p:animEffect transition="in" filter="dissolve">
                                      <p:cBhvr>
                                        <p:cTn id="56" dur="500"/>
                                        <p:tgtEl>
                                          <p:spTgt spid="1477634">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477634">
                                            <p:txEl>
                                              <p:pRg st="2" end="2"/>
                                            </p:txEl>
                                          </p:spTgt>
                                        </p:tgtEl>
                                        <p:attrNameLst>
                                          <p:attrName>style.visibility</p:attrName>
                                        </p:attrNameLst>
                                      </p:cBhvr>
                                      <p:to>
                                        <p:strVal val="visible"/>
                                      </p:to>
                                    </p:set>
                                    <p:animEffect transition="in" filter="dissolve">
                                      <p:cBhvr>
                                        <p:cTn id="61" dur="500"/>
                                        <p:tgtEl>
                                          <p:spTgt spid="14776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7634" grpId="0" build="p"/>
      <p:bldP spid="1477635" grpId="0" build="p"/>
      <p:bldP spid="1477636" grpId="0"/>
      <p:bldP spid="1477637" grpId="0"/>
      <p:bldP spid="1477639" grpId="0" build="p"/>
      <p:bldP spid="1477640"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59ED192E-E77F-4EAB-A1DA-53349C0F4C1C}"/>
              </a:ext>
            </a:extLst>
          </p:cNvPr>
          <p:cNvSpPr txBox="1"/>
          <p:nvPr/>
        </p:nvSpPr>
        <p:spPr>
          <a:xfrm>
            <a:off x="0" y="6092825"/>
            <a:ext cx="9177338" cy="761206"/>
          </a:xfrm>
          <a:prstGeom prst="rect">
            <a:avLst/>
          </a:prstGeom>
          <a:solidFill>
            <a:schemeClr val="bg2"/>
          </a:solidFill>
        </p:spPr>
        <p:txBody>
          <a:bodyPr wrap="square" rtlCol="0">
            <a:spAutoFit/>
          </a:bodyPr>
          <a:lstStyle/>
          <a:p>
            <a:endParaRPr lang="zh-CN" altLang="en-US" dirty="0"/>
          </a:p>
        </p:txBody>
      </p:sp>
      <p:sp>
        <p:nvSpPr>
          <p:cNvPr id="1478658" name="文本框 1478657"/>
          <p:cNvSpPr txBox="1"/>
          <p:nvPr/>
        </p:nvSpPr>
        <p:spPr>
          <a:xfrm>
            <a:off x="810767" y="99804"/>
            <a:ext cx="8617842" cy="1523416"/>
          </a:xfrm>
          <a:prstGeom prst="rect">
            <a:avLst/>
          </a:prstGeom>
          <a:noFill/>
          <a:ln w="9525">
            <a:noFill/>
          </a:ln>
        </p:spPr>
        <p:txBody>
          <a:bodyPr wrap="square">
            <a:spAutoFit/>
          </a:bodyPr>
          <a:lstStyle/>
          <a:p>
            <a:pPr marR="0" defTabSz="914400">
              <a:lnSpc>
                <a:spcPct val="80000"/>
              </a:lnSpc>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2</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）分析参数变化对稳定性的影响</a:t>
            </a:r>
          </a:p>
          <a:p>
            <a:pPr marR="0" defTabSz="914400">
              <a:buClrTx/>
              <a:buSzTx/>
              <a:buFontTx/>
              <a:buNone/>
              <a:defRPr/>
            </a:pP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 例</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3-6</a:t>
            </a:r>
            <a:r>
              <a:rPr kumimoji="0" lang="en-US" altLang="zh-CN" sz="28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已知系统结构图如下，试确定使系统稳定时</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K</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的取值范围。       </a:t>
            </a:r>
          </a:p>
        </p:txBody>
      </p:sp>
      <p:sp>
        <p:nvSpPr>
          <p:cNvPr id="1478659" name="文本框 1478658"/>
          <p:cNvSpPr txBox="1"/>
          <p:nvPr/>
        </p:nvSpPr>
        <p:spPr>
          <a:xfrm>
            <a:off x="274638" y="3579813"/>
            <a:ext cx="8869362" cy="519112"/>
          </a:xfrm>
          <a:prstGeom prst="rect">
            <a:avLst/>
          </a:prstGeom>
          <a:noFill/>
          <a:ln w="9525">
            <a:noFill/>
          </a:ln>
        </p:spPr>
        <p:txBody>
          <a:bodyPr>
            <a:spAutoFit/>
          </a:bodyPr>
          <a:lstStyle/>
          <a:p>
            <a:r>
              <a:rPr lang="en-US" altLang="zh-CN" sz="2800" b="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解：系统特征方程式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rPr>
              <a:t>+ 3</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rPr>
              <a:t>+ 2</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K </a:t>
            </a:r>
            <a:r>
              <a:rPr lang="en-US" altLang="zh-CN" sz="2800" dirty="0">
                <a:solidFill>
                  <a:schemeClr val="tx1"/>
                </a:solidFill>
                <a:latin typeface="Times New Roman" panose="02020603050405020304" pitchFamily="18" charset="0"/>
              </a:rPr>
              <a:t>= 0</a:t>
            </a:r>
          </a:p>
        </p:txBody>
      </p:sp>
      <p:sp>
        <p:nvSpPr>
          <p:cNvPr id="1478660" name="文本框 1478659"/>
          <p:cNvSpPr txBox="1"/>
          <p:nvPr/>
        </p:nvSpPr>
        <p:spPr>
          <a:xfrm>
            <a:off x="4152900" y="4465638"/>
            <a:ext cx="4572000" cy="1587500"/>
          </a:xfrm>
          <a:prstGeom prst="rect">
            <a:avLst/>
          </a:prstGeom>
          <a:noFill/>
          <a:ln w="9525">
            <a:noFill/>
          </a:ln>
        </p:spPr>
        <p:txBody>
          <a:bodyPr>
            <a:spAutoFit/>
          </a:bodyPr>
          <a:lstStyle/>
          <a:p>
            <a:r>
              <a:rPr lang="zh-CN" altLang="en-US" sz="2800" dirty="0">
                <a:solidFill>
                  <a:schemeClr val="tx1"/>
                </a:solidFill>
                <a:latin typeface="Times New Roman" panose="02020603050405020304" pitchFamily="18" charset="0"/>
              </a:rPr>
              <a:t>要使系统稳定，劳斯表中第一列元素均大于零。</a:t>
            </a:r>
          </a:p>
          <a:p>
            <a:pPr algn="ctr"/>
            <a:r>
              <a:rPr lang="en-US" altLang="zh-CN" sz="2800" dirty="0">
                <a:solidFill>
                  <a:schemeClr val="tx1"/>
                </a:solidFill>
                <a:latin typeface="Times New Roman" panose="02020603050405020304" pitchFamily="18" charset="0"/>
              </a:rPr>
              <a:t>0</a:t>
            </a:r>
            <a:r>
              <a:rPr lang="en-US" altLang="zh-CN" sz="2800" i="1" dirty="0">
                <a:solidFill>
                  <a:schemeClr val="tx1"/>
                </a:solidFill>
                <a:latin typeface="Times New Roman" panose="02020603050405020304" pitchFamily="18" charset="0"/>
              </a:rPr>
              <a:t>&lt; K</a:t>
            </a:r>
            <a:r>
              <a:rPr lang="en-US" altLang="zh-CN" sz="2800" dirty="0">
                <a:solidFill>
                  <a:schemeClr val="tx1"/>
                </a:solidFill>
                <a:latin typeface="Times New Roman" panose="02020603050405020304" pitchFamily="18" charset="0"/>
              </a:rPr>
              <a:t> &lt; 6</a:t>
            </a:r>
          </a:p>
        </p:txBody>
      </p:sp>
      <p:sp>
        <p:nvSpPr>
          <p:cNvPr id="1478661" name="文本框 1478660"/>
          <p:cNvSpPr txBox="1"/>
          <p:nvPr/>
        </p:nvSpPr>
        <p:spPr>
          <a:xfrm>
            <a:off x="877888" y="4100513"/>
            <a:ext cx="669925" cy="244316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endParaRPr lang="en-US" altLang="zh-CN" sz="2400" b="0" dirty="0">
              <a:solidFill>
                <a:schemeClr val="tx1"/>
              </a:solidFill>
              <a:latin typeface="Times New Roman" panose="02020603050405020304" pitchFamily="18" charset="0"/>
            </a:endParaRPr>
          </a:p>
        </p:txBody>
      </p:sp>
      <p:sp>
        <p:nvSpPr>
          <p:cNvPr id="1478662" name="文本框 1478661"/>
          <p:cNvSpPr txBox="1"/>
          <p:nvPr/>
        </p:nvSpPr>
        <p:spPr>
          <a:xfrm>
            <a:off x="1516063" y="4100513"/>
            <a:ext cx="2593975" cy="2443162"/>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1            </a:t>
            </a:r>
            <a:r>
              <a:rPr lang="en-US" altLang="zh-CN" sz="2800" dirty="0">
                <a:solidFill>
                  <a:schemeClr val="tx1"/>
                </a:solidFill>
                <a:latin typeface="Times New Roman" panose="02020603050405020304" pitchFamily="18" charset="0"/>
                <a:sym typeface="Symbol" panose="05050102010706020507" pitchFamily="18" charset="2"/>
              </a:rPr>
              <a:t>2</a:t>
            </a:r>
            <a:r>
              <a:rPr lang="en-US" altLang="zh-CN" sz="2800" dirty="0">
                <a:solidFill>
                  <a:schemeClr val="tx1"/>
                </a:solidFill>
                <a:latin typeface="Times New Roman" panose="02020603050405020304" pitchFamily="18" charset="0"/>
              </a:rPr>
              <a:t>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3            </a:t>
            </a:r>
            <a:r>
              <a:rPr lang="en-US" altLang="zh-CN" sz="2800" i="1" dirty="0">
                <a:solidFill>
                  <a:schemeClr val="tx1"/>
                </a:solidFill>
                <a:latin typeface="Times New Roman" panose="02020603050405020304" pitchFamily="18" charset="0"/>
              </a:rPr>
              <a:t>K</a:t>
            </a:r>
          </a:p>
          <a:p>
            <a:r>
              <a:rPr lang="en-US" altLang="zh-CN" sz="2800" dirty="0">
                <a:solidFill>
                  <a:schemeClr val="tx1"/>
                </a:solidFill>
                <a:latin typeface="Times New Roman" panose="02020603050405020304" pitchFamily="18" charset="0"/>
              </a:rPr>
              <a:t>(6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K</a:t>
            </a:r>
            <a:r>
              <a:rPr lang="en-US" altLang="zh-CN" sz="28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     K</a:t>
            </a:r>
          </a:p>
        </p:txBody>
      </p:sp>
      <p:sp>
        <p:nvSpPr>
          <p:cNvPr id="1478663" name="直接连接符 1478662"/>
          <p:cNvSpPr/>
          <p:nvPr/>
        </p:nvSpPr>
        <p:spPr>
          <a:xfrm>
            <a:off x="1508125" y="4141788"/>
            <a:ext cx="0" cy="2336800"/>
          </a:xfrm>
          <a:prstGeom prst="line">
            <a:avLst/>
          </a:prstGeom>
          <a:ln w="38100" cap="sq" cmpd="sng">
            <a:solidFill>
              <a:schemeClr val="tx1"/>
            </a:solidFill>
            <a:prstDash val="solid"/>
            <a:headEnd type="none" w="med" len="med"/>
            <a:tailEnd type="none" w="med" len="med"/>
          </a:ln>
        </p:spPr>
      </p:sp>
      <p:grpSp>
        <p:nvGrpSpPr>
          <p:cNvPr id="1478664" name="组合 1478663"/>
          <p:cNvGrpSpPr/>
          <p:nvPr/>
        </p:nvGrpSpPr>
        <p:grpSpPr>
          <a:xfrm>
            <a:off x="1381125" y="1685925"/>
            <a:ext cx="5876925" cy="1730375"/>
            <a:chOff x="846" y="930"/>
            <a:chExt cx="3702" cy="1090"/>
          </a:xfrm>
        </p:grpSpPr>
        <p:grpSp>
          <p:nvGrpSpPr>
            <p:cNvPr id="61450" name="组合 1478664"/>
            <p:cNvGrpSpPr/>
            <p:nvPr/>
          </p:nvGrpSpPr>
          <p:grpSpPr>
            <a:xfrm>
              <a:off x="846" y="930"/>
              <a:ext cx="3702" cy="1090"/>
              <a:chOff x="846" y="930"/>
              <a:chExt cx="3702" cy="1090"/>
            </a:xfrm>
          </p:grpSpPr>
          <p:sp>
            <p:nvSpPr>
              <p:cNvPr id="61457" name="流程图: 过程 1478665"/>
              <p:cNvSpPr/>
              <p:nvPr/>
            </p:nvSpPr>
            <p:spPr>
              <a:xfrm>
                <a:off x="2434" y="940"/>
                <a:ext cx="1362" cy="758"/>
              </a:xfrm>
              <a:prstGeom prst="flowChartProcess">
                <a:avLst/>
              </a:prstGeom>
              <a:noFill/>
              <a:ln w="57150" cap="sq"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1458" name="直接连接符 1478666"/>
              <p:cNvSpPr/>
              <p:nvPr/>
            </p:nvSpPr>
            <p:spPr>
              <a:xfrm>
                <a:off x="2499" y="1269"/>
                <a:ext cx="1220" cy="0"/>
              </a:xfrm>
              <a:prstGeom prst="line">
                <a:avLst/>
              </a:prstGeom>
              <a:ln w="38100" cap="sq" cmpd="sng">
                <a:solidFill>
                  <a:schemeClr val="tx1"/>
                </a:solidFill>
                <a:prstDash val="solid"/>
                <a:headEnd type="none" w="med" len="med"/>
                <a:tailEnd type="none" w="med" len="med"/>
              </a:ln>
            </p:spPr>
          </p:sp>
          <p:sp>
            <p:nvSpPr>
              <p:cNvPr id="61459" name="矩形 1478667"/>
              <p:cNvSpPr/>
              <p:nvPr/>
            </p:nvSpPr>
            <p:spPr>
              <a:xfrm>
                <a:off x="2538" y="1265"/>
                <a:ext cx="1211" cy="327"/>
              </a:xfrm>
              <a:prstGeom prst="rect">
                <a:avLst/>
              </a:prstGeom>
              <a:noFill/>
              <a:ln w="9525">
                <a:noFill/>
              </a:ln>
            </p:spPr>
            <p:txBody>
              <a:bodyPr>
                <a:spAutoFit/>
              </a:bodyPr>
              <a:lstStyle/>
              <a:p>
                <a:pPr>
                  <a:spcBef>
                    <a:spcPct val="0"/>
                  </a:spcBef>
                </a:pP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1)(</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+2)</a:t>
                </a:r>
              </a:p>
            </p:txBody>
          </p:sp>
          <p:sp>
            <p:nvSpPr>
              <p:cNvPr id="61460" name="直接连接符 1478668"/>
              <p:cNvSpPr/>
              <p:nvPr/>
            </p:nvSpPr>
            <p:spPr>
              <a:xfrm>
                <a:off x="1905" y="1267"/>
                <a:ext cx="529" cy="0"/>
              </a:xfrm>
              <a:prstGeom prst="line">
                <a:avLst/>
              </a:prstGeom>
              <a:ln w="57150" cap="sq" cmpd="sng">
                <a:solidFill>
                  <a:schemeClr val="tx1"/>
                </a:solidFill>
                <a:prstDash val="solid"/>
                <a:headEnd type="none" w="med" len="med"/>
                <a:tailEnd type="triangle" w="med" len="med"/>
              </a:ln>
            </p:spPr>
          </p:sp>
          <p:sp>
            <p:nvSpPr>
              <p:cNvPr id="61461" name="直接连接符 1478669"/>
              <p:cNvSpPr/>
              <p:nvPr/>
            </p:nvSpPr>
            <p:spPr>
              <a:xfrm>
                <a:off x="886" y="1266"/>
                <a:ext cx="529" cy="0"/>
              </a:xfrm>
              <a:prstGeom prst="line">
                <a:avLst/>
              </a:prstGeom>
              <a:ln w="57150" cap="sq" cmpd="sng">
                <a:solidFill>
                  <a:schemeClr val="tx1"/>
                </a:solidFill>
                <a:prstDash val="solid"/>
                <a:headEnd type="none" w="med" len="med"/>
                <a:tailEnd type="triangle" w="med" len="med"/>
              </a:ln>
            </p:spPr>
          </p:sp>
          <p:sp>
            <p:nvSpPr>
              <p:cNvPr id="61462" name="直接连接符 1478670"/>
              <p:cNvSpPr/>
              <p:nvPr/>
            </p:nvSpPr>
            <p:spPr>
              <a:xfrm>
                <a:off x="3815" y="1255"/>
                <a:ext cx="733" cy="0"/>
              </a:xfrm>
              <a:prstGeom prst="line">
                <a:avLst/>
              </a:prstGeom>
              <a:ln w="57150" cap="sq" cmpd="sng">
                <a:solidFill>
                  <a:schemeClr val="tx1"/>
                </a:solidFill>
                <a:prstDash val="solid"/>
                <a:headEnd type="none" w="med" len="med"/>
                <a:tailEnd type="triangle" w="med" len="med"/>
              </a:ln>
            </p:spPr>
          </p:sp>
          <p:sp>
            <p:nvSpPr>
              <p:cNvPr id="61463" name="直接连接符 1478671"/>
              <p:cNvSpPr/>
              <p:nvPr/>
            </p:nvSpPr>
            <p:spPr>
              <a:xfrm>
                <a:off x="4136" y="1288"/>
                <a:ext cx="0" cy="716"/>
              </a:xfrm>
              <a:prstGeom prst="line">
                <a:avLst/>
              </a:prstGeom>
              <a:ln w="57150" cap="sq" cmpd="sng">
                <a:solidFill>
                  <a:schemeClr val="tx1"/>
                </a:solidFill>
                <a:prstDash val="solid"/>
                <a:headEnd type="none" w="med" len="med"/>
                <a:tailEnd type="none" w="med" len="med"/>
              </a:ln>
            </p:spPr>
          </p:sp>
          <p:sp>
            <p:nvSpPr>
              <p:cNvPr id="61464" name="直接连接符 1478672"/>
              <p:cNvSpPr/>
              <p:nvPr/>
            </p:nvSpPr>
            <p:spPr>
              <a:xfrm>
                <a:off x="1641" y="2020"/>
                <a:ext cx="2484" cy="0"/>
              </a:xfrm>
              <a:prstGeom prst="line">
                <a:avLst/>
              </a:prstGeom>
              <a:ln w="57150" cap="sq" cmpd="sng">
                <a:solidFill>
                  <a:schemeClr val="tx1"/>
                </a:solidFill>
                <a:prstDash val="solid"/>
                <a:headEnd type="none" w="med" len="med"/>
                <a:tailEnd type="none" w="med" len="med"/>
              </a:ln>
            </p:spPr>
          </p:sp>
          <p:sp>
            <p:nvSpPr>
              <p:cNvPr id="61465" name="直接连接符 1478673"/>
              <p:cNvSpPr/>
              <p:nvPr/>
            </p:nvSpPr>
            <p:spPr>
              <a:xfrm>
                <a:off x="1641" y="1482"/>
                <a:ext cx="0" cy="514"/>
              </a:xfrm>
              <a:prstGeom prst="line">
                <a:avLst/>
              </a:prstGeom>
              <a:ln w="57150" cap="sq" cmpd="sng">
                <a:solidFill>
                  <a:schemeClr val="tx1"/>
                </a:solidFill>
                <a:prstDash val="solid"/>
                <a:headEnd type="triangle" w="med" len="med"/>
                <a:tailEnd type="none" w="med" len="med"/>
              </a:ln>
            </p:spPr>
          </p:sp>
          <p:sp>
            <p:nvSpPr>
              <p:cNvPr id="61466" name="文本框 1478674"/>
              <p:cNvSpPr txBox="1"/>
              <p:nvPr/>
            </p:nvSpPr>
            <p:spPr>
              <a:xfrm>
                <a:off x="846" y="930"/>
                <a:ext cx="413"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R</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61467" name="文本框 1478675"/>
              <p:cNvSpPr txBox="1"/>
              <p:nvPr/>
            </p:nvSpPr>
            <p:spPr>
              <a:xfrm>
                <a:off x="3936" y="953"/>
                <a:ext cx="465" cy="288"/>
              </a:xfrm>
              <a:prstGeom prst="rect">
                <a:avLst/>
              </a:prstGeom>
              <a:noFill/>
              <a:ln w="9525">
                <a:noFill/>
              </a:ln>
            </p:spPr>
            <p:txBody>
              <a:bodyPr>
                <a:spAutoFit/>
              </a:bodyPr>
              <a:lstStyle/>
              <a:p>
                <a:r>
                  <a:rPr lang="en-US" altLang="zh-CN" sz="2400" i="1" dirty="0">
                    <a:solidFill>
                      <a:schemeClr val="tx1"/>
                    </a:solidFill>
                    <a:latin typeface="Times New Roman" panose="02020603050405020304" pitchFamily="18" charset="0"/>
                  </a:rPr>
                  <a:t>C</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s</a:t>
                </a:r>
                <a:r>
                  <a:rPr lang="en-US" altLang="zh-CN" sz="2400" dirty="0">
                    <a:solidFill>
                      <a:schemeClr val="tx1"/>
                    </a:solidFill>
                    <a:latin typeface="Times New Roman" panose="02020603050405020304" pitchFamily="18" charset="0"/>
                  </a:rPr>
                  <a:t>)</a:t>
                </a:r>
              </a:p>
            </p:txBody>
          </p:sp>
          <p:sp>
            <p:nvSpPr>
              <p:cNvPr id="61468" name="矩形 1478676"/>
              <p:cNvSpPr/>
              <p:nvPr/>
            </p:nvSpPr>
            <p:spPr>
              <a:xfrm>
                <a:off x="2880" y="938"/>
                <a:ext cx="321" cy="327"/>
              </a:xfrm>
              <a:prstGeom prst="rect">
                <a:avLst/>
              </a:prstGeom>
              <a:noFill/>
              <a:ln w="9525">
                <a:noFill/>
              </a:ln>
            </p:spPr>
            <p:txBody>
              <a:bodyPr wrap="none">
                <a:spAutoFit/>
              </a:bodyPr>
              <a:lstStyle/>
              <a:p>
                <a:pPr algn="ctr">
                  <a:spcBef>
                    <a:spcPct val="0"/>
                  </a:spcBef>
                </a:pP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sym typeface="Symbol" panose="05050102010706020507" pitchFamily="18" charset="2"/>
                  </a:rPr>
                  <a:t>K</a:t>
                </a:r>
                <a:endParaRPr lang="en-US" altLang="zh-CN" sz="2800" baseline="30000" dirty="0">
                  <a:solidFill>
                    <a:schemeClr val="tx1"/>
                  </a:solidFill>
                  <a:latin typeface="Times New Roman" panose="02020603050405020304" pitchFamily="18" charset="0"/>
                  <a:sym typeface="Symbol" panose="05050102010706020507" pitchFamily="18" charset="2"/>
                </a:endParaRPr>
              </a:p>
            </p:txBody>
          </p:sp>
        </p:grpSp>
        <p:grpSp>
          <p:nvGrpSpPr>
            <p:cNvPr id="61451" name="组合 1478677"/>
            <p:cNvGrpSpPr/>
            <p:nvPr/>
          </p:nvGrpSpPr>
          <p:grpSpPr>
            <a:xfrm>
              <a:off x="1413" y="1021"/>
              <a:ext cx="460" cy="538"/>
              <a:chOff x="720" y="3552"/>
              <a:chExt cx="460" cy="538"/>
            </a:xfrm>
          </p:grpSpPr>
          <p:sp>
            <p:nvSpPr>
              <p:cNvPr id="61452" name="文本框 1478678"/>
              <p:cNvSpPr txBox="1"/>
              <p:nvPr/>
            </p:nvSpPr>
            <p:spPr>
              <a:xfrm>
                <a:off x="768" y="3686"/>
                <a:ext cx="384" cy="404"/>
              </a:xfrm>
              <a:prstGeom prst="rect">
                <a:avLst/>
              </a:prstGeom>
              <a:noFill/>
              <a:ln w="9525">
                <a:noFill/>
              </a:ln>
            </p:spPr>
            <p:txBody>
              <a:bodyPr>
                <a:spAutoFit/>
              </a:bodyPr>
              <a:lstStyle/>
              <a:p>
                <a:r>
                  <a:rPr lang="zh-CN" altLang="en-US" sz="3600" dirty="0">
                    <a:solidFill>
                      <a:schemeClr val="tx1"/>
                    </a:solidFill>
                    <a:latin typeface="Times New Roman" panose="02020603050405020304" pitchFamily="18" charset="0"/>
                  </a:rPr>
                  <a:t>﹣</a:t>
                </a:r>
                <a:endParaRPr lang="zh-CN" altLang="en-US" sz="3600" b="0" dirty="0">
                  <a:solidFill>
                    <a:schemeClr val="tx1"/>
                  </a:solidFill>
                  <a:latin typeface="Times New Roman" panose="02020603050405020304" pitchFamily="18" charset="0"/>
                </a:endParaRPr>
              </a:p>
            </p:txBody>
          </p:sp>
          <p:sp>
            <p:nvSpPr>
              <p:cNvPr id="61453" name="椭圆 1478679"/>
              <p:cNvSpPr/>
              <p:nvPr/>
            </p:nvSpPr>
            <p:spPr>
              <a:xfrm>
                <a:off x="720" y="3552"/>
                <a:ext cx="460" cy="460"/>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1454" name="直接连接符 1478680"/>
              <p:cNvSpPr/>
              <p:nvPr/>
            </p:nvSpPr>
            <p:spPr>
              <a:xfrm flipH="1">
                <a:off x="816" y="3648"/>
                <a:ext cx="288" cy="288"/>
              </a:xfrm>
              <a:prstGeom prst="line">
                <a:avLst/>
              </a:prstGeom>
              <a:ln w="57150" cap="sq" cmpd="sng">
                <a:solidFill>
                  <a:schemeClr val="tx1"/>
                </a:solidFill>
                <a:prstDash val="solid"/>
                <a:headEnd type="none" w="med" len="med"/>
                <a:tailEnd type="none" w="med" len="med"/>
              </a:ln>
            </p:spPr>
          </p:sp>
          <p:sp>
            <p:nvSpPr>
              <p:cNvPr id="61455" name="直接连接符 1478681"/>
              <p:cNvSpPr/>
              <p:nvPr/>
            </p:nvSpPr>
            <p:spPr>
              <a:xfrm>
                <a:off x="816" y="3648"/>
                <a:ext cx="288" cy="288"/>
              </a:xfrm>
              <a:prstGeom prst="line">
                <a:avLst/>
              </a:prstGeom>
              <a:ln w="57150" cap="sq" cmpd="sng">
                <a:solidFill>
                  <a:schemeClr val="tx1"/>
                </a:solidFill>
                <a:prstDash val="solid"/>
                <a:headEnd type="none" w="med" len="med"/>
                <a:tailEnd type="none" w="med" len="med"/>
              </a:ln>
            </p:spPr>
          </p:sp>
          <p:sp>
            <p:nvSpPr>
              <p:cNvPr id="61456" name="文本框 1478682"/>
              <p:cNvSpPr txBox="1"/>
              <p:nvPr/>
            </p:nvSpPr>
            <p:spPr>
              <a:xfrm>
                <a:off x="768" y="3648"/>
                <a:ext cx="144" cy="269"/>
              </a:xfrm>
              <a:prstGeom prst="rect">
                <a:avLst/>
              </a:prstGeom>
              <a:noFill/>
              <a:ln w="9525">
                <a:noFill/>
              </a:ln>
            </p:spPr>
            <p:txBody>
              <a:bodyPr lIns="0" tIns="0" rIns="0" bIns="0">
                <a:spAutoFit/>
              </a:bodyPr>
              <a:lstStyle/>
              <a:p>
                <a:r>
                  <a:rPr lang="en-US" altLang="zh-CN" sz="2800" dirty="0">
                    <a:solidFill>
                      <a:schemeClr val="tx1"/>
                    </a:solidFill>
                    <a:latin typeface="Times New Roman" panose="02020603050405020304" pitchFamily="18" charset="0"/>
                  </a:rPr>
                  <a:t>+</a:t>
                </a:r>
              </a:p>
            </p:txBody>
          </p:sp>
        </p:gr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8658">
                                            <p:txEl>
                                              <p:pRg st="0" end="0"/>
                                            </p:txEl>
                                          </p:spTgt>
                                        </p:tgtEl>
                                        <p:attrNameLst>
                                          <p:attrName>style.visibility</p:attrName>
                                        </p:attrNameLst>
                                      </p:cBhvr>
                                      <p:to>
                                        <p:strVal val="visible"/>
                                      </p:to>
                                    </p:set>
                                    <p:animEffect transition="in" filter="dissolve">
                                      <p:cBhvr>
                                        <p:cTn id="7" dur="500"/>
                                        <p:tgtEl>
                                          <p:spTgt spid="14786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78658">
                                            <p:txEl>
                                              <p:pRg st="1" end="1"/>
                                            </p:txEl>
                                          </p:spTgt>
                                        </p:tgtEl>
                                        <p:attrNameLst>
                                          <p:attrName>style.visibility</p:attrName>
                                        </p:attrNameLst>
                                      </p:cBhvr>
                                      <p:to>
                                        <p:strVal val="visible"/>
                                      </p:to>
                                    </p:set>
                                    <p:animEffect transition="in" filter="dissolve">
                                      <p:cBhvr>
                                        <p:cTn id="12" dur="500"/>
                                        <p:tgtEl>
                                          <p:spTgt spid="14786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78664"/>
                                        </p:tgtEl>
                                        <p:attrNameLst>
                                          <p:attrName>style.visibility</p:attrName>
                                        </p:attrNameLst>
                                      </p:cBhvr>
                                      <p:to>
                                        <p:strVal val="visible"/>
                                      </p:to>
                                    </p:set>
                                    <p:animEffect transition="in" filter="dissolve">
                                      <p:cBhvr>
                                        <p:cTn id="17" dur="500"/>
                                        <p:tgtEl>
                                          <p:spTgt spid="147866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78659"/>
                                        </p:tgtEl>
                                        <p:attrNameLst>
                                          <p:attrName>style.visibility</p:attrName>
                                        </p:attrNameLst>
                                      </p:cBhvr>
                                      <p:to>
                                        <p:strVal val="visible"/>
                                      </p:to>
                                    </p:set>
                                    <p:animEffect transition="in" filter="dissolve">
                                      <p:cBhvr>
                                        <p:cTn id="22" dur="500"/>
                                        <p:tgtEl>
                                          <p:spTgt spid="14786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78661"/>
                                        </p:tgtEl>
                                        <p:attrNameLst>
                                          <p:attrName>style.visibility</p:attrName>
                                        </p:attrNameLst>
                                      </p:cBhvr>
                                      <p:to>
                                        <p:strVal val="visible"/>
                                      </p:to>
                                    </p:set>
                                    <p:animEffect transition="in" filter="dissolve">
                                      <p:cBhvr>
                                        <p:cTn id="27" dur="500"/>
                                        <p:tgtEl>
                                          <p:spTgt spid="1478661"/>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1478663"/>
                                        </p:tgtEl>
                                        <p:attrNameLst>
                                          <p:attrName>style.visibility</p:attrName>
                                        </p:attrNameLst>
                                      </p:cBhvr>
                                      <p:to>
                                        <p:strVal val="visible"/>
                                      </p:to>
                                    </p:set>
                                    <p:animEffect transition="in" filter="dissolve">
                                      <p:cBhvr>
                                        <p:cTn id="31" dur="500"/>
                                        <p:tgtEl>
                                          <p:spTgt spid="147866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iterate type="wd">
                                    <p:tmPct val="100000"/>
                                  </p:iterate>
                                  <p:childTnLst>
                                    <p:set>
                                      <p:cBhvr>
                                        <p:cTn id="35" dur="1" fill="hold">
                                          <p:stCondLst>
                                            <p:cond delay="0"/>
                                          </p:stCondLst>
                                        </p:cTn>
                                        <p:tgtEl>
                                          <p:spTgt spid="1478662">
                                            <p:txEl>
                                              <p:pRg st="0" end="0"/>
                                            </p:txEl>
                                          </p:spTgt>
                                        </p:tgtEl>
                                        <p:attrNameLst>
                                          <p:attrName>style.visibility</p:attrName>
                                        </p:attrNameLst>
                                      </p:cBhvr>
                                      <p:to>
                                        <p:strVal val="visible"/>
                                      </p:to>
                                    </p:set>
                                    <p:animEffect transition="in" filter="dissolve">
                                      <p:cBhvr>
                                        <p:cTn id="36" dur="300"/>
                                        <p:tgtEl>
                                          <p:spTgt spid="1478662">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iterate type="wd">
                                    <p:tmPct val="100000"/>
                                  </p:iterate>
                                  <p:childTnLst>
                                    <p:set>
                                      <p:cBhvr>
                                        <p:cTn id="40" dur="1" fill="hold">
                                          <p:stCondLst>
                                            <p:cond delay="0"/>
                                          </p:stCondLst>
                                        </p:cTn>
                                        <p:tgtEl>
                                          <p:spTgt spid="1478662">
                                            <p:txEl>
                                              <p:pRg st="1" end="1"/>
                                            </p:txEl>
                                          </p:spTgt>
                                        </p:tgtEl>
                                        <p:attrNameLst>
                                          <p:attrName>style.visibility</p:attrName>
                                        </p:attrNameLst>
                                      </p:cBhvr>
                                      <p:to>
                                        <p:strVal val="visible"/>
                                      </p:to>
                                    </p:set>
                                    <p:animEffect transition="in" filter="dissolve">
                                      <p:cBhvr>
                                        <p:cTn id="41" dur="300"/>
                                        <p:tgtEl>
                                          <p:spTgt spid="1478662">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iterate type="wd">
                                    <p:tmPct val="100000"/>
                                  </p:iterate>
                                  <p:childTnLst>
                                    <p:set>
                                      <p:cBhvr>
                                        <p:cTn id="45" dur="1" fill="hold">
                                          <p:stCondLst>
                                            <p:cond delay="0"/>
                                          </p:stCondLst>
                                        </p:cTn>
                                        <p:tgtEl>
                                          <p:spTgt spid="1478662">
                                            <p:txEl>
                                              <p:pRg st="2" end="2"/>
                                            </p:txEl>
                                          </p:spTgt>
                                        </p:tgtEl>
                                        <p:attrNameLst>
                                          <p:attrName>style.visibility</p:attrName>
                                        </p:attrNameLst>
                                      </p:cBhvr>
                                      <p:to>
                                        <p:strVal val="visible"/>
                                      </p:to>
                                    </p:set>
                                    <p:animEffect transition="in" filter="dissolve">
                                      <p:cBhvr>
                                        <p:cTn id="46" dur="300"/>
                                        <p:tgtEl>
                                          <p:spTgt spid="1478662">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iterate type="wd">
                                    <p:tmPct val="100000"/>
                                  </p:iterate>
                                  <p:childTnLst>
                                    <p:set>
                                      <p:cBhvr>
                                        <p:cTn id="50" dur="1" fill="hold">
                                          <p:stCondLst>
                                            <p:cond delay="0"/>
                                          </p:stCondLst>
                                        </p:cTn>
                                        <p:tgtEl>
                                          <p:spTgt spid="1478662">
                                            <p:txEl>
                                              <p:pRg st="3" end="3"/>
                                            </p:txEl>
                                          </p:spTgt>
                                        </p:tgtEl>
                                        <p:attrNameLst>
                                          <p:attrName>style.visibility</p:attrName>
                                        </p:attrNameLst>
                                      </p:cBhvr>
                                      <p:to>
                                        <p:strVal val="visible"/>
                                      </p:to>
                                    </p:set>
                                    <p:animEffect transition="in" filter="dissolve">
                                      <p:cBhvr>
                                        <p:cTn id="51" dur="300"/>
                                        <p:tgtEl>
                                          <p:spTgt spid="1478662">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1478660">
                                            <p:txEl>
                                              <p:pRg st="0" end="0"/>
                                            </p:txEl>
                                          </p:spTgt>
                                        </p:tgtEl>
                                        <p:attrNameLst>
                                          <p:attrName>style.visibility</p:attrName>
                                        </p:attrNameLst>
                                      </p:cBhvr>
                                      <p:to>
                                        <p:strVal val="visible"/>
                                      </p:to>
                                    </p:set>
                                    <p:anim calcmode="lin" valueType="num">
                                      <p:cBhvr additive="base">
                                        <p:cTn id="56" dur="500" fill="hold"/>
                                        <p:tgtEl>
                                          <p:spTgt spid="1478660">
                                            <p:txEl>
                                              <p:pRg st="0" end="0"/>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14786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grpId="0" nodeType="clickEffect">
                                  <p:stCondLst>
                                    <p:cond delay="0"/>
                                  </p:stCondLst>
                                  <p:childTnLst>
                                    <p:set>
                                      <p:cBhvr>
                                        <p:cTn id="61" dur="1" fill="hold">
                                          <p:stCondLst>
                                            <p:cond delay="0"/>
                                          </p:stCondLst>
                                        </p:cTn>
                                        <p:tgtEl>
                                          <p:spTgt spid="1478660">
                                            <p:txEl>
                                              <p:pRg st="1" end="1"/>
                                            </p:txEl>
                                          </p:spTgt>
                                        </p:tgtEl>
                                        <p:attrNameLst>
                                          <p:attrName>style.visibility</p:attrName>
                                        </p:attrNameLst>
                                      </p:cBhvr>
                                      <p:to>
                                        <p:strVal val="visible"/>
                                      </p:to>
                                    </p:set>
                                    <p:anim calcmode="lin" valueType="num">
                                      <p:cBhvr additive="base">
                                        <p:cTn id="62" dur="500" fill="hold"/>
                                        <p:tgtEl>
                                          <p:spTgt spid="1478660">
                                            <p:txEl>
                                              <p:pRg st="1" end="1"/>
                                            </p:txEl>
                                          </p:spTgt>
                                        </p:tgtEl>
                                        <p:attrNameLst>
                                          <p:attrName>ppt_x</p:attrName>
                                        </p:attrNameLst>
                                      </p:cBhvr>
                                      <p:tavLst>
                                        <p:tav tm="0">
                                          <p:val>
                                            <p:strVal val="1+#ppt_w/2"/>
                                          </p:val>
                                        </p:tav>
                                        <p:tav tm="100000">
                                          <p:val>
                                            <p:strVal val="#ppt_x"/>
                                          </p:val>
                                        </p:tav>
                                      </p:tavLst>
                                    </p:anim>
                                    <p:anim calcmode="lin" valueType="num">
                                      <p:cBhvr additive="base">
                                        <p:cTn id="63" dur="500" fill="hold"/>
                                        <p:tgtEl>
                                          <p:spTgt spid="147866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8658" grpId="0" build="p"/>
      <p:bldP spid="1478659" grpId="0"/>
      <p:bldP spid="1478660" grpId="0" build="p"/>
      <p:bldP spid="1478661" grpId="0"/>
      <p:bldP spid="147866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DB0FA312-23ED-41AA-83A7-AC0BEEACD1A3}"/>
              </a:ext>
            </a:extLst>
          </p:cNvPr>
          <p:cNvSpPr txBox="1"/>
          <p:nvPr/>
        </p:nvSpPr>
        <p:spPr>
          <a:xfrm>
            <a:off x="0" y="6127453"/>
            <a:ext cx="9177338" cy="761206"/>
          </a:xfrm>
          <a:prstGeom prst="rect">
            <a:avLst/>
          </a:prstGeom>
          <a:solidFill>
            <a:schemeClr val="bg2"/>
          </a:solidFill>
        </p:spPr>
        <p:txBody>
          <a:bodyPr wrap="square" rtlCol="0">
            <a:spAutoFit/>
          </a:bodyPr>
          <a:lstStyle/>
          <a:p>
            <a:endParaRPr lang="zh-CN" altLang="en-US" dirty="0"/>
          </a:p>
        </p:txBody>
      </p:sp>
      <p:sp>
        <p:nvSpPr>
          <p:cNvPr id="1479682" name="文本框 1479681"/>
          <p:cNvSpPr txBox="1"/>
          <p:nvPr/>
        </p:nvSpPr>
        <p:spPr>
          <a:xfrm>
            <a:off x="971600" y="18669"/>
            <a:ext cx="5834063" cy="519113"/>
          </a:xfrm>
          <a:prstGeom prst="rect">
            <a:avLst/>
          </a:prstGeom>
          <a:noFill/>
          <a:ln w="9525">
            <a:noFill/>
          </a:ln>
        </p:spPr>
        <p:txBody>
          <a:bodyPr>
            <a:spAutoFit/>
          </a:bodyPr>
          <a:lstStyle/>
          <a:p>
            <a:pPr marR="0" defTabSz="914400">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a:t>
            </a: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3</a:t>
            </a:r>
            <a:r>
              <a:rPr kumimoji="0" lang="zh-CN" altLang="en-US"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）确定系统的相对稳定性</a:t>
            </a:r>
          </a:p>
        </p:txBody>
      </p:sp>
      <p:sp>
        <p:nvSpPr>
          <p:cNvPr id="1479683" name="文本框 1479682"/>
          <p:cNvSpPr txBox="1"/>
          <p:nvPr/>
        </p:nvSpPr>
        <p:spPr>
          <a:xfrm>
            <a:off x="323528" y="579057"/>
            <a:ext cx="8820472" cy="2264759"/>
          </a:xfrm>
          <a:prstGeom prst="rect">
            <a:avLst/>
          </a:prstGeom>
          <a:noFill/>
          <a:ln w="9525">
            <a:noFill/>
          </a:ln>
        </p:spPr>
        <p:txBody>
          <a:bodyPr wrap="square">
            <a:spAutoFit/>
          </a:bodyPr>
          <a:lstStyle/>
          <a:p>
            <a:pPr>
              <a:lnSpc>
                <a:spcPct val="130000"/>
              </a:lnSpc>
              <a:spcBef>
                <a:spcPct val="0"/>
              </a:spcBef>
            </a:pPr>
            <a:r>
              <a:rPr lang="en-US" altLang="zh-CN" sz="280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例</a:t>
            </a:r>
            <a:r>
              <a:rPr lang="en-US" altLang="zh-CN" sz="2800" dirty="0">
                <a:solidFill>
                  <a:schemeClr val="tx1"/>
                </a:solidFill>
                <a:latin typeface="Times New Roman" panose="02020603050405020304" pitchFamily="18" charset="0"/>
              </a:rPr>
              <a:t>3-7</a:t>
            </a:r>
            <a:r>
              <a:rPr lang="en-US" altLang="zh-CN" sz="2800" b="0" dirty="0">
                <a:solidFill>
                  <a:schemeClr val="tx1"/>
                </a:solidFill>
                <a:latin typeface="Arial" panose="020B0604020202020204" pitchFamily="34" charset="0"/>
              </a:rPr>
              <a:t>  </a:t>
            </a:r>
            <a:r>
              <a:rPr lang="zh-CN" altLang="en-US" sz="2800" dirty="0">
                <a:solidFill>
                  <a:schemeClr val="tx1"/>
                </a:solidFill>
                <a:latin typeface="Arial" panose="020B0604020202020204" pitchFamily="34" charset="0"/>
              </a:rPr>
              <a:t>检验多项式</a:t>
            </a:r>
          </a:p>
          <a:p>
            <a:pPr algn="ctr">
              <a:lnSpc>
                <a:spcPct val="130000"/>
              </a:lnSpc>
              <a:spcBef>
                <a:spcPct val="0"/>
              </a:spcBef>
            </a:pPr>
            <a:r>
              <a:rPr lang="en-US" altLang="zh-CN" sz="2800" dirty="0">
                <a:solidFill>
                  <a:schemeClr val="tx1"/>
                </a:solidFill>
                <a:latin typeface="Times New Roman" panose="02020603050405020304" pitchFamily="18" charset="0"/>
              </a:rPr>
              <a:t>2</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rPr>
              <a:t>+ 10</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 </a:t>
            </a:r>
            <a:r>
              <a:rPr lang="en-US" altLang="zh-CN" sz="2800" dirty="0">
                <a:solidFill>
                  <a:schemeClr val="tx1"/>
                </a:solidFill>
                <a:latin typeface="Times New Roman" panose="02020603050405020304" pitchFamily="18" charset="0"/>
              </a:rPr>
              <a:t>+ 13</a:t>
            </a:r>
            <a:r>
              <a:rPr lang="en-US" altLang="zh-CN" sz="2800" i="1" dirty="0">
                <a:solidFill>
                  <a:schemeClr val="tx1"/>
                </a:solidFill>
                <a:latin typeface="Times New Roman" panose="02020603050405020304" pitchFamily="18" charset="0"/>
              </a:rPr>
              <a:t>s </a:t>
            </a:r>
            <a:r>
              <a:rPr lang="en-US" altLang="zh-CN" sz="2800" dirty="0">
                <a:solidFill>
                  <a:schemeClr val="tx1"/>
                </a:solidFill>
                <a:latin typeface="Times New Roman" panose="02020603050405020304" pitchFamily="18" charset="0"/>
              </a:rPr>
              <a:t>+ 4 = 0</a:t>
            </a:r>
          </a:p>
          <a:p>
            <a:pPr>
              <a:lnSpc>
                <a:spcPct val="130000"/>
              </a:lnSpc>
              <a:spcBef>
                <a:spcPct val="0"/>
              </a:spcBef>
            </a:pPr>
            <a:r>
              <a:rPr lang="zh-CN" altLang="en-US" sz="2800" dirty="0">
                <a:solidFill>
                  <a:schemeClr val="tx1"/>
                </a:solidFill>
                <a:latin typeface="Arial" panose="020B0604020202020204" pitchFamily="34" charset="0"/>
              </a:rPr>
              <a:t>是否有根在</a:t>
            </a:r>
            <a:r>
              <a:rPr lang="en-US" altLang="zh-CN" sz="2800" i="1" dirty="0">
                <a:solidFill>
                  <a:schemeClr val="tx1"/>
                </a:solidFill>
                <a:latin typeface="Times New Roman" panose="02020603050405020304" pitchFamily="18" charset="0"/>
              </a:rPr>
              <a:t>s </a:t>
            </a:r>
            <a:r>
              <a:rPr lang="zh-CN" altLang="en-US" sz="2800" dirty="0">
                <a:solidFill>
                  <a:schemeClr val="tx1"/>
                </a:solidFill>
                <a:latin typeface="Arial" panose="020B0604020202020204" pitchFamily="34" charset="0"/>
              </a:rPr>
              <a:t>右半平面，并检验有几个根在垂直线 </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1</a:t>
            </a:r>
            <a:r>
              <a:rPr lang="zh-CN" altLang="en-US" sz="2800" dirty="0">
                <a:solidFill>
                  <a:schemeClr val="tx1"/>
                </a:solidFill>
                <a:latin typeface="Arial" panose="020B0604020202020204" pitchFamily="34" charset="0"/>
              </a:rPr>
              <a:t>的右边？</a:t>
            </a:r>
          </a:p>
        </p:txBody>
      </p:sp>
      <p:sp>
        <p:nvSpPr>
          <p:cNvPr id="1479684" name="文本框 1479683"/>
          <p:cNvSpPr txBox="1"/>
          <p:nvPr/>
        </p:nvSpPr>
        <p:spPr>
          <a:xfrm>
            <a:off x="0" y="2835275"/>
            <a:ext cx="1298575" cy="519113"/>
          </a:xfrm>
          <a:prstGeom prst="rect">
            <a:avLst/>
          </a:prstGeom>
          <a:noFill/>
          <a:ln w="9525">
            <a:noFill/>
          </a:ln>
        </p:spPr>
        <p:txBody>
          <a:bodyPr>
            <a:spAutoFit/>
          </a:bodyPr>
          <a:lstStyle/>
          <a:p>
            <a:r>
              <a:rPr lang="zh-CN" altLang="en-US" sz="2800" dirty="0">
                <a:solidFill>
                  <a:schemeClr val="tx1"/>
                </a:solidFill>
                <a:latin typeface="Times New Roman" panose="02020603050405020304" pitchFamily="18" charset="0"/>
              </a:rPr>
              <a:t>解：</a:t>
            </a:r>
            <a:r>
              <a:rPr lang="en-US" altLang="zh-CN" sz="2800" dirty="0">
                <a:solidFill>
                  <a:schemeClr val="tx1"/>
                </a:solidFill>
                <a:latin typeface="Times New Roman" panose="02020603050405020304" pitchFamily="18" charset="0"/>
              </a:rPr>
              <a:t>1)</a:t>
            </a:r>
          </a:p>
        </p:txBody>
      </p:sp>
      <p:sp>
        <p:nvSpPr>
          <p:cNvPr id="1479686" name="矩形 1479685"/>
          <p:cNvSpPr/>
          <p:nvPr/>
        </p:nvSpPr>
        <p:spPr>
          <a:xfrm>
            <a:off x="0" y="5013325"/>
            <a:ext cx="5795963" cy="1758950"/>
          </a:xfrm>
          <a:prstGeom prst="rect">
            <a:avLst/>
          </a:prstGeom>
          <a:noFill/>
          <a:ln w="9525">
            <a:noFill/>
          </a:ln>
        </p:spPr>
        <p:txBody>
          <a:bodyPr>
            <a:spAutoFit/>
          </a:bodyPr>
          <a:lstStyle/>
          <a:p>
            <a:pPr>
              <a:lnSpc>
                <a:spcPct val="130000"/>
              </a:lnSpc>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2)  </a:t>
            </a:r>
            <a:r>
              <a:rPr lang="zh-CN" altLang="en-US" sz="2800" dirty="0">
                <a:solidFill>
                  <a:schemeClr val="tx1"/>
                </a:solidFill>
                <a:latin typeface="Times New Roman" panose="02020603050405020304" pitchFamily="18" charset="0"/>
              </a:rPr>
              <a:t>令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 1    </a:t>
            </a:r>
            <a:r>
              <a:rPr lang="zh-CN" altLang="en-US" sz="2800" dirty="0">
                <a:solidFill>
                  <a:schemeClr val="tx1"/>
                </a:solidFill>
                <a:latin typeface="Times New Roman" panose="02020603050405020304" pitchFamily="18" charset="0"/>
              </a:rPr>
              <a:t>坐标平移，</a:t>
            </a:r>
          </a:p>
          <a:p>
            <a:pPr>
              <a:lnSpc>
                <a:spcPct val="130000"/>
              </a:lnSpc>
              <a:spcBef>
                <a:spcPct val="0"/>
              </a:spcBef>
            </a:pPr>
            <a:r>
              <a:rPr lang="zh-CN" altLang="en-US" sz="2800" dirty="0">
                <a:solidFill>
                  <a:schemeClr val="tx1"/>
                </a:solidFill>
                <a:latin typeface="Times New Roman" panose="02020603050405020304" pitchFamily="18" charset="0"/>
              </a:rPr>
              <a:t>               得新特征方程为 </a:t>
            </a:r>
          </a:p>
          <a:p>
            <a:pPr>
              <a:lnSpc>
                <a:spcPct val="130000"/>
              </a:lnSpc>
              <a:spcBef>
                <a:spcPct val="0"/>
              </a:spcBef>
            </a:pPr>
            <a:r>
              <a:rPr lang="zh-CN" altLang="en-US"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2</a:t>
            </a:r>
            <a:r>
              <a:rPr lang="en-US" altLang="zh-CN" sz="2800"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r>
              <a:rPr lang="en-US" altLang="zh-CN" sz="2800" baseline="30000" dirty="0">
                <a:solidFill>
                  <a:schemeClr val="tx1"/>
                </a:solidFill>
                <a:latin typeface="Times New Roman" panose="02020603050405020304" pitchFamily="18" charset="0"/>
              </a:rPr>
              <a:t>3 </a:t>
            </a:r>
            <a:r>
              <a:rPr lang="en-US" altLang="zh-CN" sz="2800" dirty="0">
                <a:solidFill>
                  <a:schemeClr val="tx1"/>
                </a:solidFill>
                <a:latin typeface="Times New Roman" panose="02020603050405020304" pitchFamily="18" charset="0"/>
              </a:rPr>
              <a:t>+ 4</a:t>
            </a:r>
            <a:r>
              <a:rPr lang="en-US" altLang="zh-CN" sz="2800"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r>
              <a:rPr lang="en-US" altLang="zh-CN" sz="2800" baseline="30000" dirty="0">
                <a:solidFill>
                  <a:schemeClr val="tx1"/>
                </a:solidFill>
                <a:latin typeface="Times New Roman" panose="02020603050405020304" pitchFamily="18" charset="0"/>
              </a:rPr>
              <a:t>2</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  s</a:t>
            </a:r>
            <a:r>
              <a:rPr lang="en-US" altLang="zh-CN" sz="2800" baseline="-30000" dirty="0">
                <a:solidFill>
                  <a:schemeClr val="tx1"/>
                </a:solidFill>
                <a:latin typeface="Times New Roman" panose="02020603050405020304" pitchFamily="18" charset="0"/>
              </a:rPr>
              <a:t>1</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i="1"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1 = 0</a:t>
            </a:r>
            <a:endParaRPr lang="en-US" altLang="zh-CN" sz="2800" dirty="0">
              <a:solidFill>
                <a:schemeClr val="tx1"/>
              </a:solidFill>
              <a:latin typeface="Times New Roman" panose="02020603050405020304" pitchFamily="18" charset="0"/>
              <a:ea typeface="Times New Roman" panose="02020603050405020304" pitchFamily="18" charset="0"/>
            </a:endParaRPr>
          </a:p>
        </p:txBody>
      </p:sp>
      <p:sp>
        <p:nvSpPr>
          <p:cNvPr id="1479687" name="文本框 1479686"/>
          <p:cNvSpPr txBox="1"/>
          <p:nvPr/>
        </p:nvSpPr>
        <p:spPr>
          <a:xfrm>
            <a:off x="1508125" y="2647950"/>
            <a:ext cx="669925" cy="2443163"/>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Arial" panose="020B0604020202020204" pitchFamily="34" charset="0"/>
              </a:rPr>
              <a:t>0</a:t>
            </a:r>
            <a:endParaRPr lang="en-US" altLang="zh-CN" sz="2400" b="0" dirty="0">
              <a:solidFill>
                <a:schemeClr val="tx1"/>
              </a:solidFill>
              <a:latin typeface="Times New Roman" panose="02020603050405020304" pitchFamily="18" charset="0"/>
            </a:endParaRPr>
          </a:p>
        </p:txBody>
      </p:sp>
      <p:sp>
        <p:nvSpPr>
          <p:cNvPr id="1479688" name="文本框 1479687"/>
          <p:cNvSpPr txBox="1"/>
          <p:nvPr/>
        </p:nvSpPr>
        <p:spPr>
          <a:xfrm>
            <a:off x="2146300" y="2647950"/>
            <a:ext cx="2593975" cy="244316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2            </a:t>
            </a:r>
            <a:r>
              <a:rPr lang="en-US" altLang="zh-CN" sz="2800" dirty="0">
                <a:solidFill>
                  <a:schemeClr val="tx1"/>
                </a:solidFill>
                <a:latin typeface="Times New Roman" panose="02020603050405020304" pitchFamily="18" charset="0"/>
                <a:sym typeface="Symbol" panose="05050102010706020507" pitchFamily="18" charset="2"/>
              </a:rPr>
              <a:t>13</a:t>
            </a:r>
            <a:r>
              <a:rPr lang="en-US" altLang="zh-CN" sz="2800" dirty="0">
                <a:solidFill>
                  <a:schemeClr val="tx1"/>
                </a:solidFill>
                <a:latin typeface="Times New Roman" panose="02020603050405020304" pitchFamily="18" charset="0"/>
              </a:rPr>
              <a:t>        </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10            4</a:t>
            </a:r>
            <a:endParaRPr lang="en-US" altLang="zh-CN" sz="2800" i="1"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12.2</a:t>
            </a:r>
          </a:p>
          <a:p>
            <a:r>
              <a:rPr lang="en-US" altLang="zh-CN" sz="2800" dirty="0">
                <a:solidFill>
                  <a:schemeClr val="tx1"/>
                </a:solidFill>
                <a:latin typeface="Times New Roman" panose="02020603050405020304" pitchFamily="18" charset="0"/>
              </a:rPr>
              <a:t>  4</a:t>
            </a:r>
          </a:p>
        </p:txBody>
      </p:sp>
      <p:sp>
        <p:nvSpPr>
          <p:cNvPr id="1479689" name="直接连接符 1479688"/>
          <p:cNvSpPr/>
          <p:nvPr/>
        </p:nvSpPr>
        <p:spPr>
          <a:xfrm>
            <a:off x="2138363" y="2689225"/>
            <a:ext cx="0" cy="2336800"/>
          </a:xfrm>
          <a:prstGeom prst="line">
            <a:avLst/>
          </a:prstGeom>
          <a:ln w="38100" cap="sq" cmpd="sng">
            <a:solidFill>
              <a:schemeClr val="tx1"/>
            </a:solidFill>
            <a:prstDash val="solid"/>
            <a:headEnd type="none" w="med" len="med"/>
            <a:tailEnd type="none" w="med" len="med"/>
          </a:ln>
        </p:spPr>
      </p:sp>
      <p:grpSp>
        <p:nvGrpSpPr>
          <p:cNvPr id="1479697" name="组合 1479696"/>
          <p:cNvGrpSpPr/>
          <p:nvPr/>
        </p:nvGrpSpPr>
        <p:grpSpPr>
          <a:xfrm>
            <a:off x="6659563" y="5013325"/>
            <a:ext cx="2305050" cy="1655763"/>
            <a:chOff x="4195" y="3158"/>
            <a:chExt cx="1452" cy="1043"/>
          </a:xfrm>
        </p:grpSpPr>
        <p:sp>
          <p:nvSpPr>
            <p:cNvPr id="62476" name="直接连接符 1479690"/>
            <p:cNvSpPr/>
            <p:nvPr/>
          </p:nvSpPr>
          <p:spPr>
            <a:xfrm>
              <a:off x="4195" y="3612"/>
              <a:ext cx="1452" cy="0"/>
            </a:xfrm>
            <a:prstGeom prst="line">
              <a:avLst/>
            </a:prstGeom>
            <a:ln w="28575" cap="flat" cmpd="sng">
              <a:solidFill>
                <a:schemeClr val="tx1"/>
              </a:solidFill>
              <a:prstDash val="solid"/>
              <a:headEnd type="none" w="med" len="med"/>
              <a:tailEnd type="triangle" w="med" len="med"/>
            </a:ln>
          </p:spPr>
        </p:sp>
        <p:sp>
          <p:nvSpPr>
            <p:cNvPr id="62477" name="直接连接符 1479691"/>
            <p:cNvSpPr/>
            <p:nvPr/>
          </p:nvSpPr>
          <p:spPr>
            <a:xfrm flipV="1">
              <a:off x="5103" y="3158"/>
              <a:ext cx="0" cy="1043"/>
            </a:xfrm>
            <a:prstGeom prst="line">
              <a:avLst/>
            </a:prstGeom>
            <a:ln w="28575" cap="flat" cmpd="sng">
              <a:solidFill>
                <a:schemeClr val="tx1"/>
              </a:solidFill>
              <a:prstDash val="solid"/>
              <a:headEnd type="none" w="med" len="med"/>
              <a:tailEnd type="triangle" w="med" len="med"/>
            </a:ln>
          </p:spPr>
        </p:sp>
        <p:sp>
          <p:nvSpPr>
            <p:cNvPr id="62478" name="直接连接符 1479692"/>
            <p:cNvSpPr/>
            <p:nvPr/>
          </p:nvSpPr>
          <p:spPr>
            <a:xfrm flipV="1">
              <a:off x="4740" y="3158"/>
              <a:ext cx="0" cy="998"/>
            </a:xfrm>
            <a:prstGeom prst="line">
              <a:avLst/>
            </a:prstGeom>
            <a:ln w="28575" cap="flat" cmpd="sng">
              <a:solidFill>
                <a:srgbClr val="FF0000"/>
              </a:solidFill>
              <a:prstDash val="solid"/>
              <a:headEnd type="none" w="med" len="med"/>
              <a:tailEnd type="triangle" w="med" len="med"/>
            </a:ln>
          </p:spPr>
        </p:sp>
        <p:sp>
          <p:nvSpPr>
            <p:cNvPr id="62479" name="文本框 1479693"/>
            <p:cNvSpPr txBox="1"/>
            <p:nvPr/>
          </p:nvSpPr>
          <p:spPr>
            <a:xfrm>
              <a:off x="4513" y="3612"/>
              <a:ext cx="363" cy="250"/>
            </a:xfrm>
            <a:prstGeom prst="rect">
              <a:avLst/>
            </a:prstGeom>
            <a:noFill/>
            <a:ln w="9525">
              <a:noFill/>
            </a:ln>
          </p:spPr>
          <p:txBody>
            <a:bodyPr>
              <a:spAutoFit/>
            </a:bodyPr>
            <a:lstStyle/>
            <a:p>
              <a:pPr marL="342900" indent="-342900">
                <a:buFont typeface="Wingdings" panose="05000000000000000000" pitchFamily="2" charset="2"/>
              </a:pPr>
              <a:r>
                <a:rPr lang="en-US" altLang="zh-CN" sz="2000" dirty="0">
                  <a:latin typeface="Arial" panose="020B0604020202020204" pitchFamily="34" charset="0"/>
                </a:rPr>
                <a:t>-1</a:t>
              </a:r>
            </a:p>
          </p:txBody>
        </p:sp>
        <p:sp>
          <p:nvSpPr>
            <p:cNvPr id="62480" name="文本框 1479694"/>
            <p:cNvSpPr txBox="1"/>
            <p:nvPr/>
          </p:nvSpPr>
          <p:spPr>
            <a:xfrm>
              <a:off x="5148" y="3158"/>
              <a:ext cx="363" cy="250"/>
            </a:xfrm>
            <a:prstGeom prst="rect">
              <a:avLst/>
            </a:prstGeom>
            <a:noFill/>
            <a:ln w="9525">
              <a:noFill/>
            </a:ln>
          </p:spPr>
          <p:txBody>
            <a:bodyPr>
              <a:spAutoFit/>
            </a:bodyPr>
            <a:lstStyle/>
            <a:p>
              <a:pPr marL="342900" indent="-342900">
                <a:buFont typeface="Wingdings" panose="05000000000000000000" pitchFamily="2" charset="2"/>
              </a:pPr>
              <a:r>
                <a:rPr lang="en-US" altLang="zh-CN" sz="2000" dirty="0">
                  <a:latin typeface="Arial" panose="020B0604020202020204" pitchFamily="34" charset="0"/>
                </a:rPr>
                <a:t>s</a:t>
              </a:r>
            </a:p>
          </p:txBody>
        </p:sp>
        <p:sp>
          <p:nvSpPr>
            <p:cNvPr id="62481" name="文本框 1479695"/>
            <p:cNvSpPr txBox="1"/>
            <p:nvPr/>
          </p:nvSpPr>
          <p:spPr>
            <a:xfrm>
              <a:off x="4740" y="3158"/>
              <a:ext cx="363" cy="250"/>
            </a:xfrm>
            <a:prstGeom prst="rect">
              <a:avLst/>
            </a:prstGeom>
            <a:noFill/>
            <a:ln w="9525">
              <a:noFill/>
            </a:ln>
          </p:spPr>
          <p:txBody>
            <a:bodyPr>
              <a:spAutoFit/>
            </a:bodyPr>
            <a:lstStyle/>
            <a:p>
              <a:pPr marL="342900" indent="-342900">
                <a:buFont typeface="Wingdings" panose="05000000000000000000" pitchFamily="2" charset="2"/>
              </a:pPr>
              <a:r>
                <a:rPr lang="en-US" altLang="zh-CN" sz="2000" dirty="0">
                  <a:solidFill>
                    <a:srgbClr val="FF0000"/>
                  </a:solidFill>
                  <a:latin typeface="Arial" panose="020B0604020202020204" pitchFamily="34" charset="0"/>
                </a:rPr>
                <a:t>S</a:t>
              </a:r>
              <a:r>
                <a:rPr lang="en-US" altLang="zh-CN" sz="1400" dirty="0">
                  <a:solidFill>
                    <a:srgbClr val="FF0000"/>
                  </a:solidFill>
                  <a:latin typeface="Arial" panose="020B0604020202020204" pitchFamily="34" charset="0"/>
                </a:rPr>
                <a:t>1</a:t>
              </a:r>
            </a:p>
          </p:txBody>
        </p:sp>
      </p:grpSp>
      <p:grpSp>
        <p:nvGrpSpPr>
          <p:cNvPr id="2" name="组合 1">
            <a:extLst>
              <a:ext uri="{FF2B5EF4-FFF2-40B4-BE49-F238E27FC236}">
                <a16:creationId xmlns:a16="http://schemas.microsoft.com/office/drawing/2014/main" id="{521EC532-723B-43ED-83A6-4CDE56F6C75B}"/>
              </a:ext>
            </a:extLst>
          </p:cNvPr>
          <p:cNvGrpSpPr/>
          <p:nvPr/>
        </p:nvGrpSpPr>
        <p:grpSpPr>
          <a:xfrm>
            <a:off x="4588669" y="2532141"/>
            <a:ext cx="4555330" cy="2319259"/>
            <a:chOff x="4588669" y="2532141"/>
            <a:chExt cx="4555330" cy="2319259"/>
          </a:xfrm>
        </p:grpSpPr>
        <p:sp>
          <p:nvSpPr>
            <p:cNvPr id="1479685" name="文本框 1479684"/>
            <p:cNvSpPr txBox="1"/>
            <p:nvPr/>
          </p:nvSpPr>
          <p:spPr>
            <a:xfrm>
              <a:off x="4972723" y="2719197"/>
              <a:ext cx="3986212" cy="2014538"/>
            </a:xfrm>
            <a:prstGeom prst="rect">
              <a:avLst/>
            </a:prstGeom>
            <a:noFill/>
            <a:ln w="9525">
              <a:noFill/>
            </a:ln>
          </p:spPr>
          <p:txBody>
            <a:bodyPr>
              <a:spAutoFit/>
            </a:bodyPr>
            <a:lstStyle/>
            <a:p>
              <a:r>
                <a:rPr lang="en-US" altLang="zh-CN" sz="2800" b="0" dirty="0">
                  <a:solidFill>
                    <a:schemeClr val="tx1"/>
                  </a:solidFill>
                  <a:latin typeface="Arial" panose="020B0604020202020204" pitchFamily="34" charset="0"/>
                </a:rPr>
                <a:t> </a:t>
              </a:r>
              <a:r>
                <a:rPr lang="zh-CN" altLang="en-US" sz="2800" dirty="0">
                  <a:solidFill>
                    <a:srgbClr val="C00000"/>
                  </a:solidFill>
                  <a:latin typeface="楷体_GB2312" pitchFamily="49" charset="-122"/>
                  <a:ea typeface="楷体_GB2312" pitchFamily="49" charset="-122"/>
                </a:rPr>
                <a:t>劳斯表中第一列元素均为正</a:t>
              </a:r>
            </a:p>
            <a:p>
              <a:r>
                <a:rPr lang="en-US" altLang="zh-CN" sz="2800" dirty="0">
                  <a:solidFill>
                    <a:srgbClr val="C00000"/>
                  </a:solidFill>
                  <a:latin typeface="楷体_GB2312" pitchFamily="49" charset="-122"/>
                  <a:ea typeface="楷体_GB2312" pitchFamily="49" charset="-122"/>
                </a:rPr>
                <a:t>∴</a:t>
              </a:r>
              <a:r>
                <a:rPr lang="zh-CN" altLang="en-US" sz="2800" dirty="0">
                  <a:solidFill>
                    <a:srgbClr val="C00000"/>
                  </a:solidFill>
                  <a:latin typeface="楷体_GB2312" pitchFamily="49" charset="-122"/>
                  <a:ea typeface="楷体_GB2312" pitchFamily="49" charset="-122"/>
                </a:rPr>
                <a:t>系统在</a:t>
              </a:r>
              <a:r>
                <a:rPr lang="en-US" altLang="zh-CN" sz="2800" i="1" dirty="0">
                  <a:solidFill>
                    <a:srgbClr val="C00000"/>
                  </a:solidFill>
                  <a:latin typeface="Times New Roman" panose="02020603050405020304" pitchFamily="18" charset="0"/>
                  <a:ea typeface="楷体_GB2312" pitchFamily="49" charset="-122"/>
                </a:rPr>
                <a:t>s </a:t>
              </a:r>
              <a:r>
                <a:rPr lang="zh-CN" altLang="en-US" sz="2800" dirty="0">
                  <a:solidFill>
                    <a:srgbClr val="C00000"/>
                  </a:solidFill>
                  <a:latin typeface="楷体_GB2312" pitchFamily="49" charset="-122"/>
                  <a:ea typeface="楷体_GB2312" pitchFamily="49" charset="-122"/>
                </a:rPr>
                <a:t>右半平面没有根，系统是稳定的。</a:t>
              </a:r>
            </a:p>
          </p:txBody>
        </p:sp>
        <p:sp>
          <p:nvSpPr>
            <p:cNvPr id="19" name="六边形 42">
              <a:extLst>
                <a:ext uri="{FF2B5EF4-FFF2-40B4-BE49-F238E27FC236}">
                  <a16:creationId xmlns:a16="http://schemas.microsoft.com/office/drawing/2014/main" id="{149B9A33-669C-4C8A-AE8D-1CE9949486D6}"/>
                </a:ext>
              </a:extLst>
            </p:cNvPr>
            <p:cNvSpPr>
              <a:spLocks noChangeArrowheads="1"/>
            </p:cNvSpPr>
            <p:nvPr/>
          </p:nvSpPr>
          <p:spPr bwMode="auto">
            <a:xfrm>
              <a:off x="4588669" y="2532141"/>
              <a:ext cx="4555330" cy="2319259"/>
            </a:xfrm>
            <a:prstGeom prst="hexagon">
              <a:avLst>
                <a:gd name="adj" fmla="val 24996"/>
                <a:gd name="vf" fmla="val 115470"/>
              </a:avLst>
            </a:prstGeom>
            <a:noFill/>
            <a:ln>
              <a:headEnd/>
              <a:tailEnd/>
            </a:ln>
          </p:spPr>
          <p:style>
            <a:lnRef idx="2">
              <a:schemeClr val="dk1"/>
            </a:lnRef>
            <a:fillRef idx="1">
              <a:schemeClr val="lt1"/>
            </a:fillRef>
            <a:effectRef idx="0">
              <a:schemeClr val="dk1"/>
            </a:effectRef>
            <a:fontRef idx="minor">
              <a:schemeClr val="dk1"/>
            </a:fontRef>
          </p:style>
          <p:txBody>
            <a:bodyPr anchor="ctr"/>
            <a:lstStyle/>
            <a:p>
              <a:pPr algn="ctr"/>
              <a:endParaRPr lang="zh-CN" altLang="zh-CN">
                <a:noFill/>
              </a:endParaRPr>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479682"/>
                                        </p:tgtEl>
                                        <p:attrNameLst>
                                          <p:attrName>style.visibility</p:attrName>
                                        </p:attrNameLst>
                                      </p:cBhvr>
                                      <p:to>
                                        <p:strVal val="visible"/>
                                      </p:to>
                                    </p:set>
                                    <p:anim calcmode="lin" valueType="num">
                                      <p:cBhvr additive="base">
                                        <p:cTn id="7" dur="500" fill="hold"/>
                                        <p:tgtEl>
                                          <p:spTgt spid="1479682"/>
                                        </p:tgtEl>
                                        <p:attrNameLst>
                                          <p:attrName>ppt_x</p:attrName>
                                        </p:attrNameLst>
                                      </p:cBhvr>
                                      <p:tavLst>
                                        <p:tav tm="0">
                                          <p:val>
                                            <p:strVal val="#ppt_x"/>
                                          </p:val>
                                        </p:tav>
                                        <p:tav tm="100000">
                                          <p:val>
                                            <p:strVal val="#ppt_x"/>
                                          </p:val>
                                        </p:tav>
                                      </p:tavLst>
                                    </p:anim>
                                    <p:anim calcmode="lin" valueType="num">
                                      <p:cBhvr additive="base">
                                        <p:cTn id="8" dur="500" fill="hold"/>
                                        <p:tgtEl>
                                          <p:spTgt spid="14796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479683">
                                            <p:txEl>
                                              <p:pRg st="0" end="0"/>
                                            </p:txEl>
                                          </p:spTgt>
                                        </p:tgtEl>
                                        <p:attrNameLst>
                                          <p:attrName>style.visibility</p:attrName>
                                        </p:attrNameLst>
                                      </p:cBhvr>
                                      <p:to>
                                        <p:strVal val="visible"/>
                                      </p:to>
                                    </p:set>
                                    <p:animEffect transition="in" filter="slide(fromLeft)">
                                      <p:cBhvr>
                                        <p:cTn id="13" dur="500"/>
                                        <p:tgtEl>
                                          <p:spTgt spid="147968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1479683">
                                            <p:txEl>
                                              <p:pRg st="1" end="1"/>
                                            </p:txEl>
                                          </p:spTgt>
                                        </p:tgtEl>
                                        <p:attrNameLst>
                                          <p:attrName>style.visibility</p:attrName>
                                        </p:attrNameLst>
                                      </p:cBhvr>
                                      <p:to>
                                        <p:strVal val="visible"/>
                                      </p:to>
                                    </p:set>
                                    <p:animEffect transition="in" filter="slide(fromLeft)">
                                      <p:cBhvr>
                                        <p:cTn id="18" dur="500"/>
                                        <p:tgtEl>
                                          <p:spTgt spid="147968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479683">
                                            <p:txEl>
                                              <p:pRg st="2" end="2"/>
                                            </p:txEl>
                                          </p:spTgt>
                                        </p:tgtEl>
                                        <p:attrNameLst>
                                          <p:attrName>style.visibility</p:attrName>
                                        </p:attrNameLst>
                                      </p:cBhvr>
                                      <p:to>
                                        <p:strVal val="visible"/>
                                      </p:to>
                                    </p:set>
                                    <p:animEffect transition="in" filter="slide(fromLeft)">
                                      <p:cBhvr>
                                        <p:cTn id="23" dur="500"/>
                                        <p:tgtEl>
                                          <p:spTgt spid="147968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479684"/>
                                        </p:tgtEl>
                                        <p:attrNameLst>
                                          <p:attrName>style.visibility</p:attrName>
                                        </p:attrNameLst>
                                      </p:cBhvr>
                                      <p:to>
                                        <p:strVal val="visible"/>
                                      </p:to>
                                    </p:set>
                                    <p:anim calcmode="lin" valueType="num">
                                      <p:cBhvr additive="base">
                                        <p:cTn id="28" dur="500" fill="hold"/>
                                        <p:tgtEl>
                                          <p:spTgt spid="1479684"/>
                                        </p:tgtEl>
                                        <p:attrNameLst>
                                          <p:attrName>ppt_x</p:attrName>
                                        </p:attrNameLst>
                                      </p:cBhvr>
                                      <p:tavLst>
                                        <p:tav tm="0">
                                          <p:val>
                                            <p:strVal val="0-#ppt_w/2"/>
                                          </p:val>
                                        </p:tav>
                                        <p:tav tm="100000">
                                          <p:val>
                                            <p:strVal val="#ppt_x"/>
                                          </p:val>
                                        </p:tav>
                                      </p:tavLst>
                                    </p:anim>
                                    <p:anim calcmode="lin" valueType="num">
                                      <p:cBhvr additive="base">
                                        <p:cTn id="29" dur="500" fill="hold"/>
                                        <p:tgtEl>
                                          <p:spTgt spid="147968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79687"/>
                                        </p:tgtEl>
                                        <p:attrNameLst>
                                          <p:attrName>style.visibility</p:attrName>
                                        </p:attrNameLst>
                                      </p:cBhvr>
                                      <p:to>
                                        <p:strVal val="visible"/>
                                      </p:to>
                                    </p:set>
                                    <p:animEffect transition="in" filter="dissolve">
                                      <p:cBhvr>
                                        <p:cTn id="34" dur="500"/>
                                        <p:tgtEl>
                                          <p:spTgt spid="1479687"/>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1479689"/>
                                        </p:tgtEl>
                                        <p:attrNameLst>
                                          <p:attrName>style.visibility</p:attrName>
                                        </p:attrNameLst>
                                      </p:cBhvr>
                                      <p:to>
                                        <p:strVal val="visible"/>
                                      </p:to>
                                    </p:set>
                                    <p:animEffect transition="in" filter="dissolve">
                                      <p:cBhvr>
                                        <p:cTn id="38" dur="500"/>
                                        <p:tgtEl>
                                          <p:spTgt spid="147968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iterate type="wd">
                                    <p:tmPct val="100000"/>
                                  </p:iterate>
                                  <p:childTnLst>
                                    <p:set>
                                      <p:cBhvr>
                                        <p:cTn id="42" dur="1" fill="hold">
                                          <p:stCondLst>
                                            <p:cond delay="0"/>
                                          </p:stCondLst>
                                        </p:cTn>
                                        <p:tgtEl>
                                          <p:spTgt spid="1479688">
                                            <p:txEl>
                                              <p:pRg st="0" end="0"/>
                                            </p:txEl>
                                          </p:spTgt>
                                        </p:tgtEl>
                                        <p:attrNameLst>
                                          <p:attrName>style.visibility</p:attrName>
                                        </p:attrNameLst>
                                      </p:cBhvr>
                                      <p:to>
                                        <p:strVal val="visible"/>
                                      </p:to>
                                    </p:set>
                                    <p:animEffect transition="in" filter="dissolve">
                                      <p:cBhvr>
                                        <p:cTn id="43" dur="300"/>
                                        <p:tgtEl>
                                          <p:spTgt spid="147968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iterate type="wd">
                                    <p:tmPct val="100000"/>
                                  </p:iterate>
                                  <p:childTnLst>
                                    <p:set>
                                      <p:cBhvr>
                                        <p:cTn id="47" dur="1" fill="hold">
                                          <p:stCondLst>
                                            <p:cond delay="0"/>
                                          </p:stCondLst>
                                        </p:cTn>
                                        <p:tgtEl>
                                          <p:spTgt spid="1479688">
                                            <p:txEl>
                                              <p:pRg st="1" end="1"/>
                                            </p:txEl>
                                          </p:spTgt>
                                        </p:tgtEl>
                                        <p:attrNameLst>
                                          <p:attrName>style.visibility</p:attrName>
                                        </p:attrNameLst>
                                      </p:cBhvr>
                                      <p:to>
                                        <p:strVal val="visible"/>
                                      </p:to>
                                    </p:set>
                                    <p:animEffect transition="in" filter="dissolve">
                                      <p:cBhvr>
                                        <p:cTn id="48" dur="300"/>
                                        <p:tgtEl>
                                          <p:spTgt spid="1479688">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iterate type="wd">
                                    <p:tmPct val="100000"/>
                                  </p:iterate>
                                  <p:childTnLst>
                                    <p:set>
                                      <p:cBhvr>
                                        <p:cTn id="52" dur="1" fill="hold">
                                          <p:stCondLst>
                                            <p:cond delay="0"/>
                                          </p:stCondLst>
                                        </p:cTn>
                                        <p:tgtEl>
                                          <p:spTgt spid="1479688">
                                            <p:txEl>
                                              <p:pRg st="2" end="2"/>
                                            </p:txEl>
                                          </p:spTgt>
                                        </p:tgtEl>
                                        <p:attrNameLst>
                                          <p:attrName>style.visibility</p:attrName>
                                        </p:attrNameLst>
                                      </p:cBhvr>
                                      <p:to>
                                        <p:strVal val="visible"/>
                                      </p:to>
                                    </p:set>
                                    <p:animEffect transition="in" filter="dissolve">
                                      <p:cBhvr>
                                        <p:cTn id="53" dur="300"/>
                                        <p:tgtEl>
                                          <p:spTgt spid="1479688">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iterate type="wd">
                                    <p:tmPct val="100000"/>
                                  </p:iterate>
                                  <p:childTnLst>
                                    <p:set>
                                      <p:cBhvr>
                                        <p:cTn id="57" dur="1" fill="hold">
                                          <p:stCondLst>
                                            <p:cond delay="0"/>
                                          </p:stCondLst>
                                        </p:cTn>
                                        <p:tgtEl>
                                          <p:spTgt spid="1479688">
                                            <p:txEl>
                                              <p:pRg st="3" end="3"/>
                                            </p:txEl>
                                          </p:spTgt>
                                        </p:tgtEl>
                                        <p:attrNameLst>
                                          <p:attrName>style.visibility</p:attrName>
                                        </p:attrNameLst>
                                      </p:cBhvr>
                                      <p:to>
                                        <p:strVal val="visible"/>
                                      </p:to>
                                    </p:set>
                                    <p:animEffect transition="in" filter="dissolve">
                                      <p:cBhvr>
                                        <p:cTn id="58" dur="300"/>
                                        <p:tgtEl>
                                          <p:spTgt spid="1479688">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nodeType="clickEffect">
                                  <p:stCondLst>
                                    <p:cond delay="0"/>
                                  </p:stCondLst>
                                  <p:childTnLst>
                                    <p:set>
                                      <p:cBhvr>
                                        <p:cTn id="62" dur="1" fill="hold">
                                          <p:stCondLst>
                                            <p:cond delay="0"/>
                                          </p:stCondLst>
                                        </p:cTn>
                                        <p:tgtEl>
                                          <p:spTgt spid="1479697"/>
                                        </p:tgtEl>
                                        <p:attrNameLst>
                                          <p:attrName>style.visibility</p:attrName>
                                        </p:attrNameLst>
                                      </p:cBhvr>
                                      <p:to>
                                        <p:strVal val="visible"/>
                                      </p:to>
                                    </p:set>
                                    <p:animEffect transition="in" filter="circle(in)">
                                      <p:cBhvr>
                                        <p:cTn id="63" dur="2000"/>
                                        <p:tgtEl>
                                          <p:spTgt spid="1479697"/>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circle(in)">
                                      <p:cBhvr>
                                        <p:cTn id="68" dur="20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79686"/>
                                        </p:tgtEl>
                                        <p:attrNameLst>
                                          <p:attrName>style.visibility</p:attrName>
                                        </p:attrNameLst>
                                      </p:cBhvr>
                                      <p:to>
                                        <p:strVal val="visible"/>
                                      </p:to>
                                    </p:set>
                                    <p:anim calcmode="lin" valueType="num">
                                      <p:cBhvr additive="base">
                                        <p:cTn id="73" dur="500" fill="hold"/>
                                        <p:tgtEl>
                                          <p:spTgt spid="1479686"/>
                                        </p:tgtEl>
                                        <p:attrNameLst>
                                          <p:attrName>ppt_x</p:attrName>
                                        </p:attrNameLst>
                                      </p:cBhvr>
                                      <p:tavLst>
                                        <p:tav tm="0">
                                          <p:val>
                                            <p:strVal val="0-#ppt_w/2"/>
                                          </p:val>
                                        </p:tav>
                                        <p:tav tm="100000">
                                          <p:val>
                                            <p:strVal val="#ppt_x"/>
                                          </p:val>
                                        </p:tav>
                                      </p:tavLst>
                                    </p:anim>
                                    <p:anim calcmode="lin" valueType="num">
                                      <p:cBhvr additive="base">
                                        <p:cTn id="74" dur="500" fill="hold"/>
                                        <p:tgtEl>
                                          <p:spTgt spid="14796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9682" grpId="0"/>
      <p:bldP spid="1479683" grpId="0" build="p"/>
      <p:bldP spid="1479684" grpId="0"/>
      <p:bldP spid="1479686" grpId="0"/>
      <p:bldP spid="1479687" grpId="0"/>
      <p:bldP spid="147968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706" name="文本框 1480705"/>
          <p:cNvSpPr txBox="1"/>
          <p:nvPr/>
        </p:nvSpPr>
        <p:spPr>
          <a:xfrm>
            <a:off x="238125" y="3787775"/>
            <a:ext cx="8890000" cy="1801813"/>
          </a:xfrm>
          <a:prstGeom prst="rect">
            <a:avLst/>
          </a:prstGeom>
          <a:noFill/>
          <a:ln w="9525">
            <a:noFill/>
          </a:ln>
        </p:spPr>
        <p:txBody>
          <a:bodyPr>
            <a:spAutoFit/>
          </a:bodyPr>
          <a:lstStyle/>
          <a:p>
            <a:r>
              <a:rPr lang="en-US" altLang="zh-CN" sz="2800" b="0" dirty="0">
                <a:solidFill>
                  <a:schemeClr val="tx1"/>
                </a:solidFill>
                <a:latin typeface="Arial" panose="020B0604020202020204" pitchFamily="34" charset="0"/>
              </a:rPr>
              <a:t>       </a:t>
            </a:r>
            <a:r>
              <a:rPr lang="zh-CN" altLang="en-US" sz="2800" dirty="0">
                <a:solidFill>
                  <a:schemeClr val="tx1"/>
                </a:solidFill>
                <a:latin typeface="楷体_GB2312" pitchFamily="49" charset="-122"/>
                <a:ea typeface="楷体_GB2312" pitchFamily="49" charset="-122"/>
              </a:rPr>
              <a:t>劳斯表中第一列元素不全为正，且第一列元素符号</a:t>
            </a:r>
          </a:p>
          <a:p>
            <a:r>
              <a:rPr lang="zh-CN" altLang="en-US" sz="2800" dirty="0">
                <a:solidFill>
                  <a:schemeClr val="tx1"/>
                </a:solidFill>
                <a:latin typeface="楷体_GB2312" pitchFamily="49" charset="-122"/>
                <a:ea typeface="楷体_GB2312" pitchFamily="49" charset="-122"/>
              </a:rPr>
              <a:t>改变了一次，故系统在</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1 </a:t>
            </a:r>
            <a:r>
              <a:rPr lang="zh-CN" altLang="en-US" sz="2800" dirty="0">
                <a:solidFill>
                  <a:schemeClr val="tx1"/>
                </a:solidFill>
                <a:latin typeface="楷体_GB2312" pitchFamily="49" charset="-122"/>
                <a:ea typeface="楷体_GB2312" pitchFamily="49" charset="-122"/>
              </a:rPr>
              <a:t>右半平面有一个根。因此，系</a:t>
            </a:r>
          </a:p>
          <a:p>
            <a:r>
              <a:rPr lang="zh-CN" altLang="en-US" sz="2800" dirty="0">
                <a:solidFill>
                  <a:schemeClr val="tx1"/>
                </a:solidFill>
                <a:latin typeface="楷体_GB2312" pitchFamily="49" charset="-122"/>
                <a:ea typeface="楷体_GB2312" pitchFamily="49" charset="-122"/>
              </a:rPr>
              <a:t>统在垂直线 </a:t>
            </a:r>
            <a:r>
              <a:rPr lang="en-US" altLang="zh-CN" sz="2800" i="1" dirty="0">
                <a:solidFill>
                  <a:schemeClr val="tx1"/>
                </a:solidFill>
                <a:latin typeface="Times New Roman" panose="02020603050405020304" pitchFamily="18" charset="0"/>
                <a:ea typeface="楷体_GB2312" pitchFamily="49" charset="-122"/>
              </a:rPr>
              <a:t>s</a:t>
            </a:r>
            <a:r>
              <a:rPr lang="en-US" altLang="zh-CN" sz="2800" dirty="0">
                <a:solidFill>
                  <a:schemeClr val="tx1"/>
                </a:solidFill>
                <a:latin typeface="Times New Roman" panose="02020603050405020304" pitchFamily="18" charset="0"/>
                <a:ea typeface="楷体_GB2312" pitchFamily="49" charset="-122"/>
              </a:rPr>
              <a:t> =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ea typeface="楷体_GB2312" pitchFamily="49" charset="-122"/>
              </a:rPr>
              <a:t>1</a:t>
            </a:r>
            <a:r>
              <a:rPr lang="zh-CN" altLang="en-US" sz="2800" dirty="0">
                <a:solidFill>
                  <a:schemeClr val="tx1"/>
                </a:solidFill>
                <a:latin typeface="楷体_GB2312" pitchFamily="49" charset="-122"/>
                <a:ea typeface="楷体_GB2312" pitchFamily="49" charset="-122"/>
              </a:rPr>
              <a:t>的右边有一个根。</a:t>
            </a:r>
          </a:p>
        </p:txBody>
      </p:sp>
      <p:sp>
        <p:nvSpPr>
          <p:cNvPr id="1480707" name="文本框 1480706"/>
          <p:cNvSpPr txBox="1"/>
          <p:nvPr/>
        </p:nvSpPr>
        <p:spPr>
          <a:xfrm>
            <a:off x="2138363" y="1204913"/>
            <a:ext cx="669925" cy="2443162"/>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s</a:t>
            </a:r>
            <a:r>
              <a:rPr lang="en-US" altLang="zh-CN" sz="2800" baseline="-25000" dirty="0">
                <a:solidFill>
                  <a:schemeClr val="tx1"/>
                </a:solidFill>
                <a:latin typeface="Times New Roman" panose="02020603050405020304" pitchFamily="18" charset="0"/>
              </a:rPr>
              <a:t>1</a:t>
            </a:r>
            <a:r>
              <a:rPr lang="en-US" altLang="zh-CN" sz="2800" baseline="30000" dirty="0">
                <a:solidFill>
                  <a:schemeClr val="tx1"/>
                </a:solidFill>
                <a:latin typeface="Times New Roman" panose="02020603050405020304" pitchFamily="18" charset="0"/>
              </a:rPr>
              <a:t>3</a:t>
            </a:r>
          </a:p>
          <a:p>
            <a:r>
              <a:rPr lang="en-US" altLang="zh-CN" sz="2800" i="1" dirty="0">
                <a:solidFill>
                  <a:schemeClr val="tx1"/>
                </a:solidFill>
                <a:latin typeface="Times New Roman" panose="02020603050405020304" pitchFamily="18" charset="0"/>
              </a:rPr>
              <a:t>s</a:t>
            </a:r>
            <a:r>
              <a:rPr lang="en-US" altLang="zh-CN" sz="2800" baseline="-25000" dirty="0">
                <a:solidFill>
                  <a:schemeClr val="tx1"/>
                </a:solidFill>
                <a:latin typeface="Times New Roman" panose="02020603050405020304" pitchFamily="18" charset="0"/>
              </a:rPr>
              <a:t>1</a:t>
            </a:r>
            <a:r>
              <a:rPr lang="en-US" altLang="zh-CN" sz="2800" baseline="30000" dirty="0">
                <a:solidFill>
                  <a:schemeClr val="tx1"/>
                </a:solidFill>
                <a:latin typeface="Times New Roman" panose="02020603050405020304" pitchFamily="18" charset="0"/>
              </a:rPr>
              <a:t>2</a:t>
            </a:r>
          </a:p>
          <a:p>
            <a:r>
              <a:rPr lang="en-US" altLang="zh-CN" sz="2800" i="1" dirty="0">
                <a:solidFill>
                  <a:schemeClr val="tx1"/>
                </a:solidFill>
                <a:latin typeface="Times New Roman" panose="02020603050405020304" pitchFamily="18" charset="0"/>
              </a:rPr>
              <a:t>s</a:t>
            </a:r>
            <a:r>
              <a:rPr lang="en-US" altLang="zh-CN" sz="2800" baseline="-25000" dirty="0">
                <a:solidFill>
                  <a:schemeClr val="tx1"/>
                </a:solidFill>
                <a:latin typeface="Times New Roman" panose="02020603050405020304" pitchFamily="18" charset="0"/>
              </a:rPr>
              <a:t>1</a:t>
            </a:r>
            <a:r>
              <a:rPr lang="en-US" altLang="zh-CN" sz="2800" baseline="30000" dirty="0">
                <a:solidFill>
                  <a:schemeClr val="tx1"/>
                </a:solidFill>
                <a:latin typeface="Times New Roman" panose="02020603050405020304" pitchFamily="18" charset="0"/>
              </a:rPr>
              <a:t>1</a:t>
            </a:r>
          </a:p>
          <a:p>
            <a:r>
              <a:rPr lang="en-US" altLang="zh-CN" sz="2800" i="1" dirty="0">
                <a:solidFill>
                  <a:schemeClr val="tx1"/>
                </a:solidFill>
                <a:latin typeface="Times New Roman" panose="02020603050405020304" pitchFamily="18" charset="0"/>
              </a:rPr>
              <a:t>s</a:t>
            </a:r>
            <a:r>
              <a:rPr lang="en-US" altLang="zh-CN" sz="2800" baseline="-25000" dirty="0">
                <a:solidFill>
                  <a:schemeClr val="tx1"/>
                </a:solidFill>
                <a:latin typeface="Times New Roman" panose="02020603050405020304" pitchFamily="18" charset="0"/>
              </a:rPr>
              <a:t>1</a:t>
            </a:r>
            <a:r>
              <a:rPr lang="en-US" altLang="zh-CN" sz="2800" baseline="30000" dirty="0">
                <a:solidFill>
                  <a:schemeClr val="tx1"/>
                </a:solidFill>
                <a:latin typeface="Arial" panose="020B0604020202020204" pitchFamily="34" charset="0"/>
              </a:rPr>
              <a:t>0</a:t>
            </a:r>
          </a:p>
        </p:txBody>
      </p:sp>
      <p:sp>
        <p:nvSpPr>
          <p:cNvPr id="1480708" name="文本框 1480707"/>
          <p:cNvSpPr txBox="1"/>
          <p:nvPr/>
        </p:nvSpPr>
        <p:spPr>
          <a:xfrm>
            <a:off x="2808288" y="1139825"/>
            <a:ext cx="2593975" cy="2443163"/>
          </a:xfrm>
          <a:prstGeom prst="rect">
            <a:avLst/>
          </a:prstGeom>
          <a:noFill/>
          <a:ln w="9525">
            <a:noFill/>
          </a:ln>
        </p:spPr>
        <p:txBody>
          <a:bodyPr>
            <a:spAutoFit/>
          </a:bodyPr>
          <a:lstStyle/>
          <a:p>
            <a:r>
              <a:rPr lang="en-US" altLang="zh-CN" sz="2800" dirty="0">
                <a:solidFill>
                  <a:schemeClr val="tx1"/>
                </a:solidFill>
                <a:latin typeface="Times New Roman" panose="02020603050405020304" pitchFamily="18" charset="0"/>
              </a:rPr>
              <a:t>  2        </a:t>
            </a:r>
            <a:r>
              <a:rPr lang="en-US" altLang="zh-CN" sz="2800" dirty="0">
                <a:solidFill>
                  <a:schemeClr val="tx1"/>
                </a:solidFill>
                <a:latin typeface="Times New Roman" panose="02020603050405020304" pitchFamily="18" charset="0"/>
                <a:sym typeface="Symbol" panose="05050102010706020507" pitchFamily="18" charset="2"/>
              </a:rPr>
              <a:t>1</a:t>
            </a:r>
            <a:endParaRPr lang="en-US" altLang="zh-CN" sz="2800" baseline="30000"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rPr>
              <a:t>  4        </a:t>
            </a:r>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1</a:t>
            </a:r>
            <a:endParaRPr lang="en-US" altLang="zh-CN" sz="2800" i="1" dirty="0">
              <a:solidFill>
                <a:schemeClr val="tx1"/>
              </a:solidFill>
              <a:latin typeface="Times New Roman" panose="02020603050405020304" pitchFamily="18" charset="0"/>
            </a:endParaRPr>
          </a:p>
          <a:p>
            <a:r>
              <a:rPr lang="en-US" altLang="zh-CN" sz="2800" dirty="0">
                <a:solidFill>
                  <a:schemeClr val="tx1"/>
                </a:solidFill>
                <a:latin typeface="Times New Roman" panose="02020603050405020304" pitchFamily="18" charset="0"/>
                <a:sym typeface="Symbol" panose="05050102010706020507" pitchFamily="18" charset="2"/>
              </a:rPr>
              <a:t></a:t>
            </a:r>
            <a:r>
              <a:rPr lang="en-US" altLang="zh-CN" sz="2800" dirty="0">
                <a:solidFill>
                  <a:schemeClr val="tx1"/>
                </a:solidFill>
                <a:latin typeface="Times New Roman" panose="02020603050405020304" pitchFamily="18" charset="0"/>
              </a:rPr>
              <a:t>0.5</a:t>
            </a:r>
          </a:p>
          <a:p>
            <a:r>
              <a:rPr lang="en-US" altLang="zh-CN" sz="2800" dirty="0">
                <a:solidFill>
                  <a:schemeClr val="tx1"/>
                </a:solidFill>
                <a:latin typeface="Times New Roman" panose="02020603050405020304" pitchFamily="18" charset="0"/>
                <a:sym typeface="Symbol" panose="05050102010706020507" pitchFamily="18" charset="2"/>
              </a:rPr>
              <a:t> </a:t>
            </a:r>
            <a:r>
              <a:rPr lang="en-US" altLang="zh-CN" sz="2800" dirty="0">
                <a:solidFill>
                  <a:schemeClr val="tx1"/>
                </a:solidFill>
                <a:latin typeface="Times New Roman" panose="02020603050405020304" pitchFamily="18" charset="0"/>
              </a:rPr>
              <a:t>1</a:t>
            </a:r>
          </a:p>
        </p:txBody>
      </p:sp>
      <p:sp>
        <p:nvSpPr>
          <p:cNvPr id="1480709" name="直接连接符 1480708"/>
          <p:cNvSpPr/>
          <p:nvPr/>
        </p:nvSpPr>
        <p:spPr>
          <a:xfrm>
            <a:off x="2768600" y="1246188"/>
            <a:ext cx="0" cy="2336800"/>
          </a:xfrm>
          <a:prstGeom prst="line">
            <a:avLst/>
          </a:prstGeom>
          <a:ln w="38100" cap="sq" cmpd="sng">
            <a:solidFill>
              <a:schemeClr val="tx1"/>
            </a:solidFill>
            <a:prstDash val="solid"/>
            <a:headEnd type="none" w="med" len="med"/>
            <a:tailEnd type="none" w="med" len="med"/>
          </a:ln>
        </p:spPr>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80707"/>
                                        </p:tgtEl>
                                        <p:attrNameLst>
                                          <p:attrName>style.visibility</p:attrName>
                                        </p:attrNameLst>
                                      </p:cBhvr>
                                      <p:to>
                                        <p:strVal val="visible"/>
                                      </p:to>
                                    </p:set>
                                    <p:animEffect transition="in" filter="dissolve">
                                      <p:cBhvr>
                                        <p:cTn id="7" dur="500"/>
                                        <p:tgtEl>
                                          <p:spTgt spid="148070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80709"/>
                                        </p:tgtEl>
                                        <p:attrNameLst>
                                          <p:attrName>style.visibility</p:attrName>
                                        </p:attrNameLst>
                                      </p:cBhvr>
                                      <p:to>
                                        <p:strVal val="visible"/>
                                      </p:to>
                                    </p:set>
                                    <p:animEffect transition="in" filter="dissolve">
                                      <p:cBhvr>
                                        <p:cTn id="11" dur="500"/>
                                        <p:tgtEl>
                                          <p:spTgt spid="148070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iterate type="wd">
                                    <p:tmPct val="100000"/>
                                  </p:iterate>
                                  <p:childTnLst>
                                    <p:set>
                                      <p:cBhvr>
                                        <p:cTn id="15" dur="1" fill="hold">
                                          <p:stCondLst>
                                            <p:cond delay="0"/>
                                          </p:stCondLst>
                                        </p:cTn>
                                        <p:tgtEl>
                                          <p:spTgt spid="1480708">
                                            <p:txEl>
                                              <p:pRg st="0" end="0"/>
                                            </p:txEl>
                                          </p:spTgt>
                                        </p:tgtEl>
                                        <p:attrNameLst>
                                          <p:attrName>style.visibility</p:attrName>
                                        </p:attrNameLst>
                                      </p:cBhvr>
                                      <p:to>
                                        <p:strVal val="visible"/>
                                      </p:to>
                                    </p:set>
                                    <p:animEffect transition="in" filter="dissolve">
                                      <p:cBhvr>
                                        <p:cTn id="16" dur="300"/>
                                        <p:tgtEl>
                                          <p:spTgt spid="148070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iterate type="wd">
                                    <p:tmPct val="100000"/>
                                  </p:iterate>
                                  <p:childTnLst>
                                    <p:set>
                                      <p:cBhvr>
                                        <p:cTn id="20" dur="1" fill="hold">
                                          <p:stCondLst>
                                            <p:cond delay="0"/>
                                          </p:stCondLst>
                                        </p:cTn>
                                        <p:tgtEl>
                                          <p:spTgt spid="1480708">
                                            <p:txEl>
                                              <p:pRg st="1" end="1"/>
                                            </p:txEl>
                                          </p:spTgt>
                                        </p:tgtEl>
                                        <p:attrNameLst>
                                          <p:attrName>style.visibility</p:attrName>
                                        </p:attrNameLst>
                                      </p:cBhvr>
                                      <p:to>
                                        <p:strVal val="visible"/>
                                      </p:to>
                                    </p:set>
                                    <p:animEffect transition="in" filter="dissolve">
                                      <p:cBhvr>
                                        <p:cTn id="21" dur="300"/>
                                        <p:tgtEl>
                                          <p:spTgt spid="148070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iterate type="wd">
                                    <p:tmPct val="100000"/>
                                  </p:iterate>
                                  <p:childTnLst>
                                    <p:set>
                                      <p:cBhvr>
                                        <p:cTn id="25" dur="1" fill="hold">
                                          <p:stCondLst>
                                            <p:cond delay="0"/>
                                          </p:stCondLst>
                                        </p:cTn>
                                        <p:tgtEl>
                                          <p:spTgt spid="1480708">
                                            <p:txEl>
                                              <p:pRg st="2" end="2"/>
                                            </p:txEl>
                                          </p:spTgt>
                                        </p:tgtEl>
                                        <p:attrNameLst>
                                          <p:attrName>style.visibility</p:attrName>
                                        </p:attrNameLst>
                                      </p:cBhvr>
                                      <p:to>
                                        <p:strVal val="visible"/>
                                      </p:to>
                                    </p:set>
                                    <p:animEffect transition="in" filter="dissolve">
                                      <p:cBhvr>
                                        <p:cTn id="26" dur="300"/>
                                        <p:tgtEl>
                                          <p:spTgt spid="1480708">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iterate type="wd">
                                    <p:tmPct val="100000"/>
                                  </p:iterate>
                                  <p:childTnLst>
                                    <p:set>
                                      <p:cBhvr>
                                        <p:cTn id="30" dur="1" fill="hold">
                                          <p:stCondLst>
                                            <p:cond delay="0"/>
                                          </p:stCondLst>
                                        </p:cTn>
                                        <p:tgtEl>
                                          <p:spTgt spid="1480708">
                                            <p:txEl>
                                              <p:pRg st="3" end="3"/>
                                            </p:txEl>
                                          </p:spTgt>
                                        </p:tgtEl>
                                        <p:attrNameLst>
                                          <p:attrName>style.visibility</p:attrName>
                                        </p:attrNameLst>
                                      </p:cBhvr>
                                      <p:to>
                                        <p:strVal val="visible"/>
                                      </p:to>
                                    </p:set>
                                    <p:animEffect transition="in" filter="dissolve">
                                      <p:cBhvr>
                                        <p:cTn id="31" dur="300"/>
                                        <p:tgtEl>
                                          <p:spTgt spid="1480708">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480706">
                                            <p:txEl>
                                              <p:pRg st="0" end="0"/>
                                            </p:txEl>
                                          </p:spTgt>
                                        </p:tgtEl>
                                        <p:attrNameLst>
                                          <p:attrName>style.visibility</p:attrName>
                                        </p:attrNameLst>
                                      </p:cBhvr>
                                      <p:to>
                                        <p:strVal val="visible"/>
                                      </p:to>
                                    </p:set>
                                    <p:animEffect transition="in" filter="dissolve">
                                      <p:cBhvr>
                                        <p:cTn id="36" dur="500"/>
                                        <p:tgtEl>
                                          <p:spTgt spid="1480706">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480706">
                                            <p:txEl>
                                              <p:pRg st="1" end="1"/>
                                            </p:txEl>
                                          </p:spTgt>
                                        </p:tgtEl>
                                        <p:attrNameLst>
                                          <p:attrName>style.visibility</p:attrName>
                                        </p:attrNameLst>
                                      </p:cBhvr>
                                      <p:to>
                                        <p:strVal val="visible"/>
                                      </p:to>
                                    </p:set>
                                    <p:animEffect transition="in" filter="dissolve">
                                      <p:cBhvr>
                                        <p:cTn id="41" dur="500"/>
                                        <p:tgtEl>
                                          <p:spTgt spid="1480706">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480706">
                                            <p:txEl>
                                              <p:pRg st="2" end="2"/>
                                            </p:txEl>
                                          </p:spTgt>
                                        </p:tgtEl>
                                        <p:attrNameLst>
                                          <p:attrName>style.visibility</p:attrName>
                                        </p:attrNameLst>
                                      </p:cBhvr>
                                      <p:to>
                                        <p:strVal val="visible"/>
                                      </p:to>
                                    </p:set>
                                    <p:animEffect transition="in" filter="dissolve">
                                      <p:cBhvr>
                                        <p:cTn id="46" dur="500"/>
                                        <p:tgtEl>
                                          <p:spTgt spid="14807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0706" grpId="0" build="p"/>
      <p:bldP spid="1480707" grpId="0"/>
      <p:bldP spid="148070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2571750" y="804863"/>
            <a:ext cx="6572250" cy="1049337"/>
          </a:xfrm>
        </p:spPr>
        <p:txBody>
          <a:bodyPr/>
          <a:lstStyle/>
          <a:p>
            <a:r>
              <a:rPr lang="en-US" altLang="zh-CN"/>
              <a:t> </a:t>
            </a:r>
          </a:p>
        </p:txBody>
      </p:sp>
      <p:sp>
        <p:nvSpPr>
          <p:cNvPr id="2" name="内容占位符 1"/>
          <p:cNvSpPr>
            <a:spLocks noGrp="1"/>
          </p:cNvSpPr>
          <p:nvPr>
            <p:ph idx="4294967295"/>
          </p:nvPr>
        </p:nvSpPr>
        <p:spPr>
          <a:xfrm>
            <a:off x="611560" y="2420888"/>
            <a:ext cx="8058150" cy="2664296"/>
          </a:xfrm>
        </p:spPr>
        <p:txBody>
          <a:bodyPr/>
          <a:lstStyle/>
          <a:p>
            <a:pPr marL="0" indent="0">
              <a:buNone/>
            </a:pPr>
            <a:r>
              <a:rPr lang="en-US" altLang="zh-CN" dirty="0"/>
              <a:t>        </a:t>
            </a:r>
            <a:r>
              <a:rPr lang="zh-CN" altLang="en-US" dirty="0"/>
              <a:t>控制系统稳定才以谈快速性、稳态性能,国家社会稳定才能进行物质、政治、精神、社会生态文建设家庭稳定人民才能安居乐业。作为电力人，要理解维护电力系统的电压、频车稳定，保证供电质量的意义，需要不同岗位做出不同贡献。</a:t>
            </a:r>
          </a:p>
        </p:txBody>
      </p:sp>
      <p:sp>
        <p:nvSpPr>
          <p:cNvPr id="1481730" name="标题 1481729"/>
          <p:cNvSpPr txBox="1">
            <a:spLocks noGrp="1"/>
          </p:cNvSpPr>
          <p:nvPr/>
        </p:nvSpPr>
        <p:spPr>
          <a:xfrm>
            <a:off x="1187624" y="804863"/>
            <a:ext cx="4896544" cy="854115"/>
          </a:xfrm>
          <a:prstGeom prst="rect">
            <a:avLst/>
          </a:prstGeom>
          <a:noFill/>
          <a:ln w="9525">
            <a:noFill/>
          </a:ln>
        </p:spPr>
        <p:txBody>
          <a:bodyPr vert="horz" wrap="square" lIns="91440" tIns="45720" rIns="91440" bIns="45720" numCol="1" rtlCol="0" anchor="ctr" anchorCtr="0" compatLnSpc="1">
            <a:normAutofit/>
          </a:bodyPr>
          <a:lstStyle>
            <a:lvl1pPr algn="ctr" rtl="0" fontAlgn="base">
              <a:spcBef>
                <a:spcPct val="0"/>
              </a:spcBef>
              <a:spcAft>
                <a:spcPct val="0"/>
              </a:spcAft>
              <a:defRPr sz="4400" kern="1200">
                <a:solidFill>
                  <a:srgbClr val="FFFFFF"/>
                </a:solidFill>
                <a:latin typeface="+mj-lt"/>
                <a:ea typeface="+mj-ea"/>
                <a:cs typeface="+mj-cs"/>
              </a:defRPr>
            </a:lvl1pPr>
            <a:lvl2pPr algn="ctr" rtl="0" fontAlgn="base">
              <a:spcBef>
                <a:spcPct val="0"/>
              </a:spcBef>
              <a:spcAft>
                <a:spcPct val="0"/>
              </a:spcAft>
              <a:defRPr sz="4400">
                <a:solidFill>
                  <a:srgbClr val="FFFFFF"/>
                </a:solidFill>
                <a:latin typeface="Candara" panose="020E0502030303020204" pitchFamily="34" charset="0"/>
                <a:ea typeface="华文新魏" panose="02010800040101010101" pitchFamily="2" charset="-122"/>
              </a:defRPr>
            </a:lvl2pPr>
            <a:lvl3pPr algn="ctr" rtl="0" fontAlgn="base">
              <a:spcBef>
                <a:spcPct val="0"/>
              </a:spcBef>
              <a:spcAft>
                <a:spcPct val="0"/>
              </a:spcAft>
              <a:defRPr sz="4400">
                <a:solidFill>
                  <a:srgbClr val="FFFFFF"/>
                </a:solidFill>
                <a:latin typeface="Candara" panose="020E0502030303020204" pitchFamily="34" charset="0"/>
                <a:ea typeface="华文新魏" panose="02010800040101010101" pitchFamily="2" charset="-122"/>
              </a:defRPr>
            </a:lvl3pPr>
            <a:lvl4pPr algn="ctr" rtl="0" fontAlgn="base">
              <a:spcBef>
                <a:spcPct val="0"/>
              </a:spcBef>
              <a:spcAft>
                <a:spcPct val="0"/>
              </a:spcAft>
              <a:defRPr sz="4400">
                <a:solidFill>
                  <a:srgbClr val="FFFFFF"/>
                </a:solidFill>
                <a:latin typeface="Candara" panose="020E0502030303020204" pitchFamily="34" charset="0"/>
                <a:ea typeface="华文新魏" panose="02010800040101010101" pitchFamily="2" charset="-122"/>
              </a:defRPr>
            </a:lvl4pPr>
            <a:lvl5pPr algn="ctr" rtl="0" fontAlgn="base">
              <a:spcBef>
                <a:spcPct val="0"/>
              </a:spcBef>
              <a:spcAft>
                <a:spcPct val="0"/>
              </a:spcAft>
              <a:defRPr sz="4400">
                <a:solidFill>
                  <a:srgbClr val="FFFFFF"/>
                </a:solidFill>
                <a:latin typeface="Candara" panose="020E0502030303020204" pitchFamily="34" charset="0"/>
                <a:ea typeface="华文新魏" panose="02010800040101010101" pitchFamily="2"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sz="36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j-cs"/>
              </a:rPr>
              <a:t>系统稳定的重要性</a:t>
            </a:r>
            <a:endParaRPr kumimoji="0" lang="zh-CN" sz="3600" b="1" i="0" u="none" strike="noStrike" kern="1200" cap="none" spc="0" normalizeH="0" baseline="0" noProof="1">
              <a:ln>
                <a:noFill/>
              </a:ln>
              <a:solidFill>
                <a:schemeClr val="tx1"/>
              </a:solidFill>
              <a:effectLst>
                <a:outerShdw blurRad="38100" dist="38100" dir="2700000">
                  <a:srgbClr val="C0C0C0"/>
                </a:outerShdw>
              </a:effectLst>
              <a:uLnTx/>
              <a:uFillTx/>
              <a:latin typeface="+mj-lt"/>
              <a:ea typeface="黑体" panose="02010609060101010101" pitchFamily="49" charset="-122"/>
              <a:cs typeface="+mj-cs"/>
            </a:endParaRPr>
          </a:p>
        </p:txBody>
      </p:sp>
    </p:spTree>
  </p:cSld>
  <p:clrMapOvr>
    <a:masterClrMapping/>
  </p:clrMapOvr>
  <p:transition spd="slow">
    <p:pull dir="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a:extLst>
              <a:ext uri="{FF2B5EF4-FFF2-40B4-BE49-F238E27FC236}">
                <a16:creationId xmlns:a16="http://schemas.microsoft.com/office/drawing/2014/main" id="{CBC04432-DB57-4EFE-AAF2-7D8225C11E94}"/>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sp>
        <p:nvSpPr>
          <p:cNvPr id="1481730" name="标题 1481729"/>
          <p:cNvSpPr txBox="1">
            <a:spLocks noGrp="1"/>
          </p:cNvSpPr>
          <p:nvPr>
            <p:ph type="title" idx="4294967295"/>
          </p:nvPr>
        </p:nvSpPr>
        <p:spPr>
          <a:xfrm>
            <a:off x="1165225" y="-110331"/>
            <a:ext cx="8229600" cy="882651"/>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j-cs"/>
              </a:rPr>
              <a:t>3.5</a:t>
            </a:r>
            <a:r>
              <a:rPr kumimoji="0" lang="zh-CN" altLang="en-US" sz="3600" b="1" i="0" u="none" strike="noStrike" kern="1200" cap="none" spc="0" normalizeH="0" baseline="0" noProof="1">
                <a:ln>
                  <a:noFill/>
                </a:ln>
                <a:solidFill>
                  <a:schemeClr val="tx1"/>
                </a:solidFill>
                <a:effectLst/>
                <a:uLnTx/>
                <a:uFillTx/>
                <a:latin typeface="+mj-lt"/>
                <a:ea typeface="+mj-ea"/>
                <a:cs typeface="+mj-cs"/>
              </a:rPr>
              <a:t>　</a:t>
            </a:r>
            <a:r>
              <a:rPr kumimoji="0" lang="zh-CN" altLang="en-US" sz="3600" b="1" i="0" u="none" strike="noStrike" kern="1200" cap="none" spc="0" normalizeH="0" baseline="0" noProof="1">
                <a:ln>
                  <a:noFill/>
                </a:ln>
                <a:solidFill>
                  <a:schemeClr val="tx1"/>
                </a:solidFill>
                <a:effectLst>
                  <a:outerShdw blurRad="38100" dist="38100" dir="2700000">
                    <a:srgbClr val="C0C0C0"/>
                  </a:outerShdw>
                </a:effectLst>
                <a:uLnTx/>
                <a:uFillTx/>
                <a:latin typeface="+mj-lt"/>
                <a:ea typeface="黑体" panose="02010609060101010101" pitchFamily="49" charset="-122"/>
                <a:cs typeface="+mj-cs"/>
              </a:rPr>
              <a:t>线性系统的误差分析</a:t>
            </a:r>
          </a:p>
        </p:txBody>
      </p:sp>
      <p:graphicFrame>
        <p:nvGraphicFramePr>
          <p:cNvPr id="1481756" name="内容占位符 1481755"/>
          <p:cNvGraphicFramePr>
            <a:graphicFrameLocks noGrp="1"/>
          </p:cNvGraphicFramePr>
          <p:nvPr>
            <p:ph idx="4294967295"/>
            <p:extLst>
              <p:ext uri="{D42A27DB-BD31-4B8C-83A1-F6EECF244321}">
                <p14:modId xmlns:p14="http://schemas.microsoft.com/office/powerpoint/2010/main" val="2571787736"/>
              </p:ext>
            </p:extLst>
          </p:nvPr>
        </p:nvGraphicFramePr>
        <p:xfrm>
          <a:off x="5220783" y="3078095"/>
          <a:ext cx="3500437" cy="500062"/>
        </p:xfrm>
        <a:graphic>
          <a:graphicData uri="http://schemas.openxmlformats.org/presentationml/2006/ole">
            <mc:AlternateContent xmlns:mc="http://schemas.openxmlformats.org/markup-compatibility/2006">
              <mc:Choice xmlns:v="urn:schemas-microsoft-com:vml" Requires="v">
                <p:oleObj spid="_x0000_s40968" r:id="rId3" imgW="1332865" imgH="190500" progId="Equation.3">
                  <p:embed/>
                </p:oleObj>
              </mc:Choice>
              <mc:Fallback>
                <p:oleObj r:id="rId3" imgW="1332865" imgH="190500" progId="Equation.3">
                  <p:embed/>
                  <p:pic>
                    <p:nvPicPr>
                      <p:cNvPr id="0" name="图片 3170"/>
                      <p:cNvPicPr/>
                      <p:nvPr/>
                    </p:nvPicPr>
                    <p:blipFill>
                      <a:blip r:embed="rId4"/>
                      <a:srcRect/>
                      <a:stretch>
                        <a:fillRect/>
                      </a:stretch>
                    </p:blipFill>
                    <p:spPr>
                      <a:xfrm>
                        <a:off x="5220783" y="3078095"/>
                        <a:ext cx="3500437" cy="500062"/>
                      </a:xfrm>
                      <a:prstGeom prst="rect">
                        <a:avLst/>
                      </a:prstGeom>
                      <a:solidFill>
                        <a:schemeClr val="folHlink">
                          <a:alpha val="100000"/>
                        </a:schemeClr>
                      </a:solidFill>
                      <a:ln w="38100">
                        <a:miter/>
                      </a:ln>
                    </p:spPr>
                  </p:pic>
                </p:oleObj>
              </mc:Fallback>
            </mc:AlternateContent>
          </a:graphicData>
        </a:graphic>
      </p:graphicFrame>
      <p:sp>
        <p:nvSpPr>
          <p:cNvPr id="1481731" name="文本框 1481730"/>
          <p:cNvSpPr txBox="1"/>
          <p:nvPr/>
        </p:nvSpPr>
        <p:spPr>
          <a:xfrm>
            <a:off x="1110171" y="648815"/>
            <a:ext cx="4191000"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3.5.1</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1">
                <a:solidFill>
                  <a:schemeClr val="tx1"/>
                </a:solidFill>
                <a:effectLst>
                  <a:outerShdw blurRad="38100" dist="38100" dir="2700000">
                    <a:srgbClr val="C0C0C0"/>
                  </a:outerShdw>
                </a:effectLst>
                <a:latin typeface="Arial" panose="020B0604020202020204" pitchFamily="34" charset="0"/>
                <a:ea typeface="华文新魏" panose="02010800040101010101" pitchFamily="2" charset="-122"/>
                <a:cs typeface="+mn-cs"/>
              </a:rPr>
              <a:t>误差的基本概念</a:t>
            </a:r>
          </a:p>
        </p:txBody>
      </p:sp>
      <p:sp>
        <p:nvSpPr>
          <p:cNvPr id="1481732" name="文本框 1481731"/>
          <p:cNvSpPr txBox="1"/>
          <p:nvPr/>
        </p:nvSpPr>
        <p:spPr>
          <a:xfrm>
            <a:off x="168917" y="1998131"/>
            <a:ext cx="3899025" cy="1075103"/>
          </a:xfrm>
          <a:prstGeom prst="rect">
            <a:avLst/>
          </a:prstGeom>
          <a:noFill/>
          <a:ln w="9525">
            <a:noFill/>
          </a:ln>
        </p:spPr>
        <p:txBody>
          <a:bodyPr wrap="square">
            <a:spAutoFit/>
          </a:bodyPr>
          <a:lstStyle/>
          <a:p>
            <a:pPr marL="342900" marR="0" indent="-342900" defTabSz="914400">
              <a:lnSpc>
                <a:spcPct val="120000"/>
              </a:lnSpc>
              <a:spcBef>
                <a:spcPct val="0"/>
              </a:spcBef>
              <a:buClrTx/>
              <a:buSzTx/>
              <a:buFontTx/>
              <a:buNone/>
              <a:defRPr/>
            </a:pPr>
            <a:r>
              <a:rPr kumimoji="0" lang="en-US" altLang="zh-CN" sz="2800" b="0" kern="1200" cap="none" spc="0" normalizeH="0" baseline="0" noProof="1">
                <a:solidFill>
                  <a:srgbClr val="FF0000"/>
                </a:solidFill>
                <a:latin typeface="华文新魏" panose="02010800040101010101" pitchFamily="2" charset="-122"/>
                <a:ea typeface="华文新魏" panose="02010800040101010101" pitchFamily="2" charset="-122"/>
                <a:cs typeface="+mn-cs"/>
              </a:rPr>
              <a:t>     </a:t>
            </a:r>
            <a:r>
              <a:rPr kumimoji="0" lang="en-US" altLang="zh-CN" sz="2800" kern="1200" cap="none" spc="0" normalizeH="0" baseline="0" noProof="1">
                <a:solidFill>
                  <a:srgbClr val="FF0000"/>
                </a:solidFill>
                <a:latin typeface="华文新魏" panose="02010800040101010101" pitchFamily="2" charset="-122"/>
                <a:ea typeface="华文新魏" panose="02010800040101010101" pitchFamily="2" charset="-122"/>
                <a:cs typeface="+mn-cs"/>
              </a:rPr>
              <a:t>1.  </a:t>
            </a:r>
            <a:r>
              <a:rPr kumimoji="0" lang="zh-CN" altLang="en-US" sz="2800" kern="1200" cap="none" spc="0" normalizeH="0" baseline="0" noProof="1">
                <a:solidFill>
                  <a:srgbClr val="FF0000"/>
                </a:solidFill>
                <a:latin typeface="华文新魏" panose="02010800040101010101" pitchFamily="2" charset="-122"/>
                <a:ea typeface="华文新魏" panose="02010800040101010101" pitchFamily="2" charset="-122"/>
                <a:cs typeface="+mn-cs"/>
              </a:rPr>
              <a:t>误差的定义</a:t>
            </a:r>
          </a:p>
          <a:p>
            <a:pPr marL="342900" marR="0" indent="-342900" defTabSz="914400">
              <a:lnSpc>
                <a:spcPct val="120000"/>
              </a:lnSpc>
              <a:spcBef>
                <a:spcPct val="0"/>
              </a:spcBef>
              <a:buClrTx/>
              <a:buSzTx/>
              <a:buFontTx/>
              <a:buNone/>
              <a:defRPr/>
            </a:pP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   误差的定义有两种：</a:t>
            </a:r>
          </a:p>
        </p:txBody>
      </p:sp>
      <p:grpSp>
        <p:nvGrpSpPr>
          <p:cNvPr id="1481734" name="组合 1481733"/>
          <p:cNvGrpSpPr/>
          <p:nvPr/>
        </p:nvGrpSpPr>
        <p:grpSpPr>
          <a:xfrm>
            <a:off x="3823782" y="929413"/>
            <a:ext cx="5216525" cy="2060575"/>
            <a:chOff x="2474" y="734"/>
            <a:chExt cx="3286" cy="1298"/>
          </a:xfrm>
        </p:grpSpPr>
        <p:grpSp>
          <p:nvGrpSpPr>
            <p:cNvPr id="64521" name="组合 1481734"/>
            <p:cNvGrpSpPr/>
            <p:nvPr/>
          </p:nvGrpSpPr>
          <p:grpSpPr>
            <a:xfrm>
              <a:off x="2474" y="734"/>
              <a:ext cx="3286" cy="1298"/>
              <a:chOff x="601" y="1214"/>
              <a:chExt cx="3286" cy="1298"/>
            </a:xfrm>
          </p:grpSpPr>
          <p:sp>
            <p:nvSpPr>
              <p:cNvPr id="64524" name="矩形 1481735"/>
              <p:cNvSpPr/>
              <p:nvPr/>
            </p:nvSpPr>
            <p:spPr>
              <a:xfrm>
                <a:off x="2166" y="1417"/>
                <a:ext cx="691" cy="441"/>
              </a:xfrm>
              <a:prstGeom prst="rect">
                <a:avLst/>
              </a:prstGeom>
              <a:noFill/>
              <a:ln w="57150" cap="sq" cmpd="sng">
                <a:solidFill>
                  <a:schemeClr val="tx1"/>
                </a:solidFill>
                <a:prstDash val="solid"/>
                <a:miter/>
                <a:headEnd type="none" w="med" len="med"/>
                <a:tailEnd type="none" w="med" len="med"/>
              </a:ln>
            </p:spPr>
            <p:txBody>
              <a:bodyPr lIns="108000" tIns="108000" rIns="108000" bIns="108000" anchor="ctr" anchorCtr="0">
                <a:spAutoFit/>
              </a:bodyPr>
              <a:lstStyle/>
              <a:p>
                <a:pPr algn="ctr">
                  <a:spcBef>
                    <a:spcPct val="0"/>
                  </a:spcBef>
                </a:pPr>
                <a:r>
                  <a:rPr lang="en-US" altLang="zh-CN" sz="2800" i="1" dirty="0">
                    <a:solidFill>
                      <a:schemeClr val="tx1"/>
                    </a:solidFill>
                    <a:latin typeface="Times New Roman" panose="02020603050405020304" pitchFamily="18" charset="0"/>
                  </a:rPr>
                  <a:t>G</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endParaRPr>
              </a:p>
            </p:txBody>
          </p:sp>
          <p:sp>
            <p:nvSpPr>
              <p:cNvPr id="64525" name="直接连接符 1481736"/>
              <p:cNvSpPr/>
              <p:nvPr/>
            </p:nvSpPr>
            <p:spPr>
              <a:xfrm>
                <a:off x="1776" y="1614"/>
                <a:ext cx="409" cy="0"/>
              </a:xfrm>
              <a:prstGeom prst="line">
                <a:avLst/>
              </a:prstGeom>
              <a:ln w="57150" cap="sq" cmpd="sng">
                <a:solidFill>
                  <a:schemeClr val="tx1"/>
                </a:solidFill>
                <a:prstDash val="solid"/>
                <a:headEnd type="none" w="med" len="med"/>
                <a:tailEnd type="triangle" w="med" len="med"/>
              </a:ln>
            </p:spPr>
          </p:sp>
          <p:sp>
            <p:nvSpPr>
              <p:cNvPr id="64526" name="直接连接符 1481737"/>
              <p:cNvSpPr/>
              <p:nvPr/>
            </p:nvSpPr>
            <p:spPr>
              <a:xfrm>
                <a:off x="601" y="1611"/>
                <a:ext cx="661" cy="0"/>
              </a:xfrm>
              <a:prstGeom prst="line">
                <a:avLst/>
              </a:prstGeom>
              <a:ln w="57150" cap="sq" cmpd="sng">
                <a:solidFill>
                  <a:schemeClr val="tx1"/>
                </a:solidFill>
                <a:prstDash val="solid"/>
                <a:headEnd type="none" w="med" len="med"/>
                <a:tailEnd type="triangle" w="med" len="med"/>
              </a:ln>
            </p:spPr>
          </p:sp>
          <p:sp>
            <p:nvSpPr>
              <p:cNvPr id="64527" name="直接连接符 1481738"/>
              <p:cNvSpPr/>
              <p:nvPr/>
            </p:nvSpPr>
            <p:spPr>
              <a:xfrm>
                <a:off x="2896" y="1614"/>
                <a:ext cx="991" cy="0"/>
              </a:xfrm>
              <a:prstGeom prst="line">
                <a:avLst/>
              </a:prstGeom>
              <a:ln w="57150" cap="sq" cmpd="sng">
                <a:solidFill>
                  <a:schemeClr val="tx1"/>
                </a:solidFill>
                <a:prstDash val="solid"/>
                <a:headEnd type="none" w="med" len="med"/>
                <a:tailEnd type="triangle" w="med" len="med"/>
              </a:ln>
            </p:spPr>
          </p:sp>
          <p:sp>
            <p:nvSpPr>
              <p:cNvPr id="64528" name="直接连接符 1481739"/>
              <p:cNvSpPr/>
              <p:nvPr/>
            </p:nvSpPr>
            <p:spPr>
              <a:xfrm>
                <a:off x="3478" y="1638"/>
                <a:ext cx="0" cy="640"/>
              </a:xfrm>
              <a:prstGeom prst="line">
                <a:avLst/>
              </a:prstGeom>
              <a:ln w="57150" cap="sq" cmpd="sng">
                <a:solidFill>
                  <a:schemeClr val="tx1"/>
                </a:solidFill>
                <a:prstDash val="solid"/>
                <a:headEnd type="none" w="med" len="med"/>
                <a:tailEnd type="none" w="med" len="med"/>
              </a:ln>
            </p:spPr>
          </p:sp>
          <p:sp>
            <p:nvSpPr>
              <p:cNvPr id="64529" name="直接连接符 1481740"/>
              <p:cNvSpPr/>
              <p:nvPr/>
            </p:nvSpPr>
            <p:spPr>
              <a:xfrm>
                <a:off x="1536" y="2292"/>
                <a:ext cx="628" cy="0"/>
              </a:xfrm>
              <a:prstGeom prst="line">
                <a:avLst/>
              </a:prstGeom>
              <a:ln w="57150" cap="sq" cmpd="sng">
                <a:solidFill>
                  <a:schemeClr val="tx1"/>
                </a:solidFill>
                <a:prstDash val="solid"/>
                <a:headEnd type="none" w="med" len="med"/>
                <a:tailEnd type="none" w="med" len="med"/>
              </a:ln>
            </p:spPr>
          </p:sp>
          <p:sp>
            <p:nvSpPr>
              <p:cNvPr id="64530" name="直接连接符 1481741"/>
              <p:cNvSpPr/>
              <p:nvPr/>
            </p:nvSpPr>
            <p:spPr>
              <a:xfrm>
                <a:off x="1500" y="1836"/>
                <a:ext cx="0" cy="456"/>
              </a:xfrm>
              <a:prstGeom prst="line">
                <a:avLst/>
              </a:prstGeom>
              <a:ln w="57150" cap="sq" cmpd="sng">
                <a:solidFill>
                  <a:schemeClr val="tx1"/>
                </a:solidFill>
                <a:prstDash val="solid"/>
                <a:headEnd type="triangle" w="med" len="med"/>
                <a:tailEnd type="none" w="med" len="med"/>
              </a:ln>
            </p:spPr>
          </p:sp>
          <p:sp>
            <p:nvSpPr>
              <p:cNvPr id="64531" name="文本框 1481742"/>
              <p:cNvSpPr txBox="1"/>
              <p:nvPr/>
            </p:nvSpPr>
            <p:spPr>
              <a:xfrm>
                <a:off x="640" y="1250"/>
                <a:ext cx="682"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p>
            </p:txBody>
          </p:sp>
          <p:sp>
            <p:nvSpPr>
              <p:cNvPr id="64532" name="文本框 1481743"/>
              <p:cNvSpPr txBox="1"/>
              <p:nvPr/>
            </p:nvSpPr>
            <p:spPr>
              <a:xfrm>
                <a:off x="3197" y="1214"/>
                <a:ext cx="489" cy="327"/>
              </a:xfrm>
              <a:prstGeom prst="rect">
                <a:avLst/>
              </a:prstGeom>
              <a:noFill/>
              <a:ln w="9525">
                <a:noFill/>
              </a:ln>
            </p:spPr>
            <p:txBody>
              <a:bodyPr>
                <a:spAutoFit/>
              </a:bodyPr>
              <a:lstStyle/>
              <a:p>
                <a:r>
                  <a:rPr lang="en-US" altLang="zh-CN" sz="2800" i="1" dirty="0">
                    <a:solidFill>
                      <a:schemeClr val="tx1"/>
                    </a:solidFill>
                    <a:latin typeface="Times New Roman" panose="02020603050405020304" pitchFamily="18" charset="0"/>
                  </a:rPr>
                  <a:t>C</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p>
            </p:txBody>
          </p:sp>
          <p:sp>
            <p:nvSpPr>
              <p:cNvPr id="64533" name="直接连接符 1481744"/>
              <p:cNvSpPr/>
              <p:nvPr/>
            </p:nvSpPr>
            <p:spPr>
              <a:xfrm>
                <a:off x="2883" y="2281"/>
                <a:ext cx="558" cy="0"/>
              </a:xfrm>
              <a:prstGeom prst="line">
                <a:avLst/>
              </a:prstGeom>
              <a:ln w="57150" cap="sq" cmpd="sng">
                <a:solidFill>
                  <a:schemeClr val="tx1"/>
                </a:solidFill>
                <a:prstDash val="solid"/>
                <a:headEnd type="triangle" w="med" len="med"/>
                <a:tailEnd type="none" w="med" len="med"/>
              </a:ln>
            </p:spPr>
          </p:sp>
          <p:grpSp>
            <p:nvGrpSpPr>
              <p:cNvPr id="64534" name="组合 1481745"/>
              <p:cNvGrpSpPr/>
              <p:nvPr/>
            </p:nvGrpSpPr>
            <p:grpSpPr>
              <a:xfrm>
                <a:off x="1281" y="1381"/>
                <a:ext cx="460" cy="538"/>
                <a:chOff x="720" y="3552"/>
                <a:chExt cx="460" cy="538"/>
              </a:xfrm>
            </p:grpSpPr>
            <p:sp>
              <p:nvSpPr>
                <p:cNvPr id="64536" name="文本框 1481746"/>
                <p:cNvSpPr txBox="1"/>
                <p:nvPr/>
              </p:nvSpPr>
              <p:spPr>
                <a:xfrm>
                  <a:off x="768" y="3686"/>
                  <a:ext cx="384" cy="404"/>
                </a:xfrm>
                <a:prstGeom prst="rect">
                  <a:avLst/>
                </a:prstGeom>
                <a:noFill/>
                <a:ln w="9525">
                  <a:noFill/>
                </a:ln>
              </p:spPr>
              <p:txBody>
                <a:bodyPr>
                  <a:spAutoFit/>
                </a:bodyPr>
                <a:lstStyle/>
                <a:p>
                  <a:r>
                    <a:rPr lang="zh-CN" altLang="en-US" sz="3600" dirty="0">
                      <a:solidFill>
                        <a:schemeClr val="tx1"/>
                      </a:solidFill>
                      <a:latin typeface="Times New Roman" panose="02020603050405020304" pitchFamily="18" charset="0"/>
                    </a:rPr>
                    <a:t>﹣</a:t>
                  </a:r>
                  <a:endParaRPr lang="zh-CN" altLang="en-US" sz="3600" b="0" dirty="0">
                    <a:solidFill>
                      <a:schemeClr val="tx1"/>
                    </a:solidFill>
                    <a:latin typeface="Times New Roman" panose="02020603050405020304" pitchFamily="18" charset="0"/>
                  </a:endParaRPr>
                </a:p>
              </p:txBody>
            </p:sp>
            <p:sp>
              <p:nvSpPr>
                <p:cNvPr id="64537" name="椭圆 1481747"/>
                <p:cNvSpPr/>
                <p:nvPr/>
              </p:nvSpPr>
              <p:spPr>
                <a:xfrm>
                  <a:off x="720" y="3552"/>
                  <a:ext cx="460" cy="460"/>
                </a:xfrm>
                <a:prstGeom prst="ellipse">
                  <a:avLst/>
                </a:prstGeom>
                <a:noFill/>
                <a:ln w="57150" cap="sq" cmpd="sng">
                  <a:solidFill>
                    <a:schemeClr val="tx1"/>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4538" name="直接连接符 1481748"/>
                <p:cNvSpPr/>
                <p:nvPr/>
              </p:nvSpPr>
              <p:spPr>
                <a:xfrm flipH="1">
                  <a:off x="816" y="3648"/>
                  <a:ext cx="288" cy="288"/>
                </a:xfrm>
                <a:prstGeom prst="line">
                  <a:avLst/>
                </a:prstGeom>
                <a:ln w="57150" cap="sq" cmpd="sng">
                  <a:solidFill>
                    <a:schemeClr val="tx1"/>
                  </a:solidFill>
                  <a:prstDash val="solid"/>
                  <a:headEnd type="none" w="med" len="med"/>
                  <a:tailEnd type="none" w="med" len="med"/>
                </a:ln>
              </p:spPr>
            </p:sp>
            <p:sp>
              <p:nvSpPr>
                <p:cNvPr id="64539" name="直接连接符 1481749"/>
                <p:cNvSpPr/>
                <p:nvPr/>
              </p:nvSpPr>
              <p:spPr>
                <a:xfrm>
                  <a:off x="816" y="3648"/>
                  <a:ext cx="288" cy="288"/>
                </a:xfrm>
                <a:prstGeom prst="line">
                  <a:avLst/>
                </a:prstGeom>
                <a:ln w="57150" cap="sq" cmpd="sng">
                  <a:solidFill>
                    <a:schemeClr val="tx1"/>
                  </a:solidFill>
                  <a:prstDash val="solid"/>
                  <a:headEnd type="none" w="med" len="med"/>
                  <a:tailEnd type="none" w="med" len="med"/>
                </a:ln>
              </p:spPr>
            </p:sp>
            <p:sp>
              <p:nvSpPr>
                <p:cNvPr id="64540" name="文本框 1481750"/>
                <p:cNvSpPr txBox="1"/>
                <p:nvPr/>
              </p:nvSpPr>
              <p:spPr>
                <a:xfrm>
                  <a:off x="768" y="3648"/>
                  <a:ext cx="144" cy="269"/>
                </a:xfrm>
                <a:prstGeom prst="rect">
                  <a:avLst/>
                </a:prstGeom>
                <a:noFill/>
                <a:ln w="9525">
                  <a:noFill/>
                </a:ln>
              </p:spPr>
              <p:txBody>
                <a:bodyPr lIns="0" tIns="0" rIns="0" bIns="0">
                  <a:spAutoFit/>
                </a:bodyPr>
                <a:lstStyle/>
                <a:p>
                  <a:r>
                    <a:rPr lang="en-US" altLang="zh-CN" sz="2800" dirty="0">
                      <a:solidFill>
                        <a:schemeClr val="tx1"/>
                      </a:solidFill>
                      <a:latin typeface="Times New Roman" panose="02020603050405020304" pitchFamily="18" charset="0"/>
                    </a:rPr>
                    <a:t>+</a:t>
                  </a:r>
                </a:p>
              </p:txBody>
            </p:sp>
          </p:grpSp>
          <p:sp>
            <p:nvSpPr>
              <p:cNvPr id="64535" name="矩形 1481751"/>
              <p:cNvSpPr/>
              <p:nvPr/>
            </p:nvSpPr>
            <p:spPr>
              <a:xfrm>
                <a:off x="2166" y="2071"/>
                <a:ext cx="691" cy="441"/>
              </a:xfrm>
              <a:prstGeom prst="rect">
                <a:avLst/>
              </a:prstGeom>
              <a:noFill/>
              <a:ln w="57150" cap="sq" cmpd="sng">
                <a:solidFill>
                  <a:schemeClr val="tx1"/>
                </a:solidFill>
                <a:prstDash val="solid"/>
                <a:miter/>
                <a:headEnd type="none" w="med" len="med"/>
                <a:tailEnd type="none" w="med" len="med"/>
              </a:ln>
            </p:spPr>
            <p:txBody>
              <a:bodyPr lIns="108000" tIns="108000" rIns="108000" bIns="108000" anchor="ctr" anchorCtr="0">
                <a:spAutoFit/>
              </a:bodyPr>
              <a:lstStyle/>
              <a:p>
                <a:pPr algn="ctr">
                  <a:spcBef>
                    <a:spcPct val="0"/>
                  </a:spcBef>
                </a:pPr>
                <a:r>
                  <a:rPr lang="en-US" altLang="zh-CN" sz="2800" i="1" dirty="0">
                    <a:solidFill>
                      <a:schemeClr val="tx1"/>
                    </a:solidFill>
                    <a:latin typeface="Times New Roman" panose="02020603050405020304" pitchFamily="18" charset="0"/>
                  </a:rPr>
                  <a:t>H</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endParaRPr>
              </a:p>
            </p:txBody>
          </p:sp>
        </p:grpSp>
        <p:sp>
          <p:nvSpPr>
            <p:cNvPr id="64522" name="矩形 1481752"/>
            <p:cNvSpPr/>
            <p:nvPr/>
          </p:nvSpPr>
          <p:spPr>
            <a:xfrm>
              <a:off x="3564" y="768"/>
              <a:ext cx="502"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rPr>
                <a:t>E</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p>
          </p:txBody>
        </p:sp>
        <p:sp>
          <p:nvSpPr>
            <p:cNvPr id="64523" name="矩形 1481753"/>
            <p:cNvSpPr/>
            <p:nvPr/>
          </p:nvSpPr>
          <p:spPr>
            <a:xfrm>
              <a:off x="3360" y="1440"/>
              <a:ext cx="502" cy="327"/>
            </a:xfrm>
            <a:prstGeom prst="rect">
              <a:avLst/>
            </a:prstGeom>
            <a:noFill/>
            <a:ln w="9525">
              <a:noFill/>
            </a:ln>
          </p:spPr>
          <p:txBody>
            <a:bodyPr wrap="none">
              <a:spAutoFit/>
            </a:bodyPr>
            <a:lstStyle/>
            <a:p>
              <a:pPr algn="ctr">
                <a:spcBef>
                  <a:spcPct val="0"/>
                </a:spcBef>
              </a:pPr>
              <a:r>
                <a:rPr lang="en-US" altLang="zh-CN" sz="2800" i="1" dirty="0">
                  <a:solidFill>
                    <a:schemeClr val="tx1"/>
                  </a:solidFill>
                  <a:latin typeface="Times New Roman" panose="02020603050405020304" pitchFamily="18" charset="0"/>
                </a:rPr>
                <a:t>B</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a:t>
              </a:r>
            </a:p>
          </p:txBody>
        </p:sp>
      </p:grpSp>
      <p:grpSp>
        <p:nvGrpSpPr>
          <p:cNvPr id="3" name="组合 2">
            <a:extLst>
              <a:ext uri="{FF2B5EF4-FFF2-40B4-BE49-F238E27FC236}">
                <a16:creationId xmlns:a16="http://schemas.microsoft.com/office/drawing/2014/main" id="{A2D536DC-282F-4C5B-8F0E-3C96E9FAE635}"/>
              </a:ext>
            </a:extLst>
          </p:cNvPr>
          <p:cNvGrpSpPr/>
          <p:nvPr/>
        </p:nvGrpSpPr>
        <p:grpSpPr>
          <a:xfrm>
            <a:off x="46191" y="3545999"/>
            <a:ext cx="6479866" cy="3557594"/>
            <a:chOff x="46191" y="3545999"/>
            <a:chExt cx="6479866" cy="3557594"/>
          </a:xfrm>
        </p:grpSpPr>
        <p:sp>
          <p:nvSpPr>
            <p:cNvPr id="1481733" name="文本框 1481732"/>
            <p:cNvSpPr txBox="1"/>
            <p:nvPr/>
          </p:nvSpPr>
          <p:spPr>
            <a:xfrm>
              <a:off x="3372100" y="3938111"/>
              <a:ext cx="3153957" cy="3165482"/>
            </a:xfrm>
            <a:prstGeom prst="rect">
              <a:avLst/>
            </a:prstGeom>
            <a:noFill/>
            <a:ln w="9525">
              <a:noFill/>
            </a:ln>
          </p:spPr>
          <p:txBody>
            <a:bodyPr wrap="square">
              <a:spAutoFit/>
            </a:bodyPr>
            <a:lstStyle/>
            <a:p>
              <a:pPr marR="0" defTabSz="914400">
                <a:lnSpc>
                  <a:spcPct val="120000"/>
                </a:lnSpc>
                <a:spcBef>
                  <a:spcPct val="0"/>
                </a:spcBef>
                <a:buClrTx/>
                <a:buSzTx/>
                <a:buFontTx/>
                <a:buNone/>
                <a:defRPr/>
              </a:pPr>
              <a:r>
                <a:rPr kumimoji="0" lang="en-US" altLang="zh-CN" sz="2400" b="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2800" kern="1200" cap="none" spc="0" normalizeH="0" baseline="0" noProof="1">
                  <a:solidFill>
                    <a:schemeClr val="tx1"/>
                  </a:solidFill>
                  <a:latin typeface="Arial" panose="020B0604020202020204" pitchFamily="34" charset="0"/>
                  <a:ea typeface="宋体" panose="02010600030101010101" pitchFamily="2" charset="-122"/>
                  <a:cs typeface="+mn-cs"/>
                </a:rPr>
                <a:t>② </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从系统输出端定义，它定义为</a:t>
              </a:r>
              <a:r>
                <a:rPr kumimoji="0" lang="zh-CN" altLang="en-US" sz="2800" u="sng"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系统输出量的期望值与实际值之差</a:t>
              </a:r>
              <a:r>
                <a:rPr kumimoji="0" lang="zh-CN" altLang="en-US" sz="24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E</a:t>
              </a:r>
              <a:r>
                <a:rPr kumimoji="0" lang="en-US" altLang="zh-CN" sz="1800" kern="1200" cap="none" spc="0" normalizeH="0" baseline="0" noProof="1">
                  <a:solidFill>
                    <a:schemeClr val="tx1"/>
                  </a:solidFill>
                  <a:latin typeface="Times New Roman" panose="02020603050405020304" pitchFamily="18" charset="0"/>
                  <a:ea typeface="宋体" panose="02010600030101010101" pitchFamily="2" charset="-122"/>
                  <a:cs typeface="+mn-cs"/>
                </a:rPr>
                <a:t>o</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R</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(s) </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800" i="1" kern="1200" cap="none" spc="0" normalizeH="0" baseline="0" noProof="1">
                  <a:solidFill>
                    <a:schemeClr val="tx1"/>
                  </a:solidFill>
                  <a:latin typeface="Times New Roman" panose="02020603050405020304" pitchFamily="18" charset="0"/>
                  <a:ea typeface="宋体" panose="02010600030101010101" pitchFamily="2" charset="-122"/>
                  <a:cs typeface="+mn-cs"/>
                </a:rPr>
                <a:t>C</a:t>
              </a:r>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(s)</a:t>
              </a:r>
            </a:p>
            <a:p>
              <a:pPr marR="0" defTabSz="914400">
                <a:lnSpc>
                  <a:spcPct val="120000"/>
                </a:lnSpc>
                <a:spcBef>
                  <a:spcPct val="0"/>
                </a:spcBef>
                <a:buClrTx/>
                <a:buSzTx/>
                <a:buFontTx/>
                <a:buNone/>
                <a:defRPr/>
              </a:pPr>
              <a:r>
                <a:rPr kumimoji="0" lang="zh-CN" altLang="en-US" sz="2800" kern="1200" cap="none" spc="0" normalizeH="0" baseline="0" noProof="1">
                  <a:solidFill>
                    <a:schemeClr val="tx1"/>
                  </a:solidFill>
                  <a:latin typeface="华文新魏" panose="02010800040101010101" pitchFamily="2" charset="-122"/>
                  <a:ea typeface="华文新魏" panose="02010800040101010101" pitchFamily="2" charset="-122"/>
                  <a:cs typeface="+mn-cs"/>
                </a:rPr>
                <a:t>      </a:t>
              </a:r>
            </a:p>
          </p:txBody>
        </p:sp>
        <p:grpSp>
          <p:nvGrpSpPr>
            <p:cNvPr id="32" name="组合 31">
              <a:extLst>
                <a:ext uri="{FF2B5EF4-FFF2-40B4-BE49-F238E27FC236}">
                  <a16:creationId xmlns:a16="http://schemas.microsoft.com/office/drawing/2014/main" id="{8024FF0C-F84E-4870-900D-7CA3C250A564}"/>
                </a:ext>
              </a:extLst>
            </p:cNvPr>
            <p:cNvGrpSpPr/>
            <p:nvPr/>
          </p:nvGrpSpPr>
          <p:grpSpPr>
            <a:xfrm>
              <a:off x="46191" y="3545999"/>
              <a:ext cx="6426683" cy="3238702"/>
              <a:chOff x="323528" y="3202807"/>
              <a:chExt cx="6303036" cy="3010320"/>
            </a:xfrm>
          </p:grpSpPr>
          <p:sp>
            <p:nvSpPr>
              <p:cNvPr id="33" name="椭圆 31">
                <a:extLst>
                  <a:ext uri="{FF2B5EF4-FFF2-40B4-BE49-F238E27FC236}">
                    <a16:creationId xmlns:a16="http://schemas.microsoft.com/office/drawing/2014/main" id="{686C6145-8CA0-4365-B454-F994D3D57123}"/>
                  </a:ext>
                </a:extLst>
              </p:cNvPr>
              <p:cNvSpPr/>
              <p:nvPr/>
            </p:nvSpPr>
            <p:spPr>
              <a:xfrm rot="5400000">
                <a:off x="1969886" y="1556449"/>
                <a:ext cx="3010320" cy="6303036"/>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 name="connsiteX5" fmla="*/ 51067 w 648099"/>
                  <a:gd name="connsiteY5" fmla="*/ 18182 h 565791"/>
                  <a:gd name="connsiteX0" fmla="*/ 95107 w 692139"/>
                  <a:gd name="connsiteY0" fmla="*/ 44563 h 592172"/>
                  <a:gd name="connsiteX1" fmla="*/ 661045 w 692139"/>
                  <a:gd name="connsiteY1" fmla="*/ 58081 h 592172"/>
                  <a:gd name="connsiteX2" fmla="*/ 665753 w 692139"/>
                  <a:gd name="connsiteY2" fmla="*/ 561730 h 592172"/>
                  <a:gd name="connsiteX3" fmla="*/ 56577 w 692139"/>
                  <a:gd name="connsiteY3" fmla="*/ 524353 h 592172"/>
                  <a:gd name="connsiteX4" fmla="*/ 95107 w 692139"/>
                  <a:gd name="connsiteY4" fmla="*/ 44563 h 59217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51300 h 608352"/>
                  <a:gd name="connsiteX1" fmla="*/ 668271 w 726505"/>
                  <a:gd name="connsiteY1" fmla="*/ 74261 h 608352"/>
                  <a:gd name="connsiteX2" fmla="*/ 672979 w 726505"/>
                  <a:gd name="connsiteY2" fmla="*/ 577910 h 608352"/>
                  <a:gd name="connsiteX3" fmla="*/ 63803 w 726505"/>
                  <a:gd name="connsiteY3" fmla="*/ 540533 h 608352"/>
                  <a:gd name="connsiteX4" fmla="*/ 84274 w 726505"/>
                  <a:gd name="connsiteY4" fmla="*/ 51300 h 608352"/>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25592 h 582644"/>
                  <a:gd name="connsiteX1" fmla="*/ 668271 w 726505"/>
                  <a:gd name="connsiteY1" fmla="*/ 48553 h 582644"/>
                  <a:gd name="connsiteX2" fmla="*/ 672979 w 726505"/>
                  <a:gd name="connsiteY2" fmla="*/ 552202 h 582644"/>
                  <a:gd name="connsiteX3" fmla="*/ 63803 w 726505"/>
                  <a:gd name="connsiteY3" fmla="*/ 514825 h 582644"/>
                  <a:gd name="connsiteX4" fmla="*/ 84274 w 726505"/>
                  <a:gd name="connsiteY4" fmla="*/ 25592 h 582644"/>
                  <a:gd name="connsiteX0" fmla="*/ 84274 w 726505"/>
                  <a:gd name="connsiteY0" fmla="*/ 10474 h 567526"/>
                  <a:gd name="connsiteX1" fmla="*/ 668271 w 726505"/>
                  <a:gd name="connsiteY1" fmla="*/ 33435 h 567526"/>
                  <a:gd name="connsiteX2" fmla="*/ 672979 w 726505"/>
                  <a:gd name="connsiteY2" fmla="*/ 537084 h 567526"/>
                  <a:gd name="connsiteX3" fmla="*/ 63803 w 726505"/>
                  <a:gd name="connsiteY3" fmla="*/ 499707 h 567526"/>
                  <a:gd name="connsiteX4" fmla="*/ 84274 w 726505"/>
                  <a:gd name="connsiteY4" fmla="*/ 10474 h 567526"/>
                  <a:gd name="connsiteX0" fmla="*/ 84274 w 747243"/>
                  <a:gd name="connsiteY0" fmla="*/ 23576 h 595793"/>
                  <a:gd name="connsiteX1" fmla="*/ 671883 w 747243"/>
                  <a:gd name="connsiteY1" fmla="*/ 24503 h 595793"/>
                  <a:gd name="connsiteX2" fmla="*/ 672979 w 747243"/>
                  <a:gd name="connsiteY2" fmla="*/ 550186 h 595793"/>
                  <a:gd name="connsiteX3" fmla="*/ 63803 w 747243"/>
                  <a:gd name="connsiteY3" fmla="*/ 512809 h 595793"/>
                  <a:gd name="connsiteX4" fmla="*/ 84274 w 747243"/>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710287"/>
                  <a:gd name="connsiteY0" fmla="*/ 23576 h 595793"/>
                  <a:gd name="connsiteX1" fmla="*/ 671883 w 710287"/>
                  <a:gd name="connsiteY1" fmla="*/ 24503 h 595793"/>
                  <a:gd name="connsiteX2" fmla="*/ 672979 w 710287"/>
                  <a:gd name="connsiteY2" fmla="*/ 550186 h 595793"/>
                  <a:gd name="connsiteX3" fmla="*/ 63803 w 710287"/>
                  <a:gd name="connsiteY3" fmla="*/ 512809 h 595793"/>
                  <a:gd name="connsiteX4" fmla="*/ 84274 w 710287"/>
                  <a:gd name="connsiteY4" fmla="*/ 23576 h 595793"/>
                  <a:gd name="connsiteX0" fmla="*/ 84274 w 672979"/>
                  <a:gd name="connsiteY0" fmla="*/ 23576 h 595793"/>
                  <a:gd name="connsiteX1" fmla="*/ 671883 w 672979"/>
                  <a:gd name="connsiteY1" fmla="*/ 24503 h 595793"/>
                  <a:gd name="connsiteX2" fmla="*/ 672979 w 672979"/>
                  <a:gd name="connsiteY2" fmla="*/ 550186 h 595793"/>
                  <a:gd name="connsiteX3" fmla="*/ 63803 w 672979"/>
                  <a:gd name="connsiteY3" fmla="*/ 512809 h 595793"/>
                  <a:gd name="connsiteX4" fmla="*/ 84274 w 672979"/>
                  <a:gd name="connsiteY4" fmla="*/ 23576 h 595793"/>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70495"/>
                  <a:gd name="connsiteX1" fmla="*/ 671883 w 672979"/>
                  <a:gd name="connsiteY1" fmla="*/ 24503 h 570495"/>
                  <a:gd name="connsiteX2" fmla="*/ 672979 w 672979"/>
                  <a:gd name="connsiteY2" fmla="*/ 550186 h 570495"/>
                  <a:gd name="connsiteX3" fmla="*/ 63803 w 672979"/>
                  <a:gd name="connsiteY3" fmla="*/ 512809 h 570495"/>
                  <a:gd name="connsiteX4" fmla="*/ 84274 w 672979"/>
                  <a:gd name="connsiteY4" fmla="*/ 23576 h 570495"/>
                  <a:gd name="connsiteX0" fmla="*/ 84274 w 672979"/>
                  <a:gd name="connsiteY0" fmla="*/ 23576 h 560608"/>
                  <a:gd name="connsiteX1" fmla="*/ 671883 w 672979"/>
                  <a:gd name="connsiteY1" fmla="*/ 24503 h 560608"/>
                  <a:gd name="connsiteX2" fmla="*/ 672979 w 672979"/>
                  <a:gd name="connsiteY2" fmla="*/ 550186 h 560608"/>
                  <a:gd name="connsiteX3" fmla="*/ 63803 w 672979"/>
                  <a:gd name="connsiteY3" fmla="*/ 512809 h 560608"/>
                  <a:gd name="connsiteX4" fmla="*/ 84274 w 672979"/>
                  <a:gd name="connsiteY4" fmla="*/ 23576 h 560608"/>
                  <a:gd name="connsiteX0" fmla="*/ 84274 w 672979"/>
                  <a:gd name="connsiteY0" fmla="*/ 23576 h 567351"/>
                  <a:gd name="connsiteX1" fmla="*/ 671883 w 672979"/>
                  <a:gd name="connsiteY1" fmla="*/ 24503 h 567351"/>
                  <a:gd name="connsiteX2" fmla="*/ 672979 w 672979"/>
                  <a:gd name="connsiteY2" fmla="*/ 550186 h 567351"/>
                  <a:gd name="connsiteX3" fmla="*/ 63803 w 672979"/>
                  <a:gd name="connsiteY3" fmla="*/ 512809 h 567351"/>
                  <a:gd name="connsiteX4" fmla="*/ 84274 w 672979"/>
                  <a:gd name="connsiteY4" fmla="*/ 23576 h 567351"/>
                  <a:gd name="connsiteX0" fmla="*/ 72869 w 661574"/>
                  <a:gd name="connsiteY0" fmla="*/ 23576 h 567351"/>
                  <a:gd name="connsiteX1" fmla="*/ 660478 w 661574"/>
                  <a:gd name="connsiteY1" fmla="*/ 24503 h 567351"/>
                  <a:gd name="connsiteX2" fmla="*/ 661574 w 661574"/>
                  <a:gd name="connsiteY2" fmla="*/ 550186 h 567351"/>
                  <a:gd name="connsiteX3" fmla="*/ 52398 w 661574"/>
                  <a:gd name="connsiteY3" fmla="*/ 512809 h 567351"/>
                  <a:gd name="connsiteX4" fmla="*/ 72869 w 661574"/>
                  <a:gd name="connsiteY4" fmla="*/ 23576 h 567351"/>
                  <a:gd name="connsiteX0" fmla="*/ 72869 w 661574"/>
                  <a:gd name="connsiteY0" fmla="*/ 13918 h 557693"/>
                  <a:gd name="connsiteX1" fmla="*/ 660478 w 661574"/>
                  <a:gd name="connsiteY1" fmla="*/ 14845 h 557693"/>
                  <a:gd name="connsiteX2" fmla="*/ 661574 w 661574"/>
                  <a:gd name="connsiteY2" fmla="*/ 540528 h 557693"/>
                  <a:gd name="connsiteX3" fmla="*/ 52398 w 661574"/>
                  <a:gd name="connsiteY3" fmla="*/ 503151 h 557693"/>
                  <a:gd name="connsiteX4" fmla="*/ 72869 w 661574"/>
                  <a:gd name="connsiteY4" fmla="*/ 13918 h 557693"/>
                  <a:gd name="connsiteX0" fmla="*/ 84755 w 673460"/>
                  <a:gd name="connsiteY0" fmla="*/ 13918 h 568883"/>
                  <a:gd name="connsiteX1" fmla="*/ 672364 w 673460"/>
                  <a:gd name="connsiteY1" fmla="*/ 14845 h 568883"/>
                  <a:gd name="connsiteX2" fmla="*/ 673460 w 673460"/>
                  <a:gd name="connsiteY2" fmla="*/ 540528 h 568883"/>
                  <a:gd name="connsiteX3" fmla="*/ 43142 w 673460"/>
                  <a:gd name="connsiteY3" fmla="*/ 525832 h 568883"/>
                  <a:gd name="connsiteX4" fmla="*/ 84755 w 673460"/>
                  <a:gd name="connsiteY4" fmla="*/ 13918 h 568883"/>
                  <a:gd name="connsiteX0" fmla="*/ 84755 w 673460"/>
                  <a:gd name="connsiteY0" fmla="*/ 13918 h 559604"/>
                  <a:gd name="connsiteX1" fmla="*/ 672364 w 673460"/>
                  <a:gd name="connsiteY1" fmla="*/ 14845 h 559604"/>
                  <a:gd name="connsiteX2" fmla="*/ 673460 w 673460"/>
                  <a:gd name="connsiteY2" fmla="*/ 540528 h 559604"/>
                  <a:gd name="connsiteX3" fmla="*/ 43142 w 673460"/>
                  <a:gd name="connsiteY3" fmla="*/ 525832 h 559604"/>
                  <a:gd name="connsiteX4" fmla="*/ 84755 w 673460"/>
                  <a:gd name="connsiteY4" fmla="*/ 13918 h 559604"/>
                  <a:gd name="connsiteX0" fmla="*/ 84755 w 675575"/>
                  <a:gd name="connsiteY0" fmla="*/ 13918 h 562548"/>
                  <a:gd name="connsiteX1" fmla="*/ 672364 w 675575"/>
                  <a:gd name="connsiteY1" fmla="*/ 14845 h 562548"/>
                  <a:gd name="connsiteX2" fmla="*/ 675575 w 675575"/>
                  <a:gd name="connsiteY2" fmla="*/ 545971 h 562548"/>
                  <a:gd name="connsiteX3" fmla="*/ 43142 w 675575"/>
                  <a:gd name="connsiteY3" fmla="*/ 525832 h 562548"/>
                  <a:gd name="connsiteX4" fmla="*/ 84755 w 675575"/>
                  <a:gd name="connsiteY4" fmla="*/ 13918 h 562548"/>
                  <a:gd name="connsiteX0" fmla="*/ 84755 w 680821"/>
                  <a:gd name="connsiteY0" fmla="*/ 13918 h 562548"/>
                  <a:gd name="connsiteX1" fmla="*/ 680821 w 680821"/>
                  <a:gd name="connsiteY1" fmla="*/ 14845 h 562548"/>
                  <a:gd name="connsiteX2" fmla="*/ 675575 w 680821"/>
                  <a:gd name="connsiteY2" fmla="*/ 545971 h 562548"/>
                  <a:gd name="connsiteX3" fmla="*/ 43142 w 680821"/>
                  <a:gd name="connsiteY3" fmla="*/ 525832 h 562548"/>
                  <a:gd name="connsiteX4" fmla="*/ 84755 w 680821"/>
                  <a:gd name="connsiteY4" fmla="*/ 13918 h 562548"/>
                  <a:gd name="connsiteX0" fmla="*/ 72868 w 690076"/>
                  <a:gd name="connsiteY0" fmla="*/ 20358 h 559916"/>
                  <a:gd name="connsiteX1" fmla="*/ 690076 w 690076"/>
                  <a:gd name="connsiteY1" fmla="*/ 12213 h 559916"/>
                  <a:gd name="connsiteX2" fmla="*/ 684830 w 690076"/>
                  <a:gd name="connsiteY2" fmla="*/ 543339 h 559916"/>
                  <a:gd name="connsiteX3" fmla="*/ 52397 w 690076"/>
                  <a:gd name="connsiteY3" fmla="*/ 523200 h 559916"/>
                  <a:gd name="connsiteX4" fmla="*/ 72868 w 690076"/>
                  <a:gd name="connsiteY4" fmla="*/ 20358 h 559916"/>
                  <a:gd name="connsiteX0" fmla="*/ 72868 w 690076"/>
                  <a:gd name="connsiteY0" fmla="*/ 22718 h 562276"/>
                  <a:gd name="connsiteX1" fmla="*/ 690076 w 690076"/>
                  <a:gd name="connsiteY1" fmla="*/ 14573 h 562276"/>
                  <a:gd name="connsiteX2" fmla="*/ 684830 w 690076"/>
                  <a:gd name="connsiteY2" fmla="*/ 545699 h 562276"/>
                  <a:gd name="connsiteX3" fmla="*/ 52397 w 690076"/>
                  <a:gd name="connsiteY3" fmla="*/ 525560 h 562276"/>
                  <a:gd name="connsiteX4" fmla="*/ 72868 w 690076"/>
                  <a:gd name="connsiteY4" fmla="*/ 22718 h 562276"/>
                  <a:gd name="connsiteX0" fmla="*/ 59152 w 676360"/>
                  <a:gd name="connsiteY0" fmla="*/ 22718 h 562276"/>
                  <a:gd name="connsiteX1" fmla="*/ 676360 w 676360"/>
                  <a:gd name="connsiteY1" fmla="*/ 14573 h 562276"/>
                  <a:gd name="connsiteX2" fmla="*/ 671114 w 676360"/>
                  <a:gd name="connsiteY2" fmla="*/ 545699 h 562276"/>
                  <a:gd name="connsiteX3" fmla="*/ 38681 w 676360"/>
                  <a:gd name="connsiteY3" fmla="*/ 525560 h 562276"/>
                  <a:gd name="connsiteX4" fmla="*/ 103808 w 676360"/>
                  <a:gd name="connsiteY4" fmla="*/ 279153 h 562276"/>
                  <a:gd name="connsiteX5" fmla="*/ 59152 w 676360"/>
                  <a:gd name="connsiteY5" fmla="*/ 22718 h 562276"/>
                  <a:gd name="connsiteX0" fmla="*/ 41341 w 658549"/>
                  <a:gd name="connsiteY0" fmla="*/ 22718 h 562276"/>
                  <a:gd name="connsiteX1" fmla="*/ 658549 w 658549"/>
                  <a:gd name="connsiteY1" fmla="*/ 14573 h 562276"/>
                  <a:gd name="connsiteX2" fmla="*/ 653303 w 658549"/>
                  <a:gd name="connsiteY2" fmla="*/ 545699 h 562276"/>
                  <a:gd name="connsiteX3" fmla="*/ 20870 w 658549"/>
                  <a:gd name="connsiteY3" fmla="*/ 525560 h 562276"/>
                  <a:gd name="connsiteX4" fmla="*/ 85997 w 658549"/>
                  <a:gd name="connsiteY4" fmla="*/ 279153 h 562276"/>
                  <a:gd name="connsiteX5" fmla="*/ 41341 w 658549"/>
                  <a:gd name="connsiteY5" fmla="*/ 22718 h 562276"/>
                  <a:gd name="connsiteX0" fmla="*/ 23542 w 640750"/>
                  <a:gd name="connsiteY0" fmla="*/ 22718 h 562276"/>
                  <a:gd name="connsiteX1" fmla="*/ 640750 w 640750"/>
                  <a:gd name="connsiteY1" fmla="*/ 14573 h 562276"/>
                  <a:gd name="connsiteX2" fmla="*/ 635504 w 640750"/>
                  <a:gd name="connsiteY2" fmla="*/ 545699 h 562276"/>
                  <a:gd name="connsiteX3" fmla="*/ 3071 w 640750"/>
                  <a:gd name="connsiteY3" fmla="*/ 525560 h 562276"/>
                  <a:gd name="connsiteX4" fmla="*/ 68198 w 640750"/>
                  <a:gd name="connsiteY4" fmla="*/ 279153 h 562276"/>
                  <a:gd name="connsiteX5" fmla="*/ 23542 w 640750"/>
                  <a:gd name="connsiteY5" fmla="*/ 22718 h 562276"/>
                  <a:gd name="connsiteX0" fmla="*/ 24044 w 641252"/>
                  <a:gd name="connsiteY0" fmla="*/ 22718 h 562276"/>
                  <a:gd name="connsiteX1" fmla="*/ 641252 w 641252"/>
                  <a:gd name="connsiteY1" fmla="*/ 14573 h 562276"/>
                  <a:gd name="connsiteX2" fmla="*/ 636006 w 641252"/>
                  <a:gd name="connsiteY2" fmla="*/ 545699 h 562276"/>
                  <a:gd name="connsiteX3" fmla="*/ 3573 w 641252"/>
                  <a:gd name="connsiteY3" fmla="*/ 525560 h 562276"/>
                  <a:gd name="connsiteX4" fmla="*/ 68700 w 641252"/>
                  <a:gd name="connsiteY4" fmla="*/ 279153 h 562276"/>
                  <a:gd name="connsiteX5" fmla="*/ 24044 w 641252"/>
                  <a:gd name="connsiteY5" fmla="*/ 22718 h 562276"/>
                  <a:gd name="connsiteX0" fmla="*/ 31476 w 648684"/>
                  <a:gd name="connsiteY0" fmla="*/ 22718 h 562276"/>
                  <a:gd name="connsiteX1" fmla="*/ 648684 w 648684"/>
                  <a:gd name="connsiteY1" fmla="*/ 14573 h 562276"/>
                  <a:gd name="connsiteX2" fmla="*/ 643438 w 648684"/>
                  <a:gd name="connsiteY2" fmla="*/ 545699 h 562276"/>
                  <a:gd name="connsiteX3" fmla="*/ 11005 w 648684"/>
                  <a:gd name="connsiteY3" fmla="*/ 525560 h 562276"/>
                  <a:gd name="connsiteX4" fmla="*/ 76132 w 648684"/>
                  <a:gd name="connsiteY4" fmla="*/ 279153 h 562276"/>
                  <a:gd name="connsiteX5" fmla="*/ 31476 w 648684"/>
                  <a:gd name="connsiteY5" fmla="*/ 22718 h 562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84" h="562276">
                    <a:moveTo>
                      <a:pt x="31476" y="22718"/>
                    </a:moveTo>
                    <a:cubicBezTo>
                      <a:pt x="149400" y="4275"/>
                      <a:pt x="424155" y="-13389"/>
                      <a:pt x="648684" y="14573"/>
                    </a:cubicBezTo>
                    <a:cubicBezTo>
                      <a:pt x="609553" y="92898"/>
                      <a:pt x="618372" y="432838"/>
                      <a:pt x="643438" y="545699"/>
                    </a:cubicBezTo>
                    <a:cubicBezTo>
                      <a:pt x="542091" y="567277"/>
                      <a:pt x="109269" y="574431"/>
                      <a:pt x="11005" y="525560"/>
                    </a:cubicBezTo>
                    <a:cubicBezTo>
                      <a:pt x="-33861" y="453465"/>
                      <a:pt x="72720" y="362960"/>
                      <a:pt x="76132" y="279153"/>
                    </a:cubicBezTo>
                    <a:cubicBezTo>
                      <a:pt x="79544" y="195346"/>
                      <a:pt x="-41749" y="78155"/>
                      <a:pt x="31476" y="22718"/>
                    </a:cubicBezTo>
                    <a:close/>
                  </a:path>
                </a:pathLst>
              </a:custGeom>
              <a:noFill/>
              <a:ln w="25400"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34" name="文本框 33">
                <a:extLst>
                  <a:ext uri="{FF2B5EF4-FFF2-40B4-BE49-F238E27FC236}">
                    <a16:creationId xmlns:a16="http://schemas.microsoft.com/office/drawing/2014/main" id="{2F838A36-25B2-43DA-A3E3-48C177C3FEB0}"/>
                  </a:ext>
                </a:extLst>
              </p:cNvPr>
              <p:cNvSpPr txBox="1"/>
              <p:nvPr/>
            </p:nvSpPr>
            <p:spPr>
              <a:xfrm>
                <a:off x="431011" y="3713040"/>
                <a:ext cx="2968689" cy="2108539"/>
              </a:xfrm>
              <a:prstGeom prst="rect">
                <a:avLst/>
              </a:prstGeom>
              <a:noFill/>
            </p:spPr>
            <p:txBody>
              <a:bodyPr wrap="square">
                <a:spAutoFit/>
              </a:bodyPr>
              <a:lstStyle/>
              <a:p>
                <a:pPr marL="342900" marR="0" indent="-342900" defTabSz="914400">
                  <a:lnSpc>
                    <a:spcPct val="120000"/>
                  </a:lnSpc>
                  <a:spcBef>
                    <a:spcPct val="0"/>
                  </a:spcBef>
                  <a:buClrTx/>
                  <a:buSzTx/>
                  <a:buFontTx/>
                  <a:buNone/>
                  <a:defRPr/>
                </a:pP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 </a:t>
                </a:r>
                <a:r>
                  <a:rPr kumimoji="0" lang="en-US" altLang="zh-CN" sz="2400" kern="1200" cap="none" spc="0" normalizeH="0" baseline="0" noProof="1">
                    <a:solidFill>
                      <a:schemeClr val="tx1"/>
                    </a:solidFill>
                    <a:latin typeface="Arial" panose="020B0604020202020204" pitchFamily="34" charset="0"/>
                    <a:ea typeface="宋体" panose="02010600030101010101" pitchFamily="2" charset="-122"/>
                    <a:cs typeface="+mn-cs"/>
                  </a:rPr>
                  <a:t>① </a:t>
                </a:r>
                <a:r>
                  <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rPr>
                  <a:t>从系统输入端定义，</a:t>
                </a:r>
                <a:r>
                  <a:rPr kumimoji="0" lang="zh-CN" altLang="en-US" sz="2400" u="sng"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它等于系统的输入信号与反馈信号之差</a:t>
                </a:r>
                <a:endParaRPr kumimoji="0" lang="en-US" altLang="zh-CN" sz="24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L="342900" marR="0" indent="-342900" defTabSz="914400">
                  <a:lnSpc>
                    <a:spcPct val="120000"/>
                  </a:lnSpc>
                  <a:spcBef>
                    <a:spcPct val="0"/>
                  </a:spcBef>
                  <a:buClrTx/>
                  <a:buSzTx/>
                  <a:buFontTx/>
                  <a:buNone/>
                  <a:defRPr/>
                </a:pPr>
                <a:r>
                  <a:rPr kumimoji="0" lang="zh-CN" altLang="en-US" sz="2400" kern="1200" cap="none" spc="0" normalizeH="0" baseline="0" noProof="1">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rPr>
                  <a:t>    即</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E</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R</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B</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r>
                  <a:rPr kumimoji="0" lang="en-US" altLang="zh-CN" sz="2400" i="1" kern="1200" cap="none" spc="0" normalizeH="0" baseline="0" noProof="1">
                    <a:solidFill>
                      <a:schemeClr val="tx1"/>
                    </a:solidFill>
                    <a:latin typeface="Times New Roman" panose="02020603050405020304" pitchFamily="18" charset="0"/>
                    <a:ea typeface="宋体" panose="02010600030101010101" pitchFamily="2" charset="-122"/>
                    <a:cs typeface="+mn-cs"/>
                  </a:rPr>
                  <a:t>s</a:t>
                </a:r>
                <a:r>
                  <a:rPr kumimoji="0" lang="en-US" altLang="zh-CN" sz="2400" kern="1200" cap="none" spc="0" normalizeH="0" baseline="0" noProof="1">
                    <a:solidFill>
                      <a:schemeClr val="tx1"/>
                    </a:solidFill>
                    <a:latin typeface="Times New Roman" panose="02020603050405020304" pitchFamily="18" charset="0"/>
                    <a:ea typeface="宋体" panose="02010600030101010101" pitchFamily="2" charset="-122"/>
                    <a:cs typeface="+mn-cs"/>
                  </a:rPr>
                  <a:t>)</a:t>
                </a:r>
                <a:endParaRPr kumimoji="0" lang="zh-CN" altLang="en-US" sz="2400" kern="1200" cap="none" spc="0" normalizeH="0" baseline="0" noProof="1">
                  <a:solidFill>
                    <a:schemeClr val="tx1"/>
                  </a:solidFill>
                  <a:latin typeface="Arial" panose="020B0604020202020204" pitchFamily="34" charset="0"/>
                  <a:ea typeface="宋体" panose="02010600030101010101" pitchFamily="2" charset="-122"/>
                  <a:cs typeface="+mn-cs"/>
                  <a:sym typeface="Wingdings" panose="05000000000000000000" pitchFamily="2" charset="2"/>
                </a:endParaRPr>
              </a:p>
            </p:txBody>
          </p:sp>
          <p:sp>
            <p:nvSpPr>
              <p:cNvPr id="36" name="直接连接符 1429522">
                <a:extLst>
                  <a:ext uri="{FF2B5EF4-FFF2-40B4-BE49-F238E27FC236}">
                    <a16:creationId xmlns:a16="http://schemas.microsoft.com/office/drawing/2014/main" id="{0CF0BB6C-B75D-4C25-A216-81DAA8738946}"/>
                  </a:ext>
                </a:extLst>
              </p:cNvPr>
              <p:cNvSpPr/>
              <p:nvPr/>
            </p:nvSpPr>
            <p:spPr>
              <a:xfrm flipH="1" flipV="1">
                <a:off x="3349810" y="3726125"/>
                <a:ext cx="65862" cy="2133963"/>
              </a:xfrm>
              <a:prstGeom prst="line">
                <a:avLst/>
              </a:prstGeom>
              <a:ln w="38100" cap="flat" cmpd="sng">
                <a:solidFill>
                  <a:schemeClr val="tx1"/>
                </a:solidFill>
                <a:prstDash val="sysDot"/>
                <a:headEnd type="none" w="med" len="med"/>
                <a:tailEnd type="none" w="med" len="med"/>
              </a:ln>
            </p:spPr>
          </p:sp>
        </p:grpSp>
      </p:grpSp>
      <p:sp>
        <p:nvSpPr>
          <p:cNvPr id="38" name="文本框 37">
            <a:extLst>
              <a:ext uri="{FF2B5EF4-FFF2-40B4-BE49-F238E27FC236}">
                <a16:creationId xmlns:a16="http://schemas.microsoft.com/office/drawing/2014/main" id="{4402E126-E1D8-42A2-85CF-2858F07F0042}"/>
              </a:ext>
            </a:extLst>
          </p:cNvPr>
          <p:cNvSpPr txBox="1"/>
          <p:nvPr/>
        </p:nvSpPr>
        <p:spPr>
          <a:xfrm>
            <a:off x="6637898" y="4123616"/>
            <a:ext cx="2369365" cy="1384995"/>
          </a:xfrm>
          <a:prstGeom prst="rect">
            <a:avLst/>
          </a:prstGeom>
          <a:noFill/>
        </p:spPr>
        <p:txBody>
          <a:bodyPr wrap="square">
            <a:spAutoFit/>
          </a:bodyPr>
          <a:lstStyle/>
          <a:p>
            <a:r>
              <a:rPr kumimoji="0" lang="en-US" altLang="zh-CN" sz="2800" kern="1200" cap="none" spc="0" normalizeH="0" baseline="0" noProof="1">
                <a:solidFill>
                  <a:schemeClr val="tx1"/>
                </a:solidFill>
                <a:latin typeface="Times New Roman" panose="02020603050405020304" pitchFamily="18" charset="0"/>
                <a:ea typeface="宋体" panose="02010600030101010101" pitchFamily="2" charset="-122"/>
                <a:cs typeface="+mn-cs"/>
              </a:rPr>
              <a:t> </a:t>
            </a:r>
            <a:r>
              <a:rPr kumimoji="0" lang="zh-CN" altLang="en-US" sz="2800" kern="1200" cap="none" spc="0" normalizeH="0" baseline="0" noProof="1">
                <a:solidFill>
                  <a:srgbClr val="000099"/>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对于单位反馈系统，两种定义是一致的。</a:t>
            </a:r>
            <a:endParaRPr lang="zh-CN" altLang="en-US" sz="2800" dirty="0"/>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1731"/>
                                        </p:tgtEl>
                                        <p:attrNameLst>
                                          <p:attrName>style.visibility</p:attrName>
                                        </p:attrNameLst>
                                      </p:cBhvr>
                                      <p:to>
                                        <p:strVal val="visible"/>
                                      </p:to>
                                    </p:set>
                                    <p:animEffect transition="in" filter="blinds(horizontal)">
                                      <p:cBhvr>
                                        <p:cTn id="7" dur="500"/>
                                        <p:tgtEl>
                                          <p:spTgt spid="14817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81734"/>
                                        </p:tgtEl>
                                        <p:attrNameLst>
                                          <p:attrName>style.visibility</p:attrName>
                                        </p:attrNameLst>
                                      </p:cBhvr>
                                      <p:to>
                                        <p:strVal val="visible"/>
                                      </p:to>
                                    </p:set>
                                    <p:animEffect transition="in" filter="dissolve">
                                      <p:cBhvr>
                                        <p:cTn id="12" dur="500"/>
                                        <p:tgtEl>
                                          <p:spTgt spid="14817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81732">
                                            <p:txEl>
                                              <p:pRg st="0" end="0"/>
                                            </p:txEl>
                                          </p:spTgt>
                                        </p:tgtEl>
                                        <p:attrNameLst>
                                          <p:attrName>style.visibility</p:attrName>
                                        </p:attrNameLst>
                                      </p:cBhvr>
                                      <p:to>
                                        <p:strVal val="visible"/>
                                      </p:to>
                                    </p:set>
                                    <p:animEffect transition="in" filter="blinds(horizontal)">
                                      <p:cBhvr>
                                        <p:cTn id="17" dur="500"/>
                                        <p:tgtEl>
                                          <p:spTgt spid="148173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81732">
                                            <p:txEl>
                                              <p:pRg st="1" end="1"/>
                                            </p:txEl>
                                          </p:spTgt>
                                        </p:tgtEl>
                                        <p:attrNameLst>
                                          <p:attrName>style.visibility</p:attrName>
                                        </p:attrNameLst>
                                      </p:cBhvr>
                                      <p:to>
                                        <p:strVal val="visible"/>
                                      </p:to>
                                    </p:set>
                                    <p:animEffect transition="in" filter="blinds(horizontal)">
                                      <p:cBhvr>
                                        <p:cTn id="22" dur="500"/>
                                        <p:tgtEl>
                                          <p:spTgt spid="148173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1481756"/>
                                        </p:tgtEl>
                                        <p:attrNameLst>
                                          <p:attrName>style.visibility</p:attrName>
                                        </p:attrNameLst>
                                      </p:cBhvr>
                                      <p:to>
                                        <p:strVal val="visible"/>
                                      </p:to>
                                    </p:set>
                                    <p:animEffect transition="in" filter="wipe(down)">
                                      <p:cBhvr>
                                        <p:cTn id="27" dur="580">
                                          <p:stCondLst>
                                            <p:cond delay="0"/>
                                          </p:stCondLst>
                                        </p:cTn>
                                        <p:tgtEl>
                                          <p:spTgt spid="1481756"/>
                                        </p:tgtEl>
                                      </p:cBhvr>
                                    </p:animEffect>
                                    <p:anim calcmode="lin" valueType="num">
                                      <p:cBhvr>
                                        <p:cTn id="28" dur="1822" tmFilter="0,0; 0.14,0.36; 0.43,0.73; 0.71,0.91; 1.0,1.0">
                                          <p:stCondLst>
                                            <p:cond delay="0"/>
                                          </p:stCondLst>
                                        </p:cTn>
                                        <p:tgtEl>
                                          <p:spTgt spid="1481756"/>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1481756"/>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1481756"/>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1481756"/>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1481756"/>
                                        </p:tgtEl>
                                        <p:attrNameLst>
                                          <p:attrName>ppt_y</p:attrName>
                                        </p:attrNameLst>
                                      </p:cBhvr>
                                      <p:tavLst>
                                        <p:tav tm="0" fmla="#ppt_y-sin(pi*$)/81">
                                          <p:val>
                                            <p:fltVal val="0"/>
                                          </p:val>
                                        </p:tav>
                                        <p:tav tm="100000">
                                          <p:val>
                                            <p:fltVal val="1"/>
                                          </p:val>
                                        </p:tav>
                                      </p:tavLst>
                                    </p:anim>
                                    <p:animScale>
                                      <p:cBhvr>
                                        <p:cTn id="33" dur="26">
                                          <p:stCondLst>
                                            <p:cond delay="650"/>
                                          </p:stCondLst>
                                        </p:cTn>
                                        <p:tgtEl>
                                          <p:spTgt spid="1481756"/>
                                        </p:tgtEl>
                                      </p:cBhvr>
                                      <p:to x="100000" y="60000"/>
                                    </p:animScale>
                                    <p:animScale>
                                      <p:cBhvr>
                                        <p:cTn id="34" dur="166" decel="50000">
                                          <p:stCondLst>
                                            <p:cond delay="676"/>
                                          </p:stCondLst>
                                        </p:cTn>
                                        <p:tgtEl>
                                          <p:spTgt spid="1481756"/>
                                        </p:tgtEl>
                                      </p:cBhvr>
                                      <p:to x="100000" y="100000"/>
                                    </p:animScale>
                                    <p:animScale>
                                      <p:cBhvr>
                                        <p:cTn id="35" dur="26">
                                          <p:stCondLst>
                                            <p:cond delay="1312"/>
                                          </p:stCondLst>
                                        </p:cTn>
                                        <p:tgtEl>
                                          <p:spTgt spid="1481756"/>
                                        </p:tgtEl>
                                      </p:cBhvr>
                                      <p:to x="100000" y="80000"/>
                                    </p:animScale>
                                    <p:animScale>
                                      <p:cBhvr>
                                        <p:cTn id="36" dur="166" decel="50000">
                                          <p:stCondLst>
                                            <p:cond delay="1338"/>
                                          </p:stCondLst>
                                        </p:cTn>
                                        <p:tgtEl>
                                          <p:spTgt spid="1481756"/>
                                        </p:tgtEl>
                                      </p:cBhvr>
                                      <p:to x="100000" y="100000"/>
                                    </p:animScale>
                                    <p:animScale>
                                      <p:cBhvr>
                                        <p:cTn id="37" dur="26">
                                          <p:stCondLst>
                                            <p:cond delay="1642"/>
                                          </p:stCondLst>
                                        </p:cTn>
                                        <p:tgtEl>
                                          <p:spTgt spid="1481756"/>
                                        </p:tgtEl>
                                      </p:cBhvr>
                                      <p:to x="100000" y="90000"/>
                                    </p:animScale>
                                    <p:animScale>
                                      <p:cBhvr>
                                        <p:cTn id="38" dur="166" decel="50000">
                                          <p:stCondLst>
                                            <p:cond delay="1668"/>
                                          </p:stCondLst>
                                        </p:cTn>
                                        <p:tgtEl>
                                          <p:spTgt spid="1481756"/>
                                        </p:tgtEl>
                                      </p:cBhvr>
                                      <p:to x="100000" y="100000"/>
                                    </p:animScale>
                                    <p:animScale>
                                      <p:cBhvr>
                                        <p:cTn id="39" dur="26">
                                          <p:stCondLst>
                                            <p:cond delay="1808"/>
                                          </p:stCondLst>
                                        </p:cTn>
                                        <p:tgtEl>
                                          <p:spTgt spid="1481756"/>
                                        </p:tgtEl>
                                      </p:cBhvr>
                                      <p:to x="100000" y="95000"/>
                                    </p:animScale>
                                    <p:animScale>
                                      <p:cBhvr>
                                        <p:cTn id="40" dur="166" decel="50000">
                                          <p:stCondLst>
                                            <p:cond delay="1834"/>
                                          </p:stCondLst>
                                        </p:cTn>
                                        <p:tgtEl>
                                          <p:spTgt spid="1481756"/>
                                        </p:tgtEl>
                                      </p:cBhvr>
                                      <p:to x="100000" y="100000"/>
                                    </p:animScale>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circle(in)">
                                      <p:cBhvr>
                                        <p:cTn id="45" dur="20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circle(in)">
                                      <p:cBhvr>
                                        <p:cTn id="50"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1731" grpId="0"/>
      <p:bldP spid="1481732" grpId="0" build="p"/>
      <p:bldP spid="3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557507"/>
          <p:cNvSpPr/>
          <p:nvPr/>
        </p:nvSpPr>
        <p:spPr>
          <a:xfrm>
            <a:off x="5021263" y="124796"/>
            <a:ext cx="3995737" cy="346075"/>
          </a:xfrm>
          <a:prstGeom prst="rect">
            <a:avLst/>
          </a:prstGeom>
          <a:solidFill>
            <a:srgbClr val="FCFF91"/>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spAutoFit/>
          </a:bodyPr>
          <a:lstStyle/>
          <a:p>
            <a:pPr algn="ctr"/>
            <a:r>
              <a:rPr lang="zh-CN" altLang="en-US" sz="1600" b="0" dirty="0">
                <a:latin typeface="Arial" panose="020B0604020202020204" pitchFamily="34" charset="0"/>
                <a:ea typeface="华文中宋" panose="02010600040101010101" pitchFamily="2" charset="-122"/>
              </a:rPr>
              <a:t>稳态误差的计算－－误差传递函数的计算</a:t>
            </a:r>
          </a:p>
        </p:txBody>
      </p:sp>
      <p:grpSp>
        <p:nvGrpSpPr>
          <p:cNvPr id="1557509" name="组合 1557508"/>
          <p:cNvGrpSpPr/>
          <p:nvPr/>
        </p:nvGrpSpPr>
        <p:grpSpPr>
          <a:xfrm>
            <a:off x="1283818" y="2790237"/>
            <a:ext cx="6119813" cy="3165475"/>
            <a:chOff x="340" y="1752"/>
            <a:chExt cx="3855" cy="1994"/>
          </a:xfrm>
        </p:grpSpPr>
        <p:grpSp>
          <p:nvGrpSpPr>
            <p:cNvPr id="65568" name="组合 1557509"/>
            <p:cNvGrpSpPr/>
            <p:nvPr/>
          </p:nvGrpSpPr>
          <p:grpSpPr>
            <a:xfrm>
              <a:off x="1171" y="2115"/>
              <a:ext cx="3024" cy="952"/>
              <a:chOff x="657" y="2115"/>
              <a:chExt cx="3024" cy="918"/>
            </a:xfrm>
          </p:grpSpPr>
          <p:sp>
            <p:nvSpPr>
              <p:cNvPr id="65571" name="直接连接符 1557510"/>
              <p:cNvSpPr/>
              <p:nvPr/>
            </p:nvSpPr>
            <p:spPr>
              <a:xfrm>
                <a:off x="705" y="2361"/>
                <a:ext cx="336" cy="0"/>
              </a:xfrm>
              <a:prstGeom prst="line">
                <a:avLst/>
              </a:prstGeom>
              <a:ln w="12700" cap="sq" cmpd="sng">
                <a:solidFill>
                  <a:schemeClr val="tx1"/>
                </a:solidFill>
                <a:prstDash val="solid"/>
                <a:headEnd type="none" w="sm" len="sm"/>
                <a:tailEnd type="triangle" w="sm" len="sm"/>
              </a:ln>
            </p:spPr>
          </p:sp>
          <p:sp>
            <p:nvSpPr>
              <p:cNvPr id="65572" name="流程图: 汇总连接 1557511"/>
              <p:cNvSpPr/>
              <p:nvPr/>
            </p:nvSpPr>
            <p:spPr>
              <a:xfrm>
                <a:off x="1041" y="2265"/>
                <a:ext cx="192" cy="192"/>
              </a:xfrm>
              <a:prstGeom prst="flowChartSummingJunction">
                <a:avLst/>
              </a:prstGeom>
              <a:no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sp>
            <p:nvSpPr>
              <p:cNvPr id="65573" name="直接连接符 1557512"/>
              <p:cNvSpPr/>
              <p:nvPr/>
            </p:nvSpPr>
            <p:spPr>
              <a:xfrm>
                <a:off x="1233" y="2361"/>
                <a:ext cx="1920" cy="0"/>
              </a:xfrm>
              <a:prstGeom prst="line">
                <a:avLst/>
              </a:prstGeom>
              <a:ln w="12700" cap="sq" cmpd="sng">
                <a:solidFill>
                  <a:schemeClr val="tx1"/>
                </a:solidFill>
                <a:prstDash val="solid"/>
                <a:headEnd type="none" w="sm" len="sm"/>
                <a:tailEnd type="none" w="sm" len="sm"/>
              </a:ln>
            </p:spPr>
          </p:sp>
          <p:sp>
            <p:nvSpPr>
              <p:cNvPr id="65574" name="矩形 1557513"/>
              <p:cNvSpPr/>
              <p:nvPr/>
            </p:nvSpPr>
            <p:spPr>
              <a:xfrm>
                <a:off x="2721" y="2680"/>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5575" name="对象 1557514"/>
              <p:cNvGraphicFramePr/>
              <p:nvPr/>
            </p:nvGraphicFramePr>
            <p:xfrm>
              <a:off x="2776" y="2697"/>
              <a:ext cx="523" cy="288"/>
            </p:xfrm>
            <a:graphic>
              <a:graphicData uri="http://schemas.openxmlformats.org/presentationml/2006/ole">
                <mc:AlternateContent xmlns:mc="http://schemas.openxmlformats.org/markup-compatibility/2006">
                  <mc:Choice xmlns:v="urn:schemas-microsoft-com:vml" Requires="v">
                    <p:oleObj spid="_x0000_s42097" r:id="rId3" imgW="393065" imgH="215900" progId="Equation.3">
                      <p:embed/>
                    </p:oleObj>
                  </mc:Choice>
                  <mc:Fallback>
                    <p:oleObj r:id="rId3" imgW="393065" imgH="215900" progId="Equation.3">
                      <p:embed/>
                      <p:pic>
                        <p:nvPicPr>
                          <p:cNvPr id="0" name="图片 3173"/>
                          <p:cNvPicPr/>
                          <p:nvPr/>
                        </p:nvPicPr>
                        <p:blipFill>
                          <a:blip r:embed="rId4"/>
                          <a:stretch>
                            <a:fillRect/>
                          </a:stretch>
                        </p:blipFill>
                        <p:spPr>
                          <a:xfrm>
                            <a:off x="2776" y="2697"/>
                            <a:ext cx="523" cy="288"/>
                          </a:xfrm>
                          <a:prstGeom prst="rect">
                            <a:avLst/>
                          </a:prstGeom>
                          <a:solidFill>
                            <a:schemeClr val="accent1"/>
                          </a:solidFill>
                          <a:ln w="38100">
                            <a:noFill/>
                            <a:miter/>
                          </a:ln>
                        </p:spPr>
                      </p:pic>
                    </p:oleObj>
                  </mc:Fallback>
                </mc:AlternateContent>
              </a:graphicData>
            </a:graphic>
          </p:graphicFrame>
          <p:sp>
            <p:nvSpPr>
              <p:cNvPr id="65576" name="直接连接符 1557515"/>
              <p:cNvSpPr/>
              <p:nvPr/>
            </p:nvSpPr>
            <p:spPr>
              <a:xfrm>
                <a:off x="3153" y="2361"/>
                <a:ext cx="528" cy="0"/>
              </a:xfrm>
              <a:prstGeom prst="line">
                <a:avLst/>
              </a:prstGeom>
              <a:ln w="12700" cap="sq" cmpd="sng">
                <a:solidFill>
                  <a:schemeClr val="tx1"/>
                </a:solidFill>
                <a:prstDash val="solid"/>
                <a:headEnd type="none" w="sm" len="sm"/>
                <a:tailEnd type="triangle" w="sm" len="sm"/>
              </a:ln>
            </p:spPr>
          </p:sp>
          <p:sp>
            <p:nvSpPr>
              <p:cNvPr id="65577" name="矩形 1557516"/>
              <p:cNvSpPr/>
              <p:nvPr/>
            </p:nvSpPr>
            <p:spPr>
              <a:xfrm>
                <a:off x="1233" y="2697"/>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5578" name="对象 1557517"/>
              <p:cNvGraphicFramePr/>
              <p:nvPr/>
            </p:nvGraphicFramePr>
            <p:xfrm>
              <a:off x="1303" y="2743"/>
              <a:ext cx="473" cy="272"/>
            </p:xfrm>
            <a:graphic>
              <a:graphicData uri="http://schemas.openxmlformats.org/presentationml/2006/ole">
                <mc:AlternateContent xmlns:mc="http://schemas.openxmlformats.org/markup-compatibility/2006">
                  <mc:Choice xmlns:v="urn:schemas-microsoft-com:vml" Requires="v">
                    <p:oleObj spid="_x0000_s42098" r:id="rId5" imgW="355600" imgH="203200" progId="Equation.3">
                      <p:embed/>
                    </p:oleObj>
                  </mc:Choice>
                  <mc:Fallback>
                    <p:oleObj r:id="rId5" imgW="355600" imgH="203200" progId="Equation.3">
                      <p:embed/>
                      <p:pic>
                        <p:nvPicPr>
                          <p:cNvPr id="0" name="图片 3171"/>
                          <p:cNvPicPr/>
                          <p:nvPr/>
                        </p:nvPicPr>
                        <p:blipFill>
                          <a:blip r:embed="rId6"/>
                          <a:stretch>
                            <a:fillRect/>
                          </a:stretch>
                        </p:blipFill>
                        <p:spPr>
                          <a:xfrm>
                            <a:off x="1303" y="2743"/>
                            <a:ext cx="473" cy="272"/>
                          </a:xfrm>
                          <a:prstGeom prst="rect">
                            <a:avLst/>
                          </a:prstGeom>
                          <a:solidFill>
                            <a:schemeClr val="accent1"/>
                          </a:solidFill>
                          <a:ln w="38100">
                            <a:noFill/>
                            <a:miter/>
                          </a:ln>
                        </p:spPr>
                      </p:pic>
                    </p:oleObj>
                  </mc:Fallback>
                </mc:AlternateContent>
              </a:graphicData>
            </a:graphic>
          </p:graphicFrame>
          <p:sp>
            <p:nvSpPr>
              <p:cNvPr id="65579" name="直接连接符 1557518"/>
              <p:cNvSpPr/>
              <p:nvPr/>
            </p:nvSpPr>
            <p:spPr>
              <a:xfrm>
                <a:off x="3441" y="2361"/>
                <a:ext cx="0" cy="528"/>
              </a:xfrm>
              <a:prstGeom prst="line">
                <a:avLst/>
              </a:prstGeom>
              <a:ln w="12700" cap="sq" cmpd="sng">
                <a:solidFill>
                  <a:schemeClr val="tx1"/>
                </a:solidFill>
                <a:prstDash val="solid"/>
                <a:headEnd type="none" w="sm" len="sm"/>
                <a:tailEnd type="none" w="sm" len="sm"/>
              </a:ln>
            </p:spPr>
          </p:sp>
          <p:sp>
            <p:nvSpPr>
              <p:cNvPr id="65580" name="直接连接符 1557519"/>
              <p:cNvSpPr/>
              <p:nvPr/>
            </p:nvSpPr>
            <p:spPr>
              <a:xfrm>
                <a:off x="1137" y="2457"/>
                <a:ext cx="0" cy="432"/>
              </a:xfrm>
              <a:prstGeom prst="line">
                <a:avLst/>
              </a:prstGeom>
              <a:ln w="12700" cap="sq" cmpd="sng">
                <a:solidFill>
                  <a:schemeClr val="tx1"/>
                </a:solidFill>
                <a:prstDash val="solid"/>
                <a:headEnd type="triangle" w="med" len="med"/>
                <a:tailEnd type="none" w="sm" len="sm"/>
              </a:ln>
            </p:spPr>
          </p:sp>
          <p:graphicFrame>
            <p:nvGraphicFramePr>
              <p:cNvPr id="65581" name="对象 1557520"/>
              <p:cNvGraphicFramePr/>
              <p:nvPr/>
            </p:nvGraphicFramePr>
            <p:xfrm>
              <a:off x="657" y="2115"/>
              <a:ext cx="384" cy="246"/>
            </p:xfrm>
            <a:graphic>
              <a:graphicData uri="http://schemas.openxmlformats.org/presentationml/2006/ole">
                <mc:AlternateContent xmlns:mc="http://schemas.openxmlformats.org/markup-compatibility/2006">
                  <mc:Choice xmlns:v="urn:schemas-microsoft-com:vml" Requires="v">
                    <p:oleObj spid="_x0000_s42099" r:id="rId7" imgW="264160" imgH="165100" progId="Equation.3">
                      <p:embed/>
                    </p:oleObj>
                  </mc:Choice>
                  <mc:Fallback>
                    <p:oleObj r:id="rId7" imgW="264160" imgH="165100" progId="Equation.3">
                      <p:embed/>
                      <p:pic>
                        <p:nvPicPr>
                          <p:cNvPr id="0" name="图片 3172"/>
                          <p:cNvPicPr/>
                          <p:nvPr/>
                        </p:nvPicPr>
                        <p:blipFill>
                          <a:blip r:embed="rId8">
                            <a:clrChange>
                              <a:clrFrom>
                                <a:srgbClr val="000000"/>
                              </a:clrFrom>
                              <a:clrTo>
                                <a:srgbClr val="000000"/>
                              </a:clrTo>
                            </a:clrChange>
                          </a:blip>
                          <a:stretch>
                            <a:fillRect/>
                          </a:stretch>
                        </p:blipFill>
                        <p:spPr>
                          <a:xfrm>
                            <a:off x="657" y="2115"/>
                            <a:ext cx="384" cy="246"/>
                          </a:xfrm>
                          <a:prstGeom prst="rect">
                            <a:avLst/>
                          </a:prstGeom>
                          <a:noFill/>
                          <a:ln w="38100">
                            <a:noFill/>
                            <a:miter/>
                          </a:ln>
                        </p:spPr>
                      </p:pic>
                    </p:oleObj>
                  </mc:Fallback>
                </mc:AlternateContent>
              </a:graphicData>
            </a:graphic>
          </p:graphicFrame>
          <p:sp>
            <p:nvSpPr>
              <p:cNvPr id="65582" name="文本框 1557521"/>
              <p:cNvSpPr txBox="1"/>
              <p:nvPr/>
            </p:nvSpPr>
            <p:spPr>
              <a:xfrm>
                <a:off x="1137" y="2361"/>
                <a:ext cx="192" cy="278"/>
              </a:xfrm>
              <a:prstGeom prst="rect">
                <a:avLst/>
              </a:prstGeom>
              <a:noFill/>
              <a:ln w="12700">
                <a:noFill/>
              </a:ln>
            </p:spPr>
            <p:txBody>
              <a:bodyPr>
                <a:spAutoFit/>
              </a:bodyPr>
              <a:lstStyle/>
              <a:p>
                <a:pPr algn="ctr"/>
                <a:r>
                  <a:rPr lang="en-US" altLang="zh-CN" sz="2400" b="0" dirty="0">
                    <a:latin typeface="华文中宋" panose="02010600040101010101" pitchFamily="2" charset="-122"/>
                    <a:ea typeface="华文中宋" panose="02010600040101010101" pitchFamily="2" charset="-122"/>
                  </a:rPr>
                  <a:t>-</a:t>
                </a:r>
              </a:p>
            </p:txBody>
          </p:sp>
          <p:graphicFrame>
            <p:nvGraphicFramePr>
              <p:cNvPr id="65583" name="对象 1557522"/>
              <p:cNvGraphicFramePr/>
              <p:nvPr/>
            </p:nvGraphicFramePr>
            <p:xfrm>
              <a:off x="753" y="2601"/>
              <a:ext cx="388" cy="249"/>
            </p:xfrm>
            <a:graphic>
              <a:graphicData uri="http://schemas.openxmlformats.org/presentationml/2006/ole">
                <mc:AlternateContent xmlns:mc="http://schemas.openxmlformats.org/markup-compatibility/2006">
                  <mc:Choice xmlns:v="urn:schemas-microsoft-com:vml" Requires="v">
                    <p:oleObj spid="_x0000_s42100" r:id="rId9" imgW="264160" imgH="165100" progId="Equation.3">
                      <p:embed/>
                    </p:oleObj>
                  </mc:Choice>
                  <mc:Fallback>
                    <p:oleObj r:id="rId9" imgW="264160" imgH="165100" progId="Equation.3">
                      <p:embed/>
                      <p:pic>
                        <p:nvPicPr>
                          <p:cNvPr id="0" name="图片 3174"/>
                          <p:cNvPicPr/>
                          <p:nvPr/>
                        </p:nvPicPr>
                        <p:blipFill>
                          <a:blip r:embed="rId10">
                            <a:clrChange>
                              <a:clrFrom>
                                <a:srgbClr val="000000"/>
                              </a:clrFrom>
                              <a:clrTo>
                                <a:srgbClr val="000000"/>
                              </a:clrTo>
                            </a:clrChange>
                          </a:blip>
                          <a:stretch>
                            <a:fillRect/>
                          </a:stretch>
                        </p:blipFill>
                        <p:spPr>
                          <a:xfrm>
                            <a:off x="753" y="2601"/>
                            <a:ext cx="388" cy="249"/>
                          </a:xfrm>
                          <a:prstGeom prst="rect">
                            <a:avLst/>
                          </a:prstGeom>
                          <a:noFill/>
                          <a:ln w="38100">
                            <a:noFill/>
                            <a:miter/>
                          </a:ln>
                        </p:spPr>
                      </p:pic>
                    </p:oleObj>
                  </mc:Fallback>
                </mc:AlternateContent>
              </a:graphicData>
            </a:graphic>
          </p:graphicFrame>
          <p:graphicFrame>
            <p:nvGraphicFramePr>
              <p:cNvPr id="65584" name="对象 1557523"/>
              <p:cNvGraphicFramePr/>
              <p:nvPr/>
            </p:nvGraphicFramePr>
            <p:xfrm>
              <a:off x="3105" y="2120"/>
              <a:ext cx="392" cy="241"/>
            </p:xfrm>
            <a:graphic>
              <a:graphicData uri="http://schemas.openxmlformats.org/presentationml/2006/ole">
                <mc:AlternateContent xmlns:mc="http://schemas.openxmlformats.org/markup-compatibility/2006">
                  <mc:Choice xmlns:v="urn:schemas-microsoft-com:vml" Requires="v">
                    <p:oleObj spid="_x0000_s42101" r:id="rId11" imgW="275590" imgH="165100" progId="Equation.3">
                      <p:embed/>
                    </p:oleObj>
                  </mc:Choice>
                  <mc:Fallback>
                    <p:oleObj r:id="rId11" imgW="275590" imgH="165100" progId="Equation.3">
                      <p:embed/>
                      <p:pic>
                        <p:nvPicPr>
                          <p:cNvPr id="0" name="图片 3178"/>
                          <p:cNvPicPr/>
                          <p:nvPr/>
                        </p:nvPicPr>
                        <p:blipFill>
                          <a:blip r:embed="rId12">
                            <a:clrChange>
                              <a:clrFrom>
                                <a:srgbClr val="000000"/>
                              </a:clrFrom>
                              <a:clrTo>
                                <a:srgbClr val="000000"/>
                              </a:clrTo>
                            </a:clrChange>
                          </a:blip>
                          <a:stretch>
                            <a:fillRect/>
                          </a:stretch>
                        </p:blipFill>
                        <p:spPr>
                          <a:xfrm>
                            <a:off x="3105" y="2120"/>
                            <a:ext cx="392" cy="241"/>
                          </a:xfrm>
                          <a:prstGeom prst="rect">
                            <a:avLst/>
                          </a:prstGeom>
                          <a:noFill/>
                          <a:ln w="38100">
                            <a:noFill/>
                            <a:miter/>
                          </a:ln>
                        </p:spPr>
                      </p:pic>
                    </p:oleObj>
                  </mc:Fallback>
                </mc:AlternateContent>
              </a:graphicData>
            </a:graphic>
          </p:graphicFrame>
          <p:sp>
            <p:nvSpPr>
              <p:cNvPr id="65585" name="矩形 1557524"/>
              <p:cNvSpPr/>
              <p:nvPr/>
            </p:nvSpPr>
            <p:spPr>
              <a:xfrm>
                <a:off x="1953" y="2697"/>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5586" name="对象 1557525"/>
              <p:cNvGraphicFramePr/>
              <p:nvPr/>
            </p:nvGraphicFramePr>
            <p:xfrm>
              <a:off x="2039" y="2714"/>
              <a:ext cx="490" cy="288"/>
            </p:xfrm>
            <a:graphic>
              <a:graphicData uri="http://schemas.openxmlformats.org/presentationml/2006/ole">
                <mc:AlternateContent xmlns:mc="http://schemas.openxmlformats.org/markup-compatibility/2006">
                  <mc:Choice xmlns:v="urn:schemas-microsoft-com:vml" Requires="v">
                    <p:oleObj spid="_x0000_s42102" r:id="rId13" imgW="367665" imgH="215900" progId="Equation.3">
                      <p:embed/>
                    </p:oleObj>
                  </mc:Choice>
                  <mc:Fallback>
                    <p:oleObj r:id="rId13" imgW="367665" imgH="215900" progId="Equation.3">
                      <p:embed/>
                      <p:pic>
                        <p:nvPicPr>
                          <p:cNvPr id="0" name="图片 3175"/>
                          <p:cNvPicPr/>
                          <p:nvPr/>
                        </p:nvPicPr>
                        <p:blipFill>
                          <a:blip r:embed="rId14"/>
                          <a:stretch>
                            <a:fillRect/>
                          </a:stretch>
                        </p:blipFill>
                        <p:spPr>
                          <a:xfrm>
                            <a:off x="2039" y="2714"/>
                            <a:ext cx="490" cy="288"/>
                          </a:xfrm>
                          <a:prstGeom prst="rect">
                            <a:avLst/>
                          </a:prstGeom>
                          <a:solidFill>
                            <a:schemeClr val="accent1"/>
                          </a:solidFill>
                          <a:ln w="38100">
                            <a:noFill/>
                            <a:miter/>
                          </a:ln>
                        </p:spPr>
                      </p:pic>
                    </p:oleObj>
                  </mc:Fallback>
                </mc:AlternateContent>
              </a:graphicData>
            </a:graphic>
          </p:graphicFrame>
          <p:sp>
            <p:nvSpPr>
              <p:cNvPr id="65587" name="直接连接符 1557526"/>
              <p:cNvSpPr/>
              <p:nvPr/>
            </p:nvSpPr>
            <p:spPr>
              <a:xfrm>
                <a:off x="1137" y="2889"/>
                <a:ext cx="96" cy="0"/>
              </a:xfrm>
              <a:prstGeom prst="line">
                <a:avLst/>
              </a:prstGeom>
              <a:ln w="12700" cap="sq" cmpd="sng">
                <a:solidFill>
                  <a:schemeClr val="tx1"/>
                </a:solidFill>
                <a:prstDash val="solid"/>
                <a:headEnd type="none" w="sm" len="sm"/>
                <a:tailEnd type="none" w="sm" len="sm"/>
              </a:ln>
            </p:spPr>
          </p:sp>
          <p:sp>
            <p:nvSpPr>
              <p:cNvPr id="65588" name="直接连接符 1557527"/>
              <p:cNvSpPr/>
              <p:nvPr/>
            </p:nvSpPr>
            <p:spPr>
              <a:xfrm flipH="1">
                <a:off x="3345" y="2889"/>
                <a:ext cx="96" cy="0"/>
              </a:xfrm>
              <a:prstGeom prst="line">
                <a:avLst/>
              </a:prstGeom>
              <a:ln w="12700" cap="sq" cmpd="sng">
                <a:solidFill>
                  <a:schemeClr val="tx1"/>
                </a:solidFill>
                <a:prstDash val="solid"/>
                <a:headEnd type="none" w="sm" len="sm"/>
                <a:tailEnd type="none" w="sm" len="sm"/>
              </a:ln>
            </p:spPr>
          </p:sp>
          <p:sp>
            <p:nvSpPr>
              <p:cNvPr id="65589" name="直接连接符 1557528"/>
              <p:cNvSpPr/>
              <p:nvPr/>
            </p:nvSpPr>
            <p:spPr>
              <a:xfrm>
                <a:off x="1857" y="2889"/>
                <a:ext cx="96" cy="0"/>
              </a:xfrm>
              <a:prstGeom prst="line">
                <a:avLst/>
              </a:prstGeom>
              <a:ln w="12700" cap="sq" cmpd="sng">
                <a:solidFill>
                  <a:schemeClr val="tx1"/>
                </a:solidFill>
                <a:prstDash val="solid"/>
                <a:headEnd type="none" w="sm" len="sm"/>
                <a:tailEnd type="none" w="sm" len="sm"/>
              </a:ln>
            </p:spPr>
          </p:sp>
          <p:sp>
            <p:nvSpPr>
              <p:cNvPr id="65590" name="直接连接符 1557529"/>
              <p:cNvSpPr/>
              <p:nvPr/>
            </p:nvSpPr>
            <p:spPr>
              <a:xfrm>
                <a:off x="2577" y="2889"/>
                <a:ext cx="144" cy="0"/>
              </a:xfrm>
              <a:prstGeom prst="line">
                <a:avLst/>
              </a:prstGeom>
              <a:ln w="12700" cap="sq" cmpd="sng">
                <a:solidFill>
                  <a:schemeClr val="tx1"/>
                </a:solidFill>
                <a:prstDash val="solid"/>
                <a:headEnd type="none" w="sm" len="sm"/>
                <a:tailEnd type="none" w="sm" len="sm"/>
              </a:ln>
            </p:spPr>
          </p:sp>
          <p:graphicFrame>
            <p:nvGraphicFramePr>
              <p:cNvPr id="65591" name="对象 1557530"/>
              <p:cNvGraphicFramePr/>
              <p:nvPr/>
            </p:nvGraphicFramePr>
            <p:xfrm>
              <a:off x="1665" y="2361"/>
              <a:ext cx="432" cy="266"/>
            </p:xfrm>
            <a:graphic>
              <a:graphicData uri="http://schemas.openxmlformats.org/presentationml/2006/ole">
                <mc:AlternateContent xmlns:mc="http://schemas.openxmlformats.org/markup-compatibility/2006">
                  <mc:Choice xmlns:v="urn:schemas-microsoft-com:vml" Requires="v">
                    <p:oleObj spid="_x0000_s42103" r:id="rId15" imgW="275590" imgH="165100" progId="Equation.3">
                      <p:embed/>
                    </p:oleObj>
                  </mc:Choice>
                  <mc:Fallback>
                    <p:oleObj r:id="rId15" imgW="275590" imgH="165100" progId="Equation.3">
                      <p:embed/>
                      <p:pic>
                        <p:nvPicPr>
                          <p:cNvPr id="0" name="图片 3179"/>
                          <p:cNvPicPr/>
                          <p:nvPr/>
                        </p:nvPicPr>
                        <p:blipFill>
                          <a:blip r:embed="rId16">
                            <a:clrChange>
                              <a:clrFrom>
                                <a:srgbClr val="000000"/>
                              </a:clrFrom>
                              <a:clrTo>
                                <a:srgbClr val="660033"/>
                              </a:clrTo>
                            </a:clrChange>
                          </a:blip>
                          <a:stretch>
                            <a:fillRect/>
                          </a:stretch>
                        </p:blipFill>
                        <p:spPr>
                          <a:xfrm>
                            <a:off x="1665" y="2361"/>
                            <a:ext cx="432" cy="266"/>
                          </a:xfrm>
                          <a:prstGeom prst="rect">
                            <a:avLst/>
                          </a:prstGeom>
                          <a:noFill/>
                          <a:ln w="38100">
                            <a:noFill/>
                            <a:miter/>
                          </a:ln>
                        </p:spPr>
                      </p:pic>
                    </p:oleObj>
                  </mc:Fallback>
                </mc:AlternateContent>
              </a:graphicData>
            </a:graphic>
          </p:graphicFrame>
          <p:sp>
            <p:nvSpPr>
              <p:cNvPr id="65592" name="直接连接符 1557531"/>
              <p:cNvSpPr/>
              <p:nvPr/>
            </p:nvSpPr>
            <p:spPr>
              <a:xfrm>
                <a:off x="1905" y="2601"/>
                <a:ext cx="0" cy="240"/>
              </a:xfrm>
              <a:prstGeom prst="line">
                <a:avLst/>
              </a:prstGeom>
              <a:ln w="9525" cap="flat" cmpd="sng">
                <a:solidFill>
                  <a:srgbClr val="800000"/>
                </a:solidFill>
                <a:prstDash val="solid"/>
                <a:miter/>
                <a:headEnd type="none" w="med" len="med"/>
                <a:tailEnd type="triangle" w="med" len="med"/>
              </a:ln>
            </p:spPr>
          </p:sp>
        </p:grpSp>
        <p:graphicFrame>
          <p:nvGraphicFramePr>
            <p:cNvPr id="65569" name="对象 1557532"/>
            <p:cNvGraphicFramePr/>
            <p:nvPr/>
          </p:nvGraphicFramePr>
          <p:xfrm>
            <a:off x="1202" y="3203"/>
            <a:ext cx="2812" cy="543"/>
          </p:xfrm>
          <a:graphic>
            <a:graphicData uri="http://schemas.openxmlformats.org/presentationml/2006/ole">
              <mc:AlternateContent xmlns:mc="http://schemas.openxmlformats.org/markup-compatibility/2006">
                <mc:Choice xmlns:v="urn:schemas-microsoft-com:vml" Requires="v">
                  <p:oleObj spid="_x0000_s42104" r:id="rId17" imgW="1927860" imgH="363855" progId="Equation.3">
                    <p:embed/>
                  </p:oleObj>
                </mc:Choice>
                <mc:Fallback>
                  <p:oleObj r:id="rId17" imgW="1927860" imgH="363855" progId="Equation.3">
                    <p:embed/>
                    <p:pic>
                      <p:nvPicPr>
                        <p:cNvPr id="0" name="图片 3176"/>
                        <p:cNvPicPr/>
                        <p:nvPr/>
                      </p:nvPicPr>
                      <p:blipFill>
                        <a:blip r:embed="rId18">
                          <a:clrChange>
                            <a:clrFrom>
                              <a:srgbClr val="000000"/>
                            </a:clrFrom>
                            <a:clrTo>
                              <a:srgbClr val="000000"/>
                            </a:clrTo>
                          </a:clrChange>
                        </a:blip>
                        <a:stretch>
                          <a:fillRect/>
                        </a:stretch>
                      </p:blipFill>
                      <p:spPr>
                        <a:xfrm>
                          <a:off x="1202" y="3203"/>
                          <a:ext cx="2812" cy="543"/>
                        </a:xfrm>
                        <a:prstGeom prst="rect">
                          <a:avLst/>
                        </a:prstGeom>
                        <a:noFill/>
                        <a:ln w="38100">
                          <a:noFill/>
                          <a:miter/>
                        </a:ln>
                      </p:spPr>
                    </p:pic>
                  </p:oleObj>
                </mc:Fallback>
              </mc:AlternateContent>
            </a:graphicData>
          </a:graphic>
        </p:graphicFrame>
        <p:sp>
          <p:nvSpPr>
            <p:cNvPr id="65570" name="文本框 1557533"/>
            <p:cNvSpPr txBox="1"/>
            <p:nvPr/>
          </p:nvSpPr>
          <p:spPr>
            <a:xfrm>
              <a:off x="340" y="1752"/>
              <a:ext cx="3648" cy="288"/>
            </a:xfrm>
            <a:prstGeom prst="rect">
              <a:avLst/>
            </a:prstGeom>
            <a:noFill/>
            <a:ln w="9525">
              <a:noFill/>
            </a:ln>
          </p:spPr>
          <p:txBody>
            <a:bodyPr>
              <a:spAutoFit/>
            </a:bodyPr>
            <a:lstStyle/>
            <a:p>
              <a:pPr>
                <a:buBlip>
                  <a:blip r:embed="rId19"/>
                </a:buBlip>
              </a:pPr>
              <a:r>
                <a:rPr lang="en-US" altLang="zh-CN" sz="2400" b="0" dirty="0">
                  <a:latin typeface="Times New Roman" panose="02020603050405020304" pitchFamily="18" charset="0"/>
                  <a:ea typeface="华文中宋" panose="02010600040101010101" pitchFamily="2" charset="-122"/>
                </a:rPr>
                <a:t>   </a:t>
              </a:r>
              <a:r>
                <a:rPr lang="zh-CN" altLang="en-US" sz="2400" b="0" dirty="0">
                  <a:latin typeface="Times New Roman" panose="02020603050405020304" pitchFamily="18" charset="0"/>
                  <a:ea typeface="华文中宋" panose="02010600040101010101" pitchFamily="2" charset="-122"/>
                </a:rPr>
                <a:t>给定作用下的误差传递函数</a:t>
              </a:r>
            </a:p>
          </p:txBody>
        </p:sp>
      </p:grpSp>
      <p:grpSp>
        <p:nvGrpSpPr>
          <p:cNvPr id="1557535" name="组合 1557534"/>
          <p:cNvGrpSpPr/>
          <p:nvPr/>
        </p:nvGrpSpPr>
        <p:grpSpPr>
          <a:xfrm>
            <a:off x="1049041" y="153339"/>
            <a:ext cx="7222779" cy="2555876"/>
            <a:chOff x="568" y="51"/>
            <a:chExt cx="3310" cy="1610"/>
          </a:xfrm>
        </p:grpSpPr>
        <p:sp>
          <p:nvSpPr>
            <p:cNvPr id="65541" name="文本框 1557535"/>
            <p:cNvSpPr txBox="1"/>
            <p:nvPr/>
          </p:nvSpPr>
          <p:spPr>
            <a:xfrm>
              <a:off x="568" y="51"/>
              <a:ext cx="2928" cy="290"/>
            </a:xfrm>
            <a:prstGeom prst="rect">
              <a:avLst/>
            </a:prstGeom>
            <a:noFill/>
            <a:ln w="9525">
              <a:noFill/>
            </a:ln>
          </p:spPr>
          <p:txBody>
            <a:bodyPr>
              <a:spAutoFit/>
            </a:bodyPr>
            <a:lstStyle/>
            <a:p>
              <a:r>
                <a:rPr lang="en-US" altLang="zh-CN" sz="2400" b="0" dirty="0">
                  <a:solidFill>
                    <a:srgbClr val="0000FF"/>
                  </a:solidFill>
                  <a:latin typeface="Times New Roman" panose="02020603050405020304" pitchFamily="18" charset="0"/>
                  <a:ea typeface="华文细黑" panose="02010600040101010101" pitchFamily="2" charset="-122"/>
                </a:rPr>
                <a:t>2 </a:t>
              </a:r>
              <a:r>
                <a:rPr lang="zh-CN" altLang="en-US" sz="2400" b="0" dirty="0">
                  <a:solidFill>
                    <a:srgbClr val="0000FF"/>
                  </a:solidFill>
                  <a:latin typeface="Times New Roman" panose="02020603050405020304" pitchFamily="18" charset="0"/>
                  <a:ea typeface="华文细黑" panose="02010600040101010101" pitchFamily="2" charset="-122"/>
                </a:rPr>
                <a:t>稳态误差的计算：</a:t>
              </a:r>
            </a:p>
          </p:txBody>
        </p:sp>
        <p:grpSp>
          <p:nvGrpSpPr>
            <p:cNvPr id="65542" name="组合 1557536"/>
            <p:cNvGrpSpPr/>
            <p:nvPr/>
          </p:nvGrpSpPr>
          <p:grpSpPr>
            <a:xfrm>
              <a:off x="1202" y="527"/>
              <a:ext cx="2676" cy="1134"/>
              <a:chOff x="3024" y="480"/>
              <a:chExt cx="2688" cy="864"/>
            </a:xfrm>
          </p:grpSpPr>
          <p:sp>
            <p:nvSpPr>
              <p:cNvPr id="65544" name="直接连接符 1557537"/>
              <p:cNvSpPr/>
              <p:nvPr/>
            </p:nvSpPr>
            <p:spPr>
              <a:xfrm>
                <a:off x="3066" y="856"/>
                <a:ext cx="252" cy="0"/>
              </a:xfrm>
              <a:prstGeom prst="line">
                <a:avLst/>
              </a:prstGeom>
              <a:ln w="9525" cap="flat" cmpd="sng">
                <a:solidFill>
                  <a:schemeClr val="tx1"/>
                </a:solidFill>
                <a:prstDash val="solid"/>
                <a:miter/>
                <a:headEnd type="none" w="med" len="med"/>
                <a:tailEnd type="triangle" w="med" len="med"/>
              </a:ln>
            </p:spPr>
          </p:sp>
          <p:sp>
            <p:nvSpPr>
              <p:cNvPr id="65545" name="流程图: 汇总连接 1557538"/>
              <p:cNvSpPr/>
              <p:nvPr/>
            </p:nvSpPr>
            <p:spPr>
              <a:xfrm>
                <a:off x="3318" y="781"/>
                <a:ext cx="168" cy="150"/>
              </a:xfrm>
              <a:prstGeom prst="flowChartSummingJunction">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5546" name="直接连接符 1557539"/>
              <p:cNvSpPr/>
              <p:nvPr/>
            </p:nvSpPr>
            <p:spPr>
              <a:xfrm>
                <a:off x="3486" y="856"/>
                <a:ext cx="252" cy="0"/>
              </a:xfrm>
              <a:prstGeom prst="line">
                <a:avLst/>
              </a:prstGeom>
              <a:ln w="9525" cap="flat" cmpd="sng">
                <a:solidFill>
                  <a:schemeClr val="tx1"/>
                </a:solidFill>
                <a:prstDash val="solid"/>
                <a:miter/>
                <a:headEnd type="none" w="med" len="med"/>
                <a:tailEnd type="triangle" w="med" len="med"/>
              </a:ln>
            </p:spPr>
          </p:sp>
          <p:sp>
            <p:nvSpPr>
              <p:cNvPr id="65547" name="直接连接符 1557540"/>
              <p:cNvSpPr/>
              <p:nvPr/>
            </p:nvSpPr>
            <p:spPr>
              <a:xfrm>
                <a:off x="4200" y="852"/>
                <a:ext cx="168" cy="0"/>
              </a:xfrm>
              <a:prstGeom prst="line">
                <a:avLst/>
              </a:prstGeom>
              <a:ln w="9525" cap="flat" cmpd="sng">
                <a:solidFill>
                  <a:schemeClr val="tx1"/>
                </a:solidFill>
                <a:prstDash val="solid"/>
                <a:miter/>
                <a:headEnd type="none" w="med" len="med"/>
                <a:tailEnd type="triangle" w="med" len="med"/>
              </a:ln>
            </p:spPr>
          </p:sp>
          <p:sp>
            <p:nvSpPr>
              <p:cNvPr id="65548" name="流程图: 汇总连接 1557541"/>
              <p:cNvSpPr/>
              <p:nvPr/>
            </p:nvSpPr>
            <p:spPr>
              <a:xfrm>
                <a:off x="4368" y="781"/>
                <a:ext cx="168" cy="150"/>
              </a:xfrm>
              <a:prstGeom prst="flowChartSummingJunction">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5549" name="直接连接符 1557542"/>
              <p:cNvSpPr/>
              <p:nvPr/>
            </p:nvSpPr>
            <p:spPr>
              <a:xfrm flipV="1">
                <a:off x="4530" y="852"/>
                <a:ext cx="144" cy="0"/>
              </a:xfrm>
              <a:prstGeom prst="line">
                <a:avLst/>
              </a:prstGeom>
              <a:ln w="9525" cap="flat" cmpd="sng">
                <a:solidFill>
                  <a:schemeClr val="tx1"/>
                </a:solidFill>
                <a:prstDash val="solid"/>
                <a:miter/>
                <a:headEnd type="none" w="med" len="med"/>
                <a:tailEnd type="triangle" w="med" len="med"/>
              </a:ln>
            </p:spPr>
          </p:sp>
          <p:sp>
            <p:nvSpPr>
              <p:cNvPr id="65550" name="矩形 1557543"/>
              <p:cNvSpPr/>
              <p:nvPr/>
            </p:nvSpPr>
            <p:spPr>
              <a:xfrm>
                <a:off x="4674" y="705"/>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5551" name="直接连接符 1557544"/>
              <p:cNvSpPr/>
              <p:nvPr/>
            </p:nvSpPr>
            <p:spPr>
              <a:xfrm flipV="1">
                <a:off x="5136" y="858"/>
                <a:ext cx="576" cy="0"/>
              </a:xfrm>
              <a:prstGeom prst="line">
                <a:avLst/>
              </a:prstGeom>
              <a:ln w="9525" cap="flat" cmpd="sng">
                <a:solidFill>
                  <a:schemeClr val="tx1"/>
                </a:solidFill>
                <a:prstDash val="solid"/>
                <a:miter/>
                <a:headEnd type="none" w="med" len="med"/>
                <a:tailEnd type="triangle" w="med" len="med"/>
              </a:ln>
            </p:spPr>
          </p:sp>
          <p:sp>
            <p:nvSpPr>
              <p:cNvPr id="65552" name="直接连接符 1557545"/>
              <p:cNvSpPr/>
              <p:nvPr/>
            </p:nvSpPr>
            <p:spPr>
              <a:xfrm>
                <a:off x="5280" y="856"/>
                <a:ext cx="0" cy="338"/>
              </a:xfrm>
              <a:prstGeom prst="line">
                <a:avLst/>
              </a:prstGeom>
              <a:ln w="9525" cap="flat" cmpd="sng">
                <a:solidFill>
                  <a:schemeClr val="tx1"/>
                </a:solidFill>
                <a:prstDash val="solid"/>
                <a:miter/>
                <a:headEnd type="none" w="med" len="med"/>
                <a:tailEnd type="none" w="med" len="med"/>
              </a:ln>
            </p:spPr>
          </p:sp>
          <p:sp>
            <p:nvSpPr>
              <p:cNvPr id="65553" name="直接连接符 1557546"/>
              <p:cNvSpPr/>
              <p:nvPr/>
            </p:nvSpPr>
            <p:spPr>
              <a:xfrm flipH="1" flipV="1">
                <a:off x="3402" y="1194"/>
                <a:ext cx="1878" cy="6"/>
              </a:xfrm>
              <a:prstGeom prst="line">
                <a:avLst/>
              </a:prstGeom>
              <a:ln w="9525" cap="flat" cmpd="sng">
                <a:solidFill>
                  <a:schemeClr val="tx1"/>
                </a:solidFill>
                <a:prstDash val="solid"/>
                <a:miter/>
                <a:headEnd type="none" w="med" len="med"/>
                <a:tailEnd type="none" w="med" len="med"/>
              </a:ln>
            </p:spPr>
          </p:sp>
          <p:sp>
            <p:nvSpPr>
              <p:cNvPr id="65554" name="直接连接符 1557547"/>
              <p:cNvSpPr/>
              <p:nvPr/>
            </p:nvSpPr>
            <p:spPr>
              <a:xfrm flipV="1">
                <a:off x="3402" y="931"/>
                <a:ext cx="0" cy="263"/>
              </a:xfrm>
              <a:prstGeom prst="line">
                <a:avLst/>
              </a:prstGeom>
              <a:ln w="9525" cap="flat" cmpd="sng">
                <a:solidFill>
                  <a:schemeClr val="tx1"/>
                </a:solidFill>
                <a:prstDash val="solid"/>
                <a:miter/>
                <a:headEnd type="none" w="med" len="med"/>
                <a:tailEnd type="triangle" w="med" len="med"/>
              </a:ln>
            </p:spPr>
          </p:sp>
          <p:graphicFrame>
            <p:nvGraphicFramePr>
              <p:cNvPr id="65555" name="对象 1557548"/>
              <p:cNvGraphicFramePr/>
              <p:nvPr/>
            </p:nvGraphicFramePr>
            <p:xfrm>
              <a:off x="3024" y="661"/>
              <a:ext cx="340" cy="195"/>
            </p:xfrm>
            <a:graphic>
              <a:graphicData uri="http://schemas.openxmlformats.org/presentationml/2006/ole">
                <mc:AlternateContent xmlns:mc="http://schemas.openxmlformats.org/markup-compatibility/2006">
                  <mc:Choice xmlns:v="urn:schemas-microsoft-com:vml" Requires="v">
                    <p:oleObj spid="_x0000_s42105" r:id="rId20" imgW="317500" imgH="203200" progId="Equation.3">
                      <p:embed/>
                    </p:oleObj>
                  </mc:Choice>
                  <mc:Fallback>
                    <p:oleObj r:id="rId20" imgW="317500" imgH="203200" progId="Equation.3">
                      <p:embed/>
                      <p:pic>
                        <p:nvPicPr>
                          <p:cNvPr id="0" name="图片 3177"/>
                          <p:cNvPicPr/>
                          <p:nvPr/>
                        </p:nvPicPr>
                        <p:blipFill>
                          <a:blip r:embed="rId21"/>
                          <a:stretch>
                            <a:fillRect/>
                          </a:stretch>
                        </p:blipFill>
                        <p:spPr>
                          <a:xfrm>
                            <a:off x="3024" y="661"/>
                            <a:ext cx="340" cy="195"/>
                          </a:xfrm>
                          <a:prstGeom prst="rect">
                            <a:avLst/>
                          </a:prstGeom>
                          <a:noFill/>
                          <a:ln w="38100">
                            <a:noFill/>
                            <a:miter/>
                          </a:ln>
                        </p:spPr>
                      </p:pic>
                    </p:oleObj>
                  </mc:Fallback>
                </mc:AlternateContent>
              </a:graphicData>
            </a:graphic>
          </p:graphicFrame>
          <p:sp>
            <p:nvSpPr>
              <p:cNvPr id="65556" name="直接连接符 1557549"/>
              <p:cNvSpPr/>
              <p:nvPr/>
            </p:nvSpPr>
            <p:spPr>
              <a:xfrm>
                <a:off x="4452" y="518"/>
                <a:ext cx="0" cy="263"/>
              </a:xfrm>
              <a:prstGeom prst="line">
                <a:avLst/>
              </a:prstGeom>
              <a:ln w="9525" cap="flat" cmpd="sng">
                <a:solidFill>
                  <a:schemeClr val="tx1"/>
                </a:solidFill>
                <a:prstDash val="solid"/>
                <a:miter/>
                <a:headEnd type="none" w="med" len="med"/>
                <a:tailEnd type="triangle" w="med" len="med"/>
              </a:ln>
            </p:spPr>
          </p:sp>
          <p:graphicFrame>
            <p:nvGraphicFramePr>
              <p:cNvPr id="65557" name="对象 1557550"/>
              <p:cNvGraphicFramePr/>
              <p:nvPr/>
            </p:nvGraphicFramePr>
            <p:xfrm>
              <a:off x="4439" y="480"/>
              <a:ext cx="367" cy="195"/>
            </p:xfrm>
            <a:graphic>
              <a:graphicData uri="http://schemas.openxmlformats.org/presentationml/2006/ole">
                <mc:AlternateContent xmlns:mc="http://schemas.openxmlformats.org/markup-compatibility/2006">
                  <mc:Choice xmlns:v="urn:schemas-microsoft-com:vml" Requires="v">
                    <p:oleObj spid="_x0000_s42106" r:id="rId22" imgW="342900" imgH="203200" progId="Equation.3">
                      <p:embed/>
                    </p:oleObj>
                  </mc:Choice>
                  <mc:Fallback>
                    <p:oleObj r:id="rId22" imgW="342900" imgH="203200" progId="Equation.3">
                      <p:embed/>
                      <p:pic>
                        <p:nvPicPr>
                          <p:cNvPr id="0" name="图片 3183"/>
                          <p:cNvPicPr/>
                          <p:nvPr/>
                        </p:nvPicPr>
                        <p:blipFill>
                          <a:blip r:embed="rId23"/>
                          <a:stretch>
                            <a:fillRect/>
                          </a:stretch>
                        </p:blipFill>
                        <p:spPr>
                          <a:xfrm>
                            <a:off x="4439" y="480"/>
                            <a:ext cx="367" cy="195"/>
                          </a:xfrm>
                          <a:prstGeom prst="rect">
                            <a:avLst/>
                          </a:prstGeom>
                          <a:noFill/>
                          <a:ln w="38100">
                            <a:noFill/>
                            <a:miter/>
                          </a:ln>
                        </p:spPr>
                      </p:pic>
                    </p:oleObj>
                  </mc:Fallback>
                </mc:AlternateContent>
              </a:graphicData>
            </a:graphic>
          </p:graphicFrame>
          <p:graphicFrame>
            <p:nvGraphicFramePr>
              <p:cNvPr id="65558" name="对象 1557551"/>
              <p:cNvGraphicFramePr/>
              <p:nvPr/>
            </p:nvGraphicFramePr>
            <p:xfrm>
              <a:off x="5328" y="576"/>
              <a:ext cx="353" cy="195"/>
            </p:xfrm>
            <a:graphic>
              <a:graphicData uri="http://schemas.openxmlformats.org/presentationml/2006/ole">
                <mc:AlternateContent xmlns:mc="http://schemas.openxmlformats.org/markup-compatibility/2006">
                  <mc:Choice xmlns:v="urn:schemas-microsoft-com:vml" Requires="v">
                    <p:oleObj spid="_x0000_s42107" r:id="rId24" imgW="330200" imgH="203200" progId="Equation.3">
                      <p:embed/>
                    </p:oleObj>
                  </mc:Choice>
                  <mc:Fallback>
                    <p:oleObj r:id="rId24" imgW="330200" imgH="203200" progId="Equation.3">
                      <p:embed/>
                      <p:pic>
                        <p:nvPicPr>
                          <p:cNvPr id="0" name="图片 3186"/>
                          <p:cNvPicPr/>
                          <p:nvPr/>
                        </p:nvPicPr>
                        <p:blipFill>
                          <a:blip r:embed="rId25"/>
                          <a:stretch>
                            <a:fillRect/>
                          </a:stretch>
                        </p:blipFill>
                        <p:spPr>
                          <a:xfrm>
                            <a:off x="5328" y="576"/>
                            <a:ext cx="353" cy="195"/>
                          </a:xfrm>
                          <a:prstGeom prst="rect">
                            <a:avLst/>
                          </a:prstGeom>
                          <a:noFill/>
                          <a:ln w="38100">
                            <a:noFill/>
                            <a:miter/>
                          </a:ln>
                        </p:spPr>
                      </p:pic>
                    </p:oleObj>
                  </mc:Fallback>
                </mc:AlternateContent>
              </a:graphicData>
            </a:graphic>
          </p:graphicFrame>
          <p:graphicFrame>
            <p:nvGraphicFramePr>
              <p:cNvPr id="65559" name="对象 1557552"/>
              <p:cNvGraphicFramePr/>
              <p:nvPr/>
            </p:nvGraphicFramePr>
            <p:xfrm>
              <a:off x="4715" y="743"/>
              <a:ext cx="421" cy="207"/>
            </p:xfrm>
            <a:graphic>
              <a:graphicData uri="http://schemas.openxmlformats.org/presentationml/2006/ole">
                <mc:AlternateContent xmlns:mc="http://schemas.openxmlformats.org/markup-compatibility/2006">
                  <mc:Choice xmlns:v="urn:schemas-microsoft-com:vml" Requires="v">
                    <p:oleObj spid="_x0000_s42108" r:id="rId26" imgW="393065" imgH="215900" progId="Equation.3">
                      <p:embed/>
                    </p:oleObj>
                  </mc:Choice>
                  <mc:Fallback>
                    <p:oleObj r:id="rId26" imgW="393065" imgH="215900" progId="Equation.3">
                      <p:embed/>
                      <p:pic>
                        <p:nvPicPr>
                          <p:cNvPr id="0" name="图片 3181"/>
                          <p:cNvPicPr/>
                          <p:nvPr/>
                        </p:nvPicPr>
                        <p:blipFill>
                          <a:blip r:embed="rId4"/>
                          <a:stretch>
                            <a:fillRect/>
                          </a:stretch>
                        </p:blipFill>
                        <p:spPr>
                          <a:xfrm>
                            <a:off x="4715" y="743"/>
                            <a:ext cx="421" cy="207"/>
                          </a:xfrm>
                          <a:prstGeom prst="rect">
                            <a:avLst/>
                          </a:prstGeom>
                          <a:noFill/>
                          <a:ln w="38100">
                            <a:noFill/>
                            <a:miter/>
                          </a:ln>
                        </p:spPr>
                      </p:pic>
                    </p:oleObj>
                  </mc:Fallback>
                </mc:AlternateContent>
              </a:graphicData>
            </a:graphic>
          </p:graphicFrame>
          <p:sp>
            <p:nvSpPr>
              <p:cNvPr id="65560" name="矩形 1557553"/>
              <p:cNvSpPr/>
              <p:nvPr/>
            </p:nvSpPr>
            <p:spPr>
              <a:xfrm>
                <a:off x="3738" y="705"/>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graphicFrame>
            <p:nvGraphicFramePr>
              <p:cNvPr id="65561" name="对象 1557554"/>
              <p:cNvGraphicFramePr/>
              <p:nvPr/>
            </p:nvGraphicFramePr>
            <p:xfrm>
              <a:off x="3792" y="743"/>
              <a:ext cx="394" cy="207"/>
            </p:xfrm>
            <a:graphic>
              <a:graphicData uri="http://schemas.openxmlformats.org/presentationml/2006/ole">
                <mc:AlternateContent xmlns:mc="http://schemas.openxmlformats.org/markup-compatibility/2006">
                  <mc:Choice xmlns:v="urn:schemas-microsoft-com:vml" Requires="v">
                    <p:oleObj spid="_x0000_s42109" r:id="rId27" imgW="367665" imgH="215900" progId="Equation.3">
                      <p:embed/>
                    </p:oleObj>
                  </mc:Choice>
                  <mc:Fallback>
                    <p:oleObj r:id="rId27" imgW="367665" imgH="215900" progId="Equation.3">
                      <p:embed/>
                      <p:pic>
                        <p:nvPicPr>
                          <p:cNvPr id="0" name="图片 3182"/>
                          <p:cNvPicPr/>
                          <p:nvPr/>
                        </p:nvPicPr>
                        <p:blipFill>
                          <a:blip r:embed="rId14"/>
                          <a:stretch>
                            <a:fillRect/>
                          </a:stretch>
                        </p:blipFill>
                        <p:spPr>
                          <a:xfrm>
                            <a:off x="3792" y="743"/>
                            <a:ext cx="394" cy="207"/>
                          </a:xfrm>
                          <a:prstGeom prst="rect">
                            <a:avLst/>
                          </a:prstGeom>
                          <a:noFill/>
                          <a:ln w="38100">
                            <a:noFill/>
                            <a:miter/>
                          </a:ln>
                        </p:spPr>
                      </p:pic>
                    </p:oleObj>
                  </mc:Fallback>
                </mc:AlternateContent>
              </a:graphicData>
            </a:graphic>
          </p:graphicFrame>
          <p:sp>
            <p:nvSpPr>
              <p:cNvPr id="65562" name="文本框 1557555"/>
              <p:cNvSpPr txBox="1"/>
              <p:nvPr/>
            </p:nvSpPr>
            <p:spPr>
              <a:xfrm>
                <a:off x="3402" y="856"/>
                <a:ext cx="252" cy="220"/>
              </a:xfrm>
              <a:prstGeom prst="rect">
                <a:avLst/>
              </a:prstGeom>
              <a:noFill/>
              <a:ln w="9525">
                <a:noFill/>
              </a:ln>
            </p:spPr>
            <p:txBody>
              <a:bodyPr>
                <a:spAutoFit/>
              </a:bodyPr>
              <a:lstStyle/>
              <a:p>
                <a:r>
                  <a:rPr lang="en-US" altLang="zh-CN" sz="2400" b="0" dirty="0">
                    <a:latin typeface="Times New Roman" panose="02020603050405020304" pitchFamily="18" charset="0"/>
                  </a:rPr>
                  <a:t>-</a:t>
                </a:r>
              </a:p>
            </p:txBody>
          </p:sp>
          <p:sp>
            <p:nvSpPr>
              <p:cNvPr id="65563" name="文本框 1557556"/>
              <p:cNvSpPr txBox="1"/>
              <p:nvPr/>
            </p:nvSpPr>
            <p:spPr>
              <a:xfrm>
                <a:off x="4428" y="593"/>
                <a:ext cx="252" cy="219"/>
              </a:xfrm>
              <a:prstGeom prst="rect">
                <a:avLst/>
              </a:prstGeom>
              <a:noFill/>
              <a:ln w="9525">
                <a:noFill/>
              </a:ln>
            </p:spPr>
            <p:txBody>
              <a:bodyPr>
                <a:spAutoFit/>
              </a:bodyPr>
              <a:lstStyle/>
              <a:p>
                <a:r>
                  <a:rPr lang="en-US" altLang="zh-CN" sz="2400" b="0" dirty="0">
                    <a:latin typeface="Times New Roman" panose="02020603050405020304" pitchFamily="18" charset="0"/>
                  </a:rPr>
                  <a:t>+</a:t>
                </a:r>
              </a:p>
            </p:txBody>
          </p:sp>
          <p:graphicFrame>
            <p:nvGraphicFramePr>
              <p:cNvPr id="65564" name="对象 1557557"/>
              <p:cNvGraphicFramePr/>
              <p:nvPr/>
            </p:nvGraphicFramePr>
            <p:xfrm>
              <a:off x="3434" y="668"/>
              <a:ext cx="353" cy="195"/>
            </p:xfrm>
            <a:graphic>
              <a:graphicData uri="http://schemas.openxmlformats.org/presentationml/2006/ole">
                <mc:AlternateContent xmlns:mc="http://schemas.openxmlformats.org/markup-compatibility/2006">
                  <mc:Choice xmlns:v="urn:schemas-microsoft-com:vml" Requires="v">
                    <p:oleObj spid="_x0000_s42110" r:id="rId28" imgW="330200" imgH="203200" progId="Equation.3">
                      <p:embed/>
                    </p:oleObj>
                  </mc:Choice>
                  <mc:Fallback>
                    <p:oleObj r:id="rId28" imgW="330200" imgH="203200" progId="Equation.3">
                      <p:embed/>
                      <p:pic>
                        <p:nvPicPr>
                          <p:cNvPr id="0" name="图片 3187"/>
                          <p:cNvPicPr/>
                          <p:nvPr/>
                        </p:nvPicPr>
                        <p:blipFill>
                          <a:blip r:embed="rId29"/>
                          <a:stretch>
                            <a:fillRect/>
                          </a:stretch>
                        </p:blipFill>
                        <p:spPr>
                          <a:xfrm>
                            <a:off x="3434" y="668"/>
                            <a:ext cx="353" cy="195"/>
                          </a:xfrm>
                          <a:prstGeom prst="rect">
                            <a:avLst/>
                          </a:prstGeom>
                          <a:noFill/>
                          <a:ln w="38100">
                            <a:noFill/>
                            <a:miter/>
                          </a:ln>
                        </p:spPr>
                      </p:pic>
                    </p:oleObj>
                  </mc:Fallback>
                </mc:AlternateContent>
              </a:graphicData>
            </a:graphic>
          </p:graphicFrame>
          <p:sp>
            <p:nvSpPr>
              <p:cNvPr id="65565" name="矩形 1557558"/>
              <p:cNvSpPr/>
              <p:nvPr/>
            </p:nvSpPr>
            <p:spPr>
              <a:xfrm>
                <a:off x="4158" y="1043"/>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graphicFrame>
            <p:nvGraphicFramePr>
              <p:cNvPr id="65566" name="对象 1557559"/>
              <p:cNvGraphicFramePr/>
              <p:nvPr/>
            </p:nvGraphicFramePr>
            <p:xfrm>
              <a:off x="4219" y="1087"/>
              <a:ext cx="380" cy="195"/>
            </p:xfrm>
            <a:graphic>
              <a:graphicData uri="http://schemas.openxmlformats.org/presentationml/2006/ole">
                <mc:AlternateContent xmlns:mc="http://schemas.openxmlformats.org/markup-compatibility/2006">
                  <mc:Choice xmlns:v="urn:schemas-microsoft-com:vml" Requires="v">
                    <p:oleObj spid="_x0000_s42111" r:id="rId30" imgW="355600" imgH="203200" progId="Equation.3">
                      <p:embed/>
                    </p:oleObj>
                  </mc:Choice>
                  <mc:Fallback>
                    <p:oleObj r:id="rId30" imgW="355600" imgH="203200" progId="Equation.3">
                      <p:embed/>
                      <p:pic>
                        <p:nvPicPr>
                          <p:cNvPr id="0" name="图片 3180"/>
                          <p:cNvPicPr/>
                          <p:nvPr/>
                        </p:nvPicPr>
                        <p:blipFill>
                          <a:blip r:embed="rId6"/>
                          <a:stretch>
                            <a:fillRect/>
                          </a:stretch>
                        </p:blipFill>
                        <p:spPr>
                          <a:xfrm>
                            <a:off x="4219" y="1087"/>
                            <a:ext cx="380" cy="195"/>
                          </a:xfrm>
                          <a:prstGeom prst="rect">
                            <a:avLst/>
                          </a:prstGeom>
                          <a:noFill/>
                          <a:ln w="38100">
                            <a:noFill/>
                            <a:miter/>
                          </a:ln>
                        </p:spPr>
                      </p:pic>
                    </p:oleObj>
                  </mc:Fallback>
                </mc:AlternateContent>
              </a:graphicData>
            </a:graphic>
          </p:graphicFrame>
          <p:graphicFrame>
            <p:nvGraphicFramePr>
              <p:cNvPr id="65567" name="对象 1557560"/>
              <p:cNvGraphicFramePr/>
              <p:nvPr/>
            </p:nvGraphicFramePr>
            <p:xfrm>
              <a:off x="3061" y="960"/>
              <a:ext cx="340" cy="195"/>
            </p:xfrm>
            <a:graphic>
              <a:graphicData uri="http://schemas.openxmlformats.org/presentationml/2006/ole">
                <mc:AlternateContent xmlns:mc="http://schemas.openxmlformats.org/markup-compatibility/2006">
                  <mc:Choice xmlns:v="urn:schemas-microsoft-com:vml" Requires="v">
                    <p:oleObj spid="_x0000_s42112" r:id="rId31" imgW="317500" imgH="203200" progId="Equation.3">
                      <p:embed/>
                    </p:oleObj>
                  </mc:Choice>
                  <mc:Fallback>
                    <p:oleObj r:id="rId31" imgW="317500" imgH="203200" progId="Equation.3">
                      <p:embed/>
                      <p:pic>
                        <p:nvPicPr>
                          <p:cNvPr id="0" name="图片 3185"/>
                          <p:cNvPicPr/>
                          <p:nvPr/>
                        </p:nvPicPr>
                        <p:blipFill>
                          <a:blip r:embed="rId32"/>
                          <a:stretch>
                            <a:fillRect/>
                          </a:stretch>
                        </p:blipFill>
                        <p:spPr>
                          <a:xfrm>
                            <a:off x="3061" y="960"/>
                            <a:ext cx="340" cy="195"/>
                          </a:xfrm>
                          <a:prstGeom prst="rect">
                            <a:avLst/>
                          </a:prstGeom>
                          <a:noFill/>
                          <a:ln w="38100">
                            <a:noFill/>
                            <a:miter/>
                          </a:ln>
                        </p:spPr>
                      </p:pic>
                    </p:oleObj>
                  </mc:Fallback>
                </mc:AlternateContent>
              </a:graphicData>
            </a:graphic>
          </p:graphicFrame>
        </p:grpSp>
        <p:sp>
          <p:nvSpPr>
            <p:cNvPr id="65543" name="椭圆 1557561"/>
            <p:cNvSpPr/>
            <p:nvPr/>
          </p:nvSpPr>
          <p:spPr>
            <a:xfrm>
              <a:off x="1746" y="981"/>
              <a:ext cx="91" cy="90"/>
            </a:xfrm>
            <a:prstGeom prst="ellipse">
              <a:avLst/>
            </a:prstGeom>
            <a:solidFill>
              <a:schemeClr val="hlink"/>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57535"/>
                                        </p:tgtEl>
                                        <p:attrNameLst>
                                          <p:attrName>style.visibility</p:attrName>
                                        </p:attrNameLst>
                                      </p:cBhvr>
                                      <p:to>
                                        <p:strVal val="visible"/>
                                      </p:to>
                                    </p:set>
                                    <p:anim calcmode="lin" valueType="num">
                                      <p:cBhvr>
                                        <p:cTn id="7" dur="500" fill="hold"/>
                                        <p:tgtEl>
                                          <p:spTgt spid="1557535"/>
                                        </p:tgtEl>
                                        <p:attrNameLst>
                                          <p:attrName>ppt_w</p:attrName>
                                        </p:attrNameLst>
                                      </p:cBhvr>
                                      <p:tavLst>
                                        <p:tav tm="0">
                                          <p:val>
                                            <p:fltVal val="0"/>
                                          </p:val>
                                        </p:tav>
                                        <p:tav tm="100000">
                                          <p:val>
                                            <p:strVal val="#ppt_w"/>
                                          </p:val>
                                        </p:tav>
                                      </p:tavLst>
                                    </p:anim>
                                    <p:anim calcmode="lin" valueType="num">
                                      <p:cBhvr>
                                        <p:cTn id="8" dur="500" fill="hold"/>
                                        <p:tgtEl>
                                          <p:spTgt spid="1557535"/>
                                        </p:tgtEl>
                                        <p:attrNameLst>
                                          <p:attrName>ppt_h</p:attrName>
                                        </p:attrNameLst>
                                      </p:cBhvr>
                                      <p:tavLst>
                                        <p:tav tm="0">
                                          <p:val>
                                            <p:fltVal val="0"/>
                                          </p:val>
                                        </p:tav>
                                        <p:tav tm="100000">
                                          <p:val>
                                            <p:strVal val="#ppt_h"/>
                                          </p:val>
                                        </p:tav>
                                      </p:tavLst>
                                    </p:anim>
                                    <p:animEffect transition="in" filter="fade">
                                      <p:cBhvr>
                                        <p:cTn id="9" dur="500"/>
                                        <p:tgtEl>
                                          <p:spTgt spid="155753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57509"/>
                                        </p:tgtEl>
                                        <p:attrNameLst>
                                          <p:attrName>style.visibility</p:attrName>
                                        </p:attrNameLst>
                                      </p:cBhvr>
                                      <p:to>
                                        <p:strVal val="visible"/>
                                      </p:to>
                                    </p:set>
                                    <p:anim calcmode="lin" valueType="num">
                                      <p:cBhvr>
                                        <p:cTn id="14" dur="500" fill="hold"/>
                                        <p:tgtEl>
                                          <p:spTgt spid="1557509"/>
                                        </p:tgtEl>
                                        <p:attrNameLst>
                                          <p:attrName>ppt_w</p:attrName>
                                        </p:attrNameLst>
                                      </p:cBhvr>
                                      <p:tavLst>
                                        <p:tav tm="0">
                                          <p:val>
                                            <p:fltVal val="0"/>
                                          </p:val>
                                        </p:tav>
                                        <p:tav tm="100000">
                                          <p:val>
                                            <p:strVal val="#ppt_w"/>
                                          </p:val>
                                        </p:tav>
                                      </p:tavLst>
                                    </p:anim>
                                    <p:anim calcmode="lin" valueType="num">
                                      <p:cBhvr>
                                        <p:cTn id="15" dur="500" fill="hold"/>
                                        <p:tgtEl>
                                          <p:spTgt spid="1557509"/>
                                        </p:tgtEl>
                                        <p:attrNameLst>
                                          <p:attrName>ppt_h</p:attrName>
                                        </p:attrNameLst>
                                      </p:cBhvr>
                                      <p:tavLst>
                                        <p:tav tm="0">
                                          <p:val>
                                            <p:fltVal val="0"/>
                                          </p:val>
                                        </p:tav>
                                        <p:tav tm="100000">
                                          <p:val>
                                            <p:strVal val="#ppt_h"/>
                                          </p:val>
                                        </p:tav>
                                      </p:tavLst>
                                    </p:anim>
                                    <p:animEffect transition="in" filter="fade">
                                      <p:cBhvr>
                                        <p:cTn id="16" dur="500"/>
                                        <p:tgtEl>
                                          <p:spTgt spid="1557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8532" name="组合 1558531"/>
          <p:cNvGrpSpPr/>
          <p:nvPr/>
        </p:nvGrpSpPr>
        <p:grpSpPr>
          <a:xfrm>
            <a:off x="909033" y="499279"/>
            <a:ext cx="6672262" cy="3402013"/>
            <a:chOff x="340" y="391"/>
            <a:chExt cx="4203" cy="2143"/>
          </a:xfrm>
        </p:grpSpPr>
        <p:sp>
          <p:nvSpPr>
            <p:cNvPr id="66594" name="文本框 1558532"/>
            <p:cNvSpPr txBox="1"/>
            <p:nvPr/>
          </p:nvSpPr>
          <p:spPr>
            <a:xfrm>
              <a:off x="340" y="391"/>
              <a:ext cx="3648" cy="288"/>
            </a:xfrm>
            <a:prstGeom prst="rect">
              <a:avLst/>
            </a:prstGeom>
            <a:noFill/>
            <a:ln w="9525">
              <a:noFill/>
            </a:ln>
          </p:spPr>
          <p:txBody>
            <a:bodyPr>
              <a:spAutoFit/>
            </a:bodyPr>
            <a:lstStyle/>
            <a:p>
              <a:pPr>
                <a:buBlip>
                  <a:blip r:embed="rId3"/>
                </a:buBlip>
              </a:pPr>
              <a:r>
                <a:rPr lang="en-US" altLang="zh-CN" sz="2400" b="0" dirty="0">
                  <a:latin typeface="Times New Roman" panose="02020603050405020304" pitchFamily="18" charset="0"/>
                  <a:ea typeface="华文中宋" panose="02010600040101010101" pitchFamily="2" charset="-122"/>
                </a:rPr>
                <a:t>     </a:t>
              </a:r>
              <a:r>
                <a:rPr lang="zh-CN" altLang="en-US" sz="2400" b="0" dirty="0">
                  <a:latin typeface="Times New Roman" panose="02020603050405020304" pitchFamily="18" charset="0"/>
                  <a:ea typeface="华文中宋" panose="02010600040101010101" pitchFamily="2" charset="-122"/>
                </a:rPr>
                <a:t>扰动作用下的误差传递函数</a:t>
              </a:r>
            </a:p>
          </p:txBody>
        </p:sp>
        <p:grpSp>
          <p:nvGrpSpPr>
            <p:cNvPr id="66595" name="组合 1558533"/>
            <p:cNvGrpSpPr/>
            <p:nvPr/>
          </p:nvGrpSpPr>
          <p:grpSpPr>
            <a:xfrm>
              <a:off x="703" y="675"/>
              <a:ext cx="3840" cy="1213"/>
              <a:chOff x="1008" y="768"/>
              <a:chExt cx="3840" cy="1213"/>
            </a:xfrm>
          </p:grpSpPr>
          <p:sp>
            <p:nvSpPr>
              <p:cNvPr id="66597" name="矩形 1558534"/>
              <p:cNvSpPr/>
              <p:nvPr/>
            </p:nvSpPr>
            <p:spPr>
              <a:xfrm>
                <a:off x="2640" y="1645"/>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sp>
            <p:nvSpPr>
              <p:cNvPr id="66598" name="矩形 1558535"/>
              <p:cNvSpPr/>
              <p:nvPr/>
            </p:nvSpPr>
            <p:spPr>
              <a:xfrm>
                <a:off x="1920" y="1117"/>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6599" name="对象 1558536"/>
              <p:cNvGraphicFramePr/>
              <p:nvPr/>
            </p:nvGraphicFramePr>
            <p:xfrm>
              <a:off x="2688" y="1680"/>
              <a:ext cx="490" cy="288"/>
            </p:xfrm>
            <a:graphic>
              <a:graphicData uri="http://schemas.openxmlformats.org/presentationml/2006/ole">
                <mc:AlternateContent xmlns:mc="http://schemas.openxmlformats.org/markup-compatibility/2006">
                  <mc:Choice xmlns:v="urn:schemas-microsoft-com:vml" Requires="v">
                    <p:oleObj spid="_x0000_s43142" r:id="rId4" imgW="367665" imgH="215900" progId="Equation.3">
                      <p:embed/>
                    </p:oleObj>
                  </mc:Choice>
                  <mc:Fallback>
                    <p:oleObj r:id="rId4" imgW="367665" imgH="215900" progId="Equation.3">
                      <p:embed/>
                      <p:pic>
                        <p:nvPicPr>
                          <p:cNvPr id="0" name="图片 3184"/>
                          <p:cNvPicPr/>
                          <p:nvPr/>
                        </p:nvPicPr>
                        <p:blipFill>
                          <a:blip r:embed="rId5"/>
                          <a:stretch>
                            <a:fillRect/>
                          </a:stretch>
                        </p:blipFill>
                        <p:spPr>
                          <a:xfrm>
                            <a:off x="2688" y="1680"/>
                            <a:ext cx="490" cy="288"/>
                          </a:xfrm>
                          <a:prstGeom prst="rect">
                            <a:avLst/>
                          </a:prstGeom>
                          <a:solidFill>
                            <a:schemeClr val="accent1"/>
                          </a:solidFill>
                          <a:ln w="38100">
                            <a:noFill/>
                            <a:miter/>
                          </a:ln>
                        </p:spPr>
                      </p:pic>
                    </p:oleObj>
                  </mc:Fallback>
                </mc:AlternateContent>
              </a:graphicData>
            </a:graphic>
          </p:graphicFrame>
          <p:sp>
            <p:nvSpPr>
              <p:cNvPr id="66600" name="流程图: 汇总连接 1558537"/>
              <p:cNvSpPr/>
              <p:nvPr/>
            </p:nvSpPr>
            <p:spPr>
              <a:xfrm>
                <a:off x="1488" y="1213"/>
                <a:ext cx="192" cy="192"/>
              </a:xfrm>
              <a:prstGeom prst="flowChartSummingJunction">
                <a:avLst/>
              </a:prstGeom>
              <a:no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sp>
            <p:nvSpPr>
              <p:cNvPr id="66601" name="直接连接符 1558538"/>
              <p:cNvSpPr/>
              <p:nvPr/>
            </p:nvSpPr>
            <p:spPr>
              <a:xfrm>
                <a:off x="1680" y="1309"/>
                <a:ext cx="240" cy="0"/>
              </a:xfrm>
              <a:prstGeom prst="line">
                <a:avLst/>
              </a:prstGeom>
              <a:ln w="12700" cap="sq" cmpd="sng">
                <a:solidFill>
                  <a:schemeClr val="tx1"/>
                </a:solidFill>
                <a:prstDash val="solid"/>
                <a:headEnd type="none" w="sm" len="sm"/>
                <a:tailEnd type="triangle" w="sm" len="sm"/>
              </a:ln>
            </p:spPr>
          </p:sp>
          <p:sp>
            <p:nvSpPr>
              <p:cNvPr id="66602" name="直接连接符 1558539"/>
              <p:cNvSpPr/>
              <p:nvPr/>
            </p:nvSpPr>
            <p:spPr>
              <a:xfrm flipV="1">
                <a:off x="2544" y="1296"/>
                <a:ext cx="240" cy="0"/>
              </a:xfrm>
              <a:prstGeom prst="line">
                <a:avLst/>
              </a:prstGeom>
              <a:ln w="12700" cap="sq" cmpd="sng">
                <a:solidFill>
                  <a:schemeClr val="tx1"/>
                </a:solidFill>
                <a:prstDash val="solid"/>
                <a:headEnd type="none" w="sm" len="sm"/>
                <a:tailEnd type="triangle" w="sm" len="sm"/>
              </a:ln>
            </p:spPr>
          </p:sp>
          <p:sp>
            <p:nvSpPr>
              <p:cNvPr id="66603" name="矩形 1558540"/>
              <p:cNvSpPr/>
              <p:nvPr/>
            </p:nvSpPr>
            <p:spPr>
              <a:xfrm>
                <a:off x="2784" y="1117"/>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6604" name="对象 1558541"/>
              <p:cNvGraphicFramePr/>
              <p:nvPr/>
            </p:nvGraphicFramePr>
            <p:xfrm>
              <a:off x="1968" y="1152"/>
              <a:ext cx="523" cy="288"/>
            </p:xfrm>
            <a:graphic>
              <a:graphicData uri="http://schemas.openxmlformats.org/presentationml/2006/ole">
                <mc:AlternateContent xmlns:mc="http://schemas.openxmlformats.org/markup-compatibility/2006">
                  <mc:Choice xmlns:v="urn:schemas-microsoft-com:vml" Requires="v">
                    <p:oleObj spid="_x0000_s43143" r:id="rId6" imgW="393065" imgH="215900" progId="Equation.3">
                      <p:embed/>
                    </p:oleObj>
                  </mc:Choice>
                  <mc:Fallback>
                    <p:oleObj r:id="rId6" imgW="393065" imgH="215900" progId="Equation.3">
                      <p:embed/>
                      <p:pic>
                        <p:nvPicPr>
                          <p:cNvPr id="0" name="图片 3191"/>
                          <p:cNvPicPr/>
                          <p:nvPr/>
                        </p:nvPicPr>
                        <p:blipFill>
                          <a:blip r:embed="rId7"/>
                          <a:stretch>
                            <a:fillRect/>
                          </a:stretch>
                        </p:blipFill>
                        <p:spPr>
                          <a:xfrm>
                            <a:off x="1968" y="1152"/>
                            <a:ext cx="523" cy="288"/>
                          </a:xfrm>
                          <a:prstGeom prst="rect">
                            <a:avLst/>
                          </a:prstGeom>
                          <a:solidFill>
                            <a:schemeClr val="accent1"/>
                          </a:solidFill>
                          <a:ln w="38100">
                            <a:noFill/>
                            <a:miter/>
                          </a:ln>
                        </p:spPr>
                      </p:pic>
                    </p:oleObj>
                  </mc:Fallback>
                </mc:AlternateContent>
              </a:graphicData>
            </a:graphic>
          </p:graphicFrame>
          <p:sp>
            <p:nvSpPr>
              <p:cNvPr id="66605" name="直接连接符 1558542"/>
              <p:cNvSpPr/>
              <p:nvPr/>
            </p:nvSpPr>
            <p:spPr>
              <a:xfrm>
                <a:off x="4320" y="1309"/>
                <a:ext cx="528" cy="0"/>
              </a:xfrm>
              <a:prstGeom prst="line">
                <a:avLst/>
              </a:prstGeom>
              <a:ln w="12700" cap="sq" cmpd="sng">
                <a:solidFill>
                  <a:schemeClr val="tx1"/>
                </a:solidFill>
                <a:prstDash val="solid"/>
                <a:headEnd type="none" w="sm" len="sm"/>
                <a:tailEnd type="triangle" w="sm" len="sm"/>
              </a:ln>
            </p:spPr>
          </p:sp>
          <p:graphicFrame>
            <p:nvGraphicFramePr>
              <p:cNvPr id="66606" name="对象 1558543"/>
              <p:cNvGraphicFramePr/>
              <p:nvPr/>
            </p:nvGraphicFramePr>
            <p:xfrm>
              <a:off x="2880" y="1152"/>
              <a:ext cx="473" cy="272"/>
            </p:xfrm>
            <a:graphic>
              <a:graphicData uri="http://schemas.openxmlformats.org/presentationml/2006/ole">
                <mc:AlternateContent xmlns:mc="http://schemas.openxmlformats.org/markup-compatibility/2006">
                  <mc:Choice xmlns:v="urn:schemas-microsoft-com:vml" Requires="v">
                    <p:oleObj spid="_x0000_s43144" r:id="rId8" imgW="355600" imgH="203200" progId="Equation.3">
                      <p:embed/>
                    </p:oleObj>
                  </mc:Choice>
                  <mc:Fallback>
                    <p:oleObj r:id="rId8" imgW="355600" imgH="203200" progId="Equation.3">
                      <p:embed/>
                      <p:pic>
                        <p:nvPicPr>
                          <p:cNvPr id="0" name="图片 3194"/>
                          <p:cNvPicPr/>
                          <p:nvPr/>
                        </p:nvPicPr>
                        <p:blipFill>
                          <a:blip r:embed="rId9"/>
                          <a:stretch>
                            <a:fillRect/>
                          </a:stretch>
                        </p:blipFill>
                        <p:spPr>
                          <a:xfrm>
                            <a:off x="2880" y="1152"/>
                            <a:ext cx="473" cy="272"/>
                          </a:xfrm>
                          <a:prstGeom prst="rect">
                            <a:avLst/>
                          </a:prstGeom>
                          <a:solidFill>
                            <a:schemeClr val="accent1"/>
                          </a:solidFill>
                          <a:ln w="38100">
                            <a:noFill/>
                            <a:miter/>
                          </a:ln>
                        </p:spPr>
                      </p:pic>
                    </p:oleObj>
                  </mc:Fallback>
                </mc:AlternateContent>
              </a:graphicData>
            </a:graphic>
          </p:graphicFrame>
          <p:sp>
            <p:nvSpPr>
              <p:cNvPr id="66607" name="直接连接符 1558544"/>
              <p:cNvSpPr/>
              <p:nvPr/>
            </p:nvSpPr>
            <p:spPr>
              <a:xfrm>
                <a:off x="4560" y="1309"/>
                <a:ext cx="0" cy="528"/>
              </a:xfrm>
              <a:prstGeom prst="line">
                <a:avLst/>
              </a:prstGeom>
              <a:ln w="12700" cap="sq" cmpd="sng">
                <a:solidFill>
                  <a:schemeClr val="tx1"/>
                </a:solidFill>
                <a:prstDash val="solid"/>
                <a:headEnd type="none" w="sm" len="sm"/>
                <a:tailEnd type="none" w="sm" len="sm"/>
              </a:ln>
            </p:spPr>
          </p:sp>
          <p:sp>
            <p:nvSpPr>
              <p:cNvPr id="66608" name="直接连接符 1558545"/>
              <p:cNvSpPr/>
              <p:nvPr/>
            </p:nvSpPr>
            <p:spPr>
              <a:xfrm>
                <a:off x="1584" y="1405"/>
                <a:ext cx="0" cy="432"/>
              </a:xfrm>
              <a:prstGeom prst="line">
                <a:avLst/>
              </a:prstGeom>
              <a:ln w="12700" cap="sq" cmpd="sng">
                <a:solidFill>
                  <a:schemeClr val="tx1"/>
                </a:solidFill>
                <a:prstDash val="solid"/>
                <a:headEnd type="triangle" w="med" len="med"/>
                <a:tailEnd type="none" w="sm" len="sm"/>
              </a:ln>
            </p:spPr>
          </p:sp>
          <p:graphicFrame>
            <p:nvGraphicFramePr>
              <p:cNvPr id="66609" name="对象 1558546"/>
              <p:cNvGraphicFramePr/>
              <p:nvPr/>
            </p:nvGraphicFramePr>
            <p:xfrm>
              <a:off x="2448" y="768"/>
              <a:ext cx="432" cy="266"/>
            </p:xfrm>
            <a:graphic>
              <a:graphicData uri="http://schemas.openxmlformats.org/presentationml/2006/ole">
                <mc:AlternateContent xmlns:mc="http://schemas.openxmlformats.org/markup-compatibility/2006">
                  <mc:Choice xmlns:v="urn:schemas-microsoft-com:vml" Requires="v">
                    <p:oleObj spid="_x0000_s43145" r:id="rId10" imgW="275590" imgH="165100" progId="Equation.3">
                      <p:embed/>
                    </p:oleObj>
                  </mc:Choice>
                  <mc:Fallback>
                    <p:oleObj r:id="rId10" imgW="275590" imgH="165100" progId="Equation.3">
                      <p:embed/>
                      <p:pic>
                        <p:nvPicPr>
                          <p:cNvPr id="0" name="图片 3192"/>
                          <p:cNvPicPr/>
                          <p:nvPr/>
                        </p:nvPicPr>
                        <p:blipFill>
                          <a:blip r:embed="rId11">
                            <a:clrChange>
                              <a:clrFrom>
                                <a:srgbClr val="000000"/>
                              </a:clrFrom>
                              <a:clrTo>
                                <a:srgbClr val="000000"/>
                              </a:clrTo>
                            </a:clrChange>
                          </a:blip>
                          <a:stretch>
                            <a:fillRect/>
                          </a:stretch>
                        </p:blipFill>
                        <p:spPr>
                          <a:xfrm>
                            <a:off x="2448" y="768"/>
                            <a:ext cx="432" cy="266"/>
                          </a:xfrm>
                          <a:prstGeom prst="rect">
                            <a:avLst/>
                          </a:prstGeom>
                          <a:noFill/>
                          <a:ln w="38100">
                            <a:noFill/>
                            <a:miter/>
                          </a:ln>
                        </p:spPr>
                      </p:pic>
                    </p:oleObj>
                  </mc:Fallback>
                </mc:AlternateContent>
              </a:graphicData>
            </a:graphic>
          </p:graphicFrame>
          <p:graphicFrame>
            <p:nvGraphicFramePr>
              <p:cNvPr id="66610" name="对象 1558547"/>
              <p:cNvGraphicFramePr/>
              <p:nvPr/>
            </p:nvGraphicFramePr>
            <p:xfrm>
              <a:off x="3360" y="768"/>
              <a:ext cx="388" cy="249"/>
            </p:xfrm>
            <a:graphic>
              <a:graphicData uri="http://schemas.openxmlformats.org/presentationml/2006/ole">
                <mc:AlternateContent xmlns:mc="http://schemas.openxmlformats.org/markup-compatibility/2006">
                  <mc:Choice xmlns:v="urn:schemas-microsoft-com:vml" Requires="v">
                    <p:oleObj spid="_x0000_s43146" r:id="rId12" imgW="264160" imgH="165100" progId="Equation.3">
                      <p:embed/>
                    </p:oleObj>
                  </mc:Choice>
                  <mc:Fallback>
                    <p:oleObj r:id="rId12" imgW="264160" imgH="165100" progId="Equation.3">
                      <p:embed/>
                      <p:pic>
                        <p:nvPicPr>
                          <p:cNvPr id="0" name="图片 3190"/>
                          <p:cNvPicPr/>
                          <p:nvPr/>
                        </p:nvPicPr>
                        <p:blipFill>
                          <a:blip r:embed="rId13">
                            <a:clrChange>
                              <a:clrFrom>
                                <a:srgbClr val="000000"/>
                              </a:clrFrom>
                              <a:clrTo>
                                <a:srgbClr val="000000"/>
                              </a:clrTo>
                            </a:clrChange>
                          </a:blip>
                          <a:stretch>
                            <a:fillRect/>
                          </a:stretch>
                        </p:blipFill>
                        <p:spPr>
                          <a:xfrm>
                            <a:off x="3360" y="768"/>
                            <a:ext cx="388" cy="249"/>
                          </a:xfrm>
                          <a:prstGeom prst="rect">
                            <a:avLst/>
                          </a:prstGeom>
                          <a:noFill/>
                          <a:ln w="38100">
                            <a:noFill/>
                            <a:miter/>
                          </a:ln>
                        </p:spPr>
                      </p:pic>
                    </p:oleObj>
                  </mc:Fallback>
                </mc:AlternateContent>
              </a:graphicData>
            </a:graphic>
          </p:graphicFrame>
          <p:sp>
            <p:nvSpPr>
              <p:cNvPr id="66611" name="直接连接符 1558548"/>
              <p:cNvSpPr/>
              <p:nvPr/>
            </p:nvSpPr>
            <p:spPr>
              <a:xfrm flipH="1">
                <a:off x="3264" y="1824"/>
                <a:ext cx="1296" cy="0"/>
              </a:xfrm>
              <a:prstGeom prst="line">
                <a:avLst/>
              </a:prstGeom>
              <a:ln w="12700" cap="sq" cmpd="sng">
                <a:solidFill>
                  <a:schemeClr val="tx1"/>
                </a:solidFill>
                <a:prstDash val="solid"/>
                <a:headEnd type="none" w="sm" len="sm"/>
                <a:tailEnd type="none" w="sm" len="sm"/>
              </a:ln>
            </p:spPr>
          </p:sp>
          <p:graphicFrame>
            <p:nvGraphicFramePr>
              <p:cNvPr id="66612" name="对象 1558549"/>
              <p:cNvGraphicFramePr/>
              <p:nvPr/>
            </p:nvGraphicFramePr>
            <p:xfrm>
              <a:off x="1008" y="1008"/>
              <a:ext cx="444" cy="263"/>
            </p:xfrm>
            <a:graphic>
              <a:graphicData uri="http://schemas.openxmlformats.org/presentationml/2006/ole">
                <mc:AlternateContent xmlns:mc="http://schemas.openxmlformats.org/markup-compatibility/2006">
                  <mc:Choice xmlns:v="urn:schemas-microsoft-com:vml" Requires="v">
                    <p:oleObj spid="_x0000_s43147" r:id="rId14" imgW="286385" imgH="165100" progId="Equation.3">
                      <p:embed/>
                    </p:oleObj>
                  </mc:Choice>
                  <mc:Fallback>
                    <p:oleObj r:id="rId14" imgW="286385" imgH="165100" progId="Equation.3">
                      <p:embed/>
                      <p:pic>
                        <p:nvPicPr>
                          <p:cNvPr id="0" name="图片 3196"/>
                          <p:cNvPicPr/>
                          <p:nvPr/>
                        </p:nvPicPr>
                        <p:blipFill>
                          <a:blip r:embed="rId15">
                            <a:clrChange>
                              <a:clrFrom>
                                <a:srgbClr val="000000"/>
                              </a:clrFrom>
                              <a:clrTo>
                                <a:srgbClr val="000000"/>
                              </a:clrTo>
                            </a:clrChange>
                          </a:blip>
                          <a:stretch>
                            <a:fillRect/>
                          </a:stretch>
                        </p:blipFill>
                        <p:spPr>
                          <a:xfrm>
                            <a:off x="1008" y="1008"/>
                            <a:ext cx="444" cy="263"/>
                          </a:xfrm>
                          <a:prstGeom prst="rect">
                            <a:avLst/>
                          </a:prstGeom>
                          <a:noFill/>
                          <a:ln w="38100">
                            <a:noFill/>
                            <a:miter/>
                          </a:ln>
                        </p:spPr>
                      </p:pic>
                    </p:oleObj>
                  </mc:Fallback>
                </mc:AlternateContent>
              </a:graphicData>
            </a:graphic>
          </p:graphicFrame>
          <p:sp>
            <p:nvSpPr>
              <p:cNvPr id="66613" name="文本框 1558550"/>
              <p:cNvSpPr txBox="1"/>
              <p:nvPr/>
            </p:nvSpPr>
            <p:spPr>
              <a:xfrm>
                <a:off x="1536" y="1344"/>
                <a:ext cx="336" cy="288"/>
              </a:xfrm>
              <a:prstGeom prst="rect">
                <a:avLst/>
              </a:prstGeom>
              <a:noFill/>
              <a:ln w="12700">
                <a:noFill/>
              </a:ln>
            </p:spPr>
            <p:txBody>
              <a:bodyPr>
                <a:spAutoFit/>
              </a:bodyPr>
              <a:lstStyle/>
              <a:p>
                <a:pPr algn="ctr"/>
                <a:r>
                  <a:rPr lang="en-US" altLang="zh-CN" sz="2400" b="0" dirty="0">
                    <a:latin typeface="Times New Roman" panose="02020603050405020304" pitchFamily="18" charset="0"/>
                  </a:rPr>
                  <a:t>+</a:t>
                </a:r>
              </a:p>
            </p:txBody>
          </p:sp>
          <p:sp>
            <p:nvSpPr>
              <p:cNvPr id="66614" name="直接连接符 1558551"/>
              <p:cNvSpPr/>
              <p:nvPr/>
            </p:nvSpPr>
            <p:spPr>
              <a:xfrm>
                <a:off x="1584" y="1837"/>
                <a:ext cx="1056" cy="0"/>
              </a:xfrm>
              <a:prstGeom prst="line">
                <a:avLst/>
              </a:prstGeom>
              <a:ln w="12700" cap="sq" cmpd="sng">
                <a:solidFill>
                  <a:schemeClr val="tx1"/>
                </a:solidFill>
                <a:prstDash val="solid"/>
                <a:headEnd type="none" w="sm" len="sm"/>
                <a:tailEnd type="none" w="sm" len="sm"/>
              </a:ln>
            </p:spPr>
          </p:sp>
          <p:graphicFrame>
            <p:nvGraphicFramePr>
              <p:cNvPr id="66615" name="对象 1558552"/>
              <p:cNvGraphicFramePr/>
              <p:nvPr/>
            </p:nvGraphicFramePr>
            <p:xfrm>
              <a:off x="4408" y="977"/>
              <a:ext cx="440" cy="271"/>
            </p:xfrm>
            <a:graphic>
              <a:graphicData uri="http://schemas.openxmlformats.org/presentationml/2006/ole">
                <mc:AlternateContent xmlns:mc="http://schemas.openxmlformats.org/markup-compatibility/2006">
                  <mc:Choice xmlns:v="urn:schemas-microsoft-com:vml" Requires="v">
                    <p:oleObj spid="_x0000_s43148" r:id="rId16" imgW="330200" imgH="203200" progId="Equation.3">
                      <p:embed/>
                    </p:oleObj>
                  </mc:Choice>
                  <mc:Fallback>
                    <p:oleObj r:id="rId16" imgW="330200" imgH="203200" progId="Equation.3">
                      <p:embed/>
                      <p:pic>
                        <p:nvPicPr>
                          <p:cNvPr id="0" name="图片 3193"/>
                          <p:cNvPicPr/>
                          <p:nvPr/>
                        </p:nvPicPr>
                        <p:blipFill>
                          <a:blip r:embed="rId17"/>
                          <a:stretch>
                            <a:fillRect/>
                          </a:stretch>
                        </p:blipFill>
                        <p:spPr>
                          <a:xfrm>
                            <a:off x="4408" y="977"/>
                            <a:ext cx="440" cy="271"/>
                          </a:xfrm>
                          <a:prstGeom prst="rect">
                            <a:avLst/>
                          </a:prstGeom>
                          <a:noFill/>
                          <a:ln w="38100">
                            <a:noFill/>
                            <a:miter/>
                          </a:ln>
                        </p:spPr>
                      </p:pic>
                    </p:oleObj>
                  </mc:Fallback>
                </mc:AlternateContent>
              </a:graphicData>
            </a:graphic>
          </p:graphicFrame>
          <p:sp>
            <p:nvSpPr>
              <p:cNvPr id="66616" name="直接连接符 1558553"/>
              <p:cNvSpPr/>
              <p:nvPr/>
            </p:nvSpPr>
            <p:spPr>
              <a:xfrm>
                <a:off x="1248" y="1308"/>
                <a:ext cx="240" cy="0"/>
              </a:xfrm>
              <a:prstGeom prst="line">
                <a:avLst/>
              </a:prstGeom>
              <a:ln w="12700" cap="sq" cmpd="sng">
                <a:solidFill>
                  <a:schemeClr val="tx1"/>
                </a:solidFill>
                <a:prstDash val="solid"/>
                <a:headEnd type="none" w="sm" len="sm"/>
                <a:tailEnd type="triangle" w="sm" len="sm"/>
              </a:ln>
            </p:spPr>
          </p:sp>
          <p:sp>
            <p:nvSpPr>
              <p:cNvPr id="66617" name="矩形 1558554"/>
              <p:cNvSpPr/>
              <p:nvPr/>
            </p:nvSpPr>
            <p:spPr>
              <a:xfrm>
                <a:off x="3696" y="1104"/>
                <a:ext cx="624" cy="336"/>
              </a:xfrm>
              <a:prstGeom prst="rect">
                <a:avLst/>
              </a:prstGeom>
              <a:solidFill>
                <a:schemeClr val="accent1"/>
              </a:solidFill>
              <a:ln w="12700" cap="sq" cmpd="sng">
                <a:solidFill>
                  <a:schemeClr val="tx1"/>
                </a:solidFill>
                <a:prstDash val="solid"/>
                <a:miter/>
                <a:headEnd type="none" w="sm" len="sm"/>
                <a:tailEnd type="none" w="sm" len="sm"/>
              </a:ln>
            </p:spPr>
            <p:txBody>
              <a:bodyPr/>
              <a:lstStyle/>
              <a:p>
                <a:endParaRPr lang="zh-CN" altLang="en-US" dirty="0">
                  <a:latin typeface="Arial" panose="020B0604020202020204" pitchFamily="34" charset="0"/>
                </a:endParaRPr>
              </a:p>
            </p:txBody>
          </p:sp>
          <p:graphicFrame>
            <p:nvGraphicFramePr>
              <p:cNvPr id="66618" name="对象 1558555"/>
              <p:cNvGraphicFramePr/>
              <p:nvPr/>
            </p:nvGraphicFramePr>
            <p:xfrm>
              <a:off x="3871" y="1155"/>
              <a:ext cx="269" cy="220"/>
            </p:xfrm>
            <a:graphic>
              <a:graphicData uri="http://schemas.openxmlformats.org/presentationml/2006/ole">
                <mc:AlternateContent xmlns:mc="http://schemas.openxmlformats.org/markup-compatibility/2006">
                  <mc:Choice xmlns:v="urn:schemas-microsoft-com:vml" Requires="v">
                    <p:oleObj spid="_x0000_s43149" r:id="rId18" imgW="203200" imgH="165100" progId="Equation.3">
                      <p:embed/>
                    </p:oleObj>
                  </mc:Choice>
                  <mc:Fallback>
                    <p:oleObj r:id="rId18" imgW="203200" imgH="165100" progId="Equation.3">
                      <p:embed/>
                      <p:pic>
                        <p:nvPicPr>
                          <p:cNvPr id="0" name="图片 3195"/>
                          <p:cNvPicPr/>
                          <p:nvPr/>
                        </p:nvPicPr>
                        <p:blipFill>
                          <a:blip r:embed="rId19"/>
                          <a:stretch>
                            <a:fillRect/>
                          </a:stretch>
                        </p:blipFill>
                        <p:spPr>
                          <a:xfrm>
                            <a:off x="3871" y="1155"/>
                            <a:ext cx="269" cy="220"/>
                          </a:xfrm>
                          <a:prstGeom prst="rect">
                            <a:avLst/>
                          </a:prstGeom>
                          <a:solidFill>
                            <a:schemeClr val="accent1"/>
                          </a:solidFill>
                          <a:ln w="38100">
                            <a:noFill/>
                            <a:miter/>
                          </a:ln>
                        </p:spPr>
                      </p:pic>
                    </p:oleObj>
                  </mc:Fallback>
                </mc:AlternateContent>
              </a:graphicData>
            </a:graphic>
          </p:graphicFrame>
          <p:sp>
            <p:nvSpPr>
              <p:cNvPr id="66619" name="直接连接符 1558556"/>
              <p:cNvSpPr/>
              <p:nvPr/>
            </p:nvSpPr>
            <p:spPr>
              <a:xfrm flipV="1">
                <a:off x="3408" y="1296"/>
                <a:ext cx="288" cy="0"/>
              </a:xfrm>
              <a:prstGeom prst="line">
                <a:avLst/>
              </a:prstGeom>
              <a:ln w="12700" cap="sq" cmpd="sng">
                <a:solidFill>
                  <a:schemeClr val="tx1"/>
                </a:solidFill>
                <a:prstDash val="solid"/>
                <a:headEnd type="none" w="sm" len="sm"/>
                <a:tailEnd type="triangle" w="sm" len="sm"/>
              </a:ln>
            </p:spPr>
          </p:sp>
          <p:sp>
            <p:nvSpPr>
              <p:cNvPr id="66620" name="直接连接符 1558557"/>
              <p:cNvSpPr/>
              <p:nvPr/>
            </p:nvSpPr>
            <p:spPr>
              <a:xfrm>
                <a:off x="2640" y="1008"/>
                <a:ext cx="0" cy="240"/>
              </a:xfrm>
              <a:prstGeom prst="line">
                <a:avLst/>
              </a:prstGeom>
              <a:ln w="9525" cap="flat" cmpd="sng">
                <a:solidFill>
                  <a:srgbClr val="800000"/>
                </a:solidFill>
                <a:prstDash val="solid"/>
                <a:miter/>
                <a:headEnd type="none" w="med" len="med"/>
                <a:tailEnd type="triangle" w="med" len="med"/>
              </a:ln>
            </p:spPr>
          </p:sp>
          <p:sp>
            <p:nvSpPr>
              <p:cNvPr id="66621" name="直接连接符 1558558"/>
              <p:cNvSpPr/>
              <p:nvPr/>
            </p:nvSpPr>
            <p:spPr>
              <a:xfrm>
                <a:off x="3552" y="1008"/>
                <a:ext cx="0" cy="240"/>
              </a:xfrm>
              <a:prstGeom prst="line">
                <a:avLst/>
              </a:prstGeom>
              <a:ln w="9525" cap="flat" cmpd="sng">
                <a:solidFill>
                  <a:srgbClr val="800000"/>
                </a:solidFill>
                <a:prstDash val="solid"/>
                <a:miter/>
                <a:headEnd type="none" w="med" len="med"/>
                <a:tailEnd type="triangle" w="med" len="med"/>
              </a:ln>
            </p:spPr>
          </p:sp>
        </p:grpSp>
        <p:graphicFrame>
          <p:nvGraphicFramePr>
            <p:cNvPr id="66596" name="对象 1558559"/>
            <p:cNvGraphicFramePr/>
            <p:nvPr/>
          </p:nvGraphicFramePr>
          <p:xfrm>
            <a:off x="748" y="1979"/>
            <a:ext cx="3134" cy="555"/>
          </p:xfrm>
          <a:graphic>
            <a:graphicData uri="http://schemas.openxmlformats.org/presentationml/2006/ole">
              <mc:AlternateContent xmlns:mc="http://schemas.openxmlformats.org/markup-compatibility/2006">
                <mc:Choice xmlns:v="urn:schemas-microsoft-com:vml" Requires="v">
                  <p:oleObj spid="_x0000_s43150" r:id="rId20" imgW="2104390" imgH="363855" progId="Equation.3">
                    <p:embed/>
                  </p:oleObj>
                </mc:Choice>
                <mc:Fallback>
                  <p:oleObj r:id="rId20" imgW="2104390" imgH="363855" progId="Equation.3">
                    <p:embed/>
                    <p:pic>
                      <p:nvPicPr>
                        <p:cNvPr id="0" name="图片 3188"/>
                        <p:cNvPicPr/>
                        <p:nvPr/>
                      </p:nvPicPr>
                      <p:blipFill>
                        <a:blip r:embed="rId21">
                          <a:clrChange>
                            <a:clrFrom>
                              <a:srgbClr val="000000"/>
                            </a:clrFrom>
                            <a:clrTo>
                              <a:srgbClr val="000000"/>
                            </a:clrTo>
                          </a:clrChange>
                        </a:blip>
                        <a:stretch>
                          <a:fillRect/>
                        </a:stretch>
                      </p:blipFill>
                      <p:spPr>
                        <a:xfrm>
                          <a:off x="748" y="1979"/>
                          <a:ext cx="3134" cy="555"/>
                        </a:xfrm>
                        <a:prstGeom prst="rect">
                          <a:avLst/>
                        </a:prstGeom>
                        <a:noFill/>
                        <a:ln w="38100">
                          <a:noFill/>
                          <a:miter/>
                        </a:ln>
                      </p:spPr>
                    </p:pic>
                  </p:oleObj>
                </mc:Fallback>
              </mc:AlternateContent>
            </a:graphicData>
          </a:graphic>
        </p:graphicFrame>
      </p:grpSp>
      <p:grpSp>
        <p:nvGrpSpPr>
          <p:cNvPr id="1558561" name="组合 1558560"/>
          <p:cNvGrpSpPr/>
          <p:nvPr/>
        </p:nvGrpSpPr>
        <p:grpSpPr>
          <a:xfrm>
            <a:off x="122238" y="4009303"/>
            <a:ext cx="6985000" cy="2092325"/>
            <a:chOff x="397" y="2560"/>
            <a:chExt cx="4400" cy="1318"/>
          </a:xfrm>
        </p:grpSpPr>
        <p:sp>
          <p:nvSpPr>
            <p:cNvPr id="66590" name="文本框 1558561"/>
            <p:cNvSpPr txBox="1"/>
            <p:nvPr/>
          </p:nvSpPr>
          <p:spPr>
            <a:xfrm>
              <a:off x="397" y="2560"/>
              <a:ext cx="3648" cy="288"/>
            </a:xfrm>
            <a:prstGeom prst="rect">
              <a:avLst/>
            </a:prstGeom>
            <a:noFill/>
            <a:ln w="9525">
              <a:noFill/>
            </a:ln>
          </p:spPr>
          <p:txBody>
            <a:bodyPr>
              <a:spAutoFit/>
            </a:bodyPr>
            <a:lstStyle/>
            <a:p>
              <a:pPr>
                <a:buBlip>
                  <a:blip r:embed="rId3"/>
                </a:buBlip>
              </a:pPr>
              <a:r>
                <a:rPr lang="en-US" altLang="zh-CN" sz="2400" b="0" dirty="0">
                  <a:latin typeface="Times New Roman" panose="02020603050405020304" pitchFamily="18" charset="0"/>
                  <a:ea typeface="华文中宋" panose="02010600040101010101" pitchFamily="2" charset="-122"/>
                </a:rPr>
                <a:t>    </a:t>
              </a:r>
              <a:r>
                <a:rPr lang="zh-CN" altLang="en-US" sz="2400" b="0" dirty="0">
                  <a:latin typeface="Times New Roman" panose="02020603050405020304" pitchFamily="18" charset="0"/>
                  <a:ea typeface="华文中宋" panose="02010600040101010101" pitchFamily="2" charset="-122"/>
                </a:rPr>
                <a:t>给定和扰动同时作用下的误差表达式</a:t>
              </a:r>
            </a:p>
          </p:txBody>
        </p:sp>
        <p:grpSp>
          <p:nvGrpSpPr>
            <p:cNvPr id="66591" name="组合 1558562"/>
            <p:cNvGrpSpPr/>
            <p:nvPr/>
          </p:nvGrpSpPr>
          <p:grpSpPr>
            <a:xfrm>
              <a:off x="1020" y="2976"/>
              <a:ext cx="3777" cy="902"/>
              <a:chOff x="1008" y="3120"/>
              <a:chExt cx="3777" cy="902"/>
            </a:xfrm>
          </p:grpSpPr>
          <p:graphicFrame>
            <p:nvGraphicFramePr>
              <p:cNvPr id="66592" name="对象 1558563"/>
              <p:cNvGraphicFramePr/>
              <p:nvPr/>
            </p:nvGraphicFramePr>
            <p:xfrm>
              <a:off x="1008" y="3120"/>
              <a:ext cx="2592" cy="293"/>
            </p:xfrm>
            <a:graphic>
              <a:graphicData uri="http://schemas.openxmlformats.org/presentationml/2006/ole">
                <mc:AlternateContent xmlns:mc="http://schemas.openxmlformats.org/markup-compatibility/2006">
                  <mc:Choice xmlns:v="urn:schemas-microsoft-com:vml" Requires="v">
                    <p:oleObj spid="_x0000_s43151" r:id="rId22" imgW="1740535" imgH="187325" progId="Equation.3">
                      <p:embed/>
                    </p:oleObj>
                  </mc:Choice>
                  <mc:Fallback>
                    <p:oleObj r:id="rId22" imgW="1740535" imgH="187325" progId="Equation.3">
                      <p:embed/>
                      <p:pic>
                        <p:nvPicPr>
                          <p:cNvPr id="0" name="图片 3189"/>
                          <p:cNvPicPr/>
                          <p:nvPr/>
                        </p:nvPicPr>
                        <p:blipFill>
                          <a:blip r:embed="rId23">
                            <a:clrChange>
                              <a:clrFrom>
                                <a:srgbClr val="000000"/>
                              </a:clrFrom>
                              <a:clrTo>
                                <a:srgbClr val="000000"/>
                              </a:clrTo>
                            </a:clrChange>
                          </a:blip>
                          <a:stretch>
                            <a:fillRect/>
                          </a:stretch>
                        </p:blipFill>
                        <p:spPr>
                          <a:xfrm>
                            <a:off x="1008" y="3120"/>
                            <a:ext cx="2592" cy="293"/>
                          </a:xfrm>
                          <a:prstGeom prst="rect">
                            <a:avLst/>
                          </a:prstGeom>
                          <a:noFill/>
                          <a:ln w="38100">
                            <a:noFill/>
                            <a:miter/>
                          </a:ln>
                        </p:spPr>
                      </p:pic>
                    </p:oleObj>
                  </mc:Fallback>
                </mc:AlternateContent>
              </a:graphicData>
            </a:graphic>
          </p:graphicFrame>
          <p:graphicFrame>
            <p:nvGraphicFramePr>
              <p:cNvPr id="66593" name="对象 1558564"/>
              <p:cNvGraphicFramePr/>
              <p:nvPr/>
            </p:nvGraphicFramePr>
            <p:xfrm>
              <a:off x="1392" y="3456"/>
              <a:ext cx="3393" cy="566"/>
            </p:xfrm>
            <a:graphic>
              <a:graphicData uri="http://schemas.openxmlformats.org/presentationml/2006/ole">
                <mc:AlternateContent xmlns:mc="http://schemas.openxmlformats.org/markup-compatibility/2006">
                  <mc:Choice xmlns:v="urn:schemas-microsoft-com:vml" Requires="v">
                    <p:oleObj spid="_x0000_s43152" r:id="rId24" imgW="2324735" imgH="363855" progId="Equation.3">
                      <p:embed/>
                    </p:oleObj>
                  </mc:Choice>
                  <mc:Fallback>
                    <p:oleObj r:id="rId24" imgW="2324735" imgH="363855" progId="Equation.3">
                      <p:embed/>
                      <p:pic>
                        <p:nvPicPr>
                          <p:cNvPr id="0" name="图片 3201"/>
                          <p:cNvPicPr/>
                          <p:nvPr/>
                        </p:nvPicPr>
                        <p:blipFill>
                          <a:blip r:embed="rId25">
                            <a:clrChange>
                              <a:clrFrom>
                                <a:srgbClr val="000000"/>
                              </a:clrFrom>
                              <a:clrTo>
                                <a:srgbClr val="000000"/>
                              </a:clrTo>
                            </a:clrChange>
                          </a:blip>
                          <a:stretch>
                            <a:fillRect/>
                          </a:stretch>
                        </p:blipFill>
                        <p:spPr>
                          <a:xfrm>
                            <a:off x="1392" y="3456"/>
                            <a:ext cx="3393" cy="566"/>
                          </a:xfrm>
                          <a:prstGeom prst="rect">
                            <a:avLst/>
                          </a:prstGeom>
                          <a:noFill/>
                          <a:ln w="38100">
                            <a:noFill/>
                            <a:miter/>
                          </a:ln>
                        </p:spPr>
                      </p:pic>
                    </p:oleObj>
                  </mc:Fallback>
                </mc:AlternateContent>
              </a:graphicData>
            </a:graphic>
          </p:graphicFrame>
        </p:grpSp>
      </p:grpSp>
      <p:grpSp>
        <p:nvGrpSpPr>
          <p:cNvPr id="66564" name="组合 1558565"/>
          <p:cNvGrpSpPr/>
          <p:nvPr/>
        </p:nvGrpSpPr>
        <p:grpSpPr>
          <a:xfrm>
            <a:off x="5940425" y="117475"/>
            <a:ext cx="2989263" cy="1223963"/>
            <a:chOff x="3024" y="480"/>
            <a:chExt cx="2688" cy="864"/>
          </a:xfrm>
        </p:grpSpPr>
        <p:sp>
          <p:nvSpPr>
            <p:cNvPr id="66566" name="直接连接符 1558566"/>
            <p:cNvSpPr/>
            <p:nvPr/>
          </p:nvSpPr>
          <p:spPr>
            <a:xfrm>
              <a:off x="3066" y="856"/>
              <a:ext cx="252" cy="0"/>
            </a:xfrm>
            <a:prstGeom prst="line">
              <a:avLst/>
            </a:prstGeom>
            <a:ln w="9525" cap="flat" cmpd="sng">
              <a:solidFill>
                <a:schemeClr val="tx1"/>
              </a:solidFill>
              <a:prstDash val="solid"/>
              <a:miter/>
              <a:headEnd type="none" w="med" len="med"/>
              <a:tailEnd type="triangle" w="med" len="med"/>
            </a:ln>
          </p:spPr>
        </p:sp>
        <p:sp>
          <p:nvSpPr>
            <p:cNvPr id="66567" name="流程图: 汇总连接 1558567"/>
            <p:cNvSpPr/>
            <p:nvPr/>
          </p:nvSpPr>
          <p:spPr>
            <a:xfrm>
              <a:off x="3318" y="781"/>
              <a:ext cx="168" cy="150"/>
            </a:xfrm>
            <a:prstGeom prst="flowChartSummingJunction">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6568" name="直接连接符 1558568"/>
            <p:cNvSpPr/>
            <p:nvPr/>
          </p:nvSpPr>
          <p:spPr>
            <a:xfrm>
              <a:off x="3486" y="856"/>
              <a:ext cx="252" cy="0"/>
            </a:xfrm>
            <a:prstGeom prst="line">
              <a:avLst/>
            </a:prstGeom>
            <a:ln w="9525" cap="flat" cmpd="sng">
              <a:solidFill>
                <a:schemeClr val="tx1"/>
              </a:solidFill>
              <a:prstDash val="solid"/>
              <a:miter/>
              <a:headEnd type="none" w="med" len="med"/>
              <a:tailEnd type="triangle" w="med" len="med"/>
            </a:ln>
          </p:spPr>
        </p:sp>
        <p:sp>
          <p:nvSpPr>
            <p:cNvPr id="66569" name="直接连接符 1558569"/>
            <p:cNvSpPr/>
            <p:nvPr/>
          </p:nvSpPr>
          <p:spPr>
            <a:xfrm>
              <a:off x="4200" y="852"/>
              <a:ext cx="168" cy="0"/>
            </a:xfrm>
            <a:prstGeom prst="line">
              <a:avLst/>
            </a:prstGeom>
            <a:ln w="9525" cap="flat" cmpd="sng">
              <a:solidFill>
                <a:schemeClr val="tx1"/>
              </a:solidFill>
              <a:prstDash val="solid"/>
              <a:miter/>
              <a:headEnd type="none" w="med" len="med"/>
              <a:tailEnd type="triangle" w="med" len="med"/>
            </a:ln>
          </p:spPr>
        </p:sp>
        <p:sp>
          <p:nvSpPr>
            <p:cNvPr id="66570" name="流程图: 汇总连接 1558570"/>
            <p:cNvSpPr/>
            <p:nvPr/>
          </p:nvSpPr>
          <p:spPr>
            <a:xfrm>
              <a:off x="4368" y="781"/>
              <a:ext cx="168" cy="150"/>
            </a:xfrm>
            <a:prstGeom prst="flowChartSummingJunction">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6571" name="直接连接符 1558571"/>
            <p:cNvSpPr/>
            <p:nvPr/>
          </p:nvSpPr>
          <p:spPr>
            <a:xfrm flipV="1">
              <a:off x="4530" y="852"/>
              <a:ext cx="144" cy="0"/>
            </a:xfrm>
            <a:prstGeom prst="line">
              <a:avLst/>
            </a:prstGeom>
            <a:ln w="9525" cap="flat" cmpd="sng">
              <a:solidFill>
                <a:schemeClr val="tx1"/>
              </a:solidFill>
              <a:prstDash val="solid"/>
              <a:miter/>
              <a:headEnd type="none" w="med" len="med"/>
              <a:tailEnd type="triangle" w="med" len="med"/>
            </a:ln>
          </p:spPr>
        </p:sp>
        <p:sp>
          <p:nvSpPr>
            <p:cNvPr id="66572" name="矩形 1558572"/>
            <p:cNvSpPr/>
            <p:nvPr/>
          </p:nvSpPr>
          <p:spPr>
            <a:xfrm>
              <a:off x="4674" y="705"/>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66573" name="直接连接符 1558573"/>
            <p:cNvSpPr/>
            <p:nvPr/>
          </p:nvSpPr>
          <p:spPr>
            <a:xfrm flipV="1">
              <a:off x="5136" y="858"/>
              <a:ext cx="576" cy="0"/>
            </a:xfrm>
            <a:prstGeom prst="line">
              <a:avLst/>
            </a:prstGeom>
            <a:ln w="9525" cap="flat" cmpd="sng">
              <a:solidFill>
                <a:schemeClr val="tx1"/>
              </a:solidFill>
              <a:prstDash val="solid"/>
              <a:miter/>
              <a:headEnd type="none" w="med" len="med"/>
              <a:tailEnd type="triangle" w="med" len="med"/>
            </a:ln>
          </p:spPr>
        </p:sp>
        <p:sp>
          <p:nvSpPr>
            <p:cNvPr id="66574" name="直接连接符 1558574"/>
            <p:cNvSpPr/>
            <p:nvPr/>
          </p:nvSpPr>
          <p:spPr>
            <a:xfrm>
              <a:off x="5280" y="856"/>
              <a:ext cx="0" cy="338"/>
            </a:xfrm>
            <a:prstGeom prst="line">
              <a:avLst/>
            </a:prstGeom>
            <a:ln w="9525" cap="flat" cmpd="sng">
              <a:solidFill>
                <a:schemeClr val="tx1"/>
              </a:solidFill>
              <a:prstDash val="solid"/>
              <a:miter/>
              <a:headEnd type="none" w="med" len="med"/>
              <a:tailEnd type="none" w="med" len="med"/>
            </a:ln>
          </p:spPr>
        </p:sp>
        <p:sp>
          <p:nvSpPr>
            <p:cNvPr id="66575" name="直接连接符 1558575"/>
            <p:cNvSpPr/>
            <p:nvPr/>
          </p:nvSpPr>
          <p:spPr>
            <a:xfrm flipH="1" flipV="1">
              <a:off x="3402" y="1194"/>
              <a:ext cx="1878" cy="6"/>
            </a:xfrm>
            <a:prstGeom prst="line">
              <a:avLst/>
            </a:prstGeom>
            <a:ln w="9525" cap="flat" cmpd="sng">
              <a:solidFill>
                <a:schemeClr val="tx1"/>
              </a:solidFill>
              <a:prstDash val="solid"/>
              <a:miter/>
              <a:headEnd type="none" w="med" len="med"/>
              <a:tailEnd type="none" w="med" len="med"/>
            </a:ln>
          </p:spPr>
        </p:sp>
        <p:sp>
          <p:nvSpPr>
            <p:cNvPr id="66576" name="直接连接符 1558576"/>
            <p:cNvSpPr/>
            <p:nvPr/>
          </p:nvSpPr>
          <p:spPr>
            <a:xfrm flipV="1">
              <a:off x="3402" y="931"/>
              <a:ext cx="0" cy="263"/>
            </a:xfrm>
            <a:prstGeom prst="line">
              <a:avLst/>
            </a:prstGeom>
            <a:ln w="9525" cap="flat" cmpd="sng">
              <a:solidFill>
                <a:schemeClr val="tx1"/>
              </a:solidFill>
              <a:prstDash val="solid"/>
              <a:miter/>
              <a:headEnd type="none" w="med" len="med"/>
              <a:tailEnd type="triangle" w="med" len="med"/>
            </a:ln>
          </p:spPr>
        </p:sp>
        <p:graphicFrame>
          <p:nvGraphicFramePr>
            <p:cNvPr id="66577" name="对象 1558577"/>
            <p:cNvGraphicFramePr/>
            <p:nvPr/>
          </p:nvGraphicFramePr>
          <p:xfrm>
            <a:off x="3024" y="661"/>
            <a:ext cx="340" cy="195"/>
          </p:xfrm>
          <a:graphic>
            <a:graphicData uri="http://schemas.openxmlformats.org/presentationml/2006/ole">
              <mc:AlternateContent xmlns:mc="http://schemas.openxmlformats.org/markup-compatibility/2006">
                <mc:Choice xmlns:v="urn:schemas-microsoft-com:vml" Requires="v">
                  <p:oleObj spid="_x0000_s43153" r:id="rId26" imgW="317500" imgH="203200" progId="Equation.3">
                    <p:embed/>
                  </p:oleObj>
                </mc:Choice>
                <mc:Fallback>
                  <p:oleObj r:id="rId26" imgW="317500" imgH="203200" progId="Equation.3">
                    <p:embed/>
                    <p:pic>
                      <p:nvPicPr>
                        <p:cNvPr id="0" name="图片 3202"/>
                        <p:cNvPicPr/>
                        <p:nvPr/>
                      </p:nvPicPr>
                      <p:blipFill>
                        <a:blip r:embed="rId27"/>
                        <a:stretch>
                          <a:fillRect/>
                        </a:stretch>
                      </p:blipFill>
                      <p:spPr>
                        <a:xfrm>
                          <a:off x="3024" y="661"/>
                          <a:ext cx="340" cy="195"/>
                        </a:xfrm>
                        <a:prstGeom prst="rect">
                          <a:avLst/>
                        </a:prstGeom>
                        <a:noFill/>
                        <a:ln w="38100">
                          <a:noFill/>
                          <a:miter/>
                        </a:ln>
                      </p:spPr>
                    </p:pic>
                  </p:oleObj>
                </mc:Fallback>
              </mc:AlternateContent>
            </a:graphicData>
          </a:graphic>
        </p:graphicFrame>
        <p:sp>
          <p:nvSpPr>
            <p:cNvPr id="66578" name="直接连接符 1558578"/>
            <p:cNvSpPr/>
            <p:nvPr/>
          </p:nvSpPr>
          <p:spPr>
            <a:xfrm>
              <a:off x="4452" y="518"/>
              <a:ext cx="0" cy="263"/>
            </a:xfrm>
            <a:prstGeom prst="line">
              <a:avLst/>
            </a:prstGeom>
            <a:ln w="9525" cap="flat" cmpd="sng">
              <a:solidFill>
                <a:schemeClr val="tx1"/>
              </a:solidFill>
              <a:prstDash val="solid"/>
              <a:miter/>
              <a:headEnd type="none" w="med" len="med"/>
              <a:tailEnd type="triangle" w="med" len="med"/>
            </a:ln>
          </p:spPr>
        </p:sp>
        <p:graphicFrame>
          <p:nvGraphicFramePr>
            <p:cNvPr id="66579" name="对象 1558579"/>
            <p:cNvGraphicFramePr/>
            <p:nvPr/>
          </p:nvGraphicFramePr>
          <p:xfrm>
            <a:off x="4439" y="480"/>
            <a:ext cx="367" cy="195"/>
          </p:xfrm>
          <a:graphic>
            <a:graphicData uri="http://schemas.openxmlformats.org/presentationml/2006/ole">
              <mc:AlternateContent xmlns:mc="http://schemas.openxmlformats.org/markup-compatibility/2006">
                <mc:Choice xmlns:v="urn:schemas-microsoft-com:vml" Requires="v">
                  <p:oleObj spid="_x0000_s43154" r:id="rId28" imgW="342900" imgH="203200" progId="Equation.3">
                    <p:embed/>
                  </p:oleObj>
                </mc:Choice>
                <mc:Fallback>
                  <p:oleObj r:id="rId28" imgW="342900" imgH="203200" progId="Equation.3">
                    <p:embed/>
                    <p:pic>
                      <p:nvPicPr>
                        <p:cNvPr id="0" name="图片 3199"/>
                        <p:cNvPicPr/>
                        <p:nvPr/>
                      </p:nvPicPr>
                      <p:blipFill>
                        <a:blip r:embed="rId29"/>
                        <a:stretch>
                          <a:fillRect/>
                        </a:stretch>
                      </p:blipFill>
                      <p:spPr>
                        <a:xfrm>
                          <a:off x="4439" y="480"/>
                          <a:ext cx="367" cy="195"/>
                        </a:xfrm>
                        <a:prstGeom prst="rect">
                          <a:avLst/>
                        </a:prstGeom>
                        <a:noFill/>
                        <a:ln w="38100">
                          <a:noFill/>
                          <a:miter/>
                        </a:ln>
                      </p:spPr>
                    </p:pic>
                  </p:oleObj>
                </mc:Fallback>
              </mc:AlternateContent>
            </a:graphicData>
          </a:graphic>
        </p:graphicFrame>
        <p:graphicFrame>
          <p:nvGraphicFramePr>
            <p:cNvPr id="66580" name="对象 1558580"/>
            <p:cNvGraphicFramePr/>
            <p:nvPr/>
          </p:nvGraphicFramePr>
          <p:xfrm>
            <a:off x="5328" y="576"/>
            <a:ext cx="353" cy="195"/>
          </p:xfrm>
          <a:graphic>
            <a:graphicData uri="http://schemas.openxmlformats.org/presentationml/2006/ole">
              <mc:AlternateContent xmlns:mc="http://schemas.openxmlformats.org/markup-compatibility/2006">
                <mc:Choice xmlns:v="urn:schemas-microsoft-com:vml" Requires="v">
                  <p:oleObj spid="_x0000_s43155" r:id="rId30" imgW="330200" imgH="203200" progId="Equation.3">
                    <p:embed/>
                  </p:oleObj>
                </mc:Choice>
                <mc:Fallback>
                  <p:oleObj r:id="rId30" imgW="330200" imgH="203200" progId="Equation.3">
                    <p:embed/>
                    <p:pic>
                      <p:nvPicPr>
                        <p:cNvPr id="0" name="图片 3203"/>
                        <p:cNvPicPr/>
                        <p:nvPr/>
                      </p:nvPicPr>
                      <p:blipFill>
                        <a:blip r:embed="rId31"/>
                        <a:stretch>
                          <a:fillRect/>
                        </a:stretch>
                      </p:blipFill>
                      <p:spPr>
                        <a:xfrm>
                          <a:off x="5328" y="576"/>
                          <a:ext cx="353" cy="195"/>
                        </a:xfrm>
                        <a:prstGeom prst="rect">
                          <a:avLst/>
                        </a:prstGeom>
                        <a:noFill/>
                        <a:ln w="38100">
                          <a:noFill/>
                          <a:miter/>
                        </a:ln>
                      </p:spPr>
                    </p:pic>
                  </p:oleObj>
                </mc:Fallback>
              </mc:AlternateContent>
            </a:graphicData>
          </a:graphic>
        </p:graphicFrame>
        <p:graphicFrame>
          <p:nvGraphicFramePr>
            <p:cNvPr id="66581" name="对象 1558581"/>
            <p:cNvGraphicFramePr/>
            <p:nvPr/>
          </p:nvGraphicFramePr>
          <p:xfrm>
            <a:off x="4715" y="743"/>
            <a:ext cx="421" cy="207"/>
          </p:xfrm>
          <a:graphic>
            <a:graphicData uri="http://schemas.openxmlformats.org/presentationml/2006/ole">
              <mc:AlternateContent xmlns:mc="http://schemas.openxmlformats.org/markup-compatibility/2006">
                <mc:Choice xmlns:v="urn:schemas-microsoft-com:vml" Requires="v">
                  <p:oleObj spid="_x0000_s43156" r:id="rId32" imgW="393065" imgH="215900" progId="Equation.3">
                    <p:embed/>
                  </p:oleObj>
                </mc:Choice>
                <mc:Fallback>
                  <p:oleObj r:id="rId32" imgW="393065" imgH="215900" progId="Equation.3">
                    <p:embed/>
                    <p:pic>
                      <p:nvPicPr>
                        <p:cNvPr id="0" name="图片 3197"/>
                        <p:cNvPicPr/>
                        <p:nvPr/>
                      </p:nvPicPr>
                      <p:blipFill>
                        <a:blip r:embed="rId7"/>
                        <a:stretch>
                          <a:fillRect/>
                        </a:stretch>
                      </p:blipFill>
                      <p:spPr>
                        <a:xfrm>
                          <a:off x="4715" y="743"/>
                          <a:ext cx="421" cy="207"/>
                        </a:xfrm>
                        <a:prstGeom prst="rect">
                          <a:avLst/>
                        </a:prstGeom>
                        <a:noFill/>
                        <a:ln w="38100">
                          <a:noFill/>
                          <a:miter/>
                        </a:ln>
                      </p:spPr>
                    </p:pic>
                  </p:oleObj>
                </mc:Fallback>
              </mc:AlternateContent>
            </a:graphicData>
          </a:graphic>
        </p:graphicFrame>
        <p:sp>
          <p:nvSpPr>
            <p:cNvPr id="66582" name="矩形 1558582"/>
            <p:cNvSpPr/>
            <p:nvPr/>
          </p:nvSpPr>
          <p:spPr>
            <a:xfrm>
              <a:off x="3738" y="705"/>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graphicFrame>
          <p:nvGraphicFramePr>
            <p:cNvPr id="66583" name="对象 1558583"/>
            <p:cNvGraphicFramePr/>
            <p:nvPr/>
          </p:nvGraphicFramePr>
          <p:xfrm>
            <a:off x="3792" y="743"/>
            <a:ext cx="394" cy="207"/>
          </p:xfrm>
          <a:graphic>
            <a:graphicData uri="http://schemas.openxmlformats.org/presentationml/2006/ole">
              <mc:AlternateContent xmlns:mc="http://schemas.openxmlformats.org/markup-compatibility/2006">
                <mc:Choice xmlns:v="urn:schemas-microsoft-com:vml" Requires="v">
                  <p:oleObj spid="_x0000_s43157" r:id="rId33" imgW="367665" imgH="215900" progId="Equation.3">
                    <p:embed/>
                  </p:oleObj>
                </mc:Choice>
                <mc:Fallback>
                  <p:oleObj r:id="rId33" imgW="367665" imgH="215900" progId="Equation.3">
                    <p:embed/>
                    <p:pic>
                      <p:nvPicPr>
                        <p:cNvPr id="0" name="图片 3204"/>
                        <p:cNvPicPr/>
                        <p:nvPr/>
                      </p:nvPicPr>
                      <p:blipFill>
                        <a:blip r:embed="rId5"/>
                        <a:stretch>
                          <a:fillRect/>
                        </a:stretch>
                      </p:blipFill>
                      <p:spPr>
                        <a:xfrm>
                          <a:off x="3792" y="743"/>
                          <a:ext cx="394" cy="207"/>
                        </a:xfrm>
                        <a:prstGeom prst="rect">
                          <a:avLst/>
                        </a:prstGeom>
                        <a:noFill/>
                        <a:ln w="38100">
                          <a:noFill/>
                          <a:miter/>
                        </a:ln>
                      </p:spPr>
                    </p:pic>
                  </p:oleObj>
                </mc:Fallback>
              </mc:AlternateContent>
            </a:graphicData>
          </a:graphic>
        </p:graphicFrame>
        <p:sp>
          <p:nvSpPr>
            <p:cNvPr id="66584" name="文本框 1558584"/>
            <p:cNvSpPr txBox="1"/>
            <p:nvPr/>
          </p:nvSpPr>
          <p:spPr>
            <a:xfrm>
              <a:off x="3402" y="857"/>
              <a:ext cx="252" cy="322"/>
            </a:xfrm>
            <a:prstGeom prst="rect">
              <a:avLst/>
            </a:prstGeom>
            <a:noFill/>
            <a:ln w="9525">
              <a:noFill/>
            </a:ln>
          </p:spPr>
          <p:txBody>
            <a:bodyPr>
              <a:spAutoFit/>
            </a:bodyPr>
            <a:lstStyle/>
            <a:p>
              <a:r>
                <a:rPr lang="en-US" altLang="zh-CN" sz="2400" b="0" dirty="0">
                  <a:latin typeface="Times New Roman" panose="02020603050405020304" pitchFamily="18" charset="0"/>
                </a:rPr>
                <a:t>-</a:t>
              </a:r>
            </a:p>
          </p:txBody>
        </p:sp>
        <p:sp>
          <p:nvSpPr>
            <p:cNvPr id="66585" name="文本框 1558585"/>
            <p:cNvSpPr txBox="1"/>
            <p:nvPr/>
          </p:nvSpPr>
          <p:spPr>
            <a:xfrm>
              <a:off x="4429" y="593"/>
              <a:ext cx="251" cy="323"/>
            </a:xfrm>
            <a:prstGeom prst="rect">
              <a:avLst/>
            </a:prstGeom>
            <a:noFill/>
            <a:ln w="9525">
              <a:noFill/>
            </a:ln>
          </p:spPr>
          <p:txBody>
            <a:bodyPr>
              <a:spAutoFit/>
            </a:bodyPr>
            <a:lstStyle/>
            <a:p>
              <a:r>
                <a:rPr lang="en-US" altLang="zh-CN" sz="2400" b="0" dirty="0">
                  <a:latin typeface="Times New Roman" panose="02020603050405020304" pitchFamily="18" charset="0"/>
                </a:rPr>
                <a:t>+</a:t>
              </a:r>
            </a:p>
          </p:txBody>
        </p:sp>
        <p:graphicFrame>
          <p:nvGraphicFramePr>
            <p:cNvPr id="66586" name="对象 1558586"/>
            <p:cNvGraphicFramePr/>
            <p:nvPr/>
          </p:nvGraphicFramePr>
          <p:xfrm>
            <a:off x="3434" y="668"/>
            <a:ext cx="353" cy="195"/>
          </p:xfrm>
          <a:graphic>
            <a:graphicData uri="http://schemas.openxmlformats.org/presentationml/2006/ole">
              <mc:AlternateContent xmlns:mc="http://schemas.openxmlformats.org/markup-compatibility/2006">
                <mc:Choice xmlns:v="urn:schemas-microsoft-com:vml" Requires="v">
                  <p:oleObj spid="_x0000_s43158" r:id="rId34" imgW="330200" imgH="203200" progId="Equation.3">
                    <p:embed/>
                  </p:oleObj>
                </mc:Choice>
                <mc:Fallback>
                  <p:oleObj r:id="rId34" imgW="330200" imgH="203200" progId="Equation.3">
                    <p:embed/>
                    <p:pic>
                      <p:nvPicPr>
                        <p:cNvPr id="0" name="图片 3198"/>
                        <p:cNvPicPr/>
                        <p:nvPr/>
                      </p:nvPicPr>
                      <p:blipFill>
                        <a:blip r:embed="rId17"/>
                        <a:stretch>
                          <a:fillRect/>
                        </a:stretch>
                      </p:blipFill>
                      <p:spPr>
                        <a:xfrm>
                          <a:off x="3434" y="668"/>
                          <a:ext cx="353" cy="195"/>
                        </a:xfrm>
                        <a:prstGeom prst="rect">
                          <a:avLst/>
                        </a:prstGeom>
                        <a:noFill/>
                        <a:ln w="38100">
                          <a:noFill/>
                          <a:miter/>
                        </a:ln>
                      </p:spPr>
                    </p:pic>
                  </p:oleObj>
                </mc:Fallback>
              </mc:AlternateContent>
            </a:graphicData>
          </a:graphic>
        </p:graphicFrame>
        <p:sp>
          <p:nvSpPr>
            <p:cNvPr id="66587" name="矩形 1558587"/>
            <p:cNvSpPr/>
            <p:nvPr/>
          </p:nvSpPr>
          <p:spPr>
            <a:xfrm>
              <a:off x="4158" y="1043"/>
              <a:ext cx="462" cy="301"/>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dirty="0">
                <a:latin typeface="Arial" panose="020B0604020202020204" pitchFamily="34" charset="0"/>
              </a:endParaRPr>
            </a:p>
          </p:txBody>
        </p:sp>
        <p:graphicFrame>
          <p:nvGraphicFramePr>
            <p:cNvPr id="66588" name="对象 1558588"/>
            <p:cNvGraphicFramePr/>
            <p:nvPr/>
          </p:nvGraphicFramePr>
          <p:xfrm>
            <a:off x="4219" y="1087"/>
            <a:ext cx="380" cy="195"/>
          </p:xfrm>
          <a:graphic>
            <a:graphicData uri="http://schemas.openxmlformats.org/presentationml/2006/ole">
              <mc:AlternateContent xmlns:mc="http://schemas.openxmlformats.org/markup-compatibility/2006">
                <mc:Choice xmlns:v="urn:schemas-microsoft-com:vml" Requires="v">
                  <p:oleObj spid="_x0000_s43159" r:id="rId35" imgW="355600" imgH="203200" progId="Equation.3">
                    <p:embed/>
                  </p:oleObj>
                </mc:Choice>
                <mc:Fallback>
                  <p:oleObj r:id="rId35" imgW="355600" imgH="203200" progId="Equation.3">
                    <p:embed/>
                    <p:pic>
                      <p:nvPicPr>
                        <p:cNvPr id="0" name="图片 3200"/>
                        <p:cNvPicPr/>
                        <p:nvPr/>
                      </p:nvPicPr>
                      <p:blipFill>
                        <a:blip r:embed="rId9"/>
                        <a:stretch>
                          <a:fillRect/>
                        </a:stretch>
                      </p:blipFill>
                      <p:spPr>
                        <a:xfrm>
                          <a:off x="4219" y="1087"/>
                          <a:ext cx="380" cy="195"/>
                        </a:xfrm>
                        <a:prstGeom prst="rect">
                          <a:avLst/>
                        </a:prstGeom>
                        <a:noFill/>
                        <a:ln w="38100">
                          <a:noFill/>
                          <a:miter/>
                        </a:ln>
                      </p:spPr>
                    </p:pic>
                  </p:oleObj>
                </mc:Fallback>
              </mc:AlternateContent>
            </a:graphicData>
          </a:graphic>
        </p:graphicFrame>
        <p:graphicFrame>
          <p:nvGraphicFramePr>
            <p:cNvPr id="66589" name="对象 1558589"/>
            <p:cNvGraphicFramePr/>
            <p:nvPr/>
          </p:nvGraphicFramePr>
          <p:xfrm>
            <a:off x="3061" y="960"/>
            <a:ext cx="340" cy="195"/>
          </p:xfrm>
          <a:graphic>
            <a:graphicData uri="http://schemas.openxmlformats.org/presentationml/2006/ole">
              <mc:AlternateContent xmlns:mc="http://schemas.openxmlformats.org/markup-compatibility/2006">
                <mc:Choice xmlns:v="urn:schemas-microsoft-com:vml" Requires="v">
                  <p:oleObj spid="_x0000_s43160" r:id="rId36" imgW="317500" imgH="203200" progId="Equation.3">
                    <p:embed/>
                  </p:oleObj>
                </mc:Choice>
                <mc:Fallback>
                  <p:oleObj r:id="rId36" imgW="317500" imgH="203200" progId="Equation.3">
                    <p:embed/>
                    <p:pic>
                      <p:nvPicPr>
                        <p:cNvPr id="0" name="图片 3206"/>
                        <p:cNvPicPr/>
                        <p:nvPr/>
                      </p:nvPicPr>
                      <p:blipFill>
                        <a:blip r:embed="rId37"/>
                        <a:stretch>
                          <a:fillRect/>
                        </a:stretch>
                      </p:blipFill>
                      <p:spPr>
                        <a:xfrm>
                          <a:off x="3061" y="960"/>
                          <a:ext cx="340" cy="195"/>
                        </a:xfrm>
                        <a:prstGeom prst="rect">
                          <a:avLst/>
                        </a:prstGeom>
                        <a:noFill/>
                        <a:ln w="38100">
                          <a:noFill/>
                          <a:miter/>
                        </a:ln>
                      </p:spPr>
                    </p:pic>
                  </p:oleObj>
                </mc:Fallback>
              </mc:AlternateContent>
            </a:graphicData>
          </a:graphic>
        </p:graphicFrame>
      </p:grpSp>
      <p:sp>
        <p:nvSpPr>
          <p:cNvPr id="66565" name="矩形 1558590"/>
          <p:cNvSpPr/>
          <p:nvPr/>
        </p:nvSpPr>
        <p:spPr>
          <a:xfrm>
            <a:off x="1135927" y="75016"/>
            <a:ext cx="3995738" cy="346075"/>
          </a:xfrm>
          <a:prstGeom prst="rect">
            <a:avLst/>
          </a:prstGeom>
          <a:solidFill>
            <a:srgbClr val="FCFF91"/>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spAutoFit/>
          </a:bodyPr>
          <a:lstStyle/>
          <a:p>
            <a:pPr algn="ctr"/>
            <a:r>
              <a:rPr lang="zh-CN" altLang="en-US" sz="1600" b="0" dirty="0">
                <a:latin typeface="Arial" panose="020B0604020202020204" pitchFamily="34" charset="0"/>
                <a:ea typeface="华文中宋" panose="02010600040101010101" pitchFamily="2" charset="-122"/>
              </a:rPr>
              <a:t>稳态误差的计算－－误差传递函数的计算</a:t>
            </a:r>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58532"/>
                                        </p:tgtEl>
                                        <p:attrNameLst>
                                          <p:attrName>style.visibility</p:attrName>
                                        </p:attrNameLst>
                                      </p:cBhvr>
                                      <p:to>
                                        <p:strVal val="visible"/>
                                      </p:to>
                                    </p:set>
                                    <p:anim calcmode="lin" valueType="num">
                                      <p:cBhvr>
                                        <p:cTn id="7" dur="500" fill="hold"/>
                                        <p:tgtEl>
                                          <p:spTgt spid="1558532"/>
                                        </p:tgtEl>
                                        <p:attrNameLst>
                                          <p:attrName>ppt_w</p:attrName>
                                        </p:attrNameLst>
                                      </p:cBhvr>
                                      <p:tavLst>
                                        <p:tav tm="0">
                                          <p:val>
                                            <p:fltVal val="0"/>
                                          </p:val>
                                        </p:tav>
                                        <p:tav tm="100000">
                                          <p:val>
                                            <p:strVal val="#ppt_w"/>
                                          </p:val>
                                        </p:tav>
                                      </p:tavLst>
                                    </p:anim>
                                    <p:anim calcmode="lin" valueType="num">
                                      <p:cBhvr>
                                        <p:cTn id="8" dur="500" fill="hold"/>
                                        <p:tgtEl>
                                          <p:spTgt spid="1558532"/>
                                        </p:tgtEl>
                                        <p:attrNameLst>
                                          <p:attrName>ppt_h</p:attrName>
                                        </p:attrNameLst>
                                      </p:cBhvr>
                                      <p:tavLst>
                                        <p:tav tm="0">
                                          <p:val>
                                            <p:fltVal val="0"/>
                                          </p:val>
                                        </p:tav>
                                        <p:tav tm="100000">
                                          <p:val>
                                            <p:strVal val="#ppt_h"/>
                                          </p:val>
                                        </p:tav>
                                      </p:tavLst>
                                    </p:anim>
                                    <p:animEffect transition="in" filter="fade">
                                      <p:cBhvr>
                                        <p:cTn id="9" dur="500"/>
                                        <p:tgtEl>
                                          <p:spTgt spid="155853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58561"/>
                                        </p:tgtEl>
                                        <p:attrNameLst>
                                          <p:attrName>style.visibility</p:attrName>
                                        </p:attrNameLst>
                                      </p:cBhvr>
                                      <p:to>
                                        <p:strVal val="visible"/>
                                      </p:to>
                                    </p:set>
                                    <p:anim calcmode="lin" valueType="num">
                                      <p:cBhvr>
                                        <p:cTn id="14" dur="500" fill="hold"/>
                                        <p:tgtEl>
                                          <p:spTgt spid="1558561"/>
                                        </p:tgtEl>
                                        <p:attrNameLst>
                                          <p:attrName>ppt_w</p:attrName>
                                        </p:attrNameLst>
                                      </p:cBhvr>
                                      <p:tavLst>
                                        <p:tav tm="0">
                                          <p:val>
                                            <p:fltVal val="0"/>
                                          </p:val>
                                        </p:tav>
                                        <p:tav tm="100000">
                                          <p:val>
                                            <p:strVal val="#ppt_w"/>
                                          </p:val>
                                        </p:tav>
                                      </p:tavLst>
                                    </p:anim>
                                    <p:anim calcmode="lin" valueType="num">
                                      <p:cBhvr>
                                        <p:cTn id="15" dur="500" fill="hold"/>
                                        <p:tgtEl>
                                          <p:spTgt spid="1558561"/>
                                        </p:tgtEl>
                                        <p:attrNameLst>
                                          <p:attrName>ppt_h</p:attrName>
                                        </p:attrNameLst>
                                      </p:cBhvr>
                                      <p:tavLst>
                                        <p:tav tm="0">
                                          <p:val>
                                            <p:fltVal val="0"/>
                                          </p:val>
                                        </p:tav>
                                        <p:tav tm="100000">
                                          <p:val>
                                            <p:strVal val="#ppt_h"/>
                                          </p:val>
                                        </p:tav>
                                      </p:tavLst>
                                    </p:anim>
                                    <p:animEffect transition="in" filter="fade">
                                      <p:cBhvr>
                                        <p:cTn id="16" dur="500"/>
                                        <p:tgtEl>
                                          <p:spTgt spid="1558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06D13E14-9322-4542-9D13-DBA178D44659}"/>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sp>
        <p:nvSpPr>
          <p:cNvPr id="1483778" name="文本框 1483777"/>
          <p:cNvSpPr txBox="1"/>
          <p:nvPr/>
        </p:nvSpPr>
        <p:spPr>
          <a:xfrm>
            <a:off x="1284319" y="-83948"/>
            <a:ext cx="3287713" cy="1038225"/>
          </a:xfrm>
          <a:prstGeom prst="rect">
            <a:avLst/>
          </a:prstGeom>
          <a:noFill/>
          <a:ln w="9525">
            <a:noFill/>
          </a:ln>
        </p:spPr>
        <p:txBody>
          <a:bodyPr>
            <a:spAutoFit/>
          </a:bodyPr>
          <a:lstStyle/>
          <a:p>
            <a:pPr>
              <a:lnSpc>
                <a:spcPct val="110000"/>
              </a:lnSpc>
              <a:spcBef>
                <a:spcPct val="0"/>
              </a:spcBef>
            </a:pPr>
            <a:r>
              <a:rPr lang="en-US" altLang="zh-CN" sz="2800" b="0" dirty="0">
                <a:solidFill>
                  <a:schemeClr val="tx1"/>
                </a:solidFill>
                <a:latin typeface="华文新魏" panose="02010800040101010101" pitchFamily="2" charset="-122"/>
                <a:ea typeface="华文新魏" panose="02010800040101010101" pitchFamily="2" charset="-122"/>
              </a:rPr>
              <a:t> </a:t>
            </a:r>
            <a:r>
              <a:rPr lang="en-US" altLang="zh-CN" sz="2800" dirty="0">
                <a:solidFill>
                  <a:schemeClr val="tx1"/>
                </a:solidFill>
                <a:latin typeface="华文新魏" panose="02010800040101010101" pitchFamily="2" charset="-122"/>
                <a:ea typeface="华文新魏" panose="02010800040101010101" pitchFamily="2" charset="-122"/>
              </a:rPr>
              <a:t>3.</a:t>
            </a:r>
            <a:r>
              <a:rPr lang="zh-CN" altLang="en-US" sz="2800" dirty="0">
                <a:solidFill>
                  <a:schemeClr val="tx1"/>
                </a:solidFill>
                <a:latin typeface="华文新魏" panose="02010800040101010101" pitchFamily="2" charset="-122"/>
                <a:ea typeface="华文新魏" panose="02010800040101010101" pitchFamily="2" charset="-122"/>
              </a:rPr>
              <a:t>　稳态误差</a:t>
            </a:r>
            <a:r>
              <a:rPr lang="en-US" altLang="zh-CN" sz="2800" i="1" dirty="0">
                <a:solidFill>
                  <a:schemeClr val="tx1"/>
                </a:solidFill>
                <a:latin typeface="Times New Roman" panose="02020603050405020304" pitchFamily="18" charset="0"/>
                <a:ea typeface="华文新魏" panose="02010800040101010101" pitchFamily="2" charset="-122"/>
              </a:rPr>
              <a:t>e</a:t>
            </a:r>
            <a:r>
              <a:rPr lang="en-US" altLang="zh-CN" sz="2800" i="1" baseline="-30000" dirty="0">
                <a:solidFill>
                  <a:schemeClr val="tx1"/>
                </a:solidFill>
                <a:latin typeface="Times New Roman" panose="02020603050405020304" pitchFamily="18" charset="0"/>
                <a:ea typeface="华文新魏" panose="02010800040101010101" pitchFamily="2" charset="-122"/>
              </a:rPr>
              <a:t>ss</a:t>
            </a:r>
          </a:p>
          <a:p>
            <a:pPr>
              <a:lnSpc>
                <a:spcPct val="110000"/>
              </a:lnSpc>
              <a:spcBef>
                <a:spcPct val="0"/>
              </a:spcBef>
            </a:pPr>
            <a:r>
              <a:rPr lang="zh-CN" altLang="en-US" sz="2800" dirty="0">
                <a:solidFill>
                  <a:schemeClr val="tx1"/>
                </a:solidFill>
                <a:latin typeface="Arial" panose="020B0604020202020204" pitchFamily="34" charset="0"/>
              </a:rPr>
              <a:t>定义：</a:t>
            </a:r>
          </a:p>
        </p:txBody>
      </p:sp>
      <p:graphicFrame>
        <p:nvGraphicFramePr>
          <p:cNvPr id="1483779" name="对象 1483778"/>
          <p:cNvGraphicFramePr/>
          <p:nvPr>
            <p:extLst>
              <p:ext uri="{D42A27DB-BD31-4B8C-83A1-F6EECF244321}">
                <p14:modId xmlns:p14="http://schemas.microsoft.com/office/powerpoint/2010/main" val="218624301"/>
              </p:ext>
            </p:extLst>
          </p:nvPr>
        </p:nvGraphicFramePr>
        <p:xfrm>
          <a:off x="962377" y="816165"/>
          <a:ext cx="3930650" cy="741363"/>
        </p:xfrm>
        <a:graphic>
          <a:graphicData uri="http://schemas.openxmlformats.org/presentationml/2006/ole">
            <mc:AlternateContent xmlns:mc="http://schemas.openxmlformats.org/markup-compatibility/2006">
              <mc:Choice xmlns:v="urn:schemas-microsoft-com:vml" Requires="v">
                <p:oleObj spid="_x0000_s44068" r:id="rId3" imgW="1344930" imgH="254000" progId="Equation.3">
                  <p:embed/>
                </p:oleObj>
              </mc:Choice>
              <mc:Fallback>
                <p:oleObj r:id="rId3" imgW="1344930" imgH="254000" progId="Equation.3">
                  <p:embed/>
                  <p:pic>
                    <p:nvPicPr>
                      <p:cNvPr id="0" name="图片 3207"/>
                      <p:cNvPicPr/>
                      <p:nvPr/>
                    </p:nvPicPr>
                    <p:blipFill>
                      <a:blip r:embed="rId4"/>
                      <a:stretch>
                        <a:fillRect/>
                      </a:stretch>
                    </p:blipFill>
                    <p:spPr>
                      <a:xfrm>
                        <a:off x="962377" y="816165"/>
                        <a:ext cx="3930650" cy="741363"/>
                      </a:xfrm>
                      <a:prstGeom prst="rect">
                        <a:avLst/>
                      </a:prstGeom>
                      <a:noFill/>
                      <a:ln w="38100">
                        <a:noFill/>
                        <a:miter/>
                      </a:ln>
                    </p:spPr>
                  </p:pic>
                </p:oleObj>
              </mc:Fallback>
            </mc:AlternateContent>
          </a:graphicData>
        </a:graphic>
      </p:graphicFrame>
      <p:sp>
        <p:nvSpPr>
          <p:cNvPr id="1483780" name="文本框 1483779"/>
          <p:cNvSpPr txBox="1"/>
          <p:nvPr/>
        </p:nvSpPr>
        <p:spPr>
          <a:xfrm>
            <a:off x="0" y="1444625"/>
            <a:ext cx="9144000" cy="604838"/>
          </a:xfrm>
          <a:prstGeom prst="rect">
            <a:avLst/>
          </a:prstGeom>
          <a:noFill/>
          <a:ln w="9525">
            <a:noFill/>
          </a:ln>
        </p:spPr>
        <p:txBody>
          <a:bodyPr>
            <a:spAutoFit/>
          </a:bodyPr>
          <a:lstStyle/>
          <a:p>
            <a:pPr marR="0" defTabSz="914400">
              <a:lnSpc>
                <a:spcPct val="120000"/>
              </a:lnSpc>
              <a:spcBef>
                <a:spcPct val="0"/>
              </a:spcBef>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rPr>
              <a:t>例</a:t>
            </a:r>
            <a:r>
              <a:rPr kumimoji="0" lang="en-US" altLang="zh-CN" sz="28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3-8</a:t>
            </a:r>
            <a:r>
              <a:rPr kumimoji="0" lang="zh-CN" altLang="en-US" sz="2800" kern="1200" cap="none" spc="0" normalizeH="0" baseline="0" noProof="1">
                <a:solidFill>
                  <a:schemeClr val="tx1"/>
                </a:solidFill>
                <a:latin typeface="Arial" panose="020B0604020202020204" pitchFamily="34" charset="0"/>
                <a:ea typeface="宋体" panose="02010600030101010101" pitchFamily="2" charset="-122"/>
                <a:cs typeface="+mn-cs"/>
              </a:rPr>
              <a:t>　设单位反馈控制系统的开环传函为：</a:t>
            </a:r>
          </a:p>
        </p:txBody>
      </p:sp>
      <p:graphicFrame>
        <p:nvGraphicFramePr>
          <p:cNvPr id="1483781" name="对象 1483780"/>
          <p:cNvGraphicFramePr/>
          <p:nvPr/>
        </p:nvGraphicFramePr>
        <p:xfrm>
          <a:off x="6948488" y="1341438"/>
          <a:ext cx="1701800" cy="914400"/>
        </p:xfrm>
        <a:graphic>
          <a:graphicData uri="http://schemas.openxmlformats.org/presentationml/2006/ole">
            <mc:AlternateContent xmlns:mc="http://schemas.openxmlformats.org/markup-compatibility/2006">
              <mc:Choice xmlns:v="urn:schemas-microsoft-com:vml" Requires="v">
                <p:oleObj spid="_x0000_s44069" r:id="rId5" imgW="659765" imgH="405765" progId="Equation.3">
                  <p:embed/>
                </p:oleObj>
              </mc:Choice>
              <mc:Fallback>
                <p:oleObj r:id="rId5" imgW="659765" imgH="405765" progId="Equation.3">
                  <p:embed/>
                  <p:pic>
                    <p:nvPicPr>
                      <p:cNvPr id="0" name="图片 3205"/>
                      <p:cNvPicPr/>
                      <p:nvPr/>
                    </p:nvPicPr>
                    <p:blipFill>
                      <a:blip r:embed="rId6"/>
                      <a:stretch>
                        <a:fillRect/>
                      </a:stretch>
                    </p:blipFill>
                    <p:spPr>
                      <a:xfrm>
                        <a:off x="6948488" y="1341438"/>
                        <a:ext cx="1701800" cy="914400"/>
                      </a:xfrm>
                      <a:prstGeom prst="rect">
                        <a:avLst/>
                      </a:prstGeom>
                      <a:noFill/>
                      <a:ln w="38100">
                        <a:noFill/>
                        <a:miter/>
                      </a:ln>
                    </p:spPr>
                  </p:pic>
                </p:oleObj>
              </mc:Fallback>
            </mc:AlternateContent>
          </a:graphicData>
        </a:graphic>
      </p:graphicFrame>
      <p:graphicFrame>
        <p:nvGraphicFramePr>
          <p:cNvPr id="1483782" name="对象 1483781"/>
          <p:cNvGraphicFramePr/>
          <p:nvPr/>
        </p:nvGraphicFramePr>
        <p:xfrm>
          <a:off x="1403350" y="3141663"/>
          <a:ext cx="6484938" cy="969962"/>
        </p:xfrm>
        <a:graphic>
          <a:graphicData uri="http://schemas.openxmlformats.org/presentationml/2006/ole">
            <mc:AlternateContent xmlns:mc="http://schemas.openxmlformats.org/markup-compatibility/2006">
              <mc:Choice xmlns:v="urn:schemas-microsoft-com:vml" Requires="v">
                <p:oleObj spid="_x0000_s44070" r:id="rId7" imgW="2881630" imgH="431800" progId="Equation.3">
                  <p:embed/>
                </p:oleObj>
              </mc:Choice>
              <mc:Fallback>
                <p:oleObj r:id="rId7" imgW="2881630" imgH="431800" progId="Equation.3">
                  <p:embed/>
                  <p:pic>
                    <p:nvPicPr>
                      <p:cNvPr id="0" name="图片 3210"/>
                      <p:cNvPicPr/>
                      <p:nvPr/>
                    </p:nvPicPr>
                    <p:blipFill>
                      <a:blip r:embed="rId8"/>
                      <a:stretch>
                        <a:fillRect/>
                      </a:stretch>
                    </p:blipFill>
                    <p:spPr>
                      <a:xfrm>
                        <a:off x="1403350" y="3141663"/>
                        <a:ext cx="6484938" cy="969962"/>
                      </a:xfrm>
                      <a:prstGeom prst="rect">
                        <a:avLst/>
                      </a:prstGeom>
                      <a:noFill/>
                      <a:ln w="38100">
                        <a:noFill/>
                        <a:miter/>
                      </a:ln>
                    </p:spPr>
                  </p:pic>
                </p:oleObj>
              </mc:Fallback>
            </mc:AlternateContent>
          </a:graphicData>
        </a:graphic>
      </p:graphicFrame>
      <p:sp>
        <p:nvSpPr>
          <p:cNvPr id="1483783" name="文本框 1483782"/>
          <p:cNvSpPr txBox="1"/>
          <p:nvPr/>
        </p:nvSpPr>
        <p:spPr>
          <a:xfrm>
            <a:off x="385763" y="4103688"/>
            <a:ext cx="6797675" cy="1211262"/>
          </a:xfrm>
          <a:prstGeom prst="rect">
            <a:avLst/>
          </a:prstGeom>
          <a:noFill/>
          <a:ln w="9525">
            <a:noFill/>
          </a:ln>
        </p:spPr>
        <p:txBody>
          <a:bodyPr>
            <a:spAutoFit/>
          </a:bodyPr>
          <a:lstStyle/>
          <a:p>
            <a:pPr marL="342900" indent="-342900">
              <a:lnSpc>
                <a:spcPct val="140000"/>
              </a:lnSpc>
              <a:spcBef>
                <a:spcPct val="0"/>
              </a:spcBef>
              <a:buAutoNum type="arabicParenBoth"/>
            </a:pPr>
            <a:r>
              <a:rPr lang="en-US" altLang="zh-CN" sz="240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当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t</a:t>
            </a:r>
            <a:r>
              <a:rPr lang="en-US" altLang="zh-CN" sz="2800" baseline="30000" dirty="0">
                <a:solidFill>
                  <a:schemeClr val="tx1"/>
                </a:solidFill>
                <a:latin typeface="Times New Roman" panose="02020603050405020304" pitchFamily="18" charset="0"/>
              </a:rPr>
              <a:t>2</a:t>
            </a:r>
            <a:r>
              <a:rPr lang="en-US" altLang="zh-CN" sz="2800" dirty="0">
                <a:solidFill>
                  <a:schemeClr val="tx1"/>
                </a:solidFill>
                <a:latin typeface="Times New Roman" panose="02020603050405020304" pitchFamily="18" charset="0"/>
              </a:rPr>
              <a:t>/2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=1/</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3</a:t>
            </a:r>
          </a:p>
          <a:p>
            <a:pPr marL="342900" indent="-342900">
              <a:lnSpc>
                <a:spcPct val="140000"/>
              </a:lnSpc>
              <a:spcBef>
                <a:spcPct val="0"/>
              </a:spcBef>
              <a:buNone/>
            </a:pPr>
            <a:endParaRPr lang="zh-CN" altLang="en-US" sz="2400" dirty="0">
              <a:solidFill>
                <a:schemeClr val="tx1"/>
              </a:solidFill>
              <a:latin typeface="Arial" panose="020B0604020202020204" pitchFamily="34" charset="0"/>
            </a:endParaRPr>
          </a:p>
        </p:txBody>
      </p:sp>
      <p:graphicFrame>
        <p:nvGraphicFramePr>
          <p:cNvPr id="1483785" name="对象 1483784"/>
          <p:cNvGraphicFramePr/>
          <p:nvPr/>
        </p:nvGraphicFramePr>
        <p:xfrm>
          <a:off x="2627313" y="4835525"/>
          <a:ext cx="2759075" cy="911225"/>
        </p:xfrm>
        <a:graphic>
          <a:graphicData uri="http://schemas.openxmlformats.org/presentationml/2006/ole">
            <mc:AlternateContent xmlns:mc="http://schemas.openxmlformats.org/markup-compatibility/2006">
              <mc:Choice xmlns:v="urn:schemas-microsoft-com:vml" Requires="v">
                <p:oleObj spid="_x0000_s44071" r:id="rId9" imgW="1230630" imgH="405765" progId="Equation.3">
                  <p:embed/>
                </p:oleObj>
              </mc:Choice>
              <mc:Fallback>
                <p:oleObj r:id="rId9" imgW="1230630" imgH="405765" progId="Equation.3">
                  <p:embed/>
                  <p:pic>
                    <p:nvPicPr>
                      <p:cNvPr id="0" name="图片 3209"/>
                      <p:cNvPicPr/>
                      <p:nvPr/>
                    </p:nvPicPr>
                    <p:blipFill>
                      <a:blip r:embed="rId10"/>
                      <a:stretch>
                        <a:fillRect/>
                      </a:stretch>
                    </p:blipFill>
                    <p:spPr>
                      <a:xfrm>
                        <a:off x="2627313" y="4835525"/>
                        <a:ext cx="2759075" cy="911225"/>
                      </a:xfrm>
                      <a:prstGeom prst="rect">
                        <a:avLst/>
                      </a:prstGeom>
                      <a:noFill/>
                      <a:ln w="38100">
                        <a:noFill/>
                        <a:miter/>
                      </a:ln>
                    </p:spPr>
                  </p:pic>
                </p:oleObj>
              </mc:Fallback>
            </mc:AlternateContent>
          </a:graphicData>
        </a:graphic>
      </p:graphicFrame>
      <p:graphicFrame>
        <p:nvGraphicFramePr>
          <p:cNvPr id="1483786" name="对象 1483785"/>
          <p:cNvGraphicFramePr/>
          <p:nvPr/>
        </p:nvGraphicFramePr>
        <p:xfrm>
          <a:off x="1719263" y="5756275"/>
          <a:ext cx="5118100" cy="914400"/>
        </p:xfrm>
        <a:graphic>
          <a:graphicData uri="http://schemas.openxmlformats.org/presentationml/2006/ole">
            <mc:AlternateContent xmlns:mc="http://schemas.openxmlformats.org/markup-compatibility/2006">
              <mc:Choice xmlns:v="urn:schemas-microsoft-com:vml" Requires="v">
                <p:oleObj spid="_x0000_s44072" r:id="rId11" imgW="2271395" imgH="405765" progId="Equation.3">
                  <p:embed/>
                </p:oleObj>
              </mc:Choice>
              <mc:Fallback>
                <p:oleObj r:id="rId11" imgW="2271395" imgH="405765" progId="Equation.3">
                  <p:embed/>
                  <p:pic>
                    <p:nvPicPr>
                      <p:cNvPr id="0" name="图片 3208"/>
                      <p:cNvPicPr/>
                      <p:nvPr/>
                    </p:nvPicPr>
                    <p:blipFill>
                      <a:blip r:embed="rId12"/>
                      <a:stretch>
                        <a:fillRect/>
                      </a:stretch>
                    </p:blipFill>
                    <p:spPr>
                      <a:xfrm>
                        <a:off x="1719263" y="5756275"/>
                        <a:ext cx="5118100" cy="914400"/>
                      </a:xfrm>
                      <a:prstGeom prst="rect">
                        <a:avLst/>
                      </a:prstGeom>
                      <a:noFill/>
                      <a:ln w="38100">
                        <a:noFill/>
                        <a:miter/>
                      </a:ln>
                    </p:spPr>
                  </p:pic>
                </p:oleObj>
              </mc:Fallback>
            </mc:AlternateContent>
          </a:graphicData>
        </a:graphic>
      </p:graphicFrame>
      <p:sp>
        <p:nvSpPr>
          <p:cNvPr id="1483787" name="文本框 1483786"/>
          <p:cNvSpPr txBox="1"/>
          <p:nvPr/>
        </p:nvSpPr>
        <p:spPr>
          <a:xfrm>
            <a:off x="0" y="2003425"/>
            <a:ext cx="9144000" cy="1727200"/>
          </a:xfrm>
          <a:prstGeom prst="rect">
            <a:avLst/>
          </a:prstGeom>
          <a:noFill/>
          <a:ln w="9525">
            <a:noFill/>
          </a:ln>
        </p:spPr>
        <p:txBody>
          <a:bodyPr>
            <a:spAutoFit/>
          </a:bodyPr>
          <a:lstStyle/>
          <a:p>
            <a:pPr>
              <a:lnSpc>
                <a:spcPct val="130000"/>
              </a:lnSpc>
              <a:spcBef>
                <a:spcPct val="0"/>
              </a:spcBef>
            </a:pPr>
            <a:r>
              <a:rPr lang="zh-CN" altLang="en-US" sz="2800" dirty="0">
                <a:solidFill>
                  <a:schemeClr val="tx1"/>
                </a:solidFill>
                <a:latin typeface="Arial" panose="020B0604020202020204" pitchFamily="34" charset="0"/>
              </a:rPr>
              <a:t>试求当输入信号分别为</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t</a:t>
            </a:r>
            <a:r>
              <a:rPr lang="en-US" altLang="zh-CN" sz="2800" baseline="30000" dirty="0">
                <a:solidFill>
                  <a:schemeClr val="tx1"/>
                </a:solidFill>
                <a:latin typeface="Times New Roman" panose="02020603050405020304" pitchFamily="18" charset="0"/>
              </a:rPr>
              <a:t>2</a:t>
            </a:r>
            <a:r>
              <a:rPr lang="en-US" altLang="zh-CN" sz="2800" dirty="0">
                <a:solidFill>
                  <a:schemeClr val="tx1"/>
                </a:solidFill>
                <a:latin typeface="Times New Roman" panose="02020603050405020304" pitchFamily="18" charset="0"/>
              </a:rPr>
              <a:t>/2 </a:t>
            </a:r>
            <a:r>
              <a:rPr lang="zh-CN" altLang="en-US"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1(</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a:t>
            </a:r>
            <a:r>
              <a:rPr lang="zh-CN" altLang="en-US" sz="2800" i="1"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a:t>
            </a:r>
            <a:r>
              <a:rPr lang="zh-CN" altLang="en-US" sz="2800" dirty="0">
                <a:solidFill>
                  <a:schemeClr val="tx1"/>
                </a:solidFill>
                <a:latin typeface="Times New Roman" panose="02020603050405020304" pitchFamily="18" charset="0"/>
              </a:rPr>
              <a:t>，</a:t>
            </a:r>
            <a:r>
              <a:rPr lang="zh-CN" altLang="en-US" sz="2800" dirty="0">
                <a:solidFill>
                  <a:schemeClr val="tx1"/>
                </a:solidFill>
                <a:latin typeface="Arial" panose="020B0604020202020204" pitchFamily="34" charset="0"/>
              </a:rPr>
              <a:t>时</a:t>
            </a:r>
            <a:r>
              <a:rPr lang="zh-CN" altLang="en-US" sz="2800" dirty="0">
                <a:solidFill>
                  <a:schemeClr val="tx1"/>
                </a:solidFill>
                <a:latin typeface="Times New Roman" panose="02020603050405020304" pitchFamily="18" charset="0"/>
              </a:rPr>
              <a:t>，</a:t>
            </a:r>
            <a:r>
              <a:rPr lang="zh-CN" altLang="en-US" sz="2800" dirty="0">
                <a:solidFill>
                  <a:schemeClr val="tx1"/>
                </a:solidFill>
                <a:latin typeface="Arial" panose="020B0604020202020204" pitchFamily="34" charset="0"/>
              </a:rPr>
              <a:t>控制系统的稳态误差。</a:t>
            </a:r>
          </a:p>
          <a:p>
            <a:pPr>
              <a:lnSpc>
                <a:spcPct val="120000"/>
              </a:lnSpc>
              <a:spcBef>
                <a:spcPct val="0"/>
              </a:spcBef>
            </a:pPr>
            <a:r>
              <a:rPr lang="zh-CN" altLang="en-US" sz="2800" dirty="0">
                <a:solidFill>
                  <a:schemeClr val="tx1"/>
                </a:solidFill>
                <a:latin typeface="Arial" panose="020B0604020202020204" pitchFamily="34" charset="0"/>
              </a:rPr>
              <a:t>     解：</a:t>
            </a:r>
            <a:endParaRPr lang="zh-CN" altLang="en-US" sz="2400" b="0" dirty="0">
              <a:solidFill>
                <a:schemeClr val="tx1"/>
              </a:solidFill>
              <a:latin typeface="Times New Roman" panose="02020603050405020304" pitchFamily="18" charset="0"/>
            </a:endParaRPr>
          </a:p>
        </p:txBody>
      </p:sp>
      <p:grpSp>
        <p:nvGrpSpPr>
          <p:cNvPr id="2" name="组合 1">
            <a:extLst>
              <a:ext uri="{FF2B5EF4-FFF2-40B4-BE49-F238E27FC236}">
                <a16:creationId xmlns:a16="http://schemas.microsoft.com/office/drawing/2014/main" id="{0AD3E946-BEE0-4D5E-86D0-374EF9C735A4}"/>
              </a:ext>
            </a:extLst>
          </p:cNvPr>
          <p:cNvGrpSpPr/>
          <p:nvPr/>
        </p:nvGrpSpPr>
        <p:grpSpPr>
          <a:xfrm>
            <a:off x="5470527" y="0"/>
            <a:ext cx="3565969" cy="1444625"/>
            <a:chOff x="5470527" y="0"/>
            <a:chExt cx="3565969" cy="1444625"/>
          </a:xfrm>
        </p:grpSpPr>
        <p:sp>
          <p:nvSpPr>
            <p:cNvPr id="1483789" name="文本框 1483788"/>
            <p:cNvSpPr txBox="1"/>
            <p:nvPr/>
          </p:nvSpPr>
          <p:spPr>
            <a:xfrm>
              <a:off x="5632007" y="54080"/>
              <a:ext cx="3274853" cy="1282595"/>
            </a:xfrm>
            <a:prstGeom prst="rect">
              <a:avLst/>
            </a:prstGeom>
            <a:noFill/>
            <a:ln w="9525">
              <a:noFill/>
            </a:ln>
          </p:spPr>
          <p:txBody>
            <a:bodyPr wrap="square">
              <a:spAutoFit/>
            </a:bodyPr>
            <a:lstStyle/>
            <a:p>
              <a:pPr marR="0" defTabSz="914400">
                <a:lnSpc>
                  <a:spcPct val="110000"/>
                </a:lnSpc>
                <a:spcBef>
                  <a:spcPct val="0"/>
                </a:spcBef>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终值定理的条件：</a:t>
              </a:r>
            </a:p>
            <a:p>
              <a:pPr marR="0" defTabSz="914400">
                <a:lnSpc>
                  <a:spcPct val="110000"/>
                </a:lnSpc>
                <a:spcBef>
                  <a:spcPct val="0"/>
                </a:spcBef>
                <a:buClrTx/>
                <a:buSzTx/>
                <a:buFontTx/>
                <a:buNone/>
                <a:defRPr/>
              </a:pP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除原点外，在虚轴及</a:t>
              </a:r>
              <a:r>
                <a:rPr kumimoji="0" lang="en-US" altLang="zh-CN"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s</a:t>
              </a:r>
              <a:r>
                <a:rPr kumimoji="0" lang="zh-CN" altLang="en-US" sz="2400" kern="1200" cap="none" spc="0" normalizeH="0" baseline="0" noProof="1">
                  <a:solidFill>
                    <a:srgbClr val="FF0000"/>
                  </a:solidFill>
                  <a:effectLst>
                    <a:outerShdw blurRad="38100" dist="38100" dir="2700000">
                      <a:srgbClr val="C0C0C0"/>
                    </a:outerShdw>
                  </a:effectLst>
                  <a:latin typeface="Times New Roman" panose="02020603050405020304" pitchFamily="18" charset="0"/>
                  <a:ea typeface="楷体_GB2312" pitchFamily="49" charset="-122"/>
                  <a:cs typeface="+mn-cs"/>
                </a:rPr>
                <a:t>平面的右半平面无极点。</a:t>
              </a:r>
            </a:p>
          </p:txBody>
        </p:sp>
        <p:sp>
          <p:nvSpPr>
            <p:cNvPr id="13" name="Freeform 56">
              <a:extLst>
                <a:ext uri="{FF2B5EF4-FFF2-40B4-BE49-F238E27FC236}">
                  <a16:creationId xmlns:a16="http://schemas.microsoft.com/office/drawing/2014/main" id="{8CAB8402-4C03-4600-9CE5-5898AC3B0299}"/>
                </a:ext>
              </a:extLst>
            </p:cNvPr>
            <p:cNvSpPr>
              <a:spLocks/>
            </p:cNvSpPr>
            <p:nvPr/>
          </p:nvSpPr>
          <p:spPr bwMode="auto">
            <a:xfrm>
              <a:off x="5470527" y="0"/>
              <a:ext cx="3565969" cy="1444625"/>
            </a:xfrm>
            <a:custGeom>
              <a:avLst/>
              <a:gdLst>
                <a:gd name="T0" fmla="*/ 145 w 153"/>
                <a:gd name="T1" fmla="*/ 2 h 52"/>
                <a:gd name="T2" fmla="*/ 143 w 153"/>
                <a:gd name="T3" fmla="*/ 4 h 52"/>
                <a:gd name="T4" fmla="*/ 121 w 153"/>
                <a:gd name="T5" fmla="*/ 3 h 52"/>
                <a:gd name="T6" fmla="*/ 84 w 153"/>
                <a:gd name="T7" fmla="*/ 4 h 52"/>
                <a:gd name="T8" fmla="*/ 29 w 153"/>
                <a:gd name="T9" fmla="*/ 3 h 52"/>
                <a:gd name="T10" fmla="*/ 23 w 153"/>
                <a:gd name="T11" fmla="*/ 4 h 52"/>
                <a:gd name="T12" fmla="*/ 7 w 153"/>
                <a:gd name="T13" fmla="*/ 4 h 52"/>
                <a:gd name="T14" fmla="*/ 4 w 153"/>
                <a:gd name="T15" fmla="*/ 33 h 52"/>
                <a:gd name="T16" fmla="*/ 5 w 153"/>
                <a:gd name="T17" fmla="*/ 45 h 52"/>
                <a:gd name="T18" fmla="*/ 17 w 153"/>
                <a:gd name="T19" fmla="*/ 49 h 52"/>
                <a:gd name="T20" fmla="*/ 27 w 153"/>
                <a:gd name="T21" fmla="*/ 49 h 52"/>
                <a:gd name="T22" fmla="*/ 38 w 153"/>
                <a:gd name="T23" fmla="*/ 48 h 52"/>
                <a:gd name="T24" fmla="*/ 41 w 153"/>
                <a:gd name="T25" fmla="*/ 49 h 52"/>
                <a:gd name="T26" fmla="*/ 57 w 153"/>
                <a:gd name="T27" fmla="*/ 48 h 52"/>
                <a:gd name="T28" fmla="*/ 61 w 153"/>
                <a:gd name="T29" fmla="*/ 49 h 52"/>
                <a:gd name="T30" fmla="*/ 68 w 153"/>
                <a:gd name="T31" fmla="*/ 49 h 52"/>
                <a:gd name="T32" fmla="*/ 102 w 153"/>
                <a:gd name="T33" fmla="*/ 49 h 52"/>
                <a:gd name="T34" fmla="*/ 149 w 153"/>
                <a:gd name="T35" fmla="*/ 49 h 52"/>
                <a:gd name="T36" fmla="*/ 150 w 153"/>
                <a:gd name="T37" fmla="*/ 24 h 52"/>
                <a:gd name="T38" fmla="*/ 150 w 153"/>
                <a:gd name="T39" fmla="*/ 3 h 52"/>
                <a:gd name="T40" fmla="*/ 151 w 153"/>
                <a:gd name="T41" fmla="*/ 1 h 52"/>
                <a:gd name="T42" fmla="*/ 153 w 153"/>
                <a:gd name="T43" fmla="*/ 3 h 52"/>
                <a:gd name="T44" fmla="*/ 152 w 153"/>
                <a:gd name="T45" fmla="*/ 5 h 52"/>
                <a:gd name="T46" fmla="*/ 152 w 153"/>
                <a:gd name="T47" fmla="*/ 24 h 52"/>
                <a:gd name="T48" fmla="*/ 151 w 153"/>
                <a:gd name="T49" fmla="*/ 27 h 52"/>
                <a:gd name="T50" fmla="*/ 152 w 153"/>
                <a:gd name="T51" fmla="*/ 36 h 52"/>
                <a:gd name="T52" fmla="*/ 153 w 153"/>
                <a:gd name="T53" fmla="*/ 49 h 52"/>
                <a:gd name="T54" fmla="*/ 152 w 153"/>
                <a:gd name="T55" fmla="*/ 52 h 52"/>
                <a:gd name="T56" fmla="*/ 135 w 153"/>
                <a:gd name="T57" fmla="*/ 49 h 52"/>
                <a:gd name="T58" fmla="*/ 109 w 153"/>
                <a:gd name="T59" fmla="*/ 50 h 52"/>
                <a:gd name="T60" fmla="*/ 100 w 153"/>
                <a:gd name="T61" fmla="*/ 51 h 52"/>
                <a:gd name="T62" fmla="*/ 72 w 153"/>
                <a:gd name="T63" fmla="*/ 52 h 52"/>
                <a:gd name="T64" fmla="*/ 57 w 153"/>
                <a:gd name="T65" fmla="*/ 50 h 52"/>
                <a:gd name="T66" fmla="*/ 17 w 153"/>
                <a:gd name="T67" fmla="*/ 51 h 52"/>
                <a:gd name="T68" fmla="*/ 3 w 153"/>
                <a:gd name="T69" fmla="*/ 52 h 52"/>
                <a:gd name="T70" fmla="*/ 3 w 153"/>
                <a:gd name="T71" fmla="*/ 46 h 52"/>
                <a:gd name="T72" fmla="*/ 2 w 153"/>
                <a:gd name="T73" fmla="*/ 43 h 52"/>
                <a:gd name="T74" fmla="*/ 4 w 153"/>
                <a:gd name="T75" fmla="*/ 4 h 52"/>
                <a:gd name="T76" fmla="*/ 0 w 153"/>
                <a:gd name="T77" fmla="*/ 3 h 52"/>
                <a:gd name="T78" fmla="*/ 3 w 153"/>
                <a:gd name="T79" fmla="*/ 2 h 52"/>
                <a:gd name="T80" fmla="*/ 19 w 153"/>
                <a:gd name="T81" fmla="*/ 2 h 52"/>
                <a:gd name="T82" fmla="*/ 27 w 153"/>
                <a:gd name="T83" fmla="*/ 1 h 52"/>
                <a:gd name="T84" fmla="*/ 35 w 153"/>
                <a:gd name="T85" fmla="*/ 2 h 52"/>
                <a:gd name="T86" fmla="*/ 44 w 153"/>
                <a:gd name="T87" fmla="*/ 1 h 52"/>
                <a:gd name="T88" fmla="*/ 83 w 153"/>
                <a:gd name="T89" fmla="*/ 2 h 52"/>
                <a:gd name="T90" fmla="*/ 92 w 153"/>
                <a:gd name="T91" fmla="*/ 2 h 52"/>
                <a:gd name="T92" fmla="*/ 123 w 153"/>
                <a:gd name="T93" fmla="*/ 1 h 52"/>
                <a:gd name="T94" fmla="*/ 135 w 153"/>
                <a:gd name="T95" fmla="*/ 1 h 52"/>
                <a:gd name="T96" fmla="*/ 145 w 153"/>
                <a:gd name="T97" fmla="*/ 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3" h="52">
                  <a:moveTo>
                    <a:pt x="145" y="2"/>
                  </a:moveTo>
                  <a:cubicBezTo>
                    <a:pt x="145" y="4"/>
                    <a:pt x="142" y="3"/>
                    <a:pt x="143" y="4"/>
                  </a:cubicBezTo>
                  <a:cubicBezTo>
                    <a:pt x="135" y="4"/>
                    <a:pt x="129" y="2"/>
                    <a:pt x="121" y="3"/>
                  </a:cubicBezTo>
                  <a:cubicBezTo>
                    <a:pt x="110" y="3"/>
                    <a:pt x="98" y="4"/>
                    <a:pt x="84" y="4"/>
                  </a:cubicBezTo>
                  <a:cubicBezTo>
                    <a:pt x="66" y="4"/>
                    <a:pt x="47" y="3"/>
                    <a:pt x="29" y="3"/>
                  </a:cubicBezTo>
                  <a:cubicBezTo>
                    <a:pt x="27" y="3"/>
                    <a:pt x="25" y="4"/>
                    <a:pt x="23" y="4"/>
                  </a:cubicBezTo>
                  <a:cubicBezTo>
                    <a:pt x="18" y="4"/>
                    <a:pt x="12" y="3"/>
                    <a:pt x="7" y="4"/>
                  </a:cubicBezTo>
                  <a:cubicBezTo>
                    <a:pt x="4" y="13"/>
                    <a:pt x="4" y="23"/>
                    <a:pt x="4" y="33"/>
                  </a:cubicBezTo>
                  <a:cubicBezTo>
                    <a:pt x="4" y="37"/>
                    <a:pt x="4" y="41"/>
                    <a:pt x="5" y="45"/>
                  </a:cubicBezTo>
                  <a:cubicBezTo>
                    <a:pt x="3" y="51"/>
                    <a:pt x="12" y="49"/>
                    <a:pt x="17" y="49"/>
                  </a:cubicBezTo>
                  <a:cubicBezTo>
                    <a:pt x="20" y="49"/>
                    <a:pt x="24" y="49"/>
                    <a:pt x="27" y="49"/>
                  </a:cubicBezTo>
                  <a:cubicBezTo>
                    <a:pt x="31" y="49"/>
                    <a:pt x="33" y="48"/>
                    <a:pt x="38" y="48"/>
                  </a:cubicBezTo>
                  <a:cubicBezTo>
                    <a:pt x="39" y="48"/>
                    <a:pt x="40" y="49"/>
                    <a:pt x="41" y="49"/>
                  </a:cubicBezTo>
                  <a:cubicBezTo>
                    <a:pt x="47" y="49"/>
                    <a:pt x="51" y="48"/>
                    <a:pt x="57" y="48"/>
                  </a:cubicBezTo>
                  <a:cubicBezTo>
                    <a:pt x="59" y="48"/>
                    <a:pt x="60" y="49"/>
                    <a:pt x="61" y="49"/>
                  </a:cubicBezTo>
                  <a:cubicBezTo>
                    <a:pt x="63" y="50"/>
                    <a:pt x="66" y="49"/>
                    <a:pt x="68" y="49"/>
                  </a:cubicBezTo>
                  <a:cubicBezTo>
                    <a:pt x="79" y="50"/>
                    <a:pt x="91" y="50"/>
                    <a:pt x="102" y="49"/>
                  </a:cubicBezTo>
                  <a:cubicBezTo>
                    <a:pt x="118" y="48"/>
                    <a:pt x="132" y="47"/>
                    <a:pt x="149" y="49"/>
                  </a:cubicBezTo>
                  <a:cubicBezTo>
                    <a:pt x="149" y="40"/>
                    <a:pt x="150" y="33"/>
                    <a:pt x="150" y="24"/>
                  </a:cubicBezTo>
                  <a:cubicBezTo>
                    <a:pt x="150" y="16"/>
                    <a:pt x="149" y="11"/>
                    <a:pt x="150" y="3"/>
                  </a:cubicBezTo>
                  <a:cubicBezTo>
                    <a:pt x="151" y="3"/>
                    <a:pt x="151" y="2"/>
                    <a:pt x="151" y="1"/>
                  </a:cubicBezTo>
                  <a:cubicBezTo>
                    <a:pt x="152" y="1"/>
                    <a:pt x="153" y="3"/>
                    <a:pt x="153" y="3"/>
                  </a:cubicBezTo>
                  <a:cubicBezTo>
                    <a:pt x="153" y="4"/>
                    <a:pt x="152" y="4"/>
                    <a:pt x="152" y="5"/>
                  </a:cubicBezTo>
                  <a:cubicBezTo>
                    <a:pt x="151" y="12"/>
                    <a:pt x="152" y="18"/>
                    <a:pt x="152" y="24"/>
                  </a:cubicBezTo>
                  <a:cubicBezTo>
                    <a:pt x="152" y="25"/>
                    <a:pt x="151" y="26"/>
                    <a:pt x="151" y="27"/>
                  </a:cubicBezTo>
                  <a:cubicBezTo>
                    <a:pt x="151" y="30"/>
                    <a:pt x="152" y="33"/>
                    <a:pt x="152" y="36"/>
                  </a:cubicBezTo>
                  <a:cubicBezTo>
                    <a:pt x="151" y="41"/>
                    <a:pt x="149" y="47"/>
                    <a:pt x="153" y="49"/>
                  </a:cubicBezTo>
                  <a:cubicBezTo>
                    <a:pt x="152" y="50"/>
                    <a:pt x="152" y="51"/>
                    <a:pt x="152" y="52"/>
                  </a:cubicBezTo>
                  <a:cubicBezTo>
                    <a:pt x="147" y="49"/>
                    <a:pt x="140" y="51"/>
                    <a:pt x="135" y="49"/>
                  </a:cubicBezTo>
                  <a:cubicBezTo>
                    <a:pt x="128" y="49"/>
                    <a:pt x="116" y="50"/>
                    <a:pt x="109" y="50"/>
                  </a:cubicBezTo>
                  <a:cubicBezTo>
                    <a:pt x="107" y="51"/>
                    <a:pt x="103" y="51"/>
                    <a:pt x="100" y="51"/>
                  </a:cubicBezTo>
                  <a:cubicBezTo>
                    <a:pt x="91" y="51"/>
                    <a:pt x="81" y="52"/>
                    <a:pt x="72" y="52"/>
                  </a:cubicBezTo>
                  <a:cubicBezTo>
                    <a:pt x="67" y="52"/>
                    <a:pt x="61" y="52"/>
                    <a:pt x="57" y="50"/>
                  </a:cubicBezTo>
                  <a:cubicBezTo>
                    <a:pt x="44" y="50"/>
                    <a:pt x="30" y="51"/>
                    <a:pt x="17" y="51"/>
                  </a:cubicBezTo>
                  <a:cubicBezTo>
                    <a:pt x="13" y="52"/>
                    <a:pt x="7" y="52"/>
                    <a:pt x="3" y="52"/>
                  </a:cubicBezTo>
                  <a:cubicBezTo>
                    <a:pt x="2" y="50"/>
                    <a:pt x="3" y="48"/>
                    <a:pt x="3" y="46"/>
                  </a:cubicBezTo>
                  <a:cubicBezTo>
                    <a:pt x="3" y="45"/>
                    <a:pt x="2" y="44"/>
                    <a:pt x="2" y="43"/>
                  </a:cubicBezTo>
                  <a:cubicBezTo>
                    <a:pt x="1" y="30"/>
                    <a:pt x="3" y="19"/>
                    <a:pt x="4" y="4"/>
                  </a:cubicBezTo>
                  <a:cubicBezTo>
                    <a:pt x="4" y="3"/>
                    <a:pt x="1" y="4"/>
                    <a:pt x="0" y="3"/>
                  </a:cubicBezTo>
                  <a:cubicBezTo>
                    <a:pt x="1" y="1"/>
                    <a:pt x="2" y="1"/>
                    <a:pt x="3" y="2"/>
                  </a:cubicBezTo>
                  <a:cubicBezTo>
                    <a:pt x="8" y="1"/>
                    <a:pt x="14" y="2"/>
                    <a:pt x="19" y="2"/>
                  </a:cubicBezTo>
                  <a:cubicBezTo>
                    <a:pt x="22" y="2"/>
                    <a:pt x="25" y="1"/>
                    <a:pt x="27" y="1"/>
                  </a:cubicBezTo>
                  <a:cubicBezTo>
                    <a:pt x="30" y="1"/>
                    <a:pt x="32" y="2"/>
                    <a:pt x="35" y="2"/>
                  </a:cubicBezTo>
                  <a:cubicBezTo>
                    <a:pt x="38" y="2"/>
                    <a:pt x="41" y="2"/>
                    <a:pt x="44" y="1"/>
                  </a:cubicBezTo>
                  <a:cubicBezTo>
                    <a:pt x="56" y="1"/>
                    <a:pt x="70" y="2"/>
                    <a:pt x="83" y="2"/>
                  </a:cubicBezTo>
                  <a:cubicBezTo>
                    <a:pt x="86" y="2"/>
                    <a:pt x="89" y="2"/>
                    <a:pt x="92" y="2"/>
                  </a:cubicBezTo>
                  <a:cubicBezTo>
                    <a:pt x="101" y="2"/>
                    <a:pt x="113" y="1"/>
                    <a:pt x="123" y="1"/>
                  </a:cubicBezTo>
                  <a:cubicBezTo>
                    <a:pt x="127" y="1"/>
                    <a:pt x="131" y="1"/>
                    <a:pt x="135" y="1"/>
                  </a:cubicBezTo>
                  <a:cubicBezTo>
                    <a:pt x="138" y="2"/>
                    <a:pt x="142" y="0"/>
                    <a:pt x="145" y="2"/>
                  </a:cubicBezTo>
                  <a:close/>
                </a:path>
              </a:pathLst>
            </a:cu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3778">
                                            <p:txEl>
                                              <p:pRg st="0" end="0"/>
                                            </p:txEl>
                                          </p:spTgt>
                                        </p:tgtEl>
                                        <p:attrNameLst>
                                          <p:attrName>style.visibility</p:attrName>
                                        </p:attrNameLst>
                                      </p:cBhvr>
                                      <p:to>
                                        <p:strVal val="visible"/>
                                      </p:to>
                                    </p:set>
                                    <p:anim calcmode="lin" valueType="num">
                                      <p:cBhvr additive="base">
                                        <p:cTn id="7" dur="500" fill="hold"/>
                                        <p:tgtEl>
                                          <p:spTgt spid="14837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837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83778">
                                            <p:txEl>
                                              <p:pRg st="1" end="1"/>
                                            </p:txEl>
                                          </p:spTgt>
                                        </p:tgtEl>
                                        <p:attrNameLst>
                                          <p:attrName>style.visibility</p:attrName>
                                        </p:attrNameLst>
                                      </p:cBhvr>
                                      <p:to>
                                        <p:strVal val="visible"/>
                                      </p:to>
                                    </p:set>
                                    <p:anim calcmode="lin" valueType="num">
                                      <p:cBhvr additive="base">
                                        <p:cTn id="13" dur="500" fill="hold"/>
                                        <p:tgtEl>
                                          <p:spTgt spid="148377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837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483779"/>
                                        </p:tgtEl>
                                        <p:attrNameLst>
                                          <p:attrName>style.visibility</p:attrName>
                                        </p:attrNameLst>
                                      </p:cBhvr>
                                      <p:to>
                                        <p:strVal val="visible"/>
                                      </p:to>
                                    </p:set>
                                    <p:animEffect transition="in" filter="dissolve">
                                      <p:cBhvr>
                                        <p:cTn id="19" dur="500"/>
                                        <p:tgtEl>
                                          <p:spTgt spid="1483779"/>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circle(in)">
                                      <p:cBhvr>
                                        <p:cTn id="24" dur="20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483780">
                                            <p:txEl>
                                              <p:pRg st="0" end="0"/>
                                            </p:txEl>
                                          </p:spTgt>
                                        </p:tgtEl>
                                        <p:attrNameLst>
                                          <p:attrName>style.visibility</p:attrName>
                                        </p:attrNameLst>
                                      </p:cBhvr>
                                      <p:to>
                                        <p:strVal val="visible"/>
                                      </p:to>
                                    </p:set>
                                    <p:animEffect transition="in" filter="blinds(horizontal)">
                                      <p:cBhvr>
                                        <p:cTn id="29" dur="500"/>
                                        <p:tgtEl>
                                          <p:spTgt spid="1483780">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483781"/>
                                        </p:tgtEl>
                                        <p:attrNameLst>
                                          <p:attrName>style.visibility</p:attrName>
                                        </p:attrNameLst>
                                      </p:cBhvr>
                                      <p:to>
                                        <p:strVal val="visible"/>
                                      </p:to>
                                    </p:set>
                                    <p:animEffect transition="in" filter="dissolve">
                                      <p:cBhvr>
                                        <p:cTn id="34" dur="500"/>
                                        <p:tgtEl>
                                          <p:spTgt spid="1483781"/>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483787">
                                            <p:txEl>
                                              <p:pRg st="0" end="0"/>
                                            </p:txEl>
                                          </p:spTgt>
                                        </p:tgtEl>
                                        <p:attrNameLst>
                                          <p:attrName>style.visibility</p:attrName>
                                        </p:attrNameLst>
                                      </p:cBhvr>
                                      <p:to>
                                        <p:strVal val="visible"/>
                                      </p:to>
                                    </p:set>
                                    <p:animEffect transition="in" filter="blinds(horizontal)">
                                      <p:cBhvr>
                                        <p:cTn id="39" dur="500"/>
                                        <p:tgtEl>
                                          <p:spTgt spid="148378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483787">
                                            <p:txEl>
                                              <p:pRg st="1" end="1"/>
                                            </p:txEl>
                                          </p:spTgt>
                                        </p:tgtEl>
                                        <p:attrNameLst>
                                          <p:attrName>style.visibility</p:attrName>
                                        </p:attrNameLst>
                                      </p:cBhvr>
                                      <p:to>
                                        <p:strVal val="visible"/>
                                      </p:to>
                                    </p:set>
                                    <p:animEffect transition="in" filter="blinds(horizontal)">
                                      <p:cBhvr>
                                        <p:cTn id="44" dur="500"/>
                                        <p:tgtEl>
                                          <p:spTgt spid="148378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483782"/>
                                        </p:tgtEl>
                                        <p:attrNameLst>
                                          <p:attrName>style.visibility</p:attrName>
                                        </p:attrNameLst>
                                      </p:cBhvr>
                                      <p:to>
                                        <p:strVal val="visible"/>
                                      </p:to>
                                    </p:set>
                                    <p:animEffect transition="in" filter="dissolve">
                                      <p:cBhvr>
                                        <p:cTn id="49" dur="500"/>
                                        <p:tgtEl>
                                          <p:spTgt spid="148378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483783">
                                            <p:txEl>
                                              <p:pRg st="0" end="0"/>
                                            </p:txEl>
                                          </p:spTgt>
                                        </p:tgtEl>
                                        <p:attrNameLst>
                                          <p:attrName>style.visibility</p:attrName>
                                        </p:attrNameLst>
                                      </p:cBhvr>
                                      <p:to>
                                        <p:strVal val="visible"/>
                                      </p:to>
                                    </p:set>
                                    <p:animEffect transition="in" filter="dissolve">
                                      <p:cBhvr>
                                        <p:cTn id="54" dur="500"/>
                                        <p:tgtEl>
                                          <p:spTgt spid="1483783">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1483785"/>
                                        </p:tgtEl>
                                        <p:attrNameLst>
                                          <p:attrName>style.visibility</p:attrName>
                                        </p:attrNameLst>
                                      </p:cBhvr>
                                      <p:to>
                                        <p:strVal val="visible"/>
                                      </p:to>
                                    </p:set>
                                    <p:animEffect transition="in" filter="dissolve">
                                      <p:cBhvr>
                                        <p:cTn id="59" dur="500"/>
                                        <p:tgtEl>
                                          <p:spTgt spid="1483785"/>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1483786"/>
                                        </p:tgtEl>
                                        <p:attrNameLst>
                                          <p:attrName>style.visibility</p:attrName>
                                        </p:attrNameLst>
                                      </p:cBhvr>
                                      <p:to>
                                        <p:strVal val="visible"/>
                                      </p:to>
                                    </p:set>
                                    <p:animEffect transition="in" filter="dissolve">
                                      <p:cBhvr>
                                        <p:cTn id="64" dur="500"/>
                                        <p:tgtEl>
                                          <p:spTgt spid="1483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3778" grpId="0" build="p"/>
      <p:bldP spid="1483780" grpId="0" build="p"/>
      <p:bldP spid="1483783" grpId="0" build="p"/>
      <p:bldP spid="148378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BD91C082-0492-4D5D-BDBA-F1C5FBCAF8C0}"/>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graphicFrame>
        <p:nvGraphicFramePr>
          <p:cNvPr id="1484803" name="对象 1484802"/>
          <p:cNvGraphicFramePr/>
          <p:nvPr/>
        </p:nvGraphicFramePr>
        <p:xfrm>
          <a:off x="1855788" y="42863"/>
          <a:ext cx="5659437" cy="944562"/>
        </p:xfrm>
        <a:graphic>
          <a:graphicData uri="http://schemas.openxmlformats.org/presentationml/2006/ole">
            <mc:AlternateContent xmlns:mc="http://schemas.openxmlformats.org/markup-compatibility/2006">
              <mc:Choice xmlns:v="urn:schemas-microsoft-com:vml" Requires="v">
                <p:oleObj spid="_x0000_s45099" r:id="rId3" imgW="2514600" imgH="419100" progId="Equation.3">
                  <p:embed/>
                </p:oleObj>
              </mc:Choice>
              <mc:Fallback>
                <p:oleObj r:id="rId3" imgW="2514600" imgH="419100" progId="Equation.3">
                  <p:embed/>
                  <p:pic>
                    <p:nvPicPr>
                      <p:cNvPr id="0" name="图片 3211"/>
                      <p:cNvPicPr/>
                      <p:nvPr/>
                    </p:nvPicPr>
                    <p:blipFill>
                      <a:blip r:embed="rId4"/>
                      <a:stretch>
                        <a:fillRect/>
                      </a:stretch>
                    </p:blipFill>
                    <p:spPr>
                      <a:xfrm>
                        <a:off x="1855788" y="42863"/>
                        <a:ext cx="5659437" cy="944562"/>
                      </a:xfrm>
                      <a:prstGeom prst="rect">
                        <a:avLst/>
                      </a:prstGeom>
                      <a:noFill/>
                      <a:ln w="38100">
                        <a:noFill/>
                        <a:miter/>
                      </a:ln>
                    </p:spPr>
                  </p:pic>
                </p:oleObj>
              </mc:Fallback>
            </mc:AlternateContent>
          </a:graphicData>
        </a:graphic>
      </p:graphicFrame>
      <p:sp>
        <p:nvSpPr>
          <p:cNvPr id="1484804" name="矩形 1484803"/>
          <p:cNvSpPr/>
          <p:nvPr/>
        </p:nvSpPr>
        <p:spPr>
          <a:xfrm>
            <a:off x="2227263" y="1125538"/>
            <a:ext cx="4279900" cy="427037"/>
          </a:xfrm>
          <a:prstGeom prst="rect">
            <a:avLst/>
          </a:prstGeom>
          <a:noFill/>
          <a:ln w="9525">
            <a:noFill/>
          </a:ln>
        </p:spPr>
        <p:txBody>
          <a:bodyPr lIns="0" tIns="0" rIns="0" bIns="0">
            <a:spAutoFit/>
          </a:bodyPr>
          <a:lstStyle/>
          <a:p>
            <a:pPr algn="ctr">
              <a:spcBef>
                <a:spcPct val="0"/>
              </a:spcBef>
            </a:pPr>
            <a:r>
              <a:rPr lang="en-US" altLang="zh-CN" sz="2800" i="1" dirty="0">
                <a:latin typeface="Times New Roman" panose="02020603050405020304" pitchFamily="18" charset="0"/>
              </a:rPr>
              <a:t>e</a:t>
            </a:r>
            <a:r>
              <a:rPr lang="en-US" altLang="zh-CN" sz="2800" dirty="0">
                <a:latin typeface="Times New Roman" panose="02020603050405020304" pitchFamily="18" charset="0"/>
              </a:rPr>
              <a:t>(</a:t>
            </a:r>
            <a:r>
              <a:rPr lang="en-US" altLang="zh-CN" sz="2800" i="1" dirty="0">
                <a:latin typeface="Times New Roman" panose="02020603050405020304" pitchFamily="18" charset="0"/>
              </a:rPr>
              <a:t>t</a:t>
            </a:r>
            <a:r>
              <a:rPr lang="en-US" altLang="zh-CN" sz="2800" dirty="0">
                <a:latin typeface="Times New Roman" panose="02020603050405020304" pitchFamily="18" charset="0"/>
              </a:rPr>
              <a:t>)</a:t>
            </a:r>
            <a:r>
              <a:rPr lang="en-US" altLang="zh-CN" sz="2800" i="1" dirty="0">
                <a:latin typeface="Times New Roman" panose="02020603050405020304" pitchFamily="18" charset="0"/>
              </a:rPr>
              <a:t> = T</a:t>
            </a:r>
            <a:r>
              <a:rPr lang="en-US" altLang="zh-CN" sz="2800" dirty="0">
                <a:latin typeface="Times New Roman" panose="02020603050405020304" pitchFamily="18" charset="0"/>
              </a:rPr>
              <a:t>(</a:t>
            </a:r>
            <a:r>
              <a:rPr lang="en-US" altLang="zh-CN" sz="2800" i="1" dirty="0">
                <a:latin typeface="Times New Roman" panose="02020603050405020304" pitchFamily="18" charset="0"/>
              </a:rPr>
              <a:t>t</a:t>
            </a:r>
            <a:r>
              <a:rPr lang="zh-CN" altLang="en-US" sz="2800" i="1" dirty="0">
                <a:latin typeface="Times New Roman" panose="02020603050405020304" pitchFamily="18" charset="0"/>
              </a:rPr>
              <a:t>－</a:t>
            </a:r>
            <a:r>
              <a:rPr lang="en-US" altLang="zh-CN" sz="2800" i="1" dirty="0">
                <a:latin typeface="Times New Roman" panose="02020603050405020304" pitchFamily="18" charset="0"/>
              </a:rPr>
              <a:t>T</a:t>
            </a:r>
            <a:r>
              <a:rPr lang="en-US" altLang="zh-CN" sz="2800" dirty="0">
                <a:latin typeface="Times New Roman" panose="02020603050405020304" pitchFamily="18" charset="0"/>
              </a:rPr>
              <a:t>)</a:t>
            </a:r>
            <a:r>
              <a:rPr lang="en-US" altLang="zh-CN" sz="2800" i="1" dirty="0">
                <a:latin typeface="Times New Roman" panose="02020603050405020304" pitchFamily="18" charset="0"/>
              </a:rPr>
              <a:t> + T</a:t>
            </a:r>
            <a:r>
              <a:rPr lang="en-US" altLang="zh-CN" sz="2800" i="1" baseline="30000" dirty="0">
                <a:latin typeface="Times New Roman" panose="02020603050405020304" pitchFamily="18" charset="0"/>
              </a:rPr>
              <a:t>2 </a:t>
            </a:r>
            <a:r>
              <a:rPr lang="en-US" altLang="zh-CN" sz="2800" i="1" dirty="0">
                <a:latin typeface="Times New Roman" panose="02020603050405020304" pitchFamily="18" charset="0"/>
              </a:rPr>
              <a:t>e</a:t>
            </a:r>
            <a:r>
              <a:rPr lang="zh-CN" altLang="en-US" sz="2800" i="1" baseline="30000" dirty="0">
                <a:latin typeface="Times New Roman" panose="02020603050405020304" pitchFamily="18" charset="0"/>
              </a:rPr>
              <a:t>－ </a:t>
            </a:r>
            <a:r>
              <a:rPr lang="en-US" altLang="zh-CN" sz="2800" i="1" baseline="30000" dirty="0">
                <a:latin typeface="Times New Roman" panose="02020603050405020304" pitchFamily="18" charset="0"/>
              </a:rPr>
              <a:t>t/T</a:t>
            </a:r>
            <a:r>
              <a:rPr lang="en-US" altLang="zh-CN" sz="2800" b="0" i="1" dirty="0">
                <a:latin typeface="Times New Roman" panose="02020603050405020304" pitchFamily="18" charset="0"/>
              </a:rPr>
              <a:t> </a:t>
            </a:r>
          </a:p>
        </p:txBody>
      </p:sp>
      <p:graphicFrame>
        <p:nvGraphicFramePr>
          <p:cNvPr id="1484805" name="对象 1484804"/>
          <p:cNvGraphicFramePr/>
          <p:nvPr/>
        </p:nvGraphicFramePr>
        <p:xfrm>
          <a:off x="2406650" y="1822450"/>
          <a:ext cx="3883025" cy="628650"/>
        </p:xfrm>
        <a:graphic>
          <a:graphicData uri="http://schemas.openxmlformats.org/presentationml/2006/ole">
            <mc:AlternateContent xmlns:mc="http://schemas.openxmlformats.org/markup-compatibility/2006">
              <mc:Choice xmlns:v="urn:schemas-microsoft-com:vml" Requires="v">
                <p:oleObj spid="_x0000_s45100" r:id="rId5" imgW="1727200" imgH="279400" progId="Equation.3">
                  <p:embed/>
                </p:oleObj>
              </mc:Choice>
              <mc:Fallback>
                <p:oleObj r:id="rId5" imgW="1727200" imgH="279400" progId="Equation.3">
                  <p:embed/>
                  <p:pic>
                    <p:nvPicPr>
                      <p:cNvPr id="0" name="图片 3217"/>
                      <p:cNvPicPr/>
                      <p:nvPr/>
                    </p:nvPicPr>
                    <p:blipFill>
                      <a:blip r:embed="rId6"/>
                      <a:stretch>
                        <a:fillRect/>
                      </a:stretch>
                    </p:blipFill>
                    <p:spPr>
                      <a:xfrm>
                        <a:off x="2406650" y="1822450"/>
                        <a:ext cx="3883025" cy="628650"/>
                      </a:xfrm>
                      <a:prstGeom prst="rect">
                        <a:avLst/>
                      </a:prstGeom>
                      <a:noFill/>
                      <a:ln w="38100">
                        <a:noFill/>
                        <a:miter/>
                      </a:ln>
                    </p:spPr>
                  </p:pic>
                </p:oleObj>
              </mc:Fallback>
            </mc:AlternateContent>
          </a:graphicData>
        </a:graphic>
      </p:graphicFrame>
      <p:sp>
        <p:nvSpPr>
          <p:cNvPr id="1484806" name="文本框 1484805"/>
          <p:cNvSpPr txBox="1"/>
          <p:nvPr/>
        </p:nvSpPr>
        <p:spPr>
          <a:xfrm>
            <a:off x="614363" y="2455863"/>
            <a:ext cx="5686425" cy="519112"/>
          </a:xfrm>
          <a:prstGeom prst="rect">
            <a:avLst/>
          </a:prstGeom>
          <a:noFill/>
          <a:ln w="9525">
            <a:noFill/>
          </a:ln>
        </p:spPr>
        <p:txBody>
          <a:bodyPr>
            <a:spAutoFit/>
          </a:bodyPr>
          <a:lstStyle/>
          <a:p>
            <a:pPr marL="342900" indent="-342900">
              <a:spcBef>
                <a:spcPct val="0"/>
              </a:spcBef>
            </a:pPr>
            <a:r>
              <a:rPr lang="en-US" altLang="zh-CN" sz="2800" dirty="0">
                <a:solidFill>
                  <a:schemeClr val="tx1"/>
                </a:solidFill>
                <a:latin typeface="Arial" panose="020B0604020202020204" pitchFamily="34" charset="0"/>
              </a:rPr>
              <a:t>(2)</a:t>
            </a:r>
            <a:r>
              <a:rPr lang="zh-CN" altLang="en-US" sz="2800" b="0" dirty="0">
                <a:solidFill>
                  <a:schemeClr val="tx1"/>
                </a:solidFill>
                <a:latin typeface="Arial" panose="020B0604020202020204" pitchFamily="34" charset="0"/>
              </a:rPr>
              <a:t>　</a:t>
            </a:r>
            <a:r>
              <a:rPr lang="zh-CN" altLang="en-US" sz="2400" dirty="0">
                <a:solidFill>
                  <a:schemeClr val="tx1"/>
                </a:solidFill>
                <a:latin typeface="Arial" panose="020B0604020202020204" pitchFamily="34" charset="0"/>
              </a:rPr>
              <a:t>当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1(</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=1/</a:t>
            </a:r>
            <a:r>
              <a:rPr lang="en-US" altLang="zh-CN" sz="2800" i="1" dirty="0">
                <a:solidFill>
                  <a:schemeClr val="tx1"/>
                </a:solidFill>
                <a:latin typeface="Times New Roman" panose="02020603050405020304" pitchFamily="18" charset="0"/>
              </a:rPr>
              <a:t>s</a:t>
            </a:r>
            <a:endParaRPr lang="en-US" altLang="zh-CN" sz="2800" baseline="30000" dirty="0">
              <a:solidFill>
                <a:schemeClr val="tx1"/>
              </a:solidFill>
              <a:latin typeface="Times New Roman" panose="02020603050405020304" pitchFamily="18" charset="0"/>
            </a:endParaRPr>
          </a:p>
        </p:txBody>
      </p:sp>
      <p:graphicFrame>
        <p:nvGraphicFramePr>
          <p:cNvPr id="1484807" name="对象 1484806"/>
          <p:cNvGraphicFramePr/>
          <p:nvPr/>
        </p:nvGraphicFramePr>
        <p:xfrm>
          <a:off x="1706563" y="2852738"/>
          <a:ext cx="4827587" cy="971550"/>
        </p:xfrm>
        <a:graphic>
          <a:graphicData uri="http://schemas.openxmlformats.org/presentationml/2006/ole">
            <mc:AlternateContent xmlns:mc="http://schemas.openxmlformats.org/markup-compatibility/2006">
              <mc:Choice xmlns:v="urn:schemas-microsoft-com:vml" Requires="v">
                <p:oleObj spid="_x0000_s45101" r:id="rId7" imgW="2145665" imgH="431800" progId="Equation.3">
                  <p:embed/>
                </p:oleObj>
              </mc:Choice>
              <mc:Fallback>
                <p:oleObj r:id="rId7" imgW="2145665" imgH="431800" progId="Equation.3">
                  <p:embed/>
                  <p:pic>
                    <p:nvPicPr>
                      <p:cNvPr id="0" name="图片 3219"/>
                      <p:cNvPicPr/>
                      <p:nvPr/>
                    </p:nvPicPr>
                    <p:blipFill>
                      <a:blip r:embed="rId8"/>
                      <a:stretch>
                        <a:fillRect/>
                      </a:stretch>
                    </p:blipFill>
                    <p:spPr>
                      <a:xfrm>
                        <a:off x="1706563" y="2852738"/>
                        <a:ext cx="4827587" cy="971550"/>
                      </a:xfrm>
                      <a:prstGeom prst="rect">
                        <a:avLst/>
                      </a:prstGeom>
                      <a:noFill/>
                      <a:ln w="38100">
                        <a:noFill/>
                        <a:miter/>
                      </a:ln>
                    </p:spPr>
                  </p:pic>
                </p:oleObj>
              </mc:Fallback>
            </mc:AlternateContent>
          </a:graphicData>
        </a:graphic>
      </p:graphicFrame>
      <p:graphicFrame>
        <p:nvGraphicFramePr>
          <p:cNvPr id="1484808" name="对象 1484807"/>
          <p:cNvGraphicFramePr/>
          <p:nvPr/>
        </p:nvGraphicFramePr>
        <p:xfrm>
          <a:off x="2160588" y="3824288"/>
          <a:ext cx="2644775" cy="627062"/>
        </p:xfrm>
        <a:graphic>
          <a:graphicData uri="http://schemas.openxmlformats.org/presentationml/2006/ole">
            <mc:AlternateContent xmlns:mc="http://schemas.openxmlformats.org/markup-compatibility/2006">
              <mc:Choice xmlns:v="urn:schemas-microsoft-com:vml" Requires="v">
                <p:oleObj spid="_x0000_s45102" r:id="rId9" imgW="1180465" imgH="279400" progId="Equation.3">
                  <p:embed/>
                </p:oleObj>
              </mc:Choice>
              <mc:Fallback>
                <p:oleObj r:id="rId9" imgW="1180465" imgH="279400" progId="Equation.3">
                  <p:embed/>
                  <p:pic>
                    <p:nvPicPr>
                      <p:cNvPr id="0" name="图片 3214"/>
                      <p:cNvPicPr/>
                      <p:nvPr/>
                    </p:nvPicPr>
                    <p:blipFill>
                      <a:blip r:embed="rId10"/>
                      <a:stretch>
                        <a:fillRect/>
                      </a:stretch>
                    </p:blipFill>
                    <p:spPr>
                      <a:xfrm>
                        <a:off x="2160588" y="3824288"/>
                        <a:ext cx="2644775" cy="627062"/>
                      </a:xfrm>
                      <a:prstGeom prst="rect">
                        <a:avLst/>
                      </a:prstGeom>
                      <a:noFill/>
                      <a:ln w="38100">
                        <a:noFill/>
                        <a:miter/>
                      </a:ln>
                    </p:spPr>
                  </p:pic>
                </p:oleObj>
              </mc:Fallback>
            </mc:AlternateContent>
          </a:graphicData>
        </a:graphic>
      </p:graphicFrame>
      <p:sp>
        <p:nvSpPr>
          <p:cNvPr id="1484809" name="文本框 1484808"/>
          <p:cNvSpPr txBox="1"/>
          <p:nvPr/>
        </p:nvSpPr>
        <p:spPr>
          <a:xfrm>
            <a:off x="665163" y="4492625"/>
            <a:ext cx="4583112" cy="519113"/>
          </a:xfrm>
          <a:prstGeom prst="rect">
            <a:avLst/>
          </a:prstGeom>
          <a:noFill/>
          <a:ln w="9525">
            <a:noFill/>
          </a:ln>
        </p:spPr>
        <p:txBody>
          <a:bodyPr>
            <a:spAutoFit/>
          </a:bodyPr>
          <a:lstStyle/>
          <a:p>
            <a:pPr marL="342900" indent="-342900">
              <a:spcBef>
                <a:spcPct val="0"/>
              </a:spcBef>
            </a:pPr>
            <a:r>
              <a:rPr lang="en-US" altLang="zh-CN" sz="2800" dirty="0">
                <a:solidFill>
                  <a:schemeClr val="tx1"/>
                </a:solidFill>
                <a:latin typeface="Arial" panose="020B0604020202020204" pitchFamily="34" charset="0"/>
              </a:rPr>
              <a:t>(3)</a:t>
            </a:r>
            <a:r>
              <a:rPr lang="zh-CN" altLang="en-US" sz="2400" dirty="0">
                <a:solidFill>
                  <a:schemeClr val="tx1"/>
                </a:solidFill>
                <a:latin typeface="Arial" panose="020B0604020202020204" pitchFamily="34" charset="0"/>
              </a:rPr>
              <a:t>　当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 </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s</a:t>
            </a:r>
            <a:r>
              <a:rPr lang="en-US" altLang="zh-CN" sz="2800" dirty="0">
                <a:solidFill>
                  <a:schemeClr val="tx1"/>
                </a:solidFill>
                <a:latin typeface="Times New Roman" panose="02020603050405020304" pitchFamily="18" charset="0"/>
              </a:rPr>
              <a:t>) =1/</a:t>
            </a:r>
            <a:r>
              <a:rPr lang="en-US" altLang="zh-CN" sz="2800" i="1" dirty="0">
                <a:solidFill>
                  <a:schemeClr val="tx1"/>
                </a:solidFill>
                <a:latin typeface="Times New Roman" panose="02020603050405020304" pitchFamily="18" charset="0"/>
              </a:rPr>
              <a:t>s</a:t>
            </a:r>
            <a:r>
              <a:rPr lang="en-US" altLang="zh-CN" sz="2800" baseline="30000" dirty="0">
                <a:solidFill>
                  <a:schemeClr val="tx1"/>
                </a:solidFill>
                <a:latin typeface="Times New Roman" panose="02020603050405020304" pitchFamily="18" charset="0"/>
              </a:rPr>
              <a:t>2</a:t>
            </a:r>
            <a:endParaRPr lang="en-US" altLang="zh-CN" sz="2400" dirty="0">
              <a:solidFill>
                <a:schemeClr val="tx1"/>
              </a:solidFill>
              <a:latin typeface="Arial" panose="020B0604020202020204" pitchFamily="34" charset="0"/>
            </a:endParaRPr>
          </a:p>
        </p:txBody>
      </p:sp>
      <p:graphicFrame>
        <p:nvGraphicFramePr>
          <p:cNvPr id="1484810" name="对象 1484809"/>
          <p:cNvGraphicFramePr/>
          <p:nvPr/>
        </p:nvGraphicFramePr>
        <p:xfrm>
          <a:off x="2359025" y="4933950"/>
          <a:ext cx="2771775" cy="914400"/>
        </p:xfrm>
        <a:graphic>
          <a:graphicData uri="http://schemas.openxmlformats.org/presentationml/2006/ole">
            <mc:AlternateContent xmlns:mc="http://schemas.openxmlformats.org/markup-compatibility/2006">
              <mc:Choice xmlns:v="urn:schemas-microsoft-com:vml" Requires="v">
                <p:oleObj spid="_x0000_s45103" r:id="rId11" imgW="1230630" imgH="405765" progId="Equation.3">
                  <p:embed/>
                </p:oleObj>
              </mc:Choice>
              <mc:Fallback>
                <p:oleObj r:id="rId11" imgW="1230630" imgH="405765" progId="Equation.3">
                  <p:embed/>
                  <p:pic>
                    <p:nvPicPr>
                      <p:cNvPr id="0" name="图片 3216"/>
                      <p:cNvPicPr/>
                      <p:nvPr/>
                    </p:nvPicPr>
                    <p:blipFill>
                      <a:blip r:embed="rId12"/>
                      <a:stretch>
                        <a:fillRect/>
                      </a:stretch>
                    </p:blipFill>
                    <p:spPr>
                      <a:xfrm>
                        <a:off x="2359025" y="4933950"/>
                        <a:ext cx="2771775" cy="914400"/>
                      </a:xfrm>
                      <a:prstGeom prst="rect">
                        <a:avLst/>
                      </a:prstGeom>
                      <a:noFill/>
                      <a:ln w="38100">
                        <a:noFill/>
                        <a:miter/>
                      </a:ln>
                    </p:spPr>
                  </p:pic>
                </p:oleObj>
              </mc:Fallback>
            </mc:AlternateContent>
          </a:graphicData>
        </a:graphic>
      </p:graphicFrame>
      <p:graphicFrame>
        <p:nvGraphicFramePr>
          <p:cNvPr id="1484811" name="对象 1484810"/>
          <p:cNvGraphicFramePr/>
          <p:nvPr/>
        </p:nvGraphicFramePr>
        <p:xfrm>
          <a:off x="1704975" y="5659438"/>
          <a:ext cx="5324475" cy="915987"/>
        </p:xfrm>
        <a:graphic>
          <a:graphicData uri="http://schemas.openxmlformats.org/presentationml/2006/ole">
            <mc:AlternateContent xmlns:mc="http://schemas.openxmlformats.org/markup-compatibility/2006">
              <mc:Choice xmlns:v="urn:schemas-microsoft-com:vml" Requires="v">
                <p:oleObj spid="_x0000_s45104" r:id="rId13" imgW="2360295" imgH="405765" progId="Equation.3">
                  <p:embed/>
                </p:oleObj>
              </mc:Choice>
              <mc:Fallback>
                <p:oleObj r:id="rId13" imgW="2360295" imgH="405765" progId="Equation.3">
                  <p:embed/>
                  <p:pic>
                    <p:nvPicPr>
                      <p:cNvPr id="0" name="图片 3212"/>
                      <p:cNvPicPr/>
                      <p:nvPr/>
                    </p:nvPicPr>
                    <p:blipFill>
                      <a:blip r:embed="rId14"/>
                      <a:stretch>
                        <a:fillRect/>
                      </a:stretch>
                    </p:blipFill>
                    <p:spPr>
                      <a:xfrm>
                        <a:off x="1704975" y="5659438"/>
                        <a:ext cx="5324475" cy="915987"/>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84803"/>
                                        </p:tgtEl>
                                        <p:attrNameLst>
                                          <p:attrName>style.visibility</p:attrName>
                                        </p:attrNameLst>
                                      </p:cBhvr>
                                      <p:to>
                                        <p:strVal val="visible"/>
                                      </p:to>
                                    </p:set>
                                    <p:animEffect transition="in" filter="dissolve">
                                      <p:cBhvr>
                                        <p:cTn id="7" dur="500"/>
                                        <p:tgtEl>
                                          <p:spTgt spid="148480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4804"/>
                                        </p:tgtEl>
                                        <p:attrNameLst>
                                          <p:attrName>style.visibility</p:attrName>
                                        </p:attrNameLst>
                                      </p:cBhvr>
                                      <p:to>
                                        <p:strVal val="visible"/>
                                      </p:to>
                                    </p:set>
                                    <p:animEffect transition="in" filter="dissolve">
                                      <p:cBhvr>
                                        <p:cTn id="12" dur="500"/>
                                        <p:tgtEl>
                                          <p:spTgt spid="148480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84805"/>
                                        </p:tgtEl>
                                        <p:attrNameLst>
                                          <p:attrName>style.visibility</p:attrName>
                                        </p:attrNameLst>
                                      </p:cBhvr>
                                      <p:to>
                                        <p:strVal val="visible"/>
                                      </p:to>
                                    </p:set>
                                    <p:animEffect transition="in" filter="dissolve">
                                      <p:cBhvr>
                                        <p:cTn id="17" dur="500"/>
                                        <p:tgtEl>
                                          <p:spTgt spid="14848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84806"/>
                                        </p:tgtEl>
                                        <p:attrNameLst>
                                          <p:attrName>style.visibility</p:attrName>
                                        </p:attrNameLst>
                                      </p:cBhvr>
                                      <p:to>
                                        <p:strVal val="visible"/>
                                      </p:to>
                                    </p:set>
                                    <p:animEffect transition="in" filter="dissolve">
                                      <p:cBhvr>
                                        <p:cTn id="22" dur="500"/>
                                        <p:tgtEl>
                                          <p:spTgt spid="148480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84807"/>
                                        </p:tgtEl>
                                        <p:attrNameLst>
                                          <p:attrName>style.visibility</p:attrName>
                                        </p:attrNameLst>
                                      </p:cBhvr>
                                      <p:to>
                                        <p:strVal val="visible"/>
                                      </p:to>
                                    </p:set>
                                    <p:animEffect transition="in" filter="dissolve">
                                      <p:cBhvr>
                                        <p:cTn id="27" dur="500"/>
                                        <p:tgtEl>
                                          <p:spTgt spid="148480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84808"/>
                                        </p:tgtEl>
                                        <p:attrNameLst>
                                          <p:attrName>style.visibility</p:attrName>
                                        </p:attrNameLst>
                                      </p:cBhvr>
                                      <p:to>
                                        <p:strVal val="visible"/>
                                      </p:to>
                                    </p:set>
                                    <p:animEffect transition="in" filter="blinds(horizontal)">
                                      <p:cBhvr>
                                        <p:cTn id="32" dur="500"/>
                                        <p:tgtEl>
                                          <p:spTgt spid="148480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84809"/>
                                        </p:tgtEl>
                                        <p:attrNameLst>
                                          <p:attrName>style.visibility</p:attrName>
                                        </p:attrNameLst>
                                      </p:cBhvr>
                                      <p:to>
                                        <p:strVal val="visible"/>
                                      </p:to>
                                    </p:set>
                                    <p:animEffect transition="in" filter="blinds(horizontal)">
                                      <p:cBhvr>
                                        <p:cTn id="37" dur="500"/>
                                        <p:tgtEl>
                                          <p:spTgt spid="148480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84810"/>
                                        </p:tgtEl>
                                        <p:attrNameLst>
                                          <p:attrName>style.visibility</p:attrName>
                                        </p:attrNameLst>
                                      </p:cBhvr>
                                      <p:to>
                                        <p:strVal val="visible"/>
                                      </p:to>
                                    </p:set>
                                    <p:animEffect transition="in" filter="blinds(horizontal)">
                                      <p:cBhvr>
                                        <p:cTn id="42" dur="500"/>
                                        <p:tgtEl>
                                          <p:spTgt spid="148481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84811"/>
                                        </p:tgtEl>
                                        <p:attrNameLst>
                                          <p:attrName>style.visibility</p:attrName>
                                        </p:attrNameLst>
                                      </p:cBhvr>
                                      <p:to>
                                        <p:strVal val="visible"/>
                                      </p:to>
                                    </p:set>
                                    <p:animEffect transition="in" filter="blinds(horizontal)">
                                      <p:cBhvr>
                                        <p:cTn id="47" dur="500"/>
                                        <p:tgtEl>
                                          <p:spTgt spid="1484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04" grpId="0"/>
      <p:bldP spid="1484806" grpId="0"/>
      <p:bldP spid="148480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91387CDF-838C-4B00-83BC-6EACE092E5DA}"/>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sp>
        <p:nvSpPr>
          <p:cNvPr id="1486850" name="文本框 1486849"/>
          <p:cNvSpPr txBox="1"/>
          <p:nvPr/>
        </p:nvSpPr>
        <p:spPr>
          <a:xfrm>
            <a:off x="1187624" y="100570"/>
            <a:ext cx="6483350"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3.5.2 </a:t>
            </a:r>
            <a:r>
              <a:rPr kumimoji="0" lang="zh-CN" altLang="en-US" sz="2800" kern="1200" cap="none" spc="0" normalizeH="0" baseline="0" noProof="1">
                <a:solidFill>
                  <a:schemeClr val="tx1"/>
                </a:solidFill>
                <a:effectLst>
                  <a:outerShdw blurRad="38100" dist="38100" dir="2700000">
                    <a:srgbClr val="C0C0C0"/>
                  </a:outerShdw>
                </a:effectLst>
                <a:latin typeface="黑体" panose="02010609060101010101" pitchFamily="49" charset="-122"/>
                <a:ea typeface="黑体" panose="02010609060101010101" pitchFamily="49" charset="-122"/>
                <a:cs typeface="+mn-cs"/>
              </a:rPr>
              <a:t>给定作用下的稳态误差计算</a:t>
            </a:r>
          </a:p>
        </p:txBody>
      </p:sp>
      <p:sp>
        <p:nvSpPr>
          <p:cNvPr id="1486851" name="文本框 1486850"/>
          <p:cNvSpPr txBox="1"/>
          <p:nvPr/>
        </p:nvSpPr>
        <p:spPr>
          <a:xfrm>
            <a:off x="669925" y="2549525"/>
            <a:ext cx="8005763" cy="519113"/>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不失一般性，闭环系统的开环传递函数可写为：</a:t>
            </a:r>
          </a:p>
        </p:txBody>
      </p:sp>
      <p:sp>
        <p:nvSpPr>
          <p:cNvPr id="1486852" name="文本框 1486851"/>
          <p:cNvSpPr txBox="1"/>
          <p:nvPr/>
        </p:nvSpPr>
        <p:spPr>
          <a:xfrm>
            <a:off x="827584" y="5255655"/>
            <a:ext cx="5667375" cy="1501775"/>
          </a:xfrm>
          <a:prstGeom prst="rect">
            <a:avLst/>
          </a:prstGeom>
          <a:noFill/>
          <a:ln w="9525">
            <a:noFill/>
          </a:ln>
        </p:spPr>
        <p:txBody>
          <a:bodyPr>
            <a:spAutoFit/>
          </a:bodyPr>
          <a:lstStyle/>
          <a:p>
            <a:pPr>
              <a:lnSpc>
                <a:spcPct val="110000"/>
              </a:lnSpc>
              <a:spcBef>
                <a:spcPct val="0"/>
              </a:spcBef>
            </a:pPr>
            <a:r>
              <a:rPr lang="en-US" altLang="zh-CN" sz="2800" i="1" dirty="0">
                <a:solidFill>
                  <a:schemeClr val="tx1"/>
                </a:solidFill>
                <a:latin typeface="Times New Roman" panose="02020603050405020304" pitchFamily="18" charset="0"/>
              </a:rPr>
              <a:t>υ</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0</a:t>
            </a:r>
            <a:r>
              <a:rPr lang="en-US" altLang="zh-CN" sz="2800" i="1" dirty="0">
                <a:solidFill>
                  <a:schemeClr val="tx1"/>
                </a:solidFill>
                <a:latin typeface="Times New Roman" panose="02020603050405020304" pitchFamily="18" charset="0"/>
              </a:rPr>
              <a:t>    </a:t>
            </a:r>
            <a:r>
              <a:rPr lang="zh-CN" altLang="en-US" sz="2800" dirty="0">
                <a:solidFill>
                  <a:schemeClr val="tx1"/>
                </a:solidFill>
                <a:latin typeface="Arial" panose="020B0604020202020204" pitchFamily="34" charset="0"/>
              </a:rPr>
              <a:t>称为 </a:t>
            </a:r>
            <a:r>
              <a:rPr lang="en-US" altLang="zh-CN" sz="2800" dirty="0">
                <a:solidFill>
                  <a:schemeClr val="tx1"/>
                </a:solidFill>
                <a:latin typeface="Times New Roman" panose="02020603050405020304" pitchFamily="18" charset="0"/>
              </a:rPr>
              <a:t>0 </a:t>
            </a:r>
            <a:r>
              <a:rPr lang="zh-CN" altLang="en-US" sz="2800" dirty="0">
                <a:solidFill>
                  <a:schemeClr val="tx1"/>
                </a:solidFill>
                <a:latin typeface="Arial" panose="020B0604020202020204" pitchFamily="34" charset="0"/>
              </a:rPr>
              <a:t>型系统；</a:t>
            </a:r>
          </a:p>
          <a:p>
            <a:pPr>
              <a:lnSpc>
                <a:spcPct val="110000"/>
              </a:lnSpc>
              <a:spcBef>
                <a:spcPct val="0"/>
              </a:spcBef>
            </a:pPr>
            <a:r>
              <a:rPr lang="en-US" altLang="zh-CN" sz="2800" i="1" dirty="0">
                <a:solidFill>
                  <a:schemeClr val="tx1"/>
                </a:solidFill>
                <a:latin typeface="Times New Roman" panose="02020603050405020304" pitchFamily="18" charset="0"/>
              </a:rPr>
              <a:t>υ</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1    </a:t>
            </a:r>
            <a:r>
              <a:rPr lang="zh-CN" altLang="en-US" sz="2800" dirty="0">
                <a:solidFill>
                  <a:schemeClr val="tx1"/>
                </a:solidFill>
                <a:latin typeface="Arial" panose="020B0604020202020204" pitchFamily="34" charset="0"/>
              </a:rPr>
              <a:t>称为</a:t>
            </a:r>
            <a:r>
              <a:rPr lang="en-US" altLang="zh-CN" sz="2800" dirty="0">
                <a:solidFill>
                  <a:schemeClr val="tx1"/>
                </a:solidFill>
                <a:latin typeface="Arial" panose="020B0604020202020204" pitchFamily="34" charset="0"/>
              </a:rPr>
              <a:t>Ⅰ</a:t>
            </a:r>
            <a:r>
              <a:rPr lang="zh-CN" altLang="en-US" sz="2800" dirty="0">
                <a:solidFill>
                  <a:schemeClr val="tx1"/>
                </a:solidFill>
                <a:latin typeface="Arial" panose="020B0604020202020204" pitchFamily="34" charset="0"/>
              </a:rPr>
              <a:t>型系统；</a:t>
            </a:r>
          </a:p>
          <a:p>
            <a:pPr>
              <a:lnSpc>
                <a:spcPct val="110000"/>
              </a:lnSpc>
              <a:spcBef>
                <a:spcPct val="0"/>
              </a:spcBef>
            </a:pPr>
            <a:r>
              <a:rPr lang="en-US" altLang="zh-CN" sz="2800" i="1" dirty="0">
                <a:solidFill>
                  <a:schemeClr val="tx1"/>
                </a:solidFill>
                <a:latin typeface="Times New Roman" panose="02020603050405020304" pitchFamily="18" charset="0"/>
              </a:rPr>
              <a:t>υ</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2    </a:t>
            </a:r>
            <a:r>
              <a:rPr lang="zh-CN" altLang="en-US" sz="2800" dirty="0">
                <a:solidFill>
                  <a:schemeClr val="tx1"/>
                </a:solidFill>
                <a:latin typeface="Arial" panose="020B0604020202020204" pitchFamily="34" charset="0"/>
              </a:rPr>
              <a:t>称为</a:t>
            </a:r>
            <a:r>
              <a:rPr lang="en-US" altLang="zh-CN" sz="2800" dirty="0">
                <a:solidFill>
                  <a:schemeClr val="tx1"/>
                </a:solidFill>
                <a:latin typeface="Arial" panose="020B0604020202020204" pitchFamily="34" charset="0"/>
              </a:rPr>
              <a:t>Ⅱ</a:t>
            </a:r>
            <a:r>
              <a:rPr lang="zh-CN" altLang="en-US" sz="2800" dirty="0">
                <a:solidFill>
                  <a:schemeClr val="tx1"/>
                </a:solidFill>
                <a:latin typeface="Arial" panose="020B0604020202020204" pitchFamily="34" charset="0"/>
              </a:rPr>
              <a:t>型系统。等等</a:t>
            </a:r>
          </a:p>
        </p:txBody>
      </p:sp>
      <p:sp>
        <p:nvSpPr>
          <p:cNvPr id="1486853" name="文本框 1486852"/>
          <p:cNvSpPr txBox="1"/>
          <p:nvPr/>
        </p:nvSpPr>
        <p:spPr>
          <a:xfrm>
            <a:off x="972517" y="748270"/>
            <a:ext cx="6913563" cy="519113"/>
          </a:xfrm>
          <a:prstGeom prst="rect">
            <a:avLst/>
          </a:prstGeom>
          <a:noFill/>
          <a:ln w="9525">
            <a:noFill/>
          </a:ln>
        </p:spPr>
        <p:txBody>
          <a:bodyPr>
            <a:spAutoFit/>
          </a:bodyPr>
          <a:lstStyle/>
          <a:p>
            <a:pPr>
              <a:spcBef>
                <a:spcPct val="0"/>
              </a:spcBef>
            </a:pPr>
            <a:r>
              <a:rPr lang="zh-CN" altLang="en-US" sz="2800" dirty="0">
                <a:solidFill>
                  <a:schemeClr val="tx1"/>
                </a:solidFill>
                <a:latin typeface="Arial" panose="020B0604020202020204" pitchFamily="34" charset="0"/>
              </a:rPr>
              <a:t>在一般情况下，系统误差的拉氏变换为：</a:t>
            </a:r>
          </a:p>
        </p:txBody>
      </p:sp>
      <p:graphicFrame>
        <p:nvGraphicFramePr>
          <p:cNvPr id="1486854" name="对象 1486853"/>
          <p:cNvGraphicFramePr/>
          <p:nvPr>
            <p:extLst>
              <p:ext uri="{D42A27DB-BD31-4B8C-83A1-F6EECF244321}">
                <p14:modId xmlns:p14="http://schemas.microsoft.com/office/powerpoint/2010/main" val="2399515534"/>
              </p:ext>
            </p:extLst>
          </p:nvPr>
        </p:nvGraphicFramePr>
        <p:xfrm>
          <a:off x="1691680" y="1285639"/>
          <a:ext cx="4956175" cy="1001713"/>
        </p:xfrm>
        <a:graphic>
          <a:graphicData uri="http://schemas.openxmlformats.org/presentationml/2006/ole">
            <mc:AlternateContent xmlns:mc="http://schemas.openxmlformats.org/markup-compatibility/2006">
              <mc:Choice xmlns:v="urn:schemas-microsoft-com:vml" Requires="v">
                <p:oleObj spid="_x0000_s46095" r:id="rId3" imgW="2183765" imgH="444500" progId="Equation.3">
                  <p:embed/>
                </p:oleObj>
              </mc:Choice>
              <mc:Fallback>
                <p:oleObj r:id="rId3" imgW="2183765" imgH="444500" progId="Equation.3">
                  <p:embed/>
                  <p:pic>
                    <p:nvPicPr>
                      <p:cNvPr id="0" name="图片 3215"/>
                      <p:cNvPicPr/>
                      <p:nvPr/>
                    </p:nvPicPr>
                    <p:blipFill>
                      <a:blip r:embed="rId4"/>
                      <a:stretch>
                        <a:fillRect/>
                      </a:stretch>
                    </p:blipFill>
                    <p:spPr>
                      <a:xfrm>
                        <a:off x="1691680" y="1285639"/>
                        <a:ext cx="4956175" cy="1001713"/>
                      </a:xfrm>
                      <a:prstGeom prst="rect">
                        <a:avLst/>
                      </a:prstGeom>
                      <a:noFill/>
                      <a:ln w="38100">
                        <a:noFill/>
                        <a:miter/>
                      </a:ln>
                    </p:spPr>
                  </p:pic>
                </p:oleObj>
              </mc:Fallback>
            </mc:AlternateContent>
          </a:graphicData>
        </a:graphic>
      </p:graphicFrame>
      <p:graphicFrame>
        <p:nvGraphicFramePr>
          <p:cNvPr id="1486855" name="对象 1486854"/>
          <p:cNvGraphicFramePr/>
          <p:nvPr>
            <p:extLst>
              <p:ext uri="{D42A27DB-BD31-4B8C-83A1-F6EECF244321}">
                <p14:modId xmlns:p14="http://schemas.microsoft.com/office/powerpoint/2010/main" val="2529322158"/>
              </p:ext>
            </p:extLst>
          </p:nvPr>
        </p:nvGraphicFramePr>
        <p:xfrm>
          <a:off x="482600" y="3068638"/>
          <a:ext cx="7991475" cy="1970087"/>
        </p:xfrm>
        <a:graphic>
          <a:graphicData uri="http://schemas.openxmlformats.org/presentationml/2006/ole">
            <mc:AlternateContent xmlns:mc="http://schemas.openxmlformats.org/markup-compatibility/2006">
              <mc:Choice xmlns:v="urn:schemas-microsoft-com:vml" Requires="v">
                <p:oleObj spid="_x0000_s46096" r:id="rId5" imgW="2932430" imgH="723900" progId="Equation.3">
                  <p:embed/>
                </p:oleObj>
              </mc:Choice>
              <mc:Fallback>
                <p:oleObj r:id="rId5" imgW="2932430" imgH="723900" progId="Equation.3">
                  <p:embed/>
                  <p:pic>
                    <p:nvPicPr>
                      <p:cNvPr id="0" name="图片 3218"/>
                      <p:cNvPicPr/>
                      <p:nvPr/>
                    </p:nvPicPr>
                    <p:blipFill>
                      <a:blip r:embed="rId6"/>
                      <a:stretch>
                        <a:fillRect/>
                      </a:stretch>
                    </p:blipFill>
                    <p:spPr>
                      <a:xfrm>
                        <a:off x="482600" y="3068638"/>
                        <a:ext cx="7991475" cy="1970087"/>
                      </a:xfrm>
                      <a:prstGeom prst="rect">
                        <a:avLst/>
                      </a:prstGeom>
                      <a:gradFill rotWithShape="1">
                        <a:gsLst>
                          <a:gs pos="0">
                            <a:srgbClr val="66FF99"/>
                          </a:gs>
                          <a:gs pos="50000">
                            <a:srgbClr val="FFCCCC"/>
                          </a:gs>
                          <a:gs pos="100000">
                            <a:srgbClr val="66FF99"/>
                          </a:gs>
                        </a:gsLst>
                        <a:lin ang="5400000" scaled="1"/>
                        <a:tileRect/>
                      </a:gradFill>
                      <a:ln w="38100">
                        <a:noFill/>
                        <a:miter/>
                      </a:ln>
                    </p:spPr>
                  </p:pic>
                </p:oleObj>
              </mc:Fallback>
            </mc:AlternateContent>
          </a:graphicData>
        </a:graphic>
      </p:graphicFrame>
      <p:sp>
        <p:nvSpPr>
          <p:cNvPr id="10" name="对角圆角矩形 6">
            <a:extLst>
              <a:ext uri="{FF2B5EF4-FFF2-40B4-BE49-F238E27FC236}">
                <a16:creationId xmlns:a16="http://schemas.microsoft.com/office/drawing/2014/main" id="{BD689745-ACD2-4640-9242-899D787D94E7}"/>
              </a:ext>
            </a:extLst>
          </p:cNvPr>
          <p:cNvSpPr/>
          <p:nvPr/>
        </p:nvSpPr>
        <p:spPr>
          <a:xfrm>
            <a:off x="470765" y="5304191"/>
            <a:ext cx="5025504" cy="1501775"/>
          </a:xfrm>
          <a:prstGeom prst="round2Diag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6850"/>
                                        </p:tgtEl>
                                        <p:attrNameLst>
                                          <p:attrName>style.visibility</p:attrName>
                                        </p:attrNameLst>
                                      </p:cBhvr>
                                      <p:to>
                                        <p:strVal val="visible"/>
                                      </p:to>
                                    </p:set>
                                    <p:anim calcmode="lin" valueType="num">
                                      <p:cBhvr additive="base">
                                        <p:cTn id="7" dur="500" fill="hold"/>
                                        <p:tgtEl>
                                          <p:spTgt spid="1486850"/>
                                        </p:tgtEl>
                                        <p:attrNameLst>
                                          <p:attrName>ppt_x</p:attrName>
                                        </p:attrNameLst>
                                      </p:cBhvr>
                                      <p:tavLst>
                                        <p:tav tm="0">
                                          <p:val>
                                            <p:strVal val="0-#ppt_w/2"/>
                                          </p:val>
                                        </p:tav>
                                        <p:tav tm="100000">
                                          <p:val>
                                            <p:strVal val="#ppt_x"/>
                                          </p:val>
                                        </p:tav>
                                      </p:tavLst>
                                    </p:anim>
                                    <p:anim calcmode="lin" valueType="num">
                                      <p:cBhvr additive="base">
                                        <p:cTn id="8" dur="500" fill="hold"/>
                                        <p:tgtEl>
                                          <p:spTgt spid="14868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86853"/>
                                        </p:tgtEl>
                                        <p:attrNameLst>
                                          <p:attrName>style.visibility</p:attrName>
                                        </p:attrNameLst>
                                      </p:cBhvr>
                                      <p:to>
                                        <p:strVal val="visible"/>
                                      </p:to>
                                    </p:set>
                                    <p:anim calcmode="lin" valueType="num">
                                      <p:cBhvr additive="base">
                                        <p:cTn id="13" dur="500" fill="hold"/>
                                        <p:tgtEl>
                                          <p:spTgt spid="1486853"/>
                                        </p:tgtEl>
                                        <p:attrNameLst>
                                          <p:attrName>ppt_x</p:attrName>
                                        </p:attrNameLst>
                                      </p:cBhvr>
                                      <p:tavLst>
                                        <p:tav tm="0">
                                          <p:val>
                                            <p:strVal val="0-#ppt_w/2"/>
                                          </p:val>
                                        </p:tav>
                                        <p:tav tm="100000">
                                          <p:val>
                                            <p:strVal val="#ppt_x"/>
                                          </p:val>
                                        </p:tav>
                                      </p:tavLst>
                                    </p:anim>
                                    <p:anim calcmode="lin" valueType="num">
                                      <p:cBhvr additive="base">
                                        <p:cTn id="14" dur="500" fill="hold"/>
                                        <p:tgtEl>
                                          <p:spTgt spid="148685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486854"/>
                                        </p:tgtEl>
                                        <p:attrNameLst>
                                          <p:attrName>style.visibility</p:attrName>
                                        </p:attrNameLst>
                                      </p:cBhvr>
                                      <p:to>
                                        <p:strVal val="visible"/>
                                      </p:to>
                                    </p:set>
                                    <p:animEffect transition="in" filter="dissolve">
                                      <p:cBhvr>
                                        <p:cTn id="19" dur="500"/>
                                        <p:tgtEl>
                                          <p:spTgt spid="148685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486851"/>
                                        </p:tgtEl>
                                        <p:attrNameLst>
                                          <p:attrName>style.visibility</p:attrName>
                                        </p:attrNameLst>
                                      </p:cBhvr>
                                      <p:to>
                                        <p:strVal val="visible"/>
                                      </p:to>
                                    </p:set>
                                    <p:anim calcmode="lin" valueType="num">
                                      <p:cBhvr additive="base">
                                        <p:cTn id="24" dur="500" fill="hold"/>
                                        <p:tgtEl>
                                          <p:spTgt spid="1486851"/>
                                        </p:tgtEl>
                                        <p:attrNameLst>
                                          <p:attrName>ppt_x</p:attrName>
                                        </p:attrNameLst>
                                      </p:cBhvr>
                                      <p:tavLst>
                                        <p:tav tm="0">
                                          <p:val>
                                            <p:strVal val="0-#ppt_w/2"/>
                                          </p:val>
                                        </p:tav>
                                        <p:tav tm="100000">
                                          <p:val>
                                            <p:strVal val="#ppt_x"/>
                                          </p:val>
                                        </p:tav>
                                      </p:tavLst>
                                    </p:anim>
                                    <p:anim calcmode="lin" valueType="num">
                                      <p:cBhvr additive="base">
                                        <p:cTn id="25" dur="500" fill="hold"/>
                                        <p:tgtEl>
                                          <p:spTgt spid="1486851"/>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486855"/>
                                        </p:tgtEl>
                                        <p:attrNameLst>
                                          <p:attrName>style.visibility</p:attrName>
                                        </p:attrNameLst>
                                      </p:cBhvr>
                                      <p:to>
                                        <p:strVal val="visible"/>
                                      </p:to>
                                    </p:set>
                                    <p:animEffect transition="in" filter="dissolve">
                                      <p:cBhvr>
                                        <p:cTn id="30" dur="500"/>
                                        <p:tgtEl>
                                          <p:spTgt spid="148685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86852"/>
                                        </p:tgtEl>
                                        <p:attrNameLst>
                                          <p:attrName>style.visibility</p:attrName>
                                        </p:attrNameLst>
                                      </p:cBhvr>
                                      <p:to>
                                        <p:strVal val="visible"/>
                                      </p:to>
                                    </p:set>
                                    <p:anim calcmode="lin" valueType="num">
                                      <p:cBhvr additive="base">
                                        <p:cTn id="35" dur="500" fill="hold"/>
                                        <p:tgtEl>
                                          <p:spTgt spid="1486852"/>
                                        </p:tgtEl>
                                        <p:attrNameLst>
                                          <p:attrName>ppt_x</p:attrName>
                                        </p:attrNameLst>
                                      </p:cBhvr>
                                      <p:tavLst>
                                        <p:tav tm="0">
                                          <p:val>
                                            <p:strVal val="#ppt_x"/>
                                          </p:val>
                                        </p:tav>
                                        <p:tav tm="100000">
                                          <p:val>
                                            <p:strVal val="#ppt_x"/>
                                          </p:val>
                                        </p:tav>
                                      </p:tavLst>
                                    </p:anim>
                                    <p:anim calcmode="lin" valueType="num">
                                      <p:cBhvr additive="base">
                                        <p:cTn id="36" dur="500" fill="hold"/>
                                        <p:tgtEl>
                                          <p:spTgt spid="148685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6850" grpId="0"/>
      <p:bldP spid="1486851" grpId="0"/>
      <p:bldP spid="1486852" grpId="0"/>
      <p:bldP spid="1486853" grpId="0"/>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7874" name="文本框 1487873"/>
          <p:cNvSpPr txBox="1"/>
          <p:nvPr/>
        </p:nvSpPr>
        <p:spPr>
          <a:xfrm>
            <a:off x="1259632" y="25192"/>
            <a:ext cx="7415213"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1.</a:t>
            </a:r>
            <a:r>
              <a:rPr kumimoji="0" lang="zh-CN" altLang="en-US"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阶跃输入作用下的稳态误差</a:t>
            </a:r>
            <a:endParaRPr kumimoji="0" lang="zh-CN" altLang="en-US" sz="2800" i="1" kern="1200" cap="none" spc="0" normalizeH="0" baseline="-3000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endParaRPr>
          </a:p>
        </p:txBody>
      </p:sp>
      <p:graphicFrame>
        <p:nvGraphicFramePr>
          <p:cNvPr id="1487875" name="对象 1487874"/>
          <p:cNvGraphicFramePr/>
          <p:nvPr/>
        </p:nvGraphicFramePr>
        <p:xfrm>
          <a:off x="2700338" y="622300"/>
          <a:ext cx="5803900" cy="942975"/>
        </p:xfrm>
        <a:graphic>
          <a:graphicData uri="http://schemas.openxmlformats.org/presentationml/2006/ole">
            <mc:AlternateContent xmlns:mc="http://schemas.openxmlformats.org/markup-compatibility/2006">
              <mc:Choice xmlns:v="urn:schemas-microsoft-com:vml" Requires="v">
                <p:oleObj spid="_x0000_s47140" r:id="rId3" imgW="2578100" imgH="419100" progId="Equation.3">
                  <p:embed/>
                </p:oleObj>
              </mc:Choice>
              <mc:Fallback>
                <p:oleObj r:id="rId3" imgW="2578100" imgH="419100" progId="Equation.3">
                  <p:embed/>
                  <p:pic>
                    <p:nvPicPr>
                      <p:cNvPr id="0" name="图片 3213"/>
                      <p:cNvPicPr/>
                      <p:nvPr/>
                    </p:nvPicPr>
                    <p:blipFill>
                      <a:blip r:embed="rId4"/>
                      <a:stretch>
                        <a:fillRect/>
                      </a:stretch>
                    </p:blipFill>
                    <p:spPr>
                      <a:xfrm>
                        <a:off x="2700338" y="622300"/>
                        <a:ext cx="5803900" cy="942975"/>
                      </a:xfrm>
                      <a:prstGeom prst="rect">
                        <a:avLst/>
                      </a:prstGeom>
                      <a:noFill/>
                      <a:ln w="38100">
                        <a:noFill/>
                        <a:miter/>
                      </a:ln>
                    </p:spPr>
                  </p:pic>
                </p:oleObj>
              </mc:Fallback>
            </mc:AlternateContent>
          </a:graphicData>
        </a:graphic>
      </p:graphicFrame>
      <p:sp>
        <p:nvSpPr>
          <p:cNvPr id="1487876" name="文本框 1487875"/>
          <p:cNvSpPr txBox="1"/>
          <p:nvPr/>
        </p:nvSpPr>
        <p:spPr>
          <a:xfrm>
            <a:off x="515938" y="1514475"/>
            <a:ext cx="539750" cy="519113"/>
          </a:xfrm>
          <a:prstGeom prst="rect">
            <a:avLst/>
          </a:prstGeom>
          <a:noFill/>
          <a:ln w="9525">
            <a:noFill/>
          </a:ln>
        </p:spPr>
        <p:txBody>
          <a:bodyPr wrap="none">
            <a:spAutoFit/>
          </a:bodyPr>
          <a:lstStyle/>
          <a:p>
            <a:pPr>
              <a:spcBef>
                <a:spcPct val="0"/>
              </a:spcBef>
            </a:pPr>
            <a:r>
              <a:rPr lang="zh-CN" altLang="en-US" sz="2800" dirty="0">
                <a:solidFill>
                  <a:schemeClr val="tx1"/>
                </a:solidFill>
                <a:latin typeface="Arial" panose="020B0604020202020204" pitchFamily="34" charset="0"/>
              </a:rPr>
              <a:t>令</a:t>
            </a:r>
          </a:p>
        </p:txBody>
      </p:sp>
      <p:graphicFrame>
        <p:nvGraphicFramePr>
          <p:cNvPr id="1487877" name="对象 1487876"/>
          <p:cNvGraphicFramePr/>
          <p:nvPr>
            <p:extLst>
              <p:ext uri="{D42A27DB-BD31-4B8C-83A1-F6EECF244321}">
                <p14:modId xmlns:p14="http://schemas.microsoft.com/office/powerpoint/2010/main" val="664354040"/>
              </p:ext>
            </p:extLst>
          </p:nvPr>
        </p:nvGraphicFramePr>
        <p:xfrm>
          <a:off x="395536" y="2197368"/>
          <a:ext cx="2781300" cy="625475"/>
        </p:xfrm>
        <a:graphic>
          <a:graphicData uri="http://schemas.openxmlformats.org/presentationml/2006/ole">
            <mc:AlternateContent xmlns:mc="http://schemas.openxmlformats.org/markup-compatibility/2006">
              <mc:Choice xmlns:v="urn:schemas-microsoft-com:vml" Requires="v">
                <p:oleObj spid="_x0000_s47141" r:id="rId5" imgW="1244600" imgH="279400" progId="Equation.3">
                  <p:embed/>
                </p:oleObj>
              </mc:Choice>
              <mc:Fallback>
                <p:oleObj r:id="rId5" imgW="1244600" imgH="279400" progId="Equation.3">
                  <p:embed/>
                  <p:pic>
                    <p:nvPicPr>
                      <p:cNvPr id="0" name="图片 3228"/>
                      <p:cNvPicPr/>
                      <p:nvPr/>
                    </p:nvPicPr>
                    <p:blipFill>
                      <a:blip r:embed="rId6"/>
                      <a:stretch>
                        <a:fillRect/>
                      </a:stretch>
                    </p:blipFill>
                    <p:spPr>
                      <a:xfrm>
                        <a:off x="395536" y="2197368"/>
                        <a:ext cx="2781300" cy="625475"/>
                      </a:xfrm>
                      <a:prstGeom prst="rect">
                        <a:avLst/>
                      </a:prstGeom>
                      <a:gradFill rotWithShape="1">
                        <a:gsLst>
                          <a:gs pos="0">
                            <a:srgbClr val="66FF99"/>
                          </a:gs>
                          <a:gs pos="50000">
                            <a:srgbClr val="FFCCCC"/>
                          </a:gs>
                          <a:gs pos="100000">
                            <a:srgbClr val="66FF99"/>
                          </a:gs>
                        </a:gsLst>
                        <a:lin ang="5400000" scaled="1"/>
                        <a:tileRect/>
                      </a:gradFill>
                      <a:ln w="28575" cap="flat" cmpd="sng">
                        <a:noFill/>
                        <a:prstDash val="solid"/>
                        <a:miter/>
                        <a:headEnd type="none" w="med" len="med"/>
                        <a:tailEnd type="none" w="med" len="med"/>
                      </a:ln>
                    </p:spPr>
                  </p:pic>
                </p:oleObj>
              </mc:Fallback>
            </mc:AlternateContent>
          </a:graphicData>
        </a:graphic>
      </p:graphicFrame>
      <p:sp>
        <p:nvSpPr>
          <p:cNvPr id="1487878" name="文本框 1487877"/>
          <p:cNvSpPr txBox="1"/>
          <p:nvPr/>
        </p:nvSpPr>
        <p:spPr>
          <a:xfrm>
            <a:off x="6392318" y="1575107"/>
            <a:ext cx="2751682" cy="954107"/>
          </a:xfrm>
          <a:prstGeom prst="rect">
            <a:avLst/>
          </a:prstGeom>
          <a:noFill/>
          <a:ln w="9525">
            <a:noFill/>
          </a:ln>
        </p:spPr>
        <p:txBody>
          <a:bodyPr wrap="square">
            <a:spAutoFit/>
          </a:bodyPr>
          <a:lstStyle/>
          <a:p>
            <a:pPr marR="0" defTabSz="914400">
              <a:spcBef>
                <a:spcPct val="0"/>
              </a:spcBef>
              <a:buClrTx/>
              <a:buSzTx/>
              <a:buFontTx/>
              <a:buNone/>
              <a:defRPr/>
            </a:pPr>
            <a:r>
              <a:rPr kumimoji="0" lang="zh-CN" altLang="en-US"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称为系统的静态位置误差系数</a:t>
            </a:r>
            <a:r>
              <a:rPr kumimoji="0" lang="en-US" altLang="zh-CN"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1</a:t>
            </a:r>
            <a:endParaRPr kumimoji="0" lang="zh-CN" altLang="en-US"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graphicFrame>
        <p:nvGraphicFramePr>
          <p:cNvPr id="1487879" name="对象 1487878"/>
          <p:cNvGraphicFramePr/>
          <p:nvPr>
            <p:extLst>
              <p:ext uri="{D42A27DB-BD31-4B8C-83A1-F6EECF244321}">
                <p14:modId xmlns:p14="http://schemas.microsoft.com/office/powerpoint/2010/main" val="3531361412"/>
              </p:ext>
            </p:extLst>
          </p:nvPr>
        </p:nvGraphicFramePr>
        <p:xfrm>
          <a:off x="3283075" y="1647174"/>
          <a:ext cx="1684163" cy="1043733"/>
        </p:xfrm>
        <a:graphic>
          <a:graphicData uri="http://schemas.openxmlformats.org/presentationml/2006/ole">
            <mc:AlternateContent xmlns:mc="http://schemas.openxmlformats.org/markup-compatibility/2006">
              <mc:Choice xmlns:v="urn:schemas-microsoft-com:vml" Requires="v">
                <p:oleObj spid="_x0000_s47142" r:id="rId7" imgW="698500" imgH="393700" progId="Equation.3">
                  <p:embed/>
                </p:oleObj>
              </mc:Choice>
              <mc:Fallback>
                <p:oleObj r:id="rId7" imgW="698500" imgH="393700" progId="Equation.3">
                  <p:embed/>
                  <p:pic>
                    <p:nvPicPr>
                      <p:cNvPr id="0" name="图片 3223"/>
                      <p:cNvPicPr/>
                      <p:nvPr/>
                    </p:nvPicPr>
                    <p:blipFill>
                      <a:blip r:embed="rId8"/>
                      <a:stretch>
                        <a:fillRect/>
                      </a:stretch>
                    </p:blipFill>
                    <p:spPr>
                      <a:xfrm>
                        <a:off x="3283075" y="1647174"/>
                        <a:ext cx="1684163" cy="1043733"/>
                      </a:xfrm>
                      <a:prstGeom prst="rect">
                        <a:avLst/>
                      </a:prstGeom>
                      <a:noFill/>
                      <a:ln w="28575" cap="flat" cmpd="sng">
                        <a:solidFill>
                          <a:srgbClr val="FF0000"/>
                        </a:solidFill>
                        <a:prstDash val="dash"/>
                        <a:miter/>
                        <a:headEnd type="none" w="med" len="med"/>
                        <a:tailEnd type="none" w="med" len="med"/>
                      </a:ln>
                    </p:spPr>
                  </p:pic>
                </p:oleObj>
              </mc:Fallback>
            </mc:AlternateContent>
          </a:graphicData>
        </a:graphic>
      </p:graphicFrame>
      <p:sp>
        <p:nvSpPr>
          <p:cNvPr id="1487881" name="文本框 1487880"/>
          <p:cNvSpPr txBox="1"/>
          <p:nvPr/>
        </p:nvSpPr>
        <p:spPr>
          <a:xfrm>
            <a:off x="496888" y="4603750"/>
            <a:ext cx="8647112" cy="1153393"/>
          </a:xfrm>
          <a:prstGeom prst="rect">
            <a:avLst/>
          </a:prstGeom>
          <a:noFill/>
          <a:ln w="9525">
            <a:noFill/>
          </a:ln>
        </p:spPr>
        <p:txBody>
          <a:bodyPr>
            <a:spAutoFit/>
          </a:bodyPr>
          <a:lstStyle/>
          <a:p>
            <a:pPr>
              <a:lnSpc>
                <a:spcPct val="130000"/>
              </a:lnSpc>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0 </a:t>
            </a:r>
            <a:r>
              <a:rPr lang="zh-CN" altLang="en-US" sz="2800" dirty="0">
                <a:solidFill>
                  <a:schemeClr val="tx1"/>
                </a:solidFill>
                <a:latin typeface="Arial" panose="020B0604020202020204" pitchFamily="34" charset="0"/>
              </a:rPr>
              <a:t>型系统：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p</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K     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 </a:t>
            </a:r>
            <a:r>
              <a:rPr lang="en-US" altLang="zh-CN" sz="2800" dirty="0">
                <a:solidFill>
                  <a:schemeClr val="tx1"/>
                </a:solidFill>
                <a:latin typeface="Times New Roman" panose="02020603050405020304" pitchFamily="18" charset="0"/>
              </a:rPr>
              <a:t>(1+ </a:t>
            </a:r>
            <a:r>
              <a:rPr lang="en-US" altLang="zh-CN" sz="2800" i="1" dirty="0">
                <a:solidFill>
                  <a:schemeClr val="tx1"/>
                </a:solidFill>
                <a:latin typeface="Times New Roman" panose="02020603050405020304" pitchFamily="18" charset="0"/>
              </a:rPr>
              <a:t>K</a:t>
            </a:r>
            <a:r>
              <a:rPr lang="en-US" altLang="zh-CN" sz="2800" dirty="0">
                <a:solidFill>
                  <a:schemeClr val="tx1"/>
                </a:solidFill>
                <a:latin typeface="Times New Roman" panose="02020603050405020304" pitchFamily="18" charset="0"/>
              </a:rPr>
              <a:t>)</a:t>
            </a:r>
            <a:endParaRPr lang="en-US" altLang="zh-CN" sz="2800" dirty="0">
              <a:solidFill>
                <a:schemeClr val="tx1"/>
              </a:solidFill>
              <a:latin typeface="Arial" panose="020B0604020202020204" pitchFamily="34" charset="0"/>
            </a:endParaRPr>
          </a:p>
          <a:p>
            <a:pPr>
              <a:lnSpc>
                <a:spcPct val="130000"/>
              </a:lnSpc>
              <a:spcBef>
                <a:spcPct val="0"/>
              </a:spcBef>
            </a:pPr>
            <a:r>
              <a:rPr lang="en-US" altLang="zh-CN" sz="2800" dirty="0">
                <a:solidFill>
                  <a:schemeClr val="tx1"/>
                </a:solidFill>
                <a:latin typeface="Arial" panose="020B0604020202020204" pitchFamily="34" charset="0"/>
              </a:rPr>
              <a:t>Ⅰ</a:t>
            </a:r>
            <a:r>
              <a:rPr lang="zh-CN" altLang="en-US" sz="2800" dirty="0">
                <a:solidFill>
                  <a:schemeClr val="tx1"/>
                </a:solidFill>
                <a:latin typeface="Arial" panose="020B0604020202020204" pitchFamily="34" charset="0"/>
              </a:rPr>
              <a:t>型及</a:t>
            </a:r>
            <a:r>
              <a:rPr lang="en-US" altLang="zh-CN" sz="2800" dirty="0">
                <a:solidFill>
                  <a:schemeClr val="tx1"/>
                </a:solidFill>
                <a:latin typeface="Arial" panose="020B0604020202020204" pitchFamily="34" charset="0"/>
              </a:rPr>
              <a:t>Ⅰ</a:t>
            </a:r>
            <a:r>
              <a:rPr lang="zh-CN" altLang="en-US" sz="2800" dirty="0">
                <a:solidFill>
                  <a:schemeClr val="tx1"/>
                </a:solidFill>
                <a:latin typeface="Arial" panose="020B0604020202020204" pitchFamily="34" charset="0"/>
              </a:rPr>
              <a:t>型以上系统：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p</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0</a:t>
            </a:r>
            <a:endParaRPr lang="en-US" altLang="zh-CN" sz="2800" i="1" dirty="0">
              <a:solidFill>
                <a:schemeClr val="tx1"/>
              </a:solidFill>
              <a:latin typeface="Times New Roman" panose="02020603050405020304" pitchFamily="18" charset="0"/>
              <a:ea typeface="Times New Roman" panose="02020603050405020304" pitchFamily="18" charset="0"/>
            </a:endParaRPr>
          </a:p>
        </p:txBody>
      </p:sp>
      <p:graphicFrame>
        <p:nvGraphicFramePr>
          <p:cNvPr id="1487882" name="对象 1487881"/>
          <p:cNvGraphicFramePr/>
          <p:nvPr>
            <p:extLst>
              <p:ext uri="{D42A27DB-BD31-4B8C-83A1-F6EECF244321}">
                <p14:modId xmlns:p14="http://schemas.microsoft.com/office/powerpoint/2010/main" val="3499026129"/>
              </p:ext>
            </p:extLst>
          </p:nvPr>
        </p:nvGraphicFramePr>
        <p:xfrm>
          <a:off x="395536" y="2814430"/>
          <a:ext cx="6227763" cy="1536700"/>
        </p:xfrm>
        <a:graphic>
          <a:graphicData uri="http://schemas.openxmlformats.org/presentationml/2006/ole">
            <mc:AlternateContent xmlns:mc="http://schemas.openxmlformats.org/markup-compatibility/2006">
              <mc:Choice xmlns:v="urn:schemas-microsoft-com:vml" Requires="v">
                <p:oleObj spid="_x0000_s47143" r:id="rId9" imgW="2932430" imgH="723900" progId="Equation.3">
                  <p:embed/>
                </p:oleObj>
              </mc:Choice>
              <mc:Fallback>
                <p:oleObj r:id="rId9" imgW="2932430" imgH="723900" progId="Equation.3">
                  <p:embed/>
                  <p:pic>
                    <p:nvPicPr>
                      <p:cNvPr id="0" name="图片 3225"/>
                      <p:cNvPicPr/>
                      <p:nvPr/>
                    </p:nvPicPr>
                    <p:blipFill>
                      <a:blip r:embed="rId10"/>
                      <a:stretch>
                        <a:fillRect/>
                      </a:stretch>
                    </p:blipFill>
                    <p:spPr>
                      <a:xfrm>
                        <a:off x="395536" y="2814430"/>
                        <a:ext cx="6227763" cy="1536700"/>
                      </a:xfrm>
                      <a:prstGeom prst="rect">
                        <a:avLst/>
                      </a:prstGeom>
                      <a:gradFill rotWithShape="1">
                        <a:gsLst>
                          <a:gs pos="0">
                            <a:srgbClr val="66FF99"/>
                          </a:gs>
                          <a:gs pos="50000">
                            <a:srgbClr val="FFCCCC"/>
                          </a:gs>
                          <a:gs pos="100000">
                            <a:srgbClr val="66FF99"/>
                          </a:gs>
                        </a:gsLst>
                        <a:lin ang="5400000" scaled="1"/>
                        <a:tileRect/>
                      </a:gradFill>
                      <a:ln w="38100">
                        <a:noFill/>
                        <a:miter/>
                      </a:ln>
                    </p:spPr>
                  </p:pic>
                </p:oleObj>
              </mc:Fallback>
            </mc:AlternateContent>
          </a:graphicData>
        </a:graphic>
      </p:graphicFrame>
      <p:graphicFrame>
        <p:nvGraphicFramePr>
          <p:cNvPr id="1487883" name="对象 1487882"/>
          <p:cNvGraphicFramePr/>
          <p:nvPr/>
        </p:nvGraphicFramePr>
        <p:xfrm>
          <a:off x="827088" y="838200"/>
          <a:ext cx="1682750" cy="454025"/>
        </p:xfrm>
        <a:graphic>
          <a:graphicData uri="http://schemas.openxmlformats.org/presentationml/2006/ole">
            <mc:AlternateContent xmlns:mc="http://schemas.openxmlformats.org/markup-compatibility/2006">
              <mc:Choice xmlns:v="urn:schemas-microsoft-com:vml" Requires="v">
                <p:oleObj spid="_x0000_s47144" r:id="rId11" imgW="659130" imgH="177800" progId="Equation.3">
                  <p:embed/>
                </p:oleObj>
              </mc:Choice>
              <mc:Fallback>
                <p:oleObj r:id="rId11" imgW="659130" imgH="177800" progId="Equation.3">
                  <p:embed/>
                  <p:pic>
                    <p:nvPicPr>
                      <p:cNvPr id="0" name="图片 3221"/>
                      <p:cNvPicPr/>
                      <p:nvPr/>
                    </p:nvPicPr>
                    <p:blipFill>
                      <a:blip r:embed="rId12"/>
                      <a:stretch>
                        <a:fillRect/>
                      </a:stretch>
                    </p:blipFill>
                    <p:spPr>
                      <a:xfrm>
                        <a:off x="827088" y="838200"/>
                        <a:ext cx="1682750" cy="454025"/>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7874"/>
                                        </p:tgtEl>
                                        <p:attrNameLst>
                                          <p:attrName>style.visibility</p:attrName>
                                        </p:attrNameLst>
                                      </p:cBhvr>
                                      <p:to>
                                        <p:strVal val="visible"/>
                                      </p:to>
                                    </p:set>
                                    <p:anim calcmode="lin" valueType="num">
                                      <p:cBhvr additive="base">
                                        <p:cTn id="7" dur="500" fill="hold"/>
                                        <p:tgtEl>
                                          <p:spTgt spid="1487874"/>
                                        </p:tgtEl>
                                        <p:attrNameLst>
                                          <p:attrName>ppt_x</p:attrName>
                                        </p:attrNameLst>
                                      </p:cBhvr>
                                      <p:tavLst>
                                        <p:tav tm="0">
                                          <p:val>
                                            <p:strVal val="0-#ppt_w/2"/>
                                          </p:val>
                                        </p:tav>
                                        <p:tav tm="100000">
                                          <p:val>
                                            <p:strVal val="#ppt_x"/>
                                          </p:val>
                                        </p:tav>
                                      </p:tavLst>
                                    </p:anim>
                                    <p:anim calcmode="lin" valueType="num">
                                      <p:cBhvr additive="base">
                                        <p:cTn id="8" dur="500" fill="hold"/>
                                        <p:tgtEl>
                                          <p:spTgt spid="1487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487883"/>
                                        </p:tgtEl>
                                        <p:attrNameLst>
                                          <p:attrName>style.visibility</p:attrName>
                                        </p:attrNameLst>
                                      </p:cBhvr>
                                      <p:to>
                                        <p:strVal val="visible"/>
                                      </p:to>
                                    </p:set>
                                    <p:animEffect transition="in" filter="checkerboard(across)">
                                      <p:cBhvr>
                                        <p:cTn id="13" dur="500"/>
                                        <p:tgtEl>
                                          <p:spTgt spid="148788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487875"/>
                                        </p:tgtEl>
                                        <p:attrNameLst>
                                          <p:attrName>style.visibility</p:attrName>
                                        </p:attrNameLst>
                                      </p:cBhvr>
                                      <p:to>
                                        <p:strVal val="visible"/>
                                      </p:to>
                                    </p:set>
                                    <p:animEffect transition="in" filter="dissolve">
                                      <p:cBhvr>
                                        <p:cTn id="18" dur="500"/>
                                        <p:tgtEl>
                                          <p:spTgt spid="148787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87876"/>
                                        </p:tgtEl>
                                        <p:attrNameLst>
                                          <p:attrName>style.visibility</p:attrName>
                                        </p:attrNameLst>
                                      </p:cBhvr>
                                      <p:to>
                                        <p:strVal val="visible"/>
                                      </p:to>
                                    </p:set>
                                    <p:animEffect transition="in" filter="dissolve">
                                      <p:cBhvr>
                                        <p:cTn id="23" dur="500"/>
                                        <p:tgtEl>
                                          <p:spTgt spid="1487876"/>
                                        </p:tgtEl>
                                      </p:cBhvr>
                                    </p:animEffec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1487877"/>
                                        </p:tgtEl>
                                        <p:attrNameLst>
                                          <p:attrName>style.visibility</p:attrName>
                                        </p:attrNameLst>
                                      </p:cBhvr>
                                      <p:to>
                                        <p:strVal val="visible"/>
                                      </p:to>
                                    </p:set>
                                    <p:animEffect transition="in" filter="dissolve">
                                      <p:cBhvr>
                                        <p:cTn id="27" dur="500"/>
                                        <p:tgtEl>
                                          <p:spTgt spid="1487877"/>
                                        </p:tgtEl>
                                      </p:cBhvr>
                                    </p:animEffect>
                                  </p:childTnLst>
                                </p:cTn>
                              </p:par>
                            </p:childTnLst>
                          </p:cTn>
                        </p:par>
                        <p:par>
                          <p:cTn id="28" fill="hold">
                            <p:stCondLst>
                              <p:cond delay="1000"/>
                            </p:stCondLst>
                            <p:childTnLst>
                              <p:par>
                                <p:cTn id="29" presetID="2" presetClass="entr" presetSubtype="2" fill="hold" grpId="0" nodeType="afterEffect">
                                  <p:stCondLst>
                                    <p:cond delay="2000"/>
                                  </p:stCondLst>
                                  <p:childTnLst>
                                    <p:set>
                                      <p:cBhvr>
                                        <p:cTn id="30" dur="1" fill="hold">
                                          <p:stCondLst>
                                            <p:cond delay="0"/>
                                          </p:stCondLst>
                                        </p:cTn>
                                        <p:tgtEl>
                                          <p:spTgt spid="1487878"/>
                                        </p:tgtEl>
                                        <p:attrNameLst>
                                          <p:attrName>style.visibility</p:attrName>
                                        </p:attrNameLst>
                                      </p:cBhvr>
                                      <p:to>
                                        <p:strVal val="visible"/>
                                      </p:to>
                                    </p:set>
                                    <p:anim calcmode="lin" valueType="num">
                                      <p:cBhvr additive="base">
                                        <p:cTn id="31" dur="500" fill="hold"/>
                                        <p:tgtEl>
                                          <p:spTgt spid="1487878"/>
                                        </p:tgtEl>
                                        <p:attrNameLst>
                                          <p:attrName>ppt_x</p:attrName>
                                        </p:attrNameLst>
                                      </p:cBhvr>
                                      <p:tavLst>
                                        <p:tav tm="0">
                                          <p:val>
                                            <p:strVal val="1+#ppt_w/2"/>
                                          </p:val>
                                        </p:tav>
                                        <p:tav tm="100000">
                                          <p:val>
                                            <p:strVal val="#ppt_x"/>
                                          </p:val>
                                        </p:tav>
                                      </p:tavLst>
                                    </p:anim>
                                    <p:anim calcmode="lin" valueType="num">
                                      <p:cBhvr additive="base">
                                        <p:cTn id="32" dur="500" fill="hold"/>
                                        <p:tgtEl>
                                          <p:spTgt spid="148787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87879"/>
                                        </p:tgtEl>
                                        <p:attrNameLst>
                                          <p:attrName>style.visibility</p:attrName>
                                        </p:attrNameLst>
                                      </p:cBhvr>
                                      <p:to>
                                        <p:strVal val="visible"/>
                                      </p:to>
                                    </p:set>
                                    <p:animEffect transition="in" filter="dissolve">
                                      <p:cBhvr>
                                        <p:cTn id="37" dur="500"/>
                                        <p:tgtEl>
                                          <p:spTgt spid="148787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487882"/>
                                        </p:tgtEl>
                                        <p:attrNameLst>
                                          <p:attrName>style.visibility</p:attrName>
                                        </p:attrNameLst>
                                      </p:cBhvr>
                                      <p:to>
                                        <p:strVal val="visible"/>
                                      </p:to>
                                    </p:set>
                                    <p:animEffect transition="in" filter="dissolve">
                                      <p:cBhvr>
                                        <p:cTn id="42" dur="500"/>
                                        <p:tgtEl>
                                          <p:spTgt spid="148788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iterate type="lt">
                                    <p:tmPct val="100000"/>
                                  </p:iterate>
                                  <p:childTnLst>
                                    <p:set>
                                      <p:cBhvr>
                                        <p:cTn id="46" dur="1" fill="hold">
                                          <p:stCondLst>
                                            <p:cond delay="0"/>
                                          </p:stCondLst>
                                        </p:cTn>
                                        <p:tgtEl>
                                          <p:spTgt spid="1487881">
                                            <p:txEl>
                                              <p:pRg st="0" end="0"/>
                                            </p:txEl>
                                          </p:spTgt>
                                        </p:tgtEl>
                                        <p:attrNameLst>
                                          <p:attrName>style.visibility</p:attrName>
                                        </p:attrNameLst>
                                      </p:cBhvr>
                                      <p:to>
                                        <p:strVal val="visible"/>
                                      </p:to>
                                    </p:set>
                                    <p:animEffect transition="in" filter="blinds(horizontal)">
                                      <p:cBhvr>
                                        <p:cTn id="47" dur="75"/>
                                        <p:tgtEl>
                                          <p:spTgt spid="148788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iterate type="lt">
                                    <p:tmPct val="100000"/>
                                  </p:iterate>
                                  <p:childTnLst>
                                    <p:set>
                                      <p:cBhvr>
                                        <p:cTn id="51" dur="1" fill="hold">
                                          <p:stCondLst>
                                            <p:cond delay="0"/>
                                          </p:stCondLst>
                                        </p:cTn>
                                        <p:tgtEl>
                                          <p:spTgt spid="1487881">
                                            <p:txEl>
                                              <p:pRg st="1" end="1"/>
                                            </p:txEl>
                                          </p:spTgt>
                                        </p:tgtEl>
                                        <p:attrNameLst>
                                          <p:attrName>style.visibility</p:attrName>
                                        </p:attrNameLst>
                                      </p:cBhvr>
                                      <p:to>
                                        <p:strVal val="visible"/>
                                      </p:to>
                                    </p:set>
                                    <p:animEffect transition="in" filter="blinds(horizontal)">
                                      <p:cBhvr>
                                        <p:cTn id="52" dur="75"/>
                                        <p:tgtEl>
                                          <p:spTgt spid="148788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74" grpId="0"/>
      <p:bldP spid="1487876" grpId="0"/>
      <p:bldP spid="1487878" grpId="0"/>
      <p:bldP spid="148788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DD9A3BD2-0A10-46F2-B8BB-A9491F92FEDE}"/>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sp>
        <p:nvSpPr>
          <p:cNvPr id="1488898" name="文本框 1488897"/>
          <p:cNvSpPr txBox="1"/>
          <p:nvPr/>
        </p:nvSpPr>
        <p:spPr>
          <a:xfrm>
            <a:off x="1147187" y="35624"/>
            <a:ext cx="6480175"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2.</a:t>
            </a:r>
            <a:r>
              <a:rPr kumimoji="0" lang="zh-CN" altLang="en-US"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单位斜坡输入作用下的稳态误差</a:t>
            </a:r>
          </a:p>
        </p:txBody>
      </p:sp>
      <p:graphicFrame>
        <p:nvGraphicFramePr>
          <p:cNvPr id="1488899" name="对象 1488898"/>
          <p:cNvGraphicFramePr/>
          <p:nvPr>
            <p:extLst>
              <p:ext uri="{D42A27DB-BD31-4B8C-83A1-F6EECF244321}">
                <p14:modId xmlns:p14="http://schemas.microsoft.com/office/powerpoint/2010/main" val="2314658039"/>
              </p:ext>
            </p:extLst>
          </p:nvPr>
        </p:nvGraphicFramePr>
        <p:xfrm>
          <a:off x="1362075" y="956469"/>
          <a:ext cx="6264275" cy="1138237"/>
        </p:xfrm>
        <a:graphic>
          <a:graphicData uri="http://schemas.openxmlformats.org/presentationml/2006/ole">
            <mc:AlternateContent xmlns:mc="http://schemas.openxmlformats.org/markup-compatibility/2006">
              <mc:Choice xmlns:v="urn:schemas-microsoft-com:vml" Requires="v">
                <p:oleObj spid="_x0000_s48164" r:id="rId3" imgW="2311400" imgH="419100" progId="Equation.3">
                  <p:embed/>
                </p:oleObj>
              </mc:Choice>
              <mc:Fallback>
                <p:oleObj r:id="rId3" imgW="2311400" imgH="419100" progId="Equation.3">
                  <p:embed/>
                  <p:pic>
                    <p:nvPicPr>
                      <p:cNvPr id="0" name="图片 3220"/>
                      <p:cNvPicPr/>
                      <p:nvPr/>
                    </p:nvPicPr>
                    <p:blipFill>
                      <a:blip r:embed="rId4"/>
                      <a:stretch>
                        <a:fillRect/>
                      </a:stretch>
                    </p:blipFill>
                    <p:spPr>
                      <a:xfrm>
                        <a:off x="1362075" y="956469"/>
                        <a:ext cx="6264275" cy="1138237"/>
                      </a:xfrm>
                      <a:prstGeom prst="rect">
                        <a:avLst/>
                      </a:prstGeom>
                      <a:noFill/>
                      <a:ln w="38100">
                        <a:noFill/>
                        <a:miter/>
                      </a:ln>
                    </p:spPr>
                  </p:pic>
                </p:oleObj>
              </mc:Fallback>
            </mc:AlternateContent>
          </a:graphicData>
        </a:graphic>
      </p:graphicFrame>
      <p:sp>
        <p:nvSpPr>
          <p:cNvPr id="1488900" name="文本框 1488899"/>
          <p:cNvSpPr txBox="1"/>
          <p:nvPr/>
        </p:nvSpPr>
        <p:spPr>
          <a:xfrm>
            <a:off x="142480" y="2392556"/>
            <a:ext cx="542925" cy="519113"/>
          </a:xfrm>
          <a:prstGeom prst="rect">
            <a:avLst/>
          </a:prstGeom>
          <a:noFill/>
          <a:ln w="9525">
            <a:noFill/>
          </a:ln>
        </p:spPr>
        <p:txBody>
          <a:bodyPr wrap="none">
            <a:spAutoFit/>
          </a:bodyPr>
          <a:lstStyle/>
          <a:p>
            <a:pPr>
              <a:spcBef>
                <a:spcPct val="0"/>
              </a:spcBef>
            </a:pPr>
            <a:r>
              <a:rPr lang="zh-CN" altLang="en-US" sz="2800" dirty="0">
                <a:solidFill>
                  <a:schemeClr val="tx1"/>
                </a:solidFill>
                <a:latin typeface="Arial" panose="020B0604020202020204" pitchFamily="34" charset="0"/>
              </a:rPr>
              <a:t>令</a:t>
            </a:r>
          </a:p>
        </p:txBody>
      </p:sp>
      <p:graphicFrame>
        <p:nvGraphicFramePr>
          <p:cNvPr id="1488901" name="对象 1488900"/>
          <p:cNvGraphicFramePr/>
          <p:nvPr>
            <p:extLst>
              <p:ext uri="{D42A27DB-BD31-4B8C-83A1-F6EECF244321}">
                <p14:modId xmlns:p14="http://schemas.microsoft.com/office/powerpoint/2010/main" val="3176872690"/>
              </p:ext>
            </p:extLst>
          </p:nvPr>
        </p:nvGraphicFramePr>
        <p:xfrm>
          <a:off x="684213" y="2250280"/>
          <a:ext cx="4408488" cy="915988"/>
        </p:xfrm>
        <a:graphic>
          <a:graphicData uri="http://schemas.openxmlformats.org/presentationml/2006/ole">
            <mc:AlternateContent xmlns:mc="http://schemas.openxmlformats.org/markup-compatibility/2006">
              <mc:Choice xmlns:v="urn:schemas-microsoft-com:vml" Requires="v">
                <p:oleObj spid="_x0000_s48165" r:id="rId5" imgW="1953895" imgH="405765" progId="Equation.3">
                  <p:embed/>
                </p:oleObj>
              </mc:Choice>
              <mc:Fallback>
                <p:oleObj r:id="rId5" imgW="1953895" imgH="405765" progId="Equation.3">
                  <p:embed/>
                  <p:pic>
                    <p:nvPicPr>
                      <p:cNvPr id="0" name="图片 3224"/>
                      <p:cNvPicPr/>
                      <p:nvPr/>
                    </p:nvPicPr>
                    <p:blipFill>
                      <a:blip r:embed="rId6"/>
                      <a:stretch>
                        <a:fillRect/>
                      </a:stretch>
                    </p:blipFill>
                    <p:spPr>
                      <a:xfrm>
                        <a:off x="684213" y="2250280"/>
                        <a:ext cx="4408488" cy="915988"/>
                      </a:xfrm>
                      <a:prstGeom prst="rect">
                        <a:avLst/>
                      </a:prstGeom>
                      <a:gradFill rotWithShape="1">
                        <a:gsLst>
                          <a:gs pos="0">
                            <a:srgbClr val="66FF99"/>
                          </a:gs>
                          <a:gs pos="50000">
                            <a:srgbClr val="FFCCCC"/>
                          </a:gs>
                          <a:gs pos="100000">
                            <a:srgbClr val="66FF99"/>
                          </a:gs>
                        </a:gsLst>
                        <a:lin ang="5400000" scaled="1"/>
                        <a:tileRect/>
                      </a:gradFill>
                      <a:ln w="28575" cap="flat" cmpd="sng">
                        <a:noFill/>
                        <a:prstDash val="solid"/>
                        <a:miter/>
                        <a:headEnd type="none" w="med" len="med"/>
                        <a:tailEnd type="none" w="med" len="med"/>
                      </a:ln>
                    </p:spPr>
                  </p:pic>
                </p:oleObj>
              </mc:Fallback>
            </mc:AlternateContent>
          </a:graphicData>
        </a:graphic>
      </p:graphicFrame>
      <p:sp>
        <p:nvSpPr>
          <p:cNvPr id="1488902" name="文本框 1488901"/>
          <p:cNvSpPr txBox="1"/>
          <p:nvPr/>
        </p:nvSpPr>
        <p:spPr>
          <a:xfrm>
            <a:off x="7236296" y="2211342"/>
            <a:ext cx="1620684" cy="954107"/>
          </a:xfrm>
          <a:prstGeom prst="rect">
            <a:avLst/>
          </a:prstGeom>
          <a:noFill/>
          <a:ln w="9525">
            <a:noFill/>
          </a:ln>
        </p:spPr>
        <p:txBody>
          <a:bodyPr wrap="square">
            <a:spAutoFit/>
          </a:bodyPr>
          <a:lstStyle/>
          <a:p>
            <a:pPr marR="0" defTabSz="914400">
              <a:spcBef>
                <a:spcPct val="0"/>
              </a:spcBef>
              <a:buClrTx/>
              <a:buSzTx/>
              <a:buFontTx/>
              <a:buNone/>
              <a:defRPr/>
            </a:pPr>
            <a:r>
              <a:rPr kumimoji="0" lang="zh-CN" altLang="en-US"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静态速度误差系数</a:t>
            </a:r>
          </a:p>
        </p:txBody>
      </p:sp>
      <p:graphicFrame>
        <p:nvGraphicFramePr>
          <p:cNvPr id="1488903" name="对象 1488902"/>
          <p:cNvGraphicFramePr/>
          <p:nvPr>
            <p:extLst>
              <p:ext uri="{D42A27DB-BD31-4B8C-83A1-F6EECF244321}">
                <p14:modId xmlns:p14="http://schemas.microsoft.com/office/powerpoint/2010/main" val="551722237"/>
              </p:ext>
            </p:extLst>
          </p:nvPr>
        </p:nvGraphicFramePr>
        <p:xfrm>
          <a:off x="5292080" y="2250280"/>
          <a:ext cx="1440160" cy="858839"/>
        </p:xfrm>
        <a:graphic>
          <a:graphicData uri="http://schemas.openxmlformats.org/presentationml/2006/ole">
            <mc:AlternateContent xmlns:mc="http://schemas.openxmlformats.org/markup-compatibility/2006">
              <mc:Choice xmlns:v="urn:schemas-microsoft-com:vml" Requires="v">
                <p:oleObj spid="_x0000_s48166" r:id="rId7" imgW="508000" imgH="381000" progId="Equation.3">
                  <p:embed/>
                </p:oleObj>
              </mc:Choice>
              <mc:Fallback>
                <p:oleObj r:id="rId7" imgW="508000" imgH="381000" progId="Equation.3">
                  <p:embed/>
                  <p:pic>
                    <p:nvPicPr>
                      <p:cNvPr id="0" name="图片 3222"/>
                      <p:cNvPicPr/>
                      <p:nvPr/>
                    </p:nvPicPr>
                    <p:blipFill>
                      <a:blip r:embed="rId8"/>
                      <a:stretch>
                        <a:fillRect/>
                      </a:stretch>
                    </p:blipFill>
                    <p:spPr>
                      <a:xfrm>
                        <a:off x="5292080" y="2250280"/>
                        <a:ext cx="1440160" cy="858839"/>
                      </a:xfrm>
                      <a:prstGeom prst="rect">
                        <a:avLst/>
                      </a:prstGeom>
                      <a:noFill/>
                      <a:ln w="28575" cap="flat" cmpd="sng">
                        <a:solidFill>
                          <a:srgbClr val="FF0000"/>
                        </a:solidFill>
                        <a:prstDash val="dash"/>
                        <a:miter/>
                        <a:headEnd type="none" w="med" len="med"/>
                        <a:tailEnd type="none" w="med" len="med"/>
                      </a:ln>
                    </p:spPr>
                  </p:pic>
                </p:oleObj>
              </mc:Fallback>
            </mc:AlternateContent>
          </a:graphicData>
        </a:graphic>
      </p:graphicFrame>
      <p:sp>
        <p:nvSpPr>
          <p:cNvPr id="1488905" name="文本框 1488904"/>
          <p:cNvSpPr txBox="1"/>
          <p:nvPr/>
        </p:nvSpPr>
        <p:spPr>
          <a:xfrm>
            <a:off x="33338" y="4861811"/>
            <a:ext cx="9144000" cy="1976437"/>
          </a:xfrm>
          <a:prstGeom prst="rect">
            <a:avLst/>
          </a:prstGeom>
          <a:noFill/>
          <a:ln w="9525">
            <a:noFill/>
          </a:ln>
        </p:spPr>
        <p:txBody>
          <a:bodyPr>
            <a:spAutoFit/>
          </a:bodyPr>
          <a:lstStyle/>
          <a:p>
            <a:pPr>
              <a:lnSpc>
                <a:spcPct val="120000"/>
              </a:lnSpc>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0 </a:t>
            </a:r>
            <a:r>
              <a:rPr lang="zh-CN" altLang="en-US" sz="2800" dirty="0">
                <a:solidFill>
                  <a:schemeClr val="tx1"/>
                </a:solidFill>
                <a:latin typeface="Arial" panose="020B0604020202020204" pitchFamily="34" charset="0"/>
              </a:rPr>
              <a:t>型系统：</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v</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0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r>
              <a:rPr lang="zh-CN" altLang="en-US" sz="2800" i="1" dirty="0">
                <a:solidFill>
                  <a:schemeClr val="tx1"/>
                </a:solidFill>
                <a:latin typeface="Times New Roman" panose="02020603050405020304" pitchFamily="18" charset="0"/>
              </a:rPr>
              <a:t>，</a:t>
            </a:r>
            <a:r>
              <a:rPr lang="en-US" altLang="zh-CN" sz="2400" i="1" dirty="0">
                <a:solidFill>
                  <a:srgbClr val="000099"/>
                </a:solidFill>
                <a:latin typeface="Times New Roman" panose="02020603050405020304" pitchFamily="18" charset="0"/>
              </a:rPr>
              <a:t>0</a:t>
            </a:r>
            <a:r>
              <a:rPr lang="zh-CN" altLang="en-US" sz="2400" i="1" dirty="0">
                <a:solidFill>
                  <a:srgbClr val="000099"/>
                </a:solidFill>
                <a:latin typeface="Times New Roman" panose="02020603050405020304" pitchFamily="18" charset="0"/>
              </a:rPr>
              <a:t>型系统无法跟踪斜坡输入</a:t>
            </a:r>
            <a:endParaRPr lang="zh-CN" altLang="en-US" sz="2400" dirty="0">
              <a:solidFill>
                <a:srgbClr val="000099"/>
              </a:solidFill>
              <a:latin typeface="Times New Roman" panose="02020603050405020304" pitchFamily="18" charset="0"/>
            </a:endParaRPr>
          </a:p>
          <a:p>
            <a:pPr>
              <a:lnSpc>
                <a:spcPct val="120000"/>
              </a:lnSpc>
              <a:spcBef>
                <a:spcPct val="0"/>
              </a:spcBef>
            </a:pPr>
            <a:r>
              <a:rPr lang="zh-CN" altLang="en-US" sz="280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Ⅰ</a:t>
            </a:r>
            <a:r>
              <a:rPr lang="zh-CN" altLang="en-US" sz="2800" dirty="0">
                <a:solidFill>
                  <a:schemeClr val="tx1"/>
                </a:solidFill>
                <a:latin typeface="Arial" panose="020B0604020202020204" pitchFamily="34" charset="0"/>
              </a:rPr>
              <a:t>型系统：</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v</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K     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B/ K</a:t>
            </a:r>
            <a:r>
              <a:rPr lang="zh-CN" altLang="en-US" sz="2800" i="1" dirty="0">
                <a:solidFill>
                  <a:schemeClr val="tx1"/>
                </a:solidFill>
                <a:latin typeface="Times New Roman" panose="02020603050405020304" pitchFamily="18" charset="0"/>
              </a:rPr>
              <a:t>，   </a:t>
            </a:r>
            <a:r>
              <a:rPr lang="zh-CN" altLang="en-US" sz="2400" i="1" dirty="0">
                <a:solidFill>
                  <a:srgbClr val="000099"/>
                </a:solidFill>
                <a:latin typeface="Times New Roman" panose="02020603050405020304" pitchFamily="18" charset="0"/>
              </a:rPr>
              <a:t>有差跟踪</a:t>
            </a:r>
          </a:p>
          <a:p>
            <a:pPr>
              <a:lnSpc>
                <a:spcPct val="120000"/>
              </a:lnSpc>
              <a:spcBef>
                <a:spcPct val="0"/>
              </a:spcBef>
            </a:pPr>
            <a:r>
              <a:rPr lang="en-US" altLang="zh-CN" sz="2800" dirty="0">
                <a:solidFill>
                  <a:schemeClr val="tx1"/>
                </a:solidFill>
                <a:latin typeface="Arial" panose="020B0604020202020204" pitchFamily="34" charset="0"/>
              </a:rPr>
              <a:t>Ⅱ</a:t>
            </a:r>
            <a:r>
              <a:rPr lang="zh-CN" altLang="en-US" sz="2800" dirty="0">
                <a:solidFill>
                  <a:schemeClr val="tx1"/>
                </a:solidFill>
                <a:latin typeface="Arial" panose="020B0604020202020204" pitchFamily="34" charset="0"/>
              </a:rPr>
              <a:t>型及</a:t>
            </a:r>
            <a:r>
              <a:rPr lang="en-US" altLang="zh-CN" sz="2800" dirty="0">
                <a:solidFill>
                  <a:schemeClr val="tx1"/>
                </a:solidFill>
                <a:latin typeface="Arial" panose="020B0604020202020204" pitchFamily="34" charset="0"/>
              </a:rPr>
              <a:t>Ⅱ</a:t>
            </a:r>
            <a:r>
              <a:rPr lang="zh-CN" altLang="en-US" sz="2800" dirty="0">
                <a:solidFill>
                  <a:schemeClr val="tx1"/>
                </a:solidFill>
                <a:latin typeface="Arial" panose="020B0604020202020204" pitchFamily="34" charset="0"/>
              </a:rPr>
              <a:t>型以上系统：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v</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0</a:t>
            </a:r>
            <a:r>
              <a:rPr lang="zh-CN" altLang="en-US" sz="2400" i="1" dirty="0">
                <a:solidFill>
                  <a:srgbClr val="000099"/>
                </a:solidFill>
                <a:latin typeface="Times New Roman" panose="02020603050405020304" pitchFamily="18" charset="0"/>
              </a:rPr>
              <a:t>，   无差跟踪</a:t>
            </a:r>
          </a:p>
          <a:p>
            <a:pPr>
              <a:lnSpc>
                <a:spcPct val="120000"/>
              </a:lnSpc>
              <a:spcBef>
                <a:spcPct val="0"/>
              </a:spcBef>
            </a:pPr>
            <a:endParaRPr lang="zh-CN" altLang="en-US" sz="2800" i="1" baseline="-30000" dirty="0">
              <a:solidFill>
                <a:schemeClr val="tx1"/>
              </a:solidFill>
              <a:latin typeface="Times New Roman" panose="02020603050405020304" pitchFamily="18" charset="0"/>
              <a:ea typeface="Times New Roman" panose="02020603050405020304" pitchFamily="18" charset="0"/>
            </a:endParaRPr>
          </a:p>
        </p:txBody>
      </p:sp>
      <p:graphicFrame>
        <p:nvGraphicFramePr>
          <p:cNvPr id="1488906" name="对象 1488905"/>
          <p:cNvGraphicFramePr/>
          <p:nvPr>
            <p:extLst>
              <p:ext uri="{D42A27DB-BD31-4B8C-83A1-F6EECF244321}">
                <p14:modId xmlns:p14="http://schemas.microsoft.com/office/powerpoint/2010/main" val="1485071951"/>
              </p:ext>
            </p:extLst>
          </p:nvPr>
        </p:nvGraphicFramePr>
        <p:xfrm>
          <a:off x="667489" y="3166268"/>
          <a:ext cx="6804025" cy="1679575"/>
        </p:xfrm>
        <a:graphic>
          <a:graphicData uri="http://schemas.openxmlformats.org/presentationml/2006/ole">
            <mc:AlternateContent xmlns:mc="http://schemas.openxmlformats.org/markup-compatibility/2006">
              <mc:Choice xmlns:v="urn:schemas-microsoft-com:vml" Requires="v">
                <p:oleObj spid="_x0000_s48167" r:id="rId9" imgW="2932430" imgH="723900" progId="Equation.3">
                  <p:embed/>
                </p:oleObj>
              </mc:Choice>
              <mc:Fallback>
                <p:oleObj r:id="rId9" imgW="2932430" imgH="723900" progId="Equation.3">
                  <p:embed/>
                  <p:pic>
                    <p:nvPicPr>
                      <p:cNvPr id="0" name="图片 3226"/>
                      <p:cNvPicPr/>
                      <p:nvPr/>
                    </p:nvPicPr>
                    <p:blipFill>
                      <a:blip r:embed="rId10"/>
                      <a:stretch>
                        <a:fillRect/>
                      </a:stretch>
                    </p:blipFill>
                    <p:spPr>
                      <a:xfrm>
                        <a:off x="667489" y="3166268"/>
                        <a:ext cx="6804025" cy="1679575"/>
                      </a:xfrm>
                      <a:prstGeom prst="rect">
                        <a:avLst/>
                      </a:prstGeom>
                      <a:gradFill rotWithShape="1">
                        <a:gsLst>
                          <a:gs pos="0">
                            <a:srgbClr val="66FF99"/>
                          </a:gs>
                          <a:gs pos="50000">
                            <a:srgbClr val="FFCCCC"/>
                          </a:gs>
                          <a:gs pos="100000">
                            <a:srgbClr val="66FF99"/>
                          </a:gs>
                        </a:gsLst>
                        <a:lin ang="5400000" scaled="1"/>
                        <a:tileRect/>
                      </a:gradFill>
                      <a:ln w="38100">
                        <a:noFill/>
                        <a:miter/>
                      </a:ln>
                    </p:spPr>
                  </p:pic>
                </p:oleObj>
              </mc:Fallback>
            </mc:AlternateContent>
          </a:graphicData>
        </a:graphic>
      </p:graphicFrame>
      <p:graphicFrame>
        <p:nvGraphicFramePr>
          <p:cNvPr id="1488907" name="对象 1488906"/>
          <p:cNvGraphicFramePr/>
          <p:nvPr>
            <p:extLst>
              <p:ext uri="{D42A27DB-BD31-4B8C-83A1-F6EECF244321}">
                <p14:modId xmlns:p14="http://schemas.microsoft.com/office/powerpoint/2010/main" val="673269986"/>
              </p:ext>
            </p:extLst>
          </p:nvPr>
        </p:nvGraphicFramePr>
        <p:xfrm>
          <a:off x="1619672" y="644971"/>
          <a:ext cx="1917700" cy="498475"/>
        </p:xfrm>
        <a:graphic>
          <a:graphicData uri="http://schemas.openxmlformats.org/presentationml/2006/ole">
            <mc:AlternateContent xmlns:mc="http://schemas.openxmlformats.org/markup-compatibility/2006">
              <mc:Choice xmlns:v="urn:schemas-microsoft-com:vml" Requires="v">
                <p:oleObj spid="_x0000_s48168" r:id="rId11" imgW="684530" imgH="177800" progId="Equation.3">
                  <p:embed/>
                </p:oleObj>
              </mc:Choice>
              <mc:Fallback>
                <p:oleObj r:id="rId11" imgW="684530" imgH="177800" progId="Equation.3">
                  <p:embed/>
                  <p:pic>
                    <p:nvPicPr>
                      <p:cNvPr id="0" name="图片 3227"/>
                      <p:cNvPicPr/>
                      <p:nvPr/>
                    </p:nvPicPr>
                    <p:blipFill>
                      <a:blip r:embed="rId12"/>
                      <a:stretch>
                        <a:fillRect/>
                      </a:stretch>
                    </p:blipFill>
                    <p:spPr>
                      <a:xfrm>
                        <a:off x="1619672" y="644971"/>
                        <a:ext cx="1917700" cy="498475"/>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8898"/>
                                        </p:tgtEl>
                                        <p:attrNameLst>
                                          <p:attrName>style.visibility</p:attrName>
                                        </p:attrNameLst>
                                      </p:cBhvr>
                                      <p:to>
                                        <p:strVal val="visible"/>
                                      </p:to>
                                    </p:set>
                                    <p:anim calcmode="lin" valueType="num">
                                      <p:cBhvr additive="base">
                                        <p:cTn id="7" dur="500" fill="hold"/>
                                        <p:tgtEl>
                                          <p:spTgt spid="1488898"/>
                                        </p:tgtEl>
                                        <p:attrNameLst>
                                          <p:attrName>ppt_x</p:attrName>
                                        </p:attrNameLst>
                                      </p:cBhvr>
                                      <p:tavLst>
                                        <p:tav tm="0">
                                          <p:val>
                                            <p:strVal val="0-#ppt_w/2"/>
                                          </p:val>
                                        </p:tav>
                                        <p:tav tm="100000">
                                          <p:val>
                                            <p:strVal val="#ppt_x"/>
                                          </p:val>
                                        </p:tav>
                                      </p:tavLst>
                                    </p:anim>
                                    <p:anim calcmode="lin" valueType="num">
                                      <p:cBhvr additive="base">
                                        <p:cTn id="8" dur="500" fill="hold"/>
                                        <p:tgtEl>
                                          <p:spTgt spid="14888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488907"/>
                                        </p:tgtEl>
                                        <p:attrNameLst>
                                          <p:attrName>style.visibility</p:attrName>
                                        </p:attrNameLst>
                                      </p:cBhvr>
                                      <p:to>
                                        <p:strVal val="visible"/>
                                      </p:to>
                                    </p:set>
                                    <p:animEffect transition="in" filter="wipe(down)">
                                      <p:cBhvr>
                                        <p:cTn id="13" dur="580">
                                          <p:stCondLst>
                                            <p:cond delay="0"/>
                                          </p:stCondLst>
                                        </p:cTn>
                                        <p:tgtEl>
                                          <p:spTgt spid="1488907"/>
                                        </p:tgtEl>
                                      </p:cBhvr>
                                    </p:animEffect>
                                    <p:anim calcmode="lin" valueType="num">
                                      <p:cBhvr>
                                        <p:cTn id="14" dur="1822" tmFilter="0,0; 0.14,0.36; 0.43,0.73; 0.71,0.91; 1.0,1.0">
                                          <p:stCondLst>
                                            <p:cond delay="0"/>
                                          </p:stCondLst>
                                        </p:cTn>
                                        <p:tgtEl>
                                          <p:spTgt spid="1488907"/>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488907"/>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488907"/>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488907"/>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488907"/>
                                        </p:tgtEl>
                                        <p:attrNameLst>
                                          <p:attrName>ppt_y</p:attrName>
                                        </p:attrNameLst>
                                      </p:cBhvr>
                                      <p:tavLst>
                                        <p:tav tm="0" fmla="#ppt_y-sin(pi*$)/81">
                                          <p:val>
                                            <p:fltVal val="0"/>
                                          </p:val>
                                        </p:tav>
                                        <p:tav tm="100000">
                                          <p:val>
                                            <p:fltVal val="1"/>
                                          </p:val>
                                        </p:tav>
                                      </p:tavLst>
                                    </p:anim>
                                    <p:animScale>
                                      <p:cBhvr>
                                        <p:cTn id="19" dur="26">
                                          <p:stCondLst>
                                            <p:cond delay="650"/>
                                          </p:stCondLst>
                                        </p:cTn>
                                        <p:tgtEl>
                                          <p:spTgt spid="1488907"/>
                                        </p:tgtEl>
                                      </p:cBhvr>
                                      <p:to x="100000" y="60000"/>
                                    </p:animScale>
                                    <p:animScale>
                                      <p:cBhvr>
                                        <p:cTn id="20" dur="166" decel="50000">
                                          <p:stCondLst>
                                            <p:cond delay="676"/>
                                          </p:stCondLst>
                                        </p:cTn>
                                        <p:tgtEl>
                                          <p:spTgt spid="1488907"/>
                                        </p:tgtEl>
                                      </p:cBhvr>
                                      <p:to x="100000" y="100000"/>
                                    </p:animScale>
                                    <p:animScale>
                                      <p:cBhvr>
                                        <p:cTn id="21" dur="26">
                                          <p:stCondLst>
                                            <p:cond delay="1312"/>
                                          </p:stCondLst>
                                        </p:cTn>
                                        <p:tgtEl>
                                          <p:spTgt spid="1488907"/>
                                        </p:tgtEl>
                                      </p:cBhvr>
                                      <p:to x="100000" y="80000"/>
                                    </p:animScale>
                                    <p:animScale>
                                      <p:cBhvr>
                                        <p:cTn id="22" dur="166" decel="50000">
                                          <p:stCondLst>
                                            <p:cond delay="1338"/>
                                          </p:stCondLst>
                                        </p:cTn>
                                        <p:tgtEl>
                                          <p:spTgt spid="1488907"/>
                                        </p:tgtEl>
                                      </p:cBhvr>
                                      <p:to x="100000" y="100000"/>
                                    </p:animScale>
                                    <p:animScale>
                                      <p:cBhvr>
                                        <p:cTn id="23" dur="26">
                                          <p:stCondLst>
                                            <p:cond delay="1642"/>
                                          </p:stCondLst>
                                        </p:cTn>
                                        <p:tgtEl>
                                          <p:spTgt spid="1488907"/>
                                        </p:tgtEl>
                                      </p:cBhvr>
                                      <p:to x="100000" y="90000"/>
                                    </p:animScale>
                                    <p:animScale>
                                      <p:cBhvr>
                                        <p:cTn id="24" dur="166" decel="50000">
                                          <p:stCondLst>
                                            <p:cond delay="1668"/>
                                          </p:stCondLst>
                                        </p:cTn>
                                        <p:tgtEl>
                                          <p:spTgt spid="1488907"/>
                                        </p:tgtEl>
                                      </p:cBhvr>
                                      <p:to x="100000" y="100000"/>
                                    </p:animScale>
                                    <p:animScale>
                                      <p:cBhvr>
                                        <p:cTn id="25" dur="26">
                                          <p:stCondLst>
                                            <p:cond delay="1808"/>
                                          </p:stCondLst>
                                        </p:cTn>
                                        <p:tgtEl>
                                          <p:spTgt spid="1488907"/>
                                        </p:tgtEl>
                                      </p:cBhvr>
                                      <p:to x="100000" y="95000"/>
                                    </p:animScale>
                                    <p:animScale>
                                      <p:cBhvr>
                                        <p:cTn id="26" dur="166" decel="50000">
                                          <p:stCondLst>
                                            <p:cond delay="1834"/>
                                          </p:stCondLst>
                                        </p:cTn>
                                        <p:tgtEl>
                                          <p:spTgt spid="1488907"/>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488899"/>
                                        </p:tgtEl>
                                        <p:attrNameLst>
                                          <p:attrName>style.visibility</p:attrName>
                                        </p:attrNameLst>
                                      </p:cBhvr>
                                      <p:to>
                                        <p:strVal val="visible"/>
                                      </p:to>
                                    </p:set>
                                    <p:animEffect transition="in" filter="dissolve">
                                      <p:cBhvr>
                                        <p:cTn id="31" dur="500"/>
                                        <p:tgtEl>
                                          <p:spTgt spid="148889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88906"/>
                                        </p:tgtEl>
                                        <p:attrNameLst>
                                          <p:attrName>style.visibility</p:attrName>
                                        </p:attrNameLst>
                                      </p:cBhvr>
                                      <p:to>
                                        <p:strVal val="visible"/>
                                      </p:to>
                                    </p:set>
                                    <p:animEffect transition="in" filter="dissolve">
                                      <p:cBhvr>
                                        <p:cTn id="36" dur="500"/>
                                        <p:tgtEl>
                                          <p:spTgt spid="148890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488900"/>
                                        </p:tgtEl>
                                        <p:attrNameLst>
                                          <p:attrName>style.visibility</p:attrName>
                                        </p:attrNameLst>
                                      </p:cBhvr>
                                      <p:to>
                                        <p:strVal val="visible"/>
                                      </p:to>
                                    </p:set>
                                    <p:animEffect transition="in" filter="dissolve">
                                      <p:cBhvr>
                                        <p:cTn id="41" dur="500"/>
                                        <p:tgtEl>
                                          <p:spTgt spid="1488900"/>
                                        </p:tgtEl>
                                      </p:cBhvr>
                                    </p:animEffect>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1488901"/>
                                        </p:tgtEl>
                                        <p:attrNameLst>
                                          <p:attrName>style.visibility</p:attrName>
                                        </p:attrNameLst>
                                      </p:cBhvr>
                                      <p:to>
                                        <p:strVal val="visible"/>
                                      </p:to>
                                    </p:set>
                                    <p:animEffect transition="in" filter="dissolve">
                                      <p:cBhvr>
                                        <p:cTn id="45" dur="500"/>
                                        <p:tgtEl>
                                          <p:spTgt spid="1488901"/>
                                        </p:tgtEl>
                                      </p:cBhvr>
                                    </p:animEffect>
                                  </p:childTnLst>
                                </p:cTn>
                              </p:par>
                            </p:childTnLst>
                          </p:cTn>
                        </p:par>
                        <p:par>
                          <p:cTn id="46" fill="hold">
                            <p:stCondLst>
                              <p:cond delay="1000"/>
                            </p:stCondLst>
                            <p:childTnLst>
                              <p:par>
                                <p:cTn id="47" presetID="9" presetClass="entr" presetSubtype="0" fill="hold" grpId="0" nodeType="afterEffect">
                                  <p:stCondLst>
                                    <p:cond delay="2000"/>
                                  </p:stCondLst>
                                  <p:childTnLst>
                                    <p:set>
                                      <p:cBhvr>
                                        <p:cTn id="48" dur="1" fill="hold">
                                          <p:stCondLst>
                                            <p:cond delay="0"/>
                                          </p:stCondLst>
                                        </p:cTn>
                                        <p:tgtEl>
                                          <p:spTgt spid="1488902"/>
                                        </p:tgtEl>
                                        <p:attrNameLst>
                                          <p:attrName>style.visibility</p:attrName>
                                        </p:attrNameLst>
                                      </p:cBhvr>
                                      <p:to>
                                        <p:strVal val="visible"/>
                                      </p:to>
                                    </p:set>
                                    <p:animEffect transition="in" filter="dissolve">
                                      <p:cBhvr>
                                        <p:cTn id="49" dur="500"/>
                                        <p:tgtEl>
                                          <p:spTgt spid="148890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1488903"/>
                                        </p:tgtEl>
                                        <p:attrNameLst>
                                          <p:attrName>style.visibility</p:attrName>
                                        </p:attrNameLst>
                                      </p:cBhvr>
                                      <p:to>
                                        <p:strVal val="visible"/>
                                      </p:to>
                                    </p:set>
                                    <p:animEffect transition="in" filter="dissolve">
                                      <p:cBhvr>
                                        <p:cTn id="54" dur="500"/>
                                        <p:tgtEl>
                                          <p:spTgt spid="1488903"/>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iterate type="lt">
                                    <p:tmPct val="100000"/>
                                  </p:iterate>
                                  <p:childTnLst>
                                    <p:set>
                                      <p:cBhvr>
                                        <p:cTn id="58" dur="1" fill="hold">
                                          <p:stCondLst>
                                            <p:cond delay="0"/>
                                          </p:stCondLst>
                                        </p:cTn>
                                        <p:tgtEl>
                                          <p:spTgt spid="1488905">
                                            <p:txEl>
                                              <p:pRg st="0" end="0"/>
                                            </p:txEl>
                                          </p:spTgt>
                                        </p:tgtEl>
                                        <p:attrNameLst>
                                          <p:attrName>style.visibility</p:attrName>
                                        </p:attrNameLst>
                                      </p:cBhvr>
                                      <p:to>
                                        <p:strVal val="visible"/>
                                      </p:to>
                                    </p:set>
                                    <p:animEffect transition="in" filter="blinds(horizontal)">
                                      <p:cBhvr>
                                        <p:cTn id="59" dur="75"/>
                                        <p:tgtEl>
                                          <p:spTgt spid="148890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iterate type="lt">
                                    <p:tmPct val="100000"/>
                                  </p:iterate>
                                  <p:childTnLst>
                                    <p:set>
                                      <p:cBhvr>
                                        <p:cTn id="63" dur="1" fill="hold">
                                          <p:stCondLst>
                                            <p:cond delay="0"/>
                                          </p:stCondLst>
                                        </p:cTn>
                                        <p:tgtEl>
                                          <p:spTgt spid="1488905">
                                            <p:txEl>
                                              <p:pRg st="1" end="1"/>
                                            </p:txEl>
                                          </p:spTgt>
                                        </p:tgtEl>
                                        <p:attrNameLst>
                                          <p:attrName>style.visibility</p:attrName>
                                        </p:attrNameLst>
                                      </p:cBhvr>
                                      <p:to>
                                        <p:strVal val="visible"/>
                                      </p:to>
                                    </p:set>
                                    <p:animEffect transition="in" filter="blinds(horizontal)">
                                      <p:cBhvr>
                                        <p:cTn id="64" dur="75"/>
                                        <p:tgtEl>
                                          <p:spTgt spid="1488905">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iterate type="lt">
                                    <p:tmPct val="100000"/>
                                  </p:iterate>
                                  <p:childTnLst>
                                    <p:set>
                                      <p:cBhvr>
                                        <p:cTn id="68" dur="1" fill="hold">
                                          <p:stCondLst>
                                            <p:cond delay="0"/>
                                          </p:stCondLst>
                                        </p:cTn>
                                        <p:tgtEl>
                                          <p:spTgt spid="1488905">
                                            <p:txEl>
                                              <p:pRg st="2" end="2"/>
                                            </p:txEl>
                                          </p:spTgt>
                                        </p:tgtEl>
                                        <p:attrNameLst>
                                          <p:attrName>style.visibility</p:attrName>
                                        </p:attrNameLst>
                                      </p:cBhvr>
                                      <p:to>
                                        <p:strVal val="visible"/>
                                      </p:to>
                                    </p:set>
                                    <p:animEffect transition="in" filter="blinds(horizontal)">
                                      <p:cBhvr>
                                        <p:cTn id="69" dur="75"/>
                                        <p:tgtEl>
                                          <p:spTgt spid="148890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8898" grpId="0"/>
      <p:bldP spid="1488900" grpId="0"/>
      <p:bldP spid="1488902" grpId="0"/>
      <p:bldP spid="148890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C5E42311-8D0B-41A2-B861-BE6A02353C03}"/>
              </a:ext>
            </a:extLst>
          </p:cNvPr>
          <p:cNvSpPr txBox="1"/>
          <p:nvPr/>
        </p:nvSpPr>
        <p:spPr>
          <a:xfrm>
            <a:off x="0" y="6093296"/>
            <a:ext cx="9177338" cy="761206"/>
          </a:xfrm>
          <a:prstGeom prst="rect">
            <a:avLst/>
          </a:prstGeom>
          <a:solidFill>
            <a:schemeClr val="bg2"/>
          </a:solidFill>
        </p:spPr>
        <p:txBody>
          <a:bodyPr wrap="square" rtlCol="0">
            <a:spAutoFit/>
          </a:bodyPr>
          <a:lstStyle/>
          <a:p>
            <a:endParaRPr lang="zh-CN" altLang="en-US" dirty="0"/>
          </a:p>
        </p:txBody>
      </p:sp>
      <p:sp>
        <p:nvSpPr>
          <p:cNvPr id="1489922" name="文本框 1489921"/>
          <p:cNvSpPr txBox="1"/>
          <p:nvPr/>
        </p:nvSpPr>
        <p:spPr>
          <a:xfrm>
            <a:off x="1039813" y="115887"/>
            <a:ext cx="6432550" cy="519113"/>
          </a:xfrm>
          <a:prstGeom prst="rect">
            <a:avLst/>
          </a:prstGeom>
          <a:noFill/>
          <a:ln w="9525">
            <a:noFill/>
          </a:ln>
        </p:spPr>
        <p:txBody>
          <a:bodyPr>
            <a:spAutoFit/>
          </a:bodyPr>
          <a:lstStyle/>
          <a:p>
            <a:pPr marR="0" defTabSz="914400">
              <a:spcBef>
                <a:spcPct val="0"/>
              </a:spcBef>
              <a:buClrTx/>
              <a:buSzTx/>
              <a:buFontTx/>
              <a:buNone/>
              <a:defRPr/>
            </a:pPr>
            <a:r>
              <a:rPr kumimoji="0" lang="en-US" altLang="zh-CN"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3.</a:t>
            </a:r>
            <a:r>
              <a:rPr kumimoji="0" lang="zh-CN" altLang="en-US" sz="28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　加速度输入作用下的稳态误差</a:t>
            </a:r>
          </a:p>
        </p:txBody>
      </p:sp>
      <p:graphicFrame>
        <p:nvGraphicFramePr>
          <p:cNvPr id="1489923" name="对象 1489922"/>
          <p:cNvGraphicFramePr/>
          <p:nvPr/>
        </p:nvGraphicFramePr>
        <p:xfrm>
          <a:off x="806450" y="1163638"/>
          <a:ext cx="5421313" cy="969962"/>
        </p:xfrm>
        <a:graphic>
          <a:graphicData uri="http://schemas.openxmlformats.org/presentationml/2006/ole">
            <mc:AlternateContent xmlns:mc="http://schemas.openxmlformats.org/markup-compatibility/2006">
              <mc:Choice xmlns:v="urn:schemas-microsoft-com:vml" Requires="v">
                <p:oleObj spid="_x0000_s49188" r:id="rId3" imgW="2411730" imgH="431800" progId="Equation.3">
                  <p:embed/>
                </p:oleObj>
              </mc:Choice>
              <mc:Fallback>
                <p:oleObj r:id="rId3" imgW="2411730" imgH="431800" progId="Equation.3">
                  <p:embed/>
                  <p:pic>
                    <p:nvPicPr>
                      <p:cNvPr id="0" name="图片 3232"/>
                      <p:cNvPicPr/>
                      <p:nvPr/>
                    </p:nvPicPr>
                    <p:blipFill>
                      <a:blip r:embed="rId4"/>
                      <a:stretch>
                        <a:fillRect/>
                      </a:stretch>
                    </p:blipFill>
                    <p:spPr>
                      <a:xfrm>
                        <a:off x="806450" y="1163638"/>
                        <a:ext cx="5421313" cy="969962"/>
                      </a:xfrm>
                      <a:prstGeom prst="rect">
                        <a:avLst/>
                      </a:prstGeom>
                      <a:noFill/>
                      <a:ln w="38100">
                        <a:noFill/>
                        <a:miter/>
                      </a:ln>
                    </p:spPr>
                  </p:pic>
                </p:oleObj>
              </mc:Fallback>
            </mc:AlternateContent>
          </a:graphicData>
        </a:graphic>
      </p:graphicFrame>
      <p:sp>
        <p:nvSpPr>
          <p:cNvPr id="1489924" name="文本框 1489923"/>
          <p:cNvSpPr txBox="1"/>
          <p:nvPr/>
        </p:nvSpPr>
        <p:spPr>
          <a:xfrm>
            <a:off x="-36512" y="2195513"/>
            <a:ext cx="539750" cy="519112"/>
          </a:xfrm>
          <a:prstGeom prst="rect">
            <a:avLst/>
          </a:prstGeom>
          <a:noFill/>
          <a:ln w="9525">
            <a:noFill/>
          </a:ln>
        </p:spPr>
        <p:txBody>
          <a:bodyPr wrap="none">
            <a:spAutoFit/>
          </a:bodyPr>
          <a:lstStyle/>
          <a:p>
            <a:pPr>
              <a:spcBef>
                <a:spcPct val="0"/>
              </a:spcBef>
            </a:pPr>
            <a:r>
              <a:rPr lang="zh-CN" altLang="en-US" sz="2800" dirty="0">
                <a:solidFill>
                  <a:schemeClr val="tx1"/>
                </a:solidFill>
                <a:latin typeface="Arial" panose="020B0604020202020204" pitchFamily="34" charset="0"/>
              </a:rPr>
              <a:t>令</a:t>
            </a:r>
          </a:p>
        </p:txBody>
      </p:sp>
      <p:graphicFrame>
        <p:nvGraphicFramePr>
          <p:cNvPr id="1489925" name="对象 1489924"/>
          <p:cNvGraphicFramePr/>
          <p:nvPr>
            <p:extLst>
              <p:ext uri="{D42A27DB-BD31-4B8C-83A1-F6EECF244321}">
                <p14:modId xmlns:p14="http://schemas.microsoft.com/office/powerpoint/2010/main" val="4247503737"/>
              </p:ext>
            </p:extLst>
          </p:nvPr>
        </p:nvGraphicFramePr>
        <p:xfrm>
          <a:off x="755651" y="2133600"/>
          <a:ext cx="3808412" cy="801688"/>
        </p:xfrm>
        <a:graphic>
          <a:graphicData uri="http://schemas.openxmlformats.org/presentationml/2006/ole">
            <mc:AlternateContent xmlns:mc="http://schemas.openxmlformats.org/markup-compatibility/2006">
              <mc:Choice xmlns:v="urn:schemas-microsoft-com:vml" Requires="v">
                <p:oleObj spid="_x0000_s49189" r:id="rId5" imgW="1687830" imgH="355600" progId="Equation.3">
                  <p:embed/>
                </p:oleObj>
              </mc:Choice>
              <mc:Fallback>
                <p:oleObj r:id="rId5" imgW="1687830" imgH="355600" progId="Equation.3">
                  <p:embed/>
                  <p:pic>
                    <p:nvPicPr>
                      <p:cNvPr id="0" name="图片 3229"/>
                      <p:cNvPicPr/>
                      <p:nvPr/>
                    </p:nvPicPr>
                    <p:blipFill>
                      <a:blip r:embed="rId6"/>
                      <a:stretch>
                        <a:fillRect/>
                      </a:stretch>
                    </p:blipFill>
                    <p:spPr>
                      <a:xfrm>
                        <a:off x="755651" y="2133600"/>
                        <a:ext cx="3808412" cy="801688"/>
                      </a:xfrm>
                      <a:prstGeom prst="rect">
                        <a:avLst/>
                      </a:prstGeom>
                      <a:gradFill rotWithShape="0">
                        <a:gsLst>
                          <a:gs pos="0">
                            <a:srgbClr val="66FF99"/>
                          </a:gs>
                          <a:gs pos="50000">
                            <a:srgbClr val="FFCCCC"/>
                          </a:gs>
                          <a:gs pos="100000">
                            <a:srgbClr val="66FF99"/>
                          </a:gs>
                        </a:gsLst>
                        <a:lin ang="5400000" scaled="1"/>
                        <a:tileRect/>
                      </a:gradFill>
                      <a:ln w="28575" cap="flat" cmpd="sng">
                        <a:noFill/>
                        <a:prstDash val="solid"/>
                        <a:miter/>
                        <a:headEnd type="none" w="med" len="med"/>
                        <a:tailEnd type="none" w="med" len="med"/>
                      </a:ln>
                    </p:spPr>
                  </p:pic>
                </p:oleObj>
              </mc:Fallback>
            </mc:AlternateContent>
          </a:graphicData>
        </a:graphic>
      </p:graphicFrame>
      <p:sp>
        <p:nvSpPr>
          <p:cNvPr id="1489926" name="文本框 1489925"/>
          <p:cNvSpPr txBox="1"/>
          <p:nvPr/>
        </p:nvSpPr>
        <p:spPr>
          <a:xfrm>
            <a:off x="6876256" y="1936161"/>
            <a:ext cx="2051619" cy="954107"/>
          </a:xfrm>
          <a:prstGeom prst="rect">
            <a:avLst/>
          </a:prstGeom>
          <a:noFill/>
          <a:ln w="9525">
            <a:noFill/>
          </a:ln>
        </p:spPr>
        <p:txBody>
          <a:bodyPr wrap="square">
            <a:spAutoFit/>
          </a:bodyPr>
          <a:lstStyle/>
          <a:p>
            <a:pPr marR="0" defTabSz="914400">
              <a:spcBef>
                <a:spcPct val="0"/>
              </a:spcBef>
              <a:buClrTx/>
              <a:buSzTx/>
              <a:buFontTx/>
              <a:buNone/>
              <a:defRPr/>
            </a:pPr>
            <a:r>
              <a:rPr kumimoji="0" lang="zh-CN" altLang="en-US" sz="2800"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rPr>
              <a:t>静态加速度误差系数</a:t>
            </a:r>
          </a:p>
        </p:txBody>
      </p:sp>
      <p:graphicFrame>
        <p:nvGraphicFramePr>
          <p:cNvPr id="1489927" name="对象 1489926"/>
          <p:cNvGraphicFramePr/>
          <p:nvPr>
            <p:extLst>
              <p:ext uri="{D42A27DB-BD31-4B8C-83A1-F6EECF244321}">
                <p14:modId xmlns:p14="http://schemas.microsoft.com/office/powerpoint/2010/main" val="1053560240"/>
              </p:ext>
            </p:extLst>
          </p:nvPr>
        </p:nvGraphicFramePr>
        <p:xfrm>
          <a:off x="4864893" y="2129308"/>
          <a:ext cx="1579315" cy="706984"/>
        </p:xfrm>
        <a:graphic>
          <a:graphicData uri="http://schemas.openxmlformats.org/presentationml/2006/ole">
            <mc:AlternateContent xmlns:mc="http://schemas.openxmlformats.org/markup-compatibility/2006">
              <mc:Choice xmlns:v="urn:schemas-microsoft-com:vml" Requires="v">
                <p:oleObj spid="_x0000_s49190" r:id="rId7" imgW="508000" imgH="381000" progId="Equation.3">
                  <p:embed/>
                </p:oleObj>
              </mc:Choice>
              <mc:Fallback>
                <p:oleObj r:id="rId7" imgW="508000" imgH="381000" progId="Equation.3">
                  <p:embed/>
                  <p:pic>
                    <p:nvPicPr>
                      <p:cNvPr id="0" name="图片 3230"/>
                      <p:cNvPicPr/>
                      <p:nvPr/>
                    </p:nvPicPr>
                    <p:blipFill>
                      <a:blip r:embed="rId8"/>
                      <a:stretch>
                        <a:fillRect/>
                      </a:stretch>
                    </p:blipFill>
                    <p:spPr>
                      <a:xfrm>
                        <a:off x="4864893" y="2129308"/>
                        <a:ext cx="1579315" cy="706984"/>
                      </a:xfrm>
                      <a:prstGeom prst="rect">
                        <a:avLst/>
                      </a:prstGeom>
                      <a:noFill/>
                      <a:ln w="28575" cap="flat" cmpd="sng">
                        <a:solidFill>
                          <a:srgbClr val="FF0000"/>
                        </a:solidFill>
                        <a:prstDash val="dashDot"/>
                        <a:miter/>
                        <a:headEnd type="none" w="med" len="med"/>
                        <a:tailEnd type="none" w="med" len="med"/>
                      </a:ln>
                    </p:spPr>
                  </p:pic>
                </p:oleObj>
              </mc:Fallback>
            </mc:AlternateContent>
          </a:graphicData>
        </a:graphic>
      </p:graphicFrame>
      <p:sp>
        <p:nvSpPr>
          <p:cNvPr id="1489929" name="文本框 1489928"/>
          <p:cNvSpPr txBox="1"/>
          <p:nvPr/>
        </p:nvSpPr>
        <p:spPr>
          <a:xfrm>
            <a:off x="363538" y="4598988"/>
            <a:ext cx="7450137" cy="2143125"/>
          </a:xfrm>
          <a:prstGeom prst="rect">
            <a:avLst/>
          </a:prstGeom>
          <a:noFill/>
          <a:ln w="9525">
            <a:noFill/>
          </a:ln>
        </p:spPr>
        <p:txBody>
          <a:bodyPr>
            <a:spAutoFit/>
          </a:bodyPr>
          <a:lstStyle/>
          <a:p>
            <a:pPr>
              <a:lnSpc>
                <a:spcPct val="120000"/>
              </a:lnSpc>
              <a:spcBef>
                <a:spcPct val="0"/>
              </a:spcBef>
            </a:pPr>
            <a:r>
              <a:rPr lang="en-US" altLang="zh-CN" sz="2800" b="0" dirty="0">
                <a:solidFill>
                  <a:schemeClr val="tx1"/>
                </a:solidFill>
                <a:latin typeface="Times New Roman" panose="02020603050405020304" pitchFamily="18" charset="0"/>
              </a:rPr>
              <a:t>   </a:t>
            </a:r>
            <a:r>
              <a:rPr lang="en-US" altLang="zh-CN" sz="2800" dirty="0">
                <a:solidFill>
                  <a:schemeClr val="tx1"/>
                </a:solidFill>
                <a:latin typeface="Times New Roman" panose="02020603050405020304" pitchFamily="18" charset="0"/>
              </a:rPr>
              <a:t>0 </a:t>
            </a:r>
            <a:r>
              <a:rPr lang="zh-CN" altLang="en-US" sz="2800" dirty="0">
                <a:solidFill>
                  <a:schemeClr val="tx1"/>
                </a:solidFill>
                <a:latin typeface="Arial" panose="020B0604020202020204" pitchFamily="34" charset="0"/>
              </a:rPr>
              <a:t>型系统：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a </a:t>
            </a:r>
            <a:r>
              <a:rPr lang="en-US" altLang="zh-CN" sz="2800" dirty="0">
                <a:solidFill>
                  <a:schemeClr val="tx1"/>
                </a:solidFill>
                <a:latin typeface="Times New Roman" panose="02020603050405020304" pitchFamily="18" charset="0"/>
              </a:rPr>
              <a:t>= 0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endParaRPr lang="en-US" altLang="zh-CN" sz="2800" dirty="0">
              <a:solidFill>
                <a:schemeClr val="tx1"/>
              </a:solidFill>
              <a:latin typeface="Times New Roman" panose="02020603050405020304" pitchFamily="18" charset="0"/>
            </a:endParaRPr>
          </a:p>
          <a:p>
            <a:pPr>
              <a:lnSpc>
                <a:spcPct val="120000"/>
              </a:lnSpc>
              <a:spcBef>
                <a:spcPct val="0"/>
              </a:spcBef>
            </a:pPr>
            <a:r>
              <a:rPr lang="en-US" altLang="zh-CN" sz="2800" dirty="0">
                <a:solidFill>
                  <a:schemeClr val="tx1"/>
                </a:solidFill>
                <a:latin typeface="Times New Roman" panose="02020603050405020304" pitchFamily="18" charset="0"/>
              </a:rPr>
              <a:t>   Ⅰ</a:t>
            </a:r>
            <a:r>
              <a:rPr lang="zh-CN" altLang="en-US" sz="2800" dirty="0">
                <a:solidFill>
                  <a:schemeClr val="tx1"/>
                </a:solidFill>
                <a:latin typeface="Arial" panose="020B0604020202020204" pitchFamily="34" charset="0"/>
              </a:rPr>
              <a:t>型系统：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a</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0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endParaRPr lang="en-US" altLang="zh-CN" sz="2800" dirty="0">
              <a:solidFill>
                <a:schemeClr val="tx1"/>
              </a:solidFill>
              <a:latin typeface="Arial" panose="020B0604020202020204" pitchFamily="34" charset="0"/>
            </a:endParaRPr>
          </a:p>
          <a:p>
            <a:pPr>
              <a:lnSpc>
                <a:spcPct val="120000"/>
              </a:lnSpc>
              <a:spcBef>
                <a:spcPct val="0"/>
              </a:spcBef>
            </a:pPr>
            <a:r>
              <a:rPr lang="en-US" altLang="zh-CN" sz="2800" dirty="0">
                <a:solidFill>
                  <a:schemeClr val="tx1"/>
                </a:solidFill>
                <a:latin typeface="Arial" panose="020B0604020202020204" pitchFamily="34" charset="0"/>
              </a:rPr>
              <a:t>  Ⅱ</a:t>
            </a:r>
            <a:r>
              <a:rPr lang="zh-CN" altLang="en-US" sz="2800" dirty="0">
                <a:solidFill>
                  <a:schemeClr val="tx1"/>
                </a:solidFill>
                <a:latin typeface="Arial" panose="020B0604020202020204" pitchFamily="34" charset="0"/>
              </a:rPr>
              <a:t>型系统：            </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a</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K     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a:t>
            </a:r>
            <a:r>
              <a:rPr lang="en-US" altLang="zh-CN" sz="2800" i="1" baseline="-300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C/ K</a:t>
            </a:r>
            <a:endParaRPr lang="en-US" altLang="zh-CN" sz="2800" dirty="0">
              <a:solidFill>
                <a:schemeClr val="tx1"/>
              </a:solidFill>
              <a:latin typeface="Arial" panose="020B0604020202020204" pitchFamily="34" charset="0"/>
            </a:endParaRPr>
          </a:p>
          <a:p>
            <a:pPr>
              <a:lnSpc>
                <a:spcPct val="120000"/>
              </a:lnSpc>
              <a:spcBef>
                <a:spcPct val="0"/>
              </a:spcBef>
            </a:pPr>
            <a:r>
              <a:rPr lang="en-US" altLang="zh-CN" sz="2800" dirty="0">
                <a:solidFill>
                  <a:schemeClr val="tx1"/>
                </a:solidFill>
                <a:latin typeface="宋体" panose="02010600030101010101" pitchFamily="2" charset="-122"/>
              </a:rPr>
              <a:t> Ⅲ</a:t>
            </a:r>
            <a:r>
              <a:rPr lang="zh-CN" altLang="en-US" sz="2800" dirty="0">
                <a:solidFill>
                  <a:schemeClr val="tx1"/>
                </a:solidFill>
                <a:latin typeface="Arial" panose="020B0604020202020204" pitchFamily="34" charset="0"/>
              </a:rPr>
              <a:t>型及</a:t>
            </a:r>
            <a:r>
              <a:rPr lang="en-US" altLang="zh-CN" sz="2800" dirty="0">
                <a:solidFill>
                  <a:schemeClr val="tx1"/>
                </a:solidFill>
                <a:latin typeface="宋体" panose="02010600030101010101" pitchFamily="2" charset="-122"/>
              </a:rPr>
              <a:t>Ⅲ</a:t>
            </a:r>
            <a:r>
              <a:rPr lang="zh-CN" altLang="en-US" sz="2800" dirty="0">
                <a:solidFill>
                  <a:schemeClr val="tx1"/>
                </a:solidFill>
                <a:latin typeface="Arial" panose="020B0604020202020204" pitchFamily="34" charset="0"/>
              </a:rPr>
              <a:t>型以上系统：</a:t>
            </a:r>
            <a:r>
              <a:rPr lang="en-US" altLang="zh-CN" sz="2800" i="1" dirty="0">
                <a:solidFill>
                  <a:schemeClr val="tx1"/>
                </a:solidFill>
                <a:latin typeface="Times New Roman" panose="02020603050405020304" pitchFamily="18" charset="0"/>
              </a:rPr>
              <a:t>K</a:t>
            </a:r>
            <a:r>
              <a:rPr lang="en-US" altLang="zh-CN" sz="2800" i="1" baseline="-30000" dirty="0">
                <a:solidFill>
                  <a:schemeClr val="tx1"/>
                </a:solidFill>
                <a:latin typeface="Times New Roman" panose="02020603050405020304" pitchFamily="18" charset="0"/>
              </a:rPr>
              <a:t>a</a:t>
            </a:r>
            <a:r>
              <a:rPr lang="en-US" altLang="zh-CN" sz="2800" dirty="0">
                <a:solidFill>
                  <a:schemeClr val="tx1"/>
                </a:solidFill>
                <a:latin typeface="Arial" panose="020B0604020202020204" pitchFamily="34" charset="0"/>
              </a:rPr>
              <a:t> </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rPr>
              <a:t>     </a:t>
            </a:r>
            <a:r>
              <a:rPr lang="en-US" altLang="zh-CN" sz="2800" i="1" dirty="0">
                <a:solidFill>
                  <a:schemeClr val="tx1"/>
                </a:solidFill>
                <a:latin typeface="Times New Roman" panose="02020603050405020304" pitchFamily="18" charset="0"/>
              </a:rPr>
              <a:t>e</a:t>
            </a:r>
            <a:r>
              <a:rPr lang="en-US" altLang="zh-CN" sz="2800" i="1" baseline="-30000" dirty="0">
                <a:solidFill>
                  <a:schemeClr val="tx1"/>
                </a:solidFill>
                <a:latin typeface="Times New Roman" panose="02020603050405020304" pitchFamily="18" charset="0"/>
              </a:rPr>
              <a:t>ss </a:t>
            </a:r>
            <a:r>
              <a:rPr lang="en-US" altLang="zh-CN" sz="2800" dirty="0">
                <a:solidFill>
                  <a:schemeClr val="tx1"/>
                </a:solidFill>
                <a:latin typeface="Times New Roman" panose="02020603050405020304" pitchFamily="18" charset="0"/>
              </a:rPr>
              <a:t>= 0</a:t>
            </a:r>
            <a:endParaRPr lang="en-US" altLang="zh-CN" sz="2800" i="1" baseline="-30000" dirty="0">
              <a:solidFill>
                <a:schemeClr val="tx1"/>
              </a:solidFill>
              <a:latin typeface="Times New Roman" panose="02020603050405020304" pitchFamily="18" charset="0"/>
              <a:ea typeface="Times New Roman" panose="02020603050405020304" pitchFamily="18" charset="0"/>
            </a:endParaRPr>
          </a:p>
        </p:txBody>
      </p:sp>
      <p:graphicFrame>
        <p:nvGraphicFramePr>
          <p:cNvPr id="1489931" name="对象 1489930"/>
          <p:cNvGraphicFramePr/>
          <p:nvPr>
            <p:extLst>
              <p:ext uri="{D42A27DB-BD31-4B8C-83A1-F6EECF244321}">
                <p14:modId xmlns:p14="http://schemas.microsoft.com/office/powerpoint/2010/main" val="3643097613"/>
              </p:ext>
            </p:extLst>
          </p:nvPr>
        </p:nvGraphicFramePr>
        <p:xfrm>
          <a:off x="755651" y="2946846"/>
          <a:ext cx="6516688" cy="1606550"/>
        </p:xfrm>
        <a:graphic>
          <a:graphicData uri="http://schemas.openxmlformats.org/presentationml/2006/ole">
            <mc:AlternateContent xmlns:mc="http://schemas.openxmlformats.org/markup-compatibility/2006">
              <mc:Choice xmlns:v="urn:schemas-microsoft-com:vml" Requires="v">
                <p:oleObj spid="_x0000_s49191" r:id="rId9" imgW="2932430" imgH="723900" progId="Equation.3">
                  <p:embed/>
                </p:oleObj>
              </mc:Choice>
              <mc:Fallback>
                <p:oleObj r:id="rId9" imgW="2932430" imgH="723900" progId="Equation.3">
                  <p:embed/>
                  <p:pic>
                    <p:nvPicPr>
                      <p:cNvPr id="0" name="图片 3231"/>
                      <p:cNvPicPr/>
                      <p:nvPr/>
                    </p:nvPicPr>
                    <p:blipFill>
                      <a:blip r:embed="rId10"/>
                      <a:stretch>
                        <a:fillRect/>
                      </a:stretch>
                    </p:blipFill>
                    <p:spPr>
                      <a:xfrm>
                        <a:off x="755651" y="2946846"/>
                        <a:ext cx="6516688" cy="1606550"/>
                      </a:xfrm>
                      <a:prstGeom prst="rect">
                        <a:avLst/>
                      </a:prstGeom>
                      <a:gradFill rotWithShape="1">
                        <a:gsLst>
                          <a:gs pos="0">
                            <a:srgbClr val="66FF99"/>
                          </a:gs>
                          <a:gs pos="50000">
                            <a:srgbClr val="FFCCCC"/>
                          </a:gs>
                          <a:gs pos="100000">
                            <a:srgbClr val="66FF99"/>
                          </a:gs>
                        </a:gsLst>
                        <a:lin ang="5400000" scaled="1"/>
                        <a:tileRect/>
                      </a:gradFill>
                      <a:ln w="38100">
                        <a:noFill/>
                        <a:miter/>
                      </a:ln>
                    </p:spPr>
                  </p:pic>
                </p:oleObj>
              </mc:Fallback>
            </mc:AlternateContent>
          </a:graphicData>
        </a:graphic>
      </p:graphicFrame>
      <p:graphicFrame>
        <p:nvGraphicFramePr>
          <p:cNvPr id="1489932" name="对象 1489931"/>
          <p:cNvGraphicFramePr/>
          <p:nvPr/>
        </p:nvGraphicFramePr>
        <p:xfrm>
          <a:off x="827088" y="692150"/>
          <a:ext cx="2233612" cy="550863"/>
        </p:xfrm>
        <a:graphic>
          <a:graphicData uri="http://schemas.openxmlformats.org/presentationml/2006/ole">
            <mc:AlternateContent xmlns:mc="http://schemas.openxmlformats.org/markup-compatibility/2006">
              <mc:Choice xmlns:v="urn:schemas-microsoft-com:vml" Requires="v">
                <p:oleObj spid="_x0000_s49192" r:id="rId11" imgW="875030" imgH="215900" progId="Equation.3">
                  <p:embed/>
                </p:oleObj>
              </mc:Choice>
              <mc:Fallback>
                <p:oleObj r:id="rId11" imgW="875030" imgH="215900" progId="Equation.3">
                  <p:embed/>
                  <p:pic>
                    <p:nvPicPr>
                      <p:cNvPr id="0" name="图片 3233"/>
                      <p:cNvPicPr/>
                      <p:nvPr/>
                    </p:nvPicPr>
                    <p:blipFill>
                      <a:blip r:embed="rId12"/>
                      <a:stretch>
                        <a:fillRect/>
                      </a:stretch>
                    </p:blipFill>
                    <p:spPr>
                      <a:xfrm>
                        <a:off x="827088" y="692150"/>
                        <a:ext cx="2233612" cy="550863"/>
                      </a:xfrm>
                      <a:prstGeom prst="rect">
                        <a:avLst/>
                      </a:prstGeom>
                      <a:noFill/>
                      <a:ln w="38100">
                        <a:noFill/>
                        <a:miter/>
                      </a:ln>
                    </p:spPr>
                  </p:pic>
                </p:oleObj>
              </mc:Fallback>
            </mc:AlternateContent>
          </a:graphicData>
        </a:graphic>
      </p:graphicFrame>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9922"/>
                                        </p:tgtEl>
                                        <p:attrNameLst>
                                          <p:attrName>style.visibility</p:attrName>
                                        </p:attrNameLst>
                                      </p:cBhvr>
                                      <p:to>
                                        <p:strVal val="visible"/>
                                      </p:to>
                                    </p:set>
                                    <p:anim calcmode="lin" valueType="num">
                                      <p:cBhvr additive="base">
                                        <p:cTn id="7" dur="500" fill="hold"/>
                                        <p:tgtEl>
                                          <p:spTgt spid="1489922"/>
                                        </p:tgtEl>
                                        <p:attrNameLst>
                                          <p:attrName>ppt_x</p:attrName>
                                        </p:attrNameLst>
                                      </p:cBhvr>
                                      <p:tavLst>
                                        <p:tav tm="0">
                                          <p:val>
                                            <p:strVal val="0-#ppt_w/2"/>
                                          </p:val>
                                        </p:tav>
                                        <p:tav tm="100000">
                                          <p:val>
                                            <p:strVal val="#ppt_x"/>
                                          </p:val>
                                        </p:tav>
                                      </p:tavLst>
                                    </p:anim>
                                    <p:anim calcmode="lin" valueType="num">
                                      <p:cBhvr additive="base">
                                        <p:cTn id="8" dur="500" fill="hold"/>
                                        <p:tgtEl>
                                          <p:spTgt spid="1489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489932"/>
                                        </p:tgtEl>
                                        <p:attrNameLst>
                                          <p:attrName>style.visibility</p:attrName>
                                        </p:attrNameLst>
                                      </p:cBhvr>
                                      <p:to>
                                        <p:strVal val="visible"/>
                                      </p:to>
                                    </p:set>
                                    <p:animEffect transition="in" filter="wipe(down)">
                                      <p:cBhvr>
                                        <p:cTn id="13" dur="580">
                                          <p:stCondLst>
                                            <p:cond delay="0"/>
                                          </p:stCondLst>
                                        </p:cTn>
                                        <p:tgtEl>
                                          <p:spTgt spid="1489932"/>
                                        </p:tgtEl>
                                      </p:cBhvr>
                                    </p:animEffect>
                                    <p:anim calcmode="lin" valueType="num">
                                      <p:cBhvr>
                                        <p:cTn id="14" dur="1822" tmFilter="0,0; 0.14,0.36; 0.43,0.73; 0.71,0.91; 1.0,1.0">
                                          <p:stCondLst>
                                            <p:cond delay="0"/>
                                          </p:stCondLst>
                                        </p:cTn>
                                        <p:tgtEl>
                                          <p:spTgt spid="1489932"/>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489932"/>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489932"/>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489932"/>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489932"/>
                                        </p:tgtEl>
                                        <p:attrNameLst>
                                          <p:attrName>ppt_y</p:attrName>
                                        </p:attrNameLst>
                                      </p:cBhvr>
                                      <p:tavLst>
                                        <p:tav tm="0" fmla="#ppt_y-sin(pi*$)/81">
                                          <p:val>
                                            <p:fltVal val="0"/>
                                          </p:val>
                                        </p:tav>
                                        <p:tav tm="100000">
                                          <p:val>
                                            <p:fltVal val="1"/>
                                          </p:val>
                                        </p:tav>
                                      </p:tavLst>
                                    </p:anim>
                                    <p:animScale>
                                      <p:cBhvr>
                                        <p:cTn id="19" dur="26">
                                          <p:stCondLst>
                                            <p:cond delay="650"/>
                                          </p:stCondLst>
                                        </p:cTn>
                                        <p:tgtEl>
                                          <p:spTgt spid="1489932"/>
                                        </p:tgtEl>
                                      </p:cBhvr>
                                      <p:to x="100000" y="60000"/>
                                    </p:animScale>
                                    <p:animScale>
                                      <p:cBhvr>
                                        <p:cTn id="20" dur="166" decel="50000">
                                          <p:stCondLst>
                                            <p:cond delay="676"/>
                                          </p:stCondLst>
                                        </p:cTn>
                                        <p:tgtEl>
                                          <p:spTgt spid="1489932"/>
                                        </p:tgtEl>
                                      </p:cBhvr>
                                      <p:to x="100000" y="100000"/>
                                    </p:animScale>
                                    <p:animScale>
                                      <p:cBhvr>
                                        <p:cTn id="21" dur="26">
                                          <p:stCondLst>
                                            <p:cond delay="1312"/>
                                          </p:stCondLst>
                                        </p:cTn>
                                        <p:tgtEl>
                                          <p:spTgt spid="1489932"/>
                                        </p:tgtEl>
                                      </p:cBhvr>
                                      <p:to x="100000" y="80000"/>
                                    </p:animScale>
                                    <p:animScale>
                                      <p:cBhvr>
                                        <p:cTn id="22" dur="166" decel="50000">
                                          <p:stCondLst>
                                            <p:cond delay="1338"/>
                                          </p:stCondLst>
                                        </p:cTn>
                                        <p:tgtEl>
                                          <p:spTgt spid="1489932"/>
                                        </p:tgtEl>
                                      </p:cBhvr>
                                      <p:to x="100000" y="100000"/>
                                    </p:animScale>
                                    <p:animScale>
                                      <p:cBhvr>
                                        <p:cTn id="23" dur="26">
                                          <p:stCondLst>
                                            <p:cond delay="1642"/>
                                          </p:stCondLst>
                                        </p:cTn>
                                        <p:tgtEl>
                                          <p:spTgt spid="1489932"/>
                                        </p:tgtEl>
                                      </p:cBhvr>
                                      <p:to x="100000" y="90000"/>
                                    </p:animScale>
                                    <p:animScale>
                                      <p:cBhvr>
                                        <p:cTn id="24" dur="166" decel="50000">
                                          <p:stCondLst>
                                            <p:cond delay="1668"/>
                                          </p:stCondLst>
                                        </p:cTn>
                                        <p:tgtEl>
                                          <p:spTgt spid="1489932"/>
                                        </p:tgtEl>
                                      </p:cBhvr>
                                      <p:to x="100000" y="100000"/>
                                    </p:animScale>
                                    <p:animScale>
                                      <p:cBhvr>
                                        <p:cTn id="25" dur="26">
                                          <p:stCondLst>
                                            <p:cond delay="1808"/>
                                          </p:stCondLst>
                                        </p:cTn>
                                        <p:tgtEl>
                                          <p:spTgt spid="1489932"/>
                                        </p:tgtEl>
                                      </p:cBhvr>
                                      <p:to x="100000" y="95000"/>
                                    </p:animScale>
                                    <p:animScale>
                                      <p:cBhvr>
                                        <p:cTn id="26" dur="166" decel="50000">
                                          <p:stCondLst>
                                            <p:cond delay="1834"/>
                                          </p:stCondLst>
                                        </p:cTn>
                                        <p:tgtEl>
                                          <p:spTgt spid="1489932"/>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489923"/>
                                        </p:tgtEl>
                                        <p:attrNameLst>
                                          <p:attrName>style.visibility</p:attrName>
                                        </p:attrNameLst>
                                      </p:cBhvr>
                                      <p:to>
                                        <p:strVal val="visible"/>
                                      </p:to>
                                    </p:set>
                                    <p:animEffect transition="in" filter="dissolve">
                                      <p:cBhvr>
                                        <p:cTn id="31" dur="500"/>
                                        <p:tgtEl>
                                          <p:spTgt spid="148992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89931"/>
                                        </p:tgtEl>
                                        <p:attrNameLst>
                                          <p:attrName>style.visibility</p:attrName>
                                        </p:attrNameLst>
                                      </p:cBhvr>
                                      <p:to>
                                        <p:strVal val="visible"/>
                                      </p:to>
                                    </p:set>
                                    <p:animEffect transition="in" filter="dissolve">
                                      <p:cBhvr>
                                        <p:cTn id="36" dur="500"/>
                                        <p:tgtEl>
                                          <p:spTgt spid="148993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489924"/>
                                        </p:tgtEl>
                                        <p:attrNameLst>
                                          <p:attrName>style.visibility</p:attrName>
                                        </p:attrNameLst>
                                      </p:cBhvr>
                                      <p:to>
                                        <p:strVal val="visible"/>
                                      </p:to>
                                    </p:set>
                                    <p:animEffect transition="in" filter="dissolve">
                                      <p:cBhvr>
                                        <p:cTn id="41" dur="500"/>
                                        <p:tgtEl>
                                          <p:spTgt spid="1489924"/>
                                        </p:tgtEl>
                                      </p:cBhvr>
                                    </p:animEffect>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1489925"/>
                                        </p:tgtEl>
                                        <p:attrNameLst>
                                          <p:attrName>style.visibility</p:attrName>
                                        </p:attrNameLst>
                                      </p:cBhvr>
                                      <p:to>
                                        <p:strVal val="visible"/>
                                      </p:to>
                                    </p:set>
                                    <p:animEffect transition="in" filter="dissolve">
                                      <p:cBhvr>
                                        <p:cTn id="45" dur="500"/>
                                        <p:tgtEl>
                                          <p:spTgt spid="1489925"/>
                                        </p:tgtEl>
                                      </p:cBhvr>
                                    </p:animEffect>
                                  </p:childTnLst>
                                </p:cTn>
                              </p:par>
                            </p:childTnLst>
                          </p:cTn>
                        </p:par>
                        <p:par>
                          <p:cTn id="46" fill="hold">
                            <p:stCondLst>
                              <p:cond delay="1000"/>
                            </p:stCondLst>
                            <p:childTnLst>
                              <p:par>
                                <p:cTn id="47" presetID="2" presetClass="entr" presetSubtype="2" fill="hold" grpId="0" nodeType="afterEffect">
                                  <p:stCondLst>
                                    <p:cond delay="2000"/>
                                  </p:stCondLst>
                                  <p:childTnLst>
                                    <p:set>
                                      <p:cBhvr>
                                        <p:cTn id="48" dur="1" fill="hold">
                                          <p:stCondLst>
                                            <p:cond delay="0"/>
                                          </p:stCondLst>
                                        </p:cTn>
                                        <p:tgtEl>
                                          <p:spTgt spid="1489926"/>
                                        </p:tgtEl>
                                        <p:attrNameLst>
                                          <p:attrName>style.visibility</p:attrName>
                                        </p:attrNameLst>
                                      </p:cBhvr>
                                      <p:to>
                                        <p:strVal val="visible"/>
                                      </p:to>
                                    </p:set>
                                    <p:anim calcmode="lin" valueType="num">
                                      <p:cBhvr additive="base">
                                        <p:cTn id="49" dur="500" fill="hold"/>
                                        <p:tgtEl>
                                          <p:spTgt spid="1489926"/>
                                        </p:tgtEl>
                                        <p:attrNameLst>
                                          <p:attrName>ppt_x</p:attrName>
                                        </p:attrNameLst>
                                      </p:cBhvr>
                                      <p:tavLst>
                                        <p:tav tm="0">
                                          <p:val>
                                            <p:strVal val="1+#ppt_w/2"/>
                                          </p:val>
                                        </p:tav>
                                        <p:tav tm="100000">
                                          <p:val>
                                            <p:strVal val="#ppt_x"/>
                                          </p:val>
                                        </p:tav>
                                      </p:tavLst>
                                    </p:anim>
                                    <p:anim calcmode="lin" valueType="num">
                                      <p:cBhvr additive="base">
                                        <p:cTn id="50" dur="500" fill="hold"/>
                                        <p:tgtEl>
                                          <p:spTgt spid="14899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1489927"/>
                                        </p:tgtEl>
                                        <p:attrNameLst>
                                          <p:attrName>style.visibility</p:attrName>
                                        </p:attrNameLst>
                                      </p:cBhvr>
                                      <p:to>
                                        <p:strVal val="visible"/>
                                      </p:to>
                                    </p:set>
                                    <p:animEffect transition="in" filter="dissolve">
                                      <p:cBhvr>
                                        <p:cTn id="55" dur="500"/>
                                        <p:tgtEl>
                                          <p:spTgt spid="148992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iterate type="lt">
                                    <p:tmPct val="100000"/>
                                  </p:iterate>
                                  <p:childTnLst>
                                    <p:set>
                                      <p:cBhvr>
                                        <p:cTn id="59" dur="1" fill="hold">
                                          <p:stCondLst>
                                            <p:cond delay="0"/>
                                          </p:stCondLst>
                                        </p:cTn>
                                        <p:tgtEl>
                                          <p:spTgt spid="1489929">
                                            <p:txEl>
                                              <p:pRg st="0" end="0"/>
                                            </p:txEl>
                                          </p:spTgt>
                                        </p:tgtEl>
                                        <p:attrNameLst>
                                          <p:attrName>style.visibility</p:attrName>
                                        </p:attrNameLst>
                                      </p:cBhvr>
                                      <p:to>
                                        <p:strVal val="visible"/>
                                      </p:to>
                                    </p:set>
                                    <p:animEffect transition="in" filter="blinds(horizontal)">
                                      <p:cBhvr>
                                        <p:cTn id="60" dur="75"/>
                                        <p:tgtEl>
                                          <p:spTgt spid="1489929">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iterate type="lt">
                                    <p:tmPct val="100000"/>
                                  </p:iterate>
                                  <p:childTnLst>
                                    <p:set>
                                      <p:cBhvr>
                                        <p:cTn id="64" dur="1" fill="hold">
                                          <p:stCondLst>
                                            <p:cond delay="0"/>
                                          </p:stCondLst>
                                        </p:cTn>
                                        <p:tgtEl>
                                          <p:spTgt spid="1489929">
                                            <p:txEl>
                                              <p:pRg st="1" end="1"/>
                                            </p:txEl>
                                          </p:spTgt>
                                        </p:tgtEl>
                                        <p:attrNameLst>
                                          <p:attrName>style.visibility</p:attrName>
                                        </p:attrNameLst>
                                      </p:cBhvr>
                                      <p:to>
                                        <p:strVal val="visible"/>
                                      </p:to>
                                    </p:set>
                                    <p:animEffect transition="in" filter="blinds(horizontal)">
                                      <p:cBhvr>
                                        <p:cTn id="65" dur="75"/>
                                        <p:tgtEl>
                                          <p:spTgt spid="1489929">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iterate type="lt">
                                    <p:tmPct val="100000"/>
                                  </p:iterate>
                                  <p:childTnLst>
                                    <p:set>
                                      <p:cBhvr>
                                        <p:cTn id="69" dur="1" fill="hold">
                                          <p:stCondLst>
                                            <p:cond delay="0"/>
                                          </p:stCondLst>
                                        </p:cTn>
                                        <p:tgtEl>
                                          <p:spTgt spid="1489929">
                                            <p:txEl>
                                              <p:pRg st="2" end="2"/>
                                            </p:txEl>
                                          </p:spTgt>
                                        </p:tgtEl>
                                        <p:attrNameLst>
                                          <p:attrName>style.visibility</p:attrName>
                                        </p:attrNameLst>
                                      </p:cBhvr>
                                      <p:to>
                                        <p:strVal val="visible"/>
                                      </p:to>
                                    </p:set>
                                    <p:animEffect transition="in" filter="blinds(horizontal)">
                                      <p:cBhvr>
                                        <p:cTn id="70" dur="75"/>
                                        <p:tgtEl>
                                          <p:spTgt spid="1489929">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iterate type="lt">
                                    <p:tmPct val="100000"/>
                                  </p:iterate>
                                  <p:childTnLst>
                                    <p:set>
                                      <p:cBhvr>
                                        <p:cTn id="74" dur="1" fill="hold">
                                          <p:stCondLst>
                                            <p:cond delay="0"/>
                                          </p:stCondLst>
                                        </p:cTn>
                                        <p:tgtEl>
                                          <p:spTgt spid="1489929">
                                            <p:txEl>
                                              <p:pRg st="3" end="3"/>
                                            </p:txEl>
                                          </p:spTgt>
                                        </p:tgtEl>
                                        <p:attrNameLst>
                                          <p:attrName>style.visibility</p:attrName>
                                        </p:attrNameLst>
                                      </p:cBhvr>
                                      <p:to>
                                        <p:strVal val="visible"/>
                                      </p:to>
                                    </p:set>
                                    <p:animEffect transition="in" filter="blinds(horizontal)">
                                      <p:cBhvr>
                                        <p:cTn id="75" dur="75"/>
                                        <p:tgtEl>
                                          <p:spTgt spid="14899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9922" grpId="0"/>
      <p:bldP spid="1489924" grpId="0"/>
      <p:bldP spid="1489926" grpId="0"/>
      <p:bldP spid="148992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0946" name="文本框 1490945"/>
          <p:cNvSpPr txBox="1"/>
          <p:nvPr/>
        </p:nvSpPr>
        <p:spPr>
          <a:xfrm>
            <a:off x="1313027" y="181049"/>
            <a:ext cx="6940550" cy="519113"/>
          </a:xfrm>
          <a:prstGeom prst="rect">
            <a:avLst/>
          </a:prstGeom>
          <a:noFill/>
          <a:ln w="9525">
            <a:noFill/>
          </a:ln>
        </p:spPr>
        <p:txBody>
          <a:bodyPr wrap="none">
            <a:spAutoFit/>
          </a:bodyPr>
          <a:lstStyle/>
          <a:p>
            <a:pPr marR="0" defTabSz="914400">
              <a:spcBef>
                <a:spcPct val="0"/>
              </a:spcBef>
              <a:buClrTx/>
              <a:buSzTx/>
              <a:buFontTx/>
              <a:buNone/>
              <a:defRPr/>
            </a:pPr>
            <a:r>
              <a:rPr kumimoji="0" lang="zh-CN" altLang="en-US" sz="2800" kern="1200" cap="none" spc="0" normalizeH="0" baseline="0" noProof="1">
                <a:solidFill>
                  <a:srgbClr val="FF0000"/>
                </a:solidFill>
                <a:effectLst>
                  <a:outerShdw blurRad="38100" dist="38100" dir="2700000">
                    <a:srgbClr val="C0C0C0"/>
                  </a:outerShdw>
                </a:effectLst>
                <a:latin typeface="Arial" panose="020B0604020202020204" pitchFamily="34" charset="0"/>
                <a:ea typeface="楷体_GB2312" pitchFamily="49" charset="-122"/>
                <a:cs typeface="+mn-cs"/>
              </a:rPr>
              <a:t>阶跃、斜坡、加速度输入作用下的稳态误差</a:t>
            </a:r>
          </a:p>
        </p:txBody>
      </p:sp>
      <p:sp>
        <p:nvSpPr>
          <p:cNvPr id="1490947" name="矩形 1490946"/>
          <p:cNvSpPr/>
          <p:nvPr/>
        </p:nvSpPr>
        <p:spPr>
          <a:xfrm>
            <a:off x="7380288" y="981075"/>
            <a:ext cx="1620838" cy="103028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4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r</a:t>
            </a:r>
            <a:r>
              <a:rPr kumimoji="0" lang="en-US" altLang="zh-CN" sz="24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t</a:t>
            </a:r>
            <a:r>
              <a:rPr kumimoji="0" lang="en-US" altLang="zh-CN" sz="24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Ct</a:t>
            </a:r>
            <a:r>
              <a:rPr kumimoji="0" lang="en-US" altLang="zh-CN" sz="2400" b="1" i="0"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2</a:t>
            </a:r>
            <a:r>
              <a:rPr kumimoji="0" lang="en-US" altLang="zh-CN" sz="24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/2</a:t>
            </a:r>
          </a:p>
        </p:txBody>
      </p:sp>
      <p:sp>
        <p:nvSpPr>
          <p:cNvPr id="1490948" name="矩形 1490947"/>
          <p:cNvSpPr/>
          <p:nvPr/>
        </p:nvSpPr>
        <p:spPr>
          <a:xfrm>
            <a:off x="5781675" y="969963"/>
            <a:ext cx="1541463" cy="1030287"/>
          </a:xfrm>
          <a:prstGeom prst="rect">
            <a:avLst/>
          </a:prstGeom>
          <a:noFill/>
          <a:ln w="9525">
            <a:noFill/>
          </a:ln>
        </p:spPr>
        <p:txBody>
          <a:bodyPr anchor="ctr" anchorCtr="0"/>
          <a:lstStyle/>
          <a:p>
            <a:pPr algn="ctr" fontAlgn="ctr">
              <a:spcBef>
                <a:spcPct val="20000"/>
              </a:spcBef>
              <a:buClr>
                <a:schemeClr val="folHlink"/>
              </a:buClr>
            </a:pPr>
            <a:r>
              <a:rPr lang="en-US" altLang="zh-CN" sz="2800" i="1" dirty="0">
                <a:solidFill>
                  <a:schemeClr val="tx1"/>
                </a:solidFill>
                <a:latin typeface="Times New Roman" panose="02020603050405020304" pitchFamily="18" charset="0"/>
              </a:rPr>
              <a:t>r</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t</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B t</a:t>
            </a:r>
          </a:p>
        </p:txBody>
      </p:sp>
      <p:sp>
        <p:nvSpPr>
          <p:cNvPr id="1490949" name="矩形 1490948"/>
          <p:cNvSpPr/>
          <p:nvPr/>
        </p:nvSpPr>
        <p:spPr>
          <a:xfrm>
            <a:off x="3497263" y="950913"/>
            <a:ext cx="2208213" cy="103028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r</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·1(</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t</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p>
        </p:txBody>
      </p:sp>
      <p:sp>
        <p:nvSpPr>
          <p:cNvPr id="1490950" name="矩形 1490949"/>
          <p:cNvSpPr/>
          <p:nvPr/>
        </p:nvSpPr>
        <p:spPr>
          <a:xfrm>
            <a:off x="1116013" y="981075"/>
            <a:ext cx="2435225" cy="95408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base" latinLnBrk="0" hangingPunct="1">
              <a:lnSpc>
                <a:spcPct val="100000"/>
              </a:lnSpc>
              <a:spcBef>
                <a:spcPct val="10000"/>
              </a:spcBef>
              <a:spcAft>
                <a:spcPct val="0"/>
              </a:spcAft>
              <a:buClr>
                <a:schemeClr val="folHlink"/>
              </a:buClr>
              <a:buSzTx/>
              <a:buFont typeface="Wingdings" panose="05000000000000000000" pitchFamily="2" charset="2"/>
              <a:buNone/>
              <a:defRPr/>
            </a:pPr>
            <a:r>
              <a:rPr kumimoji="0" lang="zh-CN" altLang="en-US" sz="28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rPr>
              <a:t>静态误</a:t>
            </a:r>
          </a:p>
          <a:p>
            <a:pPr marL="0" marR="0" lvl="0" indent="0" algn="ctr" defTabSz="914400" rtl="0" eaLnBrk="1" fontAlgn="base" latinLnBrk="0" hangingPunct="1">
              <a:lnSpc>
                <a:spcPct val="100000"/>
              </a:lnSpc>
              <a:spcBef>
                <a:spcPct val="10000"/>
              </a:spcBef>
              <a:spcAft>
                <a:spcPct val="0"/>
              </a:spcAft>
              <a:buClr>
                <a:schemeClr val="folHlink"/>
              </a:buClr>
              <a:buSzTx/>
              <a:buFont typeface="Wingdings" panose="05000000000000000000" pitchFamily="2" charset="2"/>
              <a:buNone/>
              <a:defRPr/>
            </a:pPr>
            <a:r>
              <a:rPr kumimoji="0" lang="zh-CN" altLang="en-US" sz="2800" b="1" i="0" u="none" strike="noStrike" kern="1200" cap="none" spc="0" normalizeH="0" baseline="0" noProof="1">
                <a:ln>
                  <a:noFill/>
                </a:ln>
                <a:solidFill>
                  <a:srgbClr val="000099"/>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rPr>
              <a:t>差系数</a:t>
            </a:r>
          </a:p>
        </p:txBody>
      </p:sp>
      <p:sp>
        <p:nvSpPr>
          <p:cNvPr id="1490951" name="矩形 1490950"/>
          <p:cNvSpPr/>
          <p:nvPr/>
        </p:nvSpPr>
        <p:spPr>
          <a:xfrm>
            <a:off x="252413" y="950913"/>
            <a:ext cx="1060450" cy="1030287"/>
          </a:xfrm>
          <a:prstGeom prst="rect">
            <a:avLst/>
          </a:prstGeom>
          <a:noFill/>
          <a:ln w="9525">
            <a:noFill/>
          </a:ln>
        </p:spPr>
        <p:txBody>
          <a:bodyPr anchor="ctr" anchorCtr="0"/>
          <a:lstStyle/>
          <a:p>
            <a:pPr algn="ctr" eaLnBrk="0" hangingPunct="0">
              <a:spcBef>
                <a:spcPct val="10000"/>
              </a:spcBef>
            </a:pPr>
            <a:r>
              <a:rPr lang="zh-CN" altLang="en-US" sz="2800" dirty="0">
                <a:solidFill>
                  <a:schemeClr val="tx1"/>
                </a:solidFill>
                <a:latin typeface="Arial" panose="020B0604020202020204" pitchFamily="34" charset="0"/>
              </a:rPr>
              <a:t>系统</a:t>
            </a:r>
          </a:p>
          <a:p>
            <a:pPr algn="ctr" eaLnBrk="0" hangingPunct="0">
              <a:spcBef>
                <a:spcPct val="10000"/>
              </a:spcBef>
            </a:pPr>
            <a:r>
              <a:rPr lang="zh-CN" altLang="en-US" sz="2800" dirty="0">
                <a:solidFill>
                  <a:schemeClr val="tx1"/>
                </a:solidFill>
                <a:latin typeface="Arial" panose="020B0604020202020204" pitchFamily="34" charset="0"/>
              </a:rPr>
              <a:t>型别</a:t>
            </a:r>
          </a:p>
        </p:txBody>
      </p:sp>
      <p:sp>
        <p:nvSpPr>
          <p:cNvPr id="73736" name="直接连接符 1490951"/>
          <p:cNvSpPr/>
          <p:nvPr/>
        </p:nvSpPr>
        <p:spPr>
          <a:xfrm>
            <a:off x="290513" y="950913"/>
            <a:ext cx="0" cy="1030287"/>
          </a:xfrm>
          <a:prstGeom prst="line">
            <a:avLst/>
          </a:prstGeom>
          <a:ln w="28575">
            <a:noFill/>
          </a:ln>
        </p:spPr>
      </p:sp>
      <p:sp>
        <p:nvSpPr>
          <p:cNvPr id="73737" name="直接连接符 1490952"/>
          <p:cNvSpPr/>
          <p:nvPr/>
        </p:nvSpPr>
        <p:spPr>
          <a:xfrm>
            <a:off x="1423988" y="950913"/>
            <a:ext cx="0" cy="1030287"/>
          </a:xfrm>
          <a:prstGeom prst="line">
            <a:avLst/>
          </a:prstGeom>
          <a:ln w="12700">
            <a:noFill/>
          </a:ln>
        </p:spPr>
      </p:sp>
      <p:sp>
        <p:nvSpPr>
          <p:cNvPr id="73738" name="直接连接符 1490953"/>
          <p:cNvSpPr/>
          <p:nvPr/>
        </p:nvSpPr>
        <p:spPr>
          <a:xfrm>
            <a:off x="3802063" y="950913"/>
            <a:ext cx="0" cy="1030287"/>
          </a:xfrm>
          <a:prstGeom prst="line">
            <a:avLst/>
          </a:prstGeom>
          <a:ln w="12700">
            <a:noFill/>
          </a:ln>
        </p:spPr>
      </p:sp>
      <p:sp>
        <p:nvSpPr>
          <p:cNvPr id="73739" name="直接连接符 1490954"/>
          <p:cNvSpPr/>
          <p:nvPr/>
        </p:nvSpPr>
        <p:spPr>
          <a:xfrm>
            <a:off x="5667375" y="950913"/>
            <a:ext cx="0" cy="1030287"/>
          </a:xfrm>
          <a:prstGeom prst="line">
            <a:avLst/>
          </a:prstGeom>
          <a:ln w="12700">
            <a:noFill/>
          </a:ln>
        </p:spPr>
      </p:sp>
      <p:sp>
        <p:nvSpPr>
          <p:cNvPr id="73740" name="直接连接符 1490955"/>
          <p:cNvSpPr/>
          <p:nvPr/>
        </p:nvSpPr>
        <p:spPr>
          <a:xfrm>
            <a:off x="7208838" y="950913"/>
            <a:ext cx="0" cy="1030287"/>
          </a:xfrm>
          <a:prstGeom prst="line">
            <a:avLst/>
          </a:prstGeom>
          <a:ln w="12700">
            <a:noFill/>
          </a:ln>
        </p:spPr>
      </p:sp>
      <p:sp>
        <p:nvSpPr>
          <p:cNvPr id="1490957" name="直接连接符 1490956"/>
          <p:cNvSpPr/>
          <p:nvPr/>
        </p:nvSpPr>
        <p:spPr>
          <a:xfrm>
            <a:off x="290513" y="858838"/>
            <a:ext cx="8853487" cy="0"/>
          </a:xfrm>
          <a:prstGeom prst="line">
            <a:avLst/>
          </a:prstGeom>
          <a:ln w="38100" cap="sq" cmpd="sng">
            <a:solidFill>
              <a:schemeClr val="tx1"/>
            </a:solidFill>
            <a:prstDash val="solid"/>
            <a:headEnd type="none" w="med" len="med"/>
            <a:tailEnd type="none" w="med" len="med"/>
          </a:ln>
        </p:spPr>
      </p:sp>
      <p:sp>
        <p:nvSpPr>
          <p:cNvPr id="1490958" name="矩形 1490957"/>
          <p:cNvSpPr/>
          <p:nvPr/>
        </p:nvSpPr>
        <p:spPr>
          <a:xfrm>
            <a:off x="7377113" y="2073275"/>
            <a:ext cx="1620838" cy="66833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ss</a:t>
            </a: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=C</a:t>
            </a:r>
            <a:r>
              <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t>
            </a:r>
            <a:endPar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59" name="矩形 1490958"/>
          <p:cNvSpPr/>
          <p:nvPr/>
        </p:nvSpPr>
        <p:spPr>
          <a:xfrm>
            <a:off x="5776913" y="2073275"/>
            <a:ext cx="1541462" cy="668338"/>
          </a:xfrm>
          <a:prstGeom prst="rect">
            <a:avLst/>
          </a:prstGeom>
          <a:noFill/>
          <a:ln w="9525">
            <a:noFill/>
          </a:ln>
        </p:spPr>
        <p:txBody>
          <a:bodyPr anchor="ctr" anchorCtr="0"/>
          <a:lstStyle/>
          <a:p>
            <a:pPr algn="ctr" fontAlgn="ctr">
              <a:spcBef>
                <a:spcPct val="20000"/>
              </a:spcBef>
              <a:buClr>
                <a:schemeClr val="folHlink"/>
              </a:buClr>
            </a:pPr>
            <a:r>
              <a:rPr lang="en-US" altLang="zh-CN" sz="2400" i="1" dirty="0">
                <a:solidFill>
                  <a:schemeClr val="tx1"/>
                </a:solidFill>
                <a:latin typeface="Times New Roman" panose="02020603050405020304" pitchFamily="18" charset="0"/>
              </a:rPr>
              <a:t>e</a:t>
            </a:r>
            <a:r>
              <a:rPr lang="en-US" altLang="zh-CN" sz="2400" i="1" baseline="-30000" dirty="0">
                <a:solidFill>
                  <a:schemeClr val="tx1"/>
                </a:solidFill>
                <a:latin typeface="Times New Roman" panose="02020603050405020304" pitchFamily="18" charset="0"/>
              </a:rPr>
              <a:t>ss</a:t>
            </a:r>
            <a:r>
              <a:rPr lang="en-US" altLang="zh-CN" sz="2400" i="1" dirty="0">
                <a:solidFill>
                  <a:schemeClr val="tx1"/>
                </a:solidFill>
                <a:latin typeface="Times New Roman" panose="02020603050405020304" pitchFamily="18" charset="0"/>
              </a:rPr>
              <a:t>=B</a:t>
            </a:r>
            <a:r>
              <a:rPr lang="en-US" altLang="zh-CN" sz="2400" dirty="0">
                <a:solidFill>
                  <a:schemeClr val="tx1"/>
                </a:solidFill>
                <a:latin typeface="Times New Roman" panose="02020603050405020304" pitchFamily="18" charset="0"/>
              </a:rPr>
              <a:t>/</a:t>
            </a:r>
            <a:r>
              <a:rPr lang="en-US" altLang="zh-CN" sz="2400" i="1" dirty="0">
                <a:solidFill>
                  <a:schemeClr val="tx1"/>
                </a:solidFill>
                <a:latin typeface="Times New Roman" panose="02020603050405020304" pitchFamily="18" charset="0"/>
              </a:rPr>
              <a:t>K</a:t>
            </a:r>
            <a:r>
              <a:rPr lang="en-US" altLang="zh-CN" sz="2400" i="1" baseline="-30000" dirty="0">
                <a:solidFill>
                  <a:schemeClr val="tx1"/>
                </a:solidFill>
                <a:latin typeface="Times New Roman" panose="02020603050405020304" pitchFamily="18" charset="0"/>
              </a:rPr>
              <a:t>v</a:t>
            </a:r>
            <a:r>
              <a:rPr lang="en-US" altLang="zh-CN" sz="2400" i="1" dirty="0">
                <a:solidFill>
                  <a:schemeClr val="tx1"/>
                </a:solidFill>
                <a:latin typeface="Times New Roman" panose="02020603050405020304" pitchFamily="18" charset="0"/>
              </a:rPr>
              <a:t> </a:t>
            </a:r>
          </a:p>
        </p:txBody>
      </p:sp>
      <p:sp>
        <p:nvSpPr>
          <p:cNvPr id="1490960" name="矩形 1490959"/>
          <p:cNvSpPr/>
          <p:nvPr/>
        </p:nvSpPr>
        <p:spPr>
          <a:xfrm>
            <a:off x="3492500" y="2060575"/>
            <a:ext cx="2189163" cy="68103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4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2400" b="1" i="1" u="none" strike="noStrike" kern="1200" cap="none" spc="0" normalizeH="0" baseline="-3000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ss</a:t>
            </a:r>
            <a:r>
              <a:rPr kumimoji="0" lang="en-US" altLang="zh-CN" sz="24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a:t>
            </a:r>
            <a:r>
              <a:rPr kumimoji="0" lang="en-US" altLang="zh-CN" sz="24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/(1+ </a:t>
            </a:r>
            <a:r>
              <a:rPr kumimoji="0" lang="en-US" altLang="zh-CN" sz="24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400" b="1" i="1" u="none" strike="noStrike" kern="1200" cap="none" spc="0" normalizeH="0" baseline="-3000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p </a:t>
            </a:r>
            <a:r>
              <a:rPr kumimoji="0" lang="en-US" altLang="zh-CN" sz="24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4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t>
            </a:r>
            <a:endParaRPr kumimoji="0" lang="en-US" altLang="zh-CN" sz="24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61" name="矩形 1490960"/>
          <p:cNvSpPr/>
          <p:nvPr/>
        </p:nvSpPr>
        <p:spPr>
          <a:xfrm>
            <a:off x="1114425" y="2093913"/>
            <a:ext cx="2435225" cy="619125"/>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p       </a:t>
            </a: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v      </a:t>
            </a: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62" name="矩形 1490961"/>
          <p:cNvSpPr/>
          <p:nvPr/>
        </p:nvSpPr>
        <p:spPr>
          <a:xfrm>
            <a:off x="179388" y="2093913"/>
            <a:ext cx="1060450" cy="668337"/>
          </a:xfrm>
          <a:prstGeom prst="rect">
            <a:avLst/>
          </a:prstGeom>
          <a:noFill/>
          <a:ln w="9525">
            <a:noFill/>
          </a:ln>
        </p:spPr>
        <p:txBody>
          <a:bodyPr anchor="ctr" anchorCtr="0"/>
          <a:lstStyle/>
          <a:p>
            <a:pPr algn="ctr" eaLnBrk="0" hangingPunct="0"/>
            <a:r>
              <a:rPr lang="en-US" altLang="zh-CN" sz="2800" i="1" dirty="0">
                <a:solidFill>
                  <a:schemeClr val="tx1"/>
                </a:solidFill>
                <a:latin typeface="Times New Roman" panose="02020603050405020304" pitchFamily="18" charset="0"/>
              </a:rPr>
              <a:t>υ</a:t>
            </a:r>
            <a:endParaRPr lang="en-US" altLang="zh-CN" sz="2800" dirty="0">
              <a:solidFill>
                <a:schemeClr val="tx1"/>
              </a:solidFill>
              <a:latin typeface="Times New Roman" panose="02020603050405020304" pitchFamily="18" charset="0"/>
            </a:endParaRPr>
          </a:p>
        </p:txBody>
      </p:sp>
      <p:sp>
        <p:nvSpPr>
          <p:cNvPr id="1490963" name="直接连接符 1490962"/>
          <p:cNvSpPr/>
          <p:nvPr/>
        </p:nvSpPr>
        <p:spPr>
          <a:xfrm>
            <a:off x="233363" y="1989138"/>
            <a:ext cx="8910637" cy="0"/>
          </a:xfrm>
          <a:prstGeom prst="line">
            <a:avLst/>
          </a:prstGeom>
          <a:ln w="38100" cap="sq" cmpd="sng">
            <a:solidFill>
              <a:schemeClr val="tx1"/>
            </a:solidFill>
            <a:prstDash val="solid"/>
            <a:headEnd type="none" w="med" len="med"/>
            <a:tailEnd type="none" w="med" len="med"/>
          </a:ln>
        </p:spPr>
      </p:sp>
      <p:sp>
        <p:nvSpPr>
          <p:cNvPr id="1490964" name="直接连接符 1490963"/>
          <p:cNvSpPr/>
          <p:nvPr/>
        </p:nvSpPr>
        <p:spPr>
          <a:xfrm>
            <a:off x="228600" y="2886075"/>
            <a:ext cx="8915400" cy="0"/>
          </a:xfrm>
          <a:prstGeom prst="line">
            <a:avLst/>
          </a:prstGeom>
          <a:ln w="38100" cap="sq" cmpd="sng">
            <a:solidFill>
              <a:schemeClr val="tx1"/>
            </a:solidFill>
            <a:prstDash val="solid"/>
            <a:headEnd type="none" w="med" len="med"/>
            <a:tailEnd type="none" w="med" len="med"/>
          </a:ln>
        </p:spPr>
      </p:sp>
      <p:sp>
        <p:nvSpPr>
          <p:cNvPr id="1490965" name="矩形 1490964"/>
          <p:cNvSpPr/>
          <p:nvPr/>
        </p:nvSpPr>
        <p:spPr>
          <a:xfrm>
            <a:off x="7289800" y="2925763"/>
            <a:ext cx="1620838" cy="668338"/>
          </a:xfrm>
          <a:prstGeom prst="rect">
            <a:avLst/>
          </a:prstGeom>
          <a:noFill/>
          <a:ln w="9525">
            <a:noFill/>
          </a:ln>
        </p:spPr>
        <p:txBody>
          <a:bodyPr anchor="ct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490966" name="矩形 1490965"/>
          <p:cNvSpPr/>
          <p:nvPr/>
        </p:nvSpPr>
        <p:spPr>
          <a:xfrm>
            <a:off x="5776913" y="2925763"/>
            <a:ext cx="1541462" cy="668337"/>
          </a:xfrm>
          <a:prstGeom prst="rect">
            <a:avLst/>
          </a:prstGeom>
          <a:noFill/>
          <a:ln w="9525">
            <a:noFill/>
          </a:ln>
        </p:spPr>
        <p:txBody>
          <a:bodyPr anchor="ctr" anchorCtr="0"/>
          <a:lstStyle/>
          <a:p>
            <a:pPr algn="ctr" fontAlgn="ctr">
              <a:spcBef>
                <a:spcPct val="20000"/>
              </a:spcBef>
              <a:buClr>
                <a:schemeClr val="folHlink"/>
              </a:buClr>
            </a:pPr>
            <a:r>
              <a:rPr lang="en-US" altLang="zh-CN" sz="2800" dirty="0">
                <a:solidFill>
                  <a:schemeClr val="tx1"/>
                </a:solidFill>
                <a:latin typeface="Times New Roman" panose="02020603050405020304" pitchFamily="18" charset="0"/>
              </a:rPr>
              <a:t>∞</a:t>
            </a:r>
            <a:endParaRPr lang="en-US" altLang="zh-CN" sz="2800" i="1" dirty="0">
              <a:solidFill>
                <a:schemeClr val="tx1"/>
              </a:solidFill>
              <a:latin typeface="Times New Roman" panose="02020603050405020304" pitchFamily="18" charset="0"/>
            </a:endParaRPr>
          </a:p>
        </p:txBody>
      </p:sp>
      <p:sp>
        <p:nvSpPr>
          <p:cNvPr id="1490967" name="矩形 1490966"/>
          <p:cNvSpPr/>
          <p:nvPr/>
        </p:nvSpPr>
        <p:spPr>
          <a:xfrm>
            <a:off x="3492500" y="2974975"/>
            <a:ext cx="2189163" cy="68103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/(1+ </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t>
            </a:r>
            <a:endPar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68" name="矩形 1490967"/>
          <p:cNvSpPr/>
          <p:nvPr/>
        </p:nvSpPr>
        <p:spPr>
          <a:xfrm>
            <a:off x="1114425" y="3025775"/>
            <a:ext cx="2435225" cy="619125"/>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K</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800" b="1" i="0"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3000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kern="1200" cap="none" spc="0" normalizeH="0" baseline="0" noProof="1">
              <a:ln>
                <a:noFill/>
              </a:ln>
              <a:solidFill>
                <a:srgbClr val="000099"/>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69" name="矩形 1490968"/>
          <p:cNvSpPr/>
          <p:nvPr/>
        </p:nvSpPr>
        <p:spPr>
          <a:xfrm>
            <a:off x="247650" y="2987675"/>
            <a:ext cx="1060450" cy="668338"/>
          </a:xfrm>
          <a:prstGeom prst="rect">
            <a:avLst/>
          </a:prstGeom>
          <a:noFill/>
          <a:ln w="9525">
            <a:noFill/>
          </a:ln>
        </p:spPr>
        <p:txBody>
          <a:bodyPr anchor="ctr" anchorCtr="0"/>
          <a:lstStyle/>
          <a:p>
            <a:pPr algn="ctr" eaLnBrk="0" hangingPunct="0"/>
            <a:r>
              <a:rPr lang="en-US" altLang="zh-CN" sz="2800" dirty="0">
                <a:solidFill>
                  <a:schemeClr val="tx1"/>
                </a:solidFill>
                <a:latin typeface="Times New Roman" panose="02020603050405020304" pitchFamily="18" charset="0"/>
              </a:rPr>
              <a:t>0</a:t>
            </a:r>
          </a:p>
        </p:txBody>
      </p:sp>
      <p:sp>
        <p:nvSpPr>
          <p:cNvPr id="1490970" name="直接连接符 1490969"/>
          <p:cNvSpPr/>
          <p:nvPr/>
        </p:nvSpPr>
        <p:spPr>
          <a:xfrm>
            <a:off x="285750" y="3716338"/>
            <a:ext cx="8858250" cy="0"/>
          </a:xfrm>
          <a:prstGeom prst="line">
            <a:avLst/>
          </a:prstGeom>
          <a:ln w="38100" cap="sq" cmpd="sng">
            <a:solidFill>
              <a:schemeClr val="tx1"/>
            </a:solidFill>
            <a:prstDash val="solid"/>
            <a:headEnd type="none" w="med" len="med"/>
            <a:tailEnd type="none" w="med" len="med"/>
          </a:ln>
        </p:spPr>
      </p:sp>
      <p:sp>
        <p:nvSpPr>
          <p:cNvPr id="1490971" name="矩形 1490970"/>
          <p:cNvSpPr/>
          <p:nvPr/>
        </p:nvSpPr>
        <p:spPr>
          <a:xfrm>
            <a:off x="7270750" y="3808413"/>
            <a:ext cx="1620838" cy="668338"/>
          </a:xfrm>
          <a:prstGeom prst="rect">
            <a:avLst/>
          </a:prstGeom>
          <a:noFill/>
          <a:ln w="9525">
            <a:noFill/>
          </a:ln>
        </p:spPr>
        <p:txBody>
          <a:bodyPr anchor="ct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490972" name="直接连接符 1490971"/>
          <p:cNvSpPr/>
          <p:nvPr/>
        </p:nvSpPr>
        <p:spPr>
          <a:xfrm>
            <a:off x="304800" y="4592638"/>
            <a:ext cx="8858250" cy="0"/>
          </a:xfrm>
          <a:prstGeom prst="line">
            <a:avLst/>
          </a:prstGeom>
          <a:ln w="38100" cap="sq" cmpd="sng">
            <a:solidFill>
              <a:schemeClr val="tx1"/>
            </a:solidFill>
            <a:prstDash val="solid"/>
            <a:headEnd type="none" w="med" len="med"/>
            <a:tailEnd type="none" w="med" len="med"/>
          </a:ln>
        </p:spPr>
      </p:sp>
      <p:sp>
        <p:nvSpPr>
          <p:cNvPr id="1490973" name="矩形 1490972"/>
          <p:cNvSpPr/>
          <p:nvPr/>
        </p:nvSpPr>
        <p:spPr>
          <a:xfrm>
            <a:off x="7289800" y="4705350"/>
            <a:ext cx="1620838" cy="668338"/>
          </a:xfrm>
          <a:prstGeom prst="rect">
            <a:avLst/>
          </a:prstGeom>
          <a:noFill/>
          <a:ln w="9525">
            <a:noFill/>
          </a:ln>
        </p:spPr>
        <p:txBody>
          <a:bodyPr anchor="ct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1"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C</a:t>
            </a:r>
            <a:r>
              <a:rPr kumimoji="0" lang="en-US"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K</a:t>
            </a:r>
            <a:r>
              <a:rPr kumimoji="0" lang="en-US"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490974" name="矩形 1490973"/>
          <p:cNvSpPr/>
          <p:nvPr/>
        </p:nvSpPr>
        <p:spPr>
          <a:xfrm>
            <a:off x="5748338" y="4705350"/>
            <a:ext cx="1541462" cy="668338"/>
          </a:xfrm>
          <a:prstGeom prst="rect">
            <a:avLst/>
          </a:prstGeom>
          <a:noFill/>
          <a:ln w="9525">
            <a:noFill/>
          </a:ln>
        </p:spPr>
        <p:txBody>
          <a:bodyPr anchor="ctr" anchorCtr="0"/>
          <a:lstStyle/>
          <a:p>
            <a:pPr algn="ctr" fontAlgn="ctr">
              <a:spcBef>
                <a:spcPct val="20000"/>
              </a:spcBef>
              <a:buClr>
                <a:schemeClr val="folHlink"/>
              </a:buClr>
            </a:pPr>
            <a:r>
              <a:rPr lang="en-US" altLang="zh-CN" sz="2800" dirty="0">
                <a:solidFill>
                  <a:schemeClr val="tx1"/>
                </a:solidFill>
                <a:latin typeface="Times New Roman" panose="02020603050405020304" pitchFamily="18" charset="0"/>
              </a:rPr>
              <a:t>0</a:t>
            </a:r>
            <a:endParaRPr lang="en-US" altLang="zh-CN" sz="2800" i="1" dirty="0">
              <a:solidFill>
                <a:schemeClr val="tx1"/>
              </a:solidFill>
              <a:latin typeface="Times New Roman" panose="02020603050405020304" pitchFamily="18" charset="0"/>
            </a:endParaRPr>
          </a:p>
        </p:txBody>
      </p:sp>
      <p:sp>
        <p:nvSpPr>
          <p:cNvPr id="1490975" name="矩形 1490974"/>
          <p:cNvSpPr/>
          <p:nvPr/>
        </p:nvSpPr>
        <p:spPr>
          <a:xfrm>
            <a:off x="3478213" y="4673600"/>
            <a:ext cx="2189163" cy="68103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0</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t>
            </a:r>
            <a:endPar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76" name="矩形 1490975"/>
          <p:cNvSpPr/>
          <p:nvPr/>
        </p:nvSpPr>
        <p:spPr>
          <a:xfrm>
            <a:off x="1152525" y="4724400"/>
            <a:ext cx="2435225" cy="619125"/>
          </a:xfrm>
          <a:prstGeom prst="rect">
            <a:avLst/>
          </a:prstGeom>
          <a:noFill/>
          <a:ln w="9525">
            <a:noFill/>
          </a:ln>
        </p:spPr>
        <p:txBody>
          <a:bodyPr anchor="ct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zh-CN" sz="2800" b="1" i="1" u="none" strike="noStrike" kern="1200" cap="none" spc="0" normalizeH="0" baseline="-3000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800" b="1" i="0" u="none" strike="noStrike" kern="1200" cap="none" spc="0" normalizeH="0" baseline="-3000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800" b="1" i="1" u="none" strike="noStrike" kern="1200" cap="none" spc="0" normalizeH="0" baseline="-3000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p>
        </p:txBody>
      </p:sp>
      <p:sp>
        <p:nvSpPr>
          <p:cNvPr id="1490977" name="矩形 1490976"/>
          <p:cNvSpPr/>
          <p:nvPr/>
        </p:nvSpPr>
        <p:spPr>
          <a:xfrm>
            <a:off x="228600" y="4686300"/>
            <a:ext cx="1060450" cy="668338"/>
          </a:xfrm>
          <a:prstGeom prst="rect">
            <a:avLst/>
          </a:prstGeom>
          <a:noFill/>
          <a:ln w="9525">
            <a:noFill/>
          </a:ln>
        </p:spPr>
        <p:txBody>
          <a:bodyPr anchor="ctr" anchorCtr="0"/>
          <a:lstStyle/>
          <a:p>
            <a:pPr algn="ctr" eaLnBrk="0" hangingPunct="0"/>
            <a:r>
              <a:rPr lang="en-US" altLang="zh-CN" sz="2800" dirty="0">
                <a:solidFill>
                  <a:schemeClr val="tx1"/>
                </a:solidFill>
                <a:latin typeface="Times New Roman" panose="02020603050405020304" pitchFamily="18" charset="0"/>
              </a:rPr>
              <a:t>2</a:t>
            </a:r>
          </a:p>
        </p:txBody>
      </p:sp>
      <p:sp>
        <p:nvSpPr>
          <p:cNvPr id="1490978" name="直接连接符 1490977"/>
          <p:cNvSpPr/>
          <p:nvPr/>
        </p:nvSpPr>
        <p:spPr>
          <a:xfrm>
            <a:off x="323850" y="5373688"/>
            <a:ext cx="8858250" cy="0"/>
          </a:xfrm>
          <a:prstGeom prst="line">
            <a:avLst/>
          </a:prstGeom>
          <a:ln w="38100" cap="sq" cmpd="sng">
            <a:solidFill>
              <a:schemeClr val="tx1"/>
            </a:solidFill>
            <a:prstDash val="solid"/>
            <a:headEnd type="none" w="med" len="med"/>
            <a:tailEnd type="none" w="med" len="med"/>
          </a:ln>
        </p:spPr>
      </p:sp>
      <p:sp>
        <p:nvSpPr>
          <p:cNvPr id="1490979" name="矩形 1490978"/>
          <p:cNvSpPr/>
          <p:nvPr/>
        </p:nvSpPr>
        <p:spPr>
          <a:xfrm>
            <a:off x="5776913" y="3789363"/>
            <a:ext cx="1541462" cy="668337"/>
          </a:xfrm>
          <a:prstGeom prst="rect">
            <a:avLst/>
          </a:prstGeom>
          <a:noFill/>
          <a:ln w="9525">
            <a:noFill/>
          </a:ln>
        </p:spPr>
        <p:txBody>
          <a:bodyPr anchor="ctr" anchorCtr="0"/>
          <a:lstStyle/>
          <a:p>
            <a:pPr algn="ctr" fontAlgn="ctr">
              <a:spcBef>
                <a:spcPct val="20000"/>
              </a:spcBef>
              <a:buClr>
                <a:schemeClr val="folHlink"/>
              </a:buClr>
            </a:pPr>
            <a:r>
              <a:rPr lang="en-US" altLang="zh-CN" sz="2800" i="1" dirty="0">
                <a:solidFill>
                  <a:schemeClr val="tx1"/>
                </a:solidFill>
                <a:latin typeface="Times New Roman" panose="02020603050405020304" pitchFamily="18" charset="0"/>
              </a:rPr>
              <a:t>B</a:t>
            </a:r>
            <a:r>
              <a:rPr lang="en-US" altLang="zh-CN" sz="2800" dirty="0">
                <a:solidFill>
                  <a:schemeClr val="tx1"/>
                </a:solidFill>
                <a:latin typeface="Times New Roman" panose="02020603050405020304" pitchFamily="18" charset="0"/>
              </a:rPr>
              <a:t>/</a:t>
            </a:r>
            <a:r>
              <a:rPr lang="en-US" altLang="zh-CN" sz="2800" i="1" dirty="0">
                <a:solidFill>
                  <a:schemeClr val="tx1"/>
                </a:solidFill>
                <a:latin typeface="Times New Roman" panose="02020603050405020304" pitchFamily="18" charset="0"/>
              </a:rPr>
              <a:t>K</a:t>
            </a:r>
            <a:r>
              <a:rPr lang="en-US" altLang="zh-CN" sz="2800" dirty="0">
                <a:solidFill>
                  <a:schemeClr val="tx1"/>
                </a:solidFill>
                <a:latin typeface="Times New Roman" panose="02020603050405020304" pitchFamily="18" charset="0"/>
              </a:rPr>
              <a:t> </a:t>
            </a:r>
            <a:endParaRPr lang="en-US" altLang="zh-CN" sz="2800" dirty="0">
              <a:solidFill>
                <a:schemeClr val="tx1"/>
              </a:solidFill>
              <a:latin typeface="Times New Roman" panose="02020603050405020304" pitchFamily="18" charset="0"/>
              <a:ea typeface="Times New Roman" panose="02020603050405020304" pitchFamily="18" charset="0"/>
            </a:endParaRPr>
          </a:p>
        </p:txBody>
      </p:sp>
      <p:sp>
        <p:nvSpPr>
          <p:cNvPr id="1490980" name="矩形 1490979"/>
          <p:cNvSpPr/>
          <p:nvPr/>
        </p:nvSpPr>
        <p:spPr>
          <a:xfrm>
            <a:off x="3492500" y="3757613"/>
            <a:ext cx="2189163" cy="681038"/>
          </a:xfrm>
          <a:prstGeom prst="rect">
            <a:avLst/>
          </a:prstGeom>
          <a:noFill/>
          <a:ln w="9525">
            <a:noFill/>
          </a:ln>
        </p:spPr>
        <p:txBody>
          <a:bodyPr anchor="ctr"/>
          <a:lstStyle>
            <a:lvl1pPr marL="342900" lvl="0" indent="-3429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115000"/>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marR="0" lvl="0" indent="0" algn="ctr" defTabSz="914400" rtl="0" eaLnBrk="1" fontAlgn="ctr"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0</a:t>
            </a:r>
            <a:r>
              <a:rPr kumimoji="0" lang="en-US" altLang="zh-CN" sz="2800" b="1" i="1"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rPr>
              <a:t> </a:t>
            </a:r>
            <a:endParaRPr kumimoji="0" lang="en-US" altLang="zh-CN" sz="2800" b="1" i="0" u="none" strike="noStrike" kern="1200" cap="none" spc="0" normalizeH="0" baseline="0" noProof="1">
              <a:ln>
                <a:no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endParaRPr>
          </a:p>
        </p:txBody>
      </p:sp>
      <p:sp>
        <p:nvSpPr>
          <p:cNvPr id="1490981" name="矩形 1490980"/>
          <p:cNvSpPr/>
          <p:nvPr/>
        </p:nvSpPr>
        <p:spPr>
          <a:xfrm>
            <a:off x="1114425" y="3808413"/>
            <a:ext cx="2435225" cy="619125"/>
          </a:xfrm>
          <a:prstGeom prst="rect">
            <a:avLst/>
          </a:prstGeom>
          <a:noFill/>
          <a:ln w="9525">
            <a:noFill/>
          </a:ln>
        </p:spPr>
        <p:txBody>
          <a:bodyPr anchor="ct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defRPr/>
            </a:pPr>
            <a:r>
              <a:rPr kumimoji="0" lang="zh-CN"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zh-CN" sz="2800" b="1" i="1" u="none" strike="noStrike" kern="1200" cap="none" spc="0" normalizeH="0" baseline="-3000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1"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800" b="1" i="1" u="none" strike="noStrike" kern="1200" cap="none" spc="0" normalizeH="0" baseline="-3000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1">
                <a:ln>
                  <a:noFill/>
                </a:ln>
                <a:solidFill>
                  <a:srgbClr val="000099"/>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1490982" name="矩形 1490981"/>
          <p:cNvSpPr/>
          <p:nvPr/>
        </p:nvSpPr>
        <p:spPr>
          <a:xfrm>
            <a:off x="228600" y="3808413"/>
            <a:ext cx="1060450" cy="668337"/>
          </a:xfrm>
          <a:prstGeom prst="rect">
            <a:avLst/>
          </a:prstGeom>
          <a:noFill/>
          <a:ln w="9525">
            <a:noFill/>
          </a:ln>
        </p:spPr>
        <p:txBody>
          <a:bodyPr anchor="ctr" anchorCtr="0"/>
          <a:lstStyle/>
          <a:p>
            <a:pPr algn="ctr" eaLnBrk="0" hangingPunct="0"/>
            <a:r>
              <a:rPr lang="en-US" altLang="zh-CN" sz="2800" dirty="0">
                <a:solidFill>
                  <a:schemeClr val="tx1"/>
                </a:solidFill>
                <a:latin typeface="Times New Roman" panose="02020603050405020304" pitchFamily="18" charset="0"/>
              </a:rPr>
              <a:t>1</a:t>
            </a:r>
          </a:p>
        </p:txBody>
      </p:sp>
      <p:sp>
        <p:nvSpPr>
          <p:cNvPr id="1490983" name="直接连接符 1490982"/>
          <p:cNvSpPr/>
          <p:nvPr/>
        </p:nvSpPr>
        <p:spPr>
          <a:xfrm>
            <a:off x="1187450" y="836613"/>
            <a:ext cx="0" cy="4537075"/>
          </a:xfrm>
          <a:prstGeom prst="line">
            <a:avLst/>
          </a:prstGeom>
          <a:ln w="28575" cap="flat" cmpd="sng">
            <a:solidFill>
              <a:srgbClr val="FF0000"/>
            </a:solidFill>
            <a:prstDash val="solid"/>
            <a:headEnd type="none" w="med" len="med"/>
            <a:tailEnd type="none" w="med" len="med"/>
          </a:ln>
        </p:spPr>
      </p:sp>
      <p:sp>
        <p:nvSpPr>
          <p:cNvPr id="1490984" name="直接连接符 1490983"/>
          <p:cNvSpPr/>
          <p:nvPr/>
        </p:nvSpPr>
        <p:spPr>
          <a:xfrm>
            <a:off x="3563938" y="836613"/>
            <a:ext cx="0" cy="4537075"/>
          </a:xfrm>
          <a:prstGeom prst="line">
            <a:avLst/>
          </a:prstGeom>
          <a:ln w="28575" cap="flat" cmpd="sng">
            <a:solidFill>
              <a:schemeClr val="hlink"/>
            </a:solidFill>
            <a:prstDash val="solid"/>
            <a:headEnd type="none" w="med" len="med"/>
            <a:tailEnd type="none" w="med" len="med"/>
          </a:ln>
        </p:spPr>
      </p:sp>
      <p:sp>
        <p:nvSpPr>
          <p:cNvPr id="1490985" name="直接连接符 1490984"/>
          <p:cNvSpPr/>
          <p:nvPr/>
        </p:nvSpPr>
        <p:spPr>
          <a:xfrm>
            <a:off x="5795963" y="836613"/>
            <a:ext cx="0" cy="4537075"/>
          </a:xfrm>
          <a:prstGeom prst="line">
            <a:avLst/>
          </a:prstGeom>
          <a:ln w="28575" cap="flat" cmpd="sng">
            <a:solidFill>
              <a:srgbClr val="000099"/>
            </a:solidFill>
            <a:prstDash val="solid"/>
            <a:headEnd type="none" w="med" len="med"/>
            <a:tailEnd type="none" w="med" len="med"/>
          </a:ln>
        </p:spPr>
      </p:sp>
      <p:sp>
        <p:nvSpPr>
          <p:cNvPr id="1490986" name="直接连接符 1490985"/>
          <p:cNvSpPr/>
          <p:nvPr/>
        </p:nvSpPr>
        <p:spPr>
          <a:xfrm>
            <a:off x="7380288" y="836613"/>
            <a:ext cx="0" cy="4537075"/>
          </a:xfrm>
          <a:prstGeom prst="line">
            <a:avLst/>
          </a:prstGeom>
          <a:ln w="28575" cap="flat" cmpd="sng">
            <a:solidFill>
              <a:srgbClr val="FF0000"/>
            </a:solidFill>
            <a:prstDash val="solid"/>
            <a:headEnd type="none" w="med" len="med"/>
            <a:tailEnd type="none" w="med" len="med"/>
          </a:ln>
        </p:spPr>
      </p:sp>
      <p:sp>
        <p:nvSpPr>
          <p:cNvPr id="1490987" name="直接连接符 1490986"/>
          <p:cNvSpPr/>
          <p:nvPr/>
        </p:nvSpPr>
        <p:spPr>
          <a:xfrm>
            <a:off x="1908175" y="1989138"/>
            <a:ext cx="0" cy="3384550"/>
          </a:xfrm>
          <a:prstGeom prst="line">
            <a:avLst/>
          </a:prstGeom>
          <a:ln w="28575" cap="flat" cmpd="sng">
            <a:solidFill>
              <a:srgbClr val="FF00FF"/>
            </a:solidFill>
            <a:prstDash val="solid"/>
            <a:headEnd type="none" w="med" len="med"/>
            <a:tailEnd type="none" w="med" len="med"/>
          </a:ln>
        </p:spPr>
      </p:sp>
      <p:sp>
        <p:nvSpPr>
          <p:cNvPr id="1490988" name="直接连接符 1490987"/>
          <p:cNvSpPr/>
          <p:nvPr/>
        </p:nvSpPr>
        <p:spPr>
          <a:xfrm>
            <a:off x="2700338" y="1989138"/>
            <a:ext cx="0" cy="3384550"/>
          </a:xfrm>
          <a:prstGeom prst="line">
            <a:avLst/>
          </a:prstGeom>
          <a:ln w="28575" cap="flat" cmpd="sng">
            <a:solidFill>
              <a:srgbClr val="FF00FF"/>
            </a:solidFill>
            <a:prstDash val="solid"/>
            <a:headEnd type="none" w="med" len="med"/>
            <a:tailEnd type="none" w="med" len="med"/>
          </a:ln>
        </p:spPr>
      </p:sp>
    </p:spTree>
  </p:cSld>
  <p:clrMapOvr>
    <a:masterClrMapping/>
  </p:clrMapOvr>
  <p:transition spd="slow">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0946"/>
                                        </p:tgtEl>
                                        <p:attrNameLst>
                                          <p:attrName>style.visibility</p:attrName>
                                        </p:attrNameLst>
                                      </p:cBhvr>
                                      <p:to>
                                        <p:strVal val="visible"/>
                                      </p:to>
                                    </p:set>
                                    <p:anim calcmode="lin" valueType="num">
                                      <p:cBhvr additive="base">
                                        <p:cTn id="7" dur="500" fill="hold"/>
                                        <p:tgtEl>
                                          <p:spTgt spid="1490946"/>
                                        </p:tgtEl>
                                        <p:attrNameLst>
                                          <p:attrName>ppt_x</p:attrName>
                                        </p:attrNameLst>
                                      </p:cBhvr>
                                      <p:tavLst>
                                        <p:tav tm="0">
                                          <p:val>
                                            <p:strVal val="0-#ppt_w/2"/>
                                          </p:val>
                                        </p:tav>
                                        <p:tav tm="100000">
                                          <p:val>
                                            <p:strVal val="#ppt_x"/>
                                          </p:val>
                                        </p:tav>
                                      </p:tavLst>
                                    </p:anim>
                                    <p:anim calcmode="lin" valueType="num">
                                      <p:cBhvr additive="base">
                                        <p:cTn id="8" dur="500" fill="hold"/>
                                        <p:tgtEl>
                                          <p:spTgt spid="14909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90957"/>
                                        </p:tgtEl>
                                        <p:attrNameLst>
                                          <p:attrName>style.visibility</p:attrName>
                                        </p:attrNameLst>
                                      </p:cBhvr>
                                      <p:to>
                                        <p:strVal val="visible"/>
                                      </p:to>
                                    </p:set>
                                    <p:animEffect transition="in" filter="dissolve">
                                      <p:cBhvr>
                                        <p:cTn id="13" dur="500"/>
                                        <p:tgtEl>
                                          <p:spTgt spid="1490957"/>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490963"/>
                                        </p:tgtEl>
                                        <p:attrNameLst>
                                          <p:attrName>style.visibility</p:attrName>
                                        </p:attrNameLst>
                                      </p:cBhvr>
                                      <p:to>
                                        <p:strVal val="visible"/>
                                      </p:to>
                                    </p:set>
                                    <p:animEffect transition="in" filter="dissolve">
                                      <p:cBhvr>
                                        <p:cTn id="17" dur="500"/>
                                        <p:tgtEl>
                                          <p:spTgt spid="1490963"/>
                                        </p:tgtEl>
                                      </p:cBhvr>
                                    </p:animEffect>
                                  </p:childTnLst>
                                </p:cTn>
                              </p:par>
                            </p:childTnLst>
                          </p:cTn>
                        </p:par>
                        <p:par>
                          <p:cTn id="18" fill="hold">
                            <p:stCondLst>
                              <p:cond delay="1000"/>
                            </p:stCondLst>
                            <p:childTnLst>
                              <p:par>
                                <p:cTn id="19" presetID="9" presetClass="entr" presetSubtype="0" fill="hold" nodeType="afterEffect">
                                  <p:stCondLst>
                                    <p:cond delay="0"/>
                                  </p:stCondLst>
                                  <p:childTnLst>
                                    <p:set>
                                      <p:cBhvr>
                                        <p:cTn id="20" dur="1" fill="hold">
                                          <p:stCondLst>
                                            <p:cond delay="0"/>
                                          </p:stCondLst>
                                        </p:cTn>
                                        <p:tgtEl>
                                          <p:spTgt spid="1490964"/>
                                        </p:tgtEl>
                                        <p:attrNameLst>
                                          <p:attrName>style.visibility</p:attrName>
                                        </p:attrNameLst>
                                      </p:cBhvr>
                                      <p:to>
                                        <p:strVal val="visible"/>
                                      </p:to>
                                    </p:set>
                                    <p:animEffect transition="in" filter="dissolve">
                                      <p:cBhvr>
                                        <p:cTn id="21" dur="500"/>
                                        <p:tgtEl>
                                          <p:spTgt spid="1490964"/>
                                        </p:tgtEl>
                                      </p:cBhvr>
                                    </p:animEffect>
                                  </p:childTnLst>
                                </p:cTn>
                              </p:par>
                            </p:childTnLst>
                          </p:cTn>
                        </p:par>
                        <p:par>
                          <p:cTn id="22" fill="hold">
                            <p:stCondLst>
                              <p:cond delay="1500"/>
                            </p:stCondLst>
                            <p:childTnLst>
                              <p:par>
                                <p:cTn id="23" presetID="9" presetClass="entr" presetSubtype="0" fill="hold" nodeType="afterEffect">
                                  <p:stCondLst>
                                    <p:cond delay="0"/>
                                  </p:stCondLst>
                                  <p:childTnLst>
                                    <p:set>
                                      <p:cBhvr>
                                        <p:cTn id="24" dur="1" fill="hold">
                                          <p:stCondLst>
                                            <p:cond delay="0"/>
                                          </p:stCondLst>
                                        </p:cTn>
                                        <p:tgtEl>
                                          <p:spTgt spid="1490970"/>
                                        </p:tgtEl>
                                        <p:attrNameLst>
                                          <p:attrName>style.visibility</p:attrName>
                                        </p:attrNameLst>
                                      </p:cBhvr>
                                      <p:to>
                                        <p:strVal val="visible"/>
                                      </p:to>
                                    </p:set>
                                    <p:animEffect transition="in" filter="dissolve">
                                      <p:cBhvr>
                                        <p:cTn id="25" dur="500"/>
                                        <p:tgtEl>
                                          <p:spTgt spid="1490970"/>
                                        </p:tgtEl>
                                      </p:cBhvr>
                                    </p:animEffect>
                                  </p:childTnLst>
                                </p:cTn>
                              </p:par>
                            </p:childTnLst>
                          </p:cTn>
                        </p:par>
                        <p:par>
                          <p:cTn id="26" fill="hold">
                            <p:stCondLst>
                              <p:cond delay="2000"/>
                            </p:stCondLst>
                            <p:childTnLst>
                              <p:par>
                                <p:cTn id="27" presetID="9" presetClass="entr" presetSubtype="0" fill="hold" nodeType="afterEffect">
                                  <p:stCondLst>
                                    <p:cond delay="0"/>
                                  </p:stCondLst>
                                  <p:childTnLst>
                                    <p:set>
                                      <p:cBhvr>
                                        <p:cTn id="28" dur="1" fill="hold">
                                          <p:stCondLst>
                                            <p:cond delay="0"/>
                                          </p:stCondLst>
                                        </p:cTn>
                                        <p:tgtEl>
                                          <p:spTgt spid="1490972"/>
                                        </p:tgtEl>
                                        <p:attrNameLst>
                                          <p:attrName>style.visibility</p:attrName>
                                        </p:attrNameLst>
                                      </p:cBhvr>
                                      <p:to>
                                        <p:strVal val="visible"/>
                                      </p:to>
                                    </p:set>
                                    <p:animEffect transition="in" filter="dissolve">
                                      <p:cBhvr>
                                        <p:cTn id="29" dur="500"/>
                                        <p:tgtEl>
                                          <p:spTgt spid="1490972"/>
                                        </p:tgtEl>
                                      </p:cBhvr>
                                    </p:animEffect>
                                  </p:childTnLst>
                                </p:cTn>
                              </p:par>
                            </p:childTnLst>
                          </p:cTn>
                        </p:par>
                        <p:par>
                          <p:cTn id="30" fill="hold">
                            <p:stCondLst>
                              <p:cond delay="2500"/>
                            </p:stCondLst>
                            <p:childTnLst>
                              <p:par>
                                <p:cTn id="31" presetID="9" presetClass="entr" presetSubtype="0" fill="hold" nodeType="afterEffect">
                                  <p:stCondLst>
                                    <p:cond delay="0"/>
                                  </p:stCondLst>
                                  <p:childTnLst>
                                    <p:set>
                                      <p:cBhvr>
                                        <p:cTn id="32" dur="1" fill="hold">
                                          <p:stCondLst>
                                            <p:cond delay="0"/>
                                          </p:stCondLst>
                                        </p:cTn>
                                        <p:tgtEl>
                                          <p:spTgt spid="1490978"/>
                                        </p:tgtEl>
                                        <p:attrNameLst>
                                          <p:attrName>style.visibility</p:attrName>
                                        </p:attrNameLst>
                                      </p:cBhvr>
                                      <p:to>
                                        <p:strVal val="visible"/>
                                      </p:to>
                                    </p:set>
                                    <p:animEffect transition="in" filter="dissolve">
                                      <p:cBhvr>
                                        <p:cTn id="33" dur="500"/>
                                        <p:tgtEl>
                                          <p:spTgt spid="1490978"/>
                                        </p:tgtEl>
                                      </p:cBhvr>
                                    </p:animEffect>
                                  </p:childTnLst>
                                </p:cTn>
                              </p:par>
                            </p:childTnLst>
                          </p:cTn>
                        </p:par>
                        <p:par>
                          <p:cTn id="34" fill="hold">
                            <p:stCondLst>
                              <p:cond delay="3000"/>
                            </p:stCondLst>
                            <p:childTnLst>
                              <p:par>
                                <p:cTn id="35" presetID="10" presetClass="entr" presetSubtype="0" fill="hold" nodeType="afterEffect">
                                  <p:stCondLst>
                                    <p:cond delay="0"/>
                                  </p:stCondLst>
                                  <p:childTnLst>
                                    <p:set>
                                      <p:cBhvr>
                                        <p:cTn id="36" dur="1" fill="hold">
                                          <p:stCondLst>
                                            <p:cond delay="0"/>
                                          </p:stCondLst>
                                        </p:cTn>
                                        <p:tgtEl>
                                          <p:spTgt spid="1490983"/>
                                        </p:tgtEl>
                                        <p:attrNameLst>
                                          <p:attrName>style.visibility</p:attrName>
                                        </p:attrNameLst>
                                      </p:cBhvr>
                                      <p:to>
                                        <p:strVal val="visible"/>
                                      </p:to>
                                    </p:set>
                                    <p:animEffect transition="in" filter="fade">
                                      <p:cBhvr>
                                        <p:cTn id="37" dur="500"/>
                                        <p:tgtEl>
                                          <p:spTgt spid="1490983"/>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1490987"/>
                                        </p:tgtEl>
                                        <p:attrNameLst>
                                          <p:attrName>style.visibility</p:attrName>
                                        </p:attrNameLst>
                                      </p:cBhvr>
                                      <p:to>
                                        <p:strVal val="visible"/>
                                      </p:to>
                                    </p:set>
                                    <p:animEffect transition="in" filter="fade">
                                      <p:cBhvr>
                                        <p:cTn id="41" dur="500"/>
                                        <p:tgtEl>
                                          <p:spTgt spid="1490987"/>
                                        </p:tgtEl>
                                      </p:cBhvr>
                                    </p:animEffect>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1490988"/>
                                        </p:tgtEl>
                                        <p:attrNameLst>
                                          <p:attrName>style.visibility</p:attrName>
                                        </p:attrNameLst>
                                      </p:cBhvr>
                                      <p:to>
                                        <p:strVal val="visible"/>
                                      </p:to>
                                    </p:set>
                                    <p:animEffect transition="in" filter="fade">
                                      <p:cBhvr>
                                        <p:cTn id="45" dur="500"/>
                                        <p:tgtEl>
                                          <p:spTgt spid="1490988"/>
                                        </p:tgtEl>
                                      </p:cBhvr>
                                    </p:animEffect>
                                  </p:childTnLst>
                                </p:cTn>
                              </p:par>
                            </p:childTnLst>
                          </p:cTn>
                        </p:par>
                        <p:par>
                          <p:cTn id="46" fill="hold">
                            <p:stCondLst>
                              <p:cond delay="4500"/>
                            </p:stCondLst>
                            <p:childTnLst>
                              <p:par>
                                <p:cTn id="47" presetID="10" presetClass="entr" presetSubtype="0" fill="hold" nodeType="afterEffect">
                                  <p:stCondLst>
                                    <p:cond delay="0"/>
                                  </p:stCondLst>
                                  <p:childTnLst>
                                    <p:set>
                                      <p:cBhvr>
                                        <p:cTn id="48" dur="1" fill="hold">
                                          <p:stCondLst>
                                            <p:cond delay="0"/>
                                          </p:stCondLst>
                                        </p:cTn>
                                        <p:tgtEl>
                                          <p:spTgt spid="1490984"/>
                                        </p:tgtEl>
                                        <p:attrNameLst>
                                          <p:attrName>style.visibility</p:attrName>
                                        </p:attrNameLst>
                                      </p:cBhvr>
                                      <p:to>
                                        <p:strVal val="visible"/>
                                      </p:to>
                                    </p:set>
                                    <p:animEffect transition="in" filter="fade">
                                      <p:cBhvr>
                                        <p:cTn id="49" dur="500"/>
                                        <p:tgtEl>
                                          <p:spTgt spid="1490984"/>
                                        </p:tgtEl>
                                      </p:cBhvr>
                                    </p:animEffect>
                                  </p:childTnLst>
                                </p:cTn>
                              </p:par>
                            </p:childTnLst>
                          </p:cTn>
                        </p:par>
                        <p:par>
                          <p:cTn id="50" fill="hold">
                            <p:stCondLst>
                              <p:cond delay="5000"/>
                            </p:stCondLst>
                            <p:childTnLst>
                              <p:par>
                                <p:cTn id="51" presetID="10" presetClass="entr" presetSubtype="0" fill="hold" nodeType="afterEffect">
                                  <p:stCondLst>
                                    <p:cond delay="0"/>
                                  </p:stCondLst>
                                  <p:childTnLst>
                                    <p:set>
                                      <p:cBhvr>
                                        <p:cTn id="52" dur="1" fill="hold">
                                          <p:stCondLst>
                                            <p:cond delay="0"/>
                                          </p:stCondLst>
                                        </p:cTn>
                                        <p:tgtEl>
                                          <p:spTgt spid="1490985"/>
                                        </p:tgtEl>
                                        <p:attrNameLst>
                                          <p:attrName>style.visibility</p:attrName>
                                        </p:attrNameLst>
                                      </p:cBhvr>
                                      <p:to>
                                        <p:strVal val="visible"/>
                                      </p:to>
                                    </p:set>
                                    <p:animEffect transition="in" filter="fade">
                                      <p:cBhvr>
                                        <p:cTn id="53" dur="500"/>
                                        <p:tgtEl>
                                          <p:spTgt spid="1490985"/>
                                        </p:tgtEl>
                                      </p:cBhvr>
                                    </p:animEffect>
                                  </p:childTnLst>
                                </p:cTn>
                              </p:par>
                            </p:childTnLst>
                          </p:cTn>
                        </p:par>
                        <p:par>
                          <p:cTn id="54" fill="hold">
                            <p:stCondLst>
                              <p:cond delay="5500"/>
                            </p:stCondLst>
                            <p:childTnLst>
                              <p:par>
                                <p:cTn id="55" presetID="10" presetClass="entr" presetSubtype="0" fill="hold" nodeType="afterEffect">
                                  <p:stCondLst>
                                    <p:cond delay="0"/>
                                  </p:stCondLst>
                                  <p:childTnLst>
                                    <p:set>
                                      <p:cBhvr>
                                        <p:cTn id="56" dur="1" fill="hold">
                                          <p:stCondLst>
                                            <p:cond delay="0"/>
                                          </p:stCondLst>
                                        </p:cTn>
                                        <p:tgtEl>
                                          <p:spTgt spid="1490986"/>
                                        </p:tgtEl>
                                        <p:attrNameLst>
                                          <p:attrName>style.visibility</p:attrName>
                                        </p:attrNameLst>
                                      </p:cBhvr>
                                      <p:to>
                                        <p:strVal val="visible"/>
                                      </p:to>
                                    </p:set>
                                    <p:animEffect transition="in" filter="fade">
                                      <p:cBhvr>
                                        <p:cTn id="57" dur="500"/>
                                        <p:tgtEl>
                                          <p:spTgt spid="149098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490951"/>
                                        </p:tgtEl>
                                        <p:attrNameLst>
                                          <p:attrName>style.visibility</p:attrName>
                                        </p:attrNameLst>
                                      </p:cBhvr>
                                      <p:to>
                                        <p:strVal val="visible"/>
                                      </p:to>
                                    </p:set>
                                    <p:animEffect transition="in" filter="dissolve">
                                      <p:cBhvr>
                                        <p:cTn id="62" dur="500"/>
                                        <p:tgtEl>
                                          <p:spTgt spid="1490951"/>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1490962"/>
                                        </p:tgtEl>
                                        <p:attrNameLst>
                                          <p:attrName>style.visibility</p:attrName>
                                        </p:attrNameLst>
                                      </p:cBhvr>
                                      <p:to>
                                        <p:strVal val="visible"/>
                                      </p:to>
                                    </p:set>
                                    <p:animEffect transition="in" filter="dissolve">
                                      <p:cBhvr>
                                        <p:cTn id="66" dur="500"/>
                                        <p:tgtEl>
                                          <p:spTgt spid="1490962"/>
                                        </p:tgtEl>
                                      </p:cBhvr>
                                    </p:animEffect>
                                  </p:childTnLst>
                                </p:cTn>
                              </p:par>
                            </p:childTnLst>
                          </p:cTn>
                        </p:par>
                        <p:par>
                          <p:cTn id="67" fill="hold">
                            <p:stCondLst>
                              <p:cond delay="1000"/>
                            </p:stCondLst>
                            <p:childTnLst>
                              <p:par>
                                <p:cTn id="68" presetID="9" presetClass="entr" presetSubtype="0" fill="hold" grpId="0" nodeType="afterEffect">
                                  <p:stCondLst>
                                    <p:cond delay="0"/>
                                  </p:stCondLst>
                                  <p:childTnLst>
                                    <p:set>
                                      <p:cBhvr>
                                        <p:cTn id="69" dur="1" fill="hold">
                                          <p:stCondLst>
                                            <p:cond delay="0"/>
                                          </p:stCondLst>
                                        </p:cTn>
                                        <p:tgtEl>
                                          <p:spTgt spid="1490969"/>
                                        </p:tgtEl>
                                        <p:attrNameLst>
                                          <p:attrName>style.visibility</p:attrName>
                                        </p:attrNameLst>
                                      </p:cBhvr>
                                      <p:to>
                                        <p:strVal val="visible"/>
                                      </p:to>
                                    </p:set>
                                    <p:animEffect transition="in" filter="dissolve">
                                      <p:cBhvr>
                                        <p:cTn id="70" dur="500"/>
                                        <p:tgtEl>
                                          <p:spTgt spid="1490969"/>
                                        </p:tgtEl>
                                      </p:cBhvr>
                                    </p:animEffect>
                                  </p:childTnLst>
                                </p:cTn>
                              </p:par>
                            </p:childTnLst>
                          </p:cTn>
                        </p:par>
                        <p:par>
                          <p:cTn id="71" fill="hold">
                            <p:stCondLst>
                              <p:cond delay="1500"/>
                            </p:stCondLst>
                            <p:childTnLst>
                              <p:par>
                                <p:cTn id="72" presetID="9" presetClass="entr" presetSubtype="0" fill="hold" grpId="0" nodeType="afterEffect">
                                  <p:stCondLst>
                                    <p:cond delay="0"/>
                                  </p:stCondLst>
                                  <p:childTnLst>
                                    <p:set>
                                      <p:cBhvr>
                                        <p:cTn id="73" dur="1" fill="hold">
                                          <p:stCondLst>
                                            <p:cond delay="0"/>
                                          </p:stCondLst>
                                        </p:cTn>
                                        <p:tgtEl>
                                          <p:spTgt spid="1490982"/>
                                        </p:tgtEl>
                                        <p:attrNameLst>
                                          <p:attrName>style.visibility</p:attrName>
                                        </p:attrNameLst>
                                      </p:cBhvr>
                                      <p:to>
                                        <p:strVal val="visible"/>
                                      </p:to>
                                    </p:set>
                                    <p:animEffect transition="in" filter="dissolve">
                                      <p:cBhvr>
                                        <p:cTn id="74" dur="500"/>
                                        <p:tgtEl>
                                          <p:spTgt spid="1490982"/>
                                        </p:tgtEl>
                                      </p:cBhvr>
                                    </p:animEffect>
                                  </p:childTnLst>
                                </p:cTn>
                              </p:par>
                            </p:childTnLst>
                          </p:cTn>
                        </p:par>
                        <p:par>
                          <p:cTn id="75" fill="hold">
                            <p:stCondLst>
                              <p:cond delay="2000"/>
                            </p:stCondLst>
                            <p:childTnLst>
                              <p:par>
                                <p:cTn id="76" presetID="9" presetClass="entr" presetSubtype="0" fill="hold" grpId="0" nodeType="afterEffect">
                                  <p:stCondLst>
                                    <p:cond delay="0"/>
                                  </p:stCondLst>
                                  <p:childTnLst>
                                    <p:set>
                                      <p:cBhvr>
                                        <p:cTn id="77" dur="1" fill="hold">
                                          <p:stCondLst>
                                            <p:cond delay="0"/>
                                          </p:stCondLst>
                                        </p:cTn>
                                        <p:tgtEl>
                                          <p:spTgt spid="1490977"/>
                                        </p:tgtEl>
                                        <p:attrNameLst>
                                          <p:attrName>style.visibility</p:attrName>
                                        </p:attrNameLst>
                                      </p:cBhvr>
                                      <p:to>
                                        <p:strVal val="visible"/>
                                      </p:to>
                                    </p:set>
                                    <p:animEffect transition="in" filter="dissolve">
                                      <p:cBhvr>
                                        <p:cTn id="78" dur="500"/>
                                        <p:tgtEl>
                                          <p:spTgt spid="1490977"/>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1490950"/>
                                        </p:tgtEl>
                                        <p:attrNameLst>
                                          <p:attrName>style.visibility</p:attrName>
                                        </p:attrNameLst>
                                      </p:cBhvr>
                                      <p:to>
                                        <p:strVal val="visible"/>
                                      </p:to>
                                    </p:set>
                                    <p:animEffect transition="in" filter="dissolve">
                                      <p:cBhvr>
                                        <p:cTn id="83" dur="500"/>
                                        <p:tgtEl>
                                          <p:spTgt spid="1490950"/>
                                        </p:tgtEl>
                                      </p:cBhvr>
                                    </p:animEffect>
                                  </p:childTnLst>
                                </p:cTn>
                              </p:par>
                            </p:childTnLst>
                          </p:cTn>
                        </p:par>
                        <p:par>
                          <p:cTn id="84" fill="hold">
                            <p:stCondLst>
                              <p:cond delay="500"/>
                            </p:stCondLst>
                            <p:childTnLst>
                              <p:par>
                                <p:cTn id="85" presetID="9" presetClass="entr" presetSubtype="0" fill="hold" grpId="0" nodeType="afterEffect">
                                  <p:stCondLst>
                                    <p:cond delay="0"/>
                                  </p:stCondLst>
                                  <p:childTnLst>
                                    <p:set>
                                      <p:cBhvr>
                                        <p:cTn id="86" dur="1" fill="hold">
                                          <p:stCondLst>
                                            <p:cond delay="0"/>
                                          </p:stCondLst>
                                        </p:cTn>
                                        <p:tgtEl>
                                          <p:spTgt spid="1490961"/>
                                        </p:tgtEl>
                                        <p:attrNameLst>
                                          <p:attrName>style.visibility</p:attrName>
                                        </p:attrNameLst>
                                      </p:cBhvr>
                                      <p:to>
                                        <p:strVal val="visible"/>
                                      </p:to>
                                    </p:set>
                                    <p:animEffect transition="in" filter="dissolve">
                                      <p:cBhvr>
                                        <p:cTn id="87" dur="500"/>
                                        <p:tgtEl>
                                          <p:spTgt spid="1490961"/>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490968"/>
                                        </p:tgtEl>
                                        <p:attrNameLst>
                                          <p:attrName>style.visibility</p:attrName>
                                        </p:attrNameLst>
                                      </p:cBhvr>
                                      <p:to>
                                        <p:strVal val="visible"/>
                                      </p:to>
                                    </p:set>
                                    <p:animEffect transition="in" filter="dissolve">
                                      <p:cBhvr>
                                        <p:cTn id="92" dur="500"/>
                                        <p:tgtEl>
                                          <p:spTgt spid="1490968"/>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1490981"/>
                                        </p:tgtEl>
                                        <p:attrNameLst>
                                          <p:attrName>style.visibility</p:attrName>
                                        </p:attrNameLst>
                                      </p:cBhvr>
                                      <p:to>
                                        <p:strVal val="visible"/>
                                      </p:to>
                                    </p:set>
                                    <p:animEffect transition="in" filter="dissolve">
                                      <p:cBhvr>
                                        <p:cTn id="97" dur="500"/>
                                        <p:tgtEl>
                                          <p:spTgt spid="1490981"/>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1490976"/>
                                        </p:tgtEl>
                                        <p:attrNameLst>
                                          <p:attrName>style.visibility</p:attrName>
                                        </p:attrNameLst>
                                      </p:cBhvr>
                                      <p:to>
                                        <p:strVal val="visible"/>
                                      </p:to>
                                    </p:set>
                                    <p:animEffect transition="in" filter="dissolve">
                                      <p:cBhvr>
                                        <p:cTn id="102" dur="500"/>
                                        <p:tgtEl>
                                          <p:spTgt spid="1490976"/>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490949">
                                            <p:txEl>
                                              <p:pRg st="0" end="0"/>
                                            </p:txEl>
                                          </p:spTgt>
                                        </p:tgtEl>
                                        <p:attrNameLst>
                                          <p:attrName>style.visibility</p:attrName>
                                        </p:attrNameLst>
                                      </p:cBhvr>
                                      <p:to>
                                        <p:strVal val="visible"/>
                                      </p:to>
                                    </p:set>
                                    <p:animEffect transition="in" filter="dissolve">
                                      <p:cBhvr>
                                        <p:cTn id="107" dur="500"/>
                                        <p:tgtEl>
                                          <p:spTgt spid="1490949">
                                            <p:txEl>
                                              <p:pRg st="0" end="0"/>
                                            </p:txEl>
                                          </p:spTgt>
                                        </p:tgtEl>
                                      </p:cBhvr>
                                    </p:animEffect>
                                  </p:childTnLst>
                                </p:cTn>
                              </p:par>
                            </p:childTnLst>
                          </p:cTn>
                        </p:par>
                        <p:par>
                          <p:cTn id="108" fill="hold">
                            <p:stCondLst>
                              <p:cond delay="500"/>
                            </p:stCondLst>
                            <p:childTnLst>
                              <p:par>
                                <p:cTn id="109" presetID="9" presetClass="entr" presetSubtype="0" fill="hold" grpId="0" nodeType="afterEffect">
                                  <p:stCondLst>
                                    <p:cond delay="0"/>
                                  </p:stCondLst>
                                  <p:childTnLst>
                                    <p:set>
                                      <p:cBhvr>
                                        <p:cTn id="110" dur="1" fill="hold">
                                          <p:stCondLst>
                                            <p:cond delay="0"/>
                                          </p:stCondLst>
                                        </p:cTn>
                                        <p:tgtEl>
                                          <p:spTgt spid="1490960">
                                            <p:txEl>
                                              <p:pRg st="0" end="0"/>
                                            </p:txEl>
                                          </p:spTgt>
                                        </p:tgtEl>
                                        <p:attrNameLst>
                                          <p:attrName>style.visibility</p:attrName>
                                        </p:attrNameLst>
                                      </p:cBhvr>
                                      <p:to>
                                        <p:strVal val="visible"/>
                                      </p:to>
                                    </p:set>
                                    <p:animEffect transition="in" filter="dissolve">
                                      <p:cBhvr>
                                        <p:cTn id="111" dur="500"/>
                                        <p:tgtEl>
                                          <p:spTgt spid="1490960">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grpId="0" nodeType="clickEffect">
                                  <p:stCondLst>
                                    <p:cond delay="0"/>
                                  </p:stCondLst>
                                  <p:childTnLst>
                                    <p:set>
                                      <p:cBhvr>
                                        <p:cTn id="115" dur="1" fill="hold">
                                          <p:stCondLst>
                                            <p:cond delay="0"/>
                                          </p:stCondLst>
                                        </p:cTn>
                                        <p:tgtEl>
                                          <p:spTgt spid="1490967">
                                            <p:txEl>
                                              <p:pRg st="0" end="0"/>
                                            </p:txEl>
                                          </p:spTgt>
                                        </p:tgtEl>
                                        <p:attrNameLst>
                                          <p:attrName>style.visibility</p:attrName>
                                        </p:attrNameLst>
                                      </p:cBhvr>
                                      <p:to>
                                        <p:strVal val="visible"/>
                                      </p:to>
                                    </p:set>
                                    <p:animEffect transition="in" filter="dissolve">
                                      <p:cBhvr>
                                        <p:cTn id="116" dur="500"/>
                                        <p:tgtEl>
                                          <p:spTgt spid="1490967">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grpId="0" nodeType="clickEffect">
                                  <p:stCondLst>
                                    <p:cond delay="0"/>
                                  </p:stCondLst>
                                  <p:childTnLst>
                                    <p:set>
                                      <p:cBhvr>
                                        <p:cTn id="120" dur="1" fill="hold">
                                          <p:stCondLst>
                                            <p:cond delay="0"/>
                                          </p:stCondLst>
                                        </p:cTn>
                                        <p:tgtEl>
                                          <p:spTgt spid="1490980">
                                            <p:txEl>
                                              <p:pRg st="0" end="0"/>
                                            </p:txEl>
                                          </p:spTgt>
                                        </p:tgtEl>
                                        <p:attrNameLst>
                                          <p:attrName>style.visibility</p:attrName>
                                        </p:attrNameLst>
                                      </p:cBhvr>
                                      <p:to>
                                        <p:strVal val="visible"/>
                                      </p:to>
                                    </p:set>
                                    <p:animEffect transition="in" filter="dissolve">
                                      <p:cBhvr>
                                        <p:cTn id="121" dur="500"/>
                                        <p:tgtEl>
                                          <p:spTgt spid="1490980">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grpId="0" nodeType="clickEffect">
                                  <p:stCondLst>
                                    <p:cond delay="0"/>
                                  </p:stCondLst>
                                  <p:childTnLst>
                                    <p:set>
                                      <p:cBhvr>
                                        <p:cTn id="125" dur="1" fill="hold">
                                          <p:stCondLst>
                                            <p:cond delay="0"/>
                                          </p:stCondLst>
                                        </p:cTn>
                                        <p:tgtEl>
                                          <p:spTgt spid="1490975">
                                            <p:txEl>
                                              <p:pRg st="0" end="0"/>
                                            </p:txEl>
                                          </p:spTgt>
                                        </p:tgtEl>
                                        <p:attrNameLst>
                                          <p:attrName>style.visibility</p:attrName>
                                        </p:attrNameLst>
                                      </p:cBhvr>
                                      <p:to>
                                        <p:strVal val="visible"/>
                                      </p:to>
                                    </p:set>
                                    <p:animEffect transition="in" filter="dissolve">
                                      <p:cBhvr>
                                        <p:cTn id="126" dur="500"/>
                                        <p:tgtEl>
                                          <p:spTgt spid="1490975">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1490948"/>
                                        </p:tgtEl>
                                        <p:attrNameLst>
                                          <p:attrName>style.visibility</p:attrName>
                                        </p:attrNameLst>
                                      </p:cBhvr>
                                      <p:to>
                                        <p:strVal val="visible"/>
                                      </p:to>
                                    </p:set>
                                    <p:animEffect transition="in" filter="dissolve">
                                      <p:cBhvr>
                                        <p:cTn id="131" dur="500"/>
                                        <p:tgtEl>
                                          <p:spTgt spid="1490948"/>
                                        </p:tgtEl>
                                      </p:cBhvr>
                                    </p:animEffect>
                                  </p:childTnLst>
                                </p:cTn>
                              </p:par>
                            </p:childTnLst>
                          </p:cTn>
                        </p:par>
                        <p:par>
                          <p:cTn id="132" fill="hold">
                            <p:stCondLst>
                              <p:cond delay="500"/>
                            </p:stCondLst>
                            <p:childTnLst>
                              <p:par>
                                <p:cTn id="133" presetID="9" presetClass="entr" presetSubtype="0" fill="hold" grpId="0" nodeType="afterEffect">
                                  <p:stCondLst>
                                    <p:cond delay="0"/>
                                  </p:stCondLst>
                                  <p:childTnLst>
                                    <p:set>
                                      <p:cBhvr>
                                        <p:cTn id="134" dur="1" fill="hold">
                                          <p:stCondLst>
                                            <p:cond delay="0"/>
                                          </p:stCondLst>
                                        </p:cTn>
                                        <p:tgtEl>
                                          <p:spTgt spid="1490959"/>
                                        </p:tgtEl>
                                        <p:attrNameLst>
                                          <p:attrName>style.visibility</p:attrName>
                                        </p:attrNameLst>
                                      </p:cBhvr>
                                      <p:to>
                                        <p:strVal val="visible"/>
                                      </p:to>
                                    </p:set>
                                    <p:animEffect transition="in" filter="dissolve">
                                      <p:cBhvr>
                                        <p:cTn id="135" dur="500"/>
                                        <p:tgtEl>
                                          <p:spTgt spid="1490959"/>
                                        </p:tgtEl>
                                      </p:cBhvr>
                                    </p:animEffec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1490966"/>
                                        </p:tgtEl>
                                        <p:attrNameLst>
                                          <p:attrName>style.visibility</p:attrName>
                                        </p:attrNameLst>
                                      </p:cBhvr>
                                      <p:to>
                                        <p:strVal val="visible"/>
                                      </p:to>
                                    </p:set>
                                    <p:animEffect transition="in" filter="dissolve">
                                      <p:cBhvr>
                                        <p:cTn id="140" dur="500"/>
                                        <p:tgtEl>
                                          <p:spTgt spid="1490966"/>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grpId="0" nodeType="clickEffect">
                                  <p:stCondLst>
                                    <p:cond delay="0"/>
                                  </p:stCondLst>
                                  <p:childTnLst>
                                    <p:set>
                                      <p:cBhvr>
                                        <p:cTn id="144" dur="1" fill="hold">
                                          <p:stCondLst>
                                            <p:cond delay="0"/>
                                          </p:stCondLst>
                                        </p:cTn>
                                        <p:tgtEl>
                                          <p:spTgt spid="1490979"/>
                                        </p:tgtEl>
                                        <p:attrNameLst>
                                          <p:attrName>style.visibility</p:attrName>
                                        </p:attrNameLst>
                                      </p:cBhvr>
                                      <p:to>
                                        <p:strVal val="visible"/>
                                      </p:to>
                                    </p:set>
                                    <p:animEffect transition="in" filter="dissolve">
                                      <p:cBhvr>
                                        <p:cTn id="145" dur="500"/>
                                        <p:tgtEl>
                                          <p:spTgt spid="1490979"/>
                                        </p:tgtEl>
                                      </p:cBhvr>
                                    </p:animEffec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grpId="0" nodeType="clickEffect">
                                  <p:stCondLst>
                                    <p:cond delay="0"/>
                                  </p:stCondLst>
                                  <p:childTnLst>
                                    <p:set>
                                      <p:cBhvr>
                                        <p:cTn id="149" dur="1" fill="hold">
                                          <p:stCondLst>
                                            <p:cond delay="0"/>
                                          </p:stCondLst>
                                        </p:cTn>
                                        <p:tgtEl>
                                          <p:spTgt spid="1490974"/>
                                        </p:tgtEl>
                                        <p:attrNameLst>
                                          <p:attrName>style.visibility</p:attrName>
                                        </p:attrNameLst>
                                      </p:cBhvr>
                                      <p:to>
                                        <p:strVal val="visible"/>
                                      </p:to>
                                    </p:set>
                                    <p:animEffect transition="in" filter="dissolve">
                                      <p:cBhvr>
                                        <p:cTn id="150" dur="500"/>
                                        <p:tgtEl>
                                          <p:spTgt spid="1490974"/>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1490947"/>
                                        </p:tgtEl>
                                        <p:attrNameLst>
                                          <p:attrName>style.visibility</p:attrName>
                                        </p:attrNameLst>
                                      </p:cBhvr>
                                      <p:to>
                                        <p:strVal val="visible"/>
                                      </p:to>
                                    </p:set>
                                    <p:animEffect transition="in" filter="dissolve">
                                      <p:cBhvr>
                                        <p:cTn id="155" dur="500"/>
                                        <p:tgtEl>
                                          <p:spTgt spid="1490947"/>
                                        </p:tgtEl>
                                      </p:cBhvr>
                                    </p:animEffect>
                                  </p:childTnLst>
                                </p:cTn>
                              </p:par>
                            </p:childTnLst>
                          </p:cTn>
                        </p:par>
                        <p:par>
                          <p:cTn id="156" fill="hold">
                            <p:stCondLst>
                              <p:cond delay="500"/>
                            </p:stCondLst>
                            <p:childTnLst>
                              <p:par>
                                <p:cTn id="157" presetID="9" presetClass="entr" presetSubtype="0" fill="hold" grpId="0" nodeType="afterEffect">
                                  <p:stCondLst>
                                    <p:cond delay="0"/>
                                  </p:stCondLst>
                                  <p:childTnLst>
                                    <p:set>
                                      <p:cBhvr>
                                        <p:cTn id="158" dur="1" fill="hold">
                                          <p:stCondLst>
                                            <p:cond delay="0"/>
                                          </p:stCondLst>
                                        </p:cTn>
                                        <p:tgtEl>
                                          <p:spTgt spid="1490958"/>
                                        </p:tgtEl>
                                        <p:attrNameLst>
                                          <p:attrName>style.visibility</p:attrName>
                                        </p:attrNameLst>
                                      </p:cBhvr>
                                      <p:to>
                                        <p:strVal val="visible"/>
                                      </p:to>
                                    </p:set>
                                    <p:animEffect transition="in" filter="dissolve">
                                      <p:cBhvr>
                                        <p:cTn id="159" dur="500"/>
                                        <p:tgtEl>
                                          <p:spTgt spid="1490958"/>
                                        </p:tgtEl>
                                      </p:cBhvr>
                                    </p:animEffect>
                                  </p:childTnLst>
                                </p:cTn>
                              </p:par>
                            </p:childTnLst>
                          </p:cTn>
                        </p:par>
                      </p:childTnLst>
                    </p:cTn>
                  </p:par>
                  <p:par>
                    <p:cTn id="160" fill="hold">
                      <p:stCondLst>
                        <p:cond delay="indefinite"/>
                      </p:stCondLst>
                      <p:childTnLst>
                        <p:par>
                          <p:cTn id="161" fill="hold">
                            <p:stCondLst>
                              <p:cond delay="0"/>
                            </p:stCondLst>
                            <p:childTnLst>
                              <p:par>
                                <p:cTn id="162" presetID="9" presetClass="entr" presetSubtype="0" fill="hold" grpId="0" nodeType="clickEffect">
                                  <p:stCondLst>
                                    <p:cond delay="0"/>
                                  </p:stCondLst>
                                  <p:childTnLst>
                                    <p:set>
                                      <p:cBhvr>
                                        <p:cTn id="163" dur="1" fill="hold">
                                          <p:stCondLst>
                                            <p:cond delay="0"/>
                                          </p:stCondLst>
                                        </p:cTn>
                                        <p:tgtEl>
                                          <p:spTgt spid="1490965"/>
                                        </p:tgtEl>
                                        <p:attrNameLst>
                                          <p:attrName>style.visibility</p:attrName>
                                        </p:attrNameLst>
                                      </p:cBhvr>
                                      <p:to>
                                        <p:strVal val="visible"/>
                                      </p:to>
                                    </p:set>
                                    <p:animEffect transition="in" filter="dissolve">
                                      <p:cBhvr>
                                        <p:cTn id="164" dur="500"/>
                                        <p:tgtEl>
                                          <p:spTgt spid="1490965"/>
                                        </p:tgtEl>
                                      </p:cBhvr>
                                    </p:animEffect>
                                  </p:childTnLst>
                                </p:cTn>
                              </p:par>
                            </p:childTnLst>
                          </p:cTn>
                        </p:par>
                      </p:childTnLst>
                    </p:cTn>
                  </p:par>
                  <p:par>
                    <p:cTn id="165" fill="hold">
                      <p:stCondLst>
                        <p:cond delay="indefinite"/>
                      </p:stCondLst>
                      <p:childTnLst>
                        <p:par>
                          <p:cTn id="166" fill="hold">
                            <p:stCondLst>
                              <p:cond delay="0"/>
                            </p:stCondLst>
                            <p:childTnLst>
                              <p:par>
                                <p:cTn id="167" presetID="9" presetClass="entr" presetSubtype="0" fill="hold" grpId="0" nodeType="clickEffect">
                                  <p:stCondLst>
                                    <p:cond delay="0"/>
                                  </p:stCondLst>
                                  <p:childTnLst>
                                    <p:set>
                                      <p:cBhvr>
                                        <p:cTn id="168" dur="1" fill="hold">
                                          <p:stCondLst>
                                            <p:cond delay="0"/>
                                          </p:stCondLst>
                                        </p:cTn>
                                        <p:tgtEl>
                                          <p:spTgt spid="1490971"/>
                                        </p:tgtEl>
                                        <p:attrNameLst>
                                          <p:attrName>style.visibility</p:attrName>
                                        </p:attrNameLst>
                                      </p:cBhvr>
                                      <p:to>
                                        <p:strVal val="visible"/>
                                      </p:to>
                                    </p:set>
                                    <p:animEffect transition="in" filter="dissolve">
                                      <p:cBhvr>
                                        <p:cTn id="169" dur="500"/>
                                        <p:tgtEl>
                                          <p:spTgt spid="1490971"/>
                                        </p:tgtEl>
                                      </p:cBhvr>
                                    </p:animEffect>
                                  </p:childTnLst>
                                </p:cTn>
                              </p:par>
                            </p:childTnLst>
                          </p:cTn>
                        </p:par>
                      </p:childTnLst>
                    </p:cTn>
                  </p:par>
                  <p:par>
                    <p:cTn id="170" fill="hold">
                      <p:stCondLst>
                        <p:cond delay="indefinite"/>
                      </p:stCondLst>
                      <p:childTnLst>
                        <p:par>
                          <p:cTn id="171" fill="hold">
                            <p:stCondLst>
                              <p:cond delay="0"/>
                            </p:stCondLst>
                            <p:childTnLst>
                              <p:par>
                                <p:cTn id="172" presetID="9" presetClass="entr" presetSubtype="0" fill="hold" grpId="0" nodeType="clickEffect">
                                  <p:stCondLst>
                                    <p:cond delay="0"/>
                                  </p:stCondLst>
                                  <p:childTnLst>
                                    <p:set>
                                      <p:cBhvr>
                                        <p:cTn id="173" dur="1" fill="hold">
                                          <p:stCondLst>
                                            <p:cond delay="0"/>
                                          </p:stCondLst>
                                        </p:cTn>
                                        <p:tgtEl>
                                          <p:spTgt spid="1490973"/>
                                        </p:tgtEl>
                                        <p:attrNameLst>
                                          <p:attrName>style.visibility</p:attrName>
                                        </p:attrNameLst>
                                      </p:cBhvr>
                                      <p:to>
                                        <p:strVal val="visible"/>
                                      </p:to>
                                    </p:set>
                                    <p:animEffect transition="in" filter="dissolve">
                                      <p:cBhvr>
                                        <p:cTn id="174" dur="500"/>
                                        <p:tgtEl>
                                          <p:spTgt spid="1490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0946" grpId="0"/>
      <p:bldP spid="1490947" grpId="0"/>
      <p:bldP spid="1490948" grpId="0"/>
      <p:bldP spid="1490949" grpId="0" build="p"/>
      <p:bldP spid="1490950" grpId="0"/>
      <p:bldP spid="1490951" grpId="0"/>
      <p:bldP spid="1490958" grpId="0"/>
      <p:bldP spid="1490959" grpId="0"/>
      <p:bldP spid="1490960" grpId="0" build="p" advAuto="1000"/>
      <p:bldP spid="1490961" grpId="0"/>
      <p:bldP spid="1490962" grpId="0"/>
      <p:bldP spid="1490965" grpId="0"/>
      <p:bldP spid="1490966" grpId="0"/>
      <p:bldP spid="1490967" grpId="0" build="p"/>
      <p:bldP spid="1490968" grpId="0"/>
      <p:bldP spid="1490969" grpId="0"/>
      <p:bldP spid="1490971" grpId="0"/>
      <p:bldP spid="1490973" grpId="0"/>
      <p:bldP spid="1490974" grpId="0"/>
      <p:bldP spid="1490975" grpId="0" build="p"/>
      <p:bldP spid="1490976" grpId="0"/>
      <p:bldP spid="1490977" grpId="0"/>
      <p:bldP spid="1490979" grpId="0"/>
      <p:bldP spid="1490980" grpId="0" build="p"/>
      <p:bldP spid="1490981" grpId="0"/>
      <p:bldP spid="149098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170" name="矩形 1543169"/>
          <p:cNvSpPr/>
          <p:nvPr/>
        </p:nvSpPr>
        <p:spPr>
          <a:xfrm>
            <a:off x="179388" y="1217613"/>
            <a:ext cx="8785225" cy="4306887"/>
          </a:xfrm>
          <a:prstGeom prst="rect">
            <a:avLst/>
          </a:prstGeom>
          <a:noFill/>
          <a:ln w="9525">
            <a:noFill/>
          </a:ln>
        </p:spPr>
        <p:txBody>
          <a:bodyPr anchor="ctr" anchorCtr="0">
            <a:spAutoFit/>
          </a:bodyPr>
          <a:lstStyle/>
          <a:p>
            <a:pPr>
              <a:buFont typeface="Wingdings" panose="05000000000000000000" pitchFamily="2" charset="2"/>
            </a:pPr>
            <a:r>
              <a:rPr lang="zh-CN" altLang="en-US" sz="3600" b="0" dirty="0">
                <a:latin typeface="黑体" panose="02010609060101010101" pitchFamily="49" charset="-122"/>
                <a:ea typeface="黑体" panose="02010609060101010101" pitchFamily="49" charset="-122"/>
              </a:rPr>
              <a:t>基本知识点</a:t>
            </a:r>
          </a:p>
          <a:p>
            <a:pPr>
              <a:buFont typeface="Wingdings" panose="05000000000000000000" pitchFamily="2" charset="2"/>
            </a:pPr>
            <a:r>
              <a:rPr lang="zh-CN" altLang="en-US" sz="2800" b="0" dirty="0">
                <a:latin typeface="Arial" panose="020B0604020202020204" pitchFamily="34" charset="0"/>
              </a:rPr>
              <a:t>  </a:t>
            </a:r>
            <a:r>
              <a:rPr lang="en-US" altLang="zh-CN" sz="2800" b="0" dirty="0">
                <a:latin typeface="Arial" panose="020B0604020202020204" pitchFamily="34" charset="0"/>
              </a:rPr>
              <a:t>A </a:t>
            </a:r>
            <a:r>
              <a:rPr lang="zh-CN" altLang="en-US" sz="2800" dirty="0">
                <a:latin typeface="Arial" panose="020B0604020202020204" pitchFamily="34" charset="0"/>
              </a:rPr>
              <a:t>各阶系统的数学模型及典型</a:t>
            </a:r>
            <a:r>
              <a:rPr lang="zh-CN" altLang="en-US" sz="2800" dirty="0">
                <a:solidFill>
                  <a:srgbClr val="FF0000"/>
                </a:solidFill>
                <a:latin typeface="Arial" panose="020B0604020202020204" pitchFamily="34" charset="0"/>
              </a:rPr>
              <a:t>阶跃输入下</a:t>
            </a:r>
            <a:r>
              <a:rPr lang="zh-CN" altLang="en-US" sz="2800" dirty="0">
                <a:latin typeface="Arial" panose="020B0604020202020204" pitchFamily="34" charset="0"/>
              </a:rPr>
              <a:t>的时域响应的特点，特别是二阶系统动态性能指标的计算；</a:t>
            </a:r>
          </a:p>
          <a:p>
            <a:pPr>
              <a:buFont typeface="Wingdings" panose="05000000000000000000" pitchFamily="2" charset="2"/>
            </a:pPr>
            <a:endParaRPr lang="zh-CN" altLang="en-US" sz="2800" b="0" dirty="0">
              <a:latin typeface="Arial" panose="020B0604020202020204" pitchFamily="34" charset="0"/>
            </a:endParaRPr>
          </a:p>
          <a:p>
            <a:pPr>
              <a:buFont typeface="Wingdings" panose="05000000000000000000" pitchFamily="2" charset="2"/>
            </a:pPr>
            <a:endParaRPr lang="zh-CN" altLang="en-US" sz="2800" b="0" dirty="0">
              <a:latin typeface="Arial" panose="020B0604020202020204" pitchFamily="34" charset="0"/>
            </a:endParaRPr>
          </a:p>
          <a:p>
            <a:pPr>
              <a:buFont typeface="Wingdings" panose="05000000000000000000" pitchFamily="2" charset="2"/>
            </a:pPr>
            <a:r>
              <a:rPr lang="zh-CN" altLang="en-US" sz="2800" b="0" dirty="0">
                <a:latin typeface="Arial" panose="020B0604020202020204" pitchFamily="34" charset="0"/>
              </a:rPr>
              <a:t>  </a:t>
            </a:r>
            <a:r>
              <a:rPr lang="en-US" altLang="zh-CN" sz="2800" dirty="0">
                <a:latin typeface="Arial" panose="020B0604020202020204" pitchFamily="34" charset="0"/>
              </a:rPr>
              <a:t>B </a:t>
            </a:r>
            <a:r>
              <a:rPr lang="zh-CN" altLang="en-US" sz="2800" dirty="0">
                <a:latin typeface="Arial" panose="020B0604020202020204" pitchFamily="34" charset="0"/>
              </a:rPr>
              <a:t>劳斯稳定判据；</a:t>
            </a:r>
          </a:p>
          <a:p>
            <a:pPr>
              <a:buFont typeface="Wingdings" panose="05000000000000000000" pitchFamily="2" charset="2"/>
            </a:pPr>
            <a:r>
              <a:rPr lang="zh-CN" altLang="en-US" sz="2800" dirty="0">
                <a:latin typeface="Arial" panose="020B0604020202020204" pitchFamily="34" charset="0"/>
              </a:rPr>
              <a:t>  </a:t>
            </a:r>
            <a:r>
              <a:rPr lang="en-US" altLang="zh-CN" sz="2800" dirty="0">
                <a:latin typeface="Arial" panose="020B0604020202020204" pitchFamily="34" charset="0"/>
              </a:rPr>
              <a:t>C </a:t>
            </a:r>
            <a:r>
              <a:rPr lang="zh-CN" altLang="en-US" sz="2800" dirty="0">
                <a:latin typeface="Arial" panose="020B0604020202020204" pitchFamily="34" charset="0"/>
              </a:rPr>
              <a:t>稳态误差的定义及计算 </a:t>
            </a:r>
          </a:p>
        </p:txBody>
      </p:sp>
      <p:sp>
        <p:nvSpPr>
          <p:cNvPr id="1543171" name="文本框 1543170"/>
          <p:cNvSpPr txBox="1"/>
          <p:nvPr/>
        </p:nvSpPr>
        <p:spPr>
          <a:xfrm>
            <a:off x="1668463" y="404813"/>
            <a:ext cx="5567363" cy="579438"/>
          </a:xfrm>
          <a:prstGeom prst="rect">
            <a:avLst/>
          </a:prstGeom>
          <a:noFill/>
          <a:ln w="9525">
            <a:noFill/>
          </a:ln>
        </p:spPr>
        <p:txBody>
          <a:bodyPr wrap="none">
            <a:spAutoFit/>
          </a:bodyPr>
          <a:lstStyle/>
          <a:p>
            <a:pPr marR="0" defTabSz="914400">
              <a:spcBef>
                <a:spcPct val="0"/>
              </a:spcBef>
              <a:buClrTx/>
              <a:buSzTx/>
              <a:buFontTx/>
              <a:buNone/>
              <a:defRPr/>
            </a:pPr>
            <a:r>
              <a:rPr kumimoji="0" lang="zh-CN" altLang="en-US" sz="3200" kern="1200" cap="none" spc="0" normalizeH="0" baseline="0" noProof="1">
                <a:solidFill>
                  <a:srgbClr val="FF0000"/>
                </a:solidFill>
                <a:effectLst>
                  <a:outerShdw blurRad="38100" dist="38100" dir="2700000">
                    <a:srgbClr val="C0C0C0"/>
                  </a:outerShdw>
                </a:effectLst>
                <a:latin typeface="华文新魏" panose="02010800040101010101" pitchFamily="2" charset="-122"/>
                <a:ea typeface="华文新魏" panose="02010800040101010101" pitchFamily="2" charset="-122"/>
                <a:cs typeface="+mn-cs"/>
              </a:rPr>
              <a:t>第三章 线性系统的时域分析法</a:t>
            </a:r>
          </a:p>
        </p:txBody>
      </p:sp>
      <p:graphicFrame>
        <p:nvGraphicFramePr>
          <p:cNvPr id="1543172" name="对象 1543171"/>
          <p:cNvGraphicFramePr/>
          <p:nvPr/>
        </p:nvGraphicFramePr>
        <p:xfrm>
          <a:off x="466725" y="3109913"/>
          <a:ext cx="3024188" cy="808037"/>
        </p:xfrm>
        <a:graphic>
          <a:graphicData uri="http://schemas.openxmlformats.org/presentationml/2006/ole">
            <mc:AlternateContent xmlns:mc="http://schemas.openxmlformats.org/markup-compatibility/2006">
              <mc:Choice xmlns:v="urn:schemas-microsoft-com:vml" Requires="v">
                <p:oleObj spid="_x0000_s50212" r:id="rId3" imgW="1397000" imgH="419100" progId="Equation.3">
                  <p:embed/>
                </p:oleObj>
              </mc:Choice>
              <mc:Fallback>
                <p:oleObj r:id="rId3" imgW="1397000" imgH="419100" progId="Equation.3">
                  <p:embed/>
                  <p:pic>
                    <p:nvPicPr>
                      <p:cNvPr id="0" name="图片 3238"/>
                      <p:cNvPicPr/>
                      <p:nvPr/>
                    </p:nvPicPr>
                    <p:blipFill>
                      <a:blip r:embed="rId4"/>
                      <a:stretch>
                        <a:fillRect/>
                      </a:stretch>
                    </p:blipFill>
                    <p:spPr>
                      <a:xfrm>
                        <a:off x="466725" y="3109913"/>
                        <a:ext cx="3024188" cy="808037"/>
                      </a:xfrm>
                      <a:prstGeom prst="rect">
                        <a:avLst/>
                      </a:prstGeom>
                      <a:solidFill>
                        <a:schemeClr val="folHlink"/>
                      </a:solidFill>
                      <a:ln w="38100">
                        <a:noFill/>
                        <a:miter/>
                      </a:ln>
                    </p:spPr>
                  </p:pic>
                </p:oleObj>
              </mc:Fallback>
            </mc:AlternateContent>
          </a:graphicData>
        </a:graphic>
      </p:graphicFrame>
      <p:graphicFrame>
        <p:nvGraphicFramePr>
          <p:cNvPr id="1543173" name="对象 1543172"/>
          <p:cNvGraphicFramePr/>
          <p:nvPr/>
        </p:nvGraphicFramePr>
        <p:xfrm>
          <a:off x="3563938" y="3092450"/>
          <a:ext cx="2376487" cy="842963"/>
        </p:xfrm>
        <a:graphic>
          <a:graphicData uri="http://schemas.openxmlformats.org/presentationml/2006/ole">
            <mc:AlternateContent xmlns:mc="http://schemas.openxmlformats.org/markup-compatibility/2006">
              <mc:Choice xmlns:v="urn:schemas-microsoft-com:vml" Requires="v">
                <p:oleObj spid="_x0000_s50213" r:id="rId5" imgW="1180465" imgH="419100" progId="Equation.3">
                  <p:embed/>
                </p:oleObj>
              </mc:Choice>
              <mc:Fallback>
                <p:oleObj r:id="rId5" imgW="1180465" imgH="419100" progId="Equation.3">
                  <p:embed/>
                  <p:pic>
                    <p:nvPicPr>
                      <p:cNvPr id="0" name="图片 3234"/>
                      <p:cNvPicPr/>
                      <p:nvPr/>
                    </p:nvPicPr>
                    <p:blipFill>
                      <a:blip r:embed="rId6"/>
                      <a:stretch>
                        <a:fillRect/>
                      </a:stretch>
                    </p:blipFill>
                    <p:spPr>
                      <a:xfrm>
                        <a:off x="3563938" y="3092450"/>
                        <a:ext cx="2376487" cy="842963"/>
                      </a:xfrm>
                      <a:prstGeom prst="rect">
                        <a:avLst/>
                      </a:prstGeom>
                      <a:solidFill>
                        <a:schemeClr val="folHlink"/>
                      </a:solidFill>
                      <a:ln w="38100">
                        <a:noFill/>
                        <a:miter/>
                      </a:ln>
                    </p:spPr>
                  </p:pic>
                </p:oleObj>
              </mc:Fallback>
            </mc:AlternateContent>
          </a:graphicData>
        </a:graphic>
      </p:graphicFrame>
      <p:graphicFrame>
        <p:nvGraphicFramePr>
          <p:cNvPr id="1543174" name="对象 1543173"/>
          <p:cNvGraphicFramePr/>
          <p:nvPr/>
        </p:nvGraphicFramePr>
        <p:xfrm>
          <a:off x="5999163" y="3086100"/>
          <a:ext cx="2879725" cy="849313"/>
        </p:xfrm>
        <a:graphic>
          <a:graphicData uri="http://schemas.openxmlformats.org/presentationml/2006/ole">
            <mc:AlternateContent xmlns:mc="http://schemas.openxmlformats.org/markup-compatibility/2006">
              <mc:Choice xmlns:v="urn:schemas-microsoft-com:vml" Requires="v">
                <p:oleObj spid="_x0000_s50214" r:id="rId7" imgW="1422400" imgH="419100" progId="Equation.3">
                  <p:embed/>
                </p:oleObj>
              </mc:Choice>
              <mc:Fallback>
                <p:oleObj r:id="rId7" imgW="1422400" imgH="419100" progId="Equation.3">
                  <p:embed/>
                  <p:pic>
                    <p:nvPicPr>
                      <p:cNvPr id="0" name="图片 3236"/>
                      <p:cNvPicPr/>
                      <p:nvPr/>
                    </p:nvPicPr>
                    <p:blipFill>
                      <a:blip r:embed="rId8"/>
                      <a:stretch>
                        <a:fillRect/>
                      </a:stretch>
                    </p:blipFill>
                    <p:spPr>
                      <a:xfrm>
                        <a:off x="5999163" y="3086100"/>
                        <a:ext cx="2879725" cy="849313"/>
                      </a:xfrm>
                      <a:prstGeom prst="rect">
                        <a:avLst/>
                      </a:prstGeom>
                      <a:solidFill>
                        <a:schemeClr val="folHlink"/>
                      </a:solidFill>
                      <a:ln w="38100">
                        <a:noFill/>
                        <a:miter/>
                      </a:ln>
                    </p:spPr>
                  </p:pic>
                </p:oleObj>
              </mc:Fallback>
            </mc:AlternateContent>
          </a:graphicData>
        </a:graphic>
      </p:graphicFrame>
      <p:graphicFrame>
        <p:nvGraphicFramePr>
          <p:cNvPr id="1543175" name="对象 1543174"/>
          <p:cNvGraphicFramePr/>
          <p:nvPr/>
        </p:nvGraphicFramePr>
        <p:xfrm>
          <a:off x="7507288" y="4024313"/>
          <a:ext cx="1152525" cy="877887"/>
        </p:xfrm>
        <a:graphic>
          <a:graphicData uri="http://schemas.openxmlformats.org/presentationml/2006/ole">
            <mc:AlternateContent xmlns:mc="http://schemas.openxmlformats.org/markup-compatibility/2006">
              <mc:Choice xmlns:v="urn:schemas-microsoft-com:vml" Requires="v">
                <p:oleObj spid="_x0000_s50215" r:id="rId9" imgW="584200" imgH="444500" progId="Equation.3">
                  <p:embed/>
                </p:oleObj>
              </mc:Choice>
              <mc:Fallback>
                <p:oleObj r:id="rId9" imgW="584200" imgH="444500" progId="Equation.3">
                  <p:embed/>
                  <p:pic>
                    <p:nvPicPr>
                      <p:cNvPr id="0" name="图片 3235"/>
                      <p:cNvPicPr/>
                      <p:nvPr/>
                    </p:nvPicPr>
                    <p:blipFill>
                      <a:blip r:embed="rId10"/>
                      <a:stretch>
                        <a:fillRect/>
                      </a:stretch>
                    </p:blipFill>
                    <p:spPr>
                      <a:xfrm>
                        <a:off x="7507288" y="4024313"/>
                        <a:ext cx="1152525" cy="877887"/>
                      </a:xfrm>
                      <a:prstGeom prst="rect">
                        <a:avLst/>
                      </a:prstGeom>
                      <a:solidFill>
                        <a:schemeClr val="folHlink"/>
                      </a:solidFill>
                      <a:ln w="38100">
                        <a:noFill/>
                        <a:miter/>
                      </a:ln>
                    </p:spPr>
                  </p:pic>
                </p:oleObj>
              </mc:Fallback>
            </mc:AlternateContent>
          </a:graphicData>
        </a:graphic>
      </p:graphicFrame>
      <p:graphicFrame>
        <p:nvGraphicFramePr>
          <p:cNvPr id="1543176" name="对象 1543175"/>
          <p:cNvGraphicFramePr/>
          <p:nvPr/>
        </p:nvGraphicFramePr>
        <p:xfrm>
          <a:off x="6083300" y="4024313"/>
          <a:ext cx="1152525" cy="877887"/>
        </p:xfrm>
        <a:graphic>
          <a:graphicData uri="http://schemas.openxmlformats.org/presentationml/2006/ole">
            <mc:AlternateContent xmlns:mc="http://schemas.openxmlformats.org/markup-compatibility/2006">
              <mc:Choice xmlns:v="urn:schemas-microsoft-com:vml" Requires="v">
                <p:oleObj spid="_x0000_s50216" r:id="rId11" imgW="584200" imgH="444500" progId="Equation.3">
                  <p:embed/>
                </p:oleObj>
              </mc:Choice>
              <mc:Fallback>
                <p:oleObj r:id="rId11" imgW="584200" imgH="444500" progId="Equation.3">
                  <p:embed/>
                  <p:pic>
                    <p:nvPicPr>
                      <p:cNvPr id="0" name="图片 3237"/>
                      <p:cNvPicPr/>
                      <p:nvPr/>
                    </p:nvPicPr>
                    <p:blipFill>
                      <a:blip r:embed="rId12"/>
                      <a:stretch>
                        <a:fillRect/>
                      </a:stretch>
                    </p:blipFill>
                    <p:spPr>
                      <a:xfrm>
                        <a:off x="6083300" y="4024313"/>
                        <a:ext cx="1152525" cy="877887"/>
                      </a:xfrm>
                      <a:prstGeom prst="rect">
                        <a:avLst/>
                      </a:prstGeom>
                      <a:solidFill>
                        <a:schemeClr val="folHlink"/>
                      </a:solidFill>
                      <a:ln w="38100">
                        <a:noFill/>
                        <a:miter/>
                      </a:ln>
                    </p:spPr>
                  </p:pic>
                </p:oleObj>
              </mc:Fallback>
            </mc:AlternateContent>
          </a:graphicData>
        </a:graphic>
      </p:graphicFrame>
    </p:spTree>
  </p:cSld>
  <p:clrMapOvr>
    <a:masterClrMapping/>
  </p:clrMapOvr>
  <p:transition spd="slow">
    <p:pull dir="rd"/>
  </p:transition>
</p:sld>
</file>

<file path=ppt/theme/theme1.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758</TotalTime>
  <Words>4950</Words>
  <Application>Microsoft Office PowerPoint</Application>
  <PresentationFormat>全屏显示(4:3)</PresentationFormat>
  <Paragraphs>634</Paragraphs>
  <Slides>68</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68</vt:i4>
      </vt:variant>
    </vt:vector>
  </HeadingPairs>
  <TitlesOfParts>
    <vt:vector size="85" baseType="lpstr">
      <vt:lpstr>方正静蕾简体</vt:lpstr>
      <vt:lpstr>黑体</vt:lpstr>
      <vt:lpstr>华文新魏</vt:lpstr>
      <vt:lpstr>华文中宋</vt:lpstr>
      <vt:lpstr>楷体_GB2312</vt:lpstr>
      <vt:lpstr>宋体</vt:lpstr>
      <vt:lpstr>幼圆</vt:lpstr>
      <vt:lpstr>Arial</vt:lpstr>
      <vt:lpstr>Gill Sans MT</vt:lpstr>
      <vt:lpstr>Symbol</vt:lpstr>
      <vt:lpstr>Tahoma</vt:lpstr>
      <vt:lpstr>Times New Roman</vt:lpstr>
      <vt:lpstr>Wingdings</vt:lpstr>
      <vt:lpstr>画廊</vt:lpstr>
      <vt:lpstr>Equation.3</vt:lpstr>
      <vt:lpstr>Visio.Drawing.6</vt:lpstr>
      <vt:lpstr>MSPhotoEd.3</vt:lpstr>
      <vt:lpstr>PowerPoint 演示文稿</vt:lpstr>
      <vt:lpstr> </vt:lpstr>
      <vt:lpstr>PowerPoint 演示文稿</vt:lpstr>
      <vt:lpstr>PowerPoint 演示文稿</vt:lpstr>
      <vt:lpstr> 2. 斜坡函数 （等速度函数） </vt:lpstr>
      <vt:lpstr> 3. 抛物线函数（等加速度函数）</vt:lpstr>
      <vt:lpstr> 4.  脉冲函数</vt:lpstr>
      <vt:lpstr> </vt:lpstr>
      <vt:lpstr>PowerPoint 演示文稿</vt:lpstr>
      <vt:lpstr>PowerPoint 演示文稿</vt:lpstr>
      <vt:lpstr>PowerPoint 演示文稿</vt:lpstr>
      <vt:lpstr>PowerPoint 演示文稿</vt:lpstr>
      <vt:lpstr>PowerPoint 演示文稿</vt:lpstr>
      <vt:lpstr>小结</vt:lpstr>
      <vt:lpstr>3.2 一阶系统的时域分析</vt:lpstr>
      <vt:lpstr>PowerPoint 演示文稿</vt:lpstr>
      <vt:lpstr>PowerPoint 演示文稿</vt:lpstr>
      <vt:lpstr>PowerPoint 演示文稿</vt:lpstr>
      <vt:lpstr>PowerPoint 演示文稿</vt:lpstr>
      <vt:lpstr>PowerPoint 演示文稿</vt:lpstr>
      <vt:lpstr>PowerPoint 演示文稿</vt:lpstr>
      <vt:lpstr>3.3  二阶系统的时域分析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线性系统的稳定性分析     稳定性是对系统的基本要求，探讨系统的稳定条件，提出保证系统稳定的措施。</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3.5　线性系统的误差分析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教学课件</dc:title>
  <dc:creator>周风余</dc:creator>
  <cp:lastModifiedBy>吴 悠</cp:lastModifiedBy>
  <cp:revision>605</cp:revision>
  <dcterms:created xsi:type="dcterms:W3CDTF">2002-06-09T07:14:00Z</dcterms:created>
  <dcterms:modified xsi:type="dcterms:W3CDTF">2022-01-07T12:21:21Z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2052-11.1.0.11045</vt:lpwstr>
  </property>
  <property fmtid="{D5CDD505-2E9C-101B-9397-08002B2CF9AE}" pid="3" name="ICV">
    <vt:lpwstr>3C0B05C9AA8F4D759B0ADC1613A1438D</vt:lpwstr>
  </property>
</Properties>
</file>