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media/image60.wmf" ContentType="image/x-wmf"/>
  <Override PartName="/ppt/media/image59.emf" ContentType="image/x-emf"/>
  <Override PartName="/ppt/media/image2.emf" ContentType="image/x-emf"/>
  <Override PartName="/ppt/media/image75.emf" ContentType="image/x-emf"/>
  <Override PartName="/ppt/media/image130.emf" ContentType="image/x-emf"/>
  <Override PartName="/ppt/media/image57.emf" ContentType="image/x-emf"/>
  <Override PartName="/ppt/media/image18.emf" ContentType="image/x-emf"/>
  <Override PartName="/ppt/media/image1.emf" ContentType="image/x-emf"/>
  <Override PartName="/ppt/media/image58.emf" ContentType="image/x-emf"/>
  <Override PartName="/ppt/media/image74.emf" ContentType="image/x-emf"/>
  <Override PartName="/ppt/media/image131.emf" ContentType="image/x-emf"/>
  <Override PartName="/ppt/media/image47.emf" ContentType="image/x-emf"/>
  <Override PartName="/ppt/media/image100.wmf" ContentType="image/x-wmf"/>
  <Override PartName="/ppt/media/image3.emf" ContentType="image/x-emf"/>
  <Override PartName="/ppt/media/image70.emf" ContentType="image/x-emf"/>
  <Override PartName="/ppt/media/image4.emf" ContentType="image/x-emf"/>
  <Override PartName="/ppt/media/image71.emf" ContentType="image/x-emf"/>
  <Override PartName="/ppt/media/image41.emf" ContentType="image/x-emf"/>
  <Override PartName="/ppt/media/image5.emf" ContentType="image/x-emf"/>
  <Override PartName="/ppt/media/image72.emf" ContentType="image/x-emf"/>
  <Override PartName="/ppt/media/image6.emf" ContentType="image/x-emf"/>
  <Override PartName="/ppt/media/image73.emf" ContentType="image/x-emf"/>
  <Override PartName="/ppt/media/image43.emf" ContentType="image/x-emf"/>
  <Override PartName="/ppt/media/image27.wmf" ContentType="image/x-wmf"/>
  <Override PartName="/ppt/media/image7.emf" ContentType="image/x-emf"/>
  <Override PartName="/ppt/media/image28.wmf" ContentType="image/x-wmf"/>
  <Override PartName="/ppt/media/image154.emf" ContentType="image/x-emf"/>
  <Override PartName="/ppt/media/image11.emf" ContentType="image/x-emf"/>
  <Override PartName="/ppt/media/image8.emf" ContentType="image/x-emf"/>
  <Override PartName="/ppt/media/image29.wmf" ContentType="image/x-wmf"/>
  <Override PartName="/ppt/media/image155.emf" ContentType="image/x-emf"/>
  <Override PartName="/ppt/media/image10.emf" ContentType="image/x-emf"/>
  <Override PartName="/ppt/media/image9.emf" ContentType="image/x-emf"/>
  <Override PartName="/ppt/media/image157.emf" ContentType="image/x-emf"/>
  <Override PartName="/ppt/media/image12.emf" ContentType="image/x-emf"/>
  <Override PartName="/ppt/media/image156.emf" ContentType="image/x-emf"/>
  <Override PartName="/ppt/media/image13.emf" ContentType="image/x-emf"/>
  <Override PartName="/ppt/media/image151.emf" ContentType="image/x-emf"/>
  <Override PartName="/ppt/media/image14.emf" ContentType="image/x-emf"/>
  <Override PartName="/ppt/media/image150.emf" ContentType="image/x-emf"/>
  <Override PartName="/ppt/media/image15.emf" ContentType="image/x-emf"/>
  <Override PartName="/ppt/media/image153.emf" ContentType="image/x-emf"/>
  <Override PartName="/ppt/media/image16.emf" ContentType="image/x-emf"/>
  <Override PartName="/ppt/media/image152.emf" ContentType="image/x-emf"/>
  <Override PartName="/ppt/media/image17.emf" ContentType="image/x-emf"/>
  <Override PartName="/ppt/media/image44.emf" ContentType="image/x-emf"/>
  <Override PartName="/ppt/media/image19.emf" ContentType="image/x-emf"/>
  <Override PartName="/ppt/media/image103.emf" ContentType="image/x-emf"/>
  <Override PartName="/ppt/media/image20.emf" ContentType="image/x-emf"/>
  <Override PartName="/ppt/media/image45.wmf" ContentType="image/x-wmf"/>
  <Override PartName="/ppt/media/image102.emf" ContentType="image/x-emf"/>
  <Override PartName="/ppt/media/image21.emf" ContentType="image/x-emf"/>
  <Override PartName="/ppt/media/image46.wmf" ContentType="image/x-wmf"/>
  <Override PartName="/ppt/media/image101.emf" ContentType="image/x-emf"/>
  <Override PartName="/ppt/media/image22.emf" ContentType="image/x-emf"/>
  <Override PartName="/ppt/media/image23.emf" ContentType="image/x-emf"/>
  <Override PartName="/ppt/media/image79.emf" ContentType="image/x-emf"/>
  <Override PartName="/ppt/media/image40.wmf" ContentType="image/x-wmf"/>
  <Override PartName="/ppt/media/image107.emf" ContentType="image/x-emf"/>
  <Override PartName="/ppt/media/image24.emf" ContentType="image/x-emf"/>
  <Override PartName="/ppt/media/image106.emf" ContentType="image/x-emf"/>
  <Override PartName="/ppt/media/image25.emf" ContentType="image/x-emf"/>
  <Override PartName="/ppt/media/image42.wmf" ContentType="image/x-wmf"/>
  <Override PartName="/ppt/media/image105.emf" ContentType="image/x-emf"/>
  <Override PartName="/ppt/media/image26.emf" ContentType="image/x-emf"/>
  <Override PartName="/ppt/media/image34.emf" ContentType="image/x-emf"/>
  <Override PartName="/ppt/media/image35.emf" ContentType="image/x-emf"/>
  <Override PartName="/ppt/media/image30.emf" ContentType="image/x-emf"/>
  <Override PartName="/ppt/media/image31.emf" ContentType="image/x-emf"/>
  <Override PartName="/ppt/media/image32.emf" ContentType="image/x-emf"/>
  <Override PartName="/ppt/media/image33.emf" ContentType="image/x-emf"/>
  <Override PartName="/ppt/media/image52.emf" ContentType="image/x-emf"/>
  <Override PartName="/ppt/media/image36.wmf" ContentType="image/x-wmf"/>
  <Override PartName="/ppt/media/image37.emf" ContentType="image/x-emf"/>
  <Override PartName="/ppt/media/image110.emf" ContentType="image/x-emf"/>
  <Override PartName="/ppt/media/image38.emf" ContentType="image/x-emf"/>
  <Override PartName="/ppt/media/image111.emf" ContentType="image/x-emf"/>
  <Override PartName="/ppt/media/image39.emf" ContentType="image/x-emf"/>
  <Override PartName="/ppt/media/image120.emf" ContentType="image/x-emf"/>
  <Override PartName="/ppt/media/image48.emf" ContentType="image/x-emf"/>
  <Override PartName="/ppt/media/image121.emf" ContentType="image/x-emf"/>
  <Override PartName="/ppt/media/image49.emf" ContentType="image/x-emf"/>
  <Override PartName="/ppt/media/image50.emf" ContentType="image/x-emf"/>
  <Override PartName="/ppt/media/image51.emf" ContentType="image/x-emf"/>
  <Override PartName="/ppt/media/image149.emf" ContentType="image/x-emf"/>
  <Override PartName="/ppt/media/image53.wmf" ContentType="image/x-wmf"/>
  <Override PartName="/ppt/media/image54.emf" ContentType="image/x-emf"/>
  <Override PartName="/ppt/media/image55.emf" ContentType="image/x-emf"/>
  <Override PartName="/ppt/media/image56.emf" ContentType="image/x-emf"/>
  <Override PartName="/ppt/media/image142.emf" ContentType="image/x-emf"/>
  <Override PartName="/ppt/media/image61.emf" ContentType="image/x-emf"/>
  <Override PartName="/ppt/media/image141.emf" ContentType="image/x-emf"/>
  <Override PartName="/ppt/media/image62.emf" ContentType="image/x-emf"/>
  <Override PartName="/ppt/media/image140.emf" ContentType="image/x-emf"/>
  <Override PartName="/ppt/media/image63.emf" ContentType="image/x-emf"/>
  <Override PartName="/ppt/media/image147.emf" ContentType="image/x-emf"/>
  <Override PartName="/ppt/media/image64.emf" ContentType="image/x-emf"/>
  <Override PartName="/ppt/media/image146.emf" ContentType="image/x-emf"/>
  <Override PartName="/ppt/media/image65.emf" ContentType="image/x-emf"/>
  <Override PartName="/ppt/media/image145.emf" ContentType="image/x-emf"/>
  <Override PartName="/ppt/media/image66.emf" ContentType="image/x-emf"/>
  <Override PartName="/ppt/media/image144.emf" ContentType="image/x-emf"/>
  <Override PartName="/ppt/media/image67.emf" ContentType="image/x-emf"/>
  <Override PartName="/ppt/media/image68.emf" ContentType="image/x-emf"/>
  <Override PartName="/ppt/media/image69.emf" ContentType="image/x-emf"/>
  <Override PartName="/ppt/media/image76.emf" ContentType="image/x-emf"/>
  <Override PartName="/ppt/media/image77.emf" ContentType="image/x-emf"/>
  <Override PartName="/ppt/media/image78.emf" ContentType="image/x-emf"/>
  <Override PartName="/ppt/media/image80.emf" ContentType="image/x-emf"/>
  <Override PartName="/ppt/media/image81.emf" ContentType="image/x-emf"/>
  <Override PartName="/ppt/media/image82.emf" ContentType="image/x-emf"/>
  <Override PartName="/ppt/media/image83.emf" ContentType="image/x-emf"/>
  <Override PartName="/ppt/media/image84.wmf" ContentType="image/x-wmf"/>
  <Override PartName="/ppt/media/image85.wmf" ContentType="image/x-wmf"/>
  <Override PartName="/ppt/media/image86.emf" ContentType="image/x-emf"/>
  <Override PartName="/ppt/media/image87.wmf" ContentType="image/x-wmf"/>
  <Override PartName="/ppt/media/image135.emf" ContentType="image/x-emf"/>
  <Override PartName="/ppt/media/image161.emf" ContentType="image/x-emf"/>
  <Override PartName="/ppt/media/image89.emf" ContentType="image/x-emf"/>
  <Override PartName="/ppt/media/image90.emf" ContentType="image/x-emf"/>
  <Override PartName="/ppt/media/image91.emf" ContentType="image/x-emf"/>
  <Override PartName="/ppt/media/image92.emf" ContentType="image/x-emf"/>
  <Override PartName="/ppt/media/image93.emf" ContentType="image/x-emf"/>
  <Override PartName="/ppt/media/image94.emf" ContentType="image/x-emf"/>
  <Override PartName="/ppt/media/image95.emf" ContentType="image/x-emf"/>
  <Override PartName="/ppt/media/image96.emf" ContentType="image/x-emf"/>
  <Override PartName="/ppt/media/image97.emf" ContentType="image/x-emf"/>
  <Override PartName="/ppt/media/image98.emf" ContentType="image/x-emf"/>
  <Override PartName="/ppt/media/image99.emf" ContentType="image/x-emf"/>
  <Override PartName="/ppt/media/image104.emf" ContentType="image/x-emf"/>
  <Override PartName="/ppt/media/image108.emf" ContentType="image/x-emf"/>
  <Override PartName="/ppt/media/image109.emf" ContentType="image/x-emf"/>
  <Override PartName="/ppt/media/image112.emf" ContentType="image/x-emf"/>
  <Override PartName="/ppt/media/image113.emf" ContentType="image/x-emf"/>
  <Override PartName="/ppt/media/image114.emf" ContentType="image/x-emf"/>
  <Override PartName="/ppt/media/image115.emf" ContentType="image/x-emf"/>
  <Override PartName="/ppt/media/image116.emf" ContentType="image/x-emf"/>
  <Override PartName="/ppt/media/image118.emf" ContentType="image/x-emf"/>
  <Override PartName="/ppt/media/image119.emf" ContentType="image/x-emf"/>
  <Override PartName="/ppt/media/image122.emf" ContentType="image/x-emf"/>
  <Override PartName="/ppt/media/image123.emf" ContentType="image/x-emf"/>
  <Override PartName="/ppt/media/image124.emf" ContentType="image/x-emf"/>
  <Override PartName="/ppt/media/image125.emf" ContentType="image/x-emf"/>
  <Override PartName="/ppt/media/image126.emf" ContentType="image/x-emf"/>
  <Override PartName="/ppt/media/image127.emf" ContentType="image/x-emf"/>
  <Override PartName="/ppt/media/image128.emf" ContentType="image/x-emf"/>
  <Override PartName="/ppt/media/image129.emf" ContentType="image/x-emf"/>
  <Override PartName="/ppt/media/image132.emf" ContentType="image/x-emf"/>
  <Override PartName="/ppt/media/image133.emf" ContentType="image/x-emf"/>
  <Override PartName="/ppt/media/image134.emf" ContentType="image/x-emf"/>
  <Override PartName="/ppt/media/image136.emf" ContentType="image/x-emf"/>
  <Override PartName="/ppt/media/image137.emf" ContentType="image/x-emf"/>
  <Override PartName="/ppt/media/image138.emf" ContentType="image/x-emf"/>
  <Override PartName="/ppt/media/image139.emf" ContentType="image/x-emf"/>
  <Override PartName="/ppt/media/image148.emf" ContentType="image/x-emf"/>
  <Override PartName="/ppt/media/image158.emf" ContentType="image/x-emf"/>
  <Override PartName="/ppt/media/image159.emf" ContentType="image/x-emf"/>
  <Override PartName="/ppt/media/image160.emf" ContentType="image/x-emf"/>
  <Override PartName="/ppt/media/image162.emf" ContentType="image/x-emf"/>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embeddings/oleObject1.bin" ContentType="application/vnd.openxmlformats-officedocument.oleObject"/>
  <Override PartName="/ppt/embeddings/oleObject2.bin" ContentType="application/vnd.openxmlformats-officedocument.oleObject"/>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11">
    <p:bg>
      <p:bgPr>
        <a:solidFill>
          <a:srgbClr val="FFFFFF"/>
        </a:solidFill>
      </p:bgPr>
    </p:bg>
    <p:spTree>
      <p:nvGrpSpPr>
        <p:cNvPr id="1" name=""/>
        <p:cNvGrpSpPr/>
        <p:nvPr/>
      </p:nvGrpSpPr>
      <p:grpSpPr>
        <a:xfrm>
          <a:off x="0" y="0"/>
          <a:ext cx="0" cy="0"/>
          <a:chOff x="0" y="0"/>
          <a:chExt cx="0" cy="0"/>
        </a:xfrm>
      </p:grpSpPr>
      <p:sp>
        <p:nvSpPr>
          <p:cNvPr id="2" name="Rounded Rectangle 11"/>
          <p:cNvSpPr/>
          <p:nvPr/>
        </p:nvSpPr>
        <p:spPr>
          <a:xfrm>
            <a:off x="228600" y="228600"/>
            <a:ext cx="8696160" cy="1427040"/>
          </a:xfrm>
          <a:prstGeom prst="roundRect">
            <a:avLst>
              <a:gd name="adj" fmla="val 7134"/>
            </a:avLst>
          </a:prstGeom>
          <a:gradFill rotWithShape="0">
            <a:gsLst>
              <a:gs pos="0">
                <a:srgbClr val="0293E0"/>
              </a:gs>
              <a:gs pos="100000">
                <a:srgbClr val="83D3FE"/>
              </a:gs>
            </a:gsLst>
            <a:lin ang="5400000"/>
          </a:gra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3" name="Group 5"/>
          <p:cNvGrpSpPr/>
          <p:nvPr/>
        </p:nvGrpSpPr>
        <p:grpSpPr>
          <a:xfrm>
            <a:off x="210960" y="714240"/>
            <a:ext cx="8723520" cy="1330560"/>
            <a:chOff x="210960" y="714240"/>
            <a:chExt cx="8723520" cy="1330560"/>
          </a:xfrm>
        </p:grpSpPr>
        <p:sp>
          <p:nvSpPr>
            <p:cNvPr id="4" name="Freeform 14"/>
            <p:cNvSpPr/>
            <p:nvPr/>
          </p:nvSpPr>
          <p:spPr>
            <a:xfrm>
              <a:off x="6046920" y="859320"/>
              <a:ext cx="2876400" cy="714240"/>
            </a:xfrm>
            <a:custGeom>
              <a:avLst/>
              <a:gdLst>
                <a:gd name="GluePoint1X" fmla="*/ 2147483647 w 2706"/>
                <a:gd name="GluePoint1Y" fmla="*/ 0 h 640"/>
                <a:gd name="GluePoint2X" fmla="*/ 2147483647 w 2706"/>
                <a:gd name="GluePoint2Y" fmla="*/ 0 h 640"/>
                <a:gd name="GluePoint3X" fmla="*/ 2147483647 w 2706"/>
                <a:gd name="GluePoint3Y" fmla="*/ 2147483647 h 640"/>
                <a:gd name="GluePoint4X" fmla="*/ 2147483647 w 2706"/>
                <a:gd name="GluePoint4Y" fmla="*/ 2147483647 h 640"/>
                <a:gd name="GluePoint5X" fmla="*/ 2147483647 w 2706"/>
                <a:gd name="GluePoint5Y" fmla="*/ 2147483647 h 640"/>
                <a:gd name="GluePoint6X" fmla="*/ 2147483647 w 2706"/>
                <a:gd name="GluePoint6Y" fmla="*/ 2147483647 h 640"/>
                <a:gd name="GluePoint7X" fmla="*/ 2147483647 w 2706"/>
                <a:gd name="GluePoint7Y" fmla="*/ 2147483647 h 640"/>
                <a:gd name="GluePoint8X" fmla="*/ 2147483647 w 2706"/>
                <a:gd name="GluePoint8Y" fmla="*/ 2147483647 h 640"/>
                <a:gd name="GluePoint9X" fmla="*/ 2147483647 w 2706"/>
                <a:gd name="GluePoint9Y" fmla="*/ 2147483647 h 640"/>
                <a:gd name="GluePoint10X" fmla="*/ 2147483647 w 2706"/>
                <a:gd name="GluePoint10Y" fmla="*/ 2147483647 h 640"/>
                <a:gd name="GluePoint11X" fmla="*/ 2147483647 w 2706"/>
                <a:gd name="GluePoint11Y" fmla="*/ 2147483647 h 640"/>
                <a:gd name="GluePoint12X" fmla="*/ 2147483647 w 2706"/>
                <a:gd name="GluePoint12Y" fmla="*/ 2147483647 h 640"/>
                <a:gd name="GluePoint13X" fmla="*/ 2147483647 w 2706"/>
                <a:gd name="GluePoint13Y" fmla="*/ 2147483647 h 640"/>
                <a:gd name="GluePoint14X" fmla="*/ 2147483647 w 2706"/>
                <a:gd name="GluePoint14Y" fmla="*/ 2147483647 h 640"/>
                <a:gd name="GluePoint15X" fmla="*/ 2147483647 w 2706"/>
                <a:gd name="GluePoint15Y" fmla="*/ 2147483647 h 640"/>
                <a:gd name="GluePoint16X" fmla="*/ 2147483647 w 2706"/>
                <a:gd name="GluePoint16Y" fmla="*/ 2147483647 h 640"/>
                <a:gd name="GluePoint17X" fmla="*/ 2147483647 w 2706"/>
                <a:gd name="GluePoint17Y" fmla="*/ 2147483647 h 640"/>
                <a:gd name="GluePoint18X" fmla="*/ 2147483647 w 2706"/>
                <a:gd name="GluePoint18Y" fmla="*/ 2147483647 h 640"/>
                <a:gd name="GluePoint19X" fmla="*/ 0 w 2706"/>
                <a:gd name="GluePoint19Y" fmla="*/ 2147483647 h 640"/>
                <a:gd name="GluePoint20X" fmla="*/ 0 w 2706"/>
                <a:gd name="GluePoint20Y" fmla="*/ 2147483647 h 640"/>
                <a:gd name="GluePoint21X" fmla="*/ 2147483647 w 2706"/>
                <a:gd name="GluePoint21Y" fmla="*/ 2147483647 h 640"/>
                <a:gd name="GluePoint22X" fmla="*/ 2147483647 w 2706"/>
                <a:gd name="GluePoint22Y" fmla="*/ 2147483647 h 640"/>
                <a:gd name="GluePoint23X" fmla="*/ 2147483647 w 2706"/>
                <a:gd name="GluePoint23Y" fmla="*/ 2147483647 h 640"/>
                <a:gd name="GluePoint24X" fmla="*/ 2147483647 w 2706"/>
                <a:gd name="GluePoint24Y" fmla="*/ 2147483647 h 640"/>
                <a:gd name="GluePoint25X" fmla="*/ 2147483647 w 2706"/>
                <a:gd name="GluePoint25Y" fmla="*/ 2147483647 h 640"/>
                <a:gd name="GluePoint26X" fmla="*/ 2147483647 w 2706"/>
                <a:gd name="GluePoint26Y" fmla="*/ 2147483647 h 640"/>
                <a:gd name="GluePoint27X" fmla="*/ 2147483647 w 2706"/>
                <a:gd name="GluePoint27Y" fmla="*/ 2147483647 h 640"/>
                <a:gd name="GluePoint28X" fmla="*/ 2147483647 w 2706"/>
                <a:gd name="GluePoint28Y" fmla="*/ 2147483647 h 640"/>
                <a:gd name="GluePoint29X" fmla="*/ 2147483647 w 2706"/>
                <a:gd name="GluePoint29Y" fmla="*/ 2147483647 h 640"/>
                <a:gd name="GluePoint30X" fmla="*/ 2147483647 w 2706"/>
                <a:gd name="GluePoint30Y" fmla="*/ 2147483647 h 640"/>
                <a:gd name="GluePoint31X" fmla="*/ 2147483647 w 2706"/>
                <a:gd name="GluePoint31Y" fmla="*/ 2147483647 h 640"/>
                <a:gd name="GluePoint32X" fmla="*/ 2147483647 w 2706"/>
                <a:gd name="GluePoint32Y" fmla="*/ 2147483647 h 640"/>
                <a:gd name="GluePoint33X" fmla="*/ 2147483647 w 2706"/>
                <a:gd name="GluePoint33Y" fmla="*/ 2147483647 h 640"/>
                <a:gd name="GluePoint34X" fmla="*/ 2147483647 w 2706"/>
                <a:gd name="GluePoint34Y" fmla="*/ 2147483647 h 640"/>
                <a:gd name="GluePoint35X" fmla="*/ 2147483647 w 2706"/>
                <a:gd name="GluePoint35Y" fmla="*/ 2147483647 h 640"/>
                <a:gd name="GluePoint36X" fmla="*/ 2147483647 w 2706"/>
                <a:gd name="GluePoint36Y" fmla="*/ 2147483647 h 640"/>
                <a:gd name="GluePoint37X" fmla="*/ 2147483647 w 2706"/>
                <a:gd name="GluePoint37Y" fmla="*/ 2147483647 h 640"/>
                <a:gd name="GluePoint38X" fmla="*/ 2147483647 w 2706"/>
                <a:gd name="GluePoint38Y" fmla="*/ 2147483647 h 640"/>
                <a:gd name="GluePoint39X" fmla="*/ 2147483647 w 2706"/>
                <a:gd name="GluePoint39Y" fmla="*/ 2147483647 h 640"/>
                <a:gd name="GluePoint40X" fmla="*/ 2147483647 w 2706"/>
                <a:gd name="GluePoint40Y" fmla="*/ 2147483647 h 640"/>
                <a:gd name="GluePoint41X" fmla="*/ 2147483647 w 2706"/>
                <a:gd name="GluePoint41Y" fmla="*/ 2147483647 h 640"/>
                <a:gd name="GluePoint42X" fmla="*/ 2147483647 w 2706"/>
                <a:gd name="GluePoint42Y" fmla="*/ 2147483647 h 640"/>
                <a:gd name="GluePoint43X" fmla="*/ 2147483647 w 2706"/>
                <a:gd name="GluePoint43Y" fmla="*/ 2147483647 h 640"/>
                <a:gd name="GluePoint44X" fmla="*/ 2147483647 w 2706"/>
                <a:gd name="GluePoint44Y" fmla="*/ 2147483647 h 640"/>
                <a:gd name="GluePoint45X" fmla="*/ 2147483647 w 2706"/>
                <a:gd name="GluePoint45Y" fmla="*/ 2147483647 h 640"/>
                <a:gd name="GluePoint46X" fmla="*/ 2147483647 w 2706"/>
                <a:gd name="GluePoint46Y" fmla="*/ 2147483647 h 640"/>
                <a:gd name="GluePoint47X" fmla="*/ 2147483647 w 2706"/>
                <a:gd name="GluePoint47Y" fmla="*/ 2147483647 h 640"/>
                <a:gd name="GluePoint48X" fmla="*/ 2147483647 w 2706"/>
                <a:gd name="GluePoint48Y" fmla="*/ 2147483647 h 640"/>
                <a:gd name="GluePoint49X" fmla="*/ 2147483647 w 2706"/>
                <a:gd name="GluePoint49Y" fmla="*/ 2147483647 h 640"/>
                <a:gd name="GluePoint50X" fmla="*/ 2147483647 w 2706"/>
                <a:gd name="GluePoint50Y" fmla="*/ 2147483647 h 640"/>
                <a:gd name="GluePoint51X" fmla="*/ 2147483647 w 2706"/>
                <a:gd name="GluePoint51Y" fmla="*/ 2147483647 h 640"/>
                <a:gd name="GluePoint52X" fmla="*/ 2147483647 w 2706"/>
                <a:gd name="GluePoint52Y" fmla="*/ 2147483647 h 640"/>
                <a:gd name="GluePoint53X" fmla="*/ 2147483647 w 2706"/>
                <a:gd name="GluePoint53Y" fmla="*/ 2147483647 h 640"/>
                <a:gd name="GluePoint54X" fmla="*/ 2147483647 w 2706"/>
                <a:gd name="GluePoint54Y" fmla="*/ 0 h 640"/>
                <a:gd name="GluePoint55X" fmla="*/ 2147483647 w 2706"/>
                <a:gd name="GluePoint55Y" fmla="*/ 0 h 640"/>
                <a:gd name="GluePoint56X" fmla="*/ 2147483647 w 2706"/>
                <a:gd name="GluePoint56Y" fmla="*/ 0 h 640"/>
                <a:gd name="GluePoint57X" fmla="*/ 2147483647 w 2706"/>
                <a:gd name="GluePoint57Y" fmla="*/ 0 h 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Lst>
              <a:rect l="l" t="t"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rgbClr val="C6E7FC">
                <a:alpha val="29000"/>
              </a:srgbClr>
            </a:solidFill>
            <a:ln w="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 name="Freeform 18"/>
            <p:cNvSpPr/>
            <p:nvPr/>
          </p:nvSpPr>
          <p:spPr>
            <a:xfrm>
              <a:off x="2618640" y="730800"/>
              <a:ext cx="5544720" cy="850680"/>
            </a:xfrm>
            <a:custGeom>
              <a:avLst/>
              <a:gdLst>
                <a:gd name="GluePoint1X" fmla="*/ 2147483647 w 5216"/>
                <a:gd name="GluePoint1Y" fmla="*/ 2147483647 h 762"/>
                <a:gd name="GluePoint2X" fmla="*/ 2147483647 w 5216"/>
                <a:gd name="GluePoint2Y" fmla="*/ 2147483647 h 762"/>
                <a:gd name="GluePoint3X" fmla="*/ 2147483647 w 5216"/>
                <a:gd name="GluePoint3Y" fmla="*/ 2147483647 h 762"/>
                <a:gd name="GluePoint4X" fmla="*/ 2147483647 w 5216"/>
                <a:gd name="GluePoint4Y" fmla="*/ 2147483647 h 762"/>
                <a:gd name="GluePoint5X" fmla="*/ 2147483647 w 5216"/>
                <a:gd name="GluePoint5Y" fmla="*/ 2147483647 h 762"/>
                <a:gd name="GluePoint6X" fmla="*/ 2147483647 w 5216"/>
                <a:gd name="GluePoint6Y" fmla="*/ 2147483647 h 762"/>
                <a:gd name="GluePoint7X" fmla="*/ 2147483647 w 5216"/>
                <a:gd name="GluePoint7Y" fmla="*/ 2147483647 h 762"/>
                <a:gd name="GluePoint8X" fmla="*/ 2147483647 w 5216"/>
                <a:gd name="GluePoint8Y" fmla="*/ 2147483647 h 762"/>
                <a:gd name="GluePoint9X" fmla="*/ 2147483647 w 5216"/>
                <a:gd name="GluePoint9Y" fmla="*/ 2147483647 h 762"/>
                <a:gd name="GluePoint10X" fmla="*/ 2147483647 w 5216"/>
                <a:gd name="GluePoint10Y" fmla="*/ 2147483647 h 762"/>
                <a:gd name="GluePoint11X" fmla="*/ 2147483647 w 5216"/>
                <a:gd name="GluePoint11Y" fmla="*/ 2147483647 h 762"/>
                <a:gd name="GluePoint12X" fmla="*/ 2147483647 w 5216"/>
                <a:gd name="GluePoint12Y" fmla="*/ 2147483647 h 762"/>
                <a:gd name="GluePoint13X" fmla="*/ 2147483647 w 5216"/>
                <a:gd name="GluePoint13Y" fmla="*/ 2147483647 h 762"/>
                <a:gd name="GluePoint14X" fmla="*/ 2147483647 w 5216"/>
                <a:gd name="GluePoint14Y" fmla="*/ 0 h 762"/>
                <a:gd name="GluePoint15X" fmla="*/ 2147483647 w 5216"/>
                <a:gd name="GluePoint15Y" fmla="*/ 2147483647 h 762"/>
                <a:gd name="GluePoint16X" fmla="*/ 2147483647 w 5216"/>
                <a:gd name="GluePoint16Y" fmla="*/ 2147483647 h 762"/>
                <a:gd name="GluePoint17X" fmla="*/ 0 w 5216"/>
                <a:gd name="GluePoint17Y" fmla="*/ 2147483647 h 762"/>
                <a:gd name="GluePoint18X" fmla="*/ 2147483647 w 5216"/>
                <a:gd name="GluePoint18Y" fmla="*/ 2147483647 h 762"/>
                <a:gd name="GluePoint19X" fmla="*/ 2147483647 w 5216"/>
                <a:gd name="GluePoint19Y" fmla="*/ 2147483647 h 762"/>
                <a:gd name="GluePoint20X" fmla="*/ 2147483647 w 5216"/>
                <a:gd name="GluePoint20Y" fmla="*/ 2147483647 h 762"/>
                <a:gd name="GluePoint21X" fmla="*/ 2147483647 w 5216"/>
                <a:gd name="GluePoint21Y" fmla="*/ 2147483647 h 762"/>
                <a:gd name="GluePoint22X" fmla="*/ 2147483647 w 5216"/>
                <a:gd name="GluePoint22Y" fmla="*/ 2147483647 h 762"/>
                <a:gd name="GluePoint23X" fmla="*/ 2147483647 w 5216"/>
                <a:gd name="GluePoint23Y" fmla="*/ 2147483647 h 762"/>
                <a:gd name="GluePoint24X" fmla="*/ 2147483647 w 5216"/>
                <a:gd name="GluePoint24Y" fmla="*/ 2147483647 h 762"/>
                <a:gd name="GluePoint25X" fmla="*/ 2147483647 w 5216"/>
                <a:gd name="GluePoint25Y" fmla="*/ 2147483647 h 762"/>
                <a:gd name="GluePoint26X" fmla="*/ 2147483647 w 5216"/>
                <a:gd name="GluePoint26Y" fmla="*/ 2147483647 h 762"/>
                <a:gd name="GluePoint27X" fmla="*/ 2147483647 w 5216"/>
                <a:gd name="GluePoint27Y" fmla="*/ 2147483647 h 762"/>
                <a:gd name="GluePoint28X" fmla="*/ 2147483647 w 5216"/>
                <a:gd name="GluePoint28Y" fmla="*/ 2147483647 h 762"/>
                <a:gd name="GluePoint29X" fmla="*/ 2147483647 w 5216"/>
                <a:gd name="GluePoint29Y" fmla="*/ 2147483647 h 762"/>
                <a:gd name="GluePoint30X" fmla="*/ 2147483647 w 5216"/>
                <a:gd name="GluePoint30Y" fmla="*/ 2147483647 h 762"/>
                <a:gd name="GluePoint31X" fmla="*/ 2147483647 w 5216"/>
                <a:gd name="GluePoint31Y" fmla="*/ 2147483647 h 762"/>
                <a:gd name="GluePoint32X" fmla="*/ 2147483647 w 5216"/>
                <a:gd name="GluePoint32Y" fmla="*/ 2147483647 h 762"/>
                <a:gd name="GluePoint33X" fmla="*/ 2147483647 w 5216"/>
                <a:gd name="GluePoint33Y" fmla="*/ 2147483647 h 762"/>
                <a:gd name="GluePoint34X" fmla="*/ 2147483647 w 5216"/>
                <a:gd name="GluePoint34Y" fmla="*/ 2147483647 h 762"/>
                <a:gd name="GluePoint35X" fmla="*/ 2147483647 w 5216"/>
                <a:gd name="GluePoint35Y" fmla="*/ 2147483647 h 762"/>
                <a:gd name="GluePoint36X" fmla="*/ 2147483647 w 5216"/>
                <a:gd name="GluePoint36Y" fmla="*/ 2147483647 h 7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rgbClr val="C6E7FC">
                <a:alpha val="40000"/>
              </a:srgbClr>
            </a:solidFill>
            <a:ln w="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 name="Freeform 22"/>
            <p:cNvSpPr/>
            <p:nvPr/>
          </p:nvSpPr>
          <p:spPr>
            <a:xfrm>
              <a:off x="2828160" y="743040"/>
              <a:ext cx="5468040" cy="774720"/>
            </a:xfrm>
            <a:custGeom>
              <a:avLst/>
              <a:gdLst>
                <a:gd name="GluePoint1X" fmla="*/ 0 w 5144"/>
                <a:gd name="GluePoint1Y" fmla="*/ 2147483647 h 694"/>
                <a:gd name="GluePoint2X" fmla="*/ 0 w 5144"/>
                <a:gd name="GluePoint2Y" fmla="*/ 2147483647 h 694"/>
                <a:gd name="GluePoint3X" fmla="*/ 2147483647 w 5144"/>
                <a:gd name="GluePoint3Y" fmla="*/ 2147483647 h 694"/>
                <a:gd name="GluePoint4X" fmla="*/ 2147483647 w 5144"/>
                <a:gd name="GluePoint4Y" fmla="*/ 2147483647 h 694"/>
                <a:gd name="GluePoint5X" fmla="*/ 2147483647 w 5144"/>
                <a:gd name="GluePoint5Y" fmla="*/ 2147483647 h 694"/>
                <a:gd name="GluePoint6X" fmla="*/ 2147483647 w 5144"/>
                <a:gd name="GluePoint6Y" fmla="*/ 2147483647 h 694"/>
                <a:gd name="GluePoint7X" fmla="*/ 2147483647 w 5144"/>
                <a:gd name="GluePoint7Y" fmla="*/ 2147483647 h 694"/>
                <a:gd name="GluePoint8X" fmla="*/ 2147483647 w 5144"/>
                <a:gd name="GluePoint8Y" fmla="*/ 2147483647 h 694"/>
                <a:gd name="GluePoint9X" fmla="*/ 2147483647 w 5144"/>
                <a:gd name="GluePoint9Y" fmla="*/ 2147483647 h 694"/>
                <a:gd name="GluePoint10X" fmla="*/ 2147483647 w 5144"/>
                <a:gd name="GluePoint10Y" fmla="*/ 2147483647 h 694"/>
                <a:gd name="GluePoint11X" fmla="*/ 2147483647 w 5144"/>
                <a:gd name="GluePoint11Y" fmla="*/ 2147483647 h 694"/>
                <a:gd name="GluePoint12X" fmla="*/ 2147483647 w 5144"/>
                <a:gd name="GluePoint12Y" fmla="*/ 2147483647 h 694"/>
                <a:gd name="GluePoint13X" fmla="*/ 2147483647 w 5144"/>
                <a:gd name="GluePoint13Y" fmla="*/ 0 h 694"/>
                <a:gd name="GluePoint14X" fmla="*/ 2147483647 w 5144"/>
                <a:gd name="GluePoint14Y" fmla="*/ 2147483647 h 694"/>
                <a:gd name="GluePoint15X" fmla="*/ 2147483647 w 5144"/>
                <a:gd name="GluePoint15Y" fmla="*/ 2147483647 h 694"/>
                <a:gd name="GluePoint16X" fmla="*/ 2147483647 w 5144"/>
                <a:gd name="GluePoint16Y" fmla="*/ 2147483647 h 694"/>
                <a:gd name="GluePoint17X" fmla="*/ 2147483647 w 5144"/>
                <a:gd name="GluePoint17Y" fmla="*/ 2147483647 h 694"/>
                <a:gd name="GluePoint18X" fmla="*/ 2147483647 w 5144"/>
                <a:gd name="GluePoint18Y" fmla="*/ 2147483647 h 694"/>
                <a:gd name="GluePoint19X" fmla="*/ 2147483647 w 5144"/>
                <a:gd name="GluePoint19Y" fmla="*/ 2147483647 h 694"/>
                <a:gd name="GluePoint20X" fmla="*/ 2147483647 w 5144"/>
                <a:gd name="GluePoint20Y" fmla="*/ 2147483647 h 694"/>
                <a:gd name="GluePoint21X" fmla="*/ 2147483647 w 5144"/>
                <a:gd name="GluePoint21Y" fmla="*/ 2147483647 h 694"/>
                <a:gd name="GluePoint22X" fmla="*/ 2147483647 w 5144"/>
                <a:gd name="GluePoint22Y" fmla="*/ 2147483647 h 694"/>
                <a:gd name="GluePoint23X" fmla="*/ 2147483647 w 5144"/>
                <a:gd name="GluePoint23Y" fmla="*/ 2147483647 h 694"/>
                <a:gd name="GluePoint24X" fmla="*/ 2147483647 w 5144"/>
                <a:gd name="GluePoint24Y" fmla="*/ 2147483647 h 694"/>
                <a:gd name="GluePoint25X" fmla="*/ 2147483647 w 5144"/>
                <a:gd name="GluePoint25Y" fmla="*/ 2147483647 h 694"/>
                <a:gd name="GluePoint26X" fmla="*/ 2147483647 w 5144"/>
                <a:gd name="GluePoint26Y" fmla="*/ 2147483647 h 694"/>
                <a:gd name="GluePoint27X" fmla="*/ 2147483647 w 5144"/>
                <a:gd name="GluePoint27Y" fmla="*/ 2147483647 h 694"/>
                <a:gd name="GluePoint28X" fmla="*/ 2147483647 w 5144"/>
                <a:gd name="GluePoint28Y" fmla="*/ 2147483647 h 694"/>
                <a:gd name="GluePoint29X" fmla="*/ 2147483647 w 5144"/>
                <a:gd name="GluePoint29Y" fmla="*/ 2147483647 h 694"/>
                <a:gd name="GluePoint30X" fmla="*/ 2147483647 w 5144"/>
                <a:gd name="GluePoint30Y" fmla="*/ 2147483647 h 694"/>
                <a:gd name="GluePoint31X" fmla="*/ 2147483647 w 5144"/>
                <a:gd name="GluePoint31Y" fmla="*/ 2147483647 h 6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l" t="t"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0">
              <a:solidFill>
                <a:srgbClr val="FFFFFF"/>
              </a:solid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 name="Freeform 26"/>
            <p:cNvSpPr/>
            <p:nvPr/>
          </p:nvSpPr>
          <p:spPr>
            <a:xfrm>
              <a:off x="5608800" y="729720"/>
              <a:ext cx="3308040" cy="651960"/>
            </a:xfrm>
            <a:custGeom>
              <a:avLst/>
              <a:gdLst>
                <a:gd name="GluePoint1X" fmla="*/ 0 w 3112"/>
                <a:gd name="GluePoint1Y" fmla="*/ 2147483647 h 584"/>
                <a:gd name="GluePoint2X" fmla="*/ 0 w 3112"/>
                <a:gd name="GluePoint2Y" fmla="*/ 2147483647 h 584"/>
                <a:gd name="GluePoint3X" fmla="*/ 2147483647 w 3112"/>
                <a:gd name="GluePoint3Y" fmla="*/ 2147483647 h 584"/>
                <a:gd name="GluePoint4X" fmla="*/ 2147483647 w 3112"/>
                <a:gd name="GluePoint4Y" fmla="*/ 2147483647 h 584"/>
                <a:gd name="GluePoint5X" fmla="*/ 2147483647 w 3112"/>
                <a:gd name="GluePoint5Y" fmla="*/ 2147483647 h 584"/>
                <a:gd name="GluePoint6X" fmla="*/ 2147483647 w 3112"/>
                <a:gd name="GluePoint6Y" fmla="*/ 2147483647 h 584"/>
                <a:gd name="GluePoint7X" fmla="*/ 2147483647 w 3112"/>
                <a:gd name="GluePoint7Y" fmla="*/ 2147483647 h 584"/>
                <a:gd name="GluePoint8X" fmla="*/ 2147483647 w 3112"/>
                <a:gd name="GluePoint8Y" fmla="*/ 2147483647 h 584"/>
                <a:gd name="GluePoint9X" fmla="*/ 2147483647 w 3112"/>
                <a:gd name="GluePoint9Y" fmla="*/ 2147483647 h 584"/>
                <a:gd name="GluePoint10X" fmla="*/ 2147483647 w 3112"/>
                <a:gd name="GluePoint10Y" fmla="*/ 2147483647 h 584"/>
                <a:gd name="GluePoint11X" fmla="*/ 2147483647 w 3112"/>
                <a:gd name="GluePoint11Y" fmla="*/ 2147483647 h 584"/>
                <a:gd name="GluePoint12X" fmla="*/ 2147483647 w 3112"/>
                <a:gd name="GluePoint12Y" fmla="*/ 2147483647 h 584"/>
                <a:gd name="GluePoint13X" fmla="*/ 2147483647 w 3112"/>
                <a:gd name="GluePoint13Y" fmla="*/ 2147483647 h 584"/>
                <a:gd name="GluePoint14X" fmla="*/ 2147483647 w 3112"/>
                <a:gd name="GluePoint14Y" fmla="*/ 2147483647 h 584"/>
                <a:gd name="GluePoint15X" fmla="*/ 2147483647 w 3112"/>
                <a:gd name="GluePoint15Y" fmla="*/ 2147483647 h 584"/>
                <a:gd name="GluePoint16X" fmla="*/ 2147483647 w 3112"/>
                <a:gd name="GluePoint16Y" fmla="*/ 2147483647 h 584"/>
                <a:gd name="GluePoint17X" fmla="*/ 2147483647 w 3112"/>
                <a:gd name="GluePoint17Y" fmla="*/ 2147483647 h 584"/>
                <a:gd name="GluePoint18X" fmla="*/ 2147483647 w 3112"/>
                <a:gd name="GluePoint18Y" fmla="*/ 2147483647 h 584"/>
                <a:gd name="GluePoint19X" fmla="*/ 2147483647 w 3112"/>
                <a:gd name="GluePoint19Y" fmla="*/ 2147483647 h 584"/>
                <a:gd name="GluePoint20X" fmla="*/ 2147483647 w 3112"/>
                <a:gd name="GluePoint20Y" fmla="*/ 0 h 5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l" t="t"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0">
              <a:solidFill>
                <a:srgbClr val="FFFFFF"/>
              </a:solid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useBgFill="1">
          <p:nvSpPr>
            <p:cNvPr id="8" name="Freeform 10"/>
            <p:cNvSpPr/>
            <p:nvPr/>
          </p:nvSpPr>
          <p:spPr>
            <a:xfrm>
              <a:off x="210960" y="714240"/>
              <a:ext cx="8723520" cy="1330560"/>
            </a:xfrm>
            <a:custGeom>
              <a:avLst/>
              <a:gdLst>
                <a:gd name="GluePoint1X" fmla="*/ 2147483647 w 8196"/>
                <a:gd name="GluePoint1Y" fmla="*/ 2147483647 h 1192"/>
                <a:gd name="GluePoint2X" fmla="*/ 2147483647 w 8196"/>
                <a:gd name="GluePoint2Y" fmla="*/ 2147483647 h 1192"/>
                <a:gd name="GluePoint3X" fmla="*/ 2147483647 w 8196"/>
                <a:gd name="GluePoint3Y" fmla="*/ 2147483647 h 1192"/>
                <a:gd name="GluePoint4X" fmla="*/ 2147483647 w 8196"/>
                <a:gd name="GluePoint4Y" fmla="*/ 2147483647 h 1192"/>
                <a:gd name="GluePoint5X" fmla="*/ 2147483647 w 8196"/>
                <a:gd name="GluePoint5Y" fmla="*/ 2147483647 h 1192"/>
                <a:gd name="GluePoint6X" fmla="*/ 2147483647 w 8196"/>
                <a:gd name="GluePoint6Y" fmla="*/ 2147483647 h 1192"/>
                <a:gd name="GluePoint7X" fmla="*/ 2147483647 w 8196"/>
                <a:gd name="GluePoint7Y" fmla="*/ 2147483647 h 1192"/>
                <a:gd name="GluePoint8X" fmla="*/ 2147483647 w 8196"/>
                <a:gd name="GluePoint8Y" fmla="*/ 2147483647 h 1192"/>
                <a:gd name="GluePoint9X" fmla="*/ 2147483647 w 8196"/>
                <a:gd name="GluePoint9Y" fmla="*/ 2147483647 h 1192"/>
                <a:gd name="GluePoint10X" fmla="*/ 2147483647 w 8196"/>
                <a:gd name="GluePoint10Y" fmla="*/ 2147483647 h 1192"/>
                <a:gd name="GluePoint11X" fmla="*/ 2147483647 w 8196"/>
                <a:gd name="GluePoint11Y" fmla="*/ 2147483647 h 1192"/>
                <a:gd name="GluePoint12X" fmla="*/ 2147483647 w 8196"/>
                <a:gd name="GluePoint12Y" fmla="*/ 2147483647 h 1192"/>
                <a:gd name="GluePoint13X" fmla="*/ 2147483647 w 8196"/>
                <a:gd name="GluePoint13Y" fmla="*/ 2147483647 h 1192"/>
                <a:gd name="GluePoint14X" fmla="*/ 2147483647 w 8196"/>
                <a:gd name="GluePoint14Y" fmla="*/ 2147483647 h 1192"/>
                <a:gd name="GluePoint15X" fmla="*/ 2147483647 w 8196"/>
                <a:gd name="GluePoint15Y" fmla="*/ 2147483647 h 1192"/>
                <a:gd name="GluePoint16X" fmla="*/ 2147483647 w 8196"/>
                <a:gd name="GluePoint16Y" fmla="*/ 2147483647 h 1192"/>
                <a:gd name="GluePoint17X" fmla="*/ 2147483647 w 8196"/>
                <a:gd name="GluePoint17Y" fmla="*/ 2147483647 h 1192"/>
                <a:gd name="GluePoint18X" fmla="*/ 2147483647 w 8196"/>
                <a:gd name="GluePoint18Y" fmla="*/ 2147483647 h 1192"/>
                <a:gd name="GluePoint19X" fmla="*/ 2147483647 w 8196"/>
                <a:gd name="GluePoint19Y" fmla="*/ 2147483647 h 1192"/>
                <a:gd name="GluePoint20X" fmla="*/ 2147483647 w 8196"/>
                <a:gd name="GluePoint20Y" fmla="*/ 2147483647 h 1192"/>
                <a:gd name="GluePoint21X" fmla="*/ 2147483647 w 8196"/>
                <a:gd name="GluePoint21Y" fmla="*/ 2147483647 h 1192"/>
                <a:gd name="GluePoint22X" fmla="*/ 2147483647 w 8196"/>
                <a:gd name="GluePoint22Y" fmla="*/ 2147483647 h 1192"/>
                <a:gd name="GluePoint23X" fmla="*/ 2147483647 w 8196"/>
                <a:gd name="GluePoint23Y" fmla="*/ 0 h 1192"/>
                <a:gd name="GluePoint24X" fmla="*/ 2147483647 w 8196"/>
                <a:gd name="GluePoint24Y" fmla="*/ 2147483647 h 1192"/>
                <a:gd name="GluePoint25X" fmla="*/ 2147483647 w 8196"/>
                <a:gd name="GluePoint25Y" fmla="*/ 2147483647 h 1192"/>
                <a:gd name="GluePoint26X" fmla="*/ 2147483647 w 8196"/>
                <a:gd name="GluePoint26Y" fmla="*/ 2147483647 h 1192"/>
                <a:gd name="GluePoint27X" fmla="*/ 2147483647 w 8196"/>
                <a:gd name="GluePoint27Y" fmla="*/ 2147483647 h 1192"/>
                <a:gd name="GluePoint28X" fmla="*/ 2147483647 w 8196"/>
                <a:gd name="GluePoint28Y" fmla="*/ 2147483647 h 1192"/>
                <a:gd name="GluePoint29X" fmla="*/ 2147483647 w 8196"/>
                <a:gd name="GluePoint29Y" fmla="*/ 2147483647 h 1192"/>
                <a:gd name="GluePoint30X" fmla="*/ 2147483647 w 8196"/>
                <a:gd name="GluePoint30Y" fmla="*/ 2147483647 h 1192"/>
                <a:gd name="GluePoint31X" fmla="*/ 2147483647 w 8196"/>
                <a:gd name="GluePoint31Y" fmla="*/ 2147483647 h 1192"/>
                <a:gd name="GluePoint32X" fmla="*/ 0 w 8196"/>
                <a:gd name="GluePoint32Y" fmla="*/ 2147483647 h 1192"/>
                <a:gd name="GluePoint33X" fmla="*/ 2147483647 w 8196"/>
                <a:gd name="GluePoint33Y" fmla="*/ 2147483647 h 1192"/>
                <a:gd name="GluePoint34X" fmla="*/ 2147483647 w 8196"/>
                <a:gd name="GluePoint34Y" fmla="*/ 2147483647 h 1192"/>
                <a:gd name="GluePoint35X" fmla="*/ 2147483647 w 8196"/>
                <a:gd name="GluePoint35Y" fmla="*/ 2147483647 h 1192"/>
                <a:gd name="GluePoint36X" fmla="*/ 2147483647 w 8196"/>
                <a:gd name="GluePoint36Y" fmla="*/ 2147483647 h 11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w="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9" name="PlaceHolder 1"/>
          <p:cNvSpPr>
            <a:spLocks noGrp="1"/>
          </p:cNvSpPr>
          <p:nvPr>
            <p:ph type="title"/>
          </p:nvPr>
        </p:nvSpPr>
        <p:spPr>
          <a:xfrm>
            <a:off x="457200" y="338040"/>
            <a:ext cx="8229600" cy="12528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4400" b="0" u="none" strike="noStrike">
                <a:solidFill>
                  <a:srgbClr val="FFFFFF"/>
                </a:solidFill>
                <a:effectLst/>
                <a:uFillTx/>
                <a:latin typeface="Candara"/>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Candara"/>
              </a:rPr>
              <a:t>单击以编辑标题文本格式</a:t>
            </a:r>
            <a:endParaRPr lang="en-US" sz="4400" b="0" u="none" strike="noStrike">
              <a:solidFill>
                <a:srgbClr val="FFFFFF"/>
              </a:solidFill>
              <a:effectLst/>
              <a:uFillTx/>
              <a:latin typeface="Candara"/>
            </a:endParaRPr>
          </a:p>
        </p:txBody>
      </p:sp>
      <p:sp>
        <p:nvSpPr>
          <p:cNvPr id="10" name="PlaceHolder 2"/>
          <p:cNvSpPr>
            <a:spLocks noGrp="1"/>
          </p:cNvSpPr>
          <p:nvPr>
            <p:ph type="body"/>
          </p:nvPr>
        </p:nvSpPr>
        <p:spPr>
          <a:xfrm>
            <a:off x="871560" y="2674440"/>
            <a:ext cx="7408800" cy="3451320"/>
          </a:xfrm>
          <a:prstGeom prst="rect">
            <a:avLst/>
          </a:prstGeom>
          <a:noFill/>
          <a:ln w="0">
            <a:noFill/>
          </a:ln>
        </p:spPr>
        <p:txBody>
          <a:bodyPr lIns="90000" tIns="46800" rIns="90000" bIns="46800" anchor="t">
            <a:normAutofit/>
          </a:bodyPr>
          <a:lstStyle>
            <a:lvl1pPr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1pPr>
            <a:lvl2pPr lvl="1"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2pPr>
            <a:lvl3pPr lvl="2"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3pPr>
            <a:lvl4pPr lvl="3"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4pPr>
            <a:lvl5pPr lvl="4"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5pPr>
            <a:lvl6pPr lvl="5"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6pPr>
            <a:lvl7pPr lvl="6"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2400" b="0" u="none" strike="noStrike">
                <a:solidFill>
                  <a:srgbClr val="073E87"/>
                </a:solidFill>
                <a:effectLst/>
                <a:uFillTx/>
                <a:latin typeface="Candara"/>
              </a:defRPr>
            </a:lvl7pPr>
          </a:lstStyle>
          <a:p>
            <a:pPr marL="272880" indent="-27288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点击以编辑提纲文本格式</a:t>
            </a:r>
            <a:endParaRPr lang="en-US" sz="2400" b="0" u="none" strike="noStrike">
              <a:solidFill>
                <a:srgbClr val="073E87"/>
              </a:solidFill>
              <a:effectLst/>
              <a:uFillTx/>
              <a:latin typeface="Candara"/>
            </a:endParaRPr>
          </a:p>
          <a:p>
            <a:pPr marL="576360" lvl="1" indent="-27324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第二提纲级别</a:t>
            </a:r>
            <a:endParaRPr lang="en-US" sz="2400" b="0" u="none" strike="noStrike">
              <a:solidFill>
                <a:srgbClr val="073E87"/>
              </a:solidFill>
              <a:effectLst/>
              <a:uFillTx/>
              <a:latin typeface="Candara"/>
            </a:endParaRPr>
          </a:p>
          <a:p>
            <a:pPr marL="855720" lvl="2"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第三提纲级别</a:t>
            </a:r>
            <a:endParaRPr lang="en-US" sz="2400" b="0" u="none" strike="noStrike">
              <a:solidFill>
                <a:srgbClr val="073E87"/>
              </a:solidFill>
              <a:effectLst/>
              <a:uFillTx/>
              <a:latin typeface="Candara"/>
            </a:endParaRPr>
          </a:p>
          <a:p>
            <a:pPr marL="1143000" lvl="3"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第四提纲级别</a:t>
            </a:r>
            <a:endParaRPr lang="en-US" sz="2400" b="0" u="none" strike="noStrike">
              <a:solidFill>
                <a:srgbClr val="073E87"/>
              </a:solidFill>
              <a:effectLst/>
              <a:uFillTx/>
              <a:latin typeface="Candara"/>
            </a:endParaRPr>
          </a:p>
          <a:p>
            <a:pPr marL="1461960" lvl="4" indent="-228600" algn="l">
              <a:spcBef>
                <a:spcPts val="601"/>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第五提纲级别</a:t>
            </a:r>
            <a:endParaRPr lang="en-US" sz="2400" b="0" u="none" strike="noStrike">
              <a:solidFill>
                <a:srgbClr val="073E87"/>
              </a:solidFill>
              <a:effectLst/>
              <a:uFillTx/>
              <a:latin typeface="Candara"/>
            </a:endParaRPr>
          </a:p>
          <a:p>
            <a:pPr marL="1461960" lvl="5" indent="-228600"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第六提纲级别</a:t>
            </a:r>
            <a:endParaRPr lang="en-US" sz="2400" b="0" u="none" strike="noStrike">
              <a:solidFill>
                <a:srgbClr val="073E87"/>
              </a:solidFill>
              <a:effectLst/>
              <a:uFillTx/>
              <a:latin typeface="Candara"/>
            </a:endParaRPr>
          </a:p>
          <a:p>
            <a:pPr marL="1461960" lvl="6" indent="-228600" algn="l">
              <a:spcBef>
                <a:spcPts val="601"/>
              </a:spcBef>
              <a:buClr>
                <a:srgbClr val="000000"/>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73E87"/>
                </a:solidFill>
                <a:effectLst/>
                <a:uFillTx/>
                <a:latin typeface="Candara"/>
              </a:rPr>
              <a:t>第七提纲级别</a:t>
            </a:r>
            <a:endParaRPr lang="en-US" sz="2400" b="0" u="none" strike="noStrike">
              <a:solidFill>
                <a:srgbClr val="073E87"/>
              </a:solidFill>
              <a:effectLst/>
              <a:uFillTx/>
              <a:latin typeface="Candara"/>
            </a:endParaRPr>
          </a:p>
        </p:txBody>
      </p:sp>
      <p:sp>
        <p:nvSpPr>
          <p:cNvPr id="11" name="PlaceHolder 3"/>
          <p:cNvSpPr>
            <a:spLocks noGrp="1"/>
          </p:cNvSpPr>
          <p:nvPr>
            <p:ph type="dt" idx="1"/>
          </p:nvPr>
        </p:nvSpPr>
        <p:spPr>
          <a:xfrm>
            <a:off x="5163840" y="6249960"/>
            <a:ext cx="378612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000" b="0" u="none" strike="noStrike">
                <a:solidFill>
                  <a:srgbClr val="073E87"/>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3C4AB72-954C-4406-BDD2-92BF3B52299A}" type="datetime">
              <a:rPr lang="en-US" sz="1000" b="0" u="none" strike="noStrike">
                <a:solidFill>
                  <a:srgbClr val="073E87"/>
                </a:solidFill>
                <a:effectLst/>
                <a:uFillTx/>
                <a:latin typeface="Times New Roman"/>
              </a:rPr>
              <a:t>04/05/26</a:t>
            </a:fld>
            <a:endParaRPr lang="en-US" sz="1000" b="0" u="none" strike="noStrike">
              <a:solidFill>
                <a:srgbClr val="000000"/>
              </a:solidFill>
              <a:effectLst/>
              <a:uFillTx/>
              <a:latin typeface="Times New Roman"/>
            </a:endParaRPr>
          </a:p>
        </p:txBody>
      </p:sp>
      <p:sp>
        <p:nvSpPr>
          <p:cNvPr id="12" name="PlaceHolder 4"/>
          <p:cNvSpPr>
            <a:spLocks noGrp="1"/>
          </p:cNvSpPr>
          <p:nvPr>
            <p:ph type="ftr" idx="2"/>
          </p:nvPr>
        </p:nvSpPr>
        <p:spPr>
          <a:xfrm>
            <a:off x="193320" y="6249960"/>
            <a:ext cx="3786120" cy="36504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 name="PlaceHolder 5"/>
          <p:cNvSpPr>
            <a:spLocks noGrp="1"/>
          </p:cNvSpPr>
          <p:nvPr>
            <p:ph type="sldNum" idx="3"/>
          </p:nvPr>
        </p:nvSpPr>
        <p:spPr>
          <a:xfrm>
            <a:off x="3990960" y="6249960"/>
            <a:ext cx="116208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000" b="0" u="none" strike="noStrike">
                <a:solidFill>
                  <a:srgbClr val="073E87"/>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30C3E58-FB37-4825-9A32-29CDDC6C3E80}" type="slidenum">
              <a:rPr lang="en-US" sz="1000" b="0" u="none" strike="noStrike">
                <a:solidFill>
                  <a:srgbClr val="073E87"/>
                </a:solidFill>
                <a:effectLst/>
                <a:uFillTx/>
                <a:latin typeface="Times New Roman"/>
              </a:rPr>
              <a:t>&lt;编号&gt;</a:t>
            </a:fld>
            <a:endParaRPr lang="en-US"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4.emf"/><Relationship Id="rId2" Type="http://schemas.openxmlformats.org/officeDocument/2006/relationships/image" Target="../media/image5.emf"/><Relationship Id="rId3" Type="http://schemas.openxmlformats.org/officeDocument/2006/relationships/image" Target="../media/image6.emf"/><Relationship Id="rId4" Type="http://schemas.openxmlformats.org/officeDocument/2006/relationships/image" Target="../media/image7.emf"/><Relationship Id="rId5" Type="http://schemas.openxmlformats.org/officeDocument/2006/relationships/image" Target="../media/image8.emf"/><Relationship Id="rId6" Type="http://schemas.openxmlformats.org/officeDocument/2006/relationships/image" Target="../media/image9.emf"/><Relationship Id="rId7" Type="http://schemas.openxmlformats.org/officeDocument/2006/relationships/image" Target="../media/image10.emf"/><Relationship Id="rId8" Type="http://schemas.openxmlformats.org/officeDocument/2006/relationships/image" Target="../media/image11.emf"/><Relationship Id="rId9" Type="http://schemas.openxmlformats.org/officeDocument/2006/relationships/image" Target="../media/image12.emf"/><Relationship Id="rId10" Type="http://schemas.openxmlformats.org/officeDocument/2006/relationships/image" Target="../media/image13.emf"/><Relationship Id="rId11" Type="http://schemas.openxmlformats.org/officeDocument/2006/relationships/image" Target="../media/image14.emf"/><Relationship Id="rId12" Type="http://schemas.openxmlformats.org/officeDocument/2006/relationships/image" Target="../media/image15.emf"/><Relationship Id="rId1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6.emf"/><Relationship Id="rId2" Type="http://schemas.openxmlformats.org/officeDocument/2006/relationships/image" Target="../media/image17.emf"/><Relationship Id="rId3" Type="http://schemas.openxmlformats.org/officeDocument/2006/relationships/image" Target="../media/image18.emf"/><Relationship Id="rId4" Type="http://schemas.openxmlformats.org/officeDocument/2006/relationships/image" Target="../media/image14.emf"/><Relationship Id="rId5" Type="http://schemas.openxmlformats.org/officeDocument/2006/relationships/image" Target="../media/image13.emf"/><Relationship Id="rId6" Type="http://schemas.openxmlformats.org/officeDocument/2006/relationships/image" Target="../media/image15.emf"/><Relationship Id="rId7" Type="http://schemas.openxmlformats.org/officeDocument/2006/relationships/image" Target="../media/image10.emf"/><Relationship Id="rId8" Type="http://schemas.openxmlformats.org/officeDocument/2006/relationships/image" Target="../media/image19.emf"/><Relationship Id="rId9" Type="http://schemas.openxmlformats.org/officeDocument/2006/relationships/image" Target="../media/image20.emf"/><Relationship Id="rId10" Type="http://schemas.openxmlformats.org/officeDocument/2006/relationships/image" Target="../media/image21.emf"/><Relationship Id="rId11" Type="http://schemas.openxmlformats.org/officeDocument/2006/relationships/image" Target="../media/image11.emf"/><Relationship Id="rId1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2.emf"/><Relationship Id="rId2" Type="http://schemas.openxmlformats.org/officeDocument/2006/relationships/image" Target="../media/image23.emf"/><Relationship Id="rId3" Type="http://schemas.openxmlformats.org/officeDocument/2006/relationships/image" Target="../media/image24.emf"/><Relationship Id="rId4" Type="http://schemas.openxmlformats.org/officeDocument/2006/relationships/image" Target="../media/image25.emf"/><Relationship Id="rId5" Type="http://schemas.openxmlformats.org/officeDocument/2006/relationships/image" Target="../media/image26.emf"/><Relationship Id="rId6" Type="http://schemas.openxmlformats.org/officeDocument/2006/relationships/image" Target="../media/image24.emf"/><Relationship Id="rId7" Type="http://schemas.openxmlformats.org/officeDocument/2006/relationships/oleObject" Target="../embeddings/oleObject1.bin"/><Relationship Id="rId8" Type="http://schemas.openxmlformats.org/officeDocument/2006/relationships/image" Target="../media/image27.wmf"/><Relationship Id="rId9"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8.wmf"/><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9.wmf"/><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0.emf"/><Relationship Id="rId2" Type="http://schemas.openxmlformats.org/officeDocument/2006/relationships/image" Target="../media/image31.emf"/><Relationship Id="rId3" Type="http://schemas.openxmlformats.org/officeDocument/2006/relationships/image" Target="../media/image32.emf"/><Relationship Id="rId4" Type="http://schemas.openxmlformats.org/officeDocument/2006/relationships/image" Target="../media/image33.emf"/><Relationship Id="rId5" Type="http://schemas.openxmlformats.org/officeDocument/2006/relationships/image" Target="../media/image34.emf"/><Relationship Id="rId6" Type="http://schemas.openxmlformats.org/officeDocument/2006/relationships/image" Target="../media/image33.emf"/><Relationship Id="rId7"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0.emf"/><Relationship Id="rId2" Type="http://schemas.openxmlformats.org/officeDocument/2006/relationships/image" Target="../media/image35.emf"/><Relationship Id="rId3" Type="http://schemas.openxmlformats.org/officeDocument/2006/relationships/image" Target="../media/image34.emf"/><Relationship Id="rId4" Type="http://schemas.openxmlformats.org/officeDocument/2006/relationships/image" Target="../media/image35.emf"/><Relationship Id="rId5" Type="http://schemas.openxmlformats.org/officeDocument/2006/relationships/image" Target="../media/image34.emf"/><Relationship Id="rId6" Type="http://schemas.openxmlformats.org/officeDocument/2006/relationships/image" Target="../media/image30.emf"/><Relationship Id="rId7"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6.wmf"/><Relationship Id="rId3" Type="http://schemas.openxmlformats.org/officeDocument/2006/relationships/image" Target="../media/image37.emf"/><Relationship Id="rId4" Type="http://schemas.openxmlformats.org/officeDocument/2006/relationships/image" Target="../media/image38.emf"/><Relationship Id="rId5" Type="http://schemas.openxmlformats.org/officeDocument/2006/relationships/image" Target="../media/image39.emf"/><Relationship Id="rId6" Type="http://schemas.openxmlformats.org/officeDocument/2006/relationships/oleObject" Target="../embeddings/oleObject2.bin"/><Relationship Id="rId7" Type="http://schemas.openxmlformats.org/officeDocument/2006/relationships/image" Target="../media/image40.wmf"/><Relationship Id="rId8"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41.emf"/><Relationship Id="rId2" Type="http://schemas.openxmlformats.org/officeDocument/2006/relationships/image" Target="../media/image42.wmf"/><Relationship Id="rId3" Type="http://schemas.openxmlformats.org/officeDocument/2006/relationships/image" Target="../media/image43.emf"/><Relationship Id="rId4" Type="http://schemas.openxmlformats.org/officeDocument/2006/relationships/image" Target="../media/image44.emf"/><Relationship Id="rId5" Type="http://schemas.openxmlformats.org/officeDocument/2006/relationships/oleObject" Target="../embeddings/oleObject1.bin"/><Relationship Id="rId6" Type="http://schemas.openxmlformats.org/officeDocument/2006/relationships/image" Target="../media/image45.wmf"/><Relationship Id="rId7"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6.wmf"/><Relationship Id="rId3" Type="http://schemas.openxmlformats.org/officeDocument/2006/relationships/image" Target="../media/image47.emf"/><Relationship Id="rId4" Type="http://schemas.openxmlformats.org/officeDocument/2006/relationships/image" Target="../media/image48.emf"/><Relationship Id="rId5" Type="http://schemas.openxmlformats.org/officeDocument/2006/relationships/image" Target="../media/image49.emf"/><Relationship Id="rId6" Type="http://schemas.openxmlformats.org/officeDocument/2006/relationships/image" Target="../media/image50.emf"/><Relationship Id="rId7" Type="http://schemas.openxmlformats.org/officeDocument/2006/relationships/image" Target="../media/image51.emf"/><Relationship Id="rId8" Type="http://schemas.openxmlformats.org/officeDocument/2006/relationships/image" Target="../media/image52.emf"/><Relationship Id="rId9" Type="http://schemas.openxmlformats.org/officeDocument/2006/relationships/oleObject" Target="../embeddings/oleObject2.bin"/><Relationship Id="rId10" Type="http://schemas.openxmlformats.org/officeDocument/2006/relationships/image" Target="../media/image53.wmf"/><Relationship Id="rId11" Type="http://schemas.openxmlformats.org/officeDocument/2006/relationships/image" Target="../media/image54.emf"/><Relationship Id="rId1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55.emf"/><Relationship Id="rId2" Type="http://schemas.openxmlformats.org/officeDocument/2006/relationships/image" Target="../media/image30.emf"/><Relationship Id="rId3" Type="http://schemas.openxmlformats.org/officeDocument/2006/relationships/image" Target="../media/image56.emf"/><Relationship Id="rId4" Type="http://schemas.openxmlformats.org/officeDocument/2006/relationships/image" Target="../media/image57.emf"/><Relationship Id="rId5" Type="http://schemas.openxmlformats.org/officeDocument/2006/relationships/image" Target="../media/image58.emf"/><Relationship Id="rId6"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59.emf"/><Relationship Id="rId2" Type="http://schemas.openxmlformats.org/officeDocument/2006/relationships/oleObject" Target="../embeddings/oleObject1.bin"/><Relationship Id="rId3" Type="http://schemas.openxmlformats.org/officeDocument/2006/relationships/image" Target="../media/image60.wmf"/><Relationship Id="rId4" Type="http://schemas.openxmlformats.org/officeDocument/2006/relationships/image" Target="../media/image61.emf"/><Relationship Id="rId5" Type="http://schemas.openxmlformats.org/officeDocument/2006/relationships/image" Target="../media/image62.emf"/><Relationship Id="rId6" Type="http://schemas.openxmlformats.org/officeDocument/2006/relationships/image" Target="../media/image63.emf"/><Relationship Id="rId7" Type="http://schemas.openxmlformats.org/officeDocument/2006/relationships/image" Target="../media/image64.emf"/><Relationship Id="rId8"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65.emf"/><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66.emf"/><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67.emf"/><Relationship Id="rId2" Type="http://schemas.openxmlformats.org/officeDocument/2006/relationships/image" Target="../media/image68.emf"/><Relationship Id="rId3" Type="http://schemas.openxmlformats.org/officeDocument/2006/relationships/oleObject" Target="../embeddings/oleObject1.bin"/><Relationship Id="rId4" Type="http://schemas.openxmlformats.org/officeDocument/2006/relationships/image" Target="../media/image40.wmf"/><Relationship Id="rId5" Type="http://schemas.openxmlformats.org/officeDocument/2006/relationships/image" Target="../media/image69.emf"/><Relationship Id="rId6" Type="http://schemas.openxmlformats.org/officeDocument/2006/relationships/image" Target="../media/image70.emf"/><Relationship Id="rId7" Type="http://schemas.openxmlformats.org/officeDocument/2006/relationships/image" Target="../media/image71.emf"/><Relationship Id="rId8" Type="http://schemas.openxmlformats.org/officeDocument/2006/relationships/image" Target="../media/image72.emf"/><Relationship Id="rId9" Type="http://schemas.openxmlformats.org/officeDocument/2006/relationships/image" Target="../media/image73.emf"/><Relationship Id="rId10"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74.emf"/><Relationship Id="rId2" Type="http://schemas.openxmlformats.org/officeDocument/2006/relationships/image" Target="../media/image75.emf"/><Relationship Id="rId3" Type="http://schemas.openxmlformats.org/officeDocument/2006/relationships/image" Target="../media/image76.emf"/><Relationship Id="rId4" Type="http://schemas.openxmlformats.org/officeDocument/2006/relationships/image" Target="../media/image77.emf"/><Relationship Id="rId5" Type="http://schemas.openxmlformats.org/officeDocument/2006/relationships/image" Target="../media/image10.emf"/><Relationship Id="rId6" Type="http://schemas.openxmlformats.org/officeDocument/2006/relationships/image" Target="../media/image77.emf"/><Relationship Id="rId7" Type="http://schemas.openxmlformats.org/officeDocument/2006/relationships/image" Target="../media/image77.emf"/><Relationship Id="rId8" Type="http://schemas.openxmlformats.org/officeDocument/2006/relationships/image" Target="../media/image78.emf"/><Relationship Id="rId9" Type="http://schemas.openxmlformats.org/officeDocument/2006/relationships/image" Target="../media/image79.emf"/><Relationship Id="rId10" Type="http://schemas.openxmlformats.org/officeDocument/2006/relationships/image" Target="../media/image80.emf"/><Relationship Id="rId11" Type="http://schemas.openxmlformats.org/officeDocument/2006/relationships/image" Target="../media/image81.emf"/><Relationship Id="rId12" Type="http://schemas.openxmlformats.org/officeDocument/2006/relationships/image" Target="../media/image82.emf"/><Relationship Id="rId13"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83.emf"/><Relationship Id="rId2" Type="http://schemas.openxmlformats.org/officeDocument/2006/relationships/image" Target="../media/image30.emf"/><Relationship Id="rId3" Type="http://schemas.openxmlformats.org/officeDocument/2006/relationships/image" Target="../media/image84.wmf"/><Relationship Id="rId4" Type="http://schemas.openxmlformats.org/officeDocument/2006/relationships/image" Target="../media/image85.wmf"/><Relationship Id="rId5" Type="http://schemas.openxmlformats.org/officeDocument/2006/relationships/image" Target="../media/image86.emf"/><Relationship Id="rId6" Type="http://schemas.openxmlformats.org/officeDocument/2006/relationships/oleObject" Target="../embeddings/oleObject1.bin"/><Relationship Id="rId7" Type="http://schemas.openxmlformats.org/officeDocument/2006/relationships/image" Target="../media/image87.wmf"/><Relationship Id="rId8" Type="http://schemas.openxmlformats.org/officeDocument/2006/relationships/image" Target="../media/image88.png"/><Relationship Id="rId9" Type="http://schemas.openxmlformats.org/officeDocument/2006/relationships/image" Target="../media/image89.emf"/><Relationship Id="rId10" Type="http://schemas.openxmlformats.org/officeDocument/2006/relationships/image" Target="../media/image90.emf"/><Relationship Id="rId1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86.emf"/><Relationship Id="rId2" Type="http://schemas.openxmlformats.org/officeDocument/2006/relationships/image" Target="../media/image91.emf"/><Relationship Id="rId3" Type="http://schemas.openxmlformats.org/officeDocument/2006/relationships/image" Target="../media/image92.emf"/><Relationship Id="rId4" Type="http://schemas.openxmlformats.org/officeDocument/2006/relationships/image" Target="../media/image92.emf"/><Relationship Id="rId5" Type="http://schemas.openxmlformats.org/officeDocument/2006/relationships/image" Target="../media/image91.emf"/><Relationship Id="rId6" Type="http://schemas.openxmlformats.org/officeDocument/2006/relationships/image" Target="../media/image93.emf"/><Relationship Id="rId7" Type="http://schemas.openxmlformats.org/officeDocument/2006/relationships/image" Target="../media/image94.emf"/><Relationship Id="rId8" Type="http://schemas.openxmlformats.org/officeDocument/2006/relationships/image" Target="../media/image95.emf"/><Relationship Id="rId9" Type="http://schemas.openxmlformats.org/officeDocument/2006/relationships/image" Target="../media/image96.emf"/><Relationship Id="rId10" Type="http://schemas.openxmlformats.org/officeDocument/2006/relationships/image" Target="../media/image97.emf"/><Relationship Id="rId11" Type="http://schemas.openxmlformats.org/officeDocument/2006/relationships/image" Target="../media/image98.emf"/><Relationship Id="rId12" Type="http://schemas.openxmlformats.org/officeDocument/2006/relationships/image" Target="../media/image99.emf"/><Relationship Id="rId13" Type="http://schemas.openxmlformats.org/officeDocument/2006/relationships/image" Target="../media/image100.wmf"/><Relationship Id="rId14"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01.emf"/><Relationship Id="rId2" Type="http://schemas.openxmlformats.org/officeDocument/2006/relationships/image" Target="../media/image102.emf"/><Relationship Id="rId3" Type="http://schemas.openxmlformats.org/officeDocument/2006/relationships/image" Target="../media/image101.emf"/><Relationship Id="rId4" Type="http://schemas.openxmlformats.org/officeDocument/2006/relationships/image" Target="../media/image101.emf"/><Relationship Id="rId5" Type="http://schemas.openxmlformats.org/officeDocument/2006/relationships/image" Target="../media/image103.emf"/><Relationship Id="rId6" Type="http://schemas.openxmlformats.org/officeDocument/2006/relationships/image" Target="../media/image104.emf"/><Relationship Id="rId7" Type="http://schemas.openxmlformats.org/officeDocument/2006/relationships/image" Target="../media/image105.emf"/><Relationship Id="rId8" Type="http://schemas.openxmlformats.org/officeDocument/2006/relationships/image" Target="../media/image78.emf"/><Relationship Id="rId9" Type="http://schemas.openxmlformats.org/officeDocument/2006/relationships/image" Target="../media/image106.emf"/><Relationship Id="rId10"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0.emf"/><Relationship Id="rId2" Type="http://schemas.openxmlformats.org/officeDocument/2006/relationships/image" Target="../media/image10.emf"/><Relationship Id="rId3" Type="http://schemas.openxmlformats.org/officeDocument/2006/relationships/image" Target="../media/image10.emf"/><Relationship Id="rId4" Type="http://schemas.openxmlformats.org/officeDocument/2006/relationships/image" Target="../media/image78.emf"/><Relationship Id="rId5" Type="http://schemas.openxmlformats.org/officeDocument/2006/relationships/image" Target="../media/image107.emf"/><Relationship Id="rId6" Type="http://schemas.openxmlformats.org/officeDocument/2006/relationships/image" Target="../media/image108.emf"/><Relationship Id="rId7" Type="http://schemas.openxmlformats.org/officeDocument/2006/relationships/image" Target="../media/image109.emf"/><Relationship Id="rId8"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10.emf"/><Relationship Id="rId2" Type="http://schemas.openxmlformats.org/officeDocument/2006/relationships/oleObject" Target="../embeddings/oleObject1.bin"/><Relationship Id="rId3" Type="http://schemas.openxmlformats.org/officeDocument/2006/relationships/image" Target="../media/image45.wmf"/><Relationship Id="rId4" Type="http://schemas.openxmlformats.org/officeDocument/2006/relationships/image" Target="../media/image111.emf"/><Relationship Id="rId5"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12.emf"/><Relationship Id="rId2" Type="http://schemas.openxmlformats.org/officeDocument/2006/relationships/image" Target="../media/image113.emf"/><Relationship Id="rId3" Type="http://schemas.openxmlformats.org/officeDocument/2006/relationships/image" Target="../media/image114.emf"/><Relationship Id="rId4" Type="http://schemas.openxmlformats.org/officeDocument/2006/relationships/image" Target="../media/image115.emf"/><Relationship Id="rId5" Type="http://schemas.openxmlformats.org/officeDocument/2006/relationships/image" Target="../media/image116.emf"/><Relationship Id="rId6" Type="http://schemas.openxmlformats.org/officeDocument/2006/relationships/image" Target="../media/image117.png"/><Relationship Id="rId7" Type="http://schemas.openxmlformats.org/officeDocument/2006/relationships/image" Target="../media/image118.emf"/><Relationship Id="rId8" Type="http://schemas.openxmlformats.org/officeDocument/2006/relationships/image" Target="../media/image119.emf"/><Relationship Id="rId9" Type="http://schemas.openxmlformats.org/officeDocument/2006/relationships/image" Target="../media/image120.emf"/><Relationship Id="rId10" Type="http://schemas.openxmlformats.org/officeDocument/2006/relationships/image" Target="../media/image121.emf"/><Relationship Id="rId11" Type="http://schemas.openxmlformats.org/officeDocument/2006/relationships/image" Target="../media/image122.emf"/><Relationship Id="rId12" Type="http://schemas.openxmlformats.org/officeDocument/2006/relationships/image" Target="../media/image123.emf"/><Relationship Id="rId13"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24.emf"/><Relationship Id="rId2" Type="http://schemas.openxmlformats.org/officeDocument/2006/relationships/image" Target="../media/image124.emf"/><Relationship Id="rId3" Type="http://schemas.openxmlformats.org/officeDocument/2006/relationships/image" Target="../media/image125.emf"/><Relationship Id="rId4" Type="http://schemas.openxmlformats.org/officeDocument/2006/relationships/image" Target="../media/image126.emf"/><Relationship Id="rId5" Type="http://schemas.openxmlformats.org/officeDocument/2006/relationships/image" Target="../media/image127.emf"/><Relationship Id="rId6" Type="http://schemas.openxmlformats.org/officeDocument/2006/relationships/image" Target="../media/image128.emf"/><Relationship Id="rId7" Type="http://schemas.openxmlformats.org/officeDocument/2006/relationships/image" Target="../media/image118.emf"/><Relationship Id="rId8" Type="http://schemas.openxmlformats.org/officeDocument/2006/relationships/image" Target="../media/image119.emf"/><Relationship Id="rId9" Type="http://schemas.openxmlformats.org/officeDocument/2006/relationships/image" Target="../media/image120.emf"/><Relationship Id="rId10" Type="http://schemas.openxmlformats.org/officeDocument/2006/relationships/image" Target="../media/image121.emf"/><Relationship Id="rId11" Type="http://schemas.openxmlformats.org/officeDocument/2006/relationships/image" Target="../media/image122.emf"/><Relationship Id="rId12" Type="http://schemas.openxmlformats.org/officeDocument/2006/relationships/image" Target="../media/image123.emf"/><Relationship Id="rId13" Type="http://schemas.openxmlformats.org/officeDocument/2006/relationships/image" Target="../media/image129.emf"/><Relationship Id="rId14"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0.emf"/><Relationship Id="rId2" Type="http://schemas.openxmlformats.org/officeDocument/2006/relationships/image" Target="../media/image10.emf"/><Relationship Id="rId3" Type="http://schemas.openxmlformats.org/officeDocument/2006/relationships/image" Target="../media/image10.emf"/><Relationship Id="rId4"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30.emf"/><Relationship Id="rId2" Type="http://schemas.openxmlformats.org/officeDocument/2006/relationships/image" Target="../media/image10.emf"/><Relationship Id="rId3" Type="http://schemas.openxmlformats.org/officeDocument/2006/relationships/image" Target="../media/image10.emf"/><Relationship Id="rId4" Type="http://schemas.openxmlformats.org/officeDocument/2006/relationships/image" Target="../media/image131.emf"/><Relationship Id="rId5" Type="http://schemas.openxmlformats.org/officeDocument/2006/relationships/image" Target="../media/image132.emf"/><Relationship Id="rId6" Type="http://schemas.openxmlformats.org/officeDocument/2006/relationships/image" Target="../media/image133.emf"/><Relationship Id="rId7" Type="http://schemas.openxmlformats.org/officeDocument/2006/relationships/image" Target="../media/image134.emf"/><Relationship Id="rId8" Type="http://schemas.openxmlformats.org/officeDocument/2006/relationships/image" Target="../media/image135.emf"/><Relationship Id="rId9" Type="http://schemas.openxmlformats.org/officeDocument/2006/relationships/image" Target="../media/image136.emf"/><Relationship Id="rId10" Type="http://schemas.openxmlformats.org/officeDocument/2006/relationships/image" Target="../media/image137.emf"/><Relationship Id="rId11" Type="http://schemas.openxmlformats.org/officeDocument/2006/relationships/image" Target="../media/image10.emf"/><Relationship Id="rId1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38.emf"/><Relationship Id="rId2" Type="http://schemas.openxmlformats.org/officeDocument/2006/relationships/image" Target="../media/image139.emf"/><Relationship Id="rId3" Type="http://schemas.openxmlformats.org/officeDocument/2006/relationships/image" Target="../media/image140.emf"/><Relationship Id="rId4"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141.emf"/><Relationship Id="rId2" Type="http://schemas.openxmlformats.org/officeDocument/2006/relationships/image" Target="../media/image114.emf"/><Relationship Id="rId3" Type="http://schemas.openxmlformats.org/officeDocument/2006/relationships/image" Target="../media/image142.emf"/><Relationship Id="rId4" Type="http://schemas.openxmlformats.org/officeDocument/2006/relationships/image" Target="../media/image143.png"/><Relationship Id="rId5" Type="http://schemas.openxmlformats.org/officeDocument/2006/relationships/oleObject" Target="../embeddings/oleObject1.bin"/><Relationship Id="rId6" Type="http://schemas.openxmlformats.org/officeDocument/2006/relationships/image" Target="../media/image87.wmf"/><Relationship Id="rId7" Type="http://schemas.openxmlformats.org/officeDocument/2006/relationships/image" Target="../media/image89.emf"/><Relationship Id="rId8" Type="http://schemas.openxmlformats.org/officeDocument/2006/relationships/image" Target="../media/image90.emf"/><Relationship Id="rId9" Type="http://schemas.openxmlformats.org/officeDocument/2006/relationships/image" Target="../media/image118.emf"/><Relationship Id="rId10" Type="http://schemas.openxmlformats.org/officeDocument/2006/relationships/image" Target="../media/image119.emf"/><Relationship Id="rId11" Type="http://schemas.openxmlformats.org/officeDocument/2006/relationships/image" Target="../media/image120.emf"/><Relationship Id="rId12" Type="http://schemas.openxmlformats.org/officeDocument/2006/relationships/image" Target="../media/image121.emf"/><Relationship Id="rId13" Type="http://schemas.openxmlformats.org/officeDocument/2006/relationships/image" Target="../media/image122.emf"/><Relationship Id="rId14" Type="http://schemas.openxmlformats.org/officeDocument/2006/relationships/image" Target="../media/image123.emf"/><Relationship Id="rId15" Type="http://schemas.openxmlformats.org/officeDocument/2006/relationships/image" Target="../media/image142.emf"/><Relationship Id="rId16" Type="http://schemas.openxmlformats.org/officeDocument/2006/relationships/image" Target="../media/image142.emf"/><Relationship Id="rId17"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118.emf"/><Relationship Id="rId2" Type="http://schemas.openxmlformats.org/officeDocument/2006/relationships/image" Target="../media/image119.emf"/><Relationship Id="rId3" Type="http://schemas.openxmlformats.org/officeDocument/2006/relationships/image" Target="../media/image120.emf"/><Relationship Id="rId4" Type="http://schemas.openxmlformats.org/officeDocument/2006/relationships/image" Target="../media/image144.emf"/><Relationship Id="rId5" Type="http://schemas.openxmlformats.org/officeDocument/2006/relationships/image" Target="../media/image142.emf"/><Relationship Id="rId6" Type="http://schemas.openxmlformats.org/officeDocument/2006/relationships/image" Target="../media/image121.emf"/><Relationship Id="rId7" Type="http://schemas.openxmlformats.org/officeDocument/2006/relationships/image" Target="../media/image122.emf"/><Relationship Id="rId8" Type="http://schemas.openxmlformats.org/officeDocument/2006/relationships/image" Target="../media/image123.emf"/><Relationship Id="rId9" Type="http://schemas.openxmlformats.org/officeDocument/2006/relationships/image" Target="../media/image145.emf"/><Relationship Id="rId10" Type="http://schemas.openxmlformats.org/officeDocument/2006/relationships/image" Target="../media/image144.emf"/><Relationship Id="rId11" Type="http://schemas.openxmlformats.org/officeDocument/2006/relationships/image" Target="../media/image146.emf"/><Relationship Id="rId12" Type="http://schemas.openxmlformats.org/officeDocument/2006/relationships/image" Target="../media/image147.emf"/><Relationship Id="rId13" Type="http://schemas.openxmlformats.org/officeDocument/2006/relationships/image" Target="../media/image148.emf"/><Relationship Id="rId14"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18.emf"/><Relationship Id="rId2" Type="http://schemas.openxmlformats.org/officeDocument/2006/relationships/image" Target="../media/image119.emf"/><Relationship Id="rId3" Type="http://schemas.openxmlformats.org/officeDocument/2006/relationships/image" Target="../media/image120.emf"/><Relationship Id="rId4" Type="http://schemas.openxmlformats.org/officeDocument/2006/relationships/image" Target="../media/image121.emf"/><Relationship Id="rId5" Type="http://schemas.openxmlformats.org/officeDocument/2006/relationships/image" Target="../media/image122.emf"/><Relationship Id="rId6" Type="http://schemas.openxmlformats.org/officeDocument/2006/relationships/image" Target="../media/image123.emf"/><Relationship Id="rId7" Type="http://schemas.openxmlformats.org/officeDocument/2006/relationships/image" Target="../media/image118.emf"/><Relationship Id="rId8" Type="http://schemas.openxmlformats.org/officeDocument/2006/relationships/image" Target="../media/image119.emf"/><Relationship Id="rId9" Type="http://schemas.openxmlformats.org/officeDocument/2006/relationships/image" Target="../media/image120.emf"/><Relationship Id="rId10" Type="http://schemas.openxmlformats.org/officeDocument/2006/relationships/image" Target="../media/image121.emf"/><Relationship Id="rId11" Type="http://schemas.openxmlformats.org/officeDocument/2006/relationships/image" Target="../media/image122.emf"/><Relationship Id="rId12" Type="http://schemas.openxmlformats.org/officeDocument/2006/relationships/image" Target="../media/image123.emf"/><Relationship Id="rId13" Type="http://schemas.openxmlformats.org/officeDocument/2006/relationships/image" Target="../media/image142.emf"/><Relationship Id="rId14" Type="http://schemas.openxmlformats.org/officeDocument/2006/relationships/image" Target="../media/image149.emf"/><Relationship Id="rId15" Type="http://schemas.openxmlformats.org/officeDocument/2006/relationships/image" Target="../media/image150.emf"/><Relationship Id="rId16" Type="http://schemas.openxmlformats.org/officeDocument/2006/relationships/image" Target="../media/image151.emf"/><Relationship Id="rId17" Type="http://schemas.openxmlformats.org/officeDocument/2006/relationships/image" Target="../media/image10.emf"/><Relationship Id="rId18" Type="http://schemas.openxmlformats.org/officeDocument/2006/relationships/image" Target="../media/image152.emf"/><Relationship Id="rId19" Type="http://schemas.openxmlformats.org/officeDocument/2006/relationships/image" Target="../media/image153.emf"/><Relationship Id="rId20" Type="http://schemas.openxmlformats.org/officeDocument/2006/relationships/image" Target="../media/image154.emf"/><Relationship Id="rId21" Type="http://schemas.openxmlformats.org/officeDocument/2006/relationships/image" Target="../media/image155.emf"/><Relationship Id="rId22" Type="http://schemas.openxmlformats.org/officeDocument/2006/relationships/image" Target="../media/image156.emf"/><Relationship Id="rId23" Type="http://schemas.openxmlformats.org/officeDocument/2006/relationships/image" Target="../media/image157.emf"/><Relationship Id="rId24" Type="http://schemas.openxmlformats.org/officeDocument/2006/relationships/image" Target="../media/image158.emf"/><Relationship Id="rId25"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159.emf"/><Relationship Id="rId2" Type="http://schemas.openxmlformats.org/officeDocument/2006/relationships/image" Target="../media/image160.emf"/><Relationship Id="rId3"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161.emf"/><Relationship Id="rId2" Type="http://schemas.openxmlformats.org/officeDocument/2006/relationships/image" Target="../media/image135.emf"/><Relationship Id="rId3" Type="http://schemas.openxmlformats.org/officeDocument/2006/relationships/image" Target="../media/image130.emf"/><Relationship Id="rId4" Type="http://schemas.openxmlformats.org/officeDocument/2006/relationships/image" Target="../media/image130.emf"/><Relationship Id="rId5" Type="http://schemas.openxmlformats.org/officeDocument/2006/relationships/image" Target="../media/image10.emf"/><Relationship Id="rId6" Type="http://schemas.openxmlformats.org/officeDocument/2006/relationships/image" Target="../media/image10.emf"/><Relationship Id="rId7" Type="http://schemas.openxmlformats.org/officeDocument/2006/relationships/image" Target="../media/image162.emf"/><Relationship Id="rId8"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Rectangle 2"/>
          <p:cNvSpPr/>
          <p:nvPr/>
        </p:nvSpPr>
        <p:spPr>
          <a:xfrm>
            <a:off x="1044720" y="1079640"/>
            <a:ext cx="4968720" cy="792000"/>
          </a:xfrm>
          <a:prstGeom prst="rect">
            <a:avLst/>
          </a:prstGeom>
          <a:noFill/>
          <a:ln w="0">
            <a:noFill/>
          </a:ln>
        </p:spPr>
        <p:style>
          <a:lnRef idx="0"/>
          <a:fillRef idx="0"/>
          <a:effectRef idx="0"/>
          <a:fontRef idx="minor"/>
        </p:style>
        <p:txBody>
          <a:bodyPr lIns="90000" tIns="46800" rIns="90000" bIns="46800" anchor="t">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600" b="1" u="none" strike="noStrike">
                <a:solidFill>
                  <a:srgbClr val="FF0000"/>
                </a:solidFill>
                <a:effectLst/>
                <a:uFillTx/>
                <a:latin typeface="Candara"/>
                <a:ea typeface="华文新魏"/>
              </a:rPr>
              <a:t>第六章 控制系统的校正</a:t>
            </a:r>
            <a:endParaRPr lang="en-US" sz="3600" b="0" u="none" strike="noStrike">
              <a:solidFill>
                <a:srgbClr val="000000"/>
              </a:solidFill>
              <a:effectLst/>
              <a:uFillTx/>
              <a:latin typeface="Times New Roman"/>
            </a:endParaRPr>
          </a:p>
        </p:txBody>
      </p:sp>
      <p:sp>
        <p:nvSpPr>
          <p:cNvPr id="15" name="Rectangle 3"/>
          <p:cNvSpPr/>
          <p:nvPr/>
        </p:nvSpPr>
        <p:spPr>
          <a:xfrm>
            <a:off x="684360" y="2376360"/>
            <a:ext cx="7705440" cy="3886200"/>
          </a:xfrm>
          <a:prstGeom prst="rect">
            <a:avLst/>
          </a:prstGeom>
          <a:noFill/>
          <a:ln w="0">
            <a:noFill/>
          </a:ln>
        </p:spPr>
        <p:style>
          <a:lnRef idx="0"/>
          <a:fillRef idx="0"/>
          <a:effectRef idx="0"/>
          <a:fontRef idx="minor"/>
        </p:style>
        <p:txBody>
          <a:bodyPr lIns="90000" tIns="46800" rIns="90000" bIns="46800" anchor="t">
            <a:noAutofit/>
          </a:bodyPr>
          <a:p>
            <a:pPr marL="272880" indent="-272880">
              <a:lnSpc>
                <a:spcPct val="100000"/>
              </a:lnSpc>
              <a:spcBef>
                <a:spcPts val="799"/>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073E87"/>
                </a:solidFill>
                <a:effectLst/>
                <a:uFillTx/>
                <a:latin typeface="Candara"/>
                <a:ea typeface="华文楷体"/>
              </a:rPr>
              <a:t>1</a:t>
            </a:r>
            <a:r>
              <a:rPr lang="zh-CN" sz="3200" b="1" u="none" strike="noStrike">
                <a:solidFill>
                  <a:srgbClr val="073E87"/>
                </a:solidFill>
                <a:effectLst/>
                <a:uFillTx/>
                <a:latin typeface="Candara"/>
                <a:ea typeface="华文楷体"/>
              </a:rPr>
              <a:t>、系统的综合与校正问题</a:t>
            </a:r>
            <a:endParaRPr lang="en-US" sz="3200" b="0" u="none" strike="noStrike">
              <a:solidFill>
                <a:srgbClr val="000000"/>
              </a:solidFill>
              <a:effectLst/>
              <a:uFillTx/>
              <a:latin typeface="Times New Roman"/>
            </a:endParaRPr>
          </a:p>
          <a:p>
            <a:pPr marL="272880" indent="-272880">
              <a:lnSpc>
                <a:spcPct val="100000"/>
              </a:lnSpc>
              <a:spcBef>
                <a:spcPts val="799"/>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073E87"/>
                </a:solidFill>
                <a:effectLst/>
                <a:uFillTx/>
                <a:latin typeface="Candara"/>
                <a:ea typeface="华文楷体"/>
              </a:rPr>
              <a:t>2</a:t>
            </a:r>
            <a:r>
              <a:rPr lang="zh-CN" sz="3200" b="1" u="none" strike="noStrike">
                <a:solidFill>
                  <a:srgbClr val="073E87"/>
                </a:solidFill>
                <a:effectLst/>
                <a:uFillTx/>
                <a:latin typeface="Candara"/>
                <a:ea typeface="华文楷体"/>
              </a:rPr>
              <a:t>、常用的校正装置及其特性</a:t>
            </a:r>
            <a:endParaRPr lang="en-US" sz="3200" b="0" u="none" strike="noStrike">
              <a:solidFill>
                <a:srgbClr val="000000"/>
              </a:solidFill>
              <a:effectLst/>
              <a:uFillTx/>
              <a:latin typeface="Times New Roman"/>
            </a:endParaRPr>
          </a:p>
          <a:p>
            <a:pPr marL="272880" indent="-272880">
              <a:lnSpc>
                <a:spcPct val="100000"/>
              </a:lnSpc>
              <a:spcBef>
                <a:spcPts val="799"/>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073E87"/>
                </a:solidFill>
                <a:effectLst/>
                <a:uFillTx/>
                <a:latin typeface="Candara"/>
                <a:ea typeface="华文楷体"/>
              </a:rPr>
              <a:t>3</a:t>
            </a:r>
            <a:r>
              <a:rPr lang="zh-CN" sz="3200" b="1" u="none" strike="noStrike">
                <a:solidFill>
                  <a:srgbClr val="073E87"/>
                </a:solidFill>
                <a:effectLst/>
                <a:uFillTx/>
                <a:latin typeface="Candara"/>
                <a:ea typeface="华文楷体"/>
              </a:rPr>
              <a:t>、 基于频域响应法的系统串联校正</a:t>
            </a:r>
            <a:endParaRPr lang="en-US" sz="3200" b="0" u="none" strike="noStrike">
              <a:solidFill>
                <a:srgbClr val="000000"/>
              </a:solidFill>
              <a:effectLst/>
              <a:uFillTx/>
              <a:latin typeface="Times New Roman"/>
            </a:endParaRPr>
          </a:p>
          <a:p>
            <a:pPr marL="272880" indent="-272880">
              <a:lnSpc>
                <a:spcPct val="100000"/>
              </a:lnSpc>
              <a:spcBef>
                <a:spcPts val="799"/>
              </a:spcBef>
              <a:buClr>
                <a:srgbClr val="31B6FD"/>
              </a:buClr>
              <a:buFont typeface="Symbol"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Times New Roman"/>
            </a:endParaRPr>
          </a:p>
        </p:txBody>
      </p:sp>
      <p:sp>
        <p:nvSpPr>
          <p:cNvPr id="16" name="Line 4"/>
          <p:cNvSpPr/>
          <p:nvPr/>
        </p:nvSpPr>
        <p:spPr>
          <a:xfrm>
            <a:off x="684360" y="1944720"/>
            <a:ext cx="7777080" cy="0"/>
          </a:xfrm>
          <a:prstGeom prst="line">
            <a:avLst/>
          </a:prstGeom>
          <a:ln w="57240">
            <a:solidFill>
              <a:srgbClr val="31B6FD"/>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Tree>
  </p:cSld>
  <p:transition>
    <p:random/>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 name="Group 23"/>
          <p:cNvGrpSpPr/>
          <p:nvPr/>
        </p:nvGrpSpPr>
        <p:grpSpPr>
          <a:xfrm>
            <a:off x="3311640" y="549360"/>
            <a:ext cx="4275000" cy="1478520"/>
            <a:chOff x="3311640" y="549360"/>
            <a:chExt cx="4275000" cy="1478520"/>
          </a:xfrm>
        </p:grpSpPr>
        <p:sp>
          <p:nvSpPr>
            <p:cNvPr id="18" name="Rectangle 4"/>
            <p:cNvSpPr/>
            <p:nvPr/>
          </p:nvSpPr>
          <p:spPr>
            <a:xfrm>
              <a:off x="4572000" y="549360"/>
              <a:ext cx="1711440" cy="1035000"/>
            </a:xfrm>
            <a:prstGeom prst="rect">
              <a:avLst/>
            </a:prstGeom>
            <a:solidFill>
              <a:srgbClr val="339966">
                <a:alpha val="50000"/>
              </a:srgbClr>
            </a:solidFill>
            <a:ln w="9360">
              <a:solidFill>
                <a:srgbClr val="000000"/>
              </a:solidFill>
              <a:miter/>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19" name="Object 5"/>
                <p:cNvSpPr txBox="1"/>
                <p:nvPr/>
              </p:nvSpPr>
              <p:spPr>
                <a:xfrm>
                  <a:off x="4797720" y="729000"/>
                  <a:ext cx="1171440" cy="739440"/>
                </a:xfrm>
                <a:prstGeom prst="rect">
                  <a:avLst/>
                </a:prstGeom>
              </p:spPr>
              <p:txBody>
                <a:bodyPr/>
                <a:p>
                  <a14:m>
                    <m:oMath xmlns:m="http://schemas.openxmlformats.org/officeDocument/2006/math">
                      <m:f>
                        <m:num>
                          <m:r>
                            <m:t xml:space="preserve">2</m:t>
                          </m:r>
                        </m:num>
                        <m:den>
                          <m:r>
                            <m:rPr>
                              <m:lit/>
                              <m:nor/>
                            </m:rPr>
                            <m:t xml:space="preserve">3600</m:t>
                          </m:r>
                          <m:r>
                            <m:t xml:space="preserve">s</m:t>
                          </m:r>
                          <m:r>
                            <m:t xml:space="preserve">+</m:t>
                          </m:r>
                          <m:r>
                            <m:t xml:space="preserve">1</m:t>
                          </m:r>
                        </m:den>
                      </m:f>
                    </m:oMath>
                  </a14:m>
                </a:p>
              </p:txBody>
            </p:sp>
          </mc:Choice>
          <mc:Fallback>
            <p:sp>
              <p:nvSpPr>
                <p:cNvPr id="19" name="Object 5"/>
                <p:cNvSpPr txBox="1"/>
                <p:nvPr/>
              </p:nvSpPr>
              <p:spPr>
                <a:xfrm>
                  <a:off x="4797720" y="729000"/>
                  <a:ext cx="1171440" cy="739440"/>
                </a:xfrm>
                <a:prstGeom prst="rect">
                  <a:avLst/>
                </a:prstGeom>
                <a:blipFill>
                  <a:blip r:embed="rId1"/>
                  <a:stretch>
                    <a:fillRect/>
                  </a:stretch>
                </a:blipFill>
              </p:spPr>
            </p:sp>
          </mc:Fallback>
        </mc:AlternateContent>
        <p:sp>
          <p:nvSpPr>
            <p:cNvPr id="20" name="Text Box 6"/>
            <p:cNvSpPr/>
            <p:nvPr/>
          </p:nvSpPr>
          <p:spPr>
            <a:xfrm>
              <a:off x="4842720" y="1629000"/>
              <a:ext cx="94428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加热炉</a:t>
              </a:r>
              <a:endParaRPr lang="en-US" sz="2000" b="0" u="none" strike="noStrike">
                <a:solidFill>
                  <a:srgbClr val="000000"/>
                </a:solidFill>
                <a:effectLst/>
                <a:uFillTx/>
                <a:latin typeface="Times New Roman"/>
              </a:endParaRPr>
            </a:p>
          </p:txBody>
        </p:sp>
        <p:sp>
          <p:nvSpPr>
            <p:cNvPr id="21" name="Line 7"/>
            <p:cNvSpPr/>
            <p:nvPr/>
          </p:nvSpPr>
          <p:spPr>
            <a:xfrm>
              <a:off x="3311640" y="1089360"/>
              <a:ext cx="12603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 name="Line 8"/>
            <p:cNvSpPr/>
            <p:nvPr/>
          </p:nvSpPr>
          <p:spPr>
            <a:xfrm>
              <a:off x="6283440" y="1089360"/>
              <a:ext cx="13032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23" name="Group 14"/>
          <p:cNvGrpSpPr/>
          <p:nvPr/>
        </p:nvGrpSpPr>
        <p:grpSpPr>
          <a:xfrm>
            <a:off x="3446640" y="638280"/>
            <a:ext cx="1214280" cy="1197360"/>
            <a:chOff x="3446640" y="638280"/>
            <a:chExt cx="1214280" cy="1197360"/>
          </a:xfrm>
        </p:grpSpPr>
        <p:sp>
          <p:nvSpPr>
            <p:cNvPr id="24" name="Text Box 9"/>
            <p:cNvSpPr/>
            <p:nvPr/>
          </p:nvSpPr>
          <p:spPr>
            <a:xfrm>
              <a:off x="3446640" y="1131840"/>
              <a:ext cx="1214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加热功率</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W</a:t>
              </a:r>
              <a:r>
                <a:rPr lang="zh-CN" sz="2000" b="0" u="none" strike="noStrike">
                  <a:solidFill>
                    <a:srgbClr val="000000"/>
                  </a:solidFill>
                  <a:effectLst/>
                  <a:uFillTx/>
                  <a:latin typeface="Arial"/>
                </a:rPr>
                <a:t>）</a:t>
              </a:r>
              <a:endParaRPr lang="en-US" sz="2000" b="0" u="none" strike="noStrike">
                <a:solidFill>
                  <a:srgbClr val="000000"/>
                </a:solidFill>
                <a:effectLst/>
                <a:uFillTx/>
                <a:latin typeface="Times New Roman"/>
              </a:endParaRPr>
            </a:p>
          </p:txBody>
        </p:sp>
        <p:sp>
          <p:nvSpPr>
            <p:cNvPr id="25" name="Text Box 11"/>
            <p:cNvSpPr/>
            <p:nvPr/>
          </p:nvSpPr>
          <p:spPr>
            <a:xfrm>
              <a:off x="3988080" y="638280"/>
              <a:ext cx="36036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u</a:t>
              </a:r>
              <a:endParaRPr lang="en-US" sz="2000" b="0" u="none" strike="noStrike">
                <a:solidFill>
                  <a:srgbClr val="000000"/>
                </a:solidFill>
                <a:effectLst/>
                <a:uFillTx/>
                <a:latin typeface="Times New Roman"/>
              </a:endParaRPr>
            </a:p>
          </p:txBody>
        </p:sp>
      </p:grpSp>
      <p:grpSp>
        <p:nvGrpSpPr>
          <p:cNvPr id="26" name="Group 15"/>
          <p:cNvGrpSpPr/>
          <p:nvPr/>
        </p:nvGrpSpPr>
        <p:grpSpPr>
          <a:xfrm>
            <a:off x="6266520" y="639720"/>
            <a:ext cx="944280" cy="1161000"/>
            <a:chOff x="6266520" y="639720"/>
            <a:chExt cx="944280" cy="1161000"/>
          </a:xfrm>
        </p:grpSpPr>
        <p:sp>
          <p:nvSpPr>
            <p:cNvPr id="27" name="Text Box 10"/>
            <p:cNvSpPr/>
            <p:nvPr/>
          </p:nvSpPr>
          <p:spPr>
            <a:xfrm>
              <a:off x="6266520" y="1096920"/>
              <a:ext cx="944280" cy="70380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炉温</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endParaRPr lang="en-US" sz="2000" b="0" u="none" strike="noStrike">
                <a:solidFill>
                  <a:srgbClr val="000000"/>
                </a:solidFill>
                <a:effectLst/>
                <a:uFillTx/>
                <a:latin typeface="Times New Roman"/>
              </a:endParaRPr>
            </a:p>
          </p:txBody>
        </p:sp>
        <p:sp>
          <p:nvSpPr>
            <p:cNvPr id="28" name="Text Box 12"/>
            <p:cNvSpPr/>
            <p:nvPr/>
          </p:nvSpPr>
          <p:spPr>
            <a:xfrm>
              <a:off x="6462360" y="639720"/>
              <a:ext cx="36036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y</a:t>
              </a:r>
              <a:endParaRPr lang="en-US" sz="2000" b="0" u="none" strike="noStrike">
                <a:solidFill>
                  <a:srgbClr val="000000"/>
                </a:solidFill>
                <a:effectLst/>
                <a:uFillTx/>
                <a:latin typeface="Times New Roman"/>
              </a:endParaRPr>
            </a:p>
          </p:txBody>
        </p:sp>
      </p:grpSp>
      <p:sp>
        <p:nvSpPr>
          <p:cNvPr id="29" name="Text Box 16"/>
          <p:cNvSpPr/>
          <p:nvPr/>
        </p:nvSpPr>
        <p:spPr>
          <a:xfrm>
            <a:off x="422640" y="2620800"/>
            <a:ext cx="784188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加热功率变化到炉温稳定，系统调节时间为    </a:t>
            </a:r>
            <a:r>
              <a:rPr lang="en-US" sz="2000" b="0" u="none" strike="noStrike">
                <a:solidFill>
                  <a:srgbClr val="000000"/>
                </a:solidFill>
                <a:effectLst/>
                <a:uFillTx/>
                <a:latin typeface="Arial"/>
              </a:rPr>
              <a:t>3600×3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10800</a:t>
            </a:r>
            <a:r>
              <a:rPr lang="zh-CN" sz="2000" b="0" u="none" strike="noStrike">
                <a:solidFill>
                  <a:srgbClr val="000000"/>
                </a:solidFill>
                <a:effectLst/>
                <a:uFillTx/>
                <a:latin typeface="Arial"/>
              </a:rPr>
              <a:t>秒</a:t>
            </a:r>
            <a:endParaRPr lang="en-US" sz="2000" b="0" u="none" strike="noStrike">
              <a:solidFill>
                <a:srgbClr val="000000"/>
              </a:solidFill>
              <a:effectLst/>
              <a:uFillTx/>
              <a:latin typeface="Times New Roman"/>
            </a:endParaRPr>
          </a:p>
        </p:txBody>
      </p:sp>
      <p:grpSp>
        <p:nvGrpSpPr>
          <p:cNvPr id="30" name="组合 14"/>
          <p:cNvGrpSpPr/>
          <p:nvPr/>
        </p:nvGrpSpPr>
        <p:grpSpPr>
          <a:xfrm>
            <a:off x="1062000" y="676440"/>
            <a:ext cx="6165720" cy="1709640"/>
            <a:chOff x="1062000" y="676440"/>
            <a:chExt cx="6165720" cy="1709640"/>
          </a:xfrm>
        </p:grpSpPr>
        <p:sp>
          <p:nvSpPr>
            <p:cNvPr id="31" name="Line 27"/>
            <p:cNvSpPr/>
            <p:nvPr/>
          </p:nvSpPr>
          <p:spPr>
            <a:xfrm flipV="1">
              <a:off x="1736640" y="1171440"/>
              <a:ext cx="0" cy="12142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32" name="Group 30"/>
            <p:cNvGrpSpPr/>
            <p:nvPr/>
          </p:nvGrpSpPr>
          <p:grpSpPr>
            <a:xfrm>
              <a:off x="1062000" y="676440"/>
              <a:ext cx="6165720" cy="1709640"/>
              <a:chOff x="1062000" y="676440"/>
              <a:chExt cx="6165720" cy="1709640"/>
            </a:xfrm>
          </p:grpSpPr>
          <p:sp>
            <p:nvSpPr>
              <p:cNvPr id="33" name="Rectangle 19"/>
              <p:cNvSpPr/>
              <p:nvPr/>
            </p:nvSpPr>
            <p:spPr>
              <a:xfrm>
                <a:off x="2546280" y="676440"/>
                <a:ext cx="720360" cy="720720"/>
              </a:xfrm>
              <a:prstGeom prst="rect">
                <a:avLst/>
              </a:prstGeom>
              <a:solidFill>
                <a:srgbClr val="FFFF99">
                  <a:alpha val="50000"/>
                </a:srgbClr>
              </a:solidFill>
              <a:ln w="9360">
                <a:solidFill>
                  <a:srgbClr val="000000"/>
                </a:solidFill>
                <a:miter/>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K</a:t>
                </a:r>
                <a:r>
                  <a:rPr lang="en-US" sz="2400" b="0" u="none" strike="noStrike" baseline="-25000">
                    <a:solidFill>
                      <a:srgbClr val="000000"/>
                    </a:solidFill>
                    <a:effectLst/>
                    <a:uFillTx/>
                    <a:latin typeface="Times New Roman"/>
                  </a:rPr>
                  <a:t>c</a:t>
                </a:r>
                <a:endParaRPr lang="en-US" sz="2400" b="0" u="none" strike="noStrike">
                  <a:solidFill>
                    <a:srgbClr val="000000"/>
                  </a:solidFill>
                  <a:effectLst/>
                  <a:uFillTx/>
                  <a:latin typeface="Times New Roman"/>
                </a:endParaRPr>
              </a:p>
            </p:txBody>
          </p:sp>
          <p:sp>
            <p:nvSpPr>
              <p:cNvPr id="34" name="Line 20"/>
              <p:cNvSpPr/>
              <p:nvPr/>
            </p:nvSpPr>
            <p:spPr>
              <a:xfrm>
                <a:off x="1062000" y="1081080"/>
                <a:ext cx="5839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 name="Oval 24"/>
              <p:cNvSpPr/>
              <p:nvPr/>
            </p:nvSpPr>
            <p:spPr>
              <a:xfrm>
                <a:off x="1645920" y="990720"/>
                <a:ext cx="180720" cy="180720"/>
              </a:xfrm>
              <a:prstGeom prst="ellipse">
                <a:avLst/>
              </a:prstGeom>
              <a:solidFill>
                <a:srgbClr val="31B6F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6" name="Line 25"/>
              <p:cNvSpPr/>
              <p:nvPr/>
            </p:nvSpPr>
            <p:spPr>
              <a:xfrm>
                <a:off x="7227720" y="1095480"/>
                <a:ext cx="0" cy="12906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 name="Line 26"/>
              <p:cNvSpPr/>
              <p:nvPr/>
            </p:nvSpPr>
            <p:spPr>
              <a:xfrm flipH="1">
                <a:off x="1730160" y="2386080"/>
                <a:ext cx="54972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8" name="Line 28"/>
              <p:cNvSpPr/>
              <p:nvPr/>
            </p:nvSpPr>
            <p:spPr>
              <a:xfrm>
                <a:off x="1827000" y="1081080"/>
                <a:ext cx="7203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grpSp>
        <p:nvGrpSpPr>
          <p:cNvPr id="39" name="Group 37"/>
          <p:cNvGrpSpPr/>
          <p:nvPr/>
        </p:nvGrpSpPr>
        <p:grpSpPr>
          <a:xfrm>
            <a:off x="793080" y="615960"/>
            <a:ext cx="944280" cy="1222920"/>
            <a:chOff x="793080" y="615960"/>
            <a:chExt cx="944280" cy="1222920"/>
          </a:xfrm>
        </p:grpSpPr>
        <p:sp>
          <p:nvSpPr>
            <p:cNvPr id="40" name="Text Box 31"/>
            <p:cNvSpPr/>
            <p:nvPr/>
          </p:nvSpPr>
          <p:spPr>
            <a:xfrm>
              <a:off x="1060200" y="615960"/>
              <a:ext cx="26532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r</a:t>
              </a:r>
              <a:endParaRPr lang="en-US" sz="2000" b="0" u="none" strike="noStrike">
                <a:solidFill>
                  <a:srgbClr val="000000"/>
                </a:solidFill>
                <a:effectLst/>
                <a:uFillTx/>
                <a:latin typeface="Times New Roman"/>
              </a:endParaRPr>
            </a:p>
          </p:txBody>
        </p:sp>
        <p:sp>
          <p:nvSpPr>
            <p:cNvPr id="41" name="Text Box 32"/>
            <p:cNvSpPr/>
            <p:nvPr/>
          </p:nvSpPr>
          <p:spPr>
            <a:xfrm>
              <a:off x="793080" y="1135080"/>
              <a:ext cx="944280" cy="70380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温度</a:t>
              </a:r>
              <a:endParaRPr lang="en-US" sz="2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设定值</a:t>
              </a:r>
              <a:endParaRPr lang="en-US" sz="2000" b="0" u="none" strike="noStrike">
                <a:solidFill>
                  <a:srgbClr val="000000"/>
                </a:solidFill>
                <a:effectLst/>
                <a:uFillTx/>
                <a:latin typeface="Times New Roman"/>
              </a:endParaRPr>
            </a:p>
          </p:txBody>
        </p:sp>
      </p:grpSp>
      <mc:AlternateContent>
        <mc:Choice xmlns:a14="http://schemas.microsoft.com/office/drawing/2010/main" Requires="a14">
          <p:sp>
            <p:nvSpPr>
              <p:cNvPr id="42" name="Object 33"/>
              <p:cNvSpPr txBox="1"/>
              <p:nvPr/>
            </p:nvSpPr>
            <p:spPr>
              <a:xfrm>
                <a:off x="1376280" y="3070080"/>
                <a:ext cx="5980320" cy="1478160"/>
              </a:xfrm>
              <a:prstGeom prst="rect">
                <a:avLst/>
              </a:prstGeom>
            </p:spPr>
            <p:txBody>
              <a:bodyPr/>
              <a:p>
                <a14:m>
                  <m:oMath xmlns:m="http://schemas.openxmlformats.org/officeDocument/2006/math">
                    <m:f>
                      <m:num>
                        <m:f>
                          <m:num>
                            <m:r>
                              <m:t xml:space="preserve">2</m:t>
                            </m:r>
                            <m:sSub>
                              <m:e>
                                <m:r>
                                  <m:t xml:space="preserve">K</m:t>
                                </m:r>
                              </m:e>
                              <m:sub>
                                <m:r>
                                  <m:t xml:space="preserve">c</m:t>
                                </m:r>
                              </m:sub>
                            </m:sSub>
                          </m:num>
                          <m:den>
                            <m:r>
                              <m:rPr>
                                <m:lit/>
                                <m:nor/>
                              </m:rPr>
                              <m:t xml:space="preserve">3600</m:t>
                            </m:r>
                            <m:r>
                              <m:t xml:space="preserve">s</m:t>
                            </m:r>
                            <m:r>
                              <m:t xml:space="preserve">+</m:t>
                            </m:r>
                            <m:r>
                              <m:t xml:space="preserve">1</m:t>
                            </m:r>
                          </m:den>
                        </m:f>
                      </m:num>
                      <m:den>
                        <m:r>
                          <m:t xml:space="preserve">1</m:t>
                        </m:r>
                        <m:r>
                          <m:t xml:space="preserve">+</m:t>
                        </m:r>
                        <m:f>
                          <m:num>
                            <m:r>
                              <m:t xml:space="preserve">2</m:t>
                            </m:r>
                            <m:sSub>
                              <m:e>
                                <m:r>
                                  <m:t xml:space="preserve">K</m:t>
                                </m:r>
                              </m:e>
                              <m:sub>
                                <m:r>
                                  <m:t xml:space="preserve">c</m:t>
                                </m:r>
                              </m:sub>
                            </m:sSub>
                          </m:num>
                          <m:den>
                            <m:r>
                              <m:rPr>
                                <m:lit/>
                                <m:nor/>
                              </m:rPr>
                              <m:t xml:space="preserve">3600</m:t>
                            </m:r>
                            <m:r>
                              <m:t xml:space="preserve">s</m:t>
                            </m:r>
                            <m:r>
                              <m:t xml:space="preserve">+</m:t>
                            </m:r>
                            <m:r>
                              <m:t xml:space="preserve">1</m:t>
                            </m:r>
                          </m:den>
                        </m:f>
                      </m:den>
                    </m:f>
                    <m:r>
                      <m:t xml:space="preserve">=</m:t>
                    </m:r>
                    <m:f>
                      <m:num>
                        <m:r>
                          <m:t xml:space="preserve">2</m:t>
                        </m:r>
                        <m:sSub>
                          <m:e>
                            <m:r>
                              <m:t xml:space="preserve">K</m:t>
                            </m:r>
                          </m:e>
                          <m:sub>
                            <m:r>
                              <m:t xml:space="preserve">c</m:t>
                            </m:r>
                          </m:sub>
                        </m:sSub>
                      </m:num>
                      <m:den>
                        <m:r>
                          <m:rPr>
                            <m:lit/>
                            <m:nor/>
                          </m:rPr>
                          <m:t xml:space="preserve">3600</m:t>
                        </m:r>
                        <m:r>
                          <m:t xml:space="preserve">s</m:t>
                        </m:r>
                        <m:r>
                          <m:t xml:space="preserve">+</m:t>
                        </m:r>
                        <m:r>
                          <m:t xml:space="preserve">1</m:t>
                        </m:r>
                        <m:r>
                          <m:t xml:space="preserve">+</m:t>
                        </m:r>
                        <m:r>
                          <m:t xml:space="preserve">2</m:t>
                        </m:r>
                        <m:sSub>
                          <m:e>
                            <m:r>
                              <m:t xml:space="preserve">K</m:t>
                            </m:r>
                          </m:e>
                          <m:sub>
                            <m:r>
                              <m:t xml:space="preserve">c</m:t>
                            </m:r>
                          </m:sub>
                        </m:sSub>
                      </m:den>
                    </m:f>
                    <m:r>
                      <m:t xml:space="preserve">=</m:t>
                    </m:r>
                    <m:f>
                      <m:num>
                        <m:f>
                          <m:num>
                            <m:r>
                              <m:t xml:space="preserve">2</m:t>
                            </m:r>
                            <m:sSub>
                              <m:e>
                                <m:r>
                                  <m:t xml:space="preserve">K</m:t>
                                </m:r>
                              </m:e>
                              <m:sub>
                                <m:r>
                                  <m:t xml:space="preserve">c</m:t>
                                </m:r>
                              </m:sub>
                            </m:sSub>
                          </m:num>
                          <m:den>
                            <m:r>
                              <m:t xml:space="preserve">1</m:t>
                            </m:r>
                            <m:r>
                              <m:t xml:space="preserve">+</m:t>
                            </m:r>
                            <m:r>
                              <m:t xml:space="preserve">2</m:t>
                            </m:r>
                            <m:sSub>
                              <m:e>
                                <m:r>
                                  <m:t xml:space="preserve">K</m:t>
                                </m:r>
                              </m:e>
                              <m:sub>
                                <m:r>
                                  <m:t xml:space="preserve">c</m:t>
                                </m:r>
                              </m:sub>
                            </m:sSub>
                          </m:den>
                        </m:f>
                      </m:num>
                      <m:den>
                        <m:f>
                          <m:num>
                            <m:r>
                              <m:rPr>
                                <m:lit/>
                                <m:nor/>
                              </m:rPr>
                              <m:t xml:space="preserve">3600</m:t>
                            </m:r>
                          </m:num>
                          <m:den>
                            <m:r>
                              <m:t xml:space="preserve">1</m:t>
                            </m:r>
                            <m:r>
                              <m:t xml:space="preserve">+</m:t>
                            </m:r>
                            <m:r>
                              <m:t xml:space="preserve">2</m:t>
                            </m:r>
                            <m:sSub>
                              <m:e>
                                <m:r>
                                  <m:t xml:space="preserve">K</m:t>
                                </m:r>
                              </m:e>
                              <m:sub>
                                <m:r>
                                  <m:t xml:space="preserve">c</m:t>
                                </m:r>
                              </m:sub>
                            </m:sSub>
                          </m:den>
                        </m:f>
                        <m:r>
                          <m:t xml:space="preserve">s</m:t>
                        </m:r>
                        <m:r>
                          <m:t xml:space="preserve">+</m:t>
                        </m:r>
                        <m:r>
                          <m:t xml:space="preserve">1</m:t>
                        </m:r>
                      </m:den>
                    </m:f>
                    <m:r>
                      <m:t xml:space="preserve">=</m:t>
                    </m:r>
                    <m:f>
                      <m:num>
                        <m:sSup>
                          <m:e>
                            <m:r>
                              <m:t xml:space="preserve">K</m:t>
                            </m:r>
                          </m:e>
                          <m:sup>
                            <m:r>
                              <m:t xml:space="preserve">'</m:t>
                            </m:r>
                          </m:sup>
                        </m:sSup>
                      </m:num>
                      <m:den>
                        <m:sSup>
                          <m:e>
                            <m:r>
                              <m:t xml:space="preserve">T</m:t>
                            </m:r>
                          </m:e>
                          <m:sup>
                            <m:r>
                              <m:t xml:space="preserve">'</m:t>
                            </m:r>
                          </m:sup>
                        </m:sSup>
                        <m:r>
                          <m:t xml:space="preserve">s</m:t>
                        </m:r>
                        <m:r>
                          <m:t xml:space="preserve">+</m:t>
                        </m:r>
                        <m:r>
                          <m:t xml:space="preserve">1</m:t>
                        </m:r>
                      </m:den>
                    </m:f>
                  </m:oMath>
                </a14:m>
              </a:p>
            </p:txBody>
          </p:sp>
        </mc:Choice>
        <mc:Fallback>
          <p:sp>
            <p:nvSpPr>
              <p:cNvPr id="42" name="Object 33"/>
              <p:cNvSpPr txBox="1"/>
              <p:nvPr/>
            </p:nvSpPr>
            <p:spPr>
              <a:xfrm>
                <a:off x="1376280" y="3070080"/>
                <a:ext cx="5980320" cy="1478160"/>
              </a:xfrm>
              <a:prstGeom prst="rect">
                <a:avLst/>
              </a:prstGeom>
              <a:blipFill>
                <a:blip r:embed="rId2"/>
                <a:stretch>
                  <a:fillRect/>
                </a:stretch>
              </a:blipFill>
            </p:spPr>
          </p:sp>
        </mc:Fallback>
      </mc:AlternateContent>
      <p:grpSp>
        <p:nvGrpSpPr>
          <p:cNvPr id="43" name="Group 36"/>
          <p:cNvGrpSpPr/>
          <p:nvPr/>
        </p:nvGrpSpPr>
        <p:grpSpPr>
          <a:xfrm>
            <a:off x="-150120" y="4465800"/>
            <a:ext cx="8912880" cy="774360"/>
            <a:chOff x="-150120" y="4465800"/>
            <a:chExt cx="8912880" cy="774360"/>
          </a:xfrm>
        </p:grpSpPr>
        <p:sp>
          <p:nvSpPr>
            <p:cNvPr id="44" name="Text Box 34"/>
            <p:cNvSpPr/>
            <p:nvPr/>
          </p:nvSpPr>
          <p:spPr>
            <a:xfrm>
              <a:off x="-150120" y="4600440"/>
              <a:ext cx="891288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设定值</a:t>
              </a:r>
              <a:r>
                <a:rPr lang="en-US" sz="2000" b="0" u="none" strike="noStrike">
                  <a:solidFill>
                    <a:srgbClr val="000000"/>
                  </a:solidFill>
                  <a:effectLst/>
                  <a:uFillTx/>
                  <a:latin typeface="Arial"/>
                </a:rPr>
                <a:t>r</a:t>
              </a:r>
              <a:r>
                <a:rPr lang="zh-CN" sz="2000" b="0" u="none" strike="noStrike">
                  <a:solidFill>
                    <a:srgbClr val="000000"/>
                  </a:solidFill>
                  <a:effectLst/>
                  <a:uFillTx/>
                  <a:latin typeface="Arial"/>
                </a:rPr>
                <a:t>变化到炉温稳定，系统调节时间为                             秒</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5" name="Object 35"/>
                <p:cNvSpPr txBox="1"/>
                <p:nvPr/>
              </p:nvSpPr>
              <p:spPr>
                <a:xfrm>
                  <a:off x="5697360" y="4465800"/>
                  <a:ext cx="1753920" cy="774360"/>
                </a:xfrm>
                <a:prstGeom prst="rect">
                  <a:avLst/>
                </a:prstGeom>
              </p:spPr>
              <p:txBody>
                <a:bodyPr/>
                <a:p>
                  <a14:m>
                    <m:oMath xmlns:m="http://schemas.openxmlformats.org/officeDocument/2006/math">
                      <m:sSup>
                        <m:e>
                          <m:r>
                            <m:t xml:space="preserve">T</m:t>
                          </m:r>
                        </m:e>
                        <m:sup>
                          <m:r>
                            <m:t xml:space="preserve">'</m:t>
                          </m:r>
                        </m:sup>
                      </m:sSup>
                      <m:r>
                        <m:t xml:space="preserve">×</m:t>
                      </m:r>
                      <m:r>
                        <m:t xml:space="preserve">3</m:t>
                      </m:r>
                      <m:r>
                        <m:t xml:space="preserve">=</m:t>
                      </m:r>
                      <m:f>
                        <m:num>
                          <m:r>
                            <m:rPr>
                              <m:lit/>
                              <m:nor/>
                            </m:rPr>
                            <m:t xml:space="preserve">10800</m:t>
                          </m:r>
                        </m:num>
                        <m:den>
                          <m:r>
                            <m:t xml:space="preserve">1</m:t>
                          </m:r>
                          <m:r>
                            <m:t xml:space="preserve">+</m:t>
                          </m:r>
                          <m:r>
                            <m:t xml:space="preserve">2</m:t>
                          </m:r>
                          <m:sSub>
                            <m:e>
                              <m:r>
                                <m:t xml:space="preserve">K</m:t>
                              </m:r>
                            </m:e>
                            <m:sub>
                              <m:r>
                                <m:t xml:space="preserve">c</m:t>
                              </m:r>
                            </m:sub>
                          </m:sSub>
                        </m:den>
                      </m:f>
                    </m:oMath>
                  </a14:m>
                </a:p>
              </p:txBody>
            </p:sp>
          </mc:Choice>
          <mc:Fallback>
            <p:sp>
              <p:nvSpPr>
                <p:cNvPr id="45" name="Object 35"/>
                <p:cNvSpPr txBox="1"/>
                <p:nvPr/>
              </p:nvSpPr>
              <p:spPr>
                <a:xfrm>
                  <a:off x="5697360" y="4465800"/>
                  <a:ext cx="1753920" cy="774360"/>
                </a:xfrm>
                <a:prstGeom prst="rect">
                  <a:avLst/>
                </a:prstGeom>
                <a:blipFill>
                  <a:blip r:embed="rId3"/>
                  <a:stretch>
                    <a:fillRect/>
                  </a:stretch>
                </a:blipFill>
              </p:spPr>
            </p:sp>
          </mc:Fallback>
        </mc:AlternateContent>
      </p:grpSp>
      <p:sp>
        <p:nvSpPr>
          <p:cNvPr id="46" name="Text Box 38"/>
          <p:cNvSpPr/>
          <p:nvPr/>
        </p:nvSpPr>
        <p:spPr>
          <a:xfrm>
            <a:off x="719280" y="5164200"/>
            <a:ext cx="7470720" cy="745560"/>
          </a:xfrm>
          <a:prstGeom prst="rect">
            <a:avLst/>
          </a:prstGeom>
          <a:solidFill>
            <a:srgbClr val="31B6FD">
              <a:alpha val="50000"/>
            </a:srgbClr>
          </a:solid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本例的比例控制器不仅提高了系统的调节速度，</a:t>
            </a:r>
            <a:r>
              <a:rPr lang="en-US" sz="2000" b="1" u="none" strike="noStrike">
                <a:solidFill>
                  <a:srgbClr val="000000"/>
                </a:solidFill>
                <a:effectLst/>
                <a:uFillTx/>
                <a:latin typeface="Arial"/>
              </a:rPr>
              <a:t>K</a:t>
            </a:r>
            <a:r>
              <a:rPr lang="en-US" sz="2000" b="1" u="none" strike="noStrike" baseline="-25000">
                <a:solidFill>
                  <a:srgbClr val="000000"/>
                </a:solidFill>
                <a:effectLst/>
                <a:uFillTx/>
                <a:latin typeface="Arial"/>
              </a:rPr>
              <a:t>c</a:t>
            </a:r>
            <a:r>
              <a:rPr lang="zh-CN" sz="2000" b="1" u="none" strike="noStrike">
                <a:solidFill>
                  <a:srgbClr val="000000"/>
                </a:solidFill>
                <a:effectLst/>
                <a:uFillTx/>
                <a:latin typeface="Arial"/>
              </a:rPr>
              <a:t>的选择还影响开环增益，所以可影响系统的精度。</a:t>
            </a:r>
            <a:endParaRPr lang="en-US" sz="2000" b="0" u="none" strike="noStrike">
              <a:solidFill>
                <a:srgbClr val="000000"/>
              </a:solidFill>
              <a:effectLst/>
              <a:uFillTx/>
              <a:latin typeface="Times New Roman"/>
            </a:endParaRPr>
          </a:p>
        </p:txBody>
      </p:sp>
      <p:sp>
        <p:nvSpPr>
          <p:cNvPr id="47" name="Text Box 38"/>
          <p:cNvSpPr/>
          <p:nvPr/>
        </p:nvSpPr>
        <p:spPr>
          <a:xfrm>
            <a:off x="719280" y="5979960"/>
            <a:ext cx="7470720" cy="703800"/>
          </a:xfrm>
          <a:prstGeom prst="rect">
            <a:avLst/>
          </a:prstGeom>
          <a:solidFill>
            <a:srgbClr val="31B6FD">
              <a:alpha val="50000"/>
            </a:srgbClr>
          </a:solid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FF0000"/>
                </a:solidFill>
                <a:effectLst/>
                <a:uFillTx/>
                <a:latin typeface="Arial"/>
              </a:rPr>
              <a:t>思考：</a:t>
            </a:r>
            <a:r>
              <a:rPr lang="zh-CN" sz="2000" b="1" u="none" strike="noStrike">
                <a:solidFill>
                  <a:srgbClr val="000000"/>
                </a:solidFill>
                <a:effectLst/>
                <a:uFillTx/>
                <a:latin typeface="Arial"/>
              </a:rPr>
              <a:t>绘制根轨迹，分析</a:t>
            </a:r>
            <a:r>
              <a:rPr lang="en-US" sz="2000" b="1" u="none" strike="noStrike">
                <a:solidFill>
                  <a:srgbClr val="000000"/>
                </a:solidFill>
                <a:effectLst/>
                <a:uFillTx/>
                <a:latin typeface="Arial"/>
              </a:rPr>
              <a:t>Kc</a:t>
            </a:r>
            <a:r>
              <a:rPr lang="zh-CN" sz="2000" b="1" u="none" strike="noStrike">
                <a:solidFill>
                  <a:srgbClr val="000000"/>
                </a:solidFill>
                <a:effectLst/>
                <a:uFillTx/>
                <a:latin typeface="Arial"/>
              </a:rPr>
              <a:t>对系统性能的影响。</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           绘制系统频率特性图，分析</a:t>
            </a:r>
            <a:r>
              <a:rPr lang="en-US" sz="2000" b="1" u="none" strike="noStrike">
                <a:solidFill>
                  <a:srgbClr val="000000"/>
                </a:solidFill>
                <a:effectLst/>
                <a:uFillTx/>
                <a:latin typeface="Arial"/>
              </a:rPr>
              <a:t>Kc</a:t>
            </a:r>
            <a:r>
              <a:rPr lang="zh-CN" sz="2000" b="1" u="none" strike="noStrike">
                <a:solidFill>
                  <a:srgbClr val="000000"/>
                </a:solidFill>
                <a:effectLst/>
                <a:uFillTx/>
                <a:latin typeface="Arial"/>
              </a:rPr>
              <a:t>对系统性能的影响。</a:t>
            </a:r>
            <a:endParaRPr lang="en-US" sz="2000" b="0" u="none" strike="noStrike">
              <a:solidFill>
                <a:srgbClr val="000000"/>
              </a:solidFill>
              <a:effectLst/>
              <a:uFillTx/>
              <a:latin typeface="Times New Roman"/>
            </a:endParaRPr>
          </a:p>
        </p:txBody>
      </p:sp>
    </p:spTree>
  </p:cSld>
  <p:transition>
    <p:random/>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3" presetClass="entr" fill="hold" nodeType="clickEffect" presetSubtype="10">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additive="repl">
                                        <p:cTn id="7" dur="500"/>
                                        <p:tgtEl>
                                          <p:spTgt spid="17"/>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 presetClass="entr" fill="hold" nodeType="clickEffect" presetSubtype="4">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p:val>
                                            <p:strVal val="#ppt_x"/>
                                          </p:val>
                                        </p:tav>
                                        <p:tav tm="100000">
                                          <p:val>
                                            <p:strVal val="#ppt_x"/>
                                          </p:val>
                                        </p:tav>
                                      </p:tavLst>
                                    </p:anim>
                                    <p:anim calcmode="lin" valueType="num">
                                      <p:cBhvr additive="base">
                                        <p:cTn id="13" dur="500" fill="hold"/>
                                        <p:tgtEl>
                                          <p:spTgt spid="23"/>
                                        </p:tgtEl>
                                        <p:attrNameLst>
                                          <p:attrName>ppt_y</p:attrName>
                                        </p:attrNameLst>
                                      </p:cBhvr>
                                      <p:tavLst>
                                        <p:tav>
                                          <p:val>
                                            <p:strVal val="1+#ppt_h/2"/>
                                          </p:val>
                                        </p:tav>
                                        <p:tav tm="100000">
                                          <p:val>
                                            <p:strVal val="#ppt_y"/>
                                          </p:val>
                                        </p:tav>
                                      </p:tavLst>
                                    </p:anim>
                                  </p:childTnLst>
                                </p:cTn>
                              </p:par>
                            </p:childTnLst>
                          </p:cTn>
                        </p:par>
                      </p:childTnLst>
                    </p:cTn>
                  </p:par>
                  <p:par>
                    <p:cTn id="14" fill="hold" nodeType="clickEffect">
                      <p:stCondLst>
                        <p:cond delay="indefinite"/>
                      </p:stCondLst>
                      <p:childTnLst>
                        <p:par>
                          <p:cTn id="15" fill="hold" nodeType="withEffect">
                            <p:stCondLst>
                              <p:cond delay="0"/>
                            </p:stCondLst>
                            <p:childTnLst>
                              <p:par>
                                <p:cTn id="16" presetID="2" presetClass="entr" fill="hold" nodeType="clickEffect" presetSubtype="4">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p:val>
                                            <p:strVal val="#ppt_x"/>
                                          </p:val>
                                        </p:tav>
                                        <p:tav tm="100000">
                                          <p:val>
                                            <p:strVal val="#ppt_x"/>
                                          </p:val>
                                        </p:tav>
                                      </p:tavLst>
                                    </p:anim>
                                    <p:anim calcmode="lin" valueType="num">
                                      <p:cBhvr additive="base">
                                        <p:cTn id="19" dur="500" fill="hold"/>
                                        <p:tgtEl>
                                          <p:spTgt spid="26"/>
                                        </p:tgtEl>
                                        <p:attrNameLst>
                                          <p:attrName>ppt_y</p:attrName>
                                        </p:attrNameLst>
                                      </p:cBhvr>
                                      <p:tavLst>
                                        <p:tav>
                                          <p:val>
                                            <p:strVal val="1+#ppt_h/2"/>
                                          </p:val>
                                        </p:tav>
                                        <p:tav tm="100000">
                                          <p:val>
                                            <p:strVal val="#ppt_y"/>
                                          </p:val>
                                        </p:tav>
                                      </p:tavLst>
                                    </p:anim>
                                  </p:childTnLst>
                                </p:cTn>
                              </p:par>
                            </p:childTnLst>
                          </p:cTn>
                        </p:par>
                      </p:childTnLst>
                    </p:cTn>
                  </p:par>
                  <p:par>
                    <p:cTn id="20" fill="hold" nodeType="clickEffect">
                      <p:stCondLst>
                        <p:cond delay="indefinite"/>
                      </p:stCondLst>
                      <p:childTnLst>
                        <p:par>
                          <p:cTn id="21" fill="hold" nodeType="withEffect">
                            <p:stCondLst>
                              <p:cond delay="0"/>
                            </p:stCondLst>
                            <p:childTnLst>
                              <p:par>
                                <p:cTn id="22" presetID="22" presetClass="entr" fill="hold" nodeType="clickEffect" presetSubtype="8">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additive="repl">
                                        <p:cTn id="24" dur="500"/>
                                        <p:tgtEl>
                                          <p:spTgt spid="29"/>
                                        </p:tgtEl>
                                      </p:cBhvr>
                                    </p:animEffect>
                                  </p:childTnLst>
                                </p:cTn>
                              </p:par>
                            </p:childTnLst>
                          </p:cTn>
                        </p:par>
                      </p:childTnLst>
                    </p:cTn>
                  </p:par>
                  <p:par>
                    <p:cTn id="25" fill="hold" nodeType="clickEffect">
                      <p:stCondLst>
                        <p:cond delay="indefinite"/>
                      </p:stCondLst>
                      <p:childTnLst>
                        <p:par>
                          <p:cTn id="26" fill="hold" nodeType="withEffect">
                            <p:stCondLst>
                              <p:cond delay="0"/>
                            </p:stCondLst>
                            <p:childTnLst>
                              <p:par>
                                <p:cTn id="27" presetID="1" presetClass="entr"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nodeType="clickEffect">
                      <p:stCondLst>
                        <p:cond delay="indefinite"/>
                      </p:stCondLst>
                      <p:childTnLst>
                        <p:par>
                          <p:cTn id="30" fill="hold" nodeType="withEffect">
                            <p:stCondLst>
                              <p:cond delay="0"/>
                            </p:stCondLst>
                            <p:childTnLst>
                              <p:par>
                                <p:cTn id="31" presetID="3" presetClass="entr" fill="hold" nodeType="clickEffect" presetSubtype="10">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blinds(horizontal)">
                                      <p:cBhvr additive="repl">
                                        <p:cTn id="33" dur="500"/>
                                        <p:tgtEl>
                                          <p:spTgt spid="39"/>
                                        </p:tgtEl>
                                      </p:cBhvr>
                                    </p:animEffect>
                                  </p:childTnLst>
                                </p:cTn>
                              </p:par>
                            </p:childTnLst>
                          </p:cTn>
                        </p:par>
                      </p:childTnLst>
                    </p:cTn>
                  </p:par>
                  <p:par>
                    <p:cTn id="34" fill="hold" nodeType="clickEffect">
                      <p:stCondLst>
                        <p:cond delay="indefinite"/>
                      </p:stCondLst>
                      <p:childTnLst>
                        <p:par>
                          <p:cTn id="35" fill="hold" nodeType="withEffect">
                            <p:stCondLst>
                              <p:cond delay="0"/>
                            </p:stCondLst>
                            <p:childTnLst>
                              <p:par>
                                <p:cTn id="36" presetID="3" presetClass="entr" fill="hold" nodeType="clickEffect" presetSubtype="10">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blinds(horizontal)">
                                      <p:cBhvr additive="repl">
                                        <p:cTn id="38" dur="500"/>
                                        <p:tgtEl>
                                          <p:spTgt spid="42"/>
                                        </p:tgtEl>
                                      </p:cBhvr>
                                    </p:animEffect>
                                  </p:childTnLst>
                                </p:cTn>
                              </p:par>
                            </p:childTnLst>
                          </p:cTn>
                        </p:par>
                      </p:childTnLst>
                    </p:cTn>
                  </p:par>
                  <p:par>
                    <p:cTn id="39" fill="hold" nodeType="clickEffect">
                      <p:stCondLst>
                        <p:cond delay="indefinite"/>
                      </p:stCondLst>
                      <p:childTnLst>
                        <p:par>
                          <p:cTn id="40" fill="hold" nodeType="withEffect">
                            <p:stCondLst>
                              <p:cond delay="0"/>
                            </p:stCondLst>
                            <p:childTnLst>
                              <p:par>
                                <p:cTn id="41" presetID="22" presetClass="entr" fill="hold" nodeType="clickEffect" presetSubtype="4">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ipe(down)">
                                      <p:cBhvr additive="repl">
                                        <p:cTn id="43" dur="500"/>
                                        <p:tgtEl>
                                          <p:spTgt spid="43"/>
                                        </p:tgtEl>
                                      </p:cBhvr>
                                    </p:animEffect>
                                  </p:childTnLst>
                                </p:cTn>
                              </p:par>
                            </p:childTnLst>
                          </p:cTn>
                        </p:par>
                      </p:childTnLst>
                    </p:cTn>
                  </p:par>
                  <p:par>
                    <p:cTn id="44" fill="hold" nodeType="clickEffect">
                      <p:stCondLst>
                        <p:cond delay="indefinite"/>
                      </p:stCondLst>
                      <p:childTnLst>
                        <p:par>
                          <p:cTn id="45" fill="hold" nodeType="withEffect">
                            <p:stCondLst>
                              <p:cond delay="0"/>
                            </p:stCondLst>
                            <p:childTnLst>
                              <p:par>
                                <p:cTn id="46" presetID="5" presetClass="entr" fill="hold" nodeType="clickEffect" presetSubtype="10">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checkerboard(across)">
                                      <p:cBhvr additive="repl">
                                        <p:cTn id="48" dur="500"/>
                                        <p:tgtEl>
                                          <p:spTgt spid="46"/>
                                        </p:tgtEl>
                                      </p:cBhvr>
                                    </p:animEffect>
                                  </p:childTnLst>
                                </p:cTn>
                              </p:par>
                            </p:childTnLst>
                          </p:cTn>
                        </p:par>
                      </p:childTnLst>
                    </p:cTn>
                  </p:par>
                  <p:par>
                    <p:cTn id="49" fill="hold" nodeType="clickEffect">
                      <p:stCondLst>
                        <p:cond delay="indefinite"/>
                      </p:stCondLst>
                      <p:childTnLst>
                        <p:par>
                          <p:cTn id="50" fill="hold" nodeType="withEffect">
                            <p:stCondLst>
                              <p:cond delay="0"/>
                            </p:stCondLst>
                            <p:childTnLst>
                              <p:par>
                                <p:cTn id="51" presetID="5" presetClass="entr" fill="hold" nodeType="clickEffect" presetSubtype="10">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checkerboard(across)">
                                      <p:cBhvr additive="repl">
                                        <p:cTn id="53" dur="500"/>
                                        <p:tgtEl>
                                          <p:spTgt spid="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Rectangle 4"/>
          <p:cNvSpPr/>
          <p:nvPr/>
        </p:nvSpPr>
        <p:spPr>
          <a:xfrm>
            <a:off x="971640" y="649800"/>
            <a:ext cx="2879640" cy="39888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一、性能指标</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9" name="Object 13"/>
              <p:cNvSpPr txBox="1"/>
              <p:nvPr/>
            </p:nvSpPr>
            <p:spPr>
              <a:xfrm>
                <a:off x="6443640" y="1413000"/>
                <a:ext cx="380880" cy="457200"/>
              </a:xfrm>
              <a:prstGeom prst="rect">
                <a:avLst/>
              </a:prstGeom>
            </p:spPr>
            <p:txBody>
              <a:bodyPr/>
              <a:p>
                <a14:m>
                  <m:oMath xmlns:m="http://schemas.openxmlformats.org/officeDocument/2006/math">
                    <m:sSub>
                      <m:e>
                        <m:r>
                          <m:t xml:space="preserve">e</m:t>
                        </m:r>
                      </m:e>
                      <m:sub>
                        <m:r>
                          <m:rPr>
                            <m:lit/>
                            <m:nor/>
                          </m:rPr>
                          <m:t xml:space="preserve">ss</m:t>
                        </m:r>
                      </m:sub>
                    </m:sSub>
                  </m:oMath>
                </a14:m>
              </a:p>
            </p:txBody>
          </p:sp>
        </mc:Choice>
        <mc:Fallback>
          <p:sp>
            <p:nvSpPr>
              <p:cNvPr id="49" name="Object 13"/>
              <p:cNvSpPr txBox="1"/>
              <p:nvPr/>
            </p:nvSpPr>
            <p:spPr>
              <a:xfrm>
                <a:off x="6443640" y="1413000"/>
                <a:ext cx="380880" cy="457200"/>
              </a:xfrm>
              <a:prstGeom prst="rect">
                <a:avLst/>
              </a:prstGeom>
              <a:blipFill>
                <a:blip r:embed="rId1"/>
                <a:stretch>
                  <a:fillRect/>
                </a:stretch>
              </a:blipFill>
            </p:spPr>
          </p:sp>
        </mc:Fallback>
      </mc:AlternateContent>
      <p:sp>
        <p:nvSpPr>
          <p:cNvPr id="50" name="Rectangle 16"/>
          <p:cNvSpPr/>
          <p:nvPr/>
        </p:nvSpPr>
        <p:spPr>
          <a:xfrm>
            <a:off x="1920960" y="1628640"/>
            <a:ext cx="17078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时域性能指标</a:t>
            </a:r>
            <a:endParaRPr lang="en-US" sz="2000" b="0" u="none" strike="noStrike">
              <a:solidFill>
                <a:srgbClr val="000000"/>
              </a:solidFill>
              <a:effectLst/>
              <a:uFillTx/>
              <a:latin typeface="Times New Roman"/>
            </a:endParaRPr>
          </a:p>
        </p:txBody>
      </p:sp>
      <p:sp>
        <p:nvSpPr>
          <p:cNvPr id="51" name="Rectangle 17"/>
          <p:cNvSpPr/>
          <p:nvPr/>
        </p:nvSpPr>
        <p:spPr>
          <a:xfrm>
            <a:off x="1920960" y="2637000"/>
            <a:ext cx="17078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频域性能指标</a:t>
            </a:r>
            <a:endParaRPr lang="en-US" sz="2000" b="0" u="none" strike="noStrike">
              <a:solidFill>
                <a:srgbClr val="000000"/>
              </a:solidFill>
              <a:effectLst/>
              <a:uFillTx/>
              <a:latin typeface="Times New Roman"/>
            </a:endParaRPr>
          </a:p>
        </p:txBody>
      </p:sp>
      <p:sp>
        <p:nvSpPr>
          <p:cNvPr id="52" name="Rectangle 18"/>
          <p:cNvSpPr/>
          <p:nvPr/>
        </p:nvSpPr>
        <p:spPr>
          <a:xfrm>
            <a:off x="250920" y="1854360"/>
            <a:ext cx="122400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控制系统</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性能指标</a:t>
            </a:r>
            <a:endParaRPr lang="en-US" sz="2000" b="0" u="none" strike="noStrike">
              <a:solidFill>
                <a:srgbClr val="000000"/>
              </a:solidFill>
              <a:effectLst/>
              <a:uFillTx/>
              <a:latin typeface="Times New Roman"/>
            </a:endParaRPr>
          </a:p>
        </p:txBody>
      </p:sp>
      <p:sp>
        <p:nvSpPr>
          <p:cNvPr id="53" name="AutoShape 19"/>
          <p:cNvSpPr/>
          <p:nvPr/>
        </p:nvSpPr>
        <p:spPr>
          <a:xfrm>
            <a:off x="1619280" y="1844640"/>
            <a:ext cx="216000" cy="934920"/>
          </a:xfrm>
          <a:custGeom>
            <a:avLst/>
            <a:gdLst>
              <a:gd name="textAreaLeft" fmla="*/ 137880 w 216000"/>
              <a:gd name="textAreaRight" fmla="*/ 216360 w 216000"/>
              <a:gd name="textAreaTop" fmla="*/ 24120 h 934920"/>
              <a:gd name="textAreaBottom" fmla="*/ 910800 h 93492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900"/>
                  <a:pt x="10800" y="1800"/>
                </a:cubicBezTo>
                <a:lnTo>
                  <a:pt x="10800" y="9000"/>
                </a:lnTo>
                <a:cubicBezTo>
                  <a:pt x="10800" y="9900"/>
                  <a:pt x="5400" y="10800"/>
                  <a:pt x="0" y="10800"/>
                </a:cubicBezTo>
                <a:cubicBezTo>
                  <a:pt x="5400" y="10800"/>
                  <a:pt x="10800" y="11700"/>
                  <a:pt x="10800" y="12600"/>
                </a:cubicBezTo>
                <a:lnTo>
                  <a:pt x="10800" y="19800"/>
                </a:lnTo>
                <a:cubicBezTo>
                  <a:pt x="10800" y="20700"/>
                  <a:pt x="16200" y="21600"/>
                  <a:pt x="21600" y="21600"/>
                </a:cubicBezTo>
              </a:path>
            </a:pathLst>
          </a:custGeom>
          <a:noFill/>
          <a:ln w="25560">
            <a:solidFill>
              <a:srgbClr val="8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4" name="Rectangle 20"/>
          <p:cNvSpPr/>
          <p:nvPr/>
        </p:nvSpPr>
        <p:spPr>
          <a:xfrm>
            <a:off x="3798000" y="1427040"/>
            <a:ext cx="27259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稳态指标</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稳态误差</a:t>
            </a:r>
            <a:endParaRPr lang="en-US" sz="2000" b="0" u="none" strike="noStrike">
              <a:solidFill>
                <a:srgbClr val="000000"/>
              </a:solidFill>
              <a:effectLst/>
              <a:uFillTx/>
              <a:latin typeface="Times New Roman"/>
            </a:endParaRPr>
          </a:p>
        </p:txBody>
      </p:sp>
      <p:sp>
        <p:nvSpPr>
          <p:cNvPr id="55" name="AutoShape 22"/>
          <p:cNvSpPr/>
          <p:nvPr/>
        </p:nvSpPr>
        <p:spPr>
          <a:xfrm>
            <a:off x="3564000" y="1557360"/>
            <a:ext cx="216000" cy="576360"/>
          </a:xfrm>
          <a:custGeom>
            <a:avLst/>
            <a:gdLst>
              <a:gd name="textAreaLeft" fmla="*/ 137880 w 216000"/>
              <a:gd name="textAreaRight" fmla="*/ 216360 w 216000"/>
              <a:gd name="textAreaTop" fmla="*/ 14760 h 576360"/>
              <a:gd name="textAreaBottom" fmla="*/ 561600 h 57636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900"/>
                  <a:pt x="10800" y="1800"/>
                </a:cubicBezTo>
                <a:lnTo>
                  <a:pt x="10800" y="9000"/>
                </a:lnTo>
                <a:cubicBezTo>
                  <a:pt x="10800" y="9900"/>
                  <a:pt x="5400" y="10800"/>
                  <a:pt x="0" y="10800"/>
                </a:cubicBezTo>
                <a:cubicBezTo>
                  <a:pt x="5400" y="10800"/>
                  <a:pt x="10800" y="11700"/>
                  <a:pt x="10800" y="12600"/>
                </a:cubicBezTo>
                <a:lnTo>
                  <a:pt x="10800" y="19800"/>
                </a:lnTo>
                <a:cubicBezTo>
                  <a:pt x="10800" y="20700"/>
                  <a:pt x="16200" y="21600"/>
                  <a:pt x="21600" y="21600"/>
                </a:cubicBezTo>
              </a:path>
            </a:pathLst>
          </a:custGeom>
          <a:noFill/>
          <a:ln w="25560">
            <a:solidFill>
              <a:srgbClr val="8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56" name="Group 27"/>
          <p:cNvGrpSpPr/>
          <p:nvPr/>
        </p:nvGrpSpPr>
        <p:grpSpPr>
          <a:xfrm>
            <a:off x="3319920" y="1844640"/>
            <a:ext cx="5016240" cy="482760"/>
            <a:chOff x="3319920" y="1844640"/>
            <a:chExt cx="5016240" cy="482760"/>
          </a:xfrm>
        </p:grpSpPr>
        <mc:AlternateContent>
          <mc:Choice xmlns:a14="http://schemas.microsoft.com/office/drawing/2010/main" Requires="a14">
            <p:sp>
              <p:nvSpPr>
                <p:cNvPr id="57" name="Object 14"/>
                <p:cNvSpPr txBox="1"/>
                <p:nvPr/>
              </p:nvSpPr>
              <p:spPr>
                <a:xfrm>
                  <a:off x="5077080" y="1844640"/>
                  <a:ext cx="279360" cy="457200"/>
                </a:xfrm>
                <a:prstGeom prst="rect">
                  <a:avLst/>
                </a:prstGeom>
              </p:spPr>
              <p:txBody>
                <a:bodyPr/>
                <a:p>
                  <a14:m>
                    <m:oMath xmlns:m="http://schemas.openxmlformats.org/officeDocument/2006/math">
                      <m:sSub>
                        <m:e>
                          <m:r>
                            <m:t xml:space="preserve">t</m:t>
                          </m:r>
                        </m:e>
                        <m:sub>
                          <m:r>
                            <m:t xml:space="preserve">s</m:t>
                          </m:r>
                        </m:sub>
                      </m:sSub>
                    </m:oMath>
                  </a14:m>
                </a:p>
              </p:txBody>
            </p:sp>
          </mc:Choice>
          <mc:Fallback>
            <p:sp>
              <p:nvSpPr>
                <p:cNvPr id="57" name="Object 14"/>
                <p:cNvSpPr txBox="1"/>
                <p:nvPr/>
              </p:nvSpPr>
              <p:spPr>
                <a:xfrm>
                  <a:off x="5077080" y="1844640"/>
                  <a:ext cx="279360" cy="457200"/>
                </a:xfrm>
                <a:prstGeom prst="rect">
                  <a:avLst/>
                </a:prstGeom>
                <a:blipFill>
                  <a:blip r:embed="rId2"/>
                  <a:stretch>
                    <a:fillRect/>
                  </a:stretch>
                </a:blipFill>
              </p:spPr>
            </p:sp>
          </mc:Fallback>
        </mc:AlternateContent>
        <mc:AlternateContent>
          <mc:Choice xmlns:a14="http://schemas.microsoft.com/office/drawing/2010/main" Requires="a14">
            <p:sp>
              <p:nvSpPr>
                <p:cNvPr id="58" name="Object 15"/>
                <p:cNvSpPr txBox="1"/>
                <p:nvPr/>
              </p:nvSpPr>
              <p:spPr>
                <a:xfrm>
                  <a:off x="5436000" y="1916280"/>
                  <a:ext cx="504720" cy="320760"/>
                </a:xfrm>
                <a:prstGeom prst="rect">
                  <a:avLst/>
                </a:prstGeom>
              </p:spPr>
              <p:txBody>
                <a:bodyPr/>
                <a:p>
                  <a14:m>
                    <m:oMath xmlns:m="http://schemas.openxmlformats.org/officeDocument/2006/math">
                      <m:r>
                        <m:t xml:space="preserve">σ</m:t>
                      </m:r>
                      <m:r>
                        <m:rPr>
                          <m:lit/>
                          <m:nor/>
                        </m:rPr>
                        <m:t xml:space="preserve">%</m:t>
                      </m:r>
                    </m:oMath>
                  </a14:m>
                </a:p>
              </p:txBody>
            </p:sp>
          </mc:Choice>
          <mc:Fallback>
            <p:sp>
              <p:nvSpPr>
                <p:cNvPr id="58" name="Object 15"/>
                <p:cNvSpPr txBox="1"/>
                <p:nvPr/>
              </p:nvSpPr>
              <p:spPr>
                <a:xfrm>
                  <a:off x="5436000" y="1916280"/>
                  <a:ext cx="504720" cy="320760"/>
                </a:xfrm>
                <a:prstGeom prst="rect">
                  <a:avLst/>
                </a:prstGeom>
                <a:blipFill>
                  <a:blip r:embed="rId3"/>
                  <a:stretch>
                    <a:fillRect/>
                  </a:stretch>
                </a:blipFill>
              </p:spPr>
            </p:sp>
          </mc:Fallback>
        </mc:AlternateContent>
        <p:sp>
          <p:nvSpPr>
            <p:cNvPr id="59" name="Rectangle 21"/>
            <p:cNvSpPr/>
            <p:nvPr/>
          </p:nvSpPr>
          <p:spPr>
            <a:xfrm>
              <a:off x="3319920" y="1859040"/>
              <a:ext cx="50162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动态指标：   ，     ，   ，  ，   等。</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0" name="Object 24"/>
                <p:cNvSpPr txBox="1"/>
                <p:nvPr/>
              </p:nvSpPr>
              <p:spPr>
                <a:xfrm>
                  <a:off x="6085080" y="1844640"/>
                  <a:ext cx="279360" cy="432000"/>
                </a:xfrm>
                <a:prstGeom prst="rect">
                  <a:avLst/>
                </a:prstGeom>
              </p:spPr>
              <p:txBody>
                <a:bodyPr/>
                <a:p>
                  <a14:m>
                    <m:oMath xmlns:m="http://schemas.openxmlformats.org/officeDocument/2006/math">
                      <m:sSub>
                        <m:e>
                          <m:r>
                            <m:t xml:space="preserve">t</m:t>
                          </m:r>
                        </m:e>
                        <m:sub>
                          <m:r>
                            <m:t xml:space="preserve">r</m:t>
                          </m:r>
                        </m:sub>
                      </m:sSub>
                    </m:oMath>
                  </a14:m>
                </a:p>
              </p:txBody>
            </p:sp>
          </mc:Choice>
          <mc:Fallback>
            <p:sp>
              <p:nvSpPr>
                <p:cNvPr id="60" name="Object 24"/>
                <p:cNvSpPr txBox="1"/>
                <p:nvPr/>
              </p:nvSpPr>
              <p:spPr>
                <a:xfrm>
                  <a:off x="6085080" y="1844640"/>
                  <a:ext cx="279360" cy="432000"/>
                </a:xfrm>
                <a:prstGeom prst="rect">
                  <a:avLst/>
                </a:prstGeom>
                <a:blipFill>
                  <a:blip r:embed="rId4"/>
                  <a:stretch>
                    <a:fillRect/>
                  </a:stretch>
                </a:blipFill>
              </p:spPr>
            </p:sp>
          </mc:Fallback>
        </mc:AlternateContent>
        <mc:AlternateContent>
          <mc:Choice xmlns:a14="http://schemas.microsoft.com/office/drawing/2010/main" Requires="a14">
            <p:sp>
              <p:nvSpPr>
                <p:cNvPr id="61" name="Object 25"/>
                <p:cNvSpPr txBox="1"/>
                <p:nvPr/>
              </p:nvSpPr>
              <p:spPr>
                <a:xfrm>
                  <a:off x="6517080" y="1844640"/>
                  <a:ext cx="304560" cy="482760"/>
                </a:xfrm>
                <a:prstGeom prst="rect">
                  <a:avLst/>
                </a:prstGeom>
              </p:spPr>
              <p:txBody>
                <a:bodyPr/>
                <a:p>
                  <a14:m>
                    <m:oMath xmlns:m="http://schemas.openxmlformats.org/officeDocument/2006/math">
                      <m:sSub>
                        <m:e>
                          <m:r>
                            <m:t xml:space="preserve">t</m:t>
                          </m:r>
                        </m:e>
                        <m:sub>
                          <m:r>
                            <m:t xml:space="preserve">p</m:t>
                          </m:r>
                        </m:sub>
                      </m:sSub>
                    </m:oMath>
                  </a14:m>
                </a:p>
              </p:txBody>
            </p:sp>
          </mc:Choice>
          <mc:Fallback>
            <p:sp>
              <p:nvSpPr>
                <p:cNvPr id="61" name="Object 25"/>
                <p:cNvSpPr txBox="1"/>
                <p:nvPr/>
              </p:nvSpPr>
              <p:spPr>
                <a:xfrm>
                  <a:off x="6517080" y="1844640"/>
                  <a:ext cx="304560" cy="482760"/>
                </a:xfrm>
                <a:prstGeom prst="rect">
                  <a:avLst/>
                </a:prstGeom>
                <a:blipFill>
                  <a:blip r:embed="rId5"/>
                  <a:stretch>
                    <a:fillRect/>
                  </a:stretch>
                </a:blipFill>
              </p:spPr>
            </p:sp>
          </mc:Fallback>
        </mc:AlternateContent>
        <mc:AlternateContent>
          <mc:Choice xmlns:a14="http://schemas.microsoft.com/office/drawing/2010/main" Requires="a14">
            <p:sp>
              <p:nvSpPr>
                <p:cNvPr id="62" name="Object 26"/>
                <p:cNvSpPr txBox="1"/>
                <p:nvPr/>
              </p:nvSpPr>
              <p:spPr>
                <a:xfrm>
                  <a:off x="6948720" y="1844640"/>
                  <a:ext cx="304920" cy="457200"/>
                </a:xfrm>
                <a:prstGeom prst="rect">
                  <a:avLst/>
                </a:prstGeom>
              </p:spPr>
              <p:txBody>
                <a:bodyPr/>
                <a:p>
                  <a14:m>
                    <m:oMath xmlns:m="http://schemas.openxmlformats.org/officeDocument/2006/math">
                      <m:sSub>
                        <m:e>
                          <m:r>
                            <m:t xml:space="preserve">t</m:t>
                          </m:r>
                        </m:e>
                        <m:sub>
                          <m:r>
                            <m:t xml:space="preserve">d</m:t>
                          </m:r>
                        </m:sub>
                      </m:sSub>
                    </m:oMath>
                  </a14:m>
                </a:p>
              </p:txBody>
            </p:sp>
          </mc:Choice>
          <mc:Fallback>
            <p:sp>
              <p:nvSpPr>
                <p:cNvPr id="62" name="Object 26"/>
                <p:cNvSpPr txBox="1"/>
                <p:nvPr/>
              </p:nvSpPr>
              <p:spPr>
                <a:xfrm>
                  <a:off x="6948720" y="1844640"/>
                  <a:ext cx="304920" cy="457200"/>
                </a:xfrm>
                <a:prstGeom prst="rect">
                  <a:avLst/>
                </a:prstGeom>
                <a:blipFill>
                  <a:blip r:embed="rId6"/>
                  <a:stretch>
                    <a:fillRect/>
                  </a:stretch>
                </a:blipFill>
              </p:spPr>
            </p:sp>
          </mc:Fallback>
        </mc:AlternateContent>
      </p:grpSp>
      <p:sp>
        <p:nvSpPr>
          <p:cNvPr id="63" name="AutoShape 29"/>
          <p:cNvSpPr/>
          <p:nvPr/>
        </p:nvSpPr>
        <p:spPr>
          <a:xfrm>
            <a:off x="3564000" y="2565360"/>
            <a:ext cx="216000" cy="576360"/>
          </a:xfrm>
          <a:custGeom>
            <a:avLst/>
            <a:gdLst>
              <a:gd name="textAreaLeft" fmla="*/ 137880 w 216000"/>
              <a:gd name="textAreaRight" fmla="*/ 216360 w 216000"/>
              <a:gd name="textAreaTop" fmla="*/ 14760 h 576360"/>
              <a:gd name="textAreaBottom" fmla="*/ 561600 h 57636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900"/>
                  <a:pt x="10800" y="1800"/>
                </a:cubicBezTo>
                <a:lnTo>
                  <a:pt x="10800" y="9000"/>
                </a:lnTo>
                <a:cubicBezTo>
                  <a:pt x="10800" y="9900"/>
                  <a:pt x="5400" y="10800"/>
                  <a:pt x="0" y="10800"/>
                </a:cubicBezTo>
                <a:cubicBezTo>
                  <a:pt x="5400" y="10800"/>
                  <a:pt x="10800" y="11700"/>
                  <a:pt x="10800" y="12600"/>
                </a:cubicBezTo>
                <a:lnTo>
                  <a:pt x="10800" y="19800"/>
                </a:lnTo>
                <a:cubicBezTo>
                  <a:pt x="10800" y="20700"/>
                  <a:pt x="16200" y="21600"/>
                  <a:pt x="21600" y="21600"/>
                </a:cubicBezTo>
              </a:path>
            </a:pathLst>
          </a:custGeom>
          <a:noFill/>
          <a:ln w="25560">
            <a:solidFill>
              <a:srgbClr val="8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64" name="Group 41"/>
          <p:cNvGrpSpPr/>
          <p:nvPr/>
        </p:nvGrpSpPr>
        <p:grpSpPr>
          <a:xfrm>
            <a:off x="3780000" y="2276640"/>
            <a:ext cx="4824000" cy="1328040"/>
            <a:chOff x="3780000" y="2276640"/>
            <a:chExt cx="4824000" cy="1328040"/>
          </a:xfrm>
        </p:grpSpPr>
        <p:sp>
          <p:nvSpPr>
            <p:cNvPr id="65" name="Rectangle 30"/>
            <p:cNvSpPr/>
            <p:nvPr/>
          </p:nvSpPr>
          <p:spPr>
            <a:xfrm>
              <a:off x="3780000" y="2291040"/>
              <a:ext cx="482400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开环指标：截止角频率      、相角稳定裕</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量      、增益稳定裕量</a:t>
              </a:r>
              <a:r>
                <a:rPr lang="zh-CN" sz="2000" b="0" u="none" strike="noStrike">
                  <a:solidFill>
                    <a:srgbClr val="000000"/>
                  </a:solidFill>
                  <a:effectLst/>
                  <a:uFillTx/>
                  <a:latin typeface="Times New Roman"/>
                </a:rPr>
                <a:t>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6" name="Object 32"/>
                <p:cNvSpPr txBox="1"/>
                <p:nvPr/>
              </p:nvSpPr>
              <p:spPr>
                <a:xfrm>
                  <a:off x="6526080" y="2276640"/>
                  <a:ext cx="331920" cy="38556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66" name="Object 32"/>
                <p:cNvSpPr txBox="1"/>
                <p:nvPr/>
              </p:nvSpPr>
              <p:spPr>
                <a:xfrm>
                  <a:off x="6526080" y="2276640"/>
                  <a:ext cx="331920" cy="385560"/>
                </a:xfrm>
                <a:prstGeom prst="rect">
                  <a:avLst/>
                </a:prstGeom>
                <a:blipFill>
                  <a:blip r:embed="rId7"/>
                  <a:stretch>
                    <a:fillRect/>
                  </a:stretch>
                </a:blipFill>
              </p:spPr>
            </p:sp>
          </mc:Fallback>
        </mc:AlternateContent>
        <mc:AlternateContent>
          <mc:Choice xmlns:a14="http://schemas.microsoft.com/office/drawing/2010/main" Requires="a14">
            <p:sp>
              <p:nvSpPr>
                <p:cNvPr id="67" name="Object 33"/>
                <p:cNvSpPr txBox="1"/>
                <p:nvPr/>
              </p:nvSpPr>
              <p:spPr>
                <a:xfrm>
                  <a:off x="5486760" y="2637000"/>
                  <a:ext cx="261360" cy="330120"/>
                </a:xfrm>
                <a:prstGeom prst="rect">
                  <a:avLst/>
                </a:prstGeom>
              </p:spPr>
              <p:txBody>
                <a:bodyPr/>
                <a:p>
                  <a14:m>
                    <m:oMath xmlns:m="http://schemas.openxmlformats.org/officeDocument/2006/math">
                      <m:r>
                        <m:t xml:space="preserve">γ</m:t>
                      </m:r>
                    </m:oMath>
                  </a14:m>
                </a:p>
              </p:txBody>
            </p:sp>
          </mc:Choice>
          <mc:Fallback>
            <p:sp>
              <p:nvSpPr>
                <p:cNvPr id="67" name="Object 33"/>
                <p:cNvSpPr txBox="1"/>
                <p:nvPr/>
              </p:nvSpPr>
              <p:spPr>
                <a:xfrm>
                  <a:off x="5486760" y="2637000"/>
                  <a:ext cx="261360" cy="330120"/>
                </a:xfrm>
                <a:prstGeom prst="rect">
                  <a:avLst/>
                </a:prstGeom>
                <a:blipFill>
                  <a:blip r:embed="rId8"/>
                  <a:stretch>
                    <a:fillRect/>
                  </a:stretch>
                </a:blipFill>
              </p:spPr>
            </p:sp>
          </mc:Fallback>
        </mc:AlternateContent>
        <mc:AlternateContent>
          <mc:Choice xmlns:a14="http://schemas.microsoft.com/office/drawing/2010/main" Requires="a14">
            <p:sp>
              <p:nvSpPr>
                <p:cNvPr id="68" name="Object 34"/>
                <p:cNvSpPr txBox="1"/>
                <p:nvPr/>
              </p:nvSpPr>
              <p:spPr>
                <a:xfrm>
                  <a:off x="7713720" y="2637000"/>
                  <a:ext cx="401040" cy="411120"/>
                </a:xfrm>
                <a:prstGeom prst="rect">
                  <a:avLst/>
                </a:prstGeom>
              </p:spPr>
              <p:txBody>
                <a:bodyPr/>
                <a:p>
                  <a14:m>
                    <m:oMath xmlns:m="http://schemas.openxmlformats.org/officeDocument/2006/math">
                      <m:sSub>
                        <m:e>
                          <m:r>
                            <m:t xml:space="preserve">K</m:t>
                          </m:r>
                        </m:e>
                        <m:sub>
                          <m:r>
                            <m:t xml:space="preserve">g</m:t>
                          </m:r>
                        </m:sub>
                      </m:sSub>
                    </m:oMath>
                  </a14:m>
                </a:p>
              </p:txBody>
            </p:sp>
          </mc:Choice>
          <mc:Fallback>
            <p:sp>
              <p:nvSpPr>
                <p:cNvPr id="68" name="Object 34"/>
                <p:cNvSpPr txBox="1"/>
                <p:nvPr/>
              </p:nvSpPr>
              <p:spPr>
                <a:xfrm>
                  <a:off x="7713720" y="2637000"/>
                  <a:ext cx="401040" cy="411120"/>
                </a:xfrm>
                <a:prstGeom prst="rect">
                  <a:avLst/>
                </a:prstGeom>
                <a:blipFill>
                  <a:blip r:embed="rId9"/>
                  <a:stretch>
                    <a:fillRect/>
                  </a:stretch>
                </a:blipFill>
              </p:spPr>
            </p:sp>
          </mc:Fallback>
        </mc:AlternateContent>
      </p:grpSp>
      <p:grpSp>
        <p:nvGrpSpPr>
          <p:cNvPr id="69" name="Group 42"/>
          <p:cNvGrpSpPr/>
          <p:nvPr/>
        </p:nvGrpSpPr>
        <p:grpSpPr>
          <a:xfrm>
            <a:off x="3780000" y="2997360"/>
            <a:ext cx="4917600" cy="1023120"/>
            <a:chOff x="3780000" y="2997360"/>
            <a:chExt cx="4917600" cy="1023120"/>
          </a:xfrm>
        </p:grpSpPr>
        <p:sp>
          <p:nvSpPr>
            <p:cNvPr id="70" name="Rectangle 31"/>
            <p:cNvSpPr/>
            <p:nvPr/>
          </p:nvSpPr>
          <p:spPr>
            <a:xfrm>
              <a:off x="3780000" y="3011760"/>
              <a:ext cx="482400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闭环指标：闭环谐振峰      、谐振角频率</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闭环截止角频率</a:t>
              </a:r>
              <a:r>
                <a:rPr lang="zh-CN" sz="2000" b="0" u="none" strike="noStrike">
                  <a:solidFill>
                    <a:srgbClr val="000000"/>
                  </a:solidFill>
                  <a:effectLst/>
                  <a:uFillTx/>
                  <a:latin typeface="Times New Roman"/>
                </a:rPr>
                <a:t>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1" name="Object 38"/>
                <p:cNvSpPr txBox="1"/>
                <p:nvPr/>
              </p:nvSpPr>
              <p:spPr>
                <a:xfrm>
                  <a:off x="6443640" y="2997360"/>
                  <a:ext cx="431280" cy="385560"/>
                </a:xfrm>
                <a:prstGeom prst="rect">
                  <a:avLst/>
                </a:prstGeom>
              </p:spPr>
              <p:txBody>
                <a:bodyPr/>
                <a:p>
                  <a14:m>
                    <m:oMath xmlns:m="http://schemas.openxmlformats.org/officeDocument/2006/math">
                      <m:sSub>
                        <m:e>
                          <m:r>
                            <m:t xml:space="preserve">M</m:t>
                          </m:r>
                        </m:e>
                        <m:sub>
                          <m:r>
                            <m:t xml:space="preserve">r</m:t>
                          </m:r>
                        </m:sub>
                      </m:sSub>
                    </m:oMath>
                  </a14:m>
                </a:p>
              </p:txBody>
            </p:sp>
          </mc:Choice>
          <mc:Fallback>
            <p:sp>
              <p:nvSpPr>
                <p:cNvPr id="71" name="Object 38"/>
                <p:cNvSpPr txBox="1"/>
                <p:nvPr/>
              </p:nvSpPr>
              <p:spPr>
                <a:xfrm>
                  <a:off x="6443640" y="2997360"/>
                  <a:ext cx="431280" cy="385560"/>
                </a:xfrm>
                <a:prstGeom prst="rect">
                  <a:avLst/>
                </a:prstGeom>
                <a:blipFill>
                  <a:blip r:embed="rId10"/>
                  <a:stretch>
                    <a:fillRect/>
                  </a:stretch>
                </a:blipFill>
              </p:spPr>
            </p:sp>
          </mc:Fallback>
        </mc:AlternateContent>
        <mc:AlternateContent>
          <mc:Choice xmlns:a14="http://schemas.microsoft.com/office/drawing/2010/main" Requires="a14">
            <p:sp>
              <p:nvSpPr>
                <p:cNvPr id="72" name="Object 39"/>
                <p:cNvSpPr txBox="1"/>
                <p:nvPr/>
              </p:nvSpPr>
              <p:spPr>
                <a:xfrm>
                  <a:off x="8316720" y="2997360"/>
                  <a:ext cx="380880" cy="431640"/>
                </a:xfrm>
                <a:prstGeom prst="rect">
                  <a:avLst/>
                </a:prstGeom>
              </p:spPr>
              <p:txBody>
                <a:bodyPr/>
                <a:p>
                  <a14:m>
                    <m:oMath xmlns:m="http://schemas.openxmlformats.org/officeDocument/2006/math">
                      <m:sSub>
                        <m:e>
                          <m:r>
                            <m:t xml:space="preserve">ω</m:t>
                          </m:r>
                        </m:e>
                        <m:sub>
                          <m:r>
                            <m:t xml:space="preserve">r</m:t>
                          </m:r>
                        </m:sub>
                      </m:sSub>
                    </m:oMath>
                  </a14:m>
                </a:p>
              </p:txBody>
            </p:sp>
          </mc:Choice>
          <mc:Fallback>
            <p:sp>
              <p:nvSpPr>
                <p:cNvPr id="72" name="Object 39"/>
                <p:cNvSpPr txBox="1"/>
                <p:nvPr/>
              </p:nvSpPr>
              <p:spPr>
                <a:xfrm>
                  <a:off x="8316720" y="2997360"/>
                  <a:ext cx="380880" cy="431640"/>
                </a:xfrm>
                <a:prstGeom prst="rect">
                  <a:avLst/>
                </a:prstGeom>
                <a:blipFill>
                  <a:blip r:embed="rId11"/>
                  <a:stretch>
                    <a:fillRect/>
                  </a:stretch>
                </a:blipFill>
              </p:spPr>
            </p:sp>
          </mc:Fallback>
        </mc:AlternateContent>
        <mc:AlternateContent>
          <mc:Choice xmlns:a14="http://schemas.microsoft.com/office/drawing/2010/main" Requires="a14">
            <p:sp>
              <p:nvSpPr>
                <p:cNvPr id="73" name="Object 40"/>
                <p:cNvSpPr txBox="1"/>
                <p:nvPr/>
              </p:nvSpPr>
              <p:spPr>
                <a:xfrm>
                  <a:off x="6948360" y="3284640"/>
                  <a:ext cx="456840" cy="457200"/>
                </a:xfrm>
                <a:prstGeom prst="rect">
                  <a:avLst/>
                </a:prstGeom>
              </p:spPr>
              <p:txBody>
                <a:bodyPr/>
                <a:p>
                  <a14:m>
                    <m:oMath xmlns:m="http://schemas.openxmlformats.org/officeDocument/2006/math">
                      <m:sSub>
                        <m:e>
                          <m:r>
                            <m:t xml:space="preserve">ω</m:t>
                          </m:r>
                        </m:e>
                        <m:sub>
                          <m:r>
                            <m:rPr>
                              <m:lit/>
                              <m:nor/>
                            </m:rPr>
                            <m:t xml:space="preserve">cc</m:t>
                          </m:r>
                        </m:sub>
                      </m:sSub>
                    </m:oMath>
                  </a14:m>
                </a:p>
              </p:txBody>
            </p:sp>
          </mc:Choice>
          <mc:Fallback>
            <p:sp>
              <p:nvSpPr>
                <p:cNvPr id="73" name="Object 40"/>
                <p:cNvSpPr txBox="1"/>
                <p:nvPr/>
              </p:nvSpPr>
              <p:spPr>
                <a:xfrm>
                  <a:off x="6948360" y="3284640"/>
                  <a:ext cx="456840" cy="457200"/>
                </a:xfrm>
                <a:prstGeom prst="rect">
                  <a:avLst/>
                </a:prstGeom>
                <a:blipFill>
                  <a:blip r:embed="rId12"/>
                  <a:stretch>
                    <a:fillRect/>
                  </a:stretch>
                </a:blipFill>
              </p:spPr>
            </p:sp>
          </mc:Fallback>
        </mc:AlternateContent>
      </p:grpSp>
      <p:sp>
        <p:nvSpPr>
          <p:cNvPr id="74" name="Rectangle 44"/>
          <p:cNvSpPr/>
          <p:nvPr/>
        </p:nvSpPr>
        <p:spPr>
          <a:xfrm>
            <a:off x="539640" y="4004280"/>
            <a:ext cx="7991640" cy="1008720"/>
          </a:xfrm>
          <a:prstGeom prst="rect">
            <a:avLst/>
          </a:prstGeom>
          <a:solidFill>
            <a:srgbClr val="FFCCCC"/>
          </a:solidFill>
          <a:ln w="9360">
            <a:solidFill>
              <a:srgbClr val="CC99FF"/>
            </a:solidFill>
            <a:miter/>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无论是时间域指标还是频率域指标，都在一定程度上反映了系统的稳定性、快速性和准确性，只是反映的角度有所不同，所以各种指标之间必定存在着一定的联系。 </a:t>
            </a:r>
            <a:endParaRPr lang="en-US" sz="2000" b="0" u="none" strike="noStrike">
              <a:solidFill>
                <a:srgbClr val="000000"/>
              </a:solidFill>
              <a:effectLst/>
              <a:uFillTx/>
              <a:latin typeface="Times New Roman"/>
            </a:endParaRPr>
          </a:p>
        </p:txBody>
      </p:sp>
    </p:spTree>
  </p:cSld>
  <p:transition>
    <p:random/>
  </p:transition>
  <p:timing>
    <p:tnLst>
      <p:par>
        <p:cTn id="54" dur="indefinite" restart="never" nodeType="tmRoot">
          <p:childTnLst>
            <p:seq>
              <p:cTn id="55" dur="indefinite" nodeType="mainSeq">
                <p:childTnLst>
                  <p:par>
                    <p:cTn id="56" fill="hold" nodeType="clickEffect">
                      <p:stCondLst>
                        <p:cond delay="indefinite"/>
                      </p:stCondLst>
                      <p:childTnLst>
                        <p:par>
                          <p:cTn id="57" fill="hold" nodeType="withEffect">
                            <p:stCondLst>
                              <p:cond delay="0"/>
                            </p:stCondLst>
                            <p:childTnLst>
                              <p:par>
                                <p:cTn id="58" presetID="3" presetClass="entr" fill="hold" nodeType="clickEffect" presetSubtype="10">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blinds(horizontal)">
                                      <p:cBhvr additive="repl">
                                        <p:cTn id="60" dur="500"/>
                                        <p:tgtEl>
                                          <p:spTgt spid="48"/>
                                        </p:tgtEl>
                                      </p:cBhvr>
                                    </p:animEffect>
                                  </p:childTnLst>
                                </p:cTn>
                              </p:par>
                            </p:childTnLst>
                          </p:cTn>
                        </p:par>
                      </p:childTnLst>
                    </p:cTn>
                  </p:par>
                  <p:par>
                    <p:cTn id="61" fill="hold" nodeType="clickEffect">
                      <p:stCondLst>
                        <p:cond delay="indefinite"/>
                      </p:stCondLst>
                      <p:childTnLst>
                        <p:par>
                          <p:cTn id="62" fill="hold" nodeType="withEffect">
                            <p:stCondLst>
                              <p:cond delay="0"/>
                            </p:stCondLst>
                            <p:childTnLst>
                              <p:par>
                                <p:cTn id="63" presetID="3" presetClass="entr" fill="hold" nodeType="clickEffect" presetSubtype="10">
                                  <p:stCondLst>
                                    <p:cond delay="0"/>
                                  </p:stCondLst>
                                  <p:childTnLst>
                                    <p:set>
                                      <p:cBhvr>
                                        <p:cTn id="64" dur="1" fill="hold">
                                          <p:stCondLst>
                                            <p:cond delay="0"/>
                                          </p:stCondLst>
                                        </p:cTn>
                                        <p:tgtEl>
                                          <p:spTgt spid="52"/>
                                        </p:tgtEl>
                                        <p:attrNameLst>
                                          <p:attrName>style.visibility</p:attrName>
                                        </p:attrNameLst>
                                      </p:cBhvr>
                                      <p:to>
                                        <p:strVal val="visible"/>
                                      </p:to>
                                    </p:set>
                                    <p:animEffect transition="in" filter="blinds(horizontal)">
                                      <p:cBhvr additive="repl">
                                        <p:cTn id="65" dur="500"/>
                                        <p:tgtEl>
                                          <p:spTgt spid="52"/>
                                        </p:tgtEl>
                                      </p:cBhvr>
                                    </p:animEffect>
                                  </p:childTnLst>
                                </p:cTn>
                              </p:par>
                            </p:childTnLst>
                          </p:cTn>
                        </p:par>
                      </p:childTnLst>
                    </p:cTn>
                  </p:par>
                  <p:par>
                    <p:cTn id="66" fill="hold" nodeType="clickEffect">
                      <p:stCondLst>
                        <p:cond delay="indefinite"/>
                      </p:stCondLst>
                      <p:childTnLst>
                        <p:par>
                          <p:cTn id="67" fill="hold" nodeType="withEffect">
                            <p:stCondLst>
                              <p:cond delay="0"/>
                            </p:stCondLst>
                            <p:childTnLst>
                              <p:par>
                                <p:cTn id="68" presetID="3" presetClass="entr" fill="hold" nodeType="clickEffect" presetSubtype="10">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blinds(horizontal)">
                                      <p:cBhvr additive="repl">
                                        <p:cTn id="70" dur="500"/>
                                        <p:tgtEl>
                                          <p:spTgt spid="50"/>
                                        </p:tgtEl>
                                      </p:cBhvr>
                                    </p:animEffect>
                                  </p:childTnLst>
                                </p:cTn>
                              </p:par>
                              <p:par>
                                <p:cTn id="71" presetID="3" presetClass="entr" fill="hold" nodeType="withEffect" presetSubtype="10">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blinds(horizontal)">
                                      <p:cBhvr additive="repl">
                                        <p:cTn id="73" dur="500"/>
                                        <p:tgtEl>
                                          <p:spTgt spid="51"/>
                                        </p:tgtEl>
                                      </p:cBhvr>
                                    </p:animEffect>
                                  </p:childTnLst>
                                </p:cTn>
                              </p:par>
                              <p:par>
                                <p:cTn id="74" presetID="3" presetClass="entr" fill="hold" nodeType="withEffect" presetSubtype="10">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blinds(horizontal)">
                                      <p:cBhvr additive="repl">
                                        <p:cTn id="76" dur="500"/>
                                        <p:tgtEl>
                                          <p:spTgt spid="53"/>
                                        </p:tgtEl>
                                      </p:cBhvr>
                                    </p:animEffect>
                                  </p:childTnLst>
                                </p:cTn>
                              </p:par>
                            </p:childTnLst>
                          </p:cTn>
                        </p:par>
                      </p:childTnLst>
                    </p:cTn>
                  </p:par>
                  <p:par>
                    <p:cTn id="77" fill="hold" nodeType="clickEffect">
                      <p:stCondLst>
                        <p:cond delay="indefinite"/>
                      </p:stCondLst>
                      <p:childTnLst>
                        <p:par>
                          <p:cTn id="78" fill="hold" nodeType="withEffect">
                            <p:stCondLst>
                              <p:cond delay="0"/>
                            </p:stCondLst>
                            <p:childTnLst>
                              <p:par>
                                <p:cTn id="79" presetID="3" presetClass="entr" fill="hold" nodeType="clickEffect" presetSubtype="10">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blinds(horizontal)">
                                      <p:cBhvr additive="repl">
                                        <p:cTn id="81" dur="500"/>
                                        <p:tgtEl>
                                          <p:spTgt spid="49"/>
                                        </p:tgtEl>
                                      </p:cBhvr>
                                    </p:animEffect>
                                  </p:childTnLst>
                                </p:cTn>
                              </p:par>
                              <p:par>
                                <p:cTn id="82" presetID="3" presetClass="entr" fill="hold" nodeType="withEffect" presetSubtype="10">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blinds(horizontal)">
                                      <p:cBhvr additive="repl">
                                        <p:cTn id="84" dur="500"/>
                                        <p:tgtEl>
                                          <p:spTgt spid="54"/>
                                        </p:tgtEl>
                                      </p:cBhvr>
                                    </p:animEffect>
                                  </p:childTnLst>
                                </p:cTn>
                              </p:par>
                              <p:par>
                                <p:cTn id="85" presetID="3" presetClass="entr" fill="hold" nodeType="withEffect" presetSubtype="10">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blinds(horizontal)">
                                      <p:cBhvr additive="repl">
                                        <p:cTn id="87" dur="500"/>
                                        <p:tgtEl>
                                          <p:spTgt spid="55"/>
                                        </p:tgtEl>
                                      </p:cBhvr>
                                    </p:animEffect>
                                  </p:childTnLst>
                                </p:cTn>
                              </p:par>
                              <p:par>
                                <p:cTn id="88" presetID="3" presetClass="entr" fill="hold" nodeType="withEffect" presetSubtype="10">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blinds(horizontal)">
                                      <p:cBhvr additive="repl">
                                        <p:cTn id="90" dur="500"/>
                                        <p:tgtEl>
                                          <p:spTgt spid="56"/>
                                        </p:tgtEl>
                                      </p:cBhvr>
                                    </p:animEffect>
                                  </p:childTnLst>
                                </p:cTn>
                              </p:par>
                            </p:childTnLst>
                          </p:cTn>
                        </p:par>
                      </p:childTnLst>
                    </p:cTn>
                  </p:par>
                  <p:par>
                    <p:cTn id="91" fill="hold" nodeType="clickEffect">
                      <p:stCondLst>
                        <p:cond delay="indefinite"/>
                      </p:stCondLst>
                      <p:childTnLst>
                        <p:par>
                          <p:cTn id="92" fill="hold" nodeType="withEffect">
                            <p:stCondLst>
                              <p:cond delay="0"/>
                            </p:stCondLst>
                            <p:childTnLst>
                              <p:par>
                                <p:cTn id="93" presetID="3" presetClass="entr" fill="hold" nodeType="clickEffect" presetSubtype="10">
                                  <p:stCondLst>
                                    <p:cond delay="0"/>
                                  </p:stCondLst>
                                  <p:childTnLst>
                                    <p:set>
                                      <p:cBhvr>
                                        <p:cTn id="94" dur="1" fill="hold">
                                          <p:stCondLst>
                                            <p:cond delay="0"/>
                                          </p:stCondLst>
                                        </p:cTn>
                                        <p:tgtEl>
                                          <p:spTgt spid="63"/>
                                        </p:tgtEl>
                                        <p:attrNameLst>
                                          <p:attrName>style.visibility</p:attrName>
                                        </p:attrNameLst>
                                      </p:cBhvr>
                                      <p:to>
                                        <p:strVal val="visible"/>
                                      </p:to>
                                    </p:set>
                                    <p:animEffect transition="in" filter="blinds(horizontal)">
                                      <p:cBhvr additive="repl">
                                        <p:cTn id="95" dur="500"/>
                                        <p:tgtEl>
                                          <p:spTgt spid="63"/>
                                        </p:tgtEl>
                                      </p:cBhvr>
                                    </p:animEffect>
                                  </p:childTnLst>
                                </p:cTn>
                              </p:par>
                              <p:par>
                                <p:cTn id="96" presetID="3" presetClass="entr" fill="hold" nodeType="withEffect" presetSubtype="10">
                                  <p:stCondLst>
                                    <p:cond delay="0"/>
                                  </p:stCondLst>
                                  <p:childTnLst>
                                    <p:set>
                                      <p:cBhvr>
                                        <p:cTn id="97" dur="1" fill="hold">
                                          <p:stCondLst>
                                            <p:cond delay="0"/>
                                          </p:stCondLst>
                                        </p:cTn>
                                        <p:tgtEl>
                                          <p:spTgt spid="64"/>
                                        </p:tgtEl>
                                        <p:attrNameLst>
                                          <p:attrName>style.visibility</p:attrName>
                                        </p:attrNameLst>
                                      </p:cBhvr>
                                      <p:to>
                                        <p:strVal val="visible"/>
                                      </p:to>
                                    </p:set>
                                    <p:animEffect transition="in" filter="blinds(horizontal)">
                                      <p:cBhvr additive="repl">
                                        <p:cTn id="98" dur="500"/>
                                        <p:tgtEl>
                                          <p:spTgt spid="64"/>
                                        </p:tgtEl>
                                      </p:cBhvr>
                                    </p:animEffect>
                                  </p:childTnLst>
                                </p:cTn>
                              </p:par>
                              <p:par>
                                <p:cTn id="99" presetID="3" presetClass="entr" fill="hold" nodeType="withEffect" presetSubtype="10">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blinds(horizontal)">
                                      <p:cBhvr additive="repl">
                                        <p:cTn id="101" dur="500"/>
                                        <p:tgtEl>
                                          <p:spTgt spid="69"/>
                                        </p:tgtEl>
                                      </p:cBhvr>
                                    </p:animEffect>
                                  </p:childTnLst>
                                </p:cTn>
                              </p:par>
                            </p:childTnLst>
                          </p:cTn>
                        </p:par>
                      </p:childTnLst>
                    </p:cTn>
                  </p:par>
                  <p:par>
                    <p:cTn id="102" fill="hold" nodeType="clickEffect">
                      <p:stCondLst>
                        <p:cond delay="indefinite"/>
                      </p:stCondLst>
                      <p:childTnLst>
                        <p:par>
                          <p:cTn id="103" fill="hold" nodeType="withEffect">
                            <p:stCondLst>
                              <p:cond delay="0"/>
                            </p:stCondLst>
                            <p:childTnLst>
                              <p:par>
                                <p:cTn id="104" presetID="3" presetClass="entr" fill="hold" nodeType="clickEffect" presetSubtype="10">
                                  <p:stCondLst>
                                    <p:cond delay="0"/>
                                  </p:stCondLst>
                                  <p:childTnLst>
                                    <p:set>
                                      <p:cBhvr>
                                        <p:cTn id="105" dur="1" fill="hold">
                                          <p:stCondLst>
                                            <p:cond delay="0"/>
                                          </p:stCondLst>
                                        </p:cTn>
                                        <p:tgtEl>
                                          <p:spTgt spid="74"/>
                                        </p:tgtEl>
                                        <p:attrNameLst>
                                          <p:attrName>style.visibility</p:attrName>
                                        </p:attrNameLst>
                                      </p:cBhvr>
                                      <p:to>
                                        <p:strVal val="visible"/>
                                      </p:to>
                                    </p:set>
                                    <p:animEffect transition="in" filter="blinds(horizontal)">
                                      <p:cBhvr additive="repl">
                                        <p:cTn id="106" dur="5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12"/>
          <p:cNvSpPr/>
          <p:nvPr/>
        </p:nvSpPr>
        <p:spPr>
          <a:xfrm>
            <a:off x="1121760" y="619560"/>
            <a:ext cx="539820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二阶系统的各性能指标和其参数之间的关系：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6" name="Object 16"/>
              <p:cNvSpPr txBox="1"/>
              <p:nvPr/>
            </p:nvSpPr>
            <p:spPr>
              <a:xfrm>
                <a:off x="4213080" y="1943280"/>
                <a:ext cx="1079640" cy="595080"/>
              </a:xfrm>
              <a:prstGeom prst="rect">
                <a:avLst/>
              </a:prstGeom>
            </p:spPr>
            <p:txBody>
              <a:bodyPr/>
              <a:p>
                <a14:m>
                  <m:oMath xmlns:m="http://schemas.openxmlformats.org/officeDocument/2006/math">
                    <m:r>
                      <m:t xml:space="preserve">0</m:t>
                    </m:r>
                    <m:r>
                      <m:t xml:space="preserve">≤</m:t>
                    </m:r>
                    <m:r>
                      <m:t xml:space="preserve">ζ</m:t>
                    </m:r>
                    <m:r>
                      <m:t xml:space="preserve">≤</m:t>
                    </m:r>
                    <m:f>
                      <m:num>
                        <m:r>
                          <m:t xml:space="preserve">1</m:t>
                        </m:r>
                      </m:num>
                      <m:den>
                        <m:rad>
                          <m:radPr>
                            <m:degHide m:val="1"/>
                          </m:radPr>
                          <m:deg/>
                          <m:e>
                            <m:r>
                              <m:t xml:space="preserve">2</m:t>
                            </m:r>
                          </m:e>
                        </m:rad>
                      </m:den>
                    </m:f>
                  </m:oMath>
                </a14:m>
              </a:p>
            </p:txBody>
          </p:sp>
        </mc:Choice>
        <mc:Fallback>
          <p:sp>
            <p:nvSpPr>
              <p:cNvPr id="76" name="Object 16"/>
              <p:cNvSpPr txBox="1"/>
              <p:nvPr/>
            </p:nvSpPr>
            <p:spPr>
              <a:xfrm>
                <a:off x="4213080" y="1943280"/>
                <a:ext cx="1079640" cy="595080"/>
              </a:xfrm>
              <a:prstGeom prst="rect">
                <a:avLst/>
              </a:prstGeom>
              <a:blipFill>
                <a:blip r:embed="rId1"/>
                <a:stretch>
                  <a:fillRect/>
                </a:stretch>
              </a:blipFill>
            </p:spPr>
          </p:sp>
        </mc:Fallback>
      </mc:AlternateContent>
      <mc:AlternateContent>
        <mc:Choice xmlns:a14="http://schemas.microsoft.com/office/drawing/2010/main" Requires="a14">
          <p:sp>
            <p:nvSpPr>
              <p:cNvPr id="77" name="Object 18"/>
              <p:cNvSpPr txBox="1"/>
              <p:nvPr/>
            </p:nvSpPr>
            <p:spPr>
              <a:xfrm>
                <a:off x="1619280" y="1584360"/>
                <a:ext cx="2133720" cy="558720"/>
              </a:xfrm>
              <a:prstGeom prst="rect">
                <a:avLst/>
              </a:prstGeom>
            </p:spPr>
            <p:txBody>
              <a:bodyPr/>
              <a:p>
                <a14:m>
                  <m:oMath xmlns:m="http://schemas.openxmlformats.org/officeDocument/2006/math">
                    <m:sSub>
                      <m:e>
                        <m:r>
                          <m:t xml:space="preserve">ω</m:t>
                        </m:r>
                      </m:e>
                      <m:sub>
                        <m:r>
                          <m:t xml:space="preserve">r</m:t>
                        </m:r>
                      </m:sub>
                    </m:sSub>
                    <m:r>
                      <m:t xml:space="preserve">=</m:t>
                    </m:r>
                    <m:sSub>
                      <m:e>
                        <m:r>
                          <m:t xml:space="preserve">ω</m:t>
                        </m:r>
                      </m:e>
                      <m:sub>
                        <m:r>
                          <m:t xml:space="preserve">n</m:t>
                        </m:r>
                      </m:sub>
                    </m:sSub>
                    <m:rad>
                      <m:radPr>
                        <m:degHide m:val="1"/>
                      </m:radPr>
                      <m:deg/>
                      <m:e>
                        <m:r>
                          <m:t xml:space="preserve">1</m:t>
                        </m:r>
                        <m:r>
                          <m:t xml:space="preserve">−</m:t>
                        </m:r>
                        <m:r>
                          <m:t xml:space="preserve">2</m:t>
                        </m:r>
                        <m:sSup>
                          <m:e>
                            <m:r>
                              <m:t xml:space="preserve">ζ</m:t>
                            </m:r>
                          </m:e>
                          <m:sup>
                            <m:r>
                              <m:t xml:space="preserve">2</m:t>
                            </m:r>
                          </m:sup>
                        </m:sSup>
                      </m:e>
                    </m:rad>
                  </m:oMath>
                </a14:m>
              </a:p>
            </p:txBody>
          </p:sp>
        </mc:Choice>
        <mc:Fallback>
          <p:sp>
            <p:nvSpPr>
              <p:cNvPr id="77" name="Object 18"/>
              <p:cNvSpPr txBox="1"/>
              <p:nvPr/>
            </p:nvSpPr>
            <p:spPr>
              <a:xfrm>
                <a:off x="1619280" y="1584360"/>
                <a:ext cx="2133720" cy="558720"/>
              </a:xfrm>
              <a:prstGeom prst="rect">
                <a:avLst/>
              </a:prstGeom>
              <a:blipFill>
                <a:blip r:embed="rId2"/>
                <a:stretch>
                  <a:fillRect/>
                </a:stretch>
              </a:blipFill>
            </p:spPr>
          </p:sp>
        </mc:Fallback>
      </mc:AlternateContent>
      <mc:AlternateContent>
        <mc:Choice xmlns:a14="http://schemas.microsoft.com/office/drawing/2010/main" Requires="a14">
          <p:sp>
            <p:nvSpPr>
              <p:cNvPr id="78" name="Object 20"/>
              <p:cNvSpPr txBox="1"/>
              <p:nvPr/>
            </p:nvSpPr>
            <p:spPr>
              <a:xfrm>
                <a:off x="1647720" y="2168640"/>
                <a:ext cx="1738440" cy="757080"/>
              </a:xfrm>
              <a:prstGeom prst="rect">
                <a:avLst/>
              </a:prstGeom>
            </p:spPr>
            <p:txBody>
              <a:bodyPr/>
              <a:p>
                <a14:m>
                  <m:oMath xmlns:m="http://schemas.openxmlformats.org/officeDocument/2006/math">
                    <m:sSub>
                      <m:e>
                        <m:r>
                          <m:t xml:space="preserve">M</m:t>
                        </m:r>
                      </m:e>
                      <m:sub>
                        <m:r>
                          <m:t xml:space="preserve">r</m:t>
                        </m:r>
                      </m:sub>
                    </m:sSub>
                    <m:r>
                      <m:t xml:space="preserve">=</m:t>
                    </m:r>
                    <m:f>
                      <m:num>
                        <m:r>
                          <m:t xml:space="preserve">1</m:t>
                        </m:r>
                      </m:num>
                      <m:den>
                        <m:r>
                          <m:t xml:space="preserve">2</m:t>
                        </m:r>
                        <m:r>
                          <m:t xml:space="preserve">ζ</m:t>
                        </m:r>
                        <m:rad>
                          <m:radPr>
                            <m:degHide m:val="1"/>
                          </m:radPr>
                          <m:deg/>
                          <m:e>
                            <m:r>
                              <m:t xml:space="preserve">1</m:t>
                            </m:r>
                            <m:r>
                              <m:t xml:space="preserve">−</m:t>
                            </m:r>
                            <m:sSup>
                              <m:e>
                                <m:r>
                                  <m:t xml:space="preserve">ζ</m:t>
                                </m:r>
                              </m:e>
                              <m:sup>
                                <m:r>
                                  <m:t xml:space="preserve">2</m:t>
                                </m:r>
                              </m:sup>
                            </m:sSup>
                          </m:e>
                        </m:rad>
                      </m:den>
                    </m:f>
                  </m:oMath>
                </a14:m>
              </a:p>
            </p:txBody>
          </p:sp>
        </mc:Choice>
        <mc:Fallback>
          <p:sp>
            <p:nvSpPr>
              <p:cNvPr id="78" name="Object 20"/>
              <p:cNvSpPr txBox="1"/>
              <p:nvPr/>
            </p:nvSpPr>
            <p:spPr>
              <a:xfrm>
                <a:off x="1647720" y="2168640"/>
                <a:ext cx="1738440" cy="757080"/>
              </a:xfrm>
              <a:prstGeom prst="rect">
                <a:avLst/>
              </a:prstGeom>
              <a:blipFill>
                <a:blip r:embed="rId3"/>
                <a:stretch>
                  <a:fillRect/>
                </a:stretch>
              </a:blipFill>
            </p:spPr>
          </p:sp>
        </mc:Fallback>
      </mc:AlternateContent>
      <p:grpSp>
        <p:nvGrpSpPr>
          <p:cNvPr id="79" name="Group 22"/>
          <p:cNvGrpSpPr/>
          <p:nvPr/>
        </p:nvGrpSpPr>
        <p:grpSpPr>
          <a:xfrm>
            <a:off x="917640" y="1052640"/>
            <a:ext cx="4321080" cy="412920"/>
            <a:chOff x="917640" y="1052640"/>
            <a:chExt cx="4321080" cy="412920"/>
          </a:xfrm>
        </p:grpSpPr>
        <p:sp>
          <p:nvSpPr>
            <p:cNvPr id="80" name="Rectangle 17"/>
            <p:cNvSpPr/>
            <p:nvPr/>
          </p:nvSpPr>
          <p:spPr>
            <a:xfrm>
              <a:off x="917640" y="1066680"/>
              <a:ext cx="432108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1</a:t>
              </a:r>
              <a:r>
                <a:rPr lang="zh-CN" sz="2000" b="1" u="none" strike="noStrike">
                  <a:solidFill>
                    <a:srgbClr val="000000"/>
                  </a:solidFill>
                  <a:effectLst/>
                  <a:uFillTx/>
                  <a:latin typeface="Times New Roman"/>
                </a:rPr>
                <a:t>、谐振角频率      和谐振峰值</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81" name="Object 19"/>
                <p:cNvSpPr txBox="1"/>
                <p:nvPr/>
              </p:nvSpPr>
              <p:spPr>
                <a:xfrm>
                  <a:off x="2718000" y="1052640"/>
                  <a:ext cx="349200" cy="395280"/>
                </a:xfrm>
                <a:prstGeom prst="rect">
                  <a:avLst/>
                </a:prstGeom>
              </p:spPr>
              <p:txBody>
                <a:bodyPr/>
                <a:p>
                  <a14:m>
                    <m:oMath xmlns:m="http://schemas.openxmlformats.org/officeDocument/2006/math">
                      <m:sSub>
                        <m:e>
                          <m:r>
                            <m:t xml:space="preserve">ω</m:t>
                          </m:r>
                        </m:e>
                        <m:sub>
                          <m:r>
                            <m:t xml:space="preserve">r</m:t>
                          </m:r>
                        </m:sub>
                      </m:sSub>
                    </m:oMath>
                  </a14:m>
                </a:p>
              </p:txBody>
            </p:sp>
          </mc:Choice>
          <mc:Fallback>
            <p:sp>
              <p:nvSpPr>
                <p:cNvPr id="81" name="Object 19"/>
                <p:cNvSpPr txBox="1"/>
                <p:nvPr/>
              </p:nvSpPr>
              <p:spPr>
                <a:xfrm>
                  <a:off x="2718000" y="1052640"/>
                  <a:ext cx="349200" cy="395280"/>
                </a:xfrm>
                <a:prstGeom prst="rect">
                  <a:avLst/>
                </a:prstGeom>
                <a:blipFill>
                  <a:blip r:embed="rId4"/>
                  <a:stretch>
                    <a:fillRect/>
                  </a:stretch>
                </a:blipFill>
              </p:spPr>
            </p:sp>
          </mc:Fallback>
        </mc:AlternateContent>
        <mc:AlternateContent>
          <mc:Choice xmlns:a14="http://schemas.microsoft.com/office/drawing/2010/main" Requires="a14">
            <p:sp>
              <p:nvSpPr>
                <p:cNvPr id="82" name="Object 21"/>
                <p:cNvSpPr txBox="1"/>
                <p:nvPr/>
              </p:nvSpPr>
              <p:spPr>
                <a:xfrm>
                  <a:off x="4375440" y="1125360"/>
                  <a:ext cx="336240" cy="301680"/>
                </a:xfrm>
                <a:prstGeom prst="rect">
                  <a:avLst/>
                </a:prstGeom>
              </p:spPr>
              <p:txBody>
                <a:bodyPr/>
                <a:p>
                  <a14:m>
                    <m:oMath xmlns:m="http://schemas.openxmlformats.org/officeDocument/2006/math">
                      <m:sSub>
                        <m:e>
                          <m:r>
                            <m:t xml:space="preserve">M</m:t>
                          </m:r>
                        </m:e>
                        <m:sub>
                          <m:r>
                            <m:t xml:space="preserve">r</m:t>
                          </m:r>
                        </m:sub>
                      </m:sSub>
                    </m:oMath>
                  </a14:m>
                </a:p>
              </p:txBody>
            </p:sp>
          </mc:Choice>
          <mc:Fallback>
            <p:sp>
              <p:nvSpPr>
                <p:cNvPr id="82" name="Object 21"/>
                <p:cNvSpPr txBox="1"/>
                <p:nvPr/>
              </p:nvSpPr>
              <p:spPr>
                <a:xfrm>
                  <a:off x="4375440" y="1125360"/>
                  <a:ext cx="336240" cy="301680"/>
                </a:xfrm>
                <a:prstGeom prst="rect">
                  <a:avLst/>
                </a:prstGeom>
                <a:blipFill>
                  <a:blip r:embed="rId5"/>
                  <a:stretch>
                    <a:fillRect/>
                  </a:stretch>
                </a:blipFill>
              </p:spPr>
            </p:sp>
          </mc:Fallback>
        </mc:AlternateContent>
      </p:grpSp>
      <p:grpSp>
        <p:nvGrpSpPr>
          <p:cNvPr id="83" name="Group 33"/>
          <p:cNvGrpSpPr/>
          <p:nvPr/>
        </p:nvGrpSpPr>
        <p:grpSpPr>
          <a:xfrm>
            <a:off x="900000" y="2997360"/>
            <a:ext cx="5327640" cy="431640"/>
            <a:chOff x="900000" y="2997360"/>
            <a:chExt cx="5327640" cy="431640"/>
          </a:xfrm>
        </p:grpSpPr>
        <p:sp>
          <p:nvSpPr>
            <p:cNvPr id="84" name="Rectangle 27"/>
            <p:cNvSpPr/>
            <p:nvPr/>
          </p:nvSpPr>
          <p:spPr>
            <a:xfrm>
              <a:off x="900000" y="3011760"/>
              <a:ext cx="532764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2</a:t>
              </a:r>
              <a:r>
                <a:rPr lang="zh-CN" sz="2000" b="1" u="none" strike="noStrike">
                  <a:solidFill>
                    <a:srgbClr val="000000"/>
                  </a:solidFill>
                  <a:effectLst/>
                  <a:uFillTx/>
                  <a:latin typeface="Times New Roman"/>
                </a:rPr>
                <a:t>、闭环截止角频率      和开环截止角频率</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85" name="Object 30"/>
                <p:cNvSpPr txBox="1"/>
                <p:nvPr/>
              </p:nvSpPr>
              <p:spPr>
                <a:xfrm>
                  <a:off x="3203640" y="2997360"/>
                  <a:ext cx="431640" cy="431640"/>
                </a:xfrm>
                <a:prstGeom prst="rect">
                  <a:avLst/>
                </a:prstGeom>
              </p:spPr>
              <p:txBody>
                <a:bodyPr/>
                <a:p>
                  <a14:m>
                    <m:oMath xmlns:m="http://schemas.openxmlformats.org/officeDocument/2006/math">
                      <m:sSub>
                        <m:e>
                          <m:r>
                            <m:t xml:space="preserve">ω</m:t>
                          </m:r>
                        </m:e>
                        <m:sub>
                          <m:r>
                            <m:rPr>
                              <m:lit/>
                              <m:nor/>
                            </m:rPr>
                            <m:t xml:space="preserve">cc</m:t>
                          </m:r>
                        </m:sub>
                      </m:sSub>
                    </m:oMath>
                  </a14:m>
                </a:p>
              </p:txBody>
            </p:sp>
          </mc:Choice>
          <mc:Fallback>
            <p:sp>
              <p:nvSpPr>
                <p:cNvPr id="85" name="Object 30"/>
                <p:cNvSpPr txBox="1"/>
                <p:nvPr/>
              </p:nvSpPr>
              <p:spPr>
                <a:xfrm>
                  <a:off x="3203640" y="2997360"/>
                  <a:ext cx="431640" cy="431640"/>
                </a:xfrm>
                <a:prstGeom prst="rect">
                  <a:avLst/>
                </a:prstGeom>
                <a:blipFill>
                  <a:blip r:embed="rId6"/>
                  <a:stretch>
                    <a:fillRect/>
                  </a:stretch>
                </a:blipFill>
              </p:spPr>
            </p:sp>
          </mc:Fallback>
        </mc:AlternateContent>
        <mc:AlternateContent>
          <mc:Choice xmlns:a14="http://schemas.microsoft.com/office/drawing/2010/main" Requires="a14">
            <p:sp>
              <p:nvSpPr>
                <p:cNvPr id="86" name="Object 32"/>
                <p:cNvSpPr txBox="1"/>
                <p:nvPr/>
              </p:nvSpPr>
              <p:spPr>
                <a:xfrm>
                  <a:off x="5651640" y="2997360"/>
                  <a:ext cx="309600" cy="37152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86" name="Object 32"/>
                <p:cNvSpPr txBox="1"/>
                <p:nvPr/>
              </p:nvSpPr>
              <p:spPr>
                <a:xfrm>
                  <a:off x="5651640" y="2997360"/>
                  <a:ext cx="309600" cy="371520"/>
                </a:xfrm>
                <a:prstGeom prst="rect">
                  <a:avLst/>
                </a:prstGeom>
                <a:blipFill>
                  <a:blip r:embed="rId7"/>
                  <a:stretch>
                    <a:fillRect/>
                  </a:stretch>
                </a:blipFill>
              </p:spPr>
            </p:sp>
          </mc:Fallback>
        </mc:AlternateContent>
      </p:grpSp>
      <mc:AlternateContent>
        <mc:Choice xmlns:a14="http://schemas.microsoft.com/office/drawing/2010/main" Requires="a14">
          <p:sp>
            <p:nvSpPr>
              <p:cNvPr id="87" name="Object 36"/>
              <p:cNvSpPr txBox="1"/>
              <p:nvPr/>
            </p:nvSpPr>
            <p:spPr>
              <a:xfrm>
                <a:off x="1422360" y="3519360"/>
                <a:ext cx="4606920" cy="633600"/>
              </a:xfrm>
              <a:prstGeom prst="rect">
                <a:avLst/>
              </a:prstGeom>
            </p:spPr>
            <p:txBody>
              <a:bodyPr/>
              <a:p>
                <a14:m>
                  <m:oMath xmlns:m="http://schemas.openxmlformats.org/officeDocument/2006/math">
                    <m:sSub>
                      <m:e>
                        <m:r>
                          <m:t xml:space="preserve">ω</m:t>
                        </m:r>
                      </m:e>
                      <m:sub>
                        <m:r>
                          <m:rPr>
                            <m:lit/>
                            <m:nor/>
                          </m:rPr>
                          <m:t xml:space="preserve">cc</m:t>
                        </m:r>
                      </m:sub>
                    </m:sSub>
                    <m:r>
                      <m:t xml:space="preserve">=</m:t>
                    </m:r>
                    <m:sSub>
                      <m:e>
                        <m:r>
                          <m:t xml:space="preserve">ω</m:t>
                        </m:r>
                      </m:e>
                      <m:sub>
                        <m:r>
                          <m:t xml:space="preserve">n</m:t>
                        </m:r>
                      </m:sub>
                    </m:sSub>
                    <m:rad>
                      <m:radPr>
                        <m:degHide m:val="1"/>
                      </m:radPr>
                      <m:deg/>
                      <m:e>
                        <m:r>
                          <m:t xml:space="preserve">1</m:t>
                        </m:r>
                        <m:r>
                          <m:t xml:space="preserve">−</m:t>
                        </m:r>
                        <m:r>
                          <m:t xml:space="preserve">2</m:t>
                        </m:r>
                        <m:sSup>
                          <m:e>
                            <m:r>
                              <m:t xml:space="preserve">ζ</m:t>
                            </m:r>
                          </m:e>
                          <m:sup>
                            <m:r>
                              <m:t xml:space="preserve">2</m:t>
                            </m:r>
                          </m:sup>
                        </m:sSup>
                        <m:r>
                          <m:t xml:space="preserve">+</m:t>
                        </m:r>
                        <m:rad>
                          <m:radPr>
                            <m:degHide m:val="1"/>
                          </m:radPr>
                          <m:deg/>
                          <m:e>
                            <m:r>
                              <m:t xml:space="preserve">2</m:t>
                            </m:r>
                            <m:r>
                              <m:t xml:space="preserve">−</m:t>
                            </m:r>
                            <m:r>
                              <m:t xml:space="preserve">4</m:t>
                            </m:r>
                            <m:sSup>
                              <m:e>
                                <m:r>
                                  <m:t xml:space="preserve">ζ</m:t>
                                </m:r>
                              </m:e>
                              <m:sup>
                                <m:r>
                                  <m:t xml:space="preserve">2</m:t>
                                </m:r>
                              </m:sup>
                            </m:sSup>
                            <m:r>
                              <m:t xml:space="preserve">+</m:t>
                            </m:r>
                            <m:r>
                              <m:t xml:space="preserve">4</m:t>
                            </m:r>
                            <m:sSup>
                              <m:e>
                                <m:r>
                                  <m:t xml:space="preserve">ζ</m:t>
                                </m:r>
                              </m:e>
                              <m:sup>
                                <m:r>
                                  <m:t xml:space="preserve">4</m:t>
                                </m:r>
                              </m:sup>
                            </m:sSup>
                          </m:e>
                        </m:rad>
                      </m:e>
                    </m:rad>
                  </m:oMath>
                </a14:m>
              </a:p>
            </p:txBody>
          </p:sp>
        </mc:Choice>
        <mc:Fallback>
          <p:sp>
            <p:nvSpPr>
              <p:cNvPr id="87" name="Object 36"/>
              <p:cNvSpPr txBox="1"/>
              <p:nvPr/>
            </p:nvSpPr>
            <p:spPr>
              <a:xfrm>
                <a:off x="1422360" y="3519360"/>
                <a:ext cx="4606920" cy="633600"/>
              </a:xfrm>
              <a:prstGeom prst="rect">
                <a:avLst/>
              </a:prstGeom>
              <a:blipFill>
                <a:blip r:embed="rId8"/>
                <a:stretch>
                  <a:fillRect/>
                </a:stretch>
              </a:blipFill>
            </p:spPr>
          </p:sp>
        </mc:Fallback>
      </mc:AlternateContent>
      <mc:AlternateContent>
        <mc:Choice xmlns:a14="http://schemas.microsoft.com/office/drawing/2010/main" Requires="a14">
          <p:sp>
            <p:nvSpPr>
              <p:cNvPr id="88" name="Object 42"/>
              <p:cNvSpPr txBox="1"/>
              <p:nvPr/>
            </p:nvSpPr>
            <p:spPr>
              <a:xfrm>
                <a:off x="1376280" y="4329000"/>
                <a:ext cx="3095640" cy="596880"/>
              </a:xfrm>
              <a:prstGeom prst="rect">
                <a:avLst/>
              </a:prstGeom>
            </p:spPr>
            <p:txBody>
              <a:bodyPr/>
              <a:p>
                <a14:m>
                  <m:oMath xmlns:m="http://schemas.openxmlformats.org/officeDocument/2006/math">
                    <m:sSub>
                      <m:e>
                        <m:r>
                          <m:t xml:space="preserve">ω</m:t>
                        </m:r>
                      </m:e>
                      <m:sub>
                        <m:r>
                          <m:t xml:space="preserve">c</m:t>
                        </m:r>
                      </m:sub>
                    </m:sSub>
                    <m:r>
                      <m:t xml:space="preserve">=</m:t>
                    </m:r>
                    <m:sSub>
                      <m:e>
                        <m:r>
                          <m:t xml:space="preserve">ω</m:t>
                        </m:r>
                      </m:e>
                      <m:sub>
                        <m:r>
                          <m:t xml:space="preserve">n</m:t>
                        </m:r>
                      </m:sub>
                    </m:sSub>
                    <m:rad>
                      <m:radPr>
                        <m:degHide m:val="1"/>
                      </m:radPr>
                      <m:deg/>
                      <m:e>
                        <m:rad>
                          <m:radPr>
                            <m:degHide m:val="1"/>
                          </m:radPr>
                          <m:deg/>
                          <m:e>
                            <m:r>
                              <m:t xml:space="preserve">4</m:t>
                            </m:r>
                            <m:sSup>
                              <m:e>
                                <m:r>
                                  <m:t xml:space="preserve">ζ</m:t>
                                </m:r>
                              </m:e>
                              <m:sup>
                                <m:r>
                                  <m:t xml:space="preserve">2</m:t>
                                </m:r>
                              </m:sup>
                            </m:sSup>
                            <m:r>
                              <m:t xml:space="preserve">+</m:t>
                            </m:r>
                            <m:r>
                              <m:t xml:space="preserve">1</m:t>
                            </m:r>
                          </m:e>
                        </m:rad>
                        <m:r>
                          <m:t xml:space="preserve">−</m:t>
                        </m:r>
                        <m:r>
                          <m:t xml:space="preserve">2</m:t>
                        </m:r>
                        <m:sSup>
                          <m:e>
                            <m:r>
                              <m:t xml:space="preserve">ζ</m:t>
                            </m:r>
                          </m:e>
                          <m:sup>
                            <m:r>
                              <m:t xml:space="preserve">2</m:t>
                            </m:r>
                          </m:sup>
                        </m:sSup>
                      </m:e>
                    </m:rad>
                  </m:oMath>
                </a14:m>
              </a:p>
            </p:txBody>
          </p:sp>
        </mc:Choice>
        <mc:Fallback>
          <p:sp>
            <p:nvSpPr>
              <p:cNvPr id="88" name="Object 42"/>
              <p:cNvSpPr txBox="1"/>
              <p:nvPr/>
            </p:nvSpPr>
            <p:spPr>
              <a:xfrm>
                <a:off x="1376280" y="4329000"/>
                <a:ext cx="3095640" cy="596880"/>
              </a:xfrm>
              <a:prstGeom prst="rect">
                <a:avLst/>
              </a:prstGeom>
              <a:blipFill>
                <a:blip r:embed="rId9"/>
                <a:stretch>
                  <a:fillRect/>
                </a:stretch>
              </a:blipFill>
            </p:spPr>
          </p:sp>
        </mc:Fallback>
      </mc:AlternateContent>
      <mc:AlternateContent>
        <mc:Choice xmlns:a14="http://schemas.microsoft.com/office/drawing/2010/main" Requires="a14">
          <p:sp>
            <p:nvSpPr>
              <p:cNvPr id="89" name="Object 45"/>
              <p:cNvSpPr txBox="1"/>
              <p:nvPr/>
            </p:nvSpPr>
            <p:spPr>
              <a:xfrm>
                <a:off x="1376280" y="5568840"/>
                <a:ext cx="5657760" cy="874800"/>
              </a:xfrm>
              <a:prstGeom prst="rect">
                <a:avLst/>
              </a:prstGeom>
            </p:spPr>
            <p:txBody>
              <a:bodyPr/>
              <a:p>
                <a14:m>
                  <m:oMath xmlns:m="http://schemas.openxmlformats.org/officeDocument/2006/math">
                    <m:r>
                      <m:t xml:space="preserve">γ</m:t>
                    </m:r>
                    <m:r>
                      <m:t xml:space="preserve">=</m:t>
                    </m:r>
                    <m:sSup>
                      <m:e>
                        <m:r>
                          <m:rPr>
                            <m:lit/>
                            <m:nor/>
                          </m:rPr>
                          <m:t xml:space="preserve">180</m:t>
                        </m:r>
                      </m:e>
                      <m:sup>
                        <m:r>
                          <m:t xml:space="preserve">∘</m:t>
                        </m:r>
                      </m:sup>
                    </m:sSup>
                    <m:r>
                      <m:t xml:space="preserve">−</m:t>
                    </m:r>
                    <m:sSup>
                      <m:e>
                        <m:r>
                          <m:rPr>
                            <m:lit/>
                            <m:nor/>
                          </m:rPr>
                          <m:t xml:space="preserve">90</m:t>
                        </m:r>
                      </m:e>
                      <m:sup>
                        <m:r>
                          <m:t xml:space="preserve">∘</m:t>
                        </m:r>
                      </m:sup>
                    </m:sSup>
                    <m:r>
                      <m:t xml:space="preserve">−</m:t>
                    </m:r>
                    <m:r>
                      <m:rPr>
                        <m:lit/>
                        <m:nor/>
                      </m:rPr>
                      <m:t xml:space="preserve">arctg</m:t>
                    </m:r>
                    <m:f>
                      <m:num>
                        <m:sSub>
                          <m:e>
                            <m:r>
                              <m:t xml:space="preserve">ω</m:t>
                            </m:r>
                          </m:e>
                          <m:sub>
                            <m:r>
                              <m:t xml:space="preserve">c</m:t>
                            </m:r>
                          </m:sub>
                        </m:sSub>
                      </m:num>
                      <m:den>
                        <m:r>
                          <m:t xml:space="preserve">2</m:t>
                        </m:r>
                        <m:sSub>
                          <m:e>
                            <m:r>
                              <m:rPr>
                                <m:lit/>
                                <m:nor/>
                              </m:rPr>
                              <m:t xml:space="preserve">ζω</m:t>
                            </m:r>
                          </m:e>
                          <m:sub>
                            <m:r>
                              <m:t xml:space="preserve">n</m:t>
                            </m:r>
                          </m:sub>
                        </m:sSub>
                      </m:den>
                    </m:f>
                    <m:r>
                      <m:t xml:space="preserve">=</m:t>
                    </m:r>
                    <m:r>
                      <m:rPr>
                        <m:lit/>
                        <m:nor/>
                      </m:rPr>
                      <m:t xml:space="preserve">arctg</m:t>
                    </m:r>
                    <m:f>
                      <m:num>
                        <m:r>
                          <m:t xml:space="preserve">2</m:t>
                        </m:r>
                        <m:r>
                          <m:t xml:space="preserve">ζ</m:t>
                        </m:r>
                      </m:num>
                      <m:den>
                        <m:rad>
                          <m:radPr>
                            <m:degHide m:val="1"/>
                          </m:radPr>
                          <m:deg/>
                          <m:e>
                            <m:rad>
                              <m:radPr>
                                <m:degHide m:val="1"/>
                              </m:radPr>
                              <m:deg/>
                              <m:e>
                                <m:r>
                                  <m:t xml:space="preserve">4</m:t>
                                </m:r>
                                <m:sSup>
                                  <m:e>
                                    <m:r>
                                      <m:t xml:space="preserve">ζ</m:t>
                                    </m:r>
                                  </m:e>
                                  <m:sup>
                                    <m:r>
                                      <m:t xml:space="preserve">2</m:t>
                                    </m:r>
                                  </m:sup>
                                </m:sSup>
                                <m:r>
                                  <m:t xml:space="preserve">+</m:t>
                                </m:r>
                                <m:r>
                                  <m:t xml:space="preserve">1</m:t>
                                </m:r>
                              </m:e>
                            </m:rad>
                            <m:r>
                              <m:t xml:space="preserve">−</m:t>
                            </m:r>
                            <m:r>
                              <m:t xml:space="preserve">2</m:t>
                            </m:r>
                            <m:sSup>
                              <m:e>
                                <m:r>
                                  <m:t xml:space="preserve">ζ</m:t>
                                </m:r>
                              </m:e>
                              <m:sup>
                                <m:r>
                                  <m:t xml:space="preserve">2</m:t>
                                </m:r>
                              </m:sup>
                            </m:sSup>
                          </m:e>
                        </m:rad>
                      </m:den>
                    </m:f>
                  </m:oMath>
                </a14:m>
              </a:p>
            </p:txBody>
          </p:sp>
        </mc:Choice>
        <mc:Fallback>
          <p:sp>
            <p:nvSpPr>
              <p:cNvPr id="89" name="Object 45"/>
              <p:cNvSpPr txBox="1"/>
              <p:nvPr/>
            </p:nvSpPr>
            <p:spPr>
              <a:xfrm>
                <a:off x="1376280" y="5568840"/>
                <a:ext cx="5657760" cy="874800"/>
              </a:xfrm>
              <a:prstGeom prst="rect">
                <a:avLst/>
              </a:prstGeom>
              <a:blipFill>
                <a:blip r:embed="rId10"/>
                <a:stretch>
                  <a:fillRect/>
                </a:stretch>
              </a:blipFill>
            </p:spPr>
          </p:sp>
        </mc:Fallback>
      </mc:AlternateContent>
      <p:grpSp>
        <p:nvGrpSpPr>
          <p:cNvPr id="90" name="Group 46"/>
          <p:cNvGrpSpPr/>
          <p:nvPr/>
        </p:nvGrpSpPr>
        <p:grpSpPr>
          <a:xfrm>
            <a:off x="898560" y="5029200"/>
            <a:ext cx="2449440" cy="398880"/>
            <a:chOff x="898560" y="5029200"/>
            <a:chExt cx="2449440" cy="398880"/>
          </a:xfrm>
        </p:grpSpPr>
        <p:sp>
          <p:nvSpPr>
            <p:cNvPr id="91" name="Rectangle 47"/>
            <p:cNvSpPr/>
            <p:nvPr/>
          </p:nvSpPr>
          <p:spPr>
            <a:xfrm>
              <a:off x="898560" y="5029200"/>
              <a:ext cx="244944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3</a:t>
              </a:r>
              <a:r>
                <a:rPr lang="zh-CN" sz="2000" b="1" u="none" strike="noStrike">
                  <a:solidFill>
                    <a:srgbClr val="000000"/>
                  </a:solidFill>
                  <a:effectLst/>
                  <a:uFillTx/>
                  <a:latin typeface="Times New Roman"/>
                </a:rPr>
                <a:t>、相角稳定裕度</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2" name="Object 48"/>
                <p:cNvSpPr txBox="1"/>
                <p:nvPr/>
              </p:nvSpPr>
              <p:spPr>
                <a:xfrm>
                  <a:off x="2987640" y="5086080"/>
                  <a:ext cx="237600" cy="309240"/>
                </a:xfrm>
                <a:prstGeom prst="rect">
                  <a:avLst/>
                </a:prstGeom>
              </p:spPr>
              <p:txBody>
                <a:bodyPr/>
                <a:p>
                  <a14:m>
                    <m:oMath xmlns:m="http://schemas.openxmlformats.org/officeDocument/2006/math">
                      <m:r>
                        <m:t xml:space="preserve">γ</m:t>
                      </m:r>
                    </m:oMath>
                  </a14:m>
                </a:p>
              </p:txBody>
            </p:sp>
          </mc:Choice>
          <mc:Fallback>
            <p:sp>
              <p:nvSpPr>
                <p:cNvPr id="92" name="Object 48"/>
                <p:cNvSpPr txBox="1"/>
                <p:nvPr/>
              </p:nvSpPr>
              <p:spPr>
                <a:xfrm>
                  <a:off x="2987640" y="5086080"/>
                  <a:ext cx="237600" cy="309240"/>
                </a:xfrm>
                <a:prstGeom prst="rect">
                  <a:avLst/>
                </a:prstGeom>
                <a:blipFill>
                  <a:blip r:embed="rId11"/>
                  <a:stretch>
                    <a:fillRect/>
                  </a:stretch>
                </a:blipFill>
              </p:spPr>
            </p:sp>
          </mc:Fallback>
        </mc:AlternateContent>
      </p:grpSp>
    </p:spTree>
  </p:cSld>
  <p:transition>
    <p:random/>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Rectangle 4"/>
          <p:cNvSpPr/>
          <p:nvPr/>
        </p:nvSpPr>
        <p:spPr>
          <a:xfrm>
            <a:off x="1126440" y="619920"/>
            <a:ext cx="425268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高阶系统频域指标与时域指标的关系</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4" name="Object 10"/>
              <p:cNvSpPr txBox="1"/>
              <p:nvPr/>
            </p:nvSpPr>
            <p:spPr>
              <a:xfrm>
                <a:off x="3106800" y="1030320"/>
                <a:ext cx="1566720" cy="895320"/>
              </a:xfrm>
              <a:prstGeom prst="rect">
                <a:avLst/>
              </a:prstGeom>
            </p:spPr>
            <p:txBody>
              <a:bodyPr/>
              <a:p>
                <a14:m>
                  <m:oMath xmlns:m="http://schemas.openxmlformats.org/officeDocument/2006/math">
                    <m:sSub>
                      <m:e>
                        <m:r>
                          <m:t xml:space="preserve">M</m:t>
                        </m:r>
                      </m:e>
                      <m:sub>
                        <m:r>
                          <m:t xml:space="preserve">r</m:t>
                        </m:r>
                      </m:sub>
                    </m:sSub>
                    <m:r>
                      <m:t xml:space="preserve">≈</m:t>
                    </m:r>
                    <m:f>
                      <m:num>
                        <m:r>
                          <m:t xml:space="preserve">1</m:t>
                        </m:r>
                      </m:num>
                      <m:den>
                        <m:r>
                          <m:rPr>
                            <m:lit/>
                            <m:nor/>
                          </m:rPr>
                          <m:t xml:space="preserve">sin</m:t>
                        </m:r>
                        <m:r>
                          <m:t xml:space="preserve">γ</m:t>
                        </m:r>
                      </m:den>
                    </m:f>
                  </m:oMath>
                </a14:m>
              </a:p>
            </p:txBody>
          </p:sp>
        </mc:Choice>
        <mc:Fallback>
          <p:sp>
            <p:nvSpPr>
              <p:cNvPr id="94" name="Object 10"/>
              <p:cNvSpPr txBox="1"/>
              <p:nvPr/>
            </p:nvSpPr>
            <p:spPr>
              <a:xfrm>
                <a:off x="3106800" y="1030320"/>
                <a:ext cx="1566720" cy="895320"/>
              </a:xfrm>
              <a:prstGeom prst="rect">
                <a:avLst/>
              </a:prstGeom>
              <a:blipFill>
                <a:blip r:embed="rId1"/>
                <a:stretch>
                  <a:fillRect/>
                </a:stretch>
              </a:blipFill>
            </p:spPr>
          </p:sp>
        </mc:Fallback>
      </mc:AlternateContent>
      <mc:AlternateContent>
        <mc:Choice xmlns:a14="http://schemas.microsoft.com/office/drawing/2010/main" Requires="a14">
          <p:sp>
            <p:nvSpPr>
              <p:cNvPr id="95" name="Object 9"/>
              <p:cNvSpPr txBox="1"/>
              <p:nvPr/>
            </p:nvSpPr>
            <p:spPr>
              <a:xfrm>
                <a:off x="2708280" y="2236680"/>
                <a:ext cx="3033720" cy="468360"/>
              </a:xfrm>
              <a:prstGeom prst="rect">
                <a:avLst/>
              </a:prstGeom>
            </p:spPr>
            <p:txBody>
              <a:bodyPr/>
              <a:p>
                <a14:m>
                  <m:oMath xmlns:m="http://schemas.openxmlformats.org/officeDocument/2006/math">
                    <m:r>
                      <m:t xml:space="preserve">σ</m:t>
                    </m:r>
                    <m:r>
                      <m:t xml:space="preserve">≈</m:t>
                    </m:r>
                    <m:r>
                      <m:t xml:space="preserve">0</m:t>
                    </m:r>
                    <m:r>
                      <m:rPr>
                        <m:lit/>
                        <m:nor/>
                      </m:rPr>
                      <m:t xml:space="preserve">.</m:t>
                    </m:r>
                    <m:r>
                      <m:rPr>
                        <m:lit/>
                        <m:nor/>
                      </m:rPr>
                      <m:t xml:space="preserve">16</m:t>
                    </m:r>
                    <m:r>
                      <m:t xml:space="preserve">+</m:t>
                    </m:r>
                    <m:r>
                      <m:t xml:space="preserve">0</m:t>
                    </m:r>
                    <m:r>
                      <m:rPr>
                        <m:lit/>
                        <m:nor/>
                      </m:rPr>
                      <m:t xml:space="preserve">.</m:t>
                    </m:r>
                    <m:r>
                      <m:t xml:space="preserve">4</m:t>
                    </m:r>
                    <m:r>
                      <m:t xml:space="preserve">(</m:t>
                    </m:r>
                    <m:sSub>
                      <m:e>
                        <m:r>
                          <m:t xml:space="preserve">M</m:t>
                        </m:r>
                      </m:e>
                      <m:sub>
                        <m:r>
                          <m:t xml:space="preserve">r</m:t>
                        </m:r>
                      </m:sub>
                    </m:sSub>
                    <m:r>
                      <m:t xml:space="preserve">−</m:t>
                    </m:r>
                    <m:r>
                      <m:t xml:space="preserve">1</m:t>
                    </m:r>
                    <m:r>
                      <m:t xml:space="preserve">)</m:t>
                    </m:r>
                  </m:oMath>
                </a14:m>
              </a:p>
            </p:txBody>
          </p:sp>
        </mc:Choice>
        <mc:Fallback>
          <p:sp>
            <p:nvSpPr>
              <p:cNvPr id="95" name="Object 9"/>
              <p:cNvSpPr txBox="1"/>
              <p:nvPr/>
            </p:nvSpPr>
            <p:spPr>
              <a:xfrm>
                <a:off x="2708280" y="2236680"/>
                <a:ext cx="3033720" cy="468360"/>
              </a:xfrm>
              <a:prstGeom prst="rect">
                <a:avLst/>
              </a:prstGeom>
              <a:blipFill>
                <a:blip r:embed="rId2"/>
                <a:stretch>
                  <a:fillRect/>
                </a:stretch>
              </a:blipFill>
            </p:spPr>
          </p:sp>
        </mc:Fallback>
      </mc:AlternateContent>
      <mc:AlternateContent>
        <mc:Choice xmlns:a14="http://schemas.microsoft.com/office/drawing/2010/main" Requires="a14">
          <p:sp>
            <p:nvSpPr>
              <p:cNvPr id="96" name="Object 8"/>
              <p:cNvSpPr txBox="1"/>
              <p:nvPr/>
            </p:nvSpPr>
            <p:spPr>
              <a:xfrm>
                <a:off x="6686640" y="2255760"/>
                <a:ext cx="1711080" cy="468360"/>
              </a:xfrm>
              <a:prstGeom prst="rect">
                <a:avLst/>
              </a:prstGeom>
            </p:spPr>
            <p:txBody>
              <a:bodyPr/>
              <a:p>
                <a14:m>
                  <m:oMath xmlns:m="http://schemas.openxmlformats.org/officeDocument/2006/math">
                    <m:r>
                      <m:t xml:space="preserve">1</m:t>
                    </m:r>
                    <m:r>
                      <m:t xml:space="preserve">≤</m:t>
                    </m:r>
                    <m:sSub>
                      <m:e>
                        <m:r>
                          <m:t xml:space="preserve">M</m:t>
                        </m:r>
                      </m:e>
                      <m:sub>
                        <m:r>
                          <m:t xml:space="preserve">r</m:t>
                        </m:r>
                      </m:sub>
                    </m:sSub>
                    <m:r>
                      <m:t xml:space="preserve">≤</m:t>
                    </m:r>
                    <m:r>
                      <m:t xml:space="preserve">1</m:t>
                    </m:r>
                    <m:r>
                      <m:rPr>
                        <m:lit/>
                        <m:nor/>
                      </m:rPr>
                      <m:t xml:space="preserve">.</m:t>
                    </m:r>
                    <m:r>
                      <m:t xml:space="preserve">8</m:t>
                    </m:r>
                  </m:oMath>
                </a14:m>
              </a:p>
            </p:txBody>
          </p:sp>
        </mc:Choice>
        <mc:Fallback>
          <p:sp>
            <p:nvSpPr>
              <p:cNvPr id="96" name="Object 8"/>
              <p:cNvSpPr txBox="1"/>
              <p:nvPr/>
            </p:nvSpPr>
            <p:spPr>
              <a:xfrm>
                <a:off x="6686640" y="2255760"/>
                <a:ext cx="1711080" cy="468360"/>
              </a:xfrm>
              <a:prstGeom prst="rect">
                <a:avLst/>
              </a:prstGeom>
              <a:blipFill>
                <a:blip r:embed="rId3"/>
                <a:stretch>
                  <a:fillRect/>
                </a:stretch>
              </a:blipFill>
            </p:spPr>
          </p:sp>
        </mc:Fallback>
      </mc:AlternateContent>
      <mc:AlternateContent>
        <mc:Choice xmlns:a14="http://schemas.microsoft.com/office/drawing/2010/main" Requires="a14">
          <p:sp>
            <p:nvSpPr>
              <p:cNvPr id="97" name="Object 7"/>
              <p:cNvSpPr txBox="1"/>
              <p:nvPr/>
            </p:nvSpPr>
            <p:spPr>
              <a:xfrm>
                <a:off x="3132000" y="2979720"/>
                <a:ext cx="1322640" cy="955800"/>
              </a:xfrm>
              <a:prstGeom prst="rect">
                <a:avLst/>
              </a:prstGeom>
            </p:spPr>
            <p:txBody>
              <a:bodyPr/>
              <a:p>
                <a14:m>
                  <m:oMath xmlns:m="http://schemas.openxmlformats.org/officeDocument/2006/math">
                    <m:sSub>
                      <m:e>
                        <m:r>
                          <m:t xml:space="preserve">t</m:t>
                        </m:r>
                      </m:e>
                      <m:sub>
                        <m:r>
                          <m:t xml:space="preserve">s</m:t>
                        </m:r>
                      </m:sub>
                    </m:sSub>
                    <m:r>
                      <m:t xml:space="preserve">≈</m:t>
                    </m:r>
                    <m:f>
                      <m:num>
                        <m:sSub>
                          <m:e>
                            <m:r>
                              <m:t xml:space="preserve">K</m:t>
                            </m:r>
                          </m:e>
                          <m:sub>
                            <m:r>
                              <m:t xml:space="preserve">0</m:t>
                            </m:r>
                          </m:sub>
                        </m:sSub>
                        <m:r>
                          <m:t xml:space="preserve">π</m:t>
                        </m:r>
                      </m:num>
                      <m:den>
                        <m:sSub>
                          <m:e>
                            <m:r>
                              <m:t xml:space="preserve">ω</m:t>
                            </m:r>
                          </m:e>
                          <m:sub>
                            <m:r>
                              <m:t xml:space="preserve">c</m:t>
                            </m:r>
                          </m:sub>
                        </m:sSub>
                      </m:den>
                    </m:f>
                  </m:oMath>
                </a14:m>
              </a:p>
            </p:txBody>
          </p:sp>
        </mc:Choice>
        <mc:Fallback>
          <p:sp>
            <p:nvSpPr>
              <p:cNvPr id="97" name="Object 7"/>
              <p:cNvSpPr txBox="1"/>
              <p:nvPr/>
            </p:nvSpPr>
            <p:spPr>
              <a:xfrm>
                <a:off x="3132000" y="2979720"/>
                <a:ext cx="1322640" cy="955800"/>
              </a:xfrm>
              <a:prstGeom prst="rect">
                <a:avLst/>
              </a:prstGeom>
              <a:blipFill>
                <a:blip r:embed="rId4"/>
                <a:stretch>
                  <a:fillRect/>
                </a:stretch>
              </a:blipFill>
            </p:spPr>
          </p:sp>
        </mc:Fallback>
      </mc:AlternateContent>
      <mc:AlternateContent>
        <mc:Choice xmlns:a14="http://schemas.microsoft.com/office/drawing/2010/main" Requires="a14">
          <p:sp>
            <p:nvSpPr>
              <p:cNvPr id="98" name="Object 6"/>
              <p:cNvSpPr txBox="1"/>
              <p:nvPr/>
            </p:nvSpPr>
            <p:spPr>
              <a:xfrm>
                <a:off x="1241280" y="3886200"/>
                <a:ext cx="4729320" cy="509760"/>
              </a:xfrm>
              <a:prstGeom prst="rect">
                <a:avLst/>
              </a:prstGeom>
            </p:spPr>
            <p:txBody>
              <a:bodyPr/>
              <a:p>
                <a14:m>
                  <m:oMath xmlns:m="http://schemas.openxmlformats.org/officeDocument/2006/math">
                    <m:sSub>
                      <m:e>
                        <m:r>
                          <m:t xml:space="preserve">K</m:t>
                        </m:r>
                      </m:e>
                      <m:sub>
                        <m:r>
                          <m:t xml:space="preserve">0</m:t>
                        </m:r>
                      </m:sub>
                    </m:sSub>
                    <m:r>
                      <m:t xml:space="preserve">=</m:t>
                    </m:r>
                    <m:r>
                      <m:t xml:space="preserve">2</m:t>
                    </m:r>
                    <m:r>
                      <m:t xml:space="preserve">+</m:t>
                    </m:r>
                    <m:r>
                      <m:t xml:space="preserve">1</m:t>
                    </m:r>
                    <m:r>
                      <m:rPr>
                        <m:lit/>
                        <m:nor/>
                      </m:rPr>
                      <m:t xml:space="preserve">.</m:t>
                    </m:r>
                    <m:r>
                      <m:t xml:space="preserve">5</m:t>
                    </m:r>
                    <m:r>
                      <m:t xml:space="preserve">(</m:t>
                    </m:r>
                    <m:sSub>
                      <m:e>
                        <m:r>
                          <m:t xml:space="preserve">M</m:t>
                        </m:r>
                      </m:e>
                      <m:sub>
                        <m:r>
                          <m:t xml:space="preserve">r</m:t>
                        </m:r>
                      </m:sub>
                    </m:sSub>
                    <m:r>
                      <m:t xml:space="preserve">−</m:t>
                    </m:r>
                    <m:r>
                      <m:t xml:space="preserve">1</m:t>
                    </m:r>
                    <m:r>
                      <m:t xml:space="preserve">)</m:t>
                    </m:r>
                    <m:r>
                      <m:t xml:space="preserve">+</m:t>
                    </m:r>
                    <m:r>
                      <m:t xml:space="preserve">2</m:t>
                    </m:r>
                    <m:r>
                      <m:rPr>
                        <m:lit/>
                        <m:nor/>
                      </m:rPr>
                      <m:t xml:space="preserve">.</m:t>
                    </m:r>
                    <m:r>
                      <m:t xml:space="preserve">5</m:t>
                    </m:r>
                    <m:r>
                      <m:t xml:space="preserve">(</m:t>
                    </m:r>
                    <m:sSub>
                      <m:e>
                        <m:r>
                          <m:t xml:space="preserve">M</m:t>
                        </m:r>
                      </m:e>
                      <m:sub>
                        <m:r>
                          <m:t xml:space="preserve">r</m:t>
                        </m:r>
                      </m:sub>
                    </m:sSub>
                    <m:r>
                      <m:t xml:space="preserve">−</m:t>
                    </m:r>
                    <m:r>
                      <m:t xml:space="preserve">1</m:t>
                    </m:r>
                    <m:sSup>
                      <m:e>
                        <m:r>
                          <m:t xml:space="preserve">)</m:t>
                        </m:r>
                      </m:e>
                      <m:sup>
                        <m:r>
                          <m:t xml:space="preserve">2</m:t>
                        </m:r>
                      </m:sup>
                    </m:sSup>
                  </m:oMath>
                </a14:m>
              </a:p>
            </p:txBody>
          </p:sp>
        </mc:Choice>
        <mc:Fallback>
          <p:sp>
            <p:nvSpPr>
              <p:cNvPr id="98" name="Object 6"/>
              <p:cNvSpPr txBox="1"/>
              <p:nvPr/>
            </p:nvSpPr>
            <p:spPr>
              <a:xfrm>
                <a:off x="1241280" y="3886200"/>
                <a:ext cx="4729320" cy="509760"/>
              </a:xfrm>
              <a:prstGeom prst="rect">
                <a:avLst/>
              </a:prstGeom>
              <a:blipFill>
                <a:blip r:embed="rId5"/>
                <a:stretch>
                  <a:fillRect/>
                </a:stretch>
              </a:blipFill>
            </p:spPr>
          </p:sp>
        </mc:Fallback>
      </mc:AlternateContent>
      <mc:AlternateContent>
        <mc:Choice xmlns:a14="http://schemas.microsoft.com/office/drawing/2010/main" Requires="a14">
          <p:sp>
            <p:nvSpPr>
              <p:cNvPr id="99" name="Object 5"/>
              <p:cNvSpPr txBox="1"/>
              <p:nvPr/>
            </p:nvSpPr>
            <p:spPr>
              <a:xfrm>
                <a:off x="6686640" y="3230640"/>
                <a:ext cx="1711080" cy="468360"/>
              </a:xfrm>
              <a:prstGeom prst="rect">
                <a:avLst/>
              </a:prstGeom>
            </p:spPr>
            <p:txBody>
              <a:bodyPr/>
              <a:p>
                <a14:m>
                  <m:oMath xmlns:m="http://schemas.openxmlformats.org/officeDocument/2006/math">
                    <m:r>
                      <m:t xml:space="preserve">1</m:t>
                    </m:r>
                    <m:r>
                      <m:t xml:space="preserve">≤</m:t>
                    </m:r>
                    <m:sSub>
                      <m:e>
                        <m:r>
                          <m:t xml:space="preserve">M</m:t>
                        </m:r>
                      </m:e>
                      <m:sub>
                        <m:r>
                          <m:t xml:space="preserve">r</m:t>
                        </m:r>
                      </m:sub>
                    </m:sSub>
                    <m:r>
                      <m:t xml:space="preserve">≤</m:t>
                    </m:r>
                    <m:r>
                      <m:t xml:space="preserve">1</m:t>
                    </m:r>
                    <m:r>
                      <m:rPr>
                        <m:lit/>
                        <m:nor/>
                      </m:rPr>
                      <m:t xml:space="preserve">.</m:t>
                    </m:r>
                    <m:r>
                      <m:t xml:space="preserve">8</m:t>
                    </m:r>
                  </m:oMath>
                </a14:m>
              </a:p>
            </p:txBody>
          </p:sp>
        </mc:Choice>
        <mc:Fallback>
          <p:sp>
            <p:nvSpPr>
              <p:cNvPr id="99" name="Object 5"/>
              <p:cNvSpPr txBox="1"/>
              <p:nvPr/>
            </p:nvSpPr>
            <p:spPr>
              <a:xfrm>
                <a:off x="6686640" y="3230640"/>
                <a:ext cx="1711080" cy="468360"/>
              </a:xfrm>
              <a:prstGeom prst="rect">
                <a:avLst/>
              </a:prstGeom>
              <a:blipFill>
                <a:blip r:embed="rId6"/>
                <a:stretch>
                  <a:fillRect/>
                </a:stretch>
              </a:blipFill>
            </p:spPr>
          </p:sp>
        </mc:Fallback>
      </mc:AlternateContent>
      <p:sp>
        <p:nvSpPr>
          <p:cNvPr id="100" name="Rectangle 11"/>
          <p:cNvSpPr/>
          <p:nvPr/>
        </p:nvSpPr>
        <p:spPr>
          <a:xfrm>
            <a:off x="611280" y="1287360"/>
            <a:ext cx="202572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ea typeface="Courier New"/>
              </a:rPr>
              <a:t>1</a:t>
            </a:r>
            <a:r>
              <a:rPr lang="zh-CN" sz="2000" b="1" u="none" strike="noStrike">
                <a:solidFill>
                  <a:srgbClr val="000000"/>
                </a:solidFill>
                <a:effectLst/>
                <a:uFillTx/>
                <a:latin typeface="Times New Roman"/>
                <a:ea typeface="Courier New"/>
              </a:rPr>
              <a:t>、谐振峰值：</a:t>
            </a:r>
            <a:endParaRPr lang="en-US" sz="2000" b="0" u="none" strike="noStrike">
              <a:solidFill>
                <a:srgbClr val="000000"/>
              </a:solidFill>
              <a:effectLst/>
              <a:uFillTx/>
              <a:latin typeface="Times New Roman"/>
            </a:endParaRPr>
          </a:p>
        </p:txBody>
      </p:sp>
      <p:sp>
        <p:nvSpPr>
          <p:cNvPr id="101" name="Rectangle 12"/>
          <p:cNvSpPr/>
          <p:nvPr/>
        </p:nvSpPr>
        <p:spPr>
          <a:xfrm>
            <a:off x="611280" y="2308320"/>
            <a:ext cx="184608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ea typeface="Courier New"/>
              </a:rPr>
              <a:t>2</a:t>
            </a:r>
            <a:r>
              <a:rPr lang="zh-CN" sz="2000" b="1" u="none" strike="noStrike">
                <a:solidFill>
                  <a:srgbClr val="000000"/>
                </a:solidFill>
                <a:effectLst/>
                <a:uFillTx/>
                <a:latin typeface="Times New Roman"/>
                <a:ea typeface="Courier New"/>
              </a:rPr>
              <a:t>、超调量：</a:t>
            </a:r>
            <a:endParaRPr lang="en-US" sz="2000" b="0" u="none" strike="noStrike">
              <a:solidFill>
                <a:srgbClr val="000000"/>
              </a:solidFill>
              <a:effectLst/>
              <a:uFillTx/>
              <a:latin typeface="Times New Roman"/>
            </a:endParaRPr>
          </a:p>
        </p:txBody>
      </p:sp>
      <p:sp>
        <p:nvSpPr>
          <p:cNvPr id="102" name="Rectangle 14"/>
          <p:cNvSpPr/>
          <p:nvPr/>
        </p:nvSpPr>
        <p:spPr>
          <a:xfrm>
            <a:off x="611280" y="3166920"/>
            <a:ext cx="207000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ea typeface="Courier New"/>
              </a:rPr>
              <a:t>3</a:t>
            </a:r>
            <a:r>
              <a:rPr lang="zh-CN" sz="2000" b="1" u="none" strike="noStrike">
                <a:solidFill>
                  <a:srgbClr val="000000"/>
                </a:solidFill>
                <a:effectLst/>
                <a:uFillTx/>
                <a:latin typeface="Times New Roman"/>
                <a:ea typeface="Courier New"/>
              </a:rPr>
              <a:t>、调节时间：</a:t>
            </a:r>
            <a:endParaRPr lang="en-US" sz="2000" b="0" u="none" strike="noStrike">
              <a:solidFill>
                <a:srgbClr val="000000"/>
              </a:solidFill>
              <a:effectLst/>
              <a:uFillTx/>
              <a:latin typeface="Times New Roman"/>
            </a:endParaRPr>
          </a:p>
        </p:txBody>
      </p:sp>
      <p:graphicFrame>
        <p:nvGraphicFramePr>
          <p:cNvPr id="103" name="Object 10"/>
          <p:cNvGraphicFramePr/>
          <p:nvPr/>
        </p:nvGraphicFramePr>
        <p:xfrm>
          <a:off x="6610320" y="3886200"/>
          <a:ext cx="1955880" cy="457200"/>
        </p:xfrm>
        <a:graphic>
          <a:graphicData uri="http://schemas.openxmlformats.org/presentationml/2006/ole">
            <p:oleObj r:id="rId7" spid="">
              <p:embed/>
              <p:pic>
                <p:nvPicPr>
                  <p:cNvPr id="104" name="Object 10"/>
                  <p:cNvPicPr/>
                  <p:nvPr/>
                </p:nvPicPr>
                <p:blipFill>
                  <a:blip r:embed="rId8"/>
                  <a:stretch/>
                </p:blipFill>
                <p:spPr>
                  <a:xfrm>
                    <a:off x="6610320" y="3886200"/>
                    <a:ext cx="1955880" cy="457200"/>
                  </a:xfrm>
                  <a:prstGeom prst="rect">
                    <a:avLst/>
                  </a:prstGeom>
                  <a:noFill/>
                  <a:ln w="0">
                    <a:noFill/>
                  </a:ln>
                </p:spPr>
              </p:pic>
            </p:oleObj>
          </a:graphicData>
        </a:graphic>
      </p:graphicFrame>
    </p:spTree>
  </p:cSld>
  <p:transition>
    <p:random/>
  </p:transition>
  <p:timing>
    <p:tnLst>
      <p:par>
        <p:cTn id="107" dur="indefinite" restart="never" nodeType="tmRoot">
          <p:childTnLst>
            <p:seq>
              <p:cTn id="108" dur="indefinite" nodeType="mainSeq">
                <p:childTnLst>
                  <p:par>
                    <p:cTn id="109" fill="hold" nodeType="clickEffect">
                      <p:stCondLst>
                        <p:cond delay="indefinite"/>
                      </p:stCondLst>
                      <p:childTnLst>
                        <p:par>
                          <p:cTn id="110" fill="hold" nodeType="withEffect">
                            <p:stCondLst>
                              <p:cond delay="0"/>
                            </p:stCondLst>
                            <p:childTnLst>
                              <p:par>
                                <p:cTn id="111" presetID="1" presetClass="entr" fill="hold" nodeType="clickEffect">
                                  <p:stCondLst>
                                    <p:cond delay="0"/>
                                  </p:stCondLst>
                                  <p:childTnLst>
                                    <p:set>
                                      <p:cBhvr>
                                        <p:cTn id="112"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Rectangle 4"/>
          <p:cNvSpPr/>
          <p:nvPr/>
        </p:nvSpPr>
        <p:spPr>
          <a:xfrm>
            <a:off x="971640" y="505440"/>
            <a:ext cx="3024000" cy="45972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8080"/>
                </a:solidFill>
                <a:effectLst/>
                <a:uFillTx/>
                <a:latin typeface="Times New Roman"/>
              </a:rPr>
              <a:t>二、基本校正方式</a:t>
            </a:r>
            <a:endParaRPr lang="en-US" sz="2400" b="0" u="none" strike="noStrike">
              <a:solidFill>
                <a:srgbClr val="000000"/>
              </a:solidFill>
              <a:effectLst/>
              <a:uFillTx/>
              <a:latin typeface="Times New Roman"/>
            </a:endParaRPr>
          </a:p>
        </p:txBody>
      </p:sp>
      <p:sp>
        <p:nvSpPr>
          <p:cNvPr id="106" name="Rectangle 5"/>
          <p:cNvSpPr/>
          <p:nvPr/>
        </p:nvSpPr>
        <p:spPr>
          <a:xfrm>
            <a:off x="468360" y="3197160"/>
            <a:ext cx="8137440" cy="1191240"/>
          </a:xfrm>
          <a:prstGeom prst="rect">
            <a:avLst/>
          </a:prstGeom>
          <a:solidFill>
            <a:srgbClr val="FFCCCC"/>
          </a:solidFill>
          <a:ln w="9360">
            <a:solidFill>
              <a:srgbClr val="CC99FF"/>
            </a:solidFill>
            <a:miter/>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具体选用哪一种校正方式，取决于系统中的信号的性质、技术实现的方便性、可供选用的元件、抗扰性要求、经济性要求、环境使用条件及设计者的经验等诸多因素。</a:t>
            </a:r>
            <a:endParaRPr lang="en-US" sz="2400" b="0" u="none" strike="noStrike">
              <a:solidFill>
                <a:srgbClr val="000000"/>
              </a:solidFill>
              <a:effectLst/>
              <a:uFillTx/>
              <a:latin typeface="Times New Roman"/>
            </a:endParaRPr>
          </a:p>
        </p:txBody>
      </p:sp>
      <p:sp>
        <p:nvSpPr>
          <p:cNvPr id="107" name="Rectangle 6"/>
          <p:cNvSpPr/>
          <p:nvPr/>
        </p:nvSpPr>
        <p:spPr>
          <a:xfrm>
            <a:off x="1042920" y="1052640"/>
            <a:ext cx="5545080" cy="8254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校正方式</a:t>
            </a:r>
            <a:r>
              <a:rPr lang="en-US" sz="2400" b="1" u="none" strike="noStrike">
                <a:solidFill>
                  <a:srgbClr val="000000"/>
                </a:solidFill>
                <a:effectLst/>
                <a:uFillTx/>
                <a:latin typeface="Times New Roman"/>
              </a:rPr>
              <a:t>——</a:t>
            </a:r>
            <a:r>
              <a:rPr lang="zh-CN" sz="2400" b="1" u="none" strike="noStrike">
                <a:solidFill>
                  <a:srgbClr val="000000"/>
                </a:solidFill>
                <a:effectLst/>
                <a:uFillTx/>
                <a:latin typeface="Times New Roman"/>
              </a:rPr>
              <a:t>校正装置在系统中的连接方式</a:t>
            </a:r>
            <a:endParaRPr lang="en-US" sz="2400" b="0" u="none" strike="noStrike">
              <a:solidFill>
                <a:srgbClr val="000000"/>
              </a:solidFill>
              <a:effectLst/>
              <a:uFillTx/>
              <a:latin typeface="Times New Roman"/>
            </a:endParaRPr>
          </a:p>
        </p:txBody>
      </p:sp>
      <p:sp>
        <p:nvSpPr>
          <p:cNvPr id="108" name="Rectangle 7"/>
          <p:cNvSpPr/>
          <p:nvPr/>
        </p:nvSpPr>
        <p:spPr>
          <a:xfrm>
            <a:off x="900000" y="2133720"/>
            <a:ext cx="2159280" cy="8254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基本的校正方式</a:t>
            </a:r>
            <a:endParaRPr lang="en-US" sz="2400" b="0" u="none" strike="noStrike">
              <a:solidFill>
                <a:srgbClr val="000000"/>
              </a:solidFill>
              <a:effectLst/>
              <a:uFillTx/>
              <a:latin typeface="Times New Roman"/>
            </a:endParaRPr>
          </a:p>
        </p:txBody>
      </p:sp>
      <p:sp>
        <p:nvSpPr>
          <p:cNvPr id="109" name="AutoShape 8"/>
          <p:cNvSpPr/>
          <p:nvPr/>
        </p:nvSpPr>
        <p:spPr>
          <a:xfrm>
            <a:off x="2916360" y="1700280"/>
            <a:ext cx="215640" cy="1368360"/>
          </a:xfrm>
          <a:custGeom>
            <a:avLst/>
            <a:gdLst>
              <a:gd name="textAreaLeft" fmla="*/ 137880 w 215640"/>
              <a:gd name="textAreaRight" fmla="*/ 216000 w 215640"/>
              <a:gd name="textAreaTop" fmla="*/ 35640 h 1368360"/>
              <a:gd name="textAreaBottom" fmla="*/ 1332720 h 136836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900"/>
                  <a:pt x="10800" y="1800"/>
                </a:cubicBezTo>
                <a:lnTo>
                  <a:pt x="10800" y="9000"/>
                </a:lnTo>
                <a:cubicBezTo>
                  <a:pt x="10800" y="9900"/>
                  <a:pt x="5400" y="10800"/>
                  <a:pt x="0" y="10800"/>
                </a:cubicBezTo>
                <a:cubicBezTo>
                  <a:pt x="5400" y="10800"/>
                  <a:pt x="10800" y="11700"/>
                  <a:pt x="10800" y="12600"/>
                </a:cubicBezTo>
                <a:lnTo>
                  <a:pt x="10800" y="19800"/>
                </a:lnTo>
                <a:cubicBezTo>
                  <a:pt x="10800" y="20700"/>
                  <a:pt x="16200" y="21600"/>
                  <a:pt x="21600" y="21600"/>
                </a:cubicBezTo>
              </a:path>
            </a:pathLst>
          </a:custGeom>
          <a:noFill/>
          <a:ln w="25560">
            <a:solidFill>
              <a:srgbClr val="8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0" name="Rectangle 9"/>
          <p:cNvSpPr/>
          <p:nvPr/>
        </p:nvSpPr>
        <p:spPr>
          <a:xfrm>
            <a:off x="3203640" y="1484280"/>
            <a:ext cx="143964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串联校正</a:t>
            </a:r>
            <a:endParaRPr lang="en-US" sz="2400" b="0" u="none" strike="noStrike">
              <a:solidFill>
                <a:srgbClr val="000000"/>
              </a:solidFill>
              <a:effectLst/>
              <a:uFillTx/>
              <a:latin typeface="Times New Roman"/>
            </a:endParaRPr>
          </a:p>
        </p:txBody>
      </p:sp>
      <p:sp>
        <p:nvSpPr>
          <p:cNvPr id="111" name="Rectangle 10"/>
          <p:cNvSpPr/>
          <p:nvPr/>
        </p:nvSpPr>
        <p:spPr>
          <a:xfrm>
            <a:off x="3203640" y="1844640"/>
            <a:ext cx="20890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局部反馈校正</a:t>
            </a:r>
            <a:endParaRPr lang="en-US" sz="2400" b="0" u="none" strike="noStrike">
              <a:solidFill>
                <a:srgbClr val="000000"/>
              </a:solidFill>
              <a:effectLst/>
              <a:uFillTx/>
              <a:latin typeface="Times New Roman"/>
            </a:endParaRPr>
          </a:p>
        </p:txBody>
      </p:sp>
      <p:sp>
        <p:nvSpPr>
          <p:cNvPr id="112" name="Rectangle 11"/>
          <p:cNvSpPr/>
          <p:nvPr/>
        </p:nvSpPr>
        <p:spPr>
          <a:xfrm>
            <a:off x="3203640" y="2276640"/>
            <a:ext cx="180000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前馈校正</a:t>
            </a:r>
            <a:endParaRPr lang="en-US" sz="2400" b="0" u="none" strike="noStrike">
              <a:solidFill>
                <a:srgbClr val="000000"/>
              </a:solidFill>
              <a:effectLst/>
              <a:uFillTx/>
              <a:latin typeface="Times New Roman"/>
            </a:endParaRPr>
          </a:p>
        </p:txBody>
      </p:sp>
      <p:sp>
        <p:nvSpPr>
          <p:cNvPr id="113" name="Rectangle 12"/>
          <p:cNvSpPr/>
          <p:nvPr/>
        </p:nvSpPr>
        <p:spPr>
          <a:xfrm>
            <a:off x="3203640" y="2708280"/>
            <a:ext cx="172872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复合校正</a:t>
            </a:r>
            <a:endParaRPr lang="en-US" sz="2400" b="0" u="none" strike="noStrike">
              <a:solidFill>
                <a:srgbClr val="000000"/>
              </a:solidFill>
              <a:effectLst/>
              <a:uFillTx/>
              <a:latin typeface="Times New Roman"/>
            </a:endParaRPr>
          </a:p>
        </p:txBody>
      </p:sp>
      <p:grpSp>
        <p:nvGrpSpPr>
          <p:cNvPr id="114" name="Group 15"/>
          <p:cNvGrpSpPr/>
          <p:nvPr/>
        </p:nvGrpSpPr>
        <p:grpSpPr>
          <a:xfrm>
            <a:off x="5040360" y="1495440"/>
            <a:ext cx="503280" cy="891360"/>
            <a:chOff x="5040360" y="1495440"/>
            <a:chExt cx="503280" cy="891360"/>
          </a:xfrm>
        </p:grpSpPr>
        <p:sp>
          <p:nvSpPr>
            <p:cNvPr id="115" name="Rectangle 13"/>
            <p:cNvSpPr/>
            <p:nvPr/>
          </p:nvSpPr>
          <p:spPr>
            <a:xfrm>
              <a:off x="5040360" y="1495440"/>
              <a:ext cx="5032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990000"/>
                  </a:solidFill>
                  <a:effectLst/>
                  <a:uFillTx/>
                  <a:latin typeface="Times New Roman"/>
                  <a:ea typeface="Arial"/>
                </a:rPr>
                <a:t>√</a:t>
              </a:r>
              <a:endParaRPr lang="en-US" sz="2400" b="0" u="none" strike="noStrike">
                <a:solidFill>
                  <a:srgbClr val="000000"/>
                </a:solidFill>
                <a:effectLst/>
                <a:uFillTx/>
                <a:latin typeface="Times New Roman"/>
              </a:endParaRPr>
            </a:p>
          </p:txBody>
        </p:sp>
        <p:sp>
          <p:nvSpPr>
            <p:cNvPr id="116" name="Rectangle 14"/>
            <p:cNvSpPr/>
            <p:nvPr/>
          </p:nvSpPr>
          <p:spPr>
            <a:xfrm>
              <a:off x="5040360" y="1927080"/>
              <a:ext cx="5032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990000"/>
                  </a:solidFill>
                  <a:effectLst/>
                  <a:uFillTx/>
                  <a:latin typeface="Times New Roman"/>
                  <a:ea typeface="Arial"/>
                </a:rPr>
                <a:t>√</a:t>
              </a:r>
              <a:endParaRPr lang="en-US" sz="2400" b="0" u="none" strike="noStrike">
                <a:solidFill>
                  <a:srgbClr val="000000"/>
                </a:solidFill>
                <a:effectLst/>
                <a:uFillTx/>
                <a:latin typeface="Times New Roman"/>
              </a:endParaRPr>
            </a:p>
          </p:txBody>
        </p:sp>
      </p:grpSp>
    </p:spTree>
  </p:cSld>
  <p:transition>
    <p:random/>
  </p:transition>
  <p:timing>
    <p:tnLst>
      <p:par>
        <p:cTn id="113" dur="indefinite" restart="never" nodeType="tmRoot">
          <p:childTnLst>
            <p:seq>
              <p:cTn id="114" dur="indefinite" nodeType="mainSeq">
                <p:childTnLst>
                  <p:par>
                    <p:cTn id="115" fill="hold" nodeType="clickEffect">
                      <p:stCondLst>
                        <p:cond delay="indefinite"/>
                      </p:stCondLst>
                      <p:childTnLst>
                        <p:par>
                          <p:cTn id="116" fill="hold" nodeType="withEffect">
                            <p:stCondLst>
                              <p:cond delay="0"/>
                            </p:stCondLst>
                            <p:childTnLst>
                              <p:par>
                                <p:cTn id="117" presetID="3" presetClass="entr" fill="hold" nodeType="clickEffect" presetSubtype="10">
                                  <p:stCondLst>
                                    <p:cond delay="0"/>
                                  </p:stCondLst>
                                  <p:childTnLst>
                                    <p:set>
                                      <p:cBhvr>
                                        <p:cTn id="118" dur="1" fill="hold">
                                          <p:stCondLst>
                                            <p:cond delay="0"/>
                                          </p:stCondLst>
                                        </p:cTn>
                                        <p:tgtEl>
                                          <p:spTgt spid="105"/>
                                        </p:tgtEl>
                                        <p:attrNameLst>
                                          <p:attrName>style.visibility</p:attrName>
                                        </p:attrNameLst>
                                      </p:cBhvr>
                                      <p:to>
                                        <p:strVal val="visible"/>
                                      </p:to>
                                    </p:set>
                                    <p:animEffect transition="in" filter="blinds(horizontal)">
                                      <p:cBhvr additive="repl">
                                        <p:cTn id="119" dur="500"/>
                                        <p:tgtEl>
                                          <p:spTgt spid="105"/>
                                        </p:tgtEl>
                                      </p:cBhvr>
                                    </p:animEffect>
                                  </p:childTnLst>
                                </p:cTn>
                              </p:par>
                            </p:childTnLst>
                          </p:cTn>
                        </p:par>
                      </p:childTnLst>
                    </p:cTn>
                  </p:par>
                  <p:par>
                    <p:cTn id="120" fill="hold" nodeType="clickEffect">
                      <p:stCondLst>
                        <p:cond delay="indefinite"/>
                      </p:stCondLst>
                      <p:childTnLst>
                        <p:par>
                          <p:cTn id="121" fill="hold" nodeType="withEffect">
                            <p:stCondLst>
                              <p:cond delay="0"/>
                            </p:stCondLst>
                            <p:childTnLst>
                              <p:par>
                                <p:cTn id="122" presetID="3" presetClass="entr" fill="hold" nodeType="clickEffect" presetSubtype="10">
                                  <p:stCondLst>
                                    <p:cond delay="0"/>
                                  </p:stCondLst>
                                  <p:childTnLst>
                                    <p:set>
                                      <p:cBhvr>
                                        <p:cTn id="123" dur="1" fill="hold">
                                          <p:stCondLst>
                                            <p:cond delay="0"/>
                                          </p:stCondLst>
                                        </p:cTn>
                                        <p:tgtEl>
                                          <p:spTgt spid="107"/>
                                        </p:tgtEl>
                                        <p:attrNameLst>
                                          <p:attrName>style.visibility</p:attrName>
                                        </p:attrNameLst>
                                      </p:cBhvr>
                                      <p:to>
                                        <p:strVal val="visible"/>
                                      </p:to>
                                    </p:set>
                                    <p:animEffect transition="in" filter="blinds(horizontal)">
                                      <p:cBhvr additive="repl">
                                        <p:cTn id="124" dur="500"/>
                                        <p:tgtEl>
                                          <p:spTgt spid="107"/>
                                        </p:tgtEl>
                                      </p:cBhvr>
                                    </p:animEffect>
                                  </p:childTnLst>
                                </p:cTn>
                              </p:par>
                            </p:childTnLst>
                          </p:cTn>
                        </p:par>
                      </p:childTnLst>
                    </p:cTn>
                  </p:par>
                  <p:par>
                    <p:cTn id="125" fill="hold" nodeType="clickEffect">
                      <p:stCondLst>
                        <p:cond delay="indefinite"/>
                      </p:stCondLst>
                      <p:childTnLst>
                        <p:par>
                          <p:cTn id="126" fill="hold" nodeType="withEffect">
                            <p:stCondLst>
                              <p:cond delay="0"/>
                            </p:stCondLst>
                            <p:childTnLst>
                              <p:par>
                                <p:cTn id="127" presetID="3" presetClass="entr" fill="hold" nodeType="clickEffect" presetSubtype="10">
                                  <p:stCondLst>
                                    <p:cond delay="0"/>
                                  </p:stCondLst>
                                  <p:childTnLst>
                                    <p:set>
                                      <p:cBhvr>
                                        <p:cTn id="128" dur="1" fill="hold">
                                          <p:stCondLst>
                                            <p:cond delay="0"/>
                                          </p:stCondLst>
                                        </p:cTn>
                                        <p:tgtEl>
                                          <p:spTgt spid="108"/>
                                        </p:tgtEl>
                                        <p:attrNameLst>
                                          <p:attrName>style.visibility</p:attrName>
                                        </p:attrNameLst>
                                      </p:cBhvr>
                                      <p:to>
                                        <p:strVal val="visible"/>
                                      </p:to>
                                    </p:set>
                                    <p:animEffect transition="in" filter="blinds(horizontal)">
                                      <p:cBhvr additive="repl">
                                        <p:cTn id="129" dur="500"/>
                                        <p:tgtEl>
                                          <p:spTgt spid="108"/>
                                        </p:tgtEl>
                                      </p:cBhvr>
                                    </p:animEffect>
                                  </p:childTnLst>
                                </p:cTn>
                              </p:par>
                              <p:par>
                                <p:cTn id="130" presetID="3" presetClass="entr" fill="hold" nodeType="withEffect" presetSubtype="10">
                                  <p:stCondLst>
                                    <p:cond delay="0"/>
                                  </p:stCondLst>
                                  <p:childTnLst>
                                    <p:set>
                                      <p:cBhvr>
                                        <p:cTn id="131" dur="1" fill="hold">
                                          <p:stCondLst>
                                            <p:cond delay="0"/>
                                          </p:stCondLst>
                                        </p:cTn>
                                        <p:tgtEl>
                                          <p:spTgt spid="109"/>
                                        </p:tgtEl>
                                        <p:attrNameLst>
                                          <p:attrName>style.visibility</p:attrName>
                                        </p:attrNameLst>
                                      </p:cBhvr>
                                      <p:to>
                                        <p:strVal val="visible"/>
                                      </p:to>
                                    </p:set>
                                    <p:animEffect transition="in" filter="blinds(horizontal)">
                                      <p:cBhvr additive="repl">
                                        <p:cTn id="132" dur="500"/>
                                        <p:tgtEl>
                                          <p:spTgt spid="109"/>
                                        </p:tgtEl>
                                      </p:cBhvr>
                                    </p:animEffect>
                                  </p:childTnLst>
                                </p:cTn>
                              </p:par>
                              <p:par>
                                <p:cTn id="133" presetID="3" presetClass="entr" fill="hold" nodeType="withEffect" presetSubtype="10">
                                  <p:stCondLst>
                                    <p:cond delay="0"/>
                                  </p:stCondLst>
                                  <p:childTnLst>
                                    <p:set>
                                      <p:cBhvr>
                                        <p:cTn id="134" dur="1" fill="hold">
                                          <p:stCondLst>
                                            <p:cond delay="0"/>
                                          </p:stCondLst>
                                        </p:cTn>
                                        <p:tgtEl>
                                          <p:spTgt spid="110"/>
                                        </p:tgtEl>
                                        <p:attrNameLst>
                                          <p:attrName>style.visibility</p:attrName>
                                        </p:attrNameLst>
                                      </p:cBhvr>
                                      <p:to>
                                        <p:strVal val="visible"/>
                                      </p:to>
                                    </p:set>
                                    <p:animEffect transition="in" filter="blinds(horizontal)">
                                      <p:cBhvr additive="repl">
                                        <p:cTn id="135" dur="500"/>
                                        <p:tgtEl>
                                          <p:spTgt spid="110"/>
                                        </p:tgtEl>
                                      </p:cBhvr>
                                    </p:animEffect>
                                  </p:childTnLst>
                                </p:cTn>
                              </p:par>
                              <p:par>
                                <p:cTn id="136" presetID="3" presetClass="entr" fill="hold" nodeType="withEffect" presetSubtype="10">
                                  <p:stCondLst>
                                    <p:cond delay="0"/>
                                  </p:stCondLst>
                                  <p:childTnLst>
                                    <p:set>
                                      <p:cBhvr>
                                        <p:cTn id="137" dur="1" fill="hold">
                                          <p:stCondLst>
                                            <p:cond delay="0"/>
                                          </p:stCondLst>
                                        </p:cTn>
                                        <p:tgtEl>
                                          <p:spTgt spid="111"/>
                                        </p:tgtEl>
                                        <p:attrNameLst>
                                          <p:attrName>style.visibility</p:attrName>
                                        </p:attrNameLst>
                                      </p:cBhvr>
                                      <p:to>
                                        <p:strVal val="visible"/>
                                      </p:to>
                                    </p:set>
                                    <p:animEffect transition="in" filter="blinds(horizontal)">
                                      <p:cBhvr additive="repl">
                                        <p:cTn id="138" dur="500"/>
                                        <p:tgtEl>
                                          <p:spTgt spid="111"/>
                                        </p:tgtEl>
                                      </p:cBhvr>
                                    </p:animEffect>
                                  </p:childTnLst>
                                </p:cTn>
                              </p:par>
                              <p:par>
                                <p:cTn id="139" presetID="3" presetClass="entr" fill="hold" nodeType="withEffect" presetSubtype="10">
                                  <p:stCondLst>
                                    <p:cond delay="0"/>
                                  </p:stCondLst>
                                  <p:childTnLst>
                                    <p:set>
                                      <p:cBhvr>
                                        <p:cTn id="140" dur="1" fill="hold">
                                          <p:stCondLst>
                                            <p:cond delay="0"/>
                                          </p:stCondLst>
                                        </p:cTn>
                                        <p:tgtEl>
                                          <p:spTgt spid="112"/>
                                        </p:tgtEl>
                                        <p:attrNameLst>
                                          <p:attrName>style.visibility</p:attrName>
                                        </p:attrNameLst>
                                      </p:cBhvr>
                                      <p:to>
                                        <p:strVal val="visible"/>
                                      </p:to>
                                    </p:set>
                                    <p:animEffect transition="in" filter="blinds(horizontal)">
                                      <p:cBhvr additive="repl">
                                        <p:cTn id="141" dur="500"/>
                                        <p:tgtEl>
                                          <p:spTgt spid="112"/>
                                        </p:tgtEl>
                                      </p:cBhvr>
                                    </p:animEffect>
                                  </p:childTnLst>
                                </p:cTn>
                              </p:par>
                              <p:par>
                                <p:cTn id="142" presetID="3" presetClass="entr" fill="hold" nodeType="withEffect" presetSubtype="10">
                                  <p:stCondLst>
                                    <p:cond delay="0"/>
                                  </p:stCondLst>
                                  <p:childTnLst>
                                    <p:set>
                                      <p:cBhvr>
                                        <p:cTn id="143" dur="1" fill="hold">
                                          <p:stCondLst>
                                            <p:cond delay="0"/>
                                          </p:stCondLst>
                                        </p:cTn>
                                        <p:tgtEl>
                                          <p:spTgt spid="113"/>
                                        </p:tgtEl>
                                        <p:attrNameLst>
                                          <p:attrName>style.visibility</p:attrName>
                                        </p:attrNameLst>
                                      </p:cBhvr>
                                      <p:to>
                                        <p:strVal val="visible"/>
                                      </p:to>
                                    </p:set>
                                    <p:animEffect transition="in" filter="blinds(horizontal)">
                                      <p:cBhvr additive="repl">
                                        <p:cTn id="144" dur="500"/>
                                        <p:tgtEl>
                                          <p:spTgt spid="113"/>
                                        </p:tgtEl>
                                      </p:cBhvr>
                                    </p:animEffect>
                                  </p:childTnLst>
                                </p:cTn>
                              </p:par>
                            </p:childTnLst>
                          </p:cTn>
                        </p:par>
                      </p:childTnLst>
                    </p:cTn>
                  </p:par>
                  <p:par>
                    <p:cTn id="145" fill="hold" nodeType="clickEffect">
                      <p:stCondLst>
                        <p:cond delay="indefinite"/>
                      </p:stCondLst>
                      <p:childTnLst>
                        <p:par>
                          <p:cTn id="146" fill="hold" nodeType="withEffect">
                            <p:stCondLst>
                              <p:cond delay="0"/>
                            </p:stCondLst>
                            <p:childTnLst>
                              <p:par>
                                <p:cTn id="147" presetID="3" presetClass="entr" fill="hold" nodeType="clickEffect" presetSubtype="10">
                                  <p:stCondLst>
                                    <p:cond delay="0"/>
                                  </p:stCondLst>
                                  <p:childTnLst>
                                    <p:set>
                                      <p:cBhvr>
                                        <p:cTn id="148" dur="1" fill="hold">
                                          <p:stCondLst>
                                            <p:cond delay="0"/>
                                          </p:stCondLst>
                                        </p:cTn>
                                        <p:tgtEl>
                                          <p:spTgt spid="114"/>
                                        </p:tgtEl>
                                        <p:attrNameLst>
                                          <p:attrName>style.visibility</p:attrName>
                                        </p:attrNameLst>
                                      </p:cBhvr>
                                      <p:to>
                                        <p:strVal val="visible"/>
                                      </p:to>
                                    </p:set>
                                    <p:animEffect transition="in" filter="blinds(horizontal)">
                                      <p:cBhvr additive="repl">
                                        <p:cTn id="149" dur="500"/>
                                        <p:tgtEl>
                                          <p:spTgt spid="114"/>
                                        </p:tgtEl>
                                      </p:cBhvr>
                                    </p:animEffect>
                                  </p:childTnLst>
                                </p:cTn>
                              </p:par>
                            </p:childTnLst>
                          </p:cTn>
                        </p:par>
                      </p:childTnLst>
                    </p:cTn>
                  </p:par>
                  <p:par>
                    <p:cTn id="150" fill="hold" nodeType="clickEffect">
                      <p:stCondLst>
                        <p:cond delay="indefinite"/>
                      </p:stCondLst>
                      <p:childTnLst>
                        <p:par>
                          <p:cTn id="151" fill="hold" nodeType="withEffect">
                            <p:stCondLst>
                              <p:cond delay="0"/>
                            </p:stCondLst>
                            <p:childTnLst>
                              <p:par>
                                <p:cTn id="152" presetID="3" presetClass="entr" fill="hold" nodeType="clickEffect" presetSubtype="10">
                                  <p:stCondLst>
                                    <p:cond delay="0"/>
                                  </p:stCondLst>
                                  <p:childTnLst>
                                    <p:set>
                                      <p:cBhvr>
                                        <p:cTn id="153" dur="1" fill="hold">
                                          <p:stCondLst>
                                            <p:cond delay="0"/>
                                          </p:stCondLst>
                                        </p:cTn>
                                        <p:tgtEl>
                                          <p:spTgt spid="106"/>
                                        </p:tgtEl>
                                        <p:attrNameLst>
                                          <p:attrName>style.visibility</p:attrName>
                                        </p:attrNameLst>
                                      </p:cBhvr>
                                      <p:to>
                                        <p:strVal val="visible"/>
                                      </p:to>
                                    </p:set>
                                    <p:animEffect transition="in" filter="blinds(horizontal)">
                                      <p:cBhvr additive="repl">
                                        <p:cTn id="154"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Rectangle 5"/>
          <p:cNvSpPr/>
          <p:nvPr/>
        </p:nvSpPr>
        <p:spPr>
          <a:xfrm>
            <a:off x="971640" y="608400"/>
            <a:ext cx="3240000" cy="39888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1</a:t>
            </a:r>
            <a:r>
              <a:rPr lang="zh-CN" sz="2000" b="1" u="none" strike="noStrike">
                <a:solidFill>
                  <a:srgbClr val="008080"/>
                </a:solidFill>
                <a:effectLst/>
                <a:uFillTx/>
                <a:latin typeface="Times New Roman"/>
              </a:rPr>
              <a:t>、串联校正</a:t>
            </a:r>
            <a:endParaRPr lang="en-US" sz="2000" b="0" u="none" strike="noStrike">
              <a:solidFill>
                <a:srgbClr val="000000"/>
              </a:solidFill>
              <a:effectLst/>
              <a:uFillTx/>
              <a:latin typeface="Times New Roman"/>
            </a:endParaRPr>
          </a:p>
        </p:txBody>
      </p:sp>
      <p:graphicFrame>
        <p:nvGraphicFramePr>
          <p:cNvPr id="118" name="Object 7"/>
          <p:cNvGraphicFramePr/>
          <p:nvPr/>
        </p:nvGraphicFramePr>
        <p:xfrm>
          <a:off x="1763640" y="1052640"/>
          <a:ext cx="5400720" cy="2619360"/>
        </p:xfrm>
        <a:graphic>
          <a:graphicData uri="http://schemas.openxmlformats.org/presentationml/2006/ole">
            <p:oleObj r:id="rId1" spid="">
              <p:embed/>
              <p:pic>
                <p:nvPicPr>
                  <p:cNvPr id="119" name="Object 7"/>
                  <p:cNvPicPr/>
                  <p:nvPr/>
                </p:nvPicPr>
                <p:blipFill>
                  <a:blip r:embed="rId2"/>
                  <a:stretch/>
                </p:blipFill>
                <p:spPr>
                  <a:xfrm>
                    <a:off x="1763640" y="1052640"/>
                    <a:ext cx="5400720" cy="2619360"/>
                  </a:xfrm>
                  <a:prstGeom prst="rect">
                    <a:avLst/>
                  </a:prstGeom>
                  <a:noFill/>
                  <a:ln w="0">
                    <a:noFill/>
                  </a:ln>
                </p:spPr>
              </p:pic>
            </p:oleObj>
          </a:graphicData>
        </a:graphic>
      </p:graphicFrame>
      <p:sp>
        <p:nvSpPr>
          <p:cNvPr id="120" name="Rectangle 9"/>
          <p:cNvSpPr/>
          <p:nvPr/>
        </p:nvSpPr>
        <p:spPr>
          <a:xfrm>
            <a:off x="611280" y="3789360"/>
            <a:ext cx="7777080" cy="85572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作用：</a:t>
            </a:r>
            <a:r>
              <a:rPr lang="zh-CN" sz="2000" b="1" u="none" strike="noStrike">
                <a:solidFill>
                  <a:srgbClr val="000000"/>
                </a:solidFill>
                <a:effectLst/>
                <a:uFillTx/>
                <a:latin typeface="Times New Roman"/>
              </a:rPr>
              <a:t>对系统中的误差信号进行比例、积分、微分等运算，形成适</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当的控制信号，以获得满意的控制性能。</a:t>
            </a:r>
            <a:endParaRPr lang="en-US" sz="2000" b="0" u="none" strike="noStrike">
              <a:solidFill>
                <a:srgbClr val="000000"/>
              </a:solidFill>
              <a:effectLst/>
              <a:uFillTx/>
              <a:latin typeface="Times New Roman"/>
            </a:endParaRPr>
          </a:p>
        </p:txBody>
      </p:sp>
      <p:sp>
        <p:nvSpPr>
          <p:cNvPr id="121" name="Rectangle 10"/>
          <p:cNvSpPr/>
          <p:nvPr/>
        </p:nvSpPr>
        <p:spPr>
          <a:xfrm>
            <a:off x="628920" y="4797360"/>
            <a:ext cx="781596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特点：</a:t>
            </a:r>
            <a:r>
              <a:rPr lang="zh-CN" sz="2000" b="1" u="none" strike="noStrike">
                <a:solidFill>
                  <a:srgbClr val="000000"/>
                </a:solidFill>
                <a:effectLst/>
                <a:uFillTx/>
                <a:latin typeface="Times New Roman"/>
              </a:rPr>
              <a:t>设计简单，但通常需要附加放大器，以提高增益和提供隔离。</a:t>
            </a:r>
            <a:endParaRPr lang="en-US" sz="2000" b="0" u="none" strike="noStrike">
              <a:solidFill>
                <a:srgbClr val="000000"/>
              </a:solidFill>
              <a:effectLst/>
              <a:uFillTx/>
              <a:latin typeface="Times New Roman"/>
            </a:endParaRPr>
          </a:p>
        </p:txBody>
      </p:sp>
    </p:spTree>
  </p:cSld>
  <p:transition>
    <p:random/>
  </p:transition>
  <p:timing>
    <p:tnLst>
      <p:par>
        <p:cTn id="155" dur="indefinite" restart="never" nodeType="tmRoot">
          <p:childTnLst>
            <p:seq>
              <p:cTn id="156" dur="indefinite" nodeType="mainSeq">
                <p:childTnLst>
                  <p:par>
                    <p:cTn id="157" fill="hold" nodeType="clickEffect">
                      <p:stCondLst>
                        <p:cond delay="indefinite"/>
                      </p:stCondLst>
                      <p:childTnLst>
                        <p:par>
                          <p:cTn id="158" fill="hold" nodeType="withEffect">
                            <p:stCondLst>
                              <p:cond delay="0"/>
                            </p:stCondLst>
                            <p:childTnLst>
                              <p:par>
                                <p:cTn id="159" presetID="3" presetClass="entr" fill="hold" nodeType="clickEffect" presetSubtype="10">
                                  <p:stCondLst>
                                    <p:cond delay="0"/>
                                  </p:stCondLst>
                                  <p:childTnLst>
                                    <p:set>
                                      <p:cBhvr>
                                        <p:cTn id="160" dur="1" fill="hold">
                                          <p:stCondLst>
                                            <p:cond delay="0"/>
                                          </p:stCondLst>
                                        </p:cTn>
                                        <p:tgtEl>
                                          <p:spTgt spid="117"/>
                                        </p:tgtEl>
                                        <p:attrNameLst>
                                          <p:attrName>style.visibility</p:attrName>
                                        </p:attrNameLst>
                                      </p:cBhvr>
                                      <p:to>
                                        <p:strVal val="visible"/>
                                      </p:to>
                                    </p:set>
                                    <p:animEffect transition="in" filter="blinds(horizontal)">
                                      <p:cBhvr additive="repl">
                                        <p:cTn id="161" dur="500"/>
                                        <p:tgtEl>
                                          <p:spTgt spid="117"/>
                                        </p:tgtEl>
                                      </p:cBhvr>
                                    </p:animEffect>
                                  </p:childTnLst>
                                </p:cTn>
                              </p:par>
                            </p:childTnLst>
                          </p:cTn>
                        </p:par>
                      </p:childTnLst>
                    </p:cTn>
                  </p:par>
                  <p:par>
                    <p:cTn id="162" fill="hold" nodeType="clickEffect">
                      <p:stCondLst>
                        <p:cond delay="indefinite"/>
                      </p:stCondLst>
                      <p:childTnLst>
                        <p:par>
                          <p:cTn id="163" fill="hold" nodeType="withEffect">
                            <p:stCondLst>
                              <p:cond delay="0"/>
                            </p:stCondLst>
                            <p:childTnLst>
                              <p:par>
                                <p:cTn id="164" presetID="3" presetClass="entr" fill="hold" nodeType="clickEffect" presetSubtype="10">
                                  <p:stCondLst>
                                    <p:cond delay="0"/>
                                  </p:stCondLst>
                                  <p:childTnLst>
                                    <p:set>
                                      <p:cBhvr>
                                        <p:cTn id="165" dur="1" fill="hold">
                                          <p:stCondLst>
                                            <p:cond delay="0"/>
                                          </p:stCondLst>
                                        </p:cTn>
                                        <p:tgtEl>
                                          <p:spTgt spid="118"/>
                                        </p:tgtEl>
                                        <p:attrNameLst>
                                          <p:attrName>style.visibility</p:attrName>
                                        </p:attrNameLst>
                                      </p:cBhvr>
                                      <p:to>
                                        <p:strVal val="visible"/>
                                      </p:to>
                                    </p:set>
                                    <p:animEffect transition="in" filter="blinds(horizontal)">
                                      <p:cBhvr additive="repl">
                                        <p:cTn id="166" dur="500"/>
                                        <p:tgtEl>
                                          <p:spTgt spid="118"/>
                                        </p:tgtEl>
                                      </p:cBhvr>
                                    </p:animEffect>
                                  </p:childTnLst>
                                </p:cTn>
                              </p:par>
                            </p:childTnLst>
                          </p:cTn>
                        </p:par>
                      </p:childTnLst>
                    </p:cTn>
                  </p:par>
                  <p:par>
                    <p:cTn id="167" fill="hold" nodeType="clickEffect">
                      <p:stCondLst>
                        <p:cond delay="indefinite"/>
                      </p:stCondLst>
                      <p:childTnLst>
                        <p:par>
                          <p:cTn id="168" fill="hold" nodeType="withEffect">
                            <p:stCondLst>
                              <p:cond delay="0"/>
                            </p:stCondLst>
                            <p:childTnLst>
                              <p:par>
                                <p:cTn id="169" presetID="3" presetClass="entr" fill="hold" nodeType="clickEffect" presetSubtype="10">
                                  <p:stCondLst>
                                    <p:cond delay="0"/>
                                  </p:stCondLst>
                                  <p:childTnLst>
                                    <p:set>
                                      <p:cBhvr>
                                        <p:cTn id="170" dur="1" fill="hold">
                                          <p:stCondLst>
                                            <p:cond delay="0"/>
                                          </p:stCondLst>
                                        </p:cTn>
                                        <p:tgtEl>
                                          <p:spTgt spid="120"/>
                                        </p:tgtEl>
                                        <p:attrNameLst>
                                          <p:attrName>style.visibility</p:attrName>
                                        </p:attrNameLst>
                                      </p:cBhvr>
                                      <p:to>
                                        <p:strVal val="visible"/>
                                      </p:to>
                                    </p:set>
                                    <p:animEffect transition="in" filter="blinds(horizontal)">
                                      <p:cBhvr additive="repl">
                                        <p:cTn id="171" dur="500"/>
                                        <p:tgtEl>
                                          <p:spTgt spid="120"/>
                                        </p:tgtEl>
                                      </p:cBhvr>
                                    </p:animEffect>
                                  </p:childTnLst>
                                </p:cTn>
                              </p:par>
                            </p:childTnLst>
                          </p:cTn>
                        </p:par>
                      </p:childTnLst>
                    </p:cTn>
                  </p:par>
                  <p:par>
                    <p:cTn id="172" fill="hold" nodeType="clickEffect">
                      <p:stCondLst>
                        <p:cond delay="indefinite"/>
                      </p:stCondLst>
                      <p:childTnLst>
                        <p:par>
                          <p:cTn id="173" fill="hold" nodeType="withEffect">
                            <p:stCondLst>
                              <p:cond delay="0"/>
                            </p:stCondLst>
                            <p:childTnLst>
                              <p:par>
                                <p:cTn id="174" presetID="3" presetClass="entr" fill="hold" nodeType="clickEffect" presetSubtype="10">
                                  <p:stCondLst>
                                    <p:cond delay="0"/>
                                  </p:stCondLst>
                                  <p:childTnLst>
                                    <p:set>
                                      <p:cBhvr>
                                        <p:cTn id="175" dur="1" fill="hold">
                                          <p:stCondLst>
                                            <p:cond delay="0"/>
                                          </p:stCondLst>
                                        </p:cTn>
                                        <p:tgtEl>
                                          <p:spTgt spid="121"/>
                                        </p:tgtEl>
                                        <p:attrNameLst>
                                          <p:attrName>style.visibility</p:attrName>
                                        </p:attrNameLst>
                                      </p:cBhvr>
                                      <p:to>
                                        <p:strVal val="visible"/>
                                      </p:to>
                                    </p:set>
                                    <p:animEffect transition="in" filter="blinds(horizontal)">
                                      <p:cBhvr additive="repl">
                                        <p:cTn id="176"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Rectangle 4"/>
          <p:cNvSpPr/>
          <p:nvPr/>
        </p:nvSpPr>
        <p:spPr>
          <a:xfrm>
            <a:off x="1042920" y="505440"/>
            <a:ext cx="3024360" cy="39888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2</a:t>
            </a:r>
            <a:r>
              <a:rPr lang="zh-CN" sz="2000" b="1" u="none" strike="noStrike">
                <a:solidFill>
                  <a:srgbClr val="008080"/>
                </a:solidFill>
                <a:effectLst/>
                <a:uFillTx/>
                <a:latin typeface="Times New Roman"/>
              </a:rPr>
              <a:t>、局部反馈校正</a:t>
            </a:r>
            <a:endParaRPr lang="en-US" sz="2000" b="0" u="none" strike="noStrike">
              <a:solidFill>
                <a:srgbClr val="000000"/>
              </a:solidFill>
              <a:effectLst/>
              <a:uFillTx/>
              <a:latin typeface="Times New Roman"/>
            </a:endParaRPr>
          </a:p>
        </p:txBody>
      </p:sp>
      <p:graphicFrame>
        <p:nvGraphicFramePr>
          <p:cNvPr id="123" name="Object 5"/>
          <p:cNvGraphicFramePr/>
          <p:nvPr/>
        </p:nvGraphicFramePr>
        <p:xfrm>
          <a:off x="1187280" y="1052640"/>
          <a:ext cx="5904000" cy="2909880"/>
        </p:xfrm>
        <a:graphic>
          <a:graphicData uri="http://schemas.openxmlformats.org/presentationml/2006/ole">
            <p:oleObj r:id="rId1" spid="">
              <p:embed/>
              <p:pic>
                <p:nvPicPr>
                  <p:cNvPr id="124" name="Object 5"/>
                  <p:cNvPicPr/>
                  <p:nvPr/>
                </p:nvPicPr>
                <p:blipFill>
                  <a:blip r:embed="rId2"/>
                  <a:stretch/>
                </p:blipFill>
                <p:spPr>
                  <a:xfrm>
                    <a:off x="1187280" y="1052640"/>
                    <a:ext cx="5904000" cy="2909880"/>
                  </a:xfrm>
                  <a:prstGeom prst="rect">
                    <a:avLst/>
                  </a:prstGeom>
                  <a:noFill/>
                  <a:ln w="0">
                    <a:noFill/>
                  </a:ln>
                </p:spPr>
              </p:pic>
            </p:oleObj>
          </a:graphicData>
        </a:graphic>
      </p:graphicFrame>
      <p:sp>
        <p:nvSpPr>
          <p:cNvPr id="125" name="AutoShape 11"/>
          <p:cNvSpPr/>
          <p:nvPr/>
        </p:nvSpPr>
        <p:spPr>
          <a:xfrm>
            <a:off x="7093080" y="1413000"/>
            <a:ext cx="1728720" cy="863640"/>
          </a:xfrm>
          <a:prstGeom prst="wedgeRectCallout">
            <a:avLst>
              <a:gd name="adj1" fmla="val -92240"/>
              <a:gd name="adj2" fmla="val 38787"/>
            </a:avLst>
          </a:prstGeom>
          <a:solidFill>
            <a:srgbClr val="FFCCCC"/>
          </a:solidFill>
          <a:ln w="9360">
            <a:solidFill>
              <a:srgbClr val="CC99FF"/>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局部闭环</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内环回路</a:t>
            </a:r>
            <a:endParaRPr lang="en-US" sz="2000" b="0" u="none" strike="noStrike">
              <a:solidFill>
                <a:srgbClr val="000000"/>
              </a:solidFill>
              <a:effectLst/>
              <a:uFillTx/>
              <a:latin typeface="Times New Roman"/>
            </a:endParaRPr>
          </a:p>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imes New Roman"/>
            </a:endParaRPr>
          </a:p>
        </p:txBody>
      </p:sp>
      <p:sp>
        <p:nvSpPr>
          <p:cNvPr id="126" name="AutoShape 12"/>
          <p:cNvSpPr/>
          <p:nvPr/>
        </p:nvSpPr>
        <p:spPr>
          <a:xfrm>
            <a:off x="476280" y="1898640"/>
            <a:ext cx="1297080" cy="936720"/>
          </a:xfrm>
          <a:prstGeom prst="wedgeRectCallout">
            <a:avLst>
              <a:gd name="adj1" fmla="val 91250"/>
              <a:gd name="adj2" fmla="val 54236"/>
            </a:avLst>
          </a:prstGeom>
          <a:solidFill>
            <a:srgbClr val="FFCCCC"/>
          </a:solidFill>
          <a:ln w="9360">
            <a:solidFill>
              <a:srgbClr val="CC99FF"/>
            </a:solidFill>
            <a:miter/>
          </a:ln>
        </p:spPr>
        <p:style>
          <a:lnRef idx="0"/>
          <a:fillRef idx="0"/>
          <a:effectRef idx="0"/>
          <a:fontRef idx="minor"/>
        </p:style>
        <p:txBody>
          <a:bodyPr lIns="90000" tIns="46800" rIns="90000" bIns="46800" anchor="t">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主回路</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外环回路</a:t>
            </a:r>
            <a:r>
              <a:rPr lang="zh-CN"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127" name="Rectangle 13"/>
          <p:cNvSpPr/>
          <p:nvPr/>
        </p:nvSpPr>
        <p:spPr>
          <a:xfrm>
            <a:off x="539640" y="4004640"/>
            <a:ext cx="8137800" cy="1236600"/>
          </a:xfrm>
          <a:prstGeom prst="rect">
            <a:avLst/>
          </a:prstGeom>
          <a:noFill/>
          <a:ln w="0">
            <a:noFill/>
          </a:ln>
        </p:spPr>
        <p:style>
          <a:lnRef idx="0"/>
          <a:fillRef idx="0"/>
          <a:effectRef idx="0"/>
          <a:fontRef idx="minor"/>
        </p:style>
        <p:txBody>
          <a:bodyPr lIns="90000" tIns="46800" rIns="90000" bIns="46800" anchor="ctr">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特点：局部反馈校正一般无需附加放大器，同时还可消除系统原有部分参数波动或非线性因素对系统性能的影响。但是局部反馈校正过多依赖设计人员的设计经验</a:t>
            </a:r>
            <a:endParaRPr lang="en-US" sz="2000" b="0" u="none" strike="noStrike">
              <a:solidFill>
                <a:srgbClr val="000000"/>
              </a:solidFill>
              <a:effectLst/>
              <a:uFillTx/>
              <a:latin typeface="Times New Roman"/>
            </a:endParaRPr>
          </a:p>
        </p:txBody>
      </p:sp>
    </p:spTree>
  </p:cSld>
  <p:transition>
    <p:random/>
  </p:transition>
  <p:timing>
    <p:tnLst>
      <p:par>
        <p:cTn id="177" dur="indefinite" restart="never" nodeType="tmRoot">
          <p:childTnLst>
            <p:seq>
              <p:cTn id="178" dur="indefinite" nodeType="mainSeq">
                <p:childTnLst>
                  <p:par>
                    <p:cTn id="179" fill="hold" nodeType="clickEffect">
                      <p:stCondLst>
                        <p:cond delay="indefinite"/>
                      </p:stCondLst>
                      <p:childTnLst>
                        <p:par>
                          <p:cTn id="180" fill="hold" nodeType="withEffect">
                            <p:stCondLst>
                              <p:cond delay="0"/>
                            </p:stCondLst>
                            <p:childTnLst>
                              <p:par>
                                <p:cTn id="181" presetID="3" presetClass="entr" fill="hold" nodeType="clickEffect" presetSubtype="10">
                                  <p:stCondLst>
                                    <p:cond delay="0"/>
                                  </p:stCondLst>
                                  <p:childTnLst>
                                    <p:set>
                                      <p:cBhvr>
                                        <p:cTn id="182" dur="1" fill="hold">
                                          <p:stCondLst>
                                            <p:cond delay="0"/>
                                          </p:stCondLst>
                                        </p:cTn>
                                        <p:tgtEl>
                                          <p:spTgt spid="122"/>
                                        </p:tgtEl>
                                        <p:attrNameLst>
                                          <p:attrName>style.visibility</p:attrName>
                                        </p:attrNameLst>
                                      </p:cBhvr>
                                      <p:to>
                                        <p:strVal val="visible"/>
                                      </p:to>
                                    </p:set>
                                    <p:animEffect transition="in" filter="blinds(horizontal)">
                                      <p:cBhvr additive="repl">
                                        <p:cTn id="183" dur="500"/>
                                        <p:tgtEl>
                                          <p:spTgt spid="122"/>
                                        </p:tgtEl>
                                      </p:cBhvr>
                                    </p:animEffect>
                                  </p:childTnLst>
                                </p:cTn>
                              </p:par>
                            </p:childTnLst>
                          </p:cTn>
                        </p:par>
                      </p:childTnLst>
                    </p:cTn>
                  </p:par>
                  <p:par>
                    <p:cTn id="184" fill="hold" nodeType="clickEffect">
                      <p:stCondLst>
                        <p:cond delay="indefinite"/>
                      </p:stCondLst>
                      <p:childTnLst>
                        <p:par>
                          <p:cTn id="185" fill="hold" nodeType="withEffect">
                            <p:stCondLst>
                              <p:cond delay="0"/>
                            </p:stCondLst>
                            <p:childTnLst>
                              <p:par>
                                <p:cTn id="186" presetID="3" presetClass="entr" fill="hold" nodeType="clickEffect" presetSubtype="10">
                                  <p:stCondLst>
                                    <p:cond delay="0"/>
                                  </p:stCondLst>
                                  <p:childTnLst>
                                    <p:set>
                                      <p:cBhvr>
                                        <p:cTn id="187" dur="1" fill="hold">
                                          <p:stCondLst>
                                            <p:cond delay="0"/>
                                          </p:stCondLst>
                                        </p:cTn>
                                        <p:tgtEl>
                                          <p:spTgt spid="123"/>
                                        </p:tgtEl>
                                        <p:attrNameLst>
                                          <p:attrName>style.visibility</p:attrName>
                                        </p:attrNameLst>
                                      </p:cBhvr>
                                      <p:to>
                                        <p:strVal val="visible"/>
                                      </p:to>
                                    </p:set>
                                    <p:animEffect transition="in" filter="blinds(horizontal)">
                                      <p:cBhvr additive="repl">
                                        <p:cTn id="188" dur="500"/>
                                        <p:tgtEl>
                                          <p:spTgt spid="123"/>
                                        </p:tgtEl>
                                      </p:cBhvr>
                                    </p:animEffect>
                                  </p:childTnLst>
                                </p:cTn>
                              </p:par>
                            </p:childTnLst>
                          </p:cTn>
                        </p:par>
                      </p:childTnLst>
                    </p:cTn>
                  </p:par>
                  <p:par>
                    <p:cTn id="189" fill="hold" nodeType="clickEffect">
                      <p:stCondLst>
                        <p:cond delay="indefinite"/>
                      </p:stCondLst>
                      <p:childTnLst>
                        <p:par>
                          <p:cTn id="190" fill="hold" nodeType="withEffect">
                            <p:stCondLst>
                              <p:cond delay="0"/>
                            </p:stCondLst>
                            <p:childTnLst>
                              <p:par>
                                <p:cTn id="191" presetID="2" presetClass="entr" fill="hold" nodeType="clickEffect" presetSubtype="2">
                                  <p:stCondLst>
                                    <p:cond delay="0"/>
                                  </p:stCondLst>
                                  <p:childTnLst>
                                    <p:set>
                                      <p:cBhvr>
                                        <p:cTn id="192" dur="1" fill="hold">
                                          <p:stCondLst>
                                            <p:cond delay="0"/>
                                          </p:stCondLst>
                                        </p:cTn>
                                        <p:tgtEl>
                                          <p:spTgt spid="125"/>
                                        </p:tgtEl>
                                        <p:attrNameLst>
                                          <p:attrName>style.visibility</p:attrName>
                                        </p:attrNameLst>
                                      </p:cBhvr>
                                      <p:to>
                                        <p:strVal val="visible"/>
                                      </p:to>
                                    </p:set>
                                    <p:anim calcmode="lin" valueType="num">
                                      <p:cBhvr additive="base">
                                        <p:cTn id="193" dur="500" fill="hold"/>
                                        <p:tgtEl>
                                          <p:spTgt spid="125"/>
                                        </p:tgtEl>
                                        <p:attrNameLst>
                                          <p:attrName>ppt_x</p:attrName>
                                        </p:attrNameLst>
                                      </p:cBhvr>
                                      <p:tavLst>
                                        <p:tav>
                                          <p:val>
                                            <p:strVal val="1+#ppt_w/2"/>
                                          </p:val>
                                        </p:tav>
                                        <p:tav tm="100000">
                                          <p:val>
                                            <p:strVal val="#ppt_x"/>
                                          </p:val>
                                        </p:tav>
                                      </p:tavLst>
                                    </p:anim>
                                    <p:anim calcmode="lin" valueType="num">
                                      <p:cBhvr additive="base">
                                        <p:cTn id="194" dur="500" fill="hold"/>
                                        <p:tgtEl>
                                          <p:spTgt spid="125"/>
                                        </p:tgtEl>
                                        <p:attrNameLst>
                                          <p:attrName>ppt_y</p:attrName>
                                        </p:attrNameLst>
                                      </p:cBhvr>
                                      <p:tavLst>
                                        <p:tav>
                                          <p:val>
                                            <p:strVal val="#ppt_y"/>
                                          </p:val>
                                        </p:tav>
                                        <p:tav tm="100000">
                                          <p:val>
                                            <p:strVal val="#ppt_y"/>
                                          </p:val>
                                        </p:tav>
                                      </p:tavLst>
                                    </p:anim>
                                  </p:childTnLst>
                                </p:cTn>
                              </p:par>
                            </p:childTnLst>
                          </p:cTn>
                        </p:par>
                      </p:childTnLst>
                    </p:cTn>
                  </p:par>
                  <p:par>
                    <p:cTn id="195" fill="hold" nodeType="clickEffect">
                      <p:stCondLst>
                        <p:cond delay="indefinite"/>
                      </p:stCondLst>
                      <p:childTnLst>
                        <p:par>
                          <p:cTn id="196" fill="hold" nodeType="withEffect">
                            <p:stCondLst>
                              <p:cond delay="0"/>
                            </p:stCondLst>
                            <p:childTnLst>
                              <p:par>
                                <p:cTn id="197" presetID="2" presetClass="entr" fill="hold" nodeType="clickEffect" presetSubtype="8">
                                  <p:stCondLst>
                                    <p:cond delay="0"/>
                                  </p:stCondLst>
                                  <p:childTnLst>
                                    <p:set>
                                      <p:cBhvr>
                                        <p:cTn id="198" dur="1" fill="hold">
                                          <p:stCondLst>
                                            <p:cond delay="0"/>
                                          </p:stCondLst>
                                        </p:cTn>
                                        <p:tgtEl>
                                          <p:spTgt spid="126"/>
                                        </p:tgtEl>
                                        <p:attrNameLst>
                                          <p:attrName>style.visibility</p:attrName>
                                        </p:attrNameLst>
                                      </p:cBhvr>
                                      <p:to>
                                        <p:strVal val="visible"/>
                                      </p:to>
                                    </p:set>
                                    <p:anim calcmode="lin" valueType="num">
                                      <p:cBhvr additive="base">
                                        <p:cTn id="199" dur="500" fill="hold"/>
                                        <p:tgtEl>
                                          <p:spTgt spid="126"/>
                                        </p:tgtEl>
                                        <p:attrNameLst>
                                          <p:attrName>ppt_x</p:attrName>
                                        </p:attrNameLst>
                                      </p:cBhvr>
                                      <p:tavLst>
                                        <p:tav>
                                          <p:val>
                                            <p:strVal val="0-#ppt_w/2"/>
                                          </p:val>
                                        </p:tav>
                                        <p:tav tm="100000">
                                          <p:val>
                                            <p:strVal val="#ppt_x"/>
                                          </p:val>
                                        </p:tav>
                                      </p:tavLst>
                                    </p:anim>
                                    <p:anim calcmode="lin" valueType="num">
                                      <p:cBhvr additive="base">
                                        <p:cTn id="200" dur="500" fill="hold"/>
                                        <p:tgtEl>
                                          <p:spTgt spid="126"/>
                                        </p:tgtEl>
                                        <p:attrNameLst>
                                          <p:attrName>ppt_y</p:attrName>
                                        </p:attrNameLst>
                                      </p:cBhvr>
                                      <p:tavLst>
                                        <p:tav>
                                          <p:val>
                                            <p:strVal val="#ppt_y"/>
                                          </p:val>
                                        </p:tav>
                                        <p:tav tm="100000">
                                          <p:val>
                                            <p:strVal val="#ppt_y"/>
                                          </p:val>
                                        </p:tav>
                                      </p:tavLst>
                                    </p:anim>
                                  </p:childTnLst>
                                </p:cTn>
                              </p:par>
                            </p:childTnLst>
                          </p:cTn>
                        </p:par>
                      </p:childTnLst>
                    </p:cTn>
                  </p:par>
                  <p:par>
                    <p:cTn id="201" fill="hold" nodeType="clickEffect">
                      <p:stCondLst>
                        <p:cond delay="indefinite"/>
                      </p:stCondLst>
                      <p:childTnLst>
                        <p:par>
                          <p:cTn id="202" fill="hold" nodeType="withEffect">
                            <p:stCondLst>
                              <p:cond delay="0"/>
                            </p:stCondLst>
                            <p:childTnLst>
                              <p:par>
                                <p:cTn id="203" presetID="3" presetClass="entr" fill="hold" nodeType="clickEffect" presetSubtype="10">
                                  <p:stCondLst>
                                    <p:cond delay="0"/>
                                  </p:stCondLst>
                                  <p:childTnLst>
                                    <p:set>
                                      <p:cBhvr>
                                        <p:cTn id="204" dur="1" fill="hold">
                                          <p:stCondLst>
                                            <p:cond delay="0"/>
                                          </p:stCondLst>
                                        </p:cTn>
                                        <p:tgtEl>
                                          <p:spTgt spid="127"/>
                                        </p:tgtEl>
                                        <p:attrNameLst>
                                          <p:attrName>style.visibility</p:attrName>
                                        </p:attrNameLst>
                                      </p:cBhvr>
                                      <p:to>
                                        <p:strVal val="visible"/>
                                      </p:to>
                                    </p:set>
                                    <p:animEffect transition="in" filter="blinds(horizontal)">
                                      <p:cBhvr additive="repl">
                                        <p:cTn id="205" dur="5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Rectangle 12"/>
          <p:cNvSpPr/>
          <p:nvPr/>
        </p:nvSpPr>
        <p:spPr>
          <a:xfrm>
            <a:off x="955800" y="649800"/>
            <a:ext cx="4368600" cy="4597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80"/>
                </a:solidFill>
                <a:effectLst/>
                <a:uFillTx/>
                <a:latin typeface="Times New Roman"/>
              </a:rPr>
              <a:t>3</a:t>
            </a:r>
            <a:r>
              <a:rPr lang="zh-CN" sz="2400" b="1" u="none" strike="noStrike">
                <a:solidFill>
                  <a:srgbClr val="008080"/>
                </a:solidFill>
                <a:effectLst/>
                <a:uFillTx/>
                <a:latin typeface="Times New Roman"/>
              </a:rPr>
              <a:t>、前馈校正（又称顺馈校正）</a:t>
            </a:r>
            <a:endParaRPr lang="en-US" sz="2400" b="0" u="none" strike="noStrike">
              <a:solidFill>
                <a:srgbClr val="000000"/>
              </a:solidFill>
              <a:effectLst/>
              <a:uFillTx/>
              <a:latin typeface="Times New Roman"/>
            </a:endParaRPr>
          </a:p>
        </p:txBody>
      </p:sp>
      <p:sp>
        <p:nvSpPr>
          <p:cNvPr id="129" name="Rectangle 14"/>
          <p:cNvSpPr/>
          <p:nvPr/>
        </p:nvSpPr>
        <p:spPr>
          <a:xfrm>
            <a:off x="5337000" y="684720"/>
            <a:ext cx="3367440" cy="5920200"/>
          </a:xfrm>
          <a:prstGeom prst="rect">
            <a:avLst/>
          </a:prstGeom>
          <a:noFill/>
          <a:ln w="0">
            <a:noFill/>
          </a:ln>
        </p:spPr>
        <p:style>
          <a:lnRef idx="0"/>
          <a:fillRef idx="0"/>
          <a:effectRef idx="0"/>
          <a:fontRef idx="minor"/>
        </p:style>
        <p:txBody>
          <a:bodyPr lIns="90000" tIns="46800" rIns="90000" bIns="46800" anchor="ctr">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1" u="none" strike="noStrike">
                <a:solidFill>
                  <a:srgbClr val="000000"/>
                </a:solidFill>
                <a:effectLst/>
                <a:uFillTx/>
                <a:latin typeface="Times New Roman"/>
              </a:rPr>
              <a:t>特点：前馈校正实现的是开环控制，它不需要等到输出量发生变化并形成偏差以后才产生纠正偏差的控制作用，而是在控制作用施加于系统的同时，前馈校正作用就产生了。因此它不受系统延迟的影响，在要求输出量能够快速跟随输入量的随动系统中，可采用此控制方式。但是通过前馈校正装置的信号没有形成闭环，所以如果校正装置本身有误差，或者有外部扰动作用于此装置上，致使此校正装置的输出产生误差，这个误差将与控制作用一道加到被控对象上，从而造成输出量的误差</a:t>
            </a:r>
            <a:r>
              <a:rPr lang="zh-CN" sz="1800" b="0" u="none" strike="noStrike">
                <a:solidFill>
                  <a:srgbClr val="000000"/>
                </a:solidFill>
                <a:effectLst/>
                <a:uFillTx/>
                <a:latin typeface="Times New Roman"/>
              </a:rPr>
              <a:t> 。</a:t>
            </a:r>
            <a:r>
              <a:rPr lang="zh-CN" sz="1800" b="1" u="none" strike="noStrike">
                <a:solidFill>
                  <a:srgbClr val="000000"/>
                </a:solidFill>
                <a:effectLst/>
                <a:uFillTx/>
                <a:latin typeface="Times New Roman"/>
              </a:rPr>
              <a:t> </a:t>
            </a:r>
            <a:endParaRPr lang="en-US" sz="1800" b="0" u="none" strike="noStrike">
              <a:solidFill>
                <a:srgbClr val="000000"/>
              </a:solidFill>
              <a:effectLst/>
              <a:uFillTx/>
              <a:latin typeface="Times New Roman"/>
            </a:endParaRPr>
          </a:p>
        </p:txBody>
      </p:sp>
      <p:sp>
        <p:nvSpPr>
          <p:cNvPr id="130" name="Rectangle 268"/>
          <p:cNvSpPr/>
          <p:nvPr/>
        </p:nvSpPr>
        <p:spPr>
          <a:xfrm>
            <a:off x="0" y="331488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1" name="Rectangle 270"/>
          <p:cNvSpPr/>
          <p:nvPr/>
        </p:nvSpPr>
        <p:spPr>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2" name="Rectangle 272"/>
          <p:cNvSpPr/>
          <p:nvPr/>
        </p:nvSpPr>
        <p:spPr>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133" name="Group 274"/>
          <p:cNvGrpSpPr/>
          <p:nvPr/>
        </p:nvGrpSpPr>
        <p:grpSpPr>
          <a:xfrm>
            <a:off x="250920" y="4103640"/>
            <a:ext cx="4824000" cy="1255320"/>
            <a:chOff x="250920" y="4103640"/>
            <a:chExt cx="4824000" cy="1255320"/>
          </a:xfrm>
        </p:grpSpPr>
        <p:sp>
          <p:nvSpPr>
            <p:cNvPr id="134" name="Line 251"/>
            <p:cNvSpPr/>
            <p:nvPr/>
          </p:nvSpPr>
          <p:spPr>
            <a:xfrm>
              <a:off x="1621800" y="4633920"/>
              <a:ext cx="4629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5" name="AutoShape 252"/>
            <p:cNvSpPr/>
            <p:nvPr/>
          </p:nvSpPr>
          <p:spPr>
            <a:xfrm>
              <a:off x="2083680" y="4560840"/>
              <a:ext cx="149760" cy="160560"/>
            </a:xfrm>
            <a:prstGeom prst="flowChartSummingJunction">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6" name="Line 253"/>
            <p:cNvSpPr/>
            <p:nvPr/>
          </p:nvSpPr>
          <p:spPr>
            <a:xfrm>
              <a:off x="3299760" y="4640400"/>
              <a:ext cx="298440" cy="12600"/>
            </a:xfrm>
            <a:prstGeom prst="line">
              <a:avLst/>
            </a:prstGeom>
            <a:ln w="9360">
              <a:solidFill>
                <a:srgbClr val="000000"/>
              </a:solidFill>
              <a:miter/>
              <a:tailEnd len="med" type="triangle" w="med"/>
            </a:ln>
          </p:spPr>
          <p:style>
            <a:lnRef idx="0"/>
            <a:fillRef idx="0"/>
            <a:effectRef idx="0"/>
            <a:fontRef idx="minor"/>
          </p:style>
          <p:txBody>
            <a:bodyPr lIns="90000" tIns="-34200" rIns="90000" bIns="-34200" anchor="t">
              <a:noAutofit/>
            </a:bodyPr>
            <a:p>
              <a:endParaRPr lang="en-US" sz="2400" b="0" u="none" strike="noStrike">
                <a:solidFill>
                  <a:srgbClr val="000000"/>
                </a:solidFill>
                <a:effectLst/>
                <a:uFillTx/>
                <a:latin typeface="Times New Roman"/>
              </a:endParaRPr>
            </a:p>
          </p:txBody>
        </p:sp>
        <p:sp>
          <p:nvSpPr>
            <p:cNvPr id="137" name="Line 254"/>
            <p:cNvSpPr/>
            <p:nvPr/>
          </p:nvSpPr>
          <p:spPr>
            <a:xfrm>
              <a:off x="2235240" y="4632480"/>
              <a:ext cx="3247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8" name="Line 255"/>
            <p:cNvSpPr/>
            <p:nvPr/>
          </p:nvSpPr>
          <p:spPr>
            <a:xfrm flipH="1" flipV="1">
              <a:off x="2157840" y="4711320"/>
              <a:ext cx="11520" cy="6476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39" name="Line 256"/>
            <p:cNvSpPr/>
            <p:nvPr/>
          </p:nvSpPr>
          <p:spPr>
            <a:xfrm>
              <a:off x="2169720" y="5335560"/>
              <a:ext cx="225036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40" name="Line 257"/>
            <p:cNvSpPr/>
            <p:nvPr/>
          </p:nvSpPr>
          <p:spPr>
            <a:xfrm>
              <a:off x="4422960" y="4656240"/>
              <a:ext cx="0" cy="6793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41" name="Text Box 259"/>
            <p:cNvSpPr/>
            <p:nvPr/>
          </p:nvSpPr>
          <p:spPr>
            <a:xfrm>
              <a:off x="4452840" y="4246560"/>
              <a:ext cx="622080" cy="48096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C (s)</a:t>
              </a:r>
              <a:endParaRPr lang="en-US" sz="1600" b="0" u="none" strike="noStrike">
                <a:solidFill>
                  <a:srgbClr val="000000"/>
                </a:solidFill>
                <a:effectLst/>
                <a:uFillTx/>
                <a:latin typeface="Times New Roman"/>
              </a:endParaRPr>
            </a:p>
          </p:txBody>
        </p:sp>
        <p:sp>
          <p:nvSpPr>
            <p:cNvPr id="142" name="Text Box 260"/>
            <p:cNvSpPr/>
            <p:nvPr/>
          </p:nvSpPr>
          <p:spPr>
            <a:xfrm>
              <a:off x="2109600" y="4653000"/>
              <a:ext cx="434520" cy="47952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a:t>
              </a:r>
              <a:endParaRPr lang="en-US" sz="1600" b="0" u="none" strike="noStrike">
                <a:solidFill>
                  <a:srgbClr val="000000"/>
                </a:solidFill>
                <a:effectLst/>
                <a:uFillTx/>
                <a:latin typeface="Times New Roman"/>
              </a:endParaRPr>
            </a:p>
          </p:txBody>
        </p:sp>
        <p:sp>
          <p:nvSpPr>
            <p:cNvPr id="143" name="Text Box 261"/>
            <p:cNvSpPr/>
            <p:nvPr/>
          </p:nvSpPr>
          <p:spPr>
            <a:xfrm>
              <a:off x="2579400" y="4359240"/>
              <a:ext cx="705240" cy="571680"/>
            </a:xfrm>
            <a:prstGeom prst="rect">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44" name="Line 262"/>
            <p:cNvSpPr/>
            <p:nvPr/>
          </p:nvSpPr>
          <p:spPr>
            <a:xfrm>
              <a:off x="4207320" y="4641840"/>
              <a:ext cx="5256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45" name="Text Box 263"/>
            <p:cNvSpPr/>
            <p:nvPr/>
          </p:nvSpPr>
          <p:spPr>
            <a:xfrm>
              <a:off x="3615120" y="4370400"/>
              <a:ext cx="631080" cy="533520"/>
            </a:xfrm>
            <a:prstGeom prst="rect">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46" name="Line 264"/>
            <p:cNvSpPr/>
            <p:nvPr/>
          </p:nvSpPr>
          <p:spPr>
            <a:xfrm>
              <a:off x="639720" y="4626000"/>
              <a:ext cx="3884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47" name="Text Box 265"/>
            <p:cNvSpPr/>
            <p:nvPr/>
          </p:nvSpPr>
          <p:spPr>
            <a:xfrm>
              <a:off x="1012680" y="4330800"/>
              <a:ext cx="607680" cy="612720"/>
            </a:xfrm>
            <a:prstGeom prst="rect">
              <a:avLst/>
            </a:prstGeom>
            <a:noFill/>
            <a:ln w="9360">
              <a:solidFill>
                <a:srgbClr val="000000"/>
              </a:solidFill>
              <a:miter/>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600" b="0" u="none" strike="noStrike">
                  <a:solidFill>
                    <a:srgbClr val="000000"/>
                  </a:solidFill>
                  <a:effectLst/>
                  <a:uFillTx/>
                  <a:latin typeface="Times New Roman"/>
                </a:rPr>
                <a:t>前馈</a:t>
              </a:r>
              <a:endParaRPr lang="en-US" sz="1600" b="0" u="none" strike="noStrike">
                <a:solidFill>
                  <a:srgbClr val="000000"/>
                </a:solidFill>
                <a:effectLst/>
                <a:uFillTx/>
                <a:latin typeface="Times New Roman"/>
              </a:endParaRPr>
            </a:p>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600" b="0" u="none" strike="noStrike">
                  <a:solidFill>
                    <a:srgbClr val="000000"/>
                  </a:solidFill>
                  <a:effectLst/>
                  <a:uFillTx/>
                  <a:latin typeface="Times New Roman"/>
                </a:rPr>
                <a:t>校正</a:t>
              </a:r>
              <a:endParaRPr lang="en-US" sz="1600" b="0" u="none" strike="noStrike">
                <a:solidFill>
                  <a:srgbClr val="000000"/>
                </a:solidFill>
                <a:effectLst/>
                <a:uFillTx/>
                <a:latin typeface="Times New Roman"/>
              </a:endParaRPr>
            </a:p>
          </p:txBody>
        </p:sp>
        <p:sp>
          <p:nvSpPr>
            <p:cNvPr id="148" name="Text Box 266"/>
            <p:cNvSpPr/>
            <p:nvPr/>
          </p:nvSpPr>
          <p:spPr>
            <a:xfrm>
              <a:off x="1535760" y="4103640"/>
              <a:ext cx="706680" cy="682560"/>
            </a:xfrm>
            <a:prstGeom prst="rect">
              <a:avLst/>
            </a:prstGeom>
            <a:noFill/>
            <a:ln w="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149" name="Object 267"/>
                <p:cNvSpPr txBox="1"/>
                <p:nvPr/>
              </p:nvSpPr>
              <p:spPr>
                <a:xfrm>
                  <a:off x="2617560" y="4390920"/>
                  <a:ext cx="592200" cy="42084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oMath>
                  </a14:m>
                </a:p>
              </p:txBody>
            </p:sp>
          </mc:Choice>
          <mc:Fallback>
            <p:sp>
              <p:nvSpPr>
                <p:cNvPr id="149" name="Object 267"/>
                <p:cNvSpPr txBox="1"/>
                <p:nvPr/>
              </p:nvSpPr>
              <p:spPr>
                <a:xfrm>
                  <a:off x="2617560" y="4390920"/>
                  <a:ext cx="592200" cy="420840"/>
                </a:xfrm>
                <a:prstGeom prst="rect">
                  <a:avLst/>
                </a:prstGeom>
                <a:blipFill>
                  <a:blip r:embed="rId1"/>
                  <a:stretch>
                    <a:fillRect/>
                  </a:stretch>
                </a:blipFill>
              </p:spPr>
            </p:sp>
          </mc:Fallback>
        </mc:AlternateContent>
        <mc:AlternateContent>
          <mc:Choice xmlns:a14="http://schemas.microsoft.com/office/drawing/2010/main" Requires="a14">
            <p:sp>
              <p:nvSpPr>
                <p:cNvPr id="150" name="Object 269"/>
                <p:cNvSpPr txBox="1"/>
                <p:nvPr/>
              </p:nvSpPr>
              <p:spPr>
                <a:xfrm>
                  <a:off x="3682800" y="4462560"/>
                  <a:ext cx="473400" cy="345960"/>
                </a:xfrm>
                <a:prstGeom prst="rect">
                  <a:avLst/>
                </a:prstGeom>
              </p:spPr>
              <p:txBody>
                <a:bodyPr/>
                <a:p>
                  <a14:m>
                    <m:oMath xmlns:m="http://schemas.openxmlformats.org/officeDocument/2006/math">
                      <m:r>
                        <m:t xml:space="preserve">G</m:t>
                      </m:r>
                      <m:r>
                        <m:t xml:space="preserve">(</m:t>
                      </m:r>
                      <m:r>
                        <m:t xml:space="preserve">s</m:t>
                      </m:r>
                      <m:r>
                        <m:t xml:space="preserve">)</m:t>
                      </m:r>
                    </m:oMath>
                  </a14:m>
                </a:p>
              </p:txBody>
            </p:sp>
          </mc:Choice>
          <mc:Fallback>
            <p:sp>
              <p:nvSpPr>
                <p:cNvPr id="150" name="Object 269"/>
                <p:cNvSpPr txBox="1"/>
                <p:nvPr/>
              </p:nvSpPr>
              <p:spPr>
                <a:xfrm>
                  <a:off x="3682800" y="4462560"/>
                  <a:ext cx="473400" cy="345960"/>
                </a:xfrm>
                <a:prstGeom prst="rect">
                  <a:avLst/>
                </a:prstGeom>
                <a:blipFill>
                  <a:blip r:embed="rId2"/>
                  <a:stretch>
                    <a:fillRect/>
                  </a:stretch>
                </a:blipFill>
              </p:spPr>
            </p:sp>
          </mc:Fallback>
        </mc:AlternateContent>
        <mc:AlternateContent>
          <mc:Choice xmlns:a14="http://schemas.microsoft.com/office/drawing/2010/main" Requires="a14">
            <p:sp>
              <p:nvSpPr>
                <p:cNvPr id="151" name="Object 271"/>
                <p:cNvSpPr txBox="1"/>
                <p:nvPr/>
              </p:nvSpPr>
              <p:spPr>
                <a:xfrm>
                  <a:off x="1671480" y="4319640"/>
                  <a:ext cx="414720" cy="285840"/>
                </a:xfrm>
                <a:prstGeom prst="rect">
                  <a:avLst/>
                </a:prstGeom>
              </p:spPr>
              <p:txBody>
                <a:bodyPr/>
                <a:p>
                  <a14:m>
                    <m:oMath xmlns:m="http://schemas.openxmlformats.org/officeDocument/2006/math">
                      <m:sSup>
                        <m:e>
                          <m:r>
                            <m:t xml:space="preserve">R</m:t>
                          </m:r>
                        </m:e>
                        <m:sup>
                          <m:r>
                            <m:t xml:space="preserve">'</m:t>
                          </m:r>
                        </m:sup>
                      </m:sSup>
                      <m:r>
                        <m:t xml:space="preserve">(</m:t>
                      </m:r>
                      <m:r>
                        <m:t xml:space="preserve">s</m:t>
                      </m:r>
                      <m:r>
                        <m:t xml:space="preserve">)</m:t>
                      </m:r>
                    </m:oMath>
                  </a14:m>
                </a:p>
              </p:txBody>
            </p:sp>
          </mc:Choice>
          <mc:Fallback>
            <p:sp>
              <p:nvSpPr>
                <p:cNvPr id="151" name="Object 271"/>
                <p:cNvSpPr txBox="1"/>
                <p:nvPr/>
              </p:nvSpPr>
              <p:spPr>
                <a:xfrm>
                  <a:off x="1671480" y="4319640"/>
                  <a:ext cx="414720" cy="285840"/>
                </a:xfrm>
                <a:prstGeom prst="rect">
                  <a:avLst/>
                </a:prstGeom>
                <a:blipFill>
                  <a:blip r:embed="rId3"/>
                  <a:stretch>
                    <a:fillRect/>
                  </a:stretch>
                </a:blipFill>
              </p:spPr>
            </p:sp>
          </mc:Fallback>
        </mc:AlternateContent>
        <p:sp>
          <p:nvSpPr>
            <p:cNvPr id="152" name="Text Box 273"/>
            <p:cNvSpPr/>
            <p:nvPr/>
          </p:nvSpPr>
          <p:spPr>
            <a:xfrm>
              <a:off x="250920" y="4246560"/>
              <a:ext cx="622080" cy="48096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R (s)</a:t>
              </a:r>
              <a:endParaRPr lang="en-US" sz="1600" b="0" u="none" strike="noStrike">
                <a:solidFill>
                  <a:srgbClr val="000000"/>
                </a:solidFill>
                <a:effectLst/>
                <a:uFillTx/>
                <a:latin typeface="Times New Roman"/>
              </a:endParaRPr>
            </a:p>
          </p:txBody>
        </p:sp>
      </p:grpSp>
      <p:sp>
        <p:nvSpPr>
          <p:cNvPr id="153" name="Rectangle 292"/>
          <p:cNvSpPr/>
          <p:nvPr/>
        </p:nvSpPr>
        <p:spPr>
          <a:xfrm>
            <a:off x="0" y="331956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54" name="Rectangle 294"/>
          <p:cNvSpPr/>
          <p:nvPr/>
        </p:nvSpPr>
        <p:spPr>
          <a:xfrm>
            <a:off x="0" y="331956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55" name="Rectangle 296"/>
          <p:cNvSpPr/>
          <p:nvPr/>
        </p:nvSpPr>
        <p:spPr>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156" name="Group 297"/>
          <p:cNvGrpSpPr/>
          <p:nvPr/>
        </p:nvGrpSpPr>
        <p:grpSpPr>
          <a:xfrm>
            <a:off x="836640" y="1898640"/>
            <a:ext cx="3924000" cy="1584360"/>
            <a:chOff x="836640" y="1898640"/>
            <a:chExt cx="3924000" cy="1584360"/>
          </a:xfrm>
        </p:grpSpPr>
        <p:sp>
          <p:nvSpPr>
            <p:cNvPr id="157" name="Line 276"/>
            <p:cNvSpPr/>
            <p:nvPr/>
          </p:nvSpPr>
          <p:spPr>
            <a:xfrm>
              <a:off x="875520" y="3103560"/>
              <a:ext cx="6336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58" name="AutoShape 277"/>
            <p:cNvSpPr/>
            <p:nvPr/>
          </p:nvSpPr>
          <p:spPr>
            <a:xfrm>
              <a:off x="2602080" y="3004920"/>
              <a:ext cx="154800" cy="155880"/>
            </a:xfrm>
            <a:prstGeom prst="flowChartSummingJunction">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59" name="Line 278"/>
            <p:cNvSpPr/>
            <p:nvPr/>
          </p:nvSpPr>
          <p:spPr>
            <a:xfrm>
              <a:off x="2759400" y="3082680"/>
              <a:ext cx="309600" cy="12960"/>
            </a:xfrm>
            <a:prstGeom prst="line">
              <a:avLst/>
            </a:prstGeom>
            <a:ln w="9360">
              <a:solidFill>
                <a:srgbClr val="000000"/>
              </a:solidFill>
              <a:miter/>
              <a:tailEnd len="med" type="triangle" w="med"/>
            </a:ln>
          </p:spPr>
          <p:style>
            <a:lnRef idx="0"/>
            <a:fillRef idx="0"/>
            <a:effectRef idx="0"/>
            <a:fontRef idx="minor"/>
          </p:style>
          <p:txBody>
            <a:bodyPr lIns="90000" tIns="-33840" rIns="90000" bIns="-33840" anchor="t">
              <a:noAutofit/>
            </a:bodyPr>
            <a:p>
              <a:endParaRPr lang="en-US" sz="2400" b="0" u="none" strike="noStrike">
                <a:solidFill>
                  <a:srgbClr val="000000"/>
                </a:solidFill>
                <a:effectLst/>
                <a:uFillTx/>
                <a:latin typeface="Times New Roman"/>
              </a:endParaRPr>
            </a:p>
          </p:txBody>
        </p:sp>
        <p:sp>
          <p:nvSpPr>
            <p:cNvPr id="160" name="Line 279"/>
            <p:cNvSpPr/>
            <p:nvPr/>
          </p:nvSpPr>
          <p:spPr>
            <a:xfrm flipV="1">
              <a:off x="2292120" y="3100320"/>
              <a:ext cx="335520" cy="1440"/>
            </a:xfrm>
            <a:prstGeom prst="line">
              <a:avLst/>
            </a:prstGeom>
            <a:ln w="9360">
              <a:solidFill>
                <a:srgbClr val="000000"/>
              </a:solidFill>
              <a:miter/>
              <a:tailEnd len="med" type="triangle" w="med"/>
            </a:ln>
          </p:spPr>
          <p:style>
            <a:lnRef idx="0"/>
            <a:fillRef idx="0"/>
            <a:effectRef idx="0"/>
            <a:fontRef idx="minor"/>
          </p:style>
          <p:txBody>
            <a:bodyPr lIns="90000" tIns="-45360" rIns="90000" bIns="-45360" anchor="t">
              <a:noAutofit/>
            </a:bodyPr>
            <a:p>
              <a:endParaRPr lang="en-US" sz="2400" b="0" u="none" strike="noStrike">
                <a:solidFill>
                  <a:srgbClr val="000000"/>
                </a:solidFill>
                <a:effectLst/>
                <a:uFillTx/>
                <a:latin typeface="Times New Roman"/>
              </a:endParaRPr>
            </a:p>
          </p:txBody>
        </p:sp>
        <p:sp>
          <p:nvSpPr>
            <p:cNvPr id="161" name="Line 280"/>
            <p:cNvSpPr/>
            <p:nvPr/>
          </p:nvSpPr>
          <p:spPr>
            <a:xfrm>
              <a:off x="2652480" y="2012760"/>
              <a:ext cx="0" cy="10112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62" name="Line 281"/>
            <p:cNvSpPr/>
            <p:nvPr/>
          </p:nvSpPr>
          <p:spPr>
            <a:xfrm flipV="1">
              <a:off x="911520" y="2286000"/>
              <a:ext cx="0" cy="8128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63" name="Line 282"/>
            <p:cNvSpPr/>
            <p:nvPr/>
          </p:nvSpPr>
          <p:spPr>
            <a:xfrm flipH="1">
              <a:off x="915840" y="2286000"/>
              <a:ext cx="5932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64" name="Text Box 283"/>
            <p:cNvSpPr/>
            <p:nvPr/>
          </p:nvSpPr>
          <p:spPr>
            <a:xfrm>
              <a:off x="2656800" y="1898640"/>
              <a:ext cx="849240" cy="46512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N(s)</a:t>
              </a:r>
              <a:endParaRPr lang="en-US" sz="1600" b="0" u="none" strike="noStrike">
                <a:solidFill>
                  <a:srgbClr val="000000"/>
                </a:solidFill>
                <a:effectLst/>
                <a:uFillTx/>
                <a:latin typeface="Times New Roman"/>
              </a:endParaRPr>
            </a:p>
          </p:txBody>
        </p:sp>
        <p:sp>
          <p:nvSpPr>
            <p:cNvPr id="165" name="Text Box 284"/>
            <p:cNvSpPr/>
            <p:nvPr/>
          </p:nvSpPr>
          <p:spPr>
            <a:xfrm>
              <a:off x="4118400" y="2690640"/>
              <a:ext cx="642240" cy="46368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C (s)</a:t>
              </a:r>
              <a:endParaRPr lang="en-US" sz="1600" b="0" u="none" strike="noStrike">
                <a:solidFill>
                  <a:srgbClr val="000000"/>
                </a:solidFill>
                <a:effectLst/>
                <a:uFillTx/>
                <a:latin typeface="Times New Roman"/>
              </a:endParaRPr>
            </a:p>
          </p:txBody>
        </p:sp>
        <p:sp>
          <p:nvSpPr>
            <p:cNvPr id="166" name="Text Box 285"/>
            <p:cNvSpPr/>
            <p:nvPr/>
          </p:nvSpPr>
          <p:spPr>
            <a:xfrm>
              <a:off x="1500480" y="2786040"/>
              <a:ext cx="776880" cy="673200"/>
            </a:xfrm>
            <a:prstGeom prst="rect">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67" name="Line 286"/>
            <p:cNvSpPr/>
            <p:nvPr/>
          </p:nvSpPr>
          <p:spPr>
            <a:xfrm>
              <a:off x="3672720" y="3073320"/>
              <a:ext cx="5425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68" name="Text Box 287"/>
            <p:cNvSpPr/>
            <p:nvPr/>
          </p:nvSpPr>
          <p:spPr>
            <a:xfrm>
              <a:off x="3060720" y="2809800"/>
              <a:ext cx="794160" cy="673200"/>
            </a:xfrm>
            <a:prstGeom prst="rect">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69" name="Line 288"/>
            <p:cNvSpPr/>
            <p:nvPr/>
          </p:nvSpPr>
          <p:spPr>
            <a:xfrm flipH="1">
              <a:off x="2219760" y="2308320"/>
              <a:ext cx="4366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70" name="Text Box 289"/>
            <p:cNvSpPr/>
            <p:nvPr/>
          </p:nvSpPr>
          <p:spPr>
            <a:xfrm>
              <a:off x="1510920" y="2022480"/>
              <a:ext cx="704520" cy="619200"/>
            </a:xfrm>
            <a:prstGeom prst="rect">
              <a:avLst/>
            </a:prstGeom>
            <a:noFill/>
            <a:ln w="9360">
              <a:solidFill>
                <a:srgbClr val="000000"/>
              </a:solidFill>
              <a:miter/>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600" b="0" u="none" strike="noStrike">
                  <a:solidFill>
                    <a:srgbClr val="000000"/>
                  </a:solidFill>
                  <a:effectLst/>
                  <a:uFillTx/>
                  <a:latin typeface="Times New Roman"/>
                </a:rPr>
                <a:t>前馈</a:t>
              </a:r>
              <a:endParaRPr lang="en-US" sz="1600" b="0" u="none" strike="noStrike">
                <a:solidFill>
                  <a:srgbClr val="000000"/>
                </a:solidFill>
                <a:effectLst/>
                <a:uFillTx/>
                <a:latin typeface="Times New Roman"/>
              </a:endParaRPr>
            </a:p>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600" b="0" u="none" strike="noStrike">
                  <a:solidFill>
                    <a:srgbClr val="000000"/>
                  </a:solidFill>
                  <a:effectLst/>
                  <a:uFillTx/>
                  <a:latin typeface="Times New Roman"/>
                </a:rPr>
                <a:t>校正</a:t>
              </a:r>
              <a:endParaRPr lang="en-US" sz="1600" b="0" u="none" strike="noStrike">
                <a:solidFill>
                  <a:srgbClr val="000000"/>
                </a:solidFill>
                <a:effectLst/>
                <a:uFillTx/>
                <a:latin typeface="Times New Roman"/>
              </a:endParaRPr>
            </a:p>
          </p:txBody>
        </p:sp>
        <p:sp>
          <p:nvSpPr>
            <p:cNvPr id="171" name="Text Box 290"/>
            <p:cNvSpPr/>
            <p:nvPr/>
          </p:nvSpPr>
          <p:spPr>
            <a:xfrm>
              <a:off x="836640" y="2370240"/>
              <a:ext cx="763920" cy="661680"/>
            </a:xfrm>
            <a:prstGeom prst="rect">
              <a:avLst/>
            </a:prstGeom>
            <a:noFill/>
            <a:ln w="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172" name="Object 291"/>
                <p:cNvSpPr txBox="1"/>
                <p:nvPr/>
              </p:nvSpPr>
              <p:spPr>
                <a:xfrm>
                  <a:off x="1623600" y="2906640"/>
                  <a:ext cx="556920" cy="352440"/>
                </a:xfrm>
                <a:prstGeom prst="rect">
                  <a:avLst/>
                </a:prstGeom>
              </p:spPr>
              <p:txBody>
                <a:bodyPr/>
                <a:p>
                  <a14:m>
                    <m:oMath xmlns:m="http://schemas.openxmlformats.org/officeDocument/2006/math">
                      <m:sSup>
                        <m:e>
                          <m:r>
                            <m:t xml:space="preserve">N</m:t>
                          </m:r>
                        </m:e>
                        <m:sup>
                          <m:r>
                            <m:t xml:space="preserve">'</m:t>
                          </m:r>
                        </m:sup>
                      </m:sSup>
                      <m:r>
                        <m:t xml:space="preserve">(</m:t>
                      </m:r>
                      <m:r>
                        <m:t xml:space="preserve">s</m:t>
                      </m:r>
                      <m:r>
                        <m:t xml:space="preserve">)</m:t>
                      </m:r>
                    </m:oMath>
                  </a14:m>
                </a:p>
              </p:txBody>
            </p:sp>
          </mc:Choice>
          <mc:Fallback>
            <p:sp>
              <p:nvSpPr>
                <p:cNvPr id="172" name="Object 291"/>
                <p:cNvSpPr txBox="1"/>
                <p:nvPr/>
              </p:nvSpPr>
              <p:spPr>
                <a:xfrm>
                  <a:off x="1623600" y="2906640"/>
                  <a:ext cx="556920" cy="352440"/>
                </a:xfrm>
                <a:prstGeom prst="rect">
                  <a:avLst/>
                </a:prstGeom>
                <a:blipFill>
                  <a:blip r:embed="rId4"/>
                  <a:stretch>
                    <a:fillRect/>
                  </a:stretch>
                </a:blipFill>
              </p:spPr>
            </p:sp>
          </mc:Fallback>
        </mc:AlternateContent>
        <mc:AlternateContent>
          <mc:Choice xmlns:a14="http://schemas.microsoft.com/office/drawing/2010/main" Requires="a14">
            <p:sp>
              <p:nvSpPr>
                <p:cNvPr id="173" name="Object 293"/>
                <p:cNvSpPr txBox="1"/>
                <p:nvPr/>
              </p:nvSpPr>
              <p:spPr>
                <a:xfrm>
                  <a:off x="3134520" y="2906640"/>
                  <a:ext cx="590040" cy="363600"/>
                </a:xfrm>
                <a:prstGeom prst="rect">
                  <a:avLst/>
                </a:prstGeom>
              </p:spPr>
              <p:txBody>
                <a:bodyPr/>
                <a:p>
                  <a14:m>
                    <m:oMath xmlns:m="http://schemas.openxmlformats.org/officeDocument/2006/math">
                      <m:sSub>
                        <m:e>
                          <m:r>
                            <m:t xml:space="preserve">G</m:t>
                          </m:r>
                        </m:e>
                        <m:sub>
                          <m:r>
                            <m:t xml:space="preserve">2</m:t>
                          </m:r>
                        </m:sub>
                      </m:sSub>
                      <m:r>
                        <m:t xml:space="preserve">(</m:t>
                      </m:r>
                      <m:r>
                        <m:t xml:space="preserve">s</m:t>
                      </m:r>
                      <m:r>
                        <m:t xml:space="preserve">)</m:t>
                      </m:r>
                    </m:oMath>
                  </a14:m>
                </a:p>
              </p:txBody>
            </p:sp>
          </mc:Choice>
          <mc:Fallback>
            <p:sp>
              <p:nvSpPr>
                <p:cNvPr id="173" name="Object 293"/>
                <p:cNvSpPr txBox="1"/>
                <p:nvPr/>
              </p:nvSpPr>
              <p:spPr>
                <a:xfrm>
                  <a:off x="3134520" y="2906640"/>
                  <a:ext cx="590040" cy="363600"/>
                </a:xfrm>
                <a:prstGeom prst="rect">
                  <a:avLst/>
                </a:prstGeom>
                <a:blipFill>
                  <a:blip r:embed="rId5"/>
                  <a:stretch>
                    <a:fillRect/>
                  </a:stretch>
                </a:blipFill>
              </p:spPr>
            </p:sp>
          </mc:Fallback>
        </mc:AlternateContent>
        <mc:AlternateContent>
          <mc:Choice xmlns:a14="http://schemas.microsoft.com/office/drawing/2010/main" Requires="a14">
            <p:sp>
              <p:nvSpPr>
                <p:cNvPr id="174" name="Object 295"/>
                <p:cNvSpPr txBox="1"/>
                <p:nvPr/>
              </p:nvSpPr>
              <p:spPr>
                <a:xfrm>
                  <a:off x="968040" y="2475000"/>
                  <a:ext cx="556920" cy="320400"/>
                </a:xfrm>
                <a:prstGeom prst="rect">
                  <a:avLst/>
                </a:prstGeom>
              </p:spPr>
              <p:txBody>
                <a:bodyPr/>
                <a:p>
                  <a14:m>
                    <m:oMath xmlns:m="http://schemas.openxmlformats.org/officeDocument/2006/math">
                      <m:sSup>
                        <m:e>
                          <m:r>
                            <m:t xml:space="preserve">N</m:t>
                          </m:r>
                        </m:e>
                        <m:sup>
                          <m:r>
                            <m:t xml:space="preserve">'</m:t>
                          </m:r>
                        </m:sup>
                      </m:sSup>
                      <m:r>
                        <m:t xml:space="preserve">(</m:t>
                      </m:r>
                      <m:r>
                        <m:t xml:space="preserve">s</m:t>
                      </m:r>
                      <m:r>
                        <m:t xml:space="preserve">)</m:t>
                      </m:r>
                    </m:oMath>
                  </a14:m>
                </a:p>
              </p:txBody>
            </p:sp>
          </mc:Choice>
          <mc:Fallback>
            <p:sp>
              <p:nvSpPr>
                <p:cNvPr id="174" name="Object 295"/>
                <p:cNvSpPr txBox="1"/>
                <p:nvPr/>
              </p:nvSpPr>
              <p:spPr>
                <a:xfrm>
                  <a:off x="968040" y="2475000"/>
                  <a:ext cx="556920" cy="320400"/>
                </a:xfrm>
                <a:prstGeom prst="rect">
                  <a:avLst/>
                </a:prstGeom>
                <a:blipFill>
                  <a:blip r:embed="rId6"/>
                  <a:stretch>
                    <a:fillRect/>
                  </a:stretch>
                </a:blipFill>
              </p:spPr>
            </p:sp>
          </mc:Fallback>
        </mc:AlternateContent>
      </p:grpSp>
      <p:sp>
        <p:nvSpPr>
          <p:cNvPr id="175" name="Text Box 298"/>
          <p:cNvSpPr/>
          <p:nvPr/>
        </p:nvSpPr>
        <p:spPr>
          <a:xfrm>
            <a:off x="1422360" y="5950080"/>
            <a:ext cx="1584360" cy="3074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400" b="0" u="none" strike="noStrike">
                <a:solidFill>
                  <a:srgbClr val="000000"/>
                </a:solidFill>
                <a:effectLst/>
                <a:uFillTx/>
                <a:latin typeface="Arial"/>
              </a:rPr>
              <a:t>图</a:t>
            </a:r>
            <a:r>
              <a:rPr lang="en-US" sz="1400" b="0" u="none" strike="noStrike">
                <a:solidFill>
                  <a:srgbClr val="000000"/>
                </a:solidFill>
                <a:effectLst/>
                <a:uFillTx/>
                <a:latin typeface="Arial"/>
              </a:rPr>
              <a:t>6-4 </a:t>
            </a:r>
            <a:r>
              <a:rPr lang="zh-CN" sz="1400" b="0" u="none" strike="noStrike">
                <a:solidFill>
                  <a:srgbClr val="000000"/>
                </a:solidFill>
                <a:effectLst/>
                <a:uFillTx/>
                <a:latin typeface="Arial"/>
              </a:rPr>
              <a:t>前馈校正</a:t>
            </a:r>
            <a:endParaRPr lang="en-US" sz="1400" b="0" u="none" strike="noStrike">
              <a:solidFill>
                <a:srgbClr val="000000"/>
              </a:solidFill>
              <a:effectLst/>
              <a:uFillTx/>
              <a:latin typeface="Times New Roman"/>
            </a:endParaRPr>
          </a:p>
        </p:txBody>
      </p:sp>
    </p:spTree>
  </p:cSld>
  <p:transition>
    <p:random/>
  </p:transition>
  <p:timing>
    <p:tnLst>
      <p:par>
        <p:cTn id="206" dur="indefinite" restart="never" nodeType="tmRoot">
          <p:childTnLst>
            <p:seq>
              <p:cTn id="207" dur="indefinite" nodeType="mainSeq">
                <p:childTnLst>
                  <p:par>
                    <p:cTn id="208" fill="hold" nodeType="clickEffect">
                      <p:stCondLst>
                        <p:cond delay="indefinite"/>
                      </p:stCondLst>
                      <p:childTnLst>
                        <p:par>
                          <p:cTn id="209" fill="hold" nodeType="withEffect">
                            <p:stCondLst>
                              <p:cond delay="0"/>
                            </p:stCondLst>
                            <p:childTnLst>
                              <p:par>
                                <p:cTn id="210" presetID="3" presetClass="entr" fill="hold" nodeType="clickEffect" presetSubtype="10">
                                  <p:stCondLst>
                                    <p:cond delay="0"/>
                                  </p:stCondLst>
                                  <p:childTnLst>
                                    <p:set>
                                      <p:cBhvr>
                                        <p:cTn id="211" dur="1" fill="hold">
                                          <p:stCondLst>
                                            <p:cond delay="0"/>
                                          </p:stCondLst>
                                        </p:cTn>
                                        <p:tgtEl>
                                          <p:spTgt spid="128"/>
                                        </p:tgtEl>
                                        <p:attrNameLst>
                                          <p:attrName>style.visibility</p:attrName>
                                        </p:attrNameLst>
                                      </p:cBhvr>
                                      <p:to>
                                        <p:strVal val="visible"/>
                                      </p:to>
                                    </p:set>
                                    <p:animEffect transition="in" filter="blinds(horizontal)">
                                      <p:cBhvr additive="repl">
                                        <p:cTn id="212" dur="500"/>
                                        <p:tgtEl>
                                          <p:spTgt spid="128"/>
                                        </p:tgtEl>
                                      </p:cBhvr>
                                    </p:animEffect>
                                  </p:childTnLst>
                                </p:cTn>
                              </p:par>
                            </p:childTnLst>
                          </p:cTn>
                        </p:par>
                      </p:childTnLst>
                    </p:cTn>
                  </p:par>
                  <p:par>
                    <p:cTn id="213" fill="hold" nodeType="clickEffect">
                      <p:stCondLst>
                        <p:cond delay="indefinite"/>
                      </p:stCondLst>
                      <p:childTnLst>
                        <p:par>
                          <p:cTn id="214" fill="hold" nodeType="withEffect">
                            <p:stCondLst>
                              <p:cond delay="0"/>
                            </p:stCondLst>
                            <p:childTnLst>
                              <p:par>
                                <p:cTn id="215" presetID="3" presetClass="entr" fill="hold" nodeType="clickEffect" presetSubtype="10">
                                  <p:stCondLst>
                                    <p:cond delay="0"/>
                                  </p:stCondLst>
                                  <p:childTnLst>
                                    <p:set>
                                      <p:cBhvr>
                                        <p:cTn id="216" dur="1" fill="hold">
                                          <p:stCondLst>
                                            <p:cond delay="0"/>
                                          </p:stCondLst>
                                        </p:cTn>
                                        <p:tgtEl>
                                          <p:spTgt spid="156"/>
                                        </p:tgtEl>
                                        <p:attrNameLst>
                                          <p:attrName>style.visibility</p:attrName>
                                        </p:attrNameLst>
                                      </p:cBhvr>
                                      <p:to>
                                        <p:strVal val="visible"/>
                                      </p:to>
                                    </p:set>
                                    <p:animEffect transition="in" filter="blinds(horizontal)">
                                      <p:cBhvr additive="repl">
                                        <p:cTn id="217" dur="500"/>
                                        <p:tgtEl>
                                          <p:spTgt spid="156"/>
                                        </p:tgtEl>
                                      </p:cBhvr>
                                    </p:animEffect>
                                  </p:childTnLst>
                                </p:cTn>
                              </p:par>
                            </p:childTnLst>
                          </p:cTn>
                        </p:par>
                      </p:childTnLst>
                    </p:cTn>
                  </p:par>
                  <p:par>
                    <p:cTn id="218" fill="hold" nodeType="clickEffect">
                      <p:stCondLst>
                        <p:cond delay="indefinite"/>
                      </p:stCondLst>
                      <p:childTnLst>
                        <p:par>
                          <p:cTn id="219" fill="hold" nodeType="withEffect">
                            <p:stCondLst>
                              <p:cond delay="0"/>
                            </p:stCondLst>
                            <p:childTnLst>
                              <p:par>
                                <p:cTn id="220" presetID="3" presetClass="entr" fill="hold" nodeType="clickEffect" presetSubtype="10">
                                  <p:stCondLst>
                                    <p:cond delay="0"/>
                                  </p:stCondLst>
                                  <p:childTnLst>
                                    <p:set>
                                      <p:cBhvr>
                                        <p:cTn id="221" dur="1" fill="hold">
                                          <p:stCondLst>
                                            <p:cond delay="0"/>
                                          </p:stCondLst>
                                        </p:cTn>
                                        <p:tgtEl>
                                          <p:spTgt spid="129"/>
                                        </p:tgtEl>
                                        <p:attrNameLst>
                                          <p:attrName>style.visibility</p:attrName>
                                        </p:attrNameLst>
                                      </p:cBhvr>
                                      <p:to>
                                        <p:strVal val="visible"/>
                                      </p:to>
                                    </p:set>
                                    <p:animEffect transition="in" filter="blinds(horizontal)">
                                      <p:cBhvr additive="repl">
                                        <p:cTn id="222" dur="500"/>
                                        <p:tgtEl>
                                          <p:spTgt spid="129"/>
                                        </p:tgtEl>
                                      </p:cBhvr>
                                    </p:animEffect>
                                  </p:childTnLst>
                                </p:cTn>
                              </p:par>
                            </p:childTnLst>
                          </p:cTn>
                        </p:par>
                      </p:childTnLst>
                    </p:cTn>
                  </p:par>
                  <p:par>
                    <p:cTn id="223" fill="hold" nodeType="clickEffect">
                      <p:stCondLst>
                        <p:cond delay="indefinite"/>
                      </p:stCondLst>
                      <p:childTnLst>
                        <p:par>
                          <p:cTn id="224" fill="hold" nodeType="withEffect">
                            <p:stCondLst>
                              <p:cond delay="0"/>
                            </p:stCondLst>
                            <p:childTnLst>
                              <p:par>
                                <p:cTn id="225" presetID="3" presetClass="entr" fill="hold" nodeType="clickEffect" presetSubtype="10">
                                  <p:stCondLst>
                                    <p:cond delay="0"/>
                                  </p:stCondLst>
                                  <p:childTnLst>
                                    <p:set>
                                      <p:cBhvr>
                                        <p:cTn id="226" dur="1" fill="hold">
                                          <p:stCondLst>
                                            <p:cond delay="0"/>
                                          </p:stCondLst>
                                        </p:cTn>
                                        <p:tgtEl>
                                          <p:spTgt spid="133"/>
                                        </p:tgtEl>
                                        <p:attrNameLst>
                                          <p:attrName>style.visibility</p:attrName>
                                        </p:attrNameLst>
                                      </p:cBhvr>
                                      <p:to>
                                        <p:strVal val="visible"/>
                                      </p:to>
                                    </p:set>
                                    <p:animEffect transition="in" filter="blinds(horizontal)">
                                      <p:cBhvr additive="repl">
                                        <p:cTn id="227" dur="5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Rectangle 5"/>
          <p:cNvSpPr/>
          <p:nvPr/>
        </p:nvSpPr>
        <p:spPr>
          <a:xfrm>
            <a:off x="1285920" y="684360"/>
            <a:ext cx="244800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4</a:t>
            </a:r>
            <a:r>
              <a:rPr lang="zh-CN" sz="2000" b="1" u="none" strike="noStrike">
                <a:solidFill>
                  <a:srgbClr val="008080"/>
                </a:solidFill>
                <a:effectLst/>
                <a:uFillTx/>
                <a:latin typeface="Times New Roman"/>
              </a:rPr>
              <a:t>、复合校正</a:t>
            </a:r>
            <a:endParaRPr lang="en-US" sz="2000" b="0" u="none" strike="noStrike">
              <a:solidFill>
                <a:srgbClr val="000000"/>
              </a:solidFill>
              <a:effectLst/>
              <a:uFillTx/>
              <a:latin typeface="Times New Roman"/>
            </a:endParaRPr>
          </a:p>
        </p:txBody>
      </p:sp>
      <p:sp>
        <p:nvSpPr>
          <p:cNvPr id="177" name="Rectangle 48"/>
          <p:cNvSpPr/>
          <p:nvPr/>
        </p:nvSpPr>
        <p:spPr>
          <a:xfrm>
            <a:off x="880920" y="4734000"/>
            <a:ext cx="698508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特点：将前馈校正作为反馈控制系统的附加校正组合而成。</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既具有前馈调节及时快速的特点又兼备反馈校正精确的特点。</a:t>
            </a:r>
            <a:endParaRPr lang="en-US" sz="2000" b="0" u="none" strike="noStrike">
              <a:solidFill>
                <a:srgbClr val="000000"/>
              </a:solidFill>
              <a:effectLst/>
              <a:uFillTx/>
              <a:latin typeface="Times New Roman"/>
            </a:endParaRPr>
          </a:p>
        </p:txBody>
      </p:sp>
      <p:grpSp>
        <p:nvGrpSpPr>
          <p:cNvPr id="178" name="Group 89"/>
          <p:cNvGrpSpPr/>
          <p:nvPr/>
        </p:nvGrpSpPr>
        <p:grpSpPr>
          <a:xfrm>
            <a:off x="206280" y="1854360"/>
            <a:ext cx="8748720" cy="2278080"/>
            <a:chOff x="206280" y="1854360"/>
            <a:chExt cx="8748720" cy="2278080"/>
          </a:xfrm>
        </p:grpSpPr>
        <p:sp>
          <p:nvSpPr>
            <p:cNvPr id="179" name="Text Box 90"/>
            <p:cNvSpPr/>
            <p:nvPr/>
          </p:nvSpPr>
          <p:spPr>
            <a:xfrm>
              <a:off x="1646280" y="3365640"/>
              <a:ext cx="1862280" cy="33012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600" b="0" u="none" strike="noStrike">
                  <a:solidFill>
                    <a:srgbClr val="000000"/>
                  </a:solidFill>
                  <a:effectLst/>
                  <a:uFillTx/>
                  <a:latin typeface="Times New Roman"/>
                  <a:ea typeface="Times New Roman"/>
                </a:rPr>
                <a:t>（</a:t>
              </a:r>
              <a:r>
                <a:rPr lang="en-US" sz="1600" b="0" u="none" strike="noStrike">
                  <a:solidFill>
                    <a:srgbClr val="000000"/>
                  </a:solidFill>
                  <a:effectLst/>
                  <a:uFillTx/>
                  <a:latin typeface="Times New Roman"/>
                  <a:ea typeface="Times New Roman"/>
                </a:rPr>
                <a:t>a</a:t>
              </a:r>
              <a:r>
                <a:rPr lang="zh-CN" sz="1600" b="0" u="none" strike="noStrike">
                  <a:solidFill>
                    <a:srgbClr val="000000"/>
                  </a:solidFill>
                  <a:effectLst/>
                  <a:uFillTx/>
                  <a:latin typeface="Times New Roman"/>
                  <a:ea typeface="Times New Roman"/>
                </a:rPr>
                <a:t>）按输入补偿</a:t>
              </a:r>
              <a:endParaRPr lang="en-US" sz="1600" b="0" u="none" strike="noStrike">
                <a:solidFill>
                  <a:srgbClr val="000000"/>
                </a:solidFill>
                <a:effectLst/>
                <a:uFillTx/>
                <a:latin typeface="Times New Roman"/>
              </a:endParaRPr>
            </a:p>
          </p:txBody>
        </p:sp>
        <p:sp>
          <p:nvSpPr>
            <p:cNvPr id="180" name="Text Box 91"/>
            <p:cNvSpPr/>
            <p:nvPr/>
          </p:nvSpPr>
          <p:spPr>
            <a:xfrm>
              <a:off x="3519360" y="3799080"/>
              <a:ext cx="1727280" cy="33336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00000"/>
                  </a:solidFill>
                  <a:effectLst/>
                  <a:uFillTx/>
                  <a:latin typeface="Times New Roman"/>
                  <a:ea typeface="Times New Roman"/>
                </a:rPr>
                <a:t>图</a:t>
              </a:r>
              <a:r>
                <a:rPr lang="en-US" sz="1800" b="0" u="none" strike="noStrike">
                  <a:solidFill>
                    <a:srgbClr val="000000"/>
                  </a:solidFill>
                  <a:effectLst/>
                  <a:uFillTx/>
                  <a:latin typeface="Times New Roman"/>
                  <a:ea typeface="Times New Roman"/>
                </a:rPr>
                <a:t>6-5 </a:t>
              </a:r>
              <a:r>
                <a:rPr lang="zh-CN" sz="1800" b="0" u="none" strike="noStrike">
                  <a:solidFill>
                    <a:srgbClr val="000000"/>
                  </a:solidFill>
                  <a:effectLst/>
                  <a:uFillTx/>
                  <a:latin typeface="Times New Roman"/>
                  <a:ea typeface="Times New Roman"/>
                </a:rPr>
                <a:t>复合校正</a:t>
              </a:r>
              <a:endParaRPr lang="en-US" sz="1800" b="0" u="none" strike="noStrike">
                <a:solidFill>
                  <a:srgbClr val="000000"/>
                </a:solidFill>
                <a:effectLst/>
                <a:uFillTx/>
                <a:latin typeface="Times New Roman"/>
              </a:endParaRPr>
            </a:p>
          </p:txBody>
        </p:sp>
        <p:grpSp>
          <p:nvGrpSpPr>
            <p:cNvPr id="181" name="Group 92"/>
            <p:cNvGrpSpPr/>
            <p:nvPr/>
          </p:nvGrpSpPr>
          <p:grpSpPr>
            <a:xfrm>
              <a:off x="206280" y="1854360"/>
              <a:ext cx="4321440" cy="1373040"/>
              <a:chOff x="206280" y="1854360"/>
              <a:chExt cx="4321440" cy="1373040"/>
            </a:xfrm>
          </p:grpSpPr>
          <mc:AlternateContent>
            <mc:Choice xmlns:a14="http://schemas.microsoft.com/office/drawing/2010/main" Requires="a14">
              <p:sp>
                <p:nvSpPr>
                  <p:cNvPr id="182" name="Object 93"/>
                  <p:cNvSpPr txBox="1"/>
                  <p:nvPr/>
                </p:nvSpPr>
                <p:spPr>
                  <a:xfrm>
                    <a:off x="1647720" y="1854360"/>
                    <a:ext cx="621000" cy="40320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oMath>
                    </a14:m>
                  </a:p>
                </p:txBody>
              </p:sp>
            </mc:Choice>
            <mc:Fallback>
              <p:sp>
                <p:nvSpPr>
                  <p:cNvPr id="182" name="Object 93"/>
                  <p:cNvSpPr txBox="1"/>
                  <p:nvPr/>
                </p:nvSpPr>
                <p:spPr>
                  <a:xfrm>
                    <a:off x="1647720" y="1854360"/>
                    <a:ext cx="621000" cy="403200"/>
                  </a:xfrm>
                  <a:prstGeom prst="rect">
                    <a:avLst/>
                  </a:prstGeom>
                  <a:blipFill>
                    <a:blip r:embed="rId1"/>
                    <a:stretch>
                      <a:fillRect/>
                    </a:stretch>
                  </a:blipFill>
                </p:spPr>
              </p:sp>
            </mc:Fallback>
          </mc:AlternateContent>
          <mc:AlternateContent>
            <mc:Choice xmlns:a14="http://schemas.microsoft.com/office/drawing/2010/main" Requires="a14">
              <p:sp>
                <p:nvSpPr>
                  <p:cNvPr id="183" name="Object 94"/>
                  <p:cNvSpPr txBox="1"/>
                  <p:nvPr/>
                </p:nvSpPr>
                <p:spPr>
                  <a:xfrm>
                    <a:off x="1647720" y="2502000"/>
                    <a:ext cx="605160" cy="385920"/>
                  </a:xfrm>
                  <a:prstGeom prst="rect">
                    <a:avLst/>
                  </a:prstGeom>
                </p:spPr>
                <p:txBody>
                  <a:bodyPr/>
                  <a:p>
                    <a14:m>
                      <m:oMath xmlns:m="http://schemas.openxmlformats.org/officeDocument/2006/math">
                        <m:sSub>
                          <m:e>
                            <m:r>
                              <m:t xml:space="preserve">G</m:t>
                            </m:r>
                          </m:e>
                          <m:sub>
                            <m:r>
                              <m:t xml:space="preserve">1</m:t>
                            </m:r>
                          </m:sub>
                        </m:sSub>
                        <m:r>
                          <m:t xml:space="preserve">(</m:t>
                        </m:r>
                        <m:r>
                          <m:t xml:space="preserve">s</m:t>
                        </m:r>
                        <m:r>
                          <m:t xml:space="preserve">)</m:t>
                        </m:r>
                      </m:oMath>
                    </a14:m>
                  </a:p>
                </p:txBody>
              </p:sp>
            </mc:Choice>
            <mc:Fallback>
              <p:sp>
                <p:nvSpPr>
                  <p:cNvPr id="183" name="Object 94"/>
                  <p:cNvSpPr txBox="1"/>
                  <p:nvPr/>
                </p:nvSpPr>
                <p:spPr>
                  <a:xfrm>
                    <a:off x="1647720" y="2502000"/>
                    <a:ext cx="605160" cy="385920"/>
                  </a:xfrm>
                  <a:prstGeom prst="rect">
                    <a:avLst/>
                  </a:prstGeom>
                  <a:blipFill>
                    <a:blip r:embed="rId2"/>
                    <a:stretch>
                      <a:fillRect/>
                    </a:stretch>
                  </a:blipFill>
                </p:spPr>
              </p:sp>
            </mc:Fallback>
          </mc:AlternateContent>
          <mc:AlternateContent>
            <mc:Choice xmlns:a14="http://schemas.microsoft.com/office/drawing/2010/main" Requires="a14">
              <p:sp>
                <p:nvSpPr>
                  <p:cNvPr id="184" name="Object 95"/>
                  <p:cNvSpPr txBox="1"/>
                  <p:nvPr/>
                </p:nvSpPr>
                <p:spPr>
                  <a:xfrm>
                    <a:off x="3087720" y="2502000"/>
                    <a:ext cx="620640" cy="385920"/>
                  </a:xfrm>
                  <a:prstGeom prst="rect">
                    <a:avLst/>
                  </a:prstGeom>
                </p:spPr>
                <p:txBody>
                  <a:bodyPr/>
                  <a:p>
                    <a14:m>
                      <m:oMath xmlns:m="http://schemas.openxmlformats.org/officeDocument/2006/math">
                        <m:sSub>
                          <m:e>
                            <m:r>
                              <m:t xml:space="preserve">G</m:t>
                            </m:r>
                          </m:e>
                          <m:sub>
                            <m:r>
                              <m:t xml:space="preserve">2</m:t>
                            </m:r>
                          </m:sub>
                        </m:sSub>
                        <m:r>
                          <m:t xml:space="preserve">(</m:t>
                        </m:r>
                        <m:r>
                          <m:t xml:space="preserve">s</m:t>
                        </m:r>
                        <m:r>
                          <m:t xml:space="preserve">)</m:t>
                        </m:r>
                      </m:oMath>
                    </a14:m>
                  </a:p>
                </p:txBody>
              </p:sp>
            </mc:Choice>
            <mc:Fallback>
              <p:sp>
                <p:nvSpPr>
                  <p:cNvPr id="184" name="Object 95"/>
                  <p:cNvSpPr txBox="1"/>
                  <p:nvPr/>
                </p:nvSpPr>
                <p:spPr>
                  <a:xfrm>
                    <a:off x="3087720" y="2502000"/>
                    <a:ext cx="620640" cy="385920"/>
                  </a:xfrm>
                  <a:prstGeom prst="rect">
                    <a:avLst/>
                  </a:prstGeom>
                  <a:blipFill>
                    <a:blip r:embed="rId3"/>
                    <a:stretch>
                      <a:fillRect/>
                    </a:stretch>
                  </a:blipFill>
                </p:spPr>
              </p:sp>
            </mc:Fallback>
          </mc:AlternateContent>
          <p:sp>
            <p:nvSpPr>
              <p:cNvPr id="185" name="Line 96"/>
              <p:cNvSpPr/>
              <p:nvPr/>
            </p:nvSpPr>
            <p:spPr>
              <a:xfrm>
                <a:off x="627120" y="2613240"/>
                <a:ext cx="4968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86" name="AutoShape 97"/>
              <p:cNvSpPr/>
              <p:nvPr/>
            </p:nvSpPr>
            <p:spPr>
              <a:xfrm>
                <a:off x="1120680" y="2562480"/>
                <a:ext cx="142920" cy="137880"/>
              </a:xfrm>
              <a:prstGeom prst="flowChartSummingJunction">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87" name="Line 98"/>
              <p:cNvSpPr/>
              <p:nvPr/>
            </p:nvSpPr>
            <p:spPr>
              <a:xfrm>
                <a:off x="2284560" y="2633760"/>
                <a:ext cx="272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88" name="Line 99"/>
              <p:cNvSpPr/>
              <p:nvPr/>
            </p:nvSpPr>
            <p:spPr>
              <a:xfrm>
                <a:off x="1265400" y="2611440"/>
                <a:ext cx="2966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89" name="Line 100"/>
              <p:cNvSpPr/>
              <p:nvPr/>
            </p:nvSpPr>
            <p:spPr>
              <a:xfrm flipH="1" flipV="1">
                <a:off x="1179720" y="2714760"/>
                <a:ext cx="10800" cy="5126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90" name="Line 101"/>
              <p:cNvSpPr/>
              <p:nvPr/>
            </p:nvSpPr>
            <p:spPr>
              <a:xfrm>
                <a:off x="1168560" y="3219480"/>
                <a:ext cx="27781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91" name="Line 102"/>
              <p:cNvSpPr/>
              <p:nvPr/>
            </p:nvSpPr>
            <p:spPr>
              <a:xfrm flipH="1">
                <a:off x="3936600" y="2667240"/>
                <a:ext cx="11160" cy="55224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92" name="Text Box 103"/>
              <p:cNvSpPr/>
              <p:nvPr/>
            </p:nvSpPr>
            <p:spPr>
              <a:xfrm>
                <a:off x="206280" y="2286000"/>
                <a:ext cx="649440" cy="486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R (s)</a:t>
                </a:r>
                <a:endParaRPr lang="en-US" sz="2000" b="0" u="none" strike="noStrike">
                  <a:solidFill>
                    <a:srgbClr val="000000"/>
                  </a:solidFill>
                  <a:effectLst/>
                  <a:uFillTx/>
                  <a:latin typeface="Times New Roman"/>
                </a:endParaRPr>
              </a:p>
            </p:txBody>
          </p:sp>
          <p:sp>
            <p:nvSpPr>
              <p:cNvPr id="193" name="Text Box 104"/>
              <p:cNvSpPr/>
              <p:nvPr/>
            </p:nvSpPr>
            <p:spPr>
              <a:xfrm>
                <a:off x="3746520" y="2249640"/>
                <a:ext cx="781200" cy="41436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C (s)</a:t>
                </a:r>
                <a:endParaRPr lang="en-US" sz="2000" b="0" u="none" strike="noStrike">
                  <a:solidFill>
                    <a:srgbClr val="000000"/>
                  </a:solidFill>
                  <a:effectLst/>
                  <a:uFillTx/>
                  <a:latin typeface="Times New Roman"/>
                </a:endParaRPr>
              </a:p>
            </p:txBody>
          </p:sp>
          <p:sp>
            <p:nvSpPr>
              <p:cNvPr id="194" name="Text Box 105"/>
              <p:cNvSpPr/>
              <p:nvPr/>
            </p:nvSpPr>
            <p:spPr>
              <a:xfrm>
                <a:off x="1136880" y="2617920"/>
                <a:ext cx="412560" cy="41436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a:t>
                </a:r>
                <a:endParaRPr lang="en-US" sz="2000" b="0" u="none" strike="noStrike">
                  <a:solidFill>
                    <a:srgbClr val="000000"/>
                  </a:solidFill>
                  <a:effectLst/>
                  <a:uFillTx/>
                  <a:latin typeface="Times New Roman"/>
                </a:endParaRPr>
              </a:p>
            </p:txBody>
          </p:sp>
          <p:sp>
            <p:nvSpPr>
              <p:cNvPr id="195" name="Text Box 106"/>
              <p:cNvSpPr/>
              <p:nvPr/>
            </p:nvSpPr>
            <p:spPr>
              <a:xfrm>
                <a:off x="1555920" y="2446560"/>
                <a:ext cx="715680" cy="415800"/>
              </a:xfrm>
              <a:prstGeom prst="rect">
                <a:avLst/>
              </a:prstGeom>
              <a:noFill/>
              <a:ln w="9360">
                <a:solidFill>
                  <a:srgbClr val="000000"/>
                </a:solidFill>
                <a:miter/>
              </a:ln>
            </p:spPr>
            <p:style>
              <a:lnRef idx="0"/>
              <a:fillRef idx="0"/>
              <a:effectRef idx="0"/>
              <a:fontRef idx="minor"/>
            </p:style>
            <p:txBody>
              <a:bodyPr wrap="none"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96" name="Line 107"/>
              <p:cNvSpPr/>
              <p:nvPr/>
            </p:nvSpPr>
            <p:spPr>
              <a:xfrm>
                <a:off x="3732120" y="2643480"/>
                <a:ext cx="48744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97" name="Text Box 108"/>
              <p:cNvSpPr/>
              <p:nvPr/>
            </p:nvSpPr>
            <p:spPr>
              <a:xfrm>
                <a:off x="3014640" y="2430720"/>
                <a:ext cx="725400" cy="399960"/>
              </a:xfrm>
              <a:prstGeom prst="rect">
                <a:avLst/>
              </a:prstGeom>
              <a:noFill/>
              <a:ln w="9360">
                <a:solidFill>
                  <a:srgbClr val="000000"/>
                </a:solidFill>
                <a:miter/>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98" name="Text Box 109"/>
              <p:cNvSpPr/>
              <p:nvPr/>
            </p:nvSpPr>
            <p:spPr>
              <a:xfrm>
                <a:off x="1555920" y="1854360"/>
                <a:ext cx="731880" cy="450720"/>
              </a:xfrm>
              <a:prstGeom prst="rect">
                <a:avLst/>
              </a:prstGeom>
              <a:noFill/>
              <a:ln w="9360">
                <a:solidFill>
                  <a:srgbClr val="000000"/>
                </a:solidFill>
                <a:miter/>
              </a:ln>
            </p:spPr>
            <p:style>
              <a:lnRef idx="0"/>
              <a:fillRef idx="0"/>
              <a:effectRef idx="0"/>
              <a:fontRef idx="minor"/>
            </p:style>
            <p:txBody>
              <a:bodyPr wrap="none"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99" name="Line 110"/>
              <p:cNvSpPr/>
              <p:nvPr/>
            </p:nvSpPr>
            <p:spPr>
              <a:xfrm>
                <a:off x="2621160" y="2124360"/>
                <a:ext cx="0" cy="4363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00" name="AutoShape 111"/>
              <p:cNvSpPr/>
              <p:nvPr/>
            </p:nvSpPr>
            <p:spPr>
              <a:xfrm>
                <a:off x="2544840" y="2571840"/>
                <a:ext cx="142920" cy="138240"/>
              </a:xfrm>
              <a:prstGeom prst="flowChartSummingJunction">
                <a:avLst/>
              </a:prstGeom>
              <a:solidFill>
                <a:srgbClr val="FFFFFF"/>
              </a:solidFill>
              <a:ln w="9360">
                <a:solidFill>
                  <a:srgbClr val="0000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01" name="Line 112"/>
              <p:cNvSpPr/>
              <p:nvPr/>
            </p:nvSpPr>
            <p:spPr>
              <a:xfrm>
                <a:off x="2711520" y="2646360"/>
                <a:ext cx="272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02" name="Line 113"/>
              <p:cNvSpPr/>
              <p:nvPr/>
            </p:nvSpPr>
            <p:spPr>
              <a:xfrm>
                <a:off x="947880" y="2125800"/>
                <a:ext cx="1440" cy="5065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03" name="Line 114"/>
              <p:cNvSpPr/>
              <p:nvPr/>
            </p:nvSpPr>
            <p:spPr>
              <a:xfrm>
                <a:off x="2273400" y="2125800"/>
                <a:ext cx="3222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04" name="Line 115"/>
              <p:cNvSpPr/>
              <p:nvPr/>
            </p:nvSpPr>
            <p:spPr>
              <a:xfrm>
                <a:off x="955800" y="2116440"/>
                <a:ext cx="5922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205" name="Text Box 116"/>
            <p:cNvSpPr/>
            <p:nvPr/>
          </p:nvSpPr>
          <p:spPr>
            <a:xfrm>
              <a:off x="5751360" y="3365640"/>
              <a:ext cx="2033640" cy="33336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00000"/>
                  </a:solidFill>
                  <a:effectLst/>
                  <a:uFillTx/>
                  <a:latin typeface="Times New Roman"/>
                  <a:ea typeface="Times New Roman"/>
                </a:rPr>
                <a:t>（</a:t>
              </a:r>
              <a:r>
                <a:rPr lang="en-US" sz="1800" b="0" u="none" strike="noStrike">
                  <a:solidFill>
                    <a:srgbClr val="000000"/>
                  </a:solidFill>
                  <a:effectLst/>
                  <a:uFillTx/>
                  <a:latin typeface="Times New Roman"/>
                  <a:ea typeface="Times New Roman"/>
                </a:rPr>
                <a:t>b</a:t>
              </a:r>
              <a:r>
                <a:rPr lang="zh-CN" sz="1800" b="0" u="none" strike="noStrike">
                  <a:solidFill>
                    <a:srgbClr val="000000"/>
                  </a:solidFill>
                  <a:effectLst/>
                  <a:uFillTx/>
                  <a:latin typeface="Times New Roman"/>
                  <a:ea typeface="Times New Roman"/>
                </a:rPr>
                <a:t>）按扰动补偿</a:t>
              </a:r>
              <a:endParaRPr lang="en-US" sz="1800" b="0" u="none" strike="noStrike">
                <a:solidFill>
                  <a:srgbClr val="000000"/>
                </a:solidFill>
                <a:effectLst/>
                <a:uFillTx/>
                <a:latin typeface="Times New Roman"/>
              </a:endParaRPr>
            </a:p>
          </p:txBody>
        </p:sp>
        <p:grpSp>
          <p:nvGrpSpPr>
            <p:cNvPr id="206" name="Group 117"/>
            <p:cNvGrpSpPr/>
            <p:nvPr/>
          </p:nvGrpSpPr>
          <p:grpSpPr>
            <a:xfrm>
              <a:off x="4383000" y="1854360"/>
              <a:ext cx="4572000" cy="1363320"/>
              <a:chOff x="4383000" y="1854360"/>
              <a:chExt cx="4572000" cy="1363320"/>
            </a:xfrm>
          </p:grpSpPr>
          <mc:AlternateContent>
            <mc:Choice xmlns:a14="http://schemas.microsoft.com/office/drawing/2010/main" Requires="a14">
              <p:sp>
                <p:nvSpPr>
                  <p:cNvPr id="207" name="Object 118"/>
                  <p:cNvSpPr txBox="1"/>
                  <p:nvPr/>
                </p:nvSpPr>
                <p:spPr>
                  <a:xfrm>
                    <a:off x="5786280" y="2503440"/>
                    <a:ext cx="576360" cy="331920"/>
                  </a:xfrm>
                  <a:prstGeom prst="rect">
                    <a:avLst/>
                  </a:prstGeom>
                </p:spPr>
                <p:txBody>
                  <a:bodyPr/>
                  <a:p>
                    <a14:m>
                      <m:oMath xmlns:m="http://schemas.openxmlformats.org/officeDocument/2006/math">
                        <m:sSub>
                          <m:e>
                            <m:r>
                              <m:t xml:space="preserve">G</m:t>
                            </m:r>
                          </m:e>
                          <m:sub>
                            <m:r>
                              <m:t xml:space="preserve">1</m:t>
                            </m:r>
                          </m:sub>
                        </m:sSub>
                        <m:r>
                          <m:t xml:space="preserve">(</m:t>
                        </m:r>
                        <m:r>
                          <m:t xml:space="preserve">s</m:t>
                        </m:r>
                        <m:r>
                          <m:t xml:space="preserve">)</m:t>
                        </m:r>
                      </m:oMath>
                    </a14:m>
                  </a:p>
                </p:txBody>
              </p:sp>
            </mc:Choice>
            <mc:Fallback>
              <p:sp>
                <p:nvSpPr>
                  <p:cNvPr id="207" name="Object 118"/>
                  <p:cNvSpPr txBox="1"/>
                  <p:nvPr/>
                </p:nvSpPr>
                <p:spPr>
                  <a:xfrm>
                    <a:off x="5786280" y="2503440"/>
                    <a:ext cx="576360" cy="331920"/>
                  </a:xfrm>
                  <a:prstGeom prst="rect">
                    <a:avLst/>
                  </a:prstGeom>
                  <a:blipFill>
                    <a:blip r:embed="rId4"/>
                    <a:stretch>
                      <a:fillRect/>
                    </a:stretch>
                  </a:blipFill>
                </p:spPr>
              </p:sp>
            </mc:Fallback>
          </mc:AlternateContent>
          <mc:AlternateContent>
            <mc:Choice xmlns:a14="http://schemas.microsoft.com/office/drawing/2010/main" Requires="a14">
              <p:sp>
                <p:nvSpPr>
                  <p:cNvPr id="208" name="Object 119"/>
                  <p:cNvSpPr txBox="1"/>
                  <p:nvPr/>
                </p:nvSpPr>
                <p:spPr>
                  <a:xfrm>
                    <a:off x="7299360" y="2430360"/>
                    <a:ext cx="620640" cy="385920"/>
                  </a:xfrm>
                  <a:prstGeom prst="rect">
                    <a:avLst/>
                  </a:prstGeom>
                </p:spPr>
                <p:txBody>
                  <a:bodyPr/>
                  <a:p>
                    <a14:m>
                      <m:oMath xmlns:m="http://schemas.openxmlformats.org/officeDocument/2006/math">
                        <m:sSub>
                          <m:e>
                            <m:r>
                              <m:t xml:space="preserve">G</m:t>
                            </m:r>
                          </m:e>
                          <m:sub>
                            <m:r>
                              <m:t xml:space="preserve">2</m:t>
                            </m:r>
                          </m:sub>
                        </m:sSub>
                        <m:r>
                          <m:t xml:space="preserve">(</m:t>
                        </m:r>
                        <m:r>
                          <m:t xml:space="preserve">s</m:t>
                        </m:r>
                        <m:r>
                          <m:t xml:space="preserve">)</m:t>
                        </m:r>
                      </m:oMath>
                    </a14:m>
                  </a:p>
                </p:txBody>
              </p:sp>
            </mc:Choice>
            <mc:Fallback>
              <p:sp>
                <p:nvSpPr>
                  <p:cNvPr id="208" name="Object 119"/>
                  <p:cNvSpPr txBox="1"/>
                  <p:nvPr/>
                </p:nvSpPr>
                <p:spPr>
                  <a:xfrm>
                    <a:off x="7299360" y="2430360"/>
                    <a:ext cx="620640" cy="385920"/>
                  </a:xfrm>
                  <a:prstGeom prst="rect">
                    <a:avLst/>
                  </a:prstGeom>
                  <a:blipFill>
                    <a:blip r:embed="rId5"/>
                    <a:stretch>
                      <a:fillRect/>
                    </a:stretch>
                  </a:blipFill>
                </p:spPr>
              </p:sp>
            </mc:Fallback>
          </mc:AlternateContent>
          <mc:AlternateContent>
            <mc:Choice xmlns:a14="http://schemas.microsoft.com/office/drawing/2010/main" Requires="a14">
              <p:sp>
                <p:nvSpPr>
                  <p:cNvPr id="209" name="Object 120"/>
                  <p:cNvSpPr txBox="1"/>
                  <p:nvPr/>
                </p:nvSpPr>
                <p:spPr>
                  <a:xfrm>
                    <a:off x="5786280" y="1854360"/>
                    <a:ext cx="620640" cy="40320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oMath>
                    </a14:m>
                  </a:p>
                </p:txBody>
              </p:sp>
            </mc:Choice>
            <mc:Fallback>
              <p:sp>
                <p:nvSpPr>
                  <p:cNvPr id="209" name="Object 120"/>
                  <p:cNvSpPr txBox="1"/>
                  <p:nvPr/>
                </p:nvSpPr>
                <p:spPr>
                  <a:xfrm>
                    <a:off x="5786280" y="1854360"/>
                    <a:ext cx="620640" cy="403200"/>
                  </a:xfrm>
                  <a:prstGeom prst="rect">
                    <a:avLst/>
                  </a:prstGeom>
                  <a:blipFill>
                    <a:blip r:embed="rId6"/>
                    <a:stretch>
                      <a:fillRect/>
                    </a:stretch>
                  </a:blipFill>
                </p:spPr>
              </p:sp>
            </mc:Fallback>
          </mc:AlternateContent>
          <p:sp>
            <p:nvSpPr>
              <p:cNvPr id="210" name="Line 121"/>
              <p:cNvSpPr/>
              <p:nvPr/>
            </p:nvSpPr>
            <p:spPr>
              <a:xfrm>
                <a:off x="4761000" y="2611440"/>
                <a:ext cx="4554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1" name="AutoShape 122"/>
              <p:cNvSpPr/>
              <p:nvPr/>
            </p:nvSpPr>
            <p:spPr>
              <a:xfrm>
                <a:off x="5211720" y="2560680"/>
                <a:ext cx="156960" cy="135000"/>
              </a:xfrm>
              <a:prstGeom prst="flowChartSummingJunction">
                <a:avLst/>
              </a:prstGeom>
              <a:noFill/>
              <a:ln w="9360">
                <a:solidFill>
                  <a:srgbClr val="0000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12" name="Line 123"/>
              <p:cNvSpPr/>
              <p:nvPr/>
            </p:nvSpPr>
            <p:spPr>
              <a:xfrm>
                <a:off x="6489720" y="2631960"/>
                <a:ext cx="299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3" name="Line 124"/>
              <p:cNvSpPr/>
              <p:nvPr/>
            </p:nvSpPr>
            <p:spPr>
              <a:xfrm>
                <a:off x="5370480" y="2610000"/>
                <a:ext cx="32688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4" name="Line 125"/>
              <p:cNvSpPr/>
              <p:nvPr/>
            </p:nvSpPr>
            <p:spPr>
              <a:xfrm flipH="1" flipV="1">
                <a:off x="5276520" y="2711160"/>
                <a:ext cx="12600" cy="5065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5" name="Line 126"/>
              <p:cNvSpPr/>
              <p:nvPr/>
            </p:nvSpPr>
            <p:spPr>
              <a:xfrm>
                <a:off x="5263920" y="3210120"/>
                <a:ext cx="30528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6" name="Line 127"/>
              <p:cNvSpPr/>
              <p:nvPr/>
            </p:nvSpPr>
            <p:spPr>
              <a:xfrm flipH="1">
                <a:off x="8307000" y="2664000"/>
                <a:ext cx="11160" cy="54612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17" name="Text Box 128"/>
              <p:cNvSpPr/>
              <p:nvPr/>
            </p:nvSpPr>
            <p:spPr>
              <a:xfrm>
                <a:off x="8096040" y="2252520"/>
                <a:ext cx="858960" cy="40968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C (s)</a:t>
                </a:r>
                <a:endParaRPr lang="en-US" sz="2000" b="0" u="none" strike="noStrike">
                  <a:solidFill>
                    <a:srgbClr val="000000"/>
                  </a:solidFill>
                  <a:effectLst/>
                  <a:uFillTx/>
                  <a:latin typeface="Times New Roman"/>
                </a:endParaRPr>
              </a:p>
            </p:txBody>
          </p:sp>
          <p:sp>
            <p:nvSpPr>
              <p:cNvPr id="218" name="Text Box 129"/>
              <p:cNvSpPr/>
              <p:nvPr/>
            </p:nvSpPr>
            <p:spPr>
              <a:xfrm>
                <a:off x="5229000" y="2616120"/>
                <a:ext cx="454320" cy="40968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a:t>
                </a:r>
                <a:endParaRPr lang="en-US" sz="2000" b="0" u="none" strike="noStrike">
                  <a:solidFill>
                    <a:srgbClr val="000000"/>
                  </a:solidFill>
                  <a:effectLst/>
                  <a:uFillTx/>
                  <a:latin typeface="Times New Roman"/>
                </a:endParaRPr>
              </a:p>
            </p:txBody>
          </p:sp>
          <p:sp>
            <p:nvSpPr>
              <p:cNvPr id="219" name="Text Box 130"/>
              <p:cNvSpPr/>
              <p:nvPr/>
            </p:nvSpPr>
            <p:spPr>
              <a:xfrm>
                <a:off x="5715000" y="2430360"/>
                <a:ext cx="785880" cy="443160"/>
              </a:xfrm>
              <a:prstGeom prst="rect">
                <a:avLst/>
              </a:prstGeom>
              <a:noFill/>
              <a:ln w="9360">
                <a:solidFill>
                  <a:srgbClr val="000000"/>
                </a:solidFill>
                <a:miter/>
              </a:ln>
            </p:spPr>
            <p:style>
              <a:lnRef idx="0"/>
              <a:fillRef idx="0"/>
              <a:effectRef idx="0"/>
              <a:fontRef idx="minor"/>
            </p:style>
            <p:txBody>
              <a:bodyPr wrap="none"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20" name="Line 131"/>
              <p:cNvSpPr/>
              <p:nvPr/>
            </p:nvSpPr>
            <p:spPr>
              <a:xfrm>
                <a:off x="8080200" y="2641680"/>
                <a:ext cx="5367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1" name="Text Box 132"/>
              <p:cNvSpPr/>
              <p:nvPr/>
            </p:nvSpPr>
            <p:spPr>
              <a:xfrm>
                <a:off x="7299360" y="2430360"/>
                <a:ext cx="796680" cy="400320"/>
              </a:xfrm>
              <a:prstGeom prst="rect">
                <a:avLst/>
              </a:prstGeom>
              <a:noFill/>
              <a:ln w="9360">
                <a:solidFill>
                  <a:srgbClr val="000000"/>
                </a:solidFill>
                <a:miter/>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22" name="Text Box 133"/>
              <p:cNvSpPr/>
              <p:nvPr/>
            </p:nvSpPr>
            <p:spPr>
              <a:xfrm>
                <a:off x="5689440" y="1860480"/>
                <a:ext cx="803520" cy="446040"/>
              </a:xfrm>
              <a:prstGeom prst="rect">
                <a:avLst/>
              </a:prstGeom>
              <a:noFill/>
              <a:ln w="9360">
                <a:solidFill>
                  <a:srgbClr val="000000"/>
                </a:solidFill>
                <a:miter/>
              </a:ln>
            </p:spPr>
            <p:style>
              <a:lnRef idx="0"/>
              <a:fillRef idx="0"/>
              <a:effectRef idx="0"/>
              <a:fontRef idx="minor"/>
            </p:style>
            <p:txBody>
              <a:bodyPr wrap="none"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23" name="Line 134"/>
              <p:cNvSpPr/>
              <p:nvPr/>
            </p:nvSpPr>
            <p:spPr>
              <a:xfrm>
                <a:off x="6859440" y="1854360"/>
                <a:ext cx="0" cy="704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4" name="AutoShape 135"/>
              <p:cNvSpPr/>
              <p:nvPr/>
            </p:nvSpPr>
            <p:spPr>
              <a:xfrm>
                <a:off x="6777000" y="2570040"/>
                <a:ext cx="155520" cy="136800"/>
              </a:xfrm>
              <a:prstGeom prst="flowChartSummingJunction">
                <a:avLst/>
              </a:prstGeom>
              <a:noFill/>
              <a:ln w="9360">
                <a:solidFill>
                  <a:srgbClr val="000000"/>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25" name="Line 136"/>
              <p:cNvSpPr/>
              <p:nvPr/>
            </p:nvSpPr>
            <p:spPr>
              <a:xfrm>
                <a:off x="6958080" y="2643120"/>
                <a:ext cx="3013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6" name="Line 137"/>
              <p:cNvSpPr/>
              <p:nvPr/>
            </p:nvSpPr>
            <p:spPr>
              <a:xfrm>
                <a:off x="5270400" y="2139840"/>
                <a:ext cx="4050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7" name="Line 138"/>
              <p:cNvSpPr/>
              <p:nvPr/>
            </p:nvSpPr>
            <p:spPr>
              <a:xfrm>
                <a:off x="6476760" y="2129040"/>
                <a:ext cx="35568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8" name="Line 139"/>
              <p:cNvSpPr/>
              <p:nvPr/>
            </p:nvSpPr>
            <p:spPr>
              <a:xfrm>
                <a:off x="5276880" y="2143080"/>
                <a:ext cx="0" cy="4096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29" name="Text Box 140"/>
              <p:cNvSpPr/>
              <p:nvPr/>
            </p:nvSpPr>
            <p:spPr>
              <a:xfrm>
                <a:off x="6804000" y="1913040"/>
                <a:ext cx="623880" cy="40968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N(s)</a:t>
                </a:r>
                <a:endParaRPr lang="en-US" sz="2000" b="0" u="none" strike="noStrike">
                  <a:solidFill>
                    <a:srgbClr val="000000"/>
                  </a:solidFill>
                  <a:effectLst/>
                  <a:uFillTx/>
                  <a:latin typeface="Times New Roman"/>
                </a:endParaRPr>
              </a:p>
            </p:txBody>
          </p:sp>
          <p:sp>
            <p:nvSpPr>
              <p:cNvPr id="230" name="Text Box 141"/>
              <p:cNvSpPr/>
              <p:nvPr/>
            </p:nvSpPr>
            <p:spPr>
              <a:xfrm>
                <a:off x="4383000" y="2214720"/>
                <a:ext cx="858960" cy="40932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ea typeface="Times New Roman"/>
                  </a:rPr>
                  <a:t>R (s)</a:t>
                </a:r>
                <a:endParaRPr lang="en-US" sz="2000" b="0" u="none" strike="noStrike">
                  <a:solidFill>
                    <a:srgbClr val="000000"/>
                  </a:solidFill>
                  <a:effectLst/>
                  <a:uFillTx/>
                  <a:latin typeface="Times New Roman"/>
                </a:endParaRPr>
              </a:p>
            </p:txBody>
          </p:sp>
        </p:grpSp>
      </p:grpSp>
    </p:spTree>
  </p:cSld>
  <p:transition>
    <p:random/>
  </p:transition>
  <p:timing>
    <p:tnLst>
      <p:par>
        <p:cTn id="228" dur="indefinite" restart="never" nodeType="tmRoot">
          <p:childTnLst>
            <p:seq>
              <p:cTn id="229" dur="indefinite" nodeType="mainSeq">
                <p:childTnLst>
                  <p:par>
                    <p:cTn id="230" fill="hold" nodeType="clickEffect">
                      <p:stCondLst>
                        <p:cond delay="indefinite"/>
                      </p:stCondLst>
                      <p:childTnLst>
                        <p:par>
                          <p:cTn id="231" fill="hold" nodeType="withEffect">
                            <p:stCondLst>
                              <p:cond delay="0"/>
                            </p:stCondLst>
                            <p:childTnLst>
                              <p:par>
                                <p:cTn id="232" presetID="3" presetClass="entr" fill="hold" nodeType="clickEffect" presetSubtype="10">
                                  <p:stCondLst>
                                    <p:cond delay="0"/>
                                  </p:stCondLst>
                                  <p:childTnLst>
                                    <p:set>
                                      <p:cBhvr>
                                        <p:cTn id="233" dur="1" fill="hold">
                                          <p:stCondLst>
                                            <p:cond delay="0"/>
                                          </p:stCondLst>
                                        </p:cTn>
                                        <p:tgtEl>
                                          <p:spTgt spid="176"/>
                                        </p:tgtEl>
                                        <p:attrNameLst>
                                          <p:attrName>style.visibility</p:attrName>
                                        </p:attrNameLst>
                                      </p:cBhvr>
                                      <p:to>
                                        <p:strVal val="visible"/>
                                      </p:to>
                                    </p:set>
                                    <p:animEffect transition="in" filter="blinds(horizontal)">
                                      <p:cBhvr additive="repl">
                                        <p:cTn id="234" dur="500"/>
                                        <p:tgtEl>
                                          <p:spTgt spid="176"/>
                                        </p:tgtEl>
                                      </p:cBhvr>
                                    </p:animEffect>
                                  </p:childTnLst>
                                </p:cTn>
                              </p:par>
                            </p:childTnLst>
                          </p:cTn>
                        </p:par>
                      </p:childTnLst>
                    </p:cTn>
                  </p:par>
                  <p:par>
                    <p:cTn id="235" fill="hold" nodeType="clickEffect">
                      <p:stCondLst>
                        <p:cond delay="indefinite"/>
                      </p:stCondLst>
                      <p:childTnLst>
                        <p:par>
                          <p:cTn id="236" fill="hold" nodeType="withEffect">
                            <p:stCondLst>
                              <p:cond delay="0"/>
                            </p:stCondLst>
                            <p:childTnLst>
                              <p:par>
                                <p:cTn id="237" presetID="3" presetClass="entr" fill="hold" nodeType="clickEffect" presetSubtype="10">
                                  <p:stCondLst>
                                    <p:cond delay="0"/>
                                  </p:stCondLst>
                                  <p:childTnLst>
                                    <p:set>
                                      <p:cBhvr>
                                        <p:cTn id="238" dur="1" fill="hold">
                                          <p:stCondLst>
                                            <p:cond delay="0"/>
                                          </p:stCondLst>
                                        </p:cTn>
                                        <p:tgtEl>
                                          <p:spTgt spid="178"/>
                                        </p:tgtEl>
                                        <p:attrNameLst>
                                          <p:attrName>style.visibility</p:attrName>
                                        </p:attrNameLst>
                                      </p:cBhvr>
                                      <p:to>
                                        <p:strVal val="visible"/>
                                      </p:to>
                                    </p:set>
                                    <p:animEffect transition="in" filter="blinds(horizontal)">
                                      <p:cBhvr additive="repl">
                                        <p:cTn id="239" dur="500"/>
                                        <p:tgtEl>
                                          <p:spTgt spid="178"/>
                                        </p:tgtEl>
                                      </p:cBhvr>
                                    </p:animEffect>
                                  </p:childTnLst>
                                </p:cTn>
                              </p:par>
                            </p:childTnLst>
                          </p:cTn>
                        </p:par>
                      </p:childTnLst>
                    </p:cTn>
                  </p:par>
                  <p:par>
                    <p:cTn id="240" fill="hold" nodeType="clickEffect">
                      <p:stCondLst>
                        <p:cond delay="indefinite"/>
                      </p:stCondLst>
                      <p:childTnLst>
                        <p:par>
                          <p:cTn id="241" fill="hold" nodeType="withEffect">
                            <p:stCondLst>
                              <p:cond delay="0"/>
                            </p:stCondLst>
                            <p:childTnLst>
                              <p:par>
                                <p:cTn id="242" presetID="3" presetClass="entr" fill="hold" nodeType="clickEffect" presetSubtype="10">
                                  <p:stCondLst>
                                    <p:cond delay="0"/>
                                  </p:stCondLst>
                                  <p:childTnLst>
                                    <p:set>
                                      <p:cBhvr>
                                        <p:cTn id="243" dur="1" fill="hold">
                                          <p:stCondLst>
                                            <p:cond delay="0"/>
                                          </p:stCondLst>
                                        </p:cTn>
                                        <p:tgtEl>
                                          <p:spTgt spid="177"/>
                                        </p:tgtEl>
                                        <p:attrNameLst>
                                          <p:attrName>style.visibility</p:attrName>
                                        </p:attrNameLst>
                                      </p:cBhvr>
                                      <p:to>
                                        <p:strVal val="visible"/>
                                      </p:to>
                                    </p:set>
                                    <p:animEffect transition="in" filter="blinds(horizontal)">
                                      <p:cBhvr additive="repl">
                                        <p:cTn id="244" dur="5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Rectangle 2"/>
          <p:cNvSpPr/>
          <p:nvPr/>
        </p:nvSpPr>
        <p:spPr>
          <a:xfrm>
            <a:off x="506520" y="549360"/>
            <a:ext cx="5554440" cy="720720"/>
          </a:xfrm>
          <a:prstGeom prst="rect">
            <a:avLst/>
          </a:prstGeom>
          <a:noFill/>
          <a:ln w="0">
            <a:noFill/>
          </a:ln>
        </p:spPr>
        <p:style>
          <a:lnRef idx="0"/>
          <a:fillRef idx="0"/>
          <a:effectRef idx="0"/>
          <a:fontRef idx="minor"/>
        </p:style>
        <p:txBody>
          <a:bodyPr lIns="90000" tIns="46800" rIns="90000" bIns="46800" anchor="t">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FF0000"/>
                </a:solidFill>
                <a:effectLst/>
                <a:uFillTx/>
                <a:latin typeface="Candara"/>
                <a:ea typeface="华文新魏"/>
              </a:rPr>
              <a:t>6-2</a:t>
            </a:r>
            <a:r>
              <a:rPr lang="zh-CN" sz="3200" b="1" u="none" strike="noStrike">
                <a:solidFill>
                  <a:srgbClr val="FF0000"/>
                </a:solidFill>
                <a:effectLst/>
                <a:uFillTx/>
                <a:latin typeface="Candara"/>
                <a:ea typeface="华文新魏"/>
              </a:rPr>
              <a:t>常用的校正装置及其特性</a:t>
            </a:r>
            <a:endParaRPr lang="en-US" sz="3200" b="0" u="none" strike="noStrike">
              <a:solidFill>
                <a:srgbClr val="000000"/>
              </a:solidFill>
              <a:effectLst/>
              <a:uFillTx/>
              <a:latin typeface="Times New Roman"/>
            </a:endParaRPr>
          </a:p>
        </p:txBody>
      </p:sp>
      <p:sp>
        <p:nvSpPr>
          <p:cNvPr id="232" name="Line 4"/>
          <p:cNvSpPr/>
          <p:nvPr/>
        </p:nvSpPr>
        <p:spPr>
          <a:xfrm>
            <a:off x="385920" y="1314360"/>
            <a:ext cx="8064360" cy="0"/>
          </a:xfrm>
          <a:prstGeom prst="line">
            <a:avLst/>
          </a:prstGeom>
          <a:ln w="57240">
            <a:solidFill>
              <a:srgbClr val="31B6FD"/>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233" name="Rectangle 5"/>
          <p:cNvSpPr/>
          <p:nvPr/>
        </p:nvSpPr>
        <p:spPr>
          <a:xfrm>
            <a:off x="826920" y="2997360"/>
            <a:ext cx="136872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校正装置</a:t>
            </a:r>
            <a:endParaRPr lang="en-US" sz="2000" b="0" u="none" strike="noStrike">
              <a:solidFill>
                <a:srgbClr val="000000"/>
              </a:solidFill>
              <a:effectLst/>
              <a:uFillTx/>
              <a:latin typeface="Times New Roman"/>
            </a:endParaRPr>
          </a:p>
        </p:txBody>
      </p:sp>
      <p:sp>
        <p:nvSpPr>
          <p:cNvPr id="234" name="Rectangle 6"/>
          <p:cNvSpPr/>
          <p:nvPr/>
        </p:nvSpPr>
        <p:spPr>
          <a:xfrm>
            <a:off x="2554200" y="4076640"/>
            <a:ext cx="136836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有源装置：</a:t>
            </a:r>
            <a:endParaRPr lang="en-US" sz="2000" b="0" u="none" strike="noStrike">
              <a:solidFill>
                <a:srgbClr val="000000"/>
              </a:solidFill>
              <a:effectLst/>
              <a:uFillTx/>
              <a:latin typeface="Times New Roman"/>
            </a:endParaRPr>
          </a:p>
        </p:txBody>
      </p:sp>
      <p:sp>
        <p:nvSpPr>
          <p:cNvPr id="235" name="Rectangle 7"/>
          <p:cNvSpPr/>
          <p:nvPr/>
        </p:nvSpPr>
        <p:spPr>
          <a:xfrm>
            <a:off x="2482920" y="1916280"/>
            <a:ext cx="136836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无源装置：</a:t>
            </a:r>
            <a:endParaRPr lang="en-US" sz="2000" b="0" u="none" strike="noStrike">
              <a:solidFill>
                <a:srgbClr val="000000"/>
              </a:solidFill>
              <a:effectLst/>
              <a:uFillTx/>
              <a:latin typeface="Times New Roman"/>
            </a:endParaRPr>
          </a:p>
        </p:txBody>
      </p:sp>
      <p:sp>
        <p:nvSpPr>
          <p:cNvPr id="236" name="AutoShape 8"/>
          <p:cNvSpPr/>
          <p:nvPr/>
        </p:nvSpPr>
        <p:spPr>
          <a:xfrm>
            <a:off x="2195640" y="2133720"/>
            <a:ext cx="360360" cy="2230200"/>
          </a:xfrm>
          <a:custGeom>
            <a:avLst/>
            <a:gdLst>
              <a:gd name="textAreaLeft" fmla="*/ 230400 w 360360"/>
              <a:gd name="textAreaRight" fmla="*/ 360720 w 360360"/>
              <a:gd name="textAreaTop" fmla="*/ 57960 h 2230200"/>
              <a:gd name="textAreaBottom" fmla="*/ 2172240 h 223020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900"/>
                  <a:pt x="10800" y="1800"/>
                </a:cubicBezTo>
                <a:lnTo>
                  <a:pt x="10800" y="9000"/>
                </a:lnTo>
                <a:cubicBezTo>
                  <a:pt x="10800" y="9900"/>
                  <a:pt x="5400" y="10800"/>
                  <a:pt x="0" y="10800"/>
                </a:cubicBezTo>
                <a:cubicBezTo>
                  <a:pt x="5400" y="10800"/>
                  <a:pt x="10800" y="11700"/>
                  <a:pt x="10800" y="12600"/>
                </a:cubicBezTo>
                <a:lnTo>
                  <a:pt x="10800" y="19800"/>
                </a:lnTo>
                <a:cubicBezTo>
                  <a:pt x="10800" y="20700"/>
                  <a:pt x="16200" y="21600"/>
                  <a:pt x="21600" y="21600"/>
                </a:cubicBezTo>
              </a:path>
            </a:pathLst>
          </a:custGeom>
          <a:noFill/>
          <a:ln w="25560">
            <a:solidFill>
              <a:srgbClr val="8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37" name="Rectangle 9"/>
          <p:cNvSpPr/>
          <p:nvPr/>
        </p:nvSpPr>
        <p:spPr>
          <a:xfrm>
            <a:off x="3635280" y="1916280"/>
            <a:ext cx="4751640" cy="161856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常由</a:t>
            </a:r>
            <a:r>
              <a:rPr lang="en-US" sz="2000" b="1" u="none" strike="noStrike">
                <a:solidFill>
                  <a:srgbClr val="000000"/>
                </a:solidFill>
                <a:effectLst/>
                <a:uFillTx/>
                <a:latin typeface="Times New Roman"/>
              </a:rPr>
              <a:t>RC</a:t>
            </a:r>
            <a:r>
              <a:rPr lang="zh-CN" sz="2000" b="1" u="none" strike="noStrike">
                <a:solidFill>
                  <a:srgbClr val="000000"/>
                </a:solidFill>
                <a:effectLst/>
                <a:uFillTx/>
                <a:latin typeface="Times New Roman"/>
              </a:rPr>
              <a:t>无源网络构成，结构简单，成本低廉，但会使信号在变换过程中产生幅值衰减，且其输入阻抗较低，输出阻抗又较高。常常需要附加放大器，以补偿其幅值衰减，并进行阻抗匹配。</a:t>
            </a:r>
            <a:r>
              <a:rPr lang="zh-CN" sz="2000" b="0" u="none" strike="noStrike">
                <a:solidFill>
                  <a:srgbClr val="000000"/>
                </a:solidFill>
                <a:effectLst/>
                <a:uFillTx/>
                <a:latin typeface="Times New Roman"/>
              </a:rPr>
              <a:t> </a:t>
            </a:r>
            <a:endParaRPr lang="en-US" sz="2000" b="0" u="none" strike="noStrike">
              <a:solidFill>
                <a:srgbClr val="000000"/>
              </a:solidFill>
              <a:effectLst/>
              <a:uFillTx/>
              <a:latin typeface="Times New Roman"/>
            </a:endParaRPr>
          </a:p>
        </p:txBody>
      </p:sp>
      <p:sp>
        <p:nvSpPr>
          <p:cNvPr id="238" name="Rectangle 10"/>
          <p:cNvSpPr/>
          <p:nvPr/>
        </p:nvSpPr>
        <p:spPr>
          <a:xfrm>
            <a:off x="3851280" y="4076640"/>
            <a:ext cx="453708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常由运算放大器和</a:t>
            </a:r>
            <a:r>
              <a:rPr lang="en-US" sz="2000" b="1" u="none" strike="noStrike">
                <a:solidFill>
                  <a:srgbClr val="000000"/>
                </a:solidFill>
                <a:effectLst/>
                <a:uFillTx/>
                <a:latin typeface="Times New Roman"/>
              </a:rPr>
              <a:t>RC</a:t>
            </a:r>
            <a:r>
              <a:rPr lang="zh-CN" sz="2000" b="1" u="none" strike="noStrike">
                <a:solidFill>
                  <a:srgbClr val="000000"/>
                </a:solidFill>
                <a:effectLst/>
                <a:uFillTx/>
                <a:latin typeface="Times New Roman"/>
              </a:rPr>
              <a:t>网络组成，其参数可以根据需要调整，在工业自动化设备中，经常采用由电动（或气动）单元构成的</a:t>
            </a:r>
            <a:r>
              <a:rPr lang="en-US" sz="2000" b="1" u="none" strike="noStrike">
                <a:solidFill>
                  <a:srgbClr val="000000"/>
                </a:solidFill>
                <a:effectLst/>
                <a:uFillTx/>
                <a:latin typeface="Times New Roman"/>
              </a:rPr>
              <a:t>PID</a:t>
            </a:r>
            <a:r>
              <a:rPr lang="zh-CN" sz="2000" b="1" u="none" strike="noStrike">
                <a:solidFill>
                  <a:srgbClr val="000000"/>
                </a:solidFill>
                <a:effectLst/>
                <a:uFillTx/>
                <a:latin typeface="Times New Roman"/>
              </a:rPr>
              <a:t>控制器。</a:t>
            </a:r>
            <a:endParaRPr lang="en-US" sz="2000" b="0" u="none" strike="noStrike">
              <a:solidFill>
                <a:srgbClr val="000000"/>
              </a:solidFill>
              <a:effectLst/>
              <a:uFillTx/>
              <a:latin typeface="Times New Roman"/>
            </a:endParaRPr>
          </a:p>
        </p:txBody>
      </p:sp>
    </p:spTree>
  </p:cSld>
  <p:transition>
    <p:random/>
  </p:transition>
  <p:timing>
    <p:tnLst>
      <p:par>
        <p:cTn id="245" dur="indefinite" restart="never" nodeType="tmRoot">
          <p:childTnLst>
            <p:seq>
              <p:cTn id="246" dur="indefinite" nodeType="mainSeq">
                <p:childTnLst>
                  <p:par>
                    <p:cTn id="247" fill="hold" nodeType="clickEffect">
                      <p:stCondLst>
                        <p:cond delay="indefinite"/>
                      </p:stCondLst>
                      <p:childTnLst>
                        <p:par>
                          <p:cTn id="248" fill="hold" nodeType="withEffect">
                            <p:stCondLst>
                              <p:cond delay="0"/>
                            </p:stCondLst>
                            <p:childTnLst>
                              <p:par>
                                <p:cTn id="249" presetID="3" presetClass="entr" fill="hold" nodeType="clickEffect" presetSubtype="10">
                                  <p:stCondLst>
                                    <p:cond delay="0"/>
                                  </p:stCondLst>
                                  <p:childTnLst>
                                    <p:set>
                                      <p:cBhvr>
                                        <p:cTn id="250" dur="1" fill="hold">
                                          <p:stCondLst>
                                            <p:cond delay="0"/>
                                          </p:stCondLst>
                                        </p:cTn>
                                        <p:tgtEl>
                                          <p:spTgt spid="231"/>
                                        </p:tgtEl>
                                        <p:attrNameLst>
                                          <p:attrName>style.visibility</p:attrName>
                                        </p:attrNameLst>
                                      </p:cBhvr>
                                      <p:to>
                                        <p:strVal val="visible"/>
                                      </p:to>
                                    </p:set>
                                    <p:animEffect transition="in" filter="blinds(horizontal)">
                                      <p:cBhvr additive="repl">
                                        <p:cTn id="251" dur="500"/>
                                        <p:tgtEl>
                                          <p:spTgt spid="231"/>
                                        </p:tgtEl>
                                      </p:cBhvr>
                                    </p:animEffect>
                                  </p:childTnLst>
                                </p:cTn>
                              </p:par>
                            </p:childTnLst>
                          </p:cTn>
                        </p:par>
                      </p:childTnLst>
                    </p:cTn>
                  </p:par>
                  <p:par>
                    <p:cTn id="252" fill="hold" nodeType="clickEffect">
                      <p:stCondLst>
                        <p:cond delay="indefinite"/>
                      </p:stCondLst>
                      <p:childTnLst>
                        <p:par>
                          <p:cTn id="253" fill="hold" nodeType="withEffect">
                            <p:stCondLst>
                              <p:cond delay="0"/>
                            </p:stCondLst>
                            <p:childTnLst>
                              <p:par>
                                <p:cTn id="254" presetID="3" presetClass="entr" fill="hold" nodeType="clickEffect" presetSubtype="10">
                                  <p:stCondLst>
                                    <p:cond delay="0"/>
                                  </p:stCondLst>
                                  <p:childTnLst>
                                    <p:set>
                                      <p:cBhvr>
                                        <p:cTn id="255" dur="1" fill="hold">
                                          <p:stCondLst>
                                            <p:cond delay="0"/>
                                          </p:stCondLst>
                                        </p:cTn>
                                        <p:tgtEl>
                                          <p:spTgt spid="233"/>
                                        </p:tgtEl>
                                        <p:attrNameLst>
                                          <p:attrName>style.visibility</p:attrName>
                                        </p:attrNameLst>
                                      </p:cBhvr>
                                      <p:to>
                                        <p:strVal val="visible"/>
                                      </p:to>
                                    </p:set>
                                    <p:animEffect transition="in" filter="blinds(horizontal)">
                                      <p:cBhvr additive="repl">
                                        <p:cTn id="256" dur="500"/>
                                        <p:tgtEl>
                                          <p:spTgt spid="233"/>
                                        </p:tgtEl>
                                      </p:cBhvr>
                                    </p:animEffect>
                                  </p:childTnLst>
                                </p:cTn>
                              </p:par>
                            </p:childTnLst>
                          </p:cTn>
                        </p:par>
                      </p:childTnLst>
                    </p:cTn>
                  </p:par>
                  <p:par>
                    <p:cTn id="257" fill="hold" nodeType="clickEffect">
                      <p:stCondLst>
                        <p:cond delay="indefinite"/>
                      </p:stCondLst>
                      <p:childTnLst>
                        <p:par>
                          <p:cTn id="258" fill="hold" nodeType="withEffect">
                            <p:stCondLst>
                              <p:cond delay="0"/>
                            </p:stCondLst>
                            <p:childTnLst>
                              <p:par>
                                <p:cTn id="259" presetID="3" presetClass="entr" fill="hold" nodeType="clickEffect" presetSubtype="10">
                                  <p:stCondLst>
                                    <p:cond delay="0"/>
                                  </p:stCondLst>
                                  <p:childTnLst>
                                    <p:set>
                                      <p:cBhvr>
                                        <p:cTn id="260" dur="1" fill="hold">
                                          <p:stCondLst>
                                            <p:cond delay="0"/>
                                          </p:stCondLst>
                                        </p:cTn>
                                        <p:tgtEl>
                                          <p:spTgt spid="234"/>
                                        </p:tgtEl>
                                        <p:attrNameLst>
                                          <p:attrName>style.visibility</p:attrName>
                                        </p:attrNameLst>
                                      </p:cBhvr>
                                      <p:to>
                                        <p:strVal val="visible"/>
                                      </p:to>
                                    </p:set>
                                    <p:animEffect transition="in" filter="blinds(horizontal)">
                                      <p:cBhvr additive="repl">
                                        <p:cTn id="261" dur="500"/>
                                        <p:tgtEl>
                                          <p:spTgt spid="234"/>
                                        </p:tgtEl>
                                      </p:cBhvr>
                                    </p:animEffect>
                                  </p:childTnLst>
                                </p:cTn>
                              </p:par>
                              <p:par>
                                <p:cTn id="262" presetID="3" presetClass="entr" fill="hold" nodeType="withEffect" presetSubtype="10">
                                  <p:stCondLst>
                                    <p:cond delay="0"/>
                                  </p:stCondLst>
                                  <p:childTnLst>
                                    <p:set>
                                      <p:cBhvr>
                                        <p:cTn id="263" dur="1" fill="hold">
                                          <p:stCondLst>
                                            <p:cond delay="0"/>
                                          </p:stCondLst>
                                        </p:cTn>
                                        <p:tgtEl>
                                          <p:spTgt spid="235"/>
                                        </p:tgtEl>
                                        <p:attrNameLst>
                                          <p:attrName>style.visibility</p:attrName>
                                        </p:attrNameLst>
                                      </p:cBhvr>
                                      <p:to>
                                        <p:strVal val="visible"/>
                                      </p:to>
                                    </p:set>
                                    <p:animEffect transition="in" filter="blinds(horizontal)">
                                      <p:cBhvr additive="repl">
                                        <p:cTn id="264" dur="500"/>
                                        <p:tgtEl>
                                          <p:spTgt spid="235"/>
                                        </p:tgtEl>
                                      </p:cBhvr>
                                    </p:animEffect>
                                  </p:childTnLst>
                                </p:cTn>
                              </p:par>
                              <p:par>
                                <p:cTn id="265" presetID="3" presetClass="entr" fill="hold" nodeType="withEffect" presetSubtype="10">
                                  <p:stCondLst>
                                    <p:cond delay="0"/>
                                  </p:stCondLst>
                                  <p:childTnLst>
                                    <p:set>
                                      <p:cBhvr>
                                        <p:cTn id="266" dur="1" fill="hold">
                                          <p:stCondLst>
                                            <p:cond delay="0"/>
                                          </p:stCondLst>
                                        </p:cTn>
                                        <p:tgtEl>
                                          <p:spTgt spid="236"/>
                                        </p:tgtEl>
                                        <p:attrNameLst>
                                          <p:attrName>style.visibility</p:attrName>
                                        </p:attrNameLst>
                                      </p:cBhvr>
                                      <p:to>
                                        <p:strVal val="visible"/>
                                      </p:to>
                                    </p:set>
                                    <p:animEffect transition="in" filter="blinds(horizontal)">
                                      <p:cBhvr additive="repl">
                                        <p:cTn id="267" dur="500"/>
                                        <p:tgtEl>
                                          <p:spTgt spid="236"/>
                                        </p:tgtEl>
                                      </p:cBhvr>
                                    </p:animEffect>
                                  </p:childTnLst>
                                </p:cTn>
                              </p:par>
                            </p:childTnLst>
                          </p:cTn>
                        </p:par>
                      </p:childTnLst>
                    </p:cTn>
                  </p:par>
                  <p:par>
                    <p:cTn id="268" fill="hold" nodeType="clickEffect">
                      <p:stCondLst>
                        <p:cond delay="indefinite"/>
                      </p:stCondLst>
                      <p:childTnLst>
                        <p:par>
                          <p:cTn id="269" fill="hold" nodeType="withEffect">
                            <p:stCondLst>
                              <p:cond delay="0"/>
                            </p:stCondLst>
                            <p:childTnLst>
                              <p:par>
                                <p:cTn id="270" presetID="3" presetClass="entr" fill="hold" nodeType="clickEffect" presetSubtype="10">
                                  <p:stCondLst>
                                    <p:cond delay="0"/>
                                  </p:stCondLst>
                                  <p:childTnLst>
                                    <p:set>
                                      <p:cBhvr>
                                        <p:cTn id="271" dur="1" fill="hold">
                                          <p:stCondLst>
                                            <p:cond delay="0"/>
                                          </p:stCondLst>
                                        </p:cTn>
                                        <p:tgtEl>
                                          <p:spTgt spid="237"/>
                                        </p:tgtEl>
                                        <p:attrNameLst>
                                          <p:attrName>style.visibility</p:attrName>
                                        </p:attrNameLst>
                                      </p:cBhvr>
                                      <p:to>
                                        <p:strVal val="visible"/>
                                      </p:to>
                                    </p:set>
                                    <p:animEffect transition="in" filter="blinds(horizontal)">
                                      <p:cBhvr additive="repl">
                                        <p:cTn id="272" dur="500"/>
                                        <p:tgtEl>
                                          <p:spTgt spid="237"/>
                                        </p:tgtEl>
                                      </p:cBhvr>
                                    </p:animEffect>
                                  </p:childTnLst>
                                </p:cTn>
                              </p:par>
                            </p:childTnLst>
                          </p:cTn>
                        </p:par>
                      </p:childTnLst>
                    </p:cTn>
                  </p:par>
                  <p:par>
                    <p:cTn id="273" fill="hold" nodeType="clickEffect">
                      <p:stCondLst>
                        <p:cond delay="indefinite"/>
                      </p:stCondLst>
                      <p:childTnLst>
                        <p:par>
                          <p:cTn id="274" fill="hold" nodeType="withEffect">
                            <p:stCondLst>
                              <p:cond delay="0"/>
                            </p:stCondLst>
                            <p:childTnLst>
                              <p:par>
                                <p:cTn id="275" presetID="3" presetClass="entr" fill="hold" nodeType="clickEffect" presetSubtype="10">
                                  <p:stCondLst>
                                    <p:cond delay="0"/>
                                  </p:stCondLst>
                                  <p:childTnLst>
                                    <p:set>
                                      <p:cBhvr>
                                        <p:cTn id="276" dur="1" fill="hold">
                                          <p:stCondLst>
                                            <p:cond delay="0"/>
                                          </p:stCondLst>
                                        </p:cTn>
                                        <p:tgtEl>
                                          <p:spTgt spid="238"/>
                                        </p:tgtEl>
                                        <p:attrNameLst>
                                          <p:attrName>style.visibility</p:attrName>
                                        </p:attrNameLst>
                                      </p:cBhvr>
                                      <p:to>
                                        <p:strVal val="visible"/>
                                      </p:to>
                                    </p:set>
                                    <p:animEffect transition="in" filter="blinds(horizontal)">
                                      <p:cBhvr additive="repl">
                                        <p:cTn id="277"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Rectangle 16"/>
          <p:cNvSpPr/>
          <p:nvPr/>
        </p:nvSpPr>
        <p:spPr>
          <a:xfrm>
            <a:off x="1116000" y="476280"/>
            <a:ext cx="280836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一、无源校正网络</a:t>
            </a:r>
            <a:endParaRPr lang="en-US" sz="2000" b="0" u="none" strike="noStrike">
              <a:solidFill>
                <a:srgbClr val="000000"/>
              </a:solidFill>
              <a:effectLst/>
              <a:uFillTx/>
              <a:latin typeface="Times New Roman"/>
            </a:endParaRPr>
          </a:p>
        </p:txBody>
      </p:sp>
      <p:sp>
        <p:nvSpPr>
          <p:cNvPr id="240" name="Rectangle 17"/>
          <p:cNvSpPr/>
          <p:nvPr/>
        </p:nvSpPr>
        <p:spPr>
          <a:xfrm>
            <a:off x="954000" y="1125360"/>
            <a:ext cx="215028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1</a:t>
            </a:r>
            <a:r>
              <a:rPr lang="zh-CN" sz="2000" b="1" u="none" strike="noStrike">
                <a:solidFill>
                  <a:srgbClr val="008080"/>
                </a:solidFill>
                <a:effectLst/>
                <a:uFillTx/>
                <a:latin typeface="Times New Roman"/>
              </a:rPr>
              <a:t>、无源超前网络</a:t>
            </a:r>
            <a:endParaRPr lang="en-US" sz="2000" b="0" u="none" strike="noStrike">
              <a:solidFill>
                <a:srgbClr val="000000"/>
              </a:solidFill>
              <a:effectLst/>
              <a:uFillTx/>
              <a:latin typeface="Times New Roman"/>
            </a:endParaRPr>
          </a:p>
        </p:txBody>
      </p:sp>
      <p:graphicFrame>
        <p:nvGraphicFramePr>
          <p:cNvPr id="241" name="Object 21"/>
          <p:cNvGraphicFramePr/>
          <p:nvPr/>
        </p:nvGraphicFramePr>
        <p:xfrm>
          <a:off x="971640" y="1700280"/>
          <a:ext cx="2232000" cy="2190600"/>
        </p:xfrm>
        <a:graphic>
          <a:graphicData uri="http://schemas.openxmlformats.org/presentationml/2006/ole">
            <p:oleObj r:id="rId1" spid="">
              <p:embed/>
              <p:pic>
                <p:nvPicPr>
                  <p:cNvPr id="242" name="Object 21"/>
                  <p:cNvPicPr/>
                  <p:nvPr/>
                </p:nvPicPr>
                <p:blipFill>
                  <a:blip r:embed="rId2"/>
                  <a:stretch/>
                </p:blipFill>
                <p:spPr>
                  <a:xfrm>
                    <a:off x="971640" y="1700280"/>
                    <a:ext cx="2232000" cy="2190600"/>
                  </a:xfrm>
                  <a:prstGeom prst="rect">
                    <a:avLst/>
                  </a:prstGeom>
                  <a:solidFill>
                    <a:srgbClr val="CCFFCC"/>
                  </a:solidFill>
                  <a:ln w="0">
                    <a:noFill/>
                  </a:ln>
                </p:spPr>
              </p:pic>
            </p:oleObj>
          </a:graphicData>
        </a:graphic>
      </p:graphicFrame>
      <mc:AlternateContent>
        <mc:Choice xmlns:a14="http://schemas.microsoft.com/office/drawing/2010/main" Requires="a14">
          <p:sp>
            <p:nvSpPr>
              <p:cNvPr id="243" name="Object 22"/>
              <p:cNvSpPr txBox="1"/>
              <p:nvPr/>
            </p:nvSpPr>
            <p:spPr>
              <a:xfrm>
                <a:off x="1763640" y="4221000"/>
                <a:ext cx="5040360" cy="98928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sSub>
                          <m:e>
                            <m:r>
                              <m:t xml:space="preserve">U</m:t>
                            </m:r>
                          </m:e>
                          <m:sub>
                            <m:r>
                              <m:t xml:space="preserve">2</m:t>
                            </m:r>
                          </m:sub>
                        </m:sSub>
                        <m:r>
                          <m:t xml:space="preserve">(</m:t>
                        </m:r>
                        <m:r>
                          <m:t xml:space="preserve">s</m:t>
                        </m:r>
                        <m:r>
                          <m:t xml:space="preserve">)</m:t>
                        </m:r>
                      </m:num>
                      <m:den>
                        <m:sSub>
                          <m:e>
                            <m:r>
                              <m:t xml:space="preserve">U</m:t>
                            </m:r>
                          </m:e>
                          <m:sub>
                            <m:r>
                              <m:t xml:space="preserve">1</m:t>
                            </m:r>
                          </m:sub>
                        </m:sSub>
                        <m:r>
                          <m:t xml:space="preserve">(</m:t>
                        </m:r>
                        <m:r>
                          <m:t xml:space="preserve">s</m:t>
                        </m:r>
                        <m:r>
                          <m:t xml:space="preserve">)</m:t>
                        </m:r>
                      </m:den>
                    </m:f>
                    <m:r>
                      <m:t xml:space="preserve">=</m:t>
                    </m:r>
                    <m:f>
                      <m:num>
                        <m:sSub>
                          <m:e>
                            <m:r>
                              <m:t xml:space="preserve">R</m:t>
                            </m:r>
                          </m:e>
                          <m:sub>
                            <m:r>
                              <m:t xml:space="preserve">2</m:t>
                            </m:r>
                          </m:sub>
                        </m:sSub>
                      </m:num>
                      <m:den>
                        <m:sSub>
                          <m:e>
                            <m:r>
                              <m:t xml:space="preserve">R</m:t>
                            </m:r>
                          </m:e>
                          <m:sub>
                            <m:r>
                              <m:t xml:space="preserve">1</m:t>
                            </m:r>
                          </m:sub>
                        </m:sSub>
                        <m:r>
                          <m:t xml:space="preserve">+</m:t>
                        </m:r>
                        <m:sSub>
                          <m:e>
                            <m:r>
                              <m:t xml:space="preserve">R</m:t>
                            </m:r>
                          </m:e>
                          <m:sub>
                            <m:r>
                              <m:t xml:space="preserve">2</m:t>
                            </m:r>
                          </m:sub>
                        </m:sSub>
                      </m:den>
                    </m:f>
                    <m:f>
                      <m:num>
                        <m:r>
                          <m:t xml:space="preserve">1</m:t>
                        </m:r>
                        <m:r>
                          <m:t xml:space="preserve">+</m:t>
                        </m:r>
                        <m:sSub>
                          <m:e>
                            <m:r>
                              <m:t xml:space="preserve">R</m:t>
                            </m:r>
                          </m:e>
                          <m:sub>
                            <m:r>
                              <m:t xml:space="preserve">1</m:t>
                            </m:r>
                          </m:sub>
                        </m:sSub>
                        <m:r>
                          <m:rPr>
                            <m:lit/>
                            <m:nor/>
                          </m:rPr>
                          <m:t xml:space="preserve">CS</m:t>
                        </m:r>
                      </m:num>
                      <m:den>
                        <m:r>
                          <m:t xml:space="preserve">1</m:t>
                        </m:r>
                        <m:r>
                          <m:t xml:space="preserve">+</m:t>
                        </m:r>
                        <m:f>
                          <m:num>
                            <m:sSub>
                              <m:e>
                                <m:r>
                                  <m:t xml:space="preserve">R</m:t>
                                </m:r>
                              </m:e>
                              <m:sub>
                                <m:r>
                                  <m:t xml:space="preserve">1</m:t>
                                </m:r>
                              </m:sub>
                            </m:sSub>
                            <m:sSub>
                              <m:e>
                                <m:r>
                                  <m:t xml:space="preserve">R</m:t>
                                </m:r>
                              </m:e>
                              <m:sub>
                                <m:r>
                                  <m:t xml:space="preserve">2</m:t>
                                </m:r>
                              </m:sub>
                            </m:sSub>
                          </m:num>
                          <m:den>
                            <m:sSub>
                              <m:e>
                                <m:r>
                                  <m:t xml:space="preserve">R</m:t>
                                </m:r>
                              </m:e>
                              <m:sub>
                                <m:r>
                                  <m:t xml:space="preserve">1</m:t>
                                </m:r>
                              </m:sub>
                            </m:sSub>
                            <m:r>
                              <m:t xml:space="preserve">+</m:t>
                            </m:r>
                            <m:sSub>
                              <m:e>
                                <m:r>
                                  <m:t xml:space="preserve">R</m:t>
                                </m:r>
                              </m:e>
                              <m:sub>
                                <m:r>
                                  <m:t xml:space="preserve">2</m:t>
                                </m:r>
                              </m:sub>
                            </m:sSub>
                          </m:den>
                        </m:f>
                        <m:r>
                          <m:rPr>
                            <m:lit/>
                            <m:nor/>
                          </m:rPr>
                          <m:t xml:space="preserve">CS</m:t>
                        </m:r>
                      </m:den>
                    </m:f>
                    <m:r>
                      <m:t xml:space="preserve">=</m:t>
                    </m:r>
                    <m:f>
                      <m:num>
                        <m:r>
                          <m:t xml:space="preserve">1</m:t>
                        </m:r>
                      </m:num>
                      <m:den>
                        <m:r>
                          <m:t xml:space="preserve">α</m:t>
                        </m:r>
                      </m:den>
                    </m:f>
                    <m:f>
                      <m:num>
                        <m:r>
                          <m:t xml:space="preserve">1</m:t>
                        </m:r>
                        <m:r>
                          <m:t xml:space="preserve">+</m:t>
                        </m:r>
                        <m:r>
                          <m:t xml:space="preserve">α</m:t>
                        </m:r>
                        <m:r>
                          <m:rPr>
                            <m:lit/>
                            <m:nor/>
                          </m:rPr>
                          <m:t xml:space="preserve">TS</m:t>
                        </m:r>
                      </m:num>
                      <m:den>
                        <m:r>
                          <m:t xml:space="preserve">1</m:t>
                        </m:r>
                        <m:r>
                          <m:t xml:space="preserve">+</m:t>
                        </m:r>
                        <m:r>
                          <m:rPr>
                            <m:lit/>
                            <m:nor/>
                          </m:rPr>
                          <m:t xml:space="preserve">TS</m:t>
                        </m:r>
                      </m:den>
                    </m:f>
                  </m:oMath>
                </a14:m>
              </a:p>
            </p:txBody>
          </p:sp>
        </mc:Choice>
        <mc:Fallback>
          <p:sp>
            <p:nvSpPr>
              <p:cNvPr id="243" name="Object 22"/>
              <p:cNvSpPr txBox="1"/>
              <p:nvPr/>
            </p:nvSpPr>
            <p:spPr>
              <a:xfrm>
                <a:off x="1763640" y="4221000"/>
                <a:ext cx="5040360" cy="989280"/>
              </a:xfrm>
              <a:prstGeom prst="rect">
                <a:avLst/>
              </a:prstGeom>
              <a:blipFill>
                <a:blip r:embed="rId3"/>
                <a:stretch>
                  <a:fillRect/>
                </a:stretch>
              </a:blipFill>
            </p:spPr>
          </p:sp>
        </mc:Fallback>
      </mc:AlternateContent>
      <p:sp>
        <p:nvSpPr>
          <p:cNvPr id="244" name="Rectangle 23"/>
          <p:cNvSpPr/>
          <p:nvPr/>
        </p:nvSpPr>
        <p:spPr>
          <a:xfrm>
            <a:off x="395280" y="4292640"/>
            <a:ext cx="129708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传递函数：</a:t>
            </a:r>
            <a:endParaRPr lang="en-US" sz="2000" b="0" u="none" strike="noStrike">
              <a:solidFill>
                <a:srgbClr val="000000"/>
              </a:solidFill>
              <a:effectLst/>
              <a:uFillTx/>
              <a:latin typeface="Times New Roman"/>
            </a:endParaRPr>
          </a:p>
        </p:txBody>
      </p:sp>
      <p:sp>
        <p:nvSpPr>
          <p:cNvPr id="245" name="Rectangle 24"/>
          <p:cNvSpPr/>
          <p:nvPr/>
        </p:nvSpPr>
        <p:spPr>
          <a:xfrm>
            <a:off x="514440" y="5228280"/>
            <a:ext cx="107136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其中： </a:t>
            </a:r>
            <a:endParaRPr lang="en-US" sz="2000" b="0" u="none" strike="noStrike">
              <a:solidFill>
                <a:srgbClr val="000000"/>
              </a:solidFill>
              <a:effectLst/>
              <a:uFillTx/>
              <a:latin typeface="Times New Roman"/>
            </a:endParaRPr>
          </a:p>
        </p:txBody>
      </p:sp>
      <p:grpSp>
        <p:nvGrpSpPr>
          <p:cNvPr id="246" name="Group 31"/>
          <p:cNvGrpSpPr/>
          <p:nvPr/>
        </p:nvGrpSpPr>
        <p:grpSpPr>
          <a:xfrm>
            <a:off x="1403280" y="5229360"/>
            <a:ext cx="2822040" cy="577800"/>
            <a:chOff x="1403280" y="5229360"/>
            <a:chExt cx="2822040" cy="577800"/>
          </a:xfrm>
        </p:grpSpPr>
        <mc:AlternateContent>
          <mc:Choice xmlns:a14="http://schemas.microsoft.com/office/drawing/2010/main" Requires="a14">
            <p:sp>
              <p:nvSpPr>
                <p:cNvPr id="247" name="Object 25"/>
                <p:cNvSpPr txBox="1"/>
                <p:nvPr/>
              </p:nvSpPr>
              <p:spPr>
                <a:xfrm>
                  <a:off x="1403280" y="5229360"/>
                  <a:ext cx="1293840" cy="577800"/>
                </a:xfrm>
                <a:prstGeom prst="rect">
                  <a:avLst/>
                </a:prstGeom>
              </p:spPr>
              <p:txBody>
                <a:bodyPr/>
                <a:p>
                  <a14:m>
                    <m:oMath xmlns:m="http://schemas.openxmlformats.org/officeDocument/2006/math">
                      <m:r>
                        <m:t xml:space="preserve">α</m:t>
                      </m:r>
                      <m:r>
                        <m:t xml:space="preserve">=</m:t>
                      </m:r>
                      <m:f>
                        <m:num>
                          <m:sSub>
                            <m:e>
                              <m:r>
                                <m:t xml:space="preserve">R</m:t>
                              </m:r>
                            </m:e>
                            <m:sub>
                              <m:r>
                                <m:t xml:space="preserve">1</m:t>
                              </m:r>
                            </m:sub>
                          </m:sSub>
                          <m:r>
                            <m:t xml:space="preserve">+</m:t>
                          </m:r>
                          <m:sSub>
                            <m:e>
                              <m:r>
                                <m:t xml:space="preserve">R</m:t>
                              </m:r>
                            </m:e>
                            <m:sub>
                              <m:r>
                                <m:t xml:space="preserve">2</m:t>
                              </m:r>
                            </m:sub>
                          </m:sSub>
                        </m:num>
                        <m:den>
                          <m:sSub>
                            <m:e>
                              <m:r>
                                <m:t xml:space="preserve">R</m:t>
                              </m:r>
                            </m:e>
                            <m:sub>
                              <m:r>
                                <m:t xml:space="preserve">2</m:t>
                              </m:r>
                            </m:sub>
                          </m:sSub>
                        </m:den>
                      </m:f>
                      <m:r>
                        <m:t xml:space="preserve">&gt;</m:t>
                      </m:r>
                      <m:r>
                        <m:t xml:space="preserve">1</m:t>
                      </m:r>
                    </m:oMath>
                  </a14:m>
                </a:p>
              </p:txBody>
            </p:sp>
          </mc:Choice>
          <mc:Fallback>
            <p:sp>
              <p:nvSpPr>
                <p:cNvPr id="247" name="Object 25"/>
                <p:cNvSpPr txBox="1"/>
                <p:nvPr/>
              </p:nvSpPr>
              <p:spPr>
                <a:xfrm>
                  <a:off x="1403280" y="5229360"/>
                  <a:ext cx="1293840" cy="577800"/>
                </a:xfrm>
                <a:prstGeom prst="rect">
                  <a:avLst/>
                </a:prstGeom>
                <a:blipFill>
                  <a:blip r:embed="rId4"/>
                  <a:stretch>
                    <a:fillRect/>
                  </a:stretch>
                </a:blipFill>
              </p:spPr>
            </p:sp>
          </mc:Fallback>
        </mc:AlternateContent>
        <p:sp>
          <p:nvSpPr>
            <p:cNvPr id="248" name="Rectangle 29"/>
            <p:cNvSpPr/>
            <p:nvPr/>
          </p:nvSpPr>
          <p:spPr>
            <a:xfrm>
              <a:off x="2772000" y="5229360"/>
              <a:ext cx="14533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r>
                <a:rPr lang="zh-CN" sz="2000" b="0" u="none" strike="noStrike">
                  <a:solidFill>
                    <a:srgbClr val="000000"/>
                  </a:solidFill>
                  <a:effectLst/>
                  <a:uFillTx/>
                  <a:latin typeface="Times New Roman"/>
                </a:rPr>
                <a:t>校正强度</a:t>
              </a:r>
              <a:endParaRPr lang="en-US" sz="2000" b="0" u="none" strike="noStrike">
                <a:solidFill>
                  <a:srgbClr val="000000"/>
                </a:solidFill>
                <a:effectLst/>
                <a:uFillTx/>
                <a:latin typeface="Times New Roman"/>
              </a:endParaRPr>
            </a:p>
          </p:txBody>
        </p:sp>
      </p:grpSp>
      <p:grpSp>
        <p:nvGrpSpPr>
          <p:cNvPr id="249" name="Group 32"/>
          <p:cNvGrpSpPr/>
          <p:nvPr/>
        </p:nvGrpSpPr>
        <p:grpSpPr>
          <a:xfrm>
            <a:off x="4643280" y="5157720"/>
            <a:ext cx="2822040" cy="630360"/>
            <a:chOff x="4643280" y="5157720"/>
            <a:chExt cx="2822040" cy="630360"/>
          </a:xfrm>
        </p:grpSpPr>
        <mc:AlternateContent>
          <mc:Choice xmlns:a14="http://schemas.microsoft.com/office/drawing/2010/main" Requires="a14">
            <p:sp>
              <p:nvSpPr>
                <p:cNvPr id="250" name="Object 26"/>
                <p:cNvSpPr txBox="1"/>
                <p:nvPr/>
              </p:nvSpPr>
              <p:spPr>
                <a:xfrm>
                  <a:off x="4643280" y="5157720"/>
                  <a:ext cx="1295280" cy="630360"/>
                </a:xfrm>
                <a:prstGeom prst="rect">
                  <a:avLst/>
                </a:prstGeom>
              </p:spPr>
              <p:txBody>
                <a:bodyPr/>
                <a:p>
                  <a14:m>
                    <m:oMath xmlns:m="http://schemas.openxmlformats.org/officeDocument/2006/math">
                      <m:r>
                        <m:t xml:space="preserve">T</m:t>
                      </m:r>
                      <m:r>
                        <m:t xml:space="preserve">=</m:t>
                      </m:r>
                      <m:f>
                        <m:num>
                          <m:sSub>
                            <m:e>
                              <m:r>
                                <m:t xml:space="preserve">R</m:t>
                              </m:r>
                            </m:e>
                            <m:sub>
                              <m:r>
                                <m:t xml:space="preserve">1</m:t>
                              </m:r>
                            </m:sub>
                          </m:sSub>
                          <m:sSub>
                            <m:e>
                              <m:r>
                                <m:t xml:space="preserve">R</m:t>
                              </m:r>
                            </m:e>
                            <m:sub>
                              <m:r>
                                <m:t xml:space="preserve">2</m:t>
                              </m:r>
                            </m:sub>
                          </m:sSub>
                        </m:num>
                        <m:den>
                          <m:sSub>
                            <m:e>
                              <m:r>
                                <m:t xml:space="preserve">R</m:t>
                              </m:r>
                            </m:e>
                            <m:sub>
                              <m:r>
                                <m:t xml:space="preserve">1</m:t>
                              </m:r>
                            </m:sub>
                          </m:sSub>
                          <m:r>
                            <m:t xml:space="preserve">+</m:t>
                          </m:r>
                          <m:sSub>
                            <m:e>
                              <m:r>
                                <m:t xml:space="preserve">R</m:t>
                              </m:r>
                            </m:e>
                            <m:sub>
                              <m:r>
                                <m:t xml:space="preserve">2</m:t>
                              </m:r>
                            </m:sub>
                          </m:sSub>
                        </m:den>
                      </m:f>
                      <m:r>
                        <m:t xml:space="preserve">C</m:t>
                      </m:r>
                    </m:oMath>
                  </a14:m>
                </a:p>
              </p:txBody>
            </p:sp>
          </mc:Choice>
          <mc:Fallback>
            <p:sp>
              <p:nvSpPr>
                <p:cNvPr id="250" name="Object 26"/>
                <p:cNvSpPr txBox="1"/>
                <p:nvPr/>
              </p:nvSpPr>
              <p:spPr>
                <a:xfrm>
                  <a:off x="4643280" y="5157720"/>
                  <a:ext cx="1295280" cy="630360"/>
                </a:xfrm>
                <a:prstGeom prst="rect">
                  <a:avLst/>
                </a:prstGeom>
                <a:blipFill>
                  <a:blip r:embed="rId5"/>
                  <a:stretch>
                    <a:fillRect/>
                  </a:stretch>
                </a:blipFill>
              </p:spPr>
            </p:sp>
          </mc:Fallback>
        </mc:AlternateContent>
        <p:sp>
          <p:nvSpPr>
            <p:cNvPr id="251" name="Rectangle 30"/>
            <p:cNvSpPr/>
            <p:nvPr/>
          </p:nvSpPr>
          <p:spPr>
            <a:xfrm>
              <a:off x="6012000" y="5230800"/>
              <a:ext cx="14533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r>
                <a:rPr lang="zh-CN" sz="2000" b="0" u="none" strike="noStrike">
                  <a:solidFill>
                    <a:srgbClr val="000000"/>
                  </a:solidFill>
                  <a:effectLst/>
                  <a:uFillTx/>
                  <a:latin typeface="Times New Roman"/>
                </a:rPr>
                <a:t>时间常数</a:t>
              </a:r>
              <a:endParaRPr lang="en-US" sz="2000" b="0" u="none" strike="noStrike">
                <a:solidFill>
                  <a:srgbClr val="000000"/>
                </a:solidFill>
                <a:effectLst/>
                <a:uFillTx/>
                <a:latin typeface="Times New Roman"/>
              </a:endParaRPr>
            </a:p>
          </p:txBody>
        </p:sp>
      </p:grpSp>
      <p:graphicFrame>
        <p:nvGraphicFramePr>
          <p:cNvPr id="252" name="Object 33"/>
          <p:cNvGraphicFramePr/>
          <p:nvPr/>
        </p:nvGraphicFramePr>
        <p:xfrm>
          <a:off x="4427640" y="1628640"/>
          <a:ext cx="4032000" cy="2264040"/>
        </p:xfrm>
        <a:graphic>
          <a:graphicData uri="http://schemas.openxmlformats.org/presentationml/2006/ole">
            <p:oleObj r:id="rId6" spid="">
              <p:embed/>
              <p:pic>
                <p:nvPicPr>
                  <p:cNvPr id="253" name="Object 33"/>
                  <p:cNvPicPr/>
                  <p:nvPr/>
                </p:nvPicPr>
                <p:blipFill>
                  <a:blip r:embed="rId7"/>
                  <a:stretch/>
                </p:blipFill>
                <p:spPr>
                  <a:xfrm>
                    <a:off x="4427640" y="1628640"/>
                    <a:ext cx="4032000" cy="2264040"/>
                  </a:xfrm>
                  <a:prstGeom prst="rect">
                    <a:avLst/>
                  </a:prstGeom>
                  <a:solidFill>
                    <a:srgbClr val="CCFFCC"/>
                  </a:solidFill>
                  <a:ln w="0">
                    <a:noFill/>
                  </a:ln>
                </p:spPr>
              </p:pic>
            </p:oleObj>
          </a:graphicData>
        </a:graphic>
      </p:graphicFrame>
      <p:sp>
        <p:nvSpPr>
          <p:cNvPr id="254" name="Rectangle 34"/>
          <p:cNvSpPr/>
          <p:nvPr/>
        </p:nvSpPr>
        <p:spPr>
          <a:xfrm>
            <a:off x="618120" y="5877000"/>
            <a:ext cx="27259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特点：产生相位超前角</a:t>
            </a:r>
            <a:endParaRPr lang="en-US" sz="2000" b="0" u="none" strike="noStrike">
              <a:solidFill>
                <a:srgbClr val="000000"/>
              </a:solidFill>
              <a:effectLst/>
              <a:uFillTx/>
              <a:latin typeface="Times New Roman"/>
            </a:endParaRPr>
          </a:p>
        </p:txBody>
      </p:sp>
    </p:spTree>
  </p:cSld>
  <p:transition>
    <p:random/>
  </p:transition>
  <p:timing>
    <p:tnLst>
      <p:par>
        <p:cTn id="278" dur="indefinite" restart="never" nodeType="tmRoot">
          <p:childTnLst>
            <p:seq>
              <p:cTn id="279" dur="indefinite" nodeType="mainSeq">
                <p:childTnLst>
                  <p:par>
                    <p:cTn id="280" fill="hold" nodeType="clickEffect">
                      <p:stCondLst>
                        <p:cond delay="indefinite"/>
                      </p:stCondLst>
                      <p:childTnLst>
                        <p:par>
                          <p:cTn id="281" fill="hold" nodeType="withEffect">
                            <p:stCondLst>
                              <p:cond delay="0"/>
                            </p:stCondLst>
                            <p:childTnLst>
                              <p:par>
                                <p:cTn id="282" presetID="3" presetClass="entr" fill="hold" nodeType="clickEffect" presetSubtype="10">
                                  <p:stCondLst>
                                    <p:cond delay="0"/>
                                  </p:stCondLst>
                                  <p:childTnLst>
                                    <p:set>
                                      <p:cBhvr>
                                        <p:cTn id="283" dur="1" fill="hold">
                                          <p:stCondLst>
                                            <p:cond delay="0"/>
                                          </p:stCondLst>
                                        </p:cTn>
                                        <p:tgtEl>
                                          <p:spTgt spid="239"/>
                                        </p:tgtEl>
                                        <p:attrNameLst>
                                          <p:attrName>style.visibility</p:attrName>
                                        </p:attrNameLst>
                                      </p:cBhvr>
                                      <p:to>
                                        <p:strVal val="visible"/>
                                      </p:to>
                                    </p:set>
                                    <p:animEffect transition="in" filter="blinds(horizontal)">
                                      <p:cBhvr additive="repl">
                                        <p:cTn id="284" dur="500"/>
                                        <p:tgtEl>
                                          <p:spTgt spid="239"/>
                                        </p:tgtEl>
                                      </p:cBhvr>
                                    </p:animEffect>
                                  </p:childTnLst>
                                </p:cTn>
                              </p:par>
                            </p:childTnLst>
                          </p:cTn>
                        </p:par>
                      </p:childTnLst>
                    </p:cTn>
                  </p:par>
                  <p:par>
                    <p:cTn id="285" fill="hold" nodeType="clickEffect">
                      <p:stCondLst>
                        <p:cond delay="indefinite"/>
                      </p:stCondLst>
                      <p:childTnLst>
                        <p:par>
                          <p:cTn id="286" fill="hold" nodeType="withEffect">
                            <p:stCondLst>
                              <p:cond delay="0"/>
                            </p:stCondLst>
                            <p:childTnLst>
                              <p:par>
                                <p:cTn id="287" presetID="3" presetClass="entr" fill="hold" nodeType="clickEffect" presetSubtype="10">
                                  <p:stCondLst>
                                    <p:cond delay="0"/>
                                  </p:stCondLst>
                                  <p:childTnLst>
                                    <p:set>
                                      <p:cBhvr>
                                        <p:cTn id="288" dur="1" fill="hold">
                                          <p:stCondLst>
                                            <p:cond delay="0"/>
                                          </p:stCondLst>
                                        </p:cTn>
                                        <p:tgtEl>
                                          <p:spTgt spid="240"/>
                                        </p:tgtEl>
                                        <p:attrNameLst>
                                          <p:attrName>style.visibility</p:attrName>
                                        </p:attrNameLst>
                                      </p:cBhvr>
                                      <p:to>
                                        <p:strVal val="visible"/>
                                      </p:to>
                                    </p:set>
                                    <p:animEffect transition="in" filter="blinds(horizontal)">
                                      <p:cBhvr additive="repl">
                                        <p:cTn id="289" dur="500"/>
                                        <p:tgtEl>
                                          <p:spTgt spid="240"/>
                                        </p:tgtEl>
                                      </p:cBhvr>
                                    </p:animEffect>
                                  </p:childTnLst>
                                </p:cTn>
                              </p:par>
                            </p:childTnLst>
                          </p:cTn>
                        </p:par>
                      </p:childTnLst>
                    </p:cTn>
                  </p:par>
                  <p:par>
                    <p:cTn id="290" fill="hold" nodeType="clickEffect">
                      <p:stCondLst>
                        <p:cond delay="indefinite"/>
                      </p:stCondLst>
                      <p:childTnLst>
                        <p:par>
                          <p:cTn id="291" fill="hold" nodeType="withEffect">
                            <p:stCondLst>
                              <p:cond delay="0"/>
                            </p:stCondLst>
                            <p:childTnLst>
                              <p:par>
                                <p:cTn id="292" presetID="3" presetClass="entr" fill="hold" nodeType="clickEffect" presetSubtype="10">
                                  <p:stCondLst>
                                    <p:cond delay="0"/>
                                  </p:stCondLst>
                                  <p:childTnLst>
                                    <p:set>
                                      <p:cBhvr>
                                        <p:cTn id="293" dur="1" fill="hold">
                                          <p:stCondLst>
                                            <p:cond delay="0"/>
                                          </p:stCondLst>
                                        </p:cTn>
                                        <p:tgtEl>
                                          <p:spTgt spid="241"/>
                                        </p:tgtEl>
                                        <p:attrNameLst>
                                          <p:attrName>style.visibility</p:attrName>
                                        </p:attrNameLst>
                                      </p:cBhvr>
                                      <p:to>
                                        <p:strVal val="visible"/>
                                      </p:to>
                                    </p:set>
                                    <p:animEffect transition="in" filter="blinds(horizontal)">
                                      <p:cBhvr additive="repl">
                                        <p:cTn id="294" dur="500"/>
                                        <p:tgtEl>
                                          <p:spTgt spid="241"/>
                                        </p:tgtEl>
                                      </p:cBhvr>
                                    </p:animEffect>
                                  </p:childTnLst>
                                </p:cTn>
                              </p:par>
                            </p:childTnLst>
                          </p:cTn>
                        </p:par>
                      </p:childTnLst>
                    </p:cTn>
                  </p:par>
                  <p:par>
                    <p:cTn id="295" fill="hold" nodeType="clickEffect">
                      <p:stCondLst>
                        <p:cond delay="indefinite"/>
                      </p:stCondLst>
                      <p:childTnLst>
                        <p:par>
                          <p:cTn id="296" fill="hold" nodeType="withEffect">
                            <p:stCondLst>
                              <p:cond delay="0"/>
                            </p:stCondLst>
                            <p:childTnLst>
                              <p:par>
                                <p:cTn id="297" presetID="3" presetClass="entr" fill="hold" nodeType="clickEffect" presetSubtype="10">
                                  <p:stCondLst>
                                    <p:cond delay="0"/>
                                  </p:stCondLst>
                                  <p:childTnLst>
                                    <p:set>
                                      <p:cBhvr>
                                        <p:cTn id="298" dur="1" fill="hold">
                                          <p:stCondLst>
                                            <p:cond delay="0"/>
                                          </p:stCondLst>
                                        </p:cTn>
                                        <p:tgtEl>
                                          <p:spTgt spid="243"/>
                                        </p:tgtEl>
                                        <p:attrNameLst>
                                          <p:attrName>style.visibility</p:attrName>
                                        </p:attrNameLst>
                                      </p:cBhvr>
                                      <p:to>
                                        <p:strVal val="visible"/>
                                      </p:to>
                                    </p:set>
                                    <p:animEffect transition="in" filter="blinds(horizontal)">
                                      <p:cBhvr additive="repl">
                                        <p:cTn id="299" dur="500"/>
                                        <p:tgtEl>
                                          <p:spTgt spid="243"/>
                                        </p:tgtEl>
                                      </p:cBhvr>
                                    </p:animEffect>
                                  </p:childTnLst>
                                </p:cTn>
                              </p:par>
                              <p:par>
                                <p:cTn id="300" presetID="3" presetClass="entr" fill="hold" nodeType="withEffect" presetSubtype="10">
                                  <p:stCondLst>
                                    <p:cond delay="0"/>
                                  </p:stCondLst>
                                  <p:childTnLst>
                                    <p:set>
                                      <p:cBhvr>
                                        <p:cTn id="301" dur="1" fill="hold">
                                          <p:stCondLst>
                                            <p:cond delay="0"/>
                                          </p:stCondLst>
                                        </p:cTn>
                                        <p:tgtEl>
                                          <p:spTgt spid="244"/>
                                        </p:tgtEl>
                                        <p:attrNameLst>
                                          <p:attrName>style.visibility</p:attrName>
                                        </p:attrNameLst>
                                      </p:cBhvr>
                                      <p:to>
                                        <p:strVal val="visible"/>
                                      </p:to>
                                    </p:set>
                                    <p:animEffect transition="in" filter="blinds(horizontal)">
                                      <p:cBhvr additive="repl">
                                        <p:cTn id="302" dur="500"/>
                                        <p:tgtEl>
                                          <p:spTgt spid="244"/>
                                        </p:tgtEl>
                                      </p:cBhvr>
                                    </p:animEffect>
                                  </p:childTnLst>
                                </p:cTn>
                              </p:par>
                            </p:childTnLst>
                          </p:cTn>
                        </p:par>
                      </p:childTnLst>
                    </p:cTn>
                  </p:par>
                  <p:par>
                    <p:cTn id="303" fill="hold" nodeType="clickEffect">
                      <p:stCondLst>
                        <p:cond delay="indefinite"/>
                      </p:stCondLst>
                      <p:childTnLst>
                        <p:par>
                          <p:cTn id="304" fill="hold" nodeType="withEffect">
                            <p:stCondLst>
                              <p:cond delay="0"/>
                            </p:stCondLst>
                            <p:childTnLst>
                              <p:par>
                                <p:cTn id="305" presetID="3" presetClass="entr" fill="hold" nodeType="clickEffect" presetSubtype="10">
                                  <p:stCondLst>
                                    <p:cond delay="0"/>
                                  </p:stCondLst>
                                  <p:childTnLst>
                                    <p:set>
                                      <p:cBhvr>
                                        <p:cTn id="306" dur="1" fill="hold">
                                          <p:stCondLst>
                                            <p:cond delay="0"/>
                                          </p:stCondLst>
                                        </p:cTn>
                                        <p:tgtEl>
                                          <p:spTgt spid="245"/>
                                        </p:tgtEl>
                                        <p:attrNameLst>
                                          <p:attrName>style.visibility</p:attrName>
                                        </p:attrNameLst>
                                      </p:cBhvr>
                                      <p:to>
                                        <p:strVal val="visible"/>
                                      </p:to>
                                    </p:set>
                                    <p:animEffect transition="in" filter="blinds(horizontal)">
                                      <p:cBhvr additive="repl">
                                        <p:cTn id="307" dur="500"/>
                                        <p:tgtEl>
                                          <p:spTgt spid="245"/>
                                        </p:tgtEl>
                                      </p:cBhvr>
                                    </p:animEffect>
                                  </p:childTnLst>
                                </p:cTn>
                              </p:par>
                              <p:par>
                                <p:cTn id="308" presetID="3" presetClass="entr" fill="hold" nodeType="withEffect" presetSubtype="10">
                                  <p:stCondLst>
                                    <p:cond delay="0"/>
                                  </p:stCondLst>
                                  <p:childTnLst>
                                    <p:set>
                                      <p:cBhvr>
                                        <p:cTn id="309" dur="1" fill="hold">
                                          <p:stCondLst>
                                            <p:cond delay="0"/>
                                          </p:stCondLst>
                                        </p:cTn>
                                        <p:tgtEl>
                                          <p:spTgt spid="246"/>
                                        </p:tgtEl>
                                        <p:attrNameLst>
                                          <p:attrName>style.visibility</p:attrName>
                                        </p:attrNameLst>
                                      </p:cBhvr>
                                      <p:to>
                                        <p:strVal val="visible"/>
                                      </p:to>
                                    </p:set>
                                    <p:animEffect transition="in" filter="blinds(horizontal)">
                                      <p:cBhvr additive="repl">
                                        <p:cTn id="310" dur="500"/>
                                        <p:tgtEl>
                                          <p:spTgt spid="246"/>
                                        </p:tgtEl>
                                      </p:cBhvr>
                                    </p:animEffect>
                                  </p:childTnLst>
                                </p:cTn>
                              </p:par>
                              <p:par>
                                <p:cTn id="311" presetID="3" presetClass="entr" fill="hold" nodeType="withEffect" presetSubtype="10">
                                  <p:stCondLst>
                                    <p:cond delay="0"/>
                                  </p:stCondLst>
                                  <p:childTnLst>
                                    <p:set>
                                      <p:cBhvr>
                                        <p:cTn id="312" dur="1" fill="hold">
                                          <p:stCondLst>
                                            <p:cond delay="0"/>
                                          </p:stCondLst>
                                        </p:cTn>
                                        <p:tgtEl>
                                          <p:spTgt spid="249"/>
                                        </p:tgtEl>
                                        <p:attrNameLst>
                                          <p:attrName>style.visibility</p:attrName>
                                        </p:attrNameLst>
                                      </p:cBhvr>
                                      <p:to>
                                        <p:strVal val="visible"/>
                                      </p:to>
                                    </p:set>
                                    <p:animEffect transition="in" filter="blinds(horizontal)">
                                      <p:cBhvr additive="repl">
                                        <p:cTn id="313" dur="500"/>
                                        <p:tgtEl>
                                          <p:spTgt spid="249"/>
                                        </p:tgtEl>
                                      </p:cBhvr>
                                    </p:animEffect>
                                  </p:childTnLst>
                                </p:cTn>
                              </p:par>
                            </p:childTnLst>
                          </p:cTn>
                        </p:par>
                      </p:childTnLst>
                    </p:cTn>
                  </p:par>
                  <p:par>
                    <p:cTn id="314" fill="hold" nodeType="clickEffect">
                      <p:stCondLst>
                        <p:cond delay="indefinite"/>
                      </p:stCondLst>
                      <p:childTnLst>
                        <p:par>
                          <p:cTn id="315" fill="hold" nodeType="withEffect">
                            <p:stCondLst>
                              <p:cond delay="0"/>
                            </p:stCondLst>
                            <p:childTnLst>
                              <p:par>
                                <p:cTn id="316" presetID="2" presetClass="entr" fill="hold" nodeType="clickEffect" presetSubtype="2">
                                  <p:stCondLst>
                                    <p:cond delay="0"/>
                                  </p:stCondLst>
                                  <p:childTnLst>
                                    <p:set>
                                      <p:cBhvr>
                                        <p:cTn id="317" dur="1" fill="hold">
                                          <p:stCondLst>
                                            <p:cond delay="0"/>
                                          </p:stCondLst>
                                        </p:cTn>
                                        <p:tgtEl>
                                          <p:spTgt spid="252"/>
                                        </p:tgtEl>
                                        <p:attrNameLst>
                                          <p:attrName>style.visibility</p:attrName>
                                        </p:attrNameLst>
                                      </p:cBhvr>
                                      <p:to>
                                        <p:strVal val="visible"/>
                                      </p:to>
                                    </p:set>
                                    <p:anim calcmode="lin" valueType="num">
                                      <p:cBhvr additive="base">
                                        <p:cTn id="318" dur="1000" fill="hold"/>
                                        <p:tgtEl>
                                          <p:spTgt spid="252"/>
                                        </p:tgtEl>
                                        <p:attrNameLst>
                                          <p:attrName>ppt_x</p:attrName>
                                        </p:attrNameLst>
                                      </p:cBhvr>
                                      <p:tavLst>
                                        <p:tav>
                                          <p:val>
                                            <p:strVal val="1+#ppt_w/2"/>
                                          </p:val>
                                        </p:tav>
                                        <p:tav tm="100000">
                                          <p:val>
                                            <p:strVal val="#ppt_x"/>
                                          </p:val>
                                        </p:tav>
                                      </p:tavLst>
                                    </p:anim>
                                    <p:anim calcmode="lin" valueType="num">
                                      <p:cBhvr additive="base">
                                        <p:cTn id="319" dur="1000" fill="hold"/>
                                        <p:tgtEl>
                                          <p:spTgt spid="252"/>
                                        </p:tgtEl>
                                        <p:attrNameLst>
                                          <p:attrName>ppt_y</p:attrName>
                                        </p:attrNameLst>
                                      </p:cBhvr>
                                      <p:tavLst>
                                        <p:tav>
                                          <p:val>
                                            <p:strVal val="#ppt_y"/>
                                          </p:val>
                                        </p:tav>
                                        <p:tav tm="100000">
                                          <p:val>
                                            <p:strVal val="#ppt_y"/>
                                          </p:val>
                                        </p:tav>
                                      </p:tavLst>
                                    </p:anim>
                                  </p:childTnLst>
                                </p:cTn>
                              </p:par>
                            </p:childTnLst>
                          </p:cTn>
                        </p:par>
                      </p:childTnLst>
                    </p:cTn>
                  </p:par>
                  <p:par>
                    <p:cTn id="320" fill="hold" nodeType="clickEffect">
                      <p:stCondLst>
                        <p:cond delay="indefinite"/>
                      </p:stCondLst>
                      <p:childTnLst>
                        <p:par>
                          <p:cTn id="321" fill="hold" nodeType="withEffect">
                            <p:stCondLst>
                              <p:cond delay="0"/>
                            </p:stCondLst>
                            <p:childTnLst>
                              <p:par>
                                <p:cTn id="322" presetID="3" presetClass="entr" fill="hold" nodeType="clickEffect" presetSubtype="10">
                                  <p:stCondLst>
                                    <p:cond delay="0"/>
                                  </p:stCondLst>
                                  <p:childTnLst>
                                    <p:set>
                                      <p:cBhvr>
                                        <p:cTn id="323" dur="1" fill="hold">
                                          <p:stCondLst>
                                            <p:cond delay="0"/>
                                          </p:stCondLst>
                                        </p:cTn>
                                        <p:tgtEl>
                                          <p:spTgt spid="254"/>
                                        </p:tgtEl>
                                        <p:attrNameLst>
                                          <p:attrName>style.visibility</p:attrName>
                                        </p:attrNameLst>
                                      </p:cBhvr>
                                      <p:to>
                                        <p:strVal val="visible"/>
                                      </p:to>
                                    </p:set>
                                    <p:animEffect transition="in" filter="blinds(horizontal)">
                                      <p:cBhvr additive="repl">
                                        <p:cTn id="324" dur="5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B8680E6-B54E-41B7-BE55-B71B0E22DB36}"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sp>
        <p:nvSpPr>
          <p:cNvPr id="256" name="Rectangle 4"/>
          <p:cNvSpPr/>
          <p:nvPr/>
        </p:nvSpPr>
        <p:spPr>
          <a:xfrm>
            <a:off x="759240" y="589320"/>
            <a:ext cx="2539800" cy="4597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8080"/>
                </a:solidFill>
                <a:effectLst/>
                <a:uFillTx/>
                <a:latin typeface="Times New Roman"/>
              </a:rPr>
              <a:t>2</a:t>
            </a:r>
            <a:r>
              <a:rPr lang="zh-CN" sz="2400" b="1" u="none" strike="noStrike">
                <a:solidFill>
                  <a:srgbClr val="008080"/>
                </a:solidFill>
                <a:effectLst/>
                <a:uFillTx/>
                <a:latin typeface="Times New Roman"/>
              </a:rPr>
              <a:t>、无源滞后网络</a:t>
            </a:r>
            <a:endParaRPr lang="en-US" sz="2400" b="0" u="none" strike="noStrike">
              <a:solidFill>
                <a:srgbClr val="000000"/>
              </a:solidFill>
              <a:effectLst/>
              <a:uFillTx/>
              <a:latin typeface="Times New Roman"/>
            </a:endParaRPr>
          </a:p>
        </p:txBody>
      </p:sp>
      <p:sp>
        <p:nvSpPr>
          <p:cNvPr id="257" name="Rectangle 9"/>
          <p:cNvSpPr/>
          <p:nvPr/>
        </p:nvSpPr>
        <p:spPr>
          <a:xfrm>
            <a:off x="0" y="320508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58" name="Rectangle 7"/>
          <p:cNvSpPr/>
          <p:nvPr/>
        </p:nvSpPr>
        <p:spPr>
          <a:xfrm>
            <a:off x="634320" y="3902400"/>
            <a:ext cx="1704600" cy="4597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传递函数：</a:t>
            </a: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259" name="Object 8"/>
              <p:cNvSpPr txBox="1"/>
              <p:nvPr/>
            </p:nvSpPr>
            <p:spPr>
              <a:xfrm>
                <a:off x="2193840" y="3789360"/>
                <a:ext cx="4897440" cy="80964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sSub>
                          <m:e>
                            <m:r>
                              <m:t xml:space="preserve">U</m:t>
                            </m:r>
                          </m:e>
                          <m:sub>
                            <m:r>
                              <m:t xml:space="preserve">2</m:t>
                            </m:r>
                          </m:sub>
                        </m:sSub>
                        <m:r>
                          <m:t xml:space="preserve">(</m:t>
                        </m:r>
                        <m:r>
                          <m:t xml:space="preserve">s</m:t>
                        </m:r>
                        <m:r>
                          <m:t xml:space="preserve">)</m:t>
                        </m:r>
                      </m:num>
                      <m:den>
                        <m:sSub>
                          <m:e>
                            <m:r>
                              <m:t xml:space="preserve">U</m:t>
                            </m:r>
                          </m:e>
                          <m:sub>
                            <m:r>
                              <m:t xml:space="preserve">1</m:t>
                            </m:r>
                          </m:sub>
                        </m:sSub>
                        <m:r>
                          <m:t xml:space="preserve">(</m:t>
                        </m:r>
                        <m:r>
                          <m:t xml:space="preserve">s</m:t>
                        </m:r>
                        <m:r>
                          <m:t xml:space="preserve">)</m:t>
                        </m:r>
                      </m:den>
                    </m:f>
                    <m:r>
                      <m:t xml:space="preserve">=</m:t>
                    </m:r>
                    <m:f>
                      <m:num>
                        <m:r>
                          <m:t xml:space="preserve">1</m:t>
                        </m:r>
                        <m:r>
                          <m:t xml:space="preserve">+</m:t>
                        </m:r>
                        <m:sSub>
                          <m:e>
                            <m:r>
                              <m:t xml:space="preserve">R</m:t>
                            </m:r>
                          </m:e>
                          <m:sub>
                            <m:r>
                              <m:t xml:space="preserve">2</m:t>
                            </m:r>
                          </m:sub>
                        </m:sSub>
                        <m:r>
                          <m:rPr>
                            <m:lit/>
                            <m:nor/>
                          </m:rPr>
                          <m:t xml:space="preserve">CS</m:t>
                        </m:r>
                      </m:num>
                      <m:den>
                        <m:r>
                          <m:t xml:space="preserve">1</m:t>
                        </m:r>
                        <m:r>
                          <m:t xml:space="preserve">+</m:t>
                        </m:r>
                        <m:r>
                          <m:t xml:space="preserve">(</m:t>
                        </m:r>
                        <m:sSub>
                          <m:e>
                            <m:r>
                              <m:t xml:space="preserve">R</m:t>
                            </m:r>
                          </m:e>
                          <m:sub>
                            <m:r>
                              <m:t xml:space="preserve">1</m:t>
                            </m:r>
                          </m:sub>
                        </m:sSub>
                        <m:r>
                          <m:t xml:space="preserve">+</m:t>
                        </m:r>
                        <m:sSub>
                          <m:e>
                            <m:r>
                              <m:t xml:space="preserve">R</m:t>
                            </m:r>
                          </m:e>
                          <m:sub>
                            <m:r>
                              <m:t xml:space="preserve">2</m:t>
                            </m:r>
                          </m:sub>
                        </m:sSub>
                        <m:r>
                          <m:t xml:space="preserve">)</m:t>
                        </m:r>
                        <m:r>
                          <m:rPr>
                            <m:lit/>
                            <m:nor/>
                          </m:rPr>
                          <m:t xml:space="preserve">CS</m:t>
                        </m:r>
                      </m:den>
                    </m:f>
                    <m:r>
                      <m:t xml:space="preserve">=</m:t>
                    </m:r>
                    <m:f>
                      <m:num>
                        <m:r>
                          <m:t xml:space="preserve">1</m:t>
                        </m:r>
                        <m:r>
                          <m:t xml:space="preserve">+</m:t>
                        </m:r>
                        <m:r>
                          <m:rPr>
                            <m:lit/>
                            <m:nor/>
                          </m:rPr>
                          <m:t xml:space="preserve">TS</m:t>
                        </m:r>
                      </m:num>
                      <m:den>
                        <m:r>
                          <m:t xml:space="preserve">1</m:t>
                        </m:r>
                        <m:r>
                          <m:t xml:space="preserve">+</m:t>
                        </m:r>
                        <m:r>
                          <m:t xml:space="preserve">β</m:t>
                        </m:r>
                        <m:r>
                          <m:rPr>
                            <m:lit/>
                            <m:nor/>
                          </m:rPr>
                          <m:t xml:space="preserve">TS</m:t>
                        </m:r>
                      </m:den>
                    </m:f>
                  </m:oMath>
                </a14:m>
              </a:p>
            </p:txBody>
          </p:sp>
        </mc:Choice>
        <mc:Fallback>
          <p:sp>
            <p:nvSpPr>
              <p:cNvPr id="259" name="Object 8"/>
              <p:cNvSpPr txBox="1"/>
              <p:nvPr/>
            </p:nvSpPr>
            <p:spPr>
              <a:xfrm>
                <a:off x="2193840" y="3789360"/>
                <a:ext cx="4897440" cy="809640"/>
              </a:xfrm>
              <a:prstGeom prst="rect">
                <a:avLst/>
              </a:prstGeom>
              <a:blipFill>
                <a:blip r:embed="rId1"/>
                <a:stretch>
                  <a:fillRect/>
                </a:stretch>
              </a:blipFill>
            </p:spPr>
          </p:sp>
        </mc:Fallback>
      </mc:AlternateContent>
      <p:sp>
        <p:nvSpPr>
          <p:cNvPr id="260" name="Rectangle 12"/>
          <p:cNvSpPr/>
          <p:nvPr/>
        </p:nvSpPr>
        <p:spPr>
          <a:xfrm>
            <a:off x="640800" y="4910400"/>
            <a:ext cx="1247400" cy="4597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其中： </a:t>
            </a:r>
            <a:endParaRPr lang="en-US" sz="2400" b="0" u="none" strike="noStrike">
              <a:solidFill>
                <a:srgbClr val="000000"/>
              </a:solidFill>
              <a:effectLst/>
              <a:uFillTx/>
              <a:latin typeface="Times New Roman"/>
            </a:endParaRPr>
          </a:p>
        </p:txBody>
      </p:sp>
      <p:pic>
        <p:nvPicPr>
          <p:cNvPr id="261" name="Picture 15"/>
          <p:cNvPicPr/>
          <p:nvPr/>
        </p:nvPicPr>
        <p:blipFill>
          <a:blip r:embed="rId2"/>
          <a:stretch/>
        </p:blipFill>
        <p:spPr>
          <a:xfrm>
            <a:off x="1042920" y="1197000"/>
            <a:ext cx="2376720" cy="2330280"/>
          </a:xfrm>
          <a:prstGeom prst="rect">
            <a:avLst/>
          </a:prstGeom>
          <a:noFill/>
          <a:ln w="0">
            <a:noFill/>
          </a:ln>
        </p:spPr>
      </p:pic>
      <p:grpSp>
        <p:nvGrpSpPr>
          <p:cNvPr id="262" name="Group 20"/>
          <p:cNvGrpSpPr/>
          <p:nvPr/>
        </p:nvGrpSpPr>
        <p:grpSpPr>
          <a:xfrm>
            <a:off x="1835280" y="4848120"/>
            <a:ext cx="3161880" cy="708120"/>
            <a:chOff x="1835280" y="4848120"/>
            <a:chExt cx="3161880" cy="708120"/>
          </a:xfrm>
        </p:grpSpPr>
        <mc:AlternateContent>
          <mc:Choice xmlns:a14="http://schemas.microsoft.com/office/drawing/2010/main" Requires="a14">
            <p:sp>
              <p:nvSpPr>
                <p:cNvPr id="263" name="Object 10"/>
                <p:cNvSpPr txBox="1"/>
                <p:nvPr/>
              </p:nvSpPr>
              <p:spPr>
                <a:xfrm>
                  <a:off x="1835280" y="4848120"/>
                  <a:ext cx="1582560" cy="708120"/>
                </a:xfrm>
                <a:prstGeom prst="rect">
                  <a:avLst/>
                </a:prstGeom>
              </p:spPr>
              <p:txBody>
                <a:bodyPr/>
                <a:p>
                  <a14:m>
                    <m:oMath xmlns:m="http://schemas.openxmlformats.org/officeDocument/2006/math">
                      <m:r>
                        <m:t xml:space="preserve">β</m:t>
                      </m:r>
                      <m:r>
                        <m:t xml:space="preserve">=</m:t>
                      </m:r>
                      <m:f>
                        <m:num>
                          <m:sSub>
                            <m:e>
                              <m:r>
                                <m:t xml:space="preserve">R</m:t>
                              </m:r>
                            </m:e>
                            <m:sub>
                              <m:r>
                                <m:t xml:space="preserve">1</m:t>
                              </m:r>
                            </m:sub>
                          </m:sSub>
                          <m:r>
                            <m:t xml:space="preserve">+</m:t>
                          </m:r>
                          <m:sSub>
                            <m:e>
                              <m:r>
                                <m:t xml:space="preserve">R</m:t>
                              </m:r>
                            </m:e>
                            <m:sub>
                              <m:r>
                                <m:t xml:space="preserve">2</m:t>
                              </m:r>
                            </m:sub>
                          </m:sSub>
                        </m:num>
                        <m:den>
                          <m:sSub>
                            <m:e>
                              <m:r>
                                <m:t xml:space="preserve">R</m:t>
                              </m:r>
                            </m:e>
                            <m:sub>
                              <m:r>
                                <m:t xml:space="preserve">2</m:t>
                              </m:r>
                            </m:sub>
                          </m:sSub>
                        </m:den>
                      </m:f>
                      <m:r>
                        <m:t xml:space="preserve">&gt;</m:t>
                      </m:r>
                      <m:r>
                        <m:t xml:space="preserve">1</m:t>
                      </m:r>
                    </m:oMath>
                  </a14:m>
                </a:p>
              </p:txBody>
            </p:sp>
          </mc:Choice>
          <mc:Fallback>
            <p:sp>
              <p:nvSpPr>
                <p:cNvPr id="263" name="Object 10"/>
                <p:cNvSpPr txBox="1"/>
                <p:nvPr/>
              </p:nvSpPr>
              <p:spPr>
                <a:xfrm>
                  <a:off x="1835280" y="4848120"/>
                  <a:ext cx="1582560" cy="708120"/>
                </a:xfrm>
                <a:prstGeom prst="rect">
                  <a:avLst/>
                </a:prstGeom>
                <a:blipFill>
                  <a:blip r:embed="rId3"/>
                  <a:stretch>
                    <a:fillRect/>
                  </a:stretch>
                </a:blipFill>
              </p:spPr>
            </p:sp>
          </mc:Fallback>
        </mc:AlternateContent>
        <p:sp>
          <p:nvSpPr>
            <p:cNvPr id="264" name="Rectangle 17"/>
            <p:cNvSpPr/>
            <p:nvPr/>
          </p:nvSpPr>
          <p:spPr>
            <a:xfrm>
              <a:off x="3292200" y="4942080"/>
              <a:ext cx="170496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a:t>
              </a:r>
              <a:r>
                <a:rPr lang="zh-CN" sz="2400" b="0" u="none" strike="noStrike">
                  <a:solidFill>
                    <a:srgbClr val="000000"/>
                  </a:solidFill>
                  <a:effectLst/>
                  <a:uFillTx/>
                  <a:latin typeface="Times New Roman"/>
                </a:rPr>
                <a:t>校正强度</a:t>
              </a:r>
              <a:endParaRPr lang="en-US" sz="2400" b="0" u="none" strike="noStrike">
                <a:solidFill>
                  <a:srgbClr val="000000"/>
                </a:solidFill>
                <a:effectLst/>
                <a:uFillTx/>
                <a:latin typeface="Times New Roman"/>
              </a:endParaRPr>
            </a:p>
          </p:txBody>
        </p:sp>
      </p:grpSp>
      <p:grpSp>
        <p:nvGrpSpPr>
          <p:cNvPr id="265" name="Group 19"/>
          <p:cNvGrpSpPr/>
          <p:nvPr/>
        </p:nvGrpSpPr>
        <p:grpSpPr>
          <a:xfrm>
            <a:off x="5435640" y="4941720"/>
            <a:ext cx="2587320" cy="459720"/>
            <a:chOff x="5435640" y="4941720"/>
            <a:chExt cx="2587320" cy="459720"/>
          </a:xfrm>
        </p:grpSpPr>
        <mc:AlternateContent>
          <mc:Choice xmlns:a14="http://schemas.microsoft.com/office/drawing/2010/main" Requires="a14">
            <p:sp>
              <p:nvSpPr>
                <p:cNvPr id="266" name="Object 11"/>
                <p:cNvSpPr txBox="1"/>
                <p:nvPr/>
              </p:nvSpPr>
              <p:spPr>
                <a:xfrm>
                  <a:off x="5435640" y="4941720"/>
                  <a:ext cx="1007640" cy="380880"/>
                </a:xfrm>
                <a:prstGeom prst="rect">
                  <a:avLst/>
                </a:prstGeom>
              </p:spPr>
              <p:txBody>
                <a:bodyPr/>
                <a:p>
                  <a14:m>
                    <m:oMath xmlns:m="http://schemas.openxmlformats.org/officeDocument/2006/math">
                      <m:r>
                        <m:t xml:space="preserve">T</m:t>
                      </m:r>
                      <m:r>
                        <m:t xml:space="preserve">=</m:t>
                      </m:r>
                      <m:sSub>
                        <m:e>
                          <m:r>
                            <m:t xml:space="preserve">R</m:t>
                          </m:r>
                        </m:e>
                        <m:sub>
                          <m:r>
                            <m:t xml:space="preserve">2</m:t>
                          </m:r>
                        </m:sub>
                      </m:sSub>
                      <m:r>
                        <m:t xml:space="preserve">C</m:t>
                      </m:r>
                    </m:oMath>
                  </a14:m>
                </a:p>
              </p:txBody>
            </p:sp>
          </mc:Choice>
          <mc:Fallback>
            <p:sp>
              <p:nvSpPr>
                <p:cNvPr id="266" name="Object 11"/>
                <p:cNvSpPr txBox="1"/>
                <p:nvPr/>
              </p:nvSpPr>
              <p:spPr>
                <a:xfrm>
                  <a:off x="5435640" y="4941720"/>
                  <a:ext cx="1007640" cy="380880"/>
                </a:xfrm>
                <a:prstGeom prst="rect">
                  <a:avLst/>
                </a:prstGeom>
                <a:blipFill>
                  <a:blip r:embed="rId4"/>
                  <a:stretch>
                    <a:fillRect/>
                  </a:stretch>
                </a:blipFill>
              </p:spPr>
            </p:sp>
          </mc:Fallback>
        </mc:AlternateContent>
        <p:sp>
          <p:nvSpPr>
            <p:cNvPr id="267" name="Rectangle 18"/>
            <p:cNvSpPr/>
            <p:nvPr/>
          </p:nvSpPr>
          <p:spPr>
            <a:xfrm>
              <a:off x="6318000" y="4941720"/>
              <a:ext cx="170496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a:t>
              </a:r>
              <a:r>
                <a:rPr lang="zh-CN" sz="2400" b="0" u="none" strike="noStrike">
                  <a:solidFill>
                    <a:srgbClr val="000000"/>
                  </a:solidFill>
                  <a:effectLst/>
                  <a:uFillTx/>
                  <a:latin typeface="Times New Roman"/>
                </a:rPr>
                <a:t>时间常数</a:t>
              </a:r>
              <a:endParaRPr lang="en-US" sz="2400" b="0" u="none" strike="noStrike">
                <a:solidFill>
                  <a:srgbClr val="000000"/>
                </a:solidFill>
                <a:effectLst/>
                <a:uFillTx/>
                <a:latin typeface="Times New Roman"/>
              </a:endParaRPr>
            </a:p>
          </p:txBody>
        </p:sp>
      </p:grpSp>
      <p:graphicFrame>
        <p:nvGraphicFramePr>
          <p:cNvPr id="268" name="Object 21"/>
          <p:cNvGraphicFramePr/>
          <p:nvPr/>
        </p:nvGraphicFramePr>
        <p:xfrm>
          <a:off x="4140360" y="1197000"/>
          <a:ext cx="3743280" cy="2324160"/>
        </p:xfrm>
        <a:graphic>
          <a:graphicData uri="http://schemas.openxmlformats.org/presentationml/2006/ole">
            <p:oleObj r:id="rId5" spid="">
              <p:embed/>
              <p:pic>
                <p:nvPicPr>
                  <p:cNvPr id="269" name="Object 21"/>
                  <p:cNvPicPr/>
                  <p:nvPr/>
                </p:nvPicPr>
                <p:blipFill>
                  <a:blip r:embed="rId6"/>
                  <a:stretch/>
                </p:blipFill>
                <p:spPr>
                  <a:xfrm>
                    <a:off x="4140360" y="1197000"/>
                    <a:ext cx="3743280" cy="2324160"/>
                  </a:xfrm>
                  <a:prstGeom prst="rect">
                    <a:avLst/>
                  </a:prstGeom>
                  <a:solidFill>
                    <a:srgbClr val="CCFFCC"/>
                  </a:solidFill>
                  <a:ln w="0">
                    <a:noFill/>
                  </a:ln>
                </p:spPr>
              </p:pic>
            </p:oleObj>
          </a:graphicData>
        </a:graphic>
      </p:graphicFrame>
      <p:sp>
        <p:nvSpPr>
          <p:cNvPr id="270" name="Rectangle 22"/>
          <p:cNvSpPr/>
          <p:nvPr/>
        </p:nvSpPr>
        <p:spPr>
          <a:xfrm>
            <a:off x="754200" y="5662440"/>
            <a:ext cx="3097080" cy="459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特点：产生相位滞后</a:t>
            </a:r>
            <a:endParaRPr lang="en-US" sz="2400" b="0" u="none" strike="noStrike">
              <a:solidFill>
                <a:srgbClr val="000000"/>
              </a:solidFill>
              <a:effectLst/>
              <a:uFillTx/>
              <a:latin typeface="Times New Roman"/>
            </a:endParaRPr>
          </a:p>
        </p:txBody>
      </p:sp>
    </p:spTree>
  </p:cSld>
  <p:transition>
    <p:random/>
  </p:transition>
  <p:timing>
    <p:tnLst>
      <p:par>
        <p:cTn id="325" dur="indefinite" restart="never" nodeType="tmRoot">
          <p:childTnLst>
            <p:seq>
              <p:cTn id="326" dur="indefinite" nodeType="mainSeq">
                <p:childTnLst>
                  <p:par>
                    <p:cTn id="327" fill="hold" nodeType="clickEffect">
                      <p:stCondLst>
                        <p:cond delay="indefinite"/>
                      </p:stCondLst>
                      <p:childTnLst>
                        <p:par>
                          <p:cTn id="328" fill="hold" nodeType="withEffect">
                            <p:stCondLst>
                              <p:cond delay="0"/>
                            </p:stCondLst>
                            <p:childTnLst>
                              <p:par>
                                <p:cTn id="329" presetID="3" presetClass="entr" fill="hold" nodeType="clickEffect" presetSubtype="10">
                                  <p:stCondLst>
                                    <p:cond delay="0"/>
                                  </p:stCondLst>
                                  <p:childTnLst>
                                    <p:set>
                                      <p:cBhvr>
                                        <p:cTn id="330" dur="1" fill="hold">
                                          <p:stCondLst>
                                            <p:cond delay="0"/>
                                          </p:stCondLst>
                                        </p:cTn>
                                        <p:tgtEl>
                                          <p:spTgt spid="256"/>
                                        </p:tgtEl>
                                        <p:attrNameLst>
                                          <p:attrName>style.visibility</p:attrName>
                                        </p:attrNameLst>
                                      </p:cBhvr>
                                      <p:to>
                                        <p:strVal val="visible"/>
                                      </p:to>
                                    </p:set>
                                    <p:animEffect transition="in" filter="blinds(horizontal)">
                                      <p:cBhvr additive="repl">
                                        <p:cTn id="331" dur="500"/>
                                        <p:tgtEl>
                                          <p:spTgt spid="256"/>
                                        </p:tgtEl>
                                      </p:cBhvr>
                                    </p:animEffect>
                                  </p:childTnLst>
                                </p:cTn>
                              </p:par>
                            </p:childTnLst>
                          </p:cTn>
                        </p:par>
                      </p:childTnLst>
                    </p:cTn>
                  </p:par>
                  <p:par>
                    <p:cTn id="332" fill="hold" nodeType="clickEffect">
                      <p:stCondLst>
                        <p:cond delay="indefinite"/>
                      </p:stCondLst>
                      <p:childTnLst>
                        <p:par>
                          <p:cTn id="333" fill="hold" nodeType="withEffect">
                            <p:stCondLst>
                              <p:cond delay="0"/>
                            </p:stCondLst>
                            <p:childTnLst>
                              <p:par>
                                <p:cTn id="334" presetID="3" presetClass="entr" fill="hold" nodeType="clickEffect" presetSubtype="10">
                                  <p:stCondLst>
                                    <p:cond delay="0"/>
                                  </p:stCondLst>
                                  <p:childTnLst>
                                    <p:set>
                                      <p:cBhvr>
                                        <p:cTn id="335" dur="1" fill="hold">
                                          <p:stCondLst>
                                            <p:cond delay="0"/>
                                          </p:stCondLst>
                                        </p:cTn>
                                        <p:tgtEl>
                                          <p:spTgt spid="261"/>
                                        </p:tgtEl>
                                        <p:attrNameLst>
                                          <p:attrName>style.visibility</p:attrName>
                                        </p:attrNameLst>
                                      </p:cBhvr>
                                      <p:to>
                                        <p:strVal val="visible"/>
                                      </p:to>
                                    </p:set>
                                    <p:animEffect transition="in" filter="blinds(horizontal)">
                                      <p:cBhvr additive="repl">
                                        <p:cTn id="336" dur="500"/>
                                        <p:tgtEl>
                                          <p:spTgt spid="261"/>
                                        </p:tgtEl>
                                      </p:cBhvr>
                                    </p:animEffect>
                                  </p:childTnLst>
                                </p:cTn>
                              </p:par>
                            </p:childTnLst>
                          </p:cTn>
                        </p:par>
                      </p:childTnLst>
                    </p:cTn>
                  </p:par>
                  <p:par>
                    <p:cTn id="337" fill="hold" nodeType="clickEffect">
                      <p:stCondLst>
                        <p:cond delay="indefinite"/>
                      </p:stCondLst>
                      <p:childTnLst>
                        <p:par>
                          <p:cTn id="338" fill="hold" nodeType="withEffect">
                            <p:stCondLst>
                              <p:cond delay="0"/>
                            </p:stCondLst>
                            <p:childTnLst>
                              <p:par>
                                <p:cTn id="339" presetID="3" presetClass="entr" fill="hold" nodeType="clickEffect" presetSubtype="10">
                                  <p:stCondLst>
                                    <p:cond delay="0"/>
                                  </p:stCondLst>
                                  <p:childTnLst>
                                    <p:set>
                                      <p:cBhvr>
                                        <p:cTn id="340" dur="1" fill="hold">
                                          <p:stCondLst>
                                            <p:cond delay="0"/>
                                          </p:stCondLst>
                                        </p:cTn>
                                        <p:tgtEl>
                                          <p:spTgt spid="258"/>
                                        </p:tgtEl>
                                        <p:attrNameLst>
                                          <p:attrName>style.visibility</p:attrName>
                                        </p:attrNameLst>
                                      </p:cBhvr>
                                      <p:to>
                                        <p:strVal val="visible"/>
                                      </p:to>
                                    </p:set>
                                    <p:animEffect transition="in" filter="blinds(horizontal)">
                                      <p:cBhvr additive="repl">
                                        <p:cTn id="341" dur="500"/>
                                        <p:tgtEl>
                                          <p:spTgt spid="258"/>
                                        </p:tgtEl>
                                      </p:cBhvr>
                                    </p:animEffect>
                                  </p:childTnLst>
                                </p:cTn>
                              </p:par>
                              <p:par>
                                <p:cTn id="342" presetID="3" presetClass="entr" fill="hold" nodeType="withEffect" presetSubtype="10">
                                  <p:stCondLst>
                                    <p:cond delay="0"/>
                                  </p:stCondLst>
                                  <p:childTnLst>
                                    <p:set>
                                      <p:cBhvr>
                                        <p:cTn id="343" dur="1" fill="hold">
                                          <p:stCondLst>
                                            <p:cond delay="0"/>
                                          </p:stCondLst>
                                        </p:cTn>
                                        <p:tgtEl>
                                          <p:spTgt spid="259"/>
                                        </p:tgtEl>
                                        <p:attrNameLst>
                                          <p:attrName>style.visibility</p:attrName>
                                        </p:attrNameLst>
                                      </p:cBhvr>
                                      <p:to>
                                        <p:strVal val="visible"/>
                                      </p:to>
                                    </p:set>
                                    <p:animEffect transition="in" filter="blinds(horizontal)">
                                      <p:cBhvr additive="repl">
                                        <p:cTn id="344" dur="500"/>
                                        <p:tgtEl>
                                          <p:spTgt spid="259"/>
                                        </p:tgtEl>
                                      </p:cBhvr>
                                    </p:animEffect>
                                  </p:childTnLst>
                                </p:cTn>
                              </p:par>
                            </p:childTnLst>
                          </p:cTn>
                        </p:par>
                      </p:childTnLst>
                    </p:cTn>
                  </p:par>
                  <p:par>
                    <p:cTn id="345" fill="hold" nodeType="clickEffect">
                      <p:stCondLst>
                        <p:cond delay="indefinite"/>
                      </p:stCondLst>
                      <p:childTnLst>
                        <p:par>
                          <p:cTn id="346" fill="hold" nodeType="withEffect">
                            <p:stCondLst>
                              <p:cond delay="0"/>
                            </p:stCondLst>
                            <p:childTnLst>
                              <p:par>
                                <p:cTn id="347" presetID="3" presetClass="entr" fill="hold" nodeType="clickEffect" presetSubtype="10">
                                  <p:stCondLst>
                                    <p:cond delay="0"/>
                                  </p:stCondLst>
                                  <p:childTnLst>
                                    <p:set>
                                      <p:cBhvr>
                                        <p:cTn id="348" dur="1" fill="hold">
                                          <p:stCondLst>
                                            <p:cond delay="0"/>
                                          </p:stCondLst>
                                        </p:cTn>
                                        <p:tgtEl>
                                          <p:spTgt spid="260"/>
                                        </p:tgtEl>
                                        <p:attrNameLst>
                                          <p:attrName>style.visibility</p:attrName>
                                        </p:attrNameLst>
                                      </p:cBhvr>
                                      <p:to>
                                        <p:strVal val="visible"/>
                                      </p:to>
                                    </p:set>
                                    <p:animEffect transition="in" filter="blinds(horizontal)">
                                      <p:cBhvr additive="repl">
                                        <p:cTn id="349" dur="500"/>
                                        <p:tgtEl>
                                          <p:spTgt spid="260"/>
                                        </p:tgtEl>
                                      </p:cBhvr>
                                    </p:animEffect>
                                  </p:childTnLst>
                                </p:cTn>
                              </p:par>
                              <p:par>
                                <p:cTn id="350" presetID="3" presetClass="entr" fill="hold" nodeType="withEffect" presetSubtype="10">
                                  <p:stCondLst>
                                    <p:cond delay="0"/>
                                  </p:stCondLst>
                                  <p:childTnLst>
                                    <p:set>
                                      <p:cBhvr>
                                        <p:cTn id="351" dur="1" fill="hold">
                                          <p:stCondLst>
                                            <p:cond delay="0"/>
                                          </p:stCondLst>
                                        </p:cTn>
                                        <p:tgtEl>
                                          <p:spTgt spid="262"/>
                                        </p:tgtEl>
                                        <p:attrNameLst>
                                          <p:attrName>style.visibility</p:attrName>
                                        </p:attrNameLst>
                                      </p:cBhvr>
                                      <p:to>
                                        <p:strVal val="visible"/>
                                      </p:to>
                                    </p:set>
                                    <p:animEffect transition="in" filter="blinds(horizontal)">
                                      <p:cBhvr additive="repl">
                                        <p:cTn id="352" dur="500"/>
                                        <p:tgtEl>
                                          <p:spTgt spid="262"/>
                                        </p:tgtEl>
                                      </p:cBhvr>
                                    </p:animEffect>
                                  </p:childTnLst>
                                </p:cTn>
                              </p:par>
                              <p:par>
                                <p:cTn id="353" presetID="3" presetClass="entr" fill="hold" nodeType="withEffect" presetSubtype="10">
                                  <p:stCondLst>
                                    <p:cond delay="0"/>
                                  </p:stCondLst>
                                  <p:childTnLst>
                                    <p:set>
                                      <p:cBhvr>
                                        <p:cTn id="354" dur="1" fill="hold">
                                          <p:stCondLst>
                                            <p:cond delay="0"/>
                                          </p:stCondLst>
                                        </p:cTn>
                                        <p:tgtEl>
                                          <p:spTgt spid="265"/>
                                        </p:tgtEl>
                                        <p:attrNameLst>
                                          <p:attrName>style.visibility</p:attrName>
                                        </p:attrNameLst>
                                      </p:cBhvr>
                                      <p:to>
                                        <p:strVal val="visible"/>
                                      </p:to>
                                    </p:set>
                                    <p:animEffect transition="in" filter="blinds(horizontal)">
                                      <p:cBhvr additive="repl">
                                        <p:cTn id="355" dur="500"/>
                                        <p:tgtEl>
                                          <p:spTgt spid="265"/>
                                        </p:tgtEl>
                                      </p:cBhvr>
                                    </p:animEffect>
                                  </p:childTnLst>
                                </p:cTn>
                              </p:par>
                            </p:childTnLst>
                          </p:cTn>
                        </p:par>
                      </p:childTnLst>
                    </p:cTn>
                  </p:par>
                  <p:par>
                    <p:cTn id="356" fill="hold" nodeType="clickEffect">
                      <p:stCondLst>
                        <p:cond delay="indefinite"/>
                      </p:stCondLst>
                      <p:childTnLst>
                        <p:par>
                          <p:cTn id="357" fill="hold" nodeType="withEffect">
                            <p:stCondLst>
                              <p:cond delay="0"/>
                            </p:stCondLst>
                            <p:childTnLst>
                              <p:par>
                                <p:cTn id="358" presetID="2" presetClass="entr" fill="hold" nodeType="clickEffect" presetSubtype="2">
                                  <p:stCondLst>
                                    <p:cond delay="0"/>
                                  </p:stCondLst>
                                  <p:childTnLst>
                                    <p:set>
                                      <p:cBhvr>
                                        <p:cTn id="359" dur="1" fill="hold">
                                          <p:stCondLst>
                                            <p:cond delay="0"/>
                                          </p:stCondLst>
                                        </p:cTn>
                                        <p:tgtEl>
                                          <p:spTgt spid="268"/>
                                        </p:tgtEl>
                                        <p:attrNameLst>
                                          <p:attrName>style.visibility</p:attrName>
                                        </p:attrNameLst>
                                      </p:cBhvr>
                                      <p:to>
                                        <p:strVal val="visible"/>
                                      </p:to>
                                    </p:set>
                                    <p:anim calcmode="lin" valueType="num">
                                      <p:cBhvr additive="base">
                                        <p:cTn id="360" dur="1000" fill="hold"/>
                                        <p:tgtEl>
                                          <p:spTgt spid="268"/>
                                        </p:tgtEl>
                                        <p:attrNameLst>
                                          <p:attrName>ppt_x</p:attrName>
                                        </p:attrNameLst>
                                      </p:cBhvr>
                                      <p:tavLst>
                                        <p:tav>
                                          <p:val>
                                            <p:strVal val="1+#ppt_w/2"/>
                                          </p:val>
                                        </p:tav>
                                        <p:tav tm="100000">
                                          <p:val>
                                            <p:strVal val="#ppt_x"/>
                                          </p:val>
                                        </p:tav>
                                      </p:tavLst>
                                    </p:anim>
                                    <p:anim calcmode="lin" valueType="num">
                                      <p:cBhvr additive="base">
                                        <p:cTn id="361" dur="1000" fill="hold"/>
                                        <p:tgtEl>
                                          <p:spTgt spid="268"/>
                                        </p:tgtEl>
                                        <p:attrNameLst>
                                          <p:attrName>ppt_y</p:attrName>
                                        </p:attrNameLst>
                                      </p:cBhvr>
                                      <p:tavLst>
                                        <p:tav>
                                          <p:val>
                                            <p:strVal val="#ppt_y"/>
                                          </p:val>
                                        </p:tav>
                                        <p:tav tm="100000">
                                          <p:val>
                                            <p:strVal val="#ppt_y"/>
                                          </p:val>
                                        </p:tav>
                                      </p:tavLst>
                                    </p:anim>
                                  </p:childTnLst>
                                </p:cTn>
                              </p:par>
                            </p:childTnLst>
                          </p:cTn>
                        </p:par>
                      </p:childTnLst>
                    </p:cTn>
                  </p:par>
                  <p:par>
                    <p:cTn id="362" fill="hold" nodeType="clickEffect">
                      <p:stCondLst>
                        <p:cond delay="indefinite"/>
                      </p:stCondLst>
                      <p:childTnLst>
                        <p:par>
                          <p:cTn id="363" fill="hold" nodeType="withEffect">
                            <p:stCondLst>
                              <p:cond delay="0"/>
                            </p:stCondLst>
                            <p:childTnLst>
                              <p:par>
                                <p:cTn id="364" presetID="3" presetClass="entr" fill="hold" nodeType="clickEffect" presetSubtype="10">
                                  <p:stCondLst>
                                    <p:cond delay="0"/>
                                  </p:stCondLst>
                                  <p:childTnLst>
                                    <p:set>
                                      <p:cBhvr>
                                        <p:cTn id="365" dur="1" fill="hold">
                                          <p:stCondLst>
                                            <p:cond delay="0"/>
                                          </p:stCondLst>
                                        </p:cTn>
                                        <p:tgtEl>
                                          <p:spTgt spid="270"/>
                                        </p:tgtEl>
                                        <p:attrNameLst>
                                          <p:attrName>style.visibility</p:attrName>
                                        </p:attrNameLst>
                                      </p:cBhvr>
                                      <p:to>
                                        <p:strVal val="visible"/>
                                      </p:to>
                                    </p:set>
                                    <p:animEffect transition="in" filter="blinds(horizontal)">
                                      <p:cBhvr additive="repl">
                                        <p:cTn id="366" dur="5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414039D-9271-46C2-BB6B-E545C10C1BF3}"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272" name="Rectangle 10"/>
          <p:cNvSpPr/>
          <p:nvPr/>
        </p:nvSpPr>
        <p:spPr>
          <a:xfrm>
            <a:off x="1026720" y="620640"/>
            <a:ext cx="29138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3</a:t>
            </a:r>
            <a:r>
              <a:rPr lang="zh-CN" sz="2000" b="1" u="none" strike="noStrike">
                <a:solidFill>
                  <a:srgbClr val="008080"/>
                </a:solidFill>
                <a:effectLst/>
                <a:uFillTx/>
                <a:latin typeface="Times New Roman"/>
              </a:rPr>
              <a:t>、无源滞后－超前网络</a:t>
            </a:r>
            <a:endParaRPr lang="en-US" sz="2000" b="0" u="none" strike="noStrike">
              <a:solidFill>
                <a:srgbClr val="000000"/>
              </a:solidFill>
              <a:effectLst/>
              <a:uFillTx/>
              <a:latin typeface="Times New Roman"/>
            </a:endParaRPr>
          </a:p>
        </p:txBody>
      </p:sp>
      <p:graphicFrame>
        <p:nvGraphicFramePr>
          <p:cNvPr id="273" name="Object 50"/>
          <p:cNvGraphicFramePr/>
          <p:nvPr/>
        </p:nvGraphicFramePr>
        <p:xfrm>
          <a:off x="395280" y="1125360"/>
          <a:ext cx="2736720" cy="1994040"/>
        </p:xfrm>
        <a:graphic>
          <a:graphicData uri="http://schemas.openxmlformats.org/presentationml/2006/ole">
            <p:oleObj r:id="rId1" spid="">
              <p:embed/>
              <p:pic>
                <p:nvPicPr>
                  <p:cNvPr id="274" name="Object 50"/>
                  <p:cNvPicPr/>
                  <p:nvPr/>
                </p:nvPicPr>
                <p:blipFill>
                  <a:blip r:embed="rId2"/>
                  <a:stretch/>
                </p:blipFill>
                <p:spPr>
                  <a:xfrm>
                    <a:off x="395280" y="1125360"/>
                    <a:ext cx="2736720" cy="1994040"/>
                  </a:xfrm>
                  <a:prstGeom prst="rect">
                    <a:avLst/>
                  </a:prstGeom>
                  <a:solidFill>
                    <a:srgbClr val="CCFFCC"/>
                  </a:solidFill>
                  <a:ln w="0">
                    <a:noFill/>
                  </a:ln>
                </p:spPr>
              </p:pic>
            </p:oleObj>
          </a:graphicData>
        </a:graphic>
      </p:graphicFrame>
      <p:sp>
        <p:nvSpPr>
          <p:cNvPr id="275" name="Rectangle 56"/>
          <p:cNvSpPr/>
          <p:nvPr/>
        </p:nvSpPr>
        <p:spPr>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276" name="Group 88"/>
          <p:cNvGrpSpPr/>
          <p:nvPr/>
        </p:nvGrpSpPr>
        <p:grpSpPr>
          <a:xfrm>
            <a:off x="399600" y="3429000"/>
            <a:ext cx="8133120" cy="936720"/>
            <a:chOff x="399600" y="3429000"/>
            <a:chExt cx="8133120" cy="936720"/>
          </a:xfrm>
        </p:grpSpPr>
        <p:sp>
          <p:nvSpPr>
            <p:cNvPr id="277" name="Rectangle 52"/>
            <p:cNvSpPr/>
            <p:nvPr/>
          </p:nvSpPr>
          <p:spPr>
            <a:xfrm>
              <a:off x="399600" y="3500280"/>
              <a:ext cx="14533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传递函数：</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278" name="Object 55"/>
                <p:cNvSpPr txBox="1"/>
                <p:nvPr/>
              </p:nvSpPr>
              <p:spPr>
                <a:xfrm>
                  <a:off x="1835280" y="3429000"/>
                  <a:ext cx="5329080" cy="93672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sSub>
                            <m:e>
                              <m:r>
                                <m:t xml:space="preserve">U</m:t>
                              </m:r>
                            </m:e>
                            <m:sub>
                              <m:r>
                                <m:t xml:space="preserve">2</m:t>
                              </m:r>
                            </m:sub>
                          </m:sSub>
                          <m:r>
                            <m:t xml:space="preserve">(</m:t>
                          </m:r>
                          <m:r>
                            <m:t xml:space="preserve">s</m:t>
                          </m:r>
                          <m:r>
                            <m:t xml:space="preserve">)</m:t>
                          </m:r>
                        </m:num>
                        <m:den>
                          <m:sSub>
                            <m:e>
                              <m:r>
                                <m:t xml:space="preserve">U</m:t>
                              </m:r>
                            </m:e>
                            <m:sub>
                              <m:r>
                                <m:t xml:space="preserve">1</m:t>
                              </m:r>
                            </m:sub>
                          </m:sSub>
                          <m:r>
                            <m:t xml:space="preserve">(</m:t>
                          </m:r>
                          <m:r>
                            <m:t xml:space="preserve">s</m:t>
                          </m:r>
                          <m:r>
                            <m:t xml:space="preserve">)</m:t>
                          </m:r>
                        </m:den>
                      </m:f>
                      <m:r>
                        <m:t xml:space="preserve">=</m:t>
                      </m:r>
                      <m:f>
                        <m:num>
                          <m:r>
                            <m:t xml:space="preserve">(</m:t>
                          </m:r>
                          <m:r>
                            <m:t xml:space="preserve">1</m:t>
                          </m:r>
                          <m:r>
                            <m:t xml:space="preserve">+</m:t>
                          </m:r>
                          <m:sSub>
                            <m:e>
                              <m:r>
                                <m:t xml:space="preserve">T</m:t>
                              </m:r>
                            </m:e>
                            <m:sub>
                              <m:r>
                                <m:t xml:space="preserve">1</m:t>
                              </m:r>
                            </m:sub>
                          </m:sSub>
                          <m:r>
                            <m:t xml:space="preserve">S</m:t>
                          </m:r>
                          <m:r>
                            <m:t xml:space="preserve">)</m:t>
                          </m:r>
                          <m:r>
                            <m:t xml:space="preserve">(</m:t>
                          </m:r>
                          <m:r>
                            <m:t xml:space="preserve">1</m:t>
                          </m:r>
                          <m:r>
                            <m:t xml:space="preserve">+</m:t>
                          </m:r>
                          <m:sSub>
                            <m:e>
                              <m:r>
                                <m:t xml:space="preserve">T</m:t>
                              </m:r>
                            </m:e>
                            <m:sub>
                              <m:r>
                                <m:t xml:space="preserve">2</m:t>
                              </m:r>
                            </m:sub>
                          </m:sSub>
                          <m:r>
                            <m:t xml:space="preserve">S</m:t>
                          </m:r>
                          <m:r>
                            <m:t xml:space="preserve">)</m:t>
                          </m:r>
                        </m:num>
                        <m:den>
                          <m:sSub>
                            <m:e>
                              <m:r>
                                <m:t xml:space="preserve">T</m:t>
                              </m:r>
                            </m:e>
                            <m:sub>
                              <m:r>
                                <m:t xml:space="preserve">1</m:t>
                              </m:r>
                            </m:sub>
                          </m:sSub>
                          <m:sSub>
                            <m:e>
                              <m:r>
                                <m:t xml:space="preserve">T</m:t>
                              </m:r>
                            </m:e>
                            <m:sub>
                              <m:r>
                                <m:t xml:space="preserve">2</m:t>
                              </m:r>
                            </m:sub>
                          </m:sSub>
                          <m:r>
                            <m:t xml:space="preserve">(</m:t>
                          </m:r>
                          <m:r>
                            <m:t xml:space="preserve">1</m:t>
                          </m:r>
                          <m:r>
                            <m:t xml:space="preserve">+</m:t>
                          </m:r>
                          <m:f>
                            <m:num>
                              <m:sSub>
                                <m:e>
                                  <m:r>
                                    <m:t xml:space="preserve">R</m:t>
                                  </m:r>
                                </m:e>
                                <m:sub>
                                  <m:r>
                                    <m:t xml:space="preserve">3</m:t>
                                  </m:r>
                                </m:sub>
                              </m:sSub>
                            </m:num>
                            <m:den>
                              <m:sSub>
                                <m:e>
                                  <m:r>
                                    <m:t xml:space="preserve">R</m:t>
                                  </m:r>
                                </m:e>
                                <m:sub>
                                  <m:r>
                                    <m:t xml:space="preserve">1</m:t>
                                  </m:r>
                                </m:sub>
                              </m:sSub>
                            </m:den>
                          </m:f>
                          <m:r>
                            <m:t xml:space="preserve">)</m:t>
                          </m:r>
                          <m:sSup>
                            <m:e>
                              <m:r>
                                <m:t xml:space="preserve">S</m:t>
                              </m:r>
                            </m:e>
                            <m:sup>
                              <m:r>
                                <m:t xml:space="preserve">2</m:t>
                              </m:r>
                            </m:sup>
                          </m:sSup>
                          <m:r>
                            <m:t xml:space="preserve">+</m:t>
                          </m:r>
                          <m:r>
                            <m:t xml:space="preserve">(</m:t>
                          </m:r>
                          <m:sSub>
                            <m:e>
                              <m:r>
                                <m:t xml:space="preserve">T</m:t>
                              </m:r>
                            </m:e>
                            <m:sub>
                              <m:r>
                                <m:t xml:space="preserve">2</m:t>
                              </m:r>
                            </m:sub>
                          </m:sSub>
                          <m:r>
                            <m:t xml:space="preserve">+</m:t>
                          </m:r>
                          <m:sSub>
                            <m:e>
                              <m:r>
                                <m:t xml:space="preserve">T</m:t>
                              </m:r>
                            </m:e>
                            <m:sub>
                              <m:r>
                                <m:t xml:space="preserve">1</m:t>
                              </m:r>
                            </m:sub>
                          </m:sSub>
                          <m:f>
                            <m:num>
                              <m:sSub>
                                <m:e>
                                  <m:r>
                                    <m:t xml:space="preserve">R</m:t>
                                  </m:r>
                                </m:e>
                                <m:sub>
                                  <m:r>
                                    <m:t xml:space="preserve">1</m:t>
                                  </m:r>
                                </m:sub>
                              </m:sSub>
                              <m:r>
                                <m:t xml:space="preserve">+</m:t>
                              </m:r>
                              <m:sSub>
                                <m:e>
                                  <m:r>
                                    <m:t xml:space="preserve">R</m:t>
                                  </m:r>
                                </m:e>
                                <m:sub>
                                  <m:r>
                                    <m:t xml:space="preserve">2</m:t>
                                  </m:r>
                                </m:sub>
                              </m:sSub>
                              <m:r>
                                <m:t xml:space="preserve">+</m:t>
                              </m:r>
                              <m:sSub>
                                <m:e>
                                  <m:r>
                                    <m:t xml:space="preserve">R</m:t>
                                  </m:r>
                                </m:e>
                                <m:sub>
                                  <m:r>
                                    <m:t xml:space="preserve">3</m:t>
                                  </m:r>
                                </m:sub>
                              </m:sSub>
                            </m:num>
                            <m:den>
                              <m:sSub>
                                <m:e>
                                  <m:r>
                                    <m:t xml:space="preserve">R</m:t>
                                  </m:r>
                                </m:e>
                                <m:sub>
                                  <m:r>
                                    <m:t xml:space="preserve">1</m:t>
                                  </m:r>
                                </m:sub>
                              </m:sSub>
                            </m:den>
                          </m:f>
                          <m:r>
                            <m:t xml:space="preserve">)</m:t>
                          </m:r>
                          <m:r>
                            <m:t xml:space="preserve">S</m:t>
                          </m:r>
                          <m:r>
                            <m:t xml:space="preserve">+</m:t>
                          </m:r>
                          <m:r>
                            <m:t xml:space="preserve">1</m:t>
                          </m:r>
                        </m:den>
                      </m:f>
                    </m:oMath>
                  </a14:m>
                </a:p>
              </p:txBody>
            </p:sp>
          </mc:Choice>
          <mc:Fallback>
            <p:sp>
              <p:nvSpPr>
                <p:cNvPr id="278" name="Object 55"/>
                <p:cNvSpPr txBox="1"/>
                <p:nvPr/>
              </p:nvSpPr>
              <p:spPr>
                <a:xfrm>
                  <a:off x="1835280" y="3429000"/>
                  <a:ext cx="5329080" cy="936720"/>
                </a:xfrm>
                <a:prstGeom prst="rect">
                  <a:avLst/>
                </a:prstGeom>
                <a:blipFill>
                  <a:blip r:embed="rId3"/>
                  <a:stretch>
                    <a:fillRect/>
                  </a:stretch>
                </a:blipFill>
              </p:spPr>
            </p:sp>
          </mc:Fallback>
        </mc:AlternateContent>
        <mc:AlternateContent>
          <mc:Choice xmlns:a14="http://schemas.microsoft.com/office/drawing/2010/main" Requires="a14">
            <p:sp>
              <p:nvSpPr>
                <p:cNvPr id="279" name="Object 58"/>
                <p:cNvSpPr txBox="1"/>
                <p:nvPr/>
              </p:nvSpPr>
              <p:spPr>
                <a:xfrm>
                  <a:off x="7524720" y="3500280"/>
                  <a:ext cx="936720" cy="336600"/>
                </a:xfrm>
                <a:prstGeom prst="rect">
                  <a:avLst/>
                </a:prstGeom>
              </p:spPr>
              <p:txBody>
                <a:bodyPr/>
                <a:p>
                  <a14:m>
                    <m:oMath xmlns:m="http://schemas.openxmlformats.org/officeDocument/2006/math">
                      <m:sSub>
                        <m:e>
                          <m:r>
                            <m:t xml:space="preserve">T</m:t>
                          </m:r>
                        </m:e>
                        <m:sub>
                          <m:r>
                            <m:t xml:space="preserve">1</m:t>
                          </m:r>
                        </m:sub>
                      </m:sSub>
                      <m:r>
                        <m:t xml:space="preserve">=</m:t>
                      </m:r>
                      <m:sSub>
                        <m:e>
                          <m:r>
                            <m:t xml:space="preserve">R</m:t>
                          </m:r>
                        </m:e>
                        <m:sub>
                          <m:r>
                            <m:t xml:space="preserve">1</m:t>
                          </m:r>
                        </m:sub>
                      </m:sSub>
                      <m:sSub>
                        <m:e>
                          <m:r>
                            <m:t xml:space="preserve">C</m:t>
                          </m:r>
                        </m:e>
                        <m:sub>
                          <m:r>
                            <m:t xml:space="preserve">1</m:t>
                          </m:r>
                        </m:sub>
                      </m:sSub>
                    </m:oMath>
                  </a14:m>
                </a:p>
              </p:txBody>
            </p:sp>
          </mc:Choice>
          <mc:Fallback>
            <p:sp>
              <p:nvSpPr>
                <p:cNvPr id="279" name="Object 58"/>
                <p:cNvSpPr txBox="1"/>
                <p:nvPr/>
              </p:nvSpPr>
              <p:spPr>
                <a:xfrm>
                  <a:off x="7524720" y="3500280"/>
                  <a:ext cx="936720" cy="336600"/>
                </a:xfrm>
                <a:prstGeom prst="rect">
                  <a:avLst/>
                </a:prstGeom>
                <a:blipFill>
                  <a:blip r:embed="rId4"/>
                  <a:stretch>
                    <a:fillRect/>
                  </a:stretch>
                </a:blipFill>
              </p:spPr>
            </p:sp>
          </mc:Fallback>
        </mc:AlternateContent>
        <mc:AlternateContent>
          <mc:Choice xmlns:a14="http://schemas.microsoft.com/office/drawing/2010/main" Requires="a14">
            <p:sp>
              <p:nvSpPr>
                <p:cNvPr id="280" name="Object 57"/>
                <p:cNvSpPr txBox="1"/>
                <p:nvPr/>
              </p:nvSpPr>
              <p:spPr>
                <a:xfrm>
                  <a:off x="7596360" y="3860640"/>
                  <a:ext cx="936360" cy="311400"/>
                </a:xfrm>
                <a:prstGeom prst="rect">
                  <a:avLst/>
                </a:prstGeom>
              </p:spPr>
              <p:txBody>
                <a:bodyPr/>
                <a:p>
                  <a14:m>
                    <m:oMath xmlns:m="http://schemas.openxmlformats.org/officeDocument/2006/math">
                      <m:sSub>
                        <m:e>
                          <m:r>
                            <m:t xml:space="preserve">T</m:t>
                          </m:r>
                        </m:e>
                        <m:sub>
                          <m:r>
                            <m:t xml:space="preserve">2</m:t>
                          </m:r>
                        </m:sub>
                      </m:sSub>
                      <m:r>
                        <m:t xml:space="preserve">=</m:t>
                      </m:r>
                      <m:sSub>
                        <m:e>
                          <m:r>
                            <m:t xml:space="preserve">R</m:t>
                          </m:r>
                        </m:e>
                        <m:sub>
                          <m:r>
                            <m:t xml:space="preserve">2</m:t>
                          </m:r>
                        </m:sub>
                      </m:sSub>
                      <m:sSub>
                        <m:e>
                          <m:r>
                            <m:t xml:space="preserve">C</m:t>
                          </m:r>
                        </m:e>
                        <m:sub>
                          <m:r>
                            <m:t xml:space="preserve">2</m:t>
                          </m:r>
                        </m:sub>
                      </m:sSub>
                    </m:oMath>
                  </a14:m>
                </a:p>
              </p:txBody>
            </p:sp>
          </mc:Choice>
          <mc:Fallback>
            <p:sp>
              <p:nvSpPr>
                <p:cNvPr id="280" name="Object 57"/>
                <p:cNvSpPr txBox="1"/>
                <p:nvPr/>
              </p:nvSpPr>
              <p:spPr>
                <a:xfrm>
                  <a:off x="7596360" y="3860640"/>
                  <a:ext cx="936360" cy="311400"/>
                </a:xfrm>
                <a:prstGeom prst="rect">
                  <a:avLst/>
                </a:prstGeom>
                <a:blipFill>
                  <a:blip r:embed="rId5"/>
                  <a:stretch>
                    <a:fillRect/>
                  </a:stretch>
                </a:blipFill>
              </p:spPr>
            </p:sp>
          </mc:Fallback>
        </mc:AlternateContent>
      </p:grpSp>
      <p:sp>
        <p:nvSpPr>
          <p:cNvPr id="281" name="Rectangle 63"/>
          <p:cNvSpPr/>
          <p:nvPr/>
        </p:nvSpPr>
        <p:spPr>
          <a:xfrm>
            <a:off x="0" y="4587840"/>
            <a:ext cx="184320" cy="39996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282" name="Object 62"/>
              <p:cNvSpPr txBox="1"/>
              <p:nvPr/>
            </p:nvSpPr>
            <p:spPr>
              <a:xfrm>
                <a:off x="4859280" y="4797360"/>
                <a:ext cx="3456000" cy="71280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sSub>
                          <m:e>
                            <m:r>
                              <m:t xml:space="preserve">U</m:t>
                            </m:r>
                          </m:e>
                          <m:sub>
                            <m:r>
                              <m:t xml:space="preserve">2</m:t>
                            </m:r>
                          </m:sub>
                        </m:sSub>
                        <m:r>
                          <m:t xml:space="preserve">(</m:t>
                        </m:r>
                        <m:r>
                          <m:t xml:space="preserve">s</m:t>
                        </m:r>
                        <m:r>
                          <m:t xml:space="preserve">)</m:t>
                        </m:r>
                      </m:num>
                      <m:den>
                        <m:sSub>
                          <m:e>
                            <m:r>
                              <m:t xml:space="preserve">U</m:t>
                            </m:r>
                          </m:e>
                          <m:sub>
                            <m:r>
                              <m:t xml:space="preserve">1</m:t>
                            </m:r>
                          </m:sub>
                        </m:sSub>
                        <m:r>
                          <m:t xml:space="preserve">(</m:t>
                        </m:r>
                        <m:r>
                          <m:t xml:space="preserve">s</m:t>
                        </m:r>
                        <m:r>
                          <m:t xml:space="preserve">)</m:t>
                        </m:r>
                      </m:den>
                    </m:f>
                    <m:r>
                      <m:t xml:space="preserve">=</m:t>
                    </m:r>
                    <m:f>
                      <m:num>
                        <m:r>
                          <m:t xml:space="preserve">(</m:t>
                        </m:r>
                        <m:r>
                          <m:t xml:space="preserve">1</m:t>
                        </m:r>
                        <m:r>
                          <m:t xml:space="preserve">+</m:t>
                        </m:r>
                        <m:sSub>
                          <m:e>
                            <m:r>
                              <m:t xml:space="preserve">T</m:t>
                            </m:r>
                          </m:e>
                          <m:sub>
                            <m:r>
                              <m:t xml:space="preserve">1</m:t>
                            </m:r>
                          </m:sub>
                        </m:sSub>
                        <m:r>
                          <m:t xml:space="preserve">S</m:t>
                        </m:r>
                        <m:r>
                          <m:t xml:space="preserve">)</m:t>
                        </m:r>
                        <m:r>
                          <m:t xml:space="preserve">(</m:t>
                        </m:r>
                        <m:r>
                          <m:t xml:space="preserve">1</m:t>
                        </m:r>
                        <m:r>
                          <m:t xml:space="preserve">+</m:t>
                        </m:r>
                        <m:sSub>
                          <m:e>
                            <m:r>
                              <m:t xml:space="preserve">T</m:t>
                            </m:r>
                          </m:e>
                          <m:sub>
                            <m:r>
                              <m:t xml:space="preserve">2</m:t>
                            </m:r>
                          </m:sub>
                        </m:sSub>
                        <m:r>
                          <m:t xml:space="preserve">S</m:t>
                        </m:r>
                        <m:r>
                          <m:t xml:space="preserve">)</m:t>
                        </m:r>
                      </m:num>
                      <m:den>
                        <m:r>
                          <m:t xml:space="preserve">(</m:t>
                        </m:r>
                        <m:r>
                          <m:t xml:space="preserve">1</m:t>
                        </m:r>
                        <m:r>
                          <m:t xml:space="preserve">+</m:t>
                        </m:r>
                        <m:sSub>
                          <m:e>
                            <m:r>
                              <m:t xml:space="preserve">T</m:t>
                            </m:r>
                          </m:e>
                          <m:sub>
                            <m:r>
                              <m:t xml:space="preserve">a</m:t>
                            </m:r>
                          </m:sub>
                        </m:sSub>
                        <m:r>
                          <m:t xml:space="preserve">S</m:t>
                        </m:r>
                        <m:r>
                          <m:t xml:space="preserve">)</m:t>
                        </m:r>
                        <m:r>
                          <m:t xml:space="preserve">(</m:t>
                        </m:r>
                        <m:r>
                          <m:t xml:space="preserve">1</m:t>
                        </m:r>
                        <m:r>
                          <m:t xml:space="preserve">+</m:t>
                        </m:r>
                        <m:sSub>
                          <m:e>
                            <m:r>
                              <m:t xml:space="preserve">T</m:t>
                            </m:r>
                          </m:e>
                          <m:sub>
                            <m:r>
                              <m:t xml:space="preserve">b</m:t>
                            </m:r>
                          </m:sub>
                        </m:sSub>
                        <m:r>
                          <m:t xml:space="preserve">S</m:t>
                        </m:r>
                        <m:r>
                          <m:t xml:space="preserve">)</m:t>
                        </m:r>
                      </m:den>
                    </m:f>
                  </m:oMath>
                </a14:m>
              </a:p>
            </p:txBody>
          </p:sp>
        </mc:Choice>
        <mc:Fallback>
          <p:sp>
            <p:nvSpPr>
              <p:cNvPr id="282" name="Object 62"/>
              <p:cNvSpPr txBox="1"/>
              <p:nvPr/>
            </p:nvSpPr>
            <p:spPr>
              <a:xfrm>
                <a:off x="4859280" y="4797360"/>
                <a:ext cx="3456000" cy="712800"/>
              </a:xfrm>
              <a:prstGeom prst="rect">
                <a:avLst/>
              </a:prstGeom>
              <a:blipFill>
                <a:blip r:embed="rId6"/>
                <a:stretch>
                  <a:fillRect/>
                </a:stretch>
              </a:blipFill>
            </p:spPr>
          </p:sp>
        </mc:Fallback>
      </mc:AlternateContent>
      <p:grpSp>
        <p:nvGrpSpPr>
          <p:cNvPr id="283" name="Group 84"/>
          <p:cNvGrpSpPr/>
          <p:nvPr/>
        </p:nvGrpSpPr>
        <p:grpSpPr>
          <a:xfrm>
            <a:off x="684360" y="5518080"/>
            <a:ext cx="576000" cy="647640"/>
            <a:chOff x="684360" y="5518080"/>
            <a:chExt cx="576000" cy="647640"/>
          </a:xfrm>
        </p:grpSpPr>
        <mc:AlternateContent>
          <mc:Choice xmlns:a14="http://schemas.microsoft.com/office/drawing/2010/main" Requires="a14">
            <p:sp>
              <p:nvSpPr>
                <p:cNvPr id="284" name="Object 70"/>
                <p:cNvSpPr txBox="1"/>
                <p:nvPr/>
              </p:nvSpPr>
              <p:spPr>
                <a:xfrm>
                  <a:off x="684360" y="5871960"/>
                  <a:ext cx="576000" cy="293760"/>
                </a:xfrm>
                <a:prstGeom prst="rect">
                  <a:avLst/>
                </a:prstGeom>
              </p:spPr>
              <p:txBody>
                <a:bodyPr/>
                <a:p>
                  <a14:m>
                    <m:oMath xmlns:m="http://schemas.openxmlformats.org/officeDocument/2006/math">
                      <m:r>
                        <m:t xml:space="preserve">β</m:t>
                      </m:r>
                      <m:r>
                        <m:t xml:space="preserve">&gt;</m:t>
                      </m:r>
                      <m:r>
                        <m:t xml:space="preserve">1</m:t>
                      </m:r>
                    </m:oMath>
                  </a14:m>
                </a:p>
              </p:txBody>
            </p:sp>
          </mc:Choice>
          <mc:Fallback>
            <p:sp>
              <p:nvSpPr>
                <p:cNvPr id="284" name="Object 70"/>
                <p:cNvSpPr txBox="1"/>
                <p:nvPr/>
              </p:nvSpPr>
              <p:spPr>
                <a:xfrm>
                  <a:off x="684360" y="5871960"/>
                  <a:ext cx="576000" cy="293760"/>
                </a:xfrm>
                <a:prstGeom prst="rect">
                  <a:avLst/>
                </a:prstGeom>
                <a:blipFill>
                  <a:blip r:embed="rId7"/>
                  <a:stretch>
                    <a:fillRect/>
                  </a:stretch>
                </a:blipFill>
              </p:spPr>
            </p:sp>
          </mc:Fallback>
        </mc:AlternateContent>
        <mc:AlternateContent>
          <mc:Choice xmlns:a14="http://schemas.microsoft.com/office/drawing/2010/main" Requires="a14">
            <p:sp>
              <p:nvSpPr>
                <p:cNvPr id="285" name="Object 72"/>
                <p:cNvSpPr txBox="1"/>
                <p:nvPr/>
              </p:nvSpPr>
              <p:spPr>
                <a:xfrm>
                  <a:off x="684360" y="5518080"/>
                  <a:ext cx="574200" cy="258840"/>
                </a:xfrm>
                <a:prstGeom prst="rect">
                  <a:avLst/>
                </a:prstGeom>
              </p:spPr>
              <p:txBody>
                <a:bodyPr/>
                <a:p>
                  <a14:m>
                    <m:oMath xmlns:m="http://schemas.openxmlformats.org/officeDocument/2006/math">
                      <m:r>
                        <m:t xml:space="preserve">α</m:t>
                      </m:r>
                      <m:r>
                        <m:t xml:space="preserve">&gt;</m:t>
                      </m:r>
                      <m:r>
                        <m:t xml:space="preserve">1</m:t>
                      </m:r>
                    </m:oMath>
                  </a14:m>
                </a:p>
              </p:txBody>
            </p:sp>
          </mc:Choice>
          <mc:Fallback>
            <p:sp>
              <p:nvSpPr>
                <p:cNvPr id="285" name="Object 72"/>
                <p:cNvSpPr txBox="1"/>
                <p:nvPr/>
              </p:nvSpPr>
              <p:spPr>
                <a:xfrm>
                  <a:off x="684360" y="5518080"/>
                  <a:ext cx="574200" cy="258840"/>
                </a:xfrm>
                <a:prstGeom prst="rect">
                  <a:avLst/>
                </a:prstGeom>
                <a:blipFill>
                  <a:blip r:embed="rId8"/>
                  <a:stretch>
                    <a:fillRect/>
                  </a:stretch>
                </a:blipFill>
              </p:spPr>
            </p:sp>
          </mc:Fallback>
        </mc:AlternateContent>
      </p:grpSp>
      <p:grpSp>
        <p:nvGrpSpPr>
          <p:cNvPr id="286" name="Group 90"/>
          <p:cNvGrpSpPr/>
          <p:nvPr/>
        </p:nvGrpSpPr>
        <p:grpSpPr>
          <a:xfrm>
            <a:off x="1547640" y="4797360"/>
            <a:ext cx="1727280" cy="1335600"/>
            <a:chOff x="1547640" y="4797360"/>
            <a:chExt cx="1727280" cy="1335600"/>
          </a:xfrm>
        </p:grpSpPr>
        <p:sp>
          <p:nvSpPr>
            <p:cNvPr id="287" name="Rectangle 53"/>
            <p:cNvSpPr/>
            <p:nvPr/>
          </p:nvSpPr>
          <p:spPr>
            <a:xfrm>
              <a:off x="1547640" y="5734080"/>
              <a:ext cx="17078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滞后校正部分</a:t>
              </a:r>
              <a:endParaRPr lang="en-US" sz="2000" b="0" u="none" strike="noStrike">
                <a:solidFill>
                  <a:srgbClr val="000000"/>
                </a:solidFill>
                <a:effectLst/>
                <a:uFillTx/>
                <a:latin typeface="Times New Roman"/>
              </a:endParaRPr>
            </a:p>
          </p:txBody>
        </p:sp>
        <p:sp>
          <p:nvSpPr>
            <p:cNvPr id="288" name="Rectangle 76"/>
            <p:cNvSpPr/>
            <p:nvPr/>
          </p:nvSpPr>
          <p:spPr>
            <a:xfrm>
              <a:off x="2195640" y="4797360"/>
              <a:ext cx="1079280" cy="792360"/>
            </a:xfrm>
            <a:prstGeom prst="rect">
              <a:avLst/>
            </a:prstGeom>
            <a:noFill/>
            <a:ln w="22320">
              <a:solidFill>
                <a:srgbClr val="008080"/>
              </a:solidFill>
              <a:prstDash val="dashDot"/>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289" name="Group 91"/>
          <p:cNvGrpSpPr/>
          <p:nvPr/>
        </p:nvGrpSpPr>
        <p:grpSpPr>
          <a:xfrm>
            <a:off x="3132000" y="4797360"/>
            <a:ext cx="1779480" cy="1335600"/>
            <a:chOff x="3132000" y="4797360"/>
            <a:chExt cx="1779480" cy="1335600"/>
          </a:xfrm>
        </p:grpSpPr>
        <p:sp>
          <p:nvSpPr>
            <p:cNvPr id="290" name="Rectangle 77"/>
            <p:cNvSpPr/>
            <p:nvPr/>
          </p:nvSpPr>
          <p:spPr>
            <a:xfrm>
              <a:off x="3132000" y="4797360"/>
              <a:ext cx="1079640" cy="792360"/>
            </a:xfrm>
            <a:prstGeom prst="rect">
              <a:avLst/>
            </a:prstGeom>
            <a:noFill/>
            <a:ln w="22320">
              <a:solidFill>
                <a:srgbClr val="008080"/>
              </a:solidFill>
              <a:prstDash val="dashDot"/>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91" name="Rectangle 78"/>
            <p:cNvSpPr/>
            <p:nvPr/>
          </p:nvSpPr>
          <p:spPr>
            <a:xfrm>
              <a:off x="3203640" y="5734080"/>
              <a:ext cx="17078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超前校正部分</a:t>
              </a:r>
              <a:endParaRPr lang="en-US" sz="2000" b="0" u="none" strike="noStrike">
                <a:solidFill>
                  <a:srgbClr val="000000"/>
                </a:solidFill>
                <a:effectLst/>
                <a:uFillTx/>
                <a:latin typeface="Times New Roman"/>
              </a:endParaRPr>
            </a:p>
          </p:txBody>
        </p:sp>
      </p:grpSp>
      <p:sp>
        <p:nvSpPr>
          <p:cNvPr id="292" name="Rectangle 64"/>
          <p:cNvSpPr/>
          <p:nvPr/>
        </p:nvSpPr>
        <p:spPr>
          <a:xfrm>
            <a:off x="2124000" y="4369680"/>
            <a:ext cx="3672000" cy="337680"/>
          </a:xfrm>
          <a:prstGeom prst="rect">
            <a:avLst/>
          </a:prstGeom>
          <a:noFill/>
          <a:ln w="9360">
            <a:solidFill>
              <a:srgbClr val="CC99FF"/>
            </a:solidFill>
            <a:miter/>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600" b="1" u="none" strike="noStrike">
                <a:solidFill>
                  <a:srgbClr val="000000"/>
                </a:solidFill>
                <a:effectLst/>
                <a:uFillTx/>
                <a:latin typeface="Times New Roman"/>
              </a:rPr>
              <a:t>令分母多项式有两个互不相等的实根 </a:t>
            </a:r>
            <a:endParaRPr lang="en-US" sz="1600" b="0" u="none" strike="noStrike">
              <a:solidFill>
                <a:srgbClr val="000000"/>
              </a:solidFill>
              <a:effectLst/>
              <a:uFillTx/>
              <a:latin typeface="Times New Roman"/>
            </a:endParaRPr>
          </a:p>
        </p:txBody>
      </p:sp>
      <p:sp>
        <p:nvSpPr>
          <p:cNvPr id="293" name="AutoShape 82"/>
          <p:cNvSpPr/>
          <p:nvPr/>
        </p:nvSpPr>
        <p:spPr>
          <a:xfrm>
            <a:off x="5867280" y="4292640"/>
            <a:ext cx="144720" cy="431640"/>
          </a:xfrm>
          <a:prstGeom prst="downArrow">
            <a:avLst>
              <a:gd name="adj1" fmla="val 50000"/>
              <a:gd name="adj2" fmla="val 74565"/>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aphicFrame>
        <p:nvGraphicFramePr>
          <p:cNvPr id="294" name="Object 85"/>
          <p:cNvGraphicFramePr/>
          <p:nvPr/>
        </p:nvGraphicFramePr>
        <p:xfrm>
          <a:off x="4211640" y="836640"/>
          <a:ext cx="3527280" cy="2482920"/>
        </p:xfrm>
        <a:graphic>
          <a:graphicData uri="http://schemas.openxmlformats.org/presentationml/2006/ole">
            <p:oleObj r:id="rId9" spid="">
              <p:embed/>
              <p:pic>
                <p:nvPicPr>
                  <p:cNvPr id="295" name="Object 85"/>
                  <p:cNvPicPr/>
                  <p:nvPr/>
                </p:nvPicPr>
                <p:blipFill>
                  <a:blip r:embed="rId10"/>
                  <a:stretch/>
                </p:blipFill>
                <p:spPr>
                  <a:xfrm>
                    <a:off x="4211640" y="836640"/>
                    <a:ext cx="3527280" cy="2482920"/>
                  </a:xfrm>
                  <a:prstGeom prst="rect">
                    <a:avLst/>
                  </a:prstGeom>
                  <a:solidFill>
                    <a:srgbClr val="CCFFCC"/>
                  </a:solidFill>
                  <a:ln w="0">
                    <a:noFill/>
                  </a:ln>
                </p:spPr>
              </p:pic>
            </p:oleObj>
          </a:graphicData>
        </a:graphic>
      </p:graphicFrame>
      <p:grpSp>
        <p:nvGrpSpPr>
          <p:cNvPr id="296" name="Group 89"/>
          <p:cNvGrpSpPr/>
          <p:nvPr/>
        </p:nvGrpSpPr>
        <p:grpSpPr>
          <a:xfrm>
            <a:off x="539640" y="4797360"/>
            <a:ext cx="4176720" cy="725400"/>
            <a:chOff x="539640" y="4797360"/>
            <a:chExt cx="4176720" cy="725400"/>
          </a:xfrm>
        </p:grpSpPr>
        <mc:AlternateContent>
          <mc:Choice xmlns:a14="http://schemas.microsoft.com/office/drawing/2010/main" Requires="a14">
            <p:sp>
              <p:nvSpPr>
                <p:cNvPr id="297" name="Object 48"/>
                <p:cNvSpPr txBox="1"/>
                <p:nvPr/>
              </p:nvSpPr>
              <p:spPr>
                <a:xfrm>
                  <a:off x="539640" y="4797360"/>
                  <a:ext cx="3616560" cy="72540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sSub>
                            <m:e>
                              <m:r>
                                <m:t xml:space="preserve">U</m:t>
                              </m:r>
                            </m:e>
                            <m:sub>
                              <m:r>
                                <m:t xml:space="preserve">2</m:t>
                              </m:r>
                            </m:sub>
                          </m:sSub>
                          <m:r>
                            <m:t xml:space="preserve">(</m:t>
                          </m:r>
                          <m:r>
                            <m:t xml:space="preserve">s</m:t>
                          </m:r>
                          <m:r>
                            <m:t xml:space="preserve">)</m:t>
                          </m:r>
                        </m:num>
                        <m:den>
                          <m:sSub>
                            <m:e>
                              <m:r>
                                <m:t xml:space="preserve">U</m:t>
                              </m:r>
                            </m:e>
                            <m:sub>
                              <m:r>
                                <m:t xml:space="preserve">1</m:t>
                              </m:r>
                            </m:sub>
                          </m:sSub>
                          <m:r>
                            <m:t xml:space="preserve">(</m:t>
                          </m:r>
                          <m:r>
                            <m:t xml:space="preserve">s</m:t>
                          </m:r>
                          <m:r>
                            <m:t xml:space="preserve">)</m:t>
                          </m:r>
                        </m:den>
                      </m:f>
                      <m:r>
                        <m:t xml:space="preserve">=</m:t>
                      </m:r>
                      <m:f>
                        <m:num>
                          <m:r>
                            <m:t xml:space="preserve">(</m:t>
                          </m:r>
                          <m:r>
                            <m:t xml:space="preserve">1</m:t>
                          </m:r>
                          <m:r>
                            <m:t xml:space="preserve">+</m:t>
                          </m:r>
                          <m:sSub>
                            <m:e>
                              <m:r>
                                <m:t xml:space="preserve">T</m:t>
                              </m:r>
                            </m:e>
                            <m:sub>
                              <m:r>
                                <m:t xml:space="preserve">1</m:t>
                              </m:r>
                            </m:sub>
                          </m:sSub>
                          <m:r>
                            <m:t xml:space="preserve">S</m:t>
                          </m:r>
                          <m:r>
                            <m:t xml:space="preserve">)</m:t>
                          </m:r>
                          <m:r>
                            <m:t xml:space="preserve">(</m:t>
                          </m:r>
                          <m:r>
                            <m:t xml:space="preserve">1</m:t>
                          </m:r>
                          <m:r>
                            <m:t xml:space="preserve">+</m:t>
                          </m:r>
                          <m:sSub>
                            <m:e>
                              <m:r>
                                <m:t xml:space="preserve">αT</m:t>
                              </m:r>
                            </m:e>
                            <m:sub>
                              <m:r>
                                <m:t xml:space="preserve">b</m:t>
                              </m:r>
                            </m:sub>
                          </m:sSub>
                          <m:r>
                            <m:t xml:space="preserve">S</m:t>
                          </m:r>
                          <m:r>
                            <m:t xml:space="preserve">)</m:t>
                          </m:r>
                        </m:num>
                        <m:den>
                          <m:r>
                            <m:t xml:space="preserve">(</m:t>
                          </m:r>
                          <m:r>
                            <m:t xml:space="preserve">1</m:t>
                          </m:r>
                          <m:r>
                            <m:t xml:space="preserve">+</m:t>
                          </m:r>
                          <m:sSub>
                            <m:e>
                              <m:r>
                                <m:t xml:space="preserve">βT</m:t>
                              </m:r>
                            </m:e>
                            <m:sub>
                              <m:r>
                                <m:t xml:space="preserve">1</m:t>
                              </m:r>
                            </m:sub>
                          </m:sSub>
                          <m:r>
                            <m:t xml:space="preserve">S</m:t>
                          </m:r>
                          <m:r>
                            <m:t xml:space="preserve">)</m:t>
                          </m:r>
                          <m:r>
                            <m:t xml:space="preserve">(</m:t>
                          </m:r>
                          <m:r>
                            <m:t xml:space="preserve">1</m:t>
                          </m:r>
                          <m:r>
                            <m:t xml:space="preserve">+</m:t>
                          </m:r>
                          <m:sSub>
                            <m:e>
                              <m:r>
                                <m:t xml:space="preserve">T</m:t>
                              </m:r>
                            </m:e>
                            <m:sub>
                              <m:r>
                                <m:t xml:space="preserve">b</m:t>
                              </m:r>
                            </m:sub>
                          </m:sSub>
                          <m:r>
                            <m:t xml:space="preserve">S</m:t>
                          </m:r>
                          <m:r>
                            <m:t xml:space="preserve">)</m:t>
                          </m:r>
                        </m:den>
                      </m:f>
                    </m:oMath>
                  </a14:m>
                </a:p>
              </p:txBody>
            </p:sp>
          </mc:Choice>
          <mc:Fallback>
            <p:sp>
              <p:nvSpPr>
                <p:cNvPr id="297" name="Object 48"/>
                <p:cNvSpPr txBox="1"/>
                <p:nvPr/>
              </p:nvSpPr>
              <p:spPr>
                <a:xfrm>
                  <a:off x="539640" y="4797360"/>
                  <a:ext cx="3616560" cy="725400"/>
                </a:xfrm>
                <a:prstGeom prst="rect">
                  <a:avLst/>
                </a:prstGeom>
                <a:blipFill>
                  <a:blip r:embed="rId11"/>
                  <a:stretch>
                    <a:fillRect/>
                  </a:stretch>
                </a:blipFill>
              </p:spPr>
            </p:sp>
          </mc:Fallback>
        </mc:AlternateContent>
        <p:sp>
          <p:nvSpPr>
            <p:cNvPr id="298" name="AutoShape 87"/>
            <p:cNvSpPr/>
            <p:nvPr/>
          </p:nvSpPr>
          <p:spPr>
            <a:xfrm>
              <a:off x="4284720" y="5084640"/>
              <a:ext cx="431640" cy="144720"/>
            </a:xfrm>
            <a:prstGeom prst="leftArrow">
              <a:avLst>
                <a:gd name="adj1" fmla="val 50000"/>
                <a:gd name="adj2" fmla="val 74565"/>
              </a:avLst>
            </a:prstGeom>
            <a:solidFill>
              <a:srgbClr val="800000"/>
            </a:solidFill>
            <a:ln w="0">
              <a:noFill/>
            </a:ln>
          </p:spPr>
          <p:style>
            <a:lnRef idx="0"/>
            <a:fillRef idx="0"/>
            <a:effectRef idx="0"/>
            <a:fontRef idx="minor"/>
          </p:style>
          <p:txBody>
            <a:bodyPr wrap="none" lIns="90000" tIns="25920" rIns="90000" bIns="259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Tree>
  </p:cSld>
  <p:transition>
    <p:random/>
  </p:transition>
  <p:timing>
    <p:tnLst>
      <p:par>
        <p:cTn id="367" dur="indefinite" restart="never" nodeType="tmRoot">
          <p:childTnLst>
            <p:seq>
              <p:cTn id="368" dur="indefinite" nodeType="mainSeq">
                <p:childTnLst>
                  <p:par>
                    <p:cTn id="369" fill="hold" nodeType="clickEffect">
                      <p:stCondLst>
                        <p:cond delay="indefinite"/>
                      </p:stCondLst>
                      <p:childTnLst>
                        <p:par>
                          <p:cTn id="370" fill="hold" nodeType="withEffect">
                            <p:stCondLst>
                              <p:cond delay="0"/>
                            </p:stCondLst>
                            <p:childTnLst>
                              <p:par>
                                <p:cTn id="371" presetID="3" presetClass="entr" fill="hold" nodeType="clickEffect" presetSubtype="10">
                                  <p:stCondLst>
                                    <p:cond delay="0"/>
                                  </p:stCondLst>
                                  <p:childTnLst>
                                    <p:set>
                                      <p:cBhvr>
                                        <p:cTn id="372" dur="1" fill="hold">
                                          <p:stCondLst>
                                            <p:cond delay="0"/>
                                          </p:stCondLst>
                                        </p:cTn>
                                        <p:tgtEl>
                                          <p:spTgt spid="272"/>
                                        </p:tgtEl>
                                        <p:attrNameLst>
                                          <p:attrName>style.visibility</p:attrName>
                                        </p:attrNameLst>
                                      </p:cBhvr>
                                      <p:to>
                                        <p:strVal val="visible"/>
                                      </p:to>
                                    </p:set>
                                    <p:animEffect transition="in" filter="blinds(horizontal)">
                                      <p:cBhvr additive="repl">
                                        <p:cTn id="373" dur="500"/>
                                        <p:tgtEl>
                                          <p:spTgt spid="272"/>
                                        </p:tgtEl>
                                      </p:cBhvr>
                                    </p:animEffect>
                                  </p:childTnLst>
                                </p:cTn>
                              </p:par>
                            </p:childTnLst>
                          </p:cTn>
                        </p:par>
                      </p:childTnLst>
                    </p:cTn>
                  </p:par>
                  <p:par>
                    <p:cTn id="374" fill="hold" nodeType="clickEffect">
                      <p:stCondLst>
                        <p:cond delay="indefinite"/>
                      </p:stCondLst>
                      <p:childTnLst>
                        <p:par>
                          <p:cTn id="375" fill="hold" nodeType="withEffect">
                            <p:stCondLst>
                              <p:cond delay="0"/>
                            </p:stCondLst>
                            <p:childTnLst>
                              <p:par>
                                <p:cTn id="376" presetID="18" presetClass="entr" fill="hold" nodeType="clickEffect" presetSubtype="6">
                                  <p:stCondLst>
                                    <p:cond delay="0"/>
                                  </p:stCondLst>
                                  <p:childTnLst>
                                    <p:set>
                                      <p:cBhvr>
                                        <p:cTn id="377" dur="1" fill="hold">
                                          <p:stCondLst>
                                            <p:cond delay="0"/>
                                          </p:stCondLst>
                                        </p:cTn>
                                        <p:tgtEl>
                                          <p:spTgt spid="273"/>
                                        </p:tgtEl>
                                        <p:attrNameLst>
                                          <p:attrName>style.visibility</p:attrName>
                                        </p:attrNameLst>
                                      </p:cBhvr>
                                      <p:to>
                                        <p:strVal val="visible"/>
                                      </p:to>
                                    </p:set>
                                    <p:animEffect transition="in" filter="strips(downRight)">
                                      <p:cBhvr additive="repl">
                                        <p:cTn id="378" dur="2000"/>
                                        <p:tgtEl>
                                          <p:spTgt spid="273"/>
                                        </p:tgtEl>
                                      </p:cBhvr>
                                    </p:animEffect>
                                  </p:childTnLst>
                                </p:cTn>
                              </p:par>
                            </p:childTnLst>
                          </p:cTn>
                        </p:par>
                      </p:childTnLst>
                    </p:cTn>
                  </p:par>
                  <p:par>
                    <p:cTn id="379" fill="hold" nodeType="clickEffect">
                      <p:stCondLst>
                        <p:cond delay="indefinite"/>
                      </p:stCondLst>
                      <p:childTnLst>
                        <p:par>
                          <p:cTn id="380" fill="hold" nodeType="withEffect">
                            <p:stCondLst>
                              <p:cond delay="0"/>
                            </p:stCondLst>
                            <p:childTnLst>
                              <p:par>
                                <p:cTn id="381" presetID="3" presetClass="entr" fill="hold" nodeType="clickEffect" presetSubtype="10">
                                  <p:stCondLst>
                                    <p:cond delay="0"/>
                                  </p:stCondLst>
                                  <p:childTnLst>
                                    <p:set>
                                      <p:cBhvr>
                                        <p:cTn id="382" dur="1" fill="hold">
                                          <p:stCondLst>
                                            <p:cond delay="0"/>
                                          </p:stCondLst>
                                        </p:cTn>
                                        <p:tgtEl>
                                          <p:spTgt spid="276"/>
                                        </p:tgtEl>
                                        <p:attrNameLst>
                                          <p:attrName>style.visibility</p:attrName>
                                        </p:attrNameLst>
                                      </p:cBhvr>
                                      <p:to>
                                        <p:strVal val="visible"/>
                                      </p:to>
                                    </p:set>
                                    <p:animEffect transition="in" filter="blinds(horizontal)">
                                      <p:cBhvr additive="repl">
                                        <p:cTn id="383" dur="500"/>
                                        <p:tgtEl>
                                          <p:spTgt spid="276"/>
                                        </p:tgtEl>
                                      </p:cBhvr>
                                    </p:animEffect>
                                  </p:childTnLst>
                                </p:cTn>
                              </p:par>
                            </p:childTnLst>
                          </p:cTn>
                        </p:par>
                      </p:childTnLst>
                    </p:cTn>
                  </p:par>
                  <p:par>
                    <p:cTn id="384" fill="hold" nodeType="clickEffect">
                      <p:stCondLst>
                        <p:cond delay="indefinite"/>
                      </p:stCondLst>
                      <p:childTnLst>
                        <p:par>
                          <p:cTn id="385" fill="hold" nodeType="withEffect">
                            <p:stCondLst>
                              <p:cond delay="0"/>
                            </p:stCondLst>
                            <p:childTnLst>
                              <p:par>
                                <p:cTn id="386" presetID="3" presetClass="entr" fill="hold" nodeType="clickEffect" presetSubtype="10">
                                  <p:stCondLst>
                                    <p:cond delay="0"/>
                                  </p:stCondLst>
                                  <p:childTnLst>
                                    <p:set>
                                      <p:cBhvr>
                                        <p:cTn id="387" dur="1" fill="hold">
                                          <p:stCondLst>
                                            <p:cond delay="0"/>
                                          </p:stCondLst>
                                        </p:cTn>
                                        <p:tgtEl>
                                          <p:spTgt spid="282"/>
                                        </p:tgtEl>
                                        <p:attrNameLst>
                                          <p:attrName>style.visibility</p:attrName>
                                        </p:attrNameLst>
                                      </p:cBhvr>
                                      <p:to>
                                        <p:strVal val="visible"/>
                                      </p:to>
                                    </p:set>
                                    <p:animEffect transition="in" filter="blinds(horizontal)">
                                      <p:cBhvr additive="repl">
                                        <p:cTn id="388" dur="500"/>
                                        <p:tgtEl>
                                          <p:spTgt spid="282"/>
                                        </p:tgtEl>
                                      </p:cBhvr>
                                    </p:animEffect>
                                  </p:childTnLst>
                                </p:cTn>
                              </p:par>
                              <p:par>
                                <p:cTn id="389" presetID="3" presetClass="entr" fill="hold" nodeType="withEffect" presetSubtype="10">
                                  <p:stCondLst>
                                    <p:cond delay="0"/>
                                  </p:stCondLst>
                                  <p:childTnLst>
                                    <p:set>
                                      <p:cBhvr>
                                        <p:cTn id="390" dur="1" fill="hold">
                                          <p:stCondLst>
                                            <p:cond delay="0"/>
                                          </p:stCondLst>
                                        </p:cTn>
                                        <p:tgtEl>
                                          <p:spTgt spid="292"/>
                                        </p:tgtEl>
                                        <p:attrNameLst>
                                          <p:attrName>style.visibility</p:attrName>
                                        </p:attrNameLst>
                                      </p:cBhvr>
                                      <p:to>
                                        <p:strVal val="visible"/>
                                      </p:to>
                                    </p:set>
                                    <p:animEffect transition="in" filter="blinds(horizontal)">
                                      <p:cBhvr additive="repl">
                                        <p:cTn id="391" dur="500"/>
                                        <p:tgtEl>
                                          <p:spTgt spid="292"/>
                                        </p:tgtEl>
                                      </p:cBhvr>
                                    </p:animEffect>
                                  </p:childTnLst>
                                </p:cTn>
                              </p:par>
                              <p:par>
                                <p:cTn id="392" presetID="3" presetClass="entr" fill="hold" nodeType="withEffect" presetSubtype="10">
                                  <p:stCondLst>
                                    <p:cond delay="0"/>
                                  </p:stCondLst>
                                  <p:childTnLst>
                                    <p:set>
                                      <p:cBhvr>
                                        <p:cTn id="393" dur="1" fill="hold">
                                          <p:stCondLst>
                                            <p:cond delay="0"/>
                                          </p:stCondLst>
                                        </p:cTn>
                                        <p:tgtEl>
                                          <p:spTgt spid="293"/>
                                        </p:tgtEl>
                                        <p:attrNameLst>
                                          <p:attrName>style.visibility</p:attrName>
                                        </p:attrNameLst>
                                      </p:cBhvr>
                                      <p:to>
                                        <p:strVal val="visible"/>
                                      </p:to>
                                    </p:set>
                                    <p:animEffect transition="in" filter="blinds(horizontal)">
                                      <p:cBhvr additive="repl">
                                        <p:cTn id="394" dur="500"/>
                                        <p:tgtEl>
                                          <p:spTgt spid="293"/>
                                        </p:tgtEl>
                                      </p:cBhvr>
                                    </p:animEffect>
                                  </p:childTnLst>
                                </p:cTn>
                              </p:par>
                            </p:childTnLst>
                          </p:cTn>
                        </p:par>
                      </p:childTnLst>
                    </p:cTn>
                  </p:par>
                  <p:par>
                    <p:cTn id="395" fill="hold" nodeType="clickEffect">
                      <p:stCondLst>
                        <p:cond delay="indefinite"/>
                      </p:stCondLst>
                      <p:childTnLst>
                        <p:par>
                          <p:cTn id="396" fill="hold" nodeType="withEffect">
                            <p:stCondLst>
                              <p:cond delay="0"/>
                            </p:stCondLst>
                            <p:childTnLst>
                              <p:par>
                                <p:cTn id="397" presetID="12" presetClass="entr" fill="hold" nodeType="clickEffect" presetSubtype="2">
                                  <p:stCondLst>
                                    <p:cond delay="0"/>
                                  </p:stCondLst>
                                  <p:childTnLst>
                                    <p:set>
                                      <p:cBhvr>
                                        <p:cTn id="398" dur="1" fill="hold">
                                          <p:stCondLst>
                                            <p:cond delay="0"/>
                                          </p:stCondLst>
                                        </p:cTn>
                                        <p:tgtEl>
                                          <p:spTgt spid="296"/>
                                        </p:tgtEl>
                                        <p:attrNameLst>
                                          <p:attrName>style.visibility</p:attrName>
                                        </p:attrNameLst>
                                      </p:cBhvr>
                                      <p:to>
                                        <p:strVal val="visible"/>
                                      </p:to>
                                    </p:set>
                                    <p:animEffect transition="in" filter="slide(fromRight)">
                                      <p:cBhvr additive="repl">
                                        <p:cTn id="399" dur="1000"/>
                                        <p:tgtEl>
                                          <p:spTgt spid="296"/>
                                        </p:tgtEl>
                                      </p:cBhvr>
                                    </p:animEffect>
                                  </p:childTnLst>
                                </p:cTn>
                              </p:par>
                            </p:childTnLst>
                          </p:cTn>
                        </p:par>
                      </p:childTnLst>
                    </p:cTn>
                  </p:par>
                  <p:par>
                    <p:cTn id="400" fill="hold" nodeType="clickEffect">
                      <p:stCondLst>
                        <p:cond delay="indefinite"/>
                      </p:stCondLst>
                      <p:childTnLst>
                        <p:par>
                          <p:cTn id="401" fill="hold" nodeType="withEffect">
                            <p:stCondLst>
                              <p:cond delay="0"/>
                            </p:stCondLst>
                            <p:childTnLst>
                              <p:par>
                                <p:cTn id="402" presetID="3" presetClass="entr" fill="hold" nodeType="clickEffect" presetSubtype="10">
                                  <p:stCondLst>
                                    <p:cond delay="0"/>
                                  </p:stCondLst>
                                  <p:childTnLst>
                                    <p:set>
                                      <p:cBhvr>
                                        <p:cTn id="403" dur="1" fill="hold">
                                          <p:stCondLst>
                                            <p:cond delay="0"/>
                                          </p:stCondLst>
                                        </p:cTn>
                                        <p:tgtEl>
                                          <p:spTgt spid="283"/>
                                        </p:tgtEl>
                                        <p:attrNameLst>
                                          <p:attrName>style.visibility</p:attrName>
                                        </p:attrNameLst>
                                      </p:cBhvr>
                                      <p:to>
                                        <p:strVal val="visible"/>
                                      </p:to>
                                    </p:set>
                                    <p:animEffect transition="in" filter="blinds(horizontal)">
                                      <p:cBhvr additive="repl">
                                        <p:cTn id="404" dur="500"/>
                                        <p:tgtEl>
                                          <p:spTgt spid="283"/>
                                        </p:tgtEl>
                                      </p:cBhvr>
                                    </p:animEffect>
                                  </p:childTnLst>
                                </p:cTn>
                              </p:par>
                            </p:childTnLst>
                          </p:cTn>
                        </p:par>
                      </p:childTnLst>
                    </p:cTn>
                  </p:par>
                  <p:par>
                    <p:cTn id="405" fill="hold" nodeType="clickEffect">
                      <p:stCondLst>
                        <p:cond delay="indefinite"/>
                      </p:stCondLst>
                      <p:childTnLst>
                        <p:par>
                          <p:cTn id="406" fill="hold" nodeType="withEffect">
                            <p:stCondLst>
                              <p:cond delay="0"/>
                            </p:stCondLst>
                            <p:childTnLst>
                              <p:par>
                                <p:cTn id="407" presetID="2" presetClass="entr" fill="hold" nodeType="clickEffect" presetSubtype="4">
                                  <p:stCondLst>
                                    <p:cond delay="0"/>
                                  </p:stCondLst>
                                  <p:childTnLst>
                                    <p:set>
                                      <p:cBhvr>
                                        <p:cTn id="408" dur="1" fill="hold">
                                          <p:stCondLst>
                                            <p:cond delay="0"/>
                                          </p:stCondLst>
                                        </p:cTn>
                                        <p:tgtEl>
                                          <p:spTgt spid="286"/>
                                        </p:tgtEl>
                                        <p:attrNameLst>
                                          <p:attrName>style.visibility</p:attrName>
                                        </p:attrNameLst>
                                      </p:cBhvr>
                                      <p:to>
                                        <p:strVal val="visible"/>
                                      </p:to>
                                    </p:set>
                                    <p:anim calcmode="lin" valueType="num">
                                      <p:cBhvr additive="base">
                                        <p:cTn id="409" dur="500" fill="hold"/>
                                        <p:tgtEl>
                                          <p:spTgt spid="286"/>
                                        </p:tgtEl>
                                        <p:attrNameLst>
                                          <p:attrName>ppt_x</p:attrName>
                                        </p:attrNameLst>
                                      </p:cBhvr>
                                      <p:tavLst>
                                        <p:tav>
                                          <p:val>
                                            <p:strVal val="#ppt_x"/>
                                          </p:val>
                                        </p:tav>
                                        <p:tav tm="100000">
                                          <p:val>
                                            <p:strVal val="#ppt_x"/>
                                          </p:val>
                                        </p:tav>
                                      </p:tavLst>
                                    </p:anim>
                                    <p:anim calcmode="lin" valueType="num">
                                      <p:cBhvr additive="base">
                                        <p:cTn id="410" dur="500" fill="hold"/>
                                        <p:tgtEl>
                                          <p:spTgt spid="286"/>
                                        </p:tgtEl>
                                        <p:attrNameLst>
                                          <p:attrName>ppt_y</p:attrName>
                                        </p:attrNameLst>
                                      </p:cBhvr>
                                      <p:tavLst>
                                        <p:tav>
                                          <p:val>
                                            <p:strVal val="1+#ppt_h/2"/>
                                          </p:val>
                                        </p:tav>
                                        <p:tav tm="100000">
                                          <p:val>
                                            <p:strVal val="#ppt_y"/>
                                          </p:val>
                                        </p:tav>
                                      </p:tavLst>
                                    </p:anim>
                                  </p:childTnLst>
                                </p:cTn>
                              </p:par>
                            </p:childTnLst>
                          </p:cTn>
                        </p:par>
                      </p:childTnLst>
                    </p:cTn>
                  </p:par>
                  <p:par>
                    <p:cTn id="411" fill="hold" nodeType="clickEffect">
                      <p:stCondLst>
                        <p:cond delay="indefinite"/>
                      </p:stCondLst>
                      <p:childTnLst>
                        <p:par>
                          <p:cTn id="412" fill="hold" nodeType="withEffect">
                            <p:stCondLst>
                              <p:cond delay="0"/>
                            </p:stCondLst>
                            <p:childTnLst>
                              <p:par>
                                <p:cTn id="413" presetID="8" presetClass="exit" fill="hold" nodeType="clickEffect" presetSubtype="16">
                                  <p:stCondLst>
                                    <p:cond delay="0"/>
                                  </p:stCondLst>
                                  <p:childTnLst>
                                    <p:animEffect transition="out" filter="diamond(in)">
                                      <p:cBhvr additive="repl">
                                        <p:cTn id="414" dur="1000"/>
                                        <p:tgtEl>
                                          <p:spTgt spid="286"/>
                                        </p:tgtEl>
                                      </p:cBhvr>
                                    </p:animEffect>
                                    <p:set>
                                      <p:cBhvr>
                                        <p:cTn id="415" dur="1" fill="hold">
                                          <p:stCondLst>
                                            <p:cond delay="999"/>
                                          </p:stCondLst>
                                        </p:cTn>
                                        <p:tgtEl>
                                          <p:spTgt spid="286"/>
                                        </p:tgtEl>
                                        <p:attrNameLst>
                                          <p:attrName>style.visibility</p:attrName>
                                        </p:attrNameLst>
                                      </p:cBhvr>
                                      <p:to>
                                        <p:strVal val="hidden"/>
                                      </p:to>
                                    </p:set>
                                  </p:childTnLst>
                                </p:cTn>
                              </p:par>
                            </p:childTnLst>
                          </p:cTn>
                        </p:par>
                      </p:childTnLst>
                    </p:cTn>
                  </p:par>
                  <p:par>
                    <p:cTn id="416" fill="hold" nodeType="clickEffect">
                      <p:stCondLst>
                        <p:cond delay="indefinite"/>
                      </p:stCondLst>
                      <p:childTnLst>
                        <p:par>
                          <p:cTn id="417" fill="hold" nodeType="withEffect">
                            <p:stCondLst>
                              <p:cond delay="0"/>
                            </p:stCondLst>
                            <p:childTnLst>
                              <p:par>
                                <p:cTn id="418" presetID="2" presetClass="entr" fill="hold" nodeType="clickEffect" presetSubtype="4">
                                  <p:stCondLst>
                                    <p:cond delay="0"/>
                                  </p:stCondLst>
                                  <p:childTnLst>
                                    <p:set>
                                      <p:cBhvr>
                                        <p:cTn id="419" dur="1" fill="hold">
                                          <p:stCondLst>
                                            <p:cond delay="0"/>
                                          </p:stCondLst>
                                        </p:cTn>
                                        <p:tgtEl>
                                          <p:spTgt spid="289"/>
                                        </p:tgtEl>
                                        <p:attrNameLst>
                                          <p:attrName>style.visibility</p:attrName>
                                        </p:attrNameLst>
                                      </p:cBhvr>
                                      <p:to>
                                        <p:strVal val="visible"/>
                                      </p:to>
                                    </p:set>
                                    <p:anim calcmode="lin" valueType="num">
                                      <p:cBhvr additive="base">
                                        <p:cTn id="420" dur="500" fill="hold"/>
                                        <p:tgtEl>
                                          <p:spTgt spid="289"/>
                                        </p:tgtEl>
                                        <p:attrNameLst>
                                          <p:attrName>ppt_x</p:attrName>
                                        </p:attrNameLst>
                                      </p:cBhvr>
                                      <p:tavLst>
                                        <p:tav>
                                          <p:val>
                                            <p:strVal val="#ppt_x"/>
                                          </p:val>
                                        </p:tav>
                                        <p:tav tm="100000">
                                          <p:val>
                                            <p:strVal val="#ppt_x"/>
                                          </p:val>
                                        </p:tav>
                                      </p:tavLst>
                                    </p:anim>
                                    <p:anim calcmode="lin" valueType="num">
                                      <p:cBhvr additive="base">
                                        <p:cTn id="421" dur="500" fill="hold"/>
                                        <p:tgtEl>
                                          <p:spTgt spid="289"/>
                                        </p:tgtEl>
                                        <p:attrNameLst>
                                          <p:attrName>ppt_y</p:attrName>
                                        </p:attrNameLst>
                                      </p:cBhvr>
                                      <p:tavLst>
                                        <p:tav>
                                          <p:val>
                                            <p:strVal val="1+#ppt_h/2"/>
                                          </p:val>
                                        </p:tav>
                                        <p:tav tm="100000">
                                          <p:val>
                                            <p:strVal val="#ppt_y"/>
                                          </p:val>
                                        </p:tav>
                                      </p:tavLst>
                                    </p:anim>
                                  </p:childTnLst>
                                </p:cTn>
                              </p:par>
                            </p:childTnLst>
                          </p:cTn>
                        </p:par>
                      </p:childTnLst>
                    </p:cTn>
                  </p:par>
                  <p:par>
                    <p:cTn id="422" fill="hold" nodeType="clickEffect">
                      <p:stCondLst>
                        <p:cond delay="indefinite"/>
                      </p:stCondLst>
                      <p:childTnLst>
                        <p:par>
                          <p:cTn id="423" fill="hold" nodeType="withEffect">
                            <p:stCondLst>
                              <p:cond delay="0"/>
                            </p:stCondLst>
                            <p:childTnLst>
                              <p:par>
                                <p:cTn id="424" presetID="8" presetClass="exit" fill="hold" nodeType="clickEffect" presetSubtype="16">
                                  <p:stCondLst>
                                    <p:cond delay="0"/>
                                  </p:stCondLst>
                                  <p:childTnLst>
                                    <p:animEffect transition="out" filter="diamond(in)">
                                      <p:cBhvr additive="repl">
                                        <p:cTn id="425" dur="1000"/>
                                        <p:tgtEl>
                                          <p:spTgt spid="289"/>
                                        </p:tgtEl>
                                      </p:cBhvr>
                                    </p:animEffect>
                                    <p:set>
                                      <p:cBhvr>
                                        <p:cTn id="426" dur="1" fill="hold">
                                          <p:stCondLst>
                                            <p:cond delay="999"/>
                                          </p:stCondLst>
                                        </p:cTn>
                                        <p:tgtEl>
                                          <p:spTgt spid="289"/>
                                        </p:tgtEl>
                                        <p:attrNameLst>
                                          <p:attrName>style.visibility</p:attrName>
                                        </p:attrNameLst>
                                      </p:cBhvr>
                                      <p:to>
                                        <p:strVal val="hidden"/>
                                      </p:to>
                                    </p:set>
                                  </p:childTnLst>
                                </p:cTn>
                              </p:par>
                            </p:childTnLst>
                          </p:cTn>
                        </p:par>
                      </p:childTnLst>
                    </p:cTn>
                  </p:par>
                  <p:par>
                    <p:cTn id="427" fill="hold" nodeType="clickEffect">
                      <p:stCondLst>
                        <p:cond delay="indefinite"/>
                      </p:stCondLst>
                      <p:childTnLst>
                        <p:par>
                          <p:cTn id="428" fill="hold" nodeType="withEffect">
                            <p:stCondLst>
                              <p:cond delay="0"/>
                            </p:stCondLst>
                            <p:childTnLst>
                              <p:par>
                                <p:cTn id="429" presetID="18" presetClass="entr" fill="hold" nodeType="clickEffect" presetSubtype="12">
                                  <p:stCondLst>
                                    <p:cond delay="0"/>
                                  </p:stCondLst>
                                  <p:childTnLst>
                                    <p:set>
                                      <p:cBhvr>
                                        <p:cTn id="430" dur="1" fill="hold">
                                          <p:stCondLst>
                                            <p:cond delay="0"/>
                                          </p:stCondLst>
                                        </p:cTn>
                                        <p:tgtEl>
                                          <p:spTgt spid="294"/>
                                        </p:tgtEl>
                                        <p:attrNameLst>
                                          <p:attrName>style.visibility</p:attrName>
                                        </p:attrNameLst>
                                      </p:cBhvr>
                                      <p:to>
                                        <p:strVal val="visible"/>
                                      </p:to>
                                    </p:set>
                                    <p:animEffect transition="in" filter="strips(downLeft)">
                                      <p:cBhvr additive="repl">
                                        <p:cTn id="431"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D9A58BD-9294-42FD-8FD2-07904265C418}"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sp>
        <p:nvSpPr>
          <p:cNvPr id="300" name="Rectangle 4"/>
          <p:cNvSpPr/>
          <p:nvPr/>
        </p:nvSpPr>
        <p:spPr>
          <a:xfrm>
            <a:off x="987840" y="721080"/>
            <a:ext cx="221688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二、有源校正装置</a:t>
            </a:r>
            <a:endParaRPr lang="en-US" sz="2000" b="0" u="none" strike="noStrike">
              <a:solidFill>
                <a:srgbClr val="000000"/>
              </a:solidFill>
              <a:effectLst/>
              <a:uFillTx/>
              <a:latin typeface="Times New Roman"/>
            </a:endParaRPr>
          </a:p>
        </p:txBody>
      </p:sp>
      <p:sp>
        <p:nvSpPr>
          <p:cNvPr id="301" name="Rectangle 5"/>
          <p:cNvSpPr/>
          <p:nvPr/>
        </p:nvSpPr>
        <p:spPr>
          <a:xfrm>
            <a:off x="539640" y="1195920"/>
            <a:ext cx="8137800" cy="100872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      </a:t>
            </a:r>
            <a:r>
              <a:rPr lang="zh-CN" sz="2000" b="1" u="none" strike="noStrike">
                <a:solidFill>
                  <a:srgbClr val="000000"/>
                </a:solidFill>
                <a:effectLst/>
                <a:uFillTx/>
                <a:latin typeface="Times New Roman"/>
              </a:rPr>
              <a:t>常用的有源校正装置除测速发电机及其与无源网络的组合，以及</a:t>
            </a:r>
            <a:r>
              <a:rPr lang="en-US" sz="2000" b="1" u="none" strike="noStrike">
                <a:solidFill>
                  <a:srgbClr val="000000"/>
                </a:solidFill>
                <a:effectLst/>
                <a:uFillTx/>
                <a:latin typeface="Times New Roman"/>
              </a:rPr>
              <a:t>PID</a:t>
            </a:r>
            <a:r>
              <a:rPr lang="zh-CN" sz="2000" b="1" u="none" strike="noStrike">
                <a:solidFill>
                  <a:srgbClr val="000000"/>
                </a:solidFill>
                <a:effectLst/>
                <a:uFillTx/>
                <a:latin typeface="Times New Roman"/>
              </a:rPr>
              <a:t>控制器外，通常把接在运算放大器的反馈回路中，形成有源网络，以实现系统所要求的控制规律。 </a:t>
            </a:r>
            <a:endParaRPr lang="en-US" sz="2000" b="0" u="none" strike="noStrike">
              <a:solidFill>
                <a:srgbClr val="000000"/>
              </a:solidFill>
              <a:effectLst/>
              <a:uFillTx/>
              <a:latin typeface="Times New Roman"/>
            </a:endParaRPr>
          </a:p>
        </p:txBody>
      </p:sp>
      <p:sp>
        <p:nvSpPr>
          <p:cNvPr id="302" name="Rectangle 6"/>
          <p:cNvSpPr/>
          <p:nvPr/>
        </p:nvSpPr>
        <p:spPr>
          <a:xfrm>
            <a:off x="522360" y="2419920"/>
            <a:ext cx="324792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PID</a:t>
            </a:r>
            <a:r>
              <a:rPr lang="zh-CN" sz="2000" b="1" u="none" strike="noStrike">
                <a:solidFill>
                  <a:srgbClr val="008080"/>
                </a:solidFill>
                <a:effectLst/>
                <a:uFillTx/>
                <a:latin typeface="Times New Roman"/>
              </a:rPr>
              <a:t>控制器</a:t>
            </a:r>
            <a:r>
              <a:rPr lang="zh-CN" sz="2000" b="0" u="none" strike="noStrike">
                <a:solidFill>
                  <a:srgbClr val="008080"/>
                </a:solidFill>
                <a:effectLst/>
                <a:uFillTx/>
                <a:latin typeface="Times New Roman"/>
              </a:rPr>
              <a:t>（</a:t>
            </a:r>
            <a:r>
              <a:rPr lang="en-US" sz="2000" b="0" u="none" strike="noStrike">
                <a:solidFill>
                  <a:srgbClr val="008080"/>
                </a:solidFill>
                <a:effectLst/>
                <a:uFillTx/>
                <a:latin typeface="Times New Roman"/>
              </a:rPr>
              <a:t>PID</a:t>
            </a:r>
            <a:r>
              <a:rPr lang="zh-CN" sz="2000" b="0" u="none" strike="noStrike">
                <a:solidFill>
                  <a:srgbClr val="008080"/>
                </a:solidFill>
                <a:effectLst/>
                <a:uFillTx/>
                <a:latin typeface="Times New Roman"/>
              </a:rPr>
              <a:t>调节器）</a:t>
            </a:r>
            <a:endParaRPr lang="en-US" sz="2000" b="0" u="none" strike="noStrike">
              <a:solidFill>
                <a:srgbClr val="000000"/>
              </a:solidFill>
              <a:effectLst/>
              <a:uFillTx/>
              <a:latin typeface="Times New Roman"/>
            </a:endParaRPr>
          </a:p>
        </p:txBody>
      </p:sp>
      <p:sp>
        <p:nvSpPr>
          <p:cNvPr id="303" name="Rectangle 8"/>
          <p:cNvSpPr/>
          <p:nvPr/>
        </p:nvSpPr>
        <p:spPr>
          <a:xfrm>
            <a:off x="3710880" y="2421000"/>
            <a:ext cx="4252680" cy="398880"/>
          </a:xfrm>
          <a:prstGeom prst="rect">
            <a:avLst/>
          </a:prstGeom>
          <a:noFill/>
          <a:ln w="9360">
            <a:solidFill>
              <a:srgbClr val="CC99FF"/>
            </a:solidFill>
            <a:miter/>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工业过程控制中常用的有源校正装置</a:t>
            </a:r>
            <a:endParaRPr lang="en-US" sz="2000" b="0" u="none" strike="noStrike">
              <a:solidFill>
                <a:srgbClr val="000000"/>
              </a:solidFill>
              <a:effectLst/>
              <a:uFillTx/>
              <a:latin typeface="Times New Roman"/>
            </a:endParaRPr>
          </a:p>
        </p:txBody>
      </p:sp>
      <p:sp>
        <p:nvSpPr>
          <p:cNvPr id="304" name="Rectangle 9"/>
          <p:cNvSpPr/>
          <p:nvPr/>
        </p:nvSpPr>
        <p:spPr>
          <a:xfrm>
            <a:off x="617040" y="4149720"/>
            <a:ext cx="221688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输入－输出关系：</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05" name="Object 10"/>
              <p:cNvSpPr txBox="1"/>
              <p:nvPr/>
            </p:nvSpPr>
            <p:spPr>
              <a:xfrm>
                <a:off x="2771640" y="4005360"/>
                <a:ext cx="3726000" cy="698400"/>
              </a:xfrm>
              <a:prstGeom prst="rect">
                <a:avLst/>
              </a:prstGeom>
            </p:spPr>
            <p:txBody>
              <a:bodyPr/>
              <a:p>
                <a14:m>
                  <m:oMath xmlns:m="http://schemas.openxmlformats.org/officeDocument/2006/math">
                    <m:r>
                      <m:t xml:space="preserve">u</m:t>
                    </m:r>
                    <m:r>
                      <m:t xml:space="preserve">(</m:t>
                    </m:r>
                    <m:r>
                      <m:t xml:space="preserve">t</m:t>
                    </m:r>
                    <m:r>
                      <m:t xml:space="preserve">)</m:t>
                    </m:r>
                    <m:r>
                      <m:t xml:space="preserve">=</m:t>
                    </m:r>
                    <m:sSub>
                      <m:e>
                        <m:r>
                          <m:t xml:space="preserve">k</m:t>
                        </m:r>
                      </m:e>
                      <m:sub>
                        <m:r>
                          <m:t xml:space="preserve">p</m:t>
                        </m:r>
                      </m:sub>
                    </m:sSub>
                    <m:r>
                      <m:t xml:space="preserve">e</m:t>
                    </m:r>
                    <m:r>
                      <m:t xml:space="preserve">(</m:t>
                    </m:r>
                    <m:r>
                      <m:t xml:space="preserve">t</m:t>
                    </m:r>
                    <m:r>
                      <m:t xml:space="preserve">)</m:t>
                    </m:r>
                    <m:r>
                      <m:t xml:space="preserve">+</m:t>
                    </m:r>
                    <m:sSub>
                      <m:e>
                        <m:r>
                          <m:t xml:space="preserve">k</m:t>
                        </m:r>
                      </m:e>
                      <m:sub>
                        <m:r>
                          <m:t xml:space="preserve">i</m:t>
                        </m:r>
                      </m:sub>
                    </m:sSub>
                    <m:nary>
                      <m:naryPr>
                        <m:chr m:val="∫"/>
                        <m:subHide m:val="1"/>
                        <m:supHide m:val="1"/>
                      </m:naryPr>
                      <m:sub/>
                      <m:sup/>
                      <m:e>
                        <m:r>
                          <m:t xml:space="preserve">e</m:t>
                        </m:r>
                        <m:r>
                          <m:t xml:space="preserve">(</m:t>
                        </m:r>
                        <m:r>
                          <m:t xml:space="preserve">t</m:t>
                        </m:r>
                        <m:r>
                          <m:t xml:space="preserve">)</m:t>
                        </m:r>
                        <m:r>
                          <m:rPr>
                            <m:lit/>
                            <m:nor/>
                          </m:rPr>
                          <m:t xml:space="preserve">dt</m:t>
                        </m:r>
                        <m:r>
                          <m:t xml:space="preserve">+</m:t>
                        </m:r>
                      </m:e>
                    </m:nary>
                    <m:sSub>
                      <m:e>
                        <m:r>
                          <m:t xml:space="preserve">k</m:t>
                        </m:r>
                      </m:e>
                      <m:sub>
                        <m:r>
                          <m:t xml:space="preserve">d</m:t>
                        </m:r>
                      </m:sub>
                    </m:sSub>
                    <m:f>
                      <m:num>
                        <m:r>
                          <m:rPr>
                            <m:lit/>
                            <m:nor/>
                          </m:rPr>
                          <m:t xml:space="preserve">de</m:t>
                        </m:r>
                        <m:r>
                          <m:t xml:space="preserve">(</m:t>
                        </m:r>
                        <m:r>
                          <m:t xml:space="preserve">t</m:t>
                        </m:r>
                        <m:r>
                          <m:t xml:space="preserve">)</m:t>
                        </m:r>
                      </m:num>
                      <m:den>
                        <m:r>
                          <m:rPr>
                            <m:lit/>
                            <m:nor/>
                          </m:rPr>
                          <m:t xml:space="preserve">dt</m:t>
                        </m:r>
                      </m:den>
                    </m:f>
                  </m:oMath>
                </a14:m>
              </a:p>
            </p:txBody>
          </p:sp>
        </mc:Choice>
        <mc:Fallback>
          <p:sp>
            <p:nvSpPr>
              <p:cNvPr id="305" name="Object 10"/>
              <p:cNvSpPr txBox="1"/>
              <p:nvPr/>
            </p:nvSpPr>
            <p:spPr>
              <a:xfrm>
                <a:off x="2771640" y="4005360"/>
                <a:ext cx="3726000" cy="698400"/>
              </a:xfrm>
              <a:prstGeom prst="rect">
                <a:avLst/>
              </a:prstGeom>
              <a:blipFill>
                <a:blip r:embed="rId1"/>
                <a:stretch>
                  <a:fillRect/>
                </a:stretch>
              </a:blipFill>
            </p:spPr>
          </p:sp>
        </mc:Fallback>
      </mc:AlternateContent>
      <p:grpSp>
        <p:nvGrpSpPr>
          <p:cNvPr id="306" name="Group 17"/>
          <p:cNvGrpSpPr/>
          <p:nvPr/>
        </p:nvGrpSpPr>
        <p:grpSpPr>
          <a:xfrm>
            <a:off x="2700360" y="3141720"/>
            <a:ext cx="2014560" cy="576000"/>
            <a:chOff x="2700360" y="3141720"/>
            <a:chExt cx="2014560" cy="576000"/>
          </a:xfrm>
        </p:grpSpPr>
        <mc:AlternateContent>
          <mc:Choice xmlns:a14="http://schemas.microsoft.com/office/drawing/2010/main" Requires="a14">
            <p:sp>
              <p:nvSpPr>
                <p:cNvPr id="307" name="Object 12"/>
                <p:cNvSpPr txBox="1"/>
                <p:nvPr/>
              </p:nvSpPr>
              <p:spPr>
                <a:xfrm>
                  <a:off x="3348000" y="3286080"/>
                  <a:ext cx="720720" cy="43164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oMath>
                  </a14:m>
                </a:p>
              </p:txBody>
            </p:sp>
          </mc:Choice>
          <mc:Fallback>
            <p:sp>
              <p:nvSpPr>
                <p:cNvPr id="307" name="Object 12"/>
                <p:cNvSpPr txBox="1"/>
                <p:nvPr/>
              </p:nvSpPr>
              <p:spPr>
                <a:xfrm>
                  <a:off x="3348000" y="3286080"/>
                  <a:ext cx="720720" cy="431640"/>
                </a:xfrm>
                <a:prstGeom prst="rect">
                  <a:avLst/>
                </a:prstGeom>
                <a:blipFill>
                  <a:blip r:embed="rId2"/>
                  <a:stretch>
                    <a:fillRect/>
                  </a:stretch>
                </a:blipFill>
              </p:spPr>
            </p:sp>
          </mc:Fallback>
        </mc:AlternateContent>
        <p:sp>
          <p:nvSpPr>
            <p:cNvPr id="308" name="Line 13"/>
            <p:cNvSpPr/>
            <p:nvPr/>
          </p:nvSpPr>
          <p:spPr>
            <a:xfrm>
              <a:off x="2772000" y="3502080"/>
              <a:ext cx="57600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09" name="Line 14"/>
            <p:cNvSpPr/>
            <p:nvPr/>
          </p:nvSpPr>
          <p:spPr>
            <a:xfrm>
              <a:off x="4068720" y="3502080"/>
              <a:ext cx="5763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310" name="Object 15"/>
                <p:cNvSpPr txBox="1"/>
                <p:nvPr/>
              </p:nvSpPr>
              <p:spPr>
                <a:xfrm>
                  <a:off x="4211640" y="3141720"/>
                  <a:ext cx="503280" cy="366480"/>
                </a:xfrm>
                <a:prstGeom prst="rect">
                  <a:avLst/>
                </a:prstGeom>
              </p:spPr>
              <p:txBody>
                <a:bodyPr/>
                <a:p>
                  <a14:m>
                    <m:oMath xmlns:m="http://schemas.openxmlformats.org/officeDocument/2006/math">
                      <m:r>
                        <m:t xml:space="preserve">u</m:t>
                      </m:r>
                      <m:r>
                        <m:t xml:space="preserve">(</m:t>
                      </m:r>
                      <m:r>
                        <m:t xml:space="preserve">t</m:t>
                      </m:r>
                      <m:r>
                        <m:t xml:space="preserve">)</m:t>
                      </m:r>
                    </m:oMath>
                  </a14:m>
                </a:p>
              </p:txBody>
            </p:sp>
          </mc:Choice>
          <mc:Fallback>
            <p:sp>
              <p:nvSpPr>
                <p:cNvPr id="310" name="Object 15"/>
                <p:cNvSpPr txBox="1"/>
                <p:nvPr/>
              </p:nvSpPr>
              <p:spPr>
                <a:xfrm>
                  <a:off x="4211640" y="3141720"/>
                  <a:ext cx="503280" cy="366480"/>
                </a:xfrm>
                <a:prstGeom prst="rect">
                  <a:avLst/>
                </a:prstGeom>
                <a:blipFill>
                  <a:blip r:embed="rId3"/>
                  <a:stretch>
                    <a:fillRect/>
                  </a:stretch>
                </a:blipFill>
              </p:spPr>
            </p:sp>
          </mc:Fallback>
        </mc:AlternateContent>
        <mc:AlternateContent>
          <mc:Choice xmlns:a14="http://schemas.microsoft.com/office/drawing/2010/main" Requires="a14">
            <p:sp>
              <p:nvSpPr>
                <p:cNvPr id="311" name="Object 16"/>
                <p:cNvSpPr txBox="1"/>
                <p:nvPr/>
              </p:nvSpPr>
              <p:spPr>
                <a:xfrm>
                  <a:off x="2700360" y="3141720"/>
                  <a:ext cx="479520" cy="366480"/>
                </a:xfrm>
                <a:prstGeom prst="rect">
                  <a:avLst/>
                </a:prstGeom>
              </p:spPr>
              <p:txBody>
                <a:bodyPr/>
                <a:p>
                  <a14:m>
                    <m:oMath xmlns:m="http://schemas.openxmlformats.org/officeDocument/2006/math">
                      <m:r>
                        <m:t xml:space="preserve">e</m:t>
                      </m:r>
                      <m:r>
                        <m:t xml:space="preserve">(</m:t>
                      </m:r>
                      <m:r>
                        <m:t xml:space="preserve">t</m:t>
                      </m:r>
                      <m:r>
                        <m:t xml:space="preserve">)</m:t>
                      </m:r>
                    </m:oMath>
                  </a14:m>
                </a:p>
              </p:txBody>
            </p:sp>
          </mc:Choice>
          <mc:Fallback>
            <p:sp>
              <p:nvSpPr>
                <p:cNvPr id="311" name="Object 16"/>
                <p:cNvSpPr txBox="1"/>
                <p:nvPr/>
              </p:nvSpPr>
              <p:spPr>
                <a:xfrm>
                  <a:off x="2700360" y="3141720"/>
                  <a:ext cx="479520" cy="366480"/>
                </a:xfrm>
                <a:prstGeom prst="rect">
                  <a:avLst/>
                </a:prstGeom>
                <a:blipFill>
                  <a:blip r:embed="rId4"/>
                  <a:stretch>
                    <a:fillRect/>
                  </a:stretch>
                </a:blipFill>
              </p:spPr>
            </p:sp>
          </mc:Fallback>
        </mc:AlternateContent>
      </p:grpSp>
      <p:sp>
        <p:nvSpPr>
          <p:cNvPr id="312" name="Rectangle 18"/>
          <p:cNvSpPr/>
          <p:nvPr/>
        </p:nvSpPr>
        <p:spPr>
          <a:xfrm>
            <a:off x="615600" y="4797360"/>
            <a:ext cx="14533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传递函数：</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13" name="Object 19"/>
              <p:cNvSpPr txBox="1"/>
              <p:nvPr/>
            </p:nvSpPr>
            <p:spPr>
              <a:xfrm>
                <a:off x="2050920" y="4724280"/>
                <a:ext cx="3311640" cy="69876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r>
                          <m:t xml:space="preserve">U</m:t>
                        </m:r>
                        <m:r>
                          <m:t xml:space="preserve">(</m:t>
                        </m:r>
                        <m:r>
                          <m:t xml:space="preserve">s</m:t>
                        </m:r>
                        <m:r>
                          <m:t xml:space="preserve">)</m:t>
                        </m:r>
                      </m:num>
                      <m:den>
                        <m:r>
                          <m:t xml:space="preserve">E</m:t>
                        </m:r>
                        <m:r>
                          <m:t xml:space="preserve">(</m:t>
                        </m:r>
                        <m:r>
                          <m:t xml:space="preserve">s</m:t>
                        </m:r>
                        <m:r>
                          <m:t xml:space="preserve">)</m:t>
                        </m:r>
                      </m:den>
                    </m:f>
                    <m:r>
                      <m:t xml:space="preserve">=</m:t>
                    </m:r>
                    <m:sSub>
                      <m:e>
                        <m:r>
                          <m:t xml:space="preserve">k</m:t>
                        </m:r>
                      </m:e>
                      <m:sub>
                        <m:r>
                          <m:t xml:space="preserve">p</m:t>
                        </m:r>
                      </m:sub>
                    </m:sSub>
                    <m:r>
                      <m:t xml:space="preserve">+</m:t>
                    </m:r>
                    <m:sSub>
                      <m:e>
                        <m:r>
                          <m:t xml:space="preserve">k</m:t>
                        </m:r>
                      </m:e>
                      <m:sub>
                        <m:r>
                          <m:t xml:space="preserve">i</m:t>
                        </m:r>
                      </m:sub>
                    </m:sSub>
                    <m:f>
                      <m:num>
                        <m:r>
                          <m:t xml:space="preserve">1</m:t>
                        </m:r>
                      </m:num>
                      <m:den>
                        <m:r>
                          <m:t xml:space="preserve">S</m:t>
                        </m:r>
                      </m:den>
                    </m:f>
                    <m:r>
                      <m:t xml:space="preserve">+</m:t>
                    </m:r>
                    <m:sSub>
                      <m:e>
                        <m:r>
                          <m:t xml:space="preserve">k</m:t>
                        </m:r>
                      </m:e>
                      <m:sub>
                        <m:r>
                          <m:t xml:space="preserve">d</m:t>
                        </m:r>
                      </m:sub>
                    </m:sSub>
                    <m:r>
                      <m:t xml:space="preserve">S</m:t>
                    </m:r>
                  </m:oMath>
                </a14:m>
              </a:p>
            </p:txBody>
          </p:sp>
        </mc:Choice>
        <mc:Fallback>
          <p:sp>
            <p:nvSpPr>
              <p:cNvPr id="313" name="Object 19"/>
              <p:cNvSpPr txBox="1"/>
              <p:nvPr/>
            </p:nvSpPr>
            <p:spPr>
              <a:xfrm>
                <a:off x="2050920" y="4724280"/>
                <a:ext cx="3311640" cy="698760"/>
              </a:xfrm>
              <a:prstGeom prst="rect">
                <a:avLst/>
              </a:prstGeom>
              <a:blipFill>
                <a:blip r:embed="rId5"/>
                <a:stretch>
                  <a:fillRect/>
                </a:stretch>
              </a:blipFill>
            </p:spPr>
          </p:sp>
        </mc:Fallback>
      </mc:AlternateContent>
    </p:spTree>
  </p:cSld>
  <p:transition>
    <p:random/>
  </p:transition>
  <p:timing>
    <p:tnLst>
      <p:par>
        <p:cTn id="432" dur="indefinite" restart="never" nodeType="tmRoot">
          <p:childTnLst>
            <p:seq>
              <p:cTn id="433" dur="indefinite" nodeType="mainSeq">
                <p:childTnLst>
                  <p:par>
                    <p:cTn id="434" fill="hold" nodeType="clickEffect">
                      <p:stCondLst>
                        <p:cond delay="indefinite"/>
                      </p:stCondLst>
                      <p:childTnLst>
                        <p:par>
                          <p:cTn id="435" fill="hold" nodeType="withEffect">
                            <p:stCondLst>
                              <p:cond delay="0"/>
                            </p:stCondLst>
                            <p:childTnLst>
                              <p:par>
                                <p:cTn id="436" presetID="3" presetClass="entr" fill="hold" nodeType="clickEffect" presetSubtype="10">
                                  <p:stCondLst>
                                    <p:cond delay="0"/>
                                  </p:stCondLst>
                                  <p:childTnLst>
                                    <p:set>
                                      <p:cBhvr>
                                        <p:cTn id="437" dur="1" fill="hold">
                                          <p:stCondLst>
                                            <p:cond delay="0"/>
                                          </p:stCondLst>
                                        </p:cTn>
                                        <p:tgtEl>
                                          <p:spTgt spid="300"/>
                                        </p:tgtEl>
                                        <p:attrNameLst>
                                          <p:attrName>style.visibility</p:attrName>
                                        </p:attrNameLst>
                                      </p:cBhvr>
                                      <p:to>
                                        <p:strVal val="visible"/>
                                      </p:to>
                                    </p:set>
                                    <p:animEffect transition="in" filter="blinds(horizontal)">
                                      <p:cBhvr additive="repl">
                                        <p:cTn id="438" dur="500"/>
                                        <p:tgtEl>
                                          <p:spTgt spid="300"/>
                                        </p:tgtEl>
                                      </p:cBhvr>
                                    </p:animEffect>
                                  </p:childTnLst>
                                </p:cTn>
                              </p:par>
                            </p:childTnLst>
                          </p:cTn>
                        </p:par>
                      </p:childTnLst>
                    </p:cTn>
                  </p:par>
                  <p:par>
                    <p:cTn id="439" fill="hold" nodeType="clickEffect">
                      <p:stCondLst>
                        <p:cond delay="indefinite"/>
                      </p:stCondLst>
                      <p:childTnLst>
                        <p:par>
                          <p:cTn id="440" fill="hold" nodeType="withEffect">
                            <p:stCondLst>
                              <p:cond delay="0"/>
                            </p:stCondLst>
                            <p:childTnLst>
                              <p:par>
                                <p:cTn id="441" presetID="3" presetClass="entr" fill="hold" nodeType="clickEffect" presetSubtype="10">
                                  <p:stCondLst>
                                    <p:cond delay="0"/>
                                  </p:stCondLst>
                                  <p:childTnLst>
                                    <p:set>
                                      <p:cBhvr>
                                        <p:cTn id="442" dur="1" fill="hold">
                                          <p:stCondLst>
                                            <p:cond delay="0"/>
                                          </p:stCondLst>
                                        </p:cTn>
                                        <p:tgtEl>
                                          <p:spTgt spid="301"/>
                                        </p:tgtEl>
                                        <p:attrNameLst>
                                          <p:attrName>style.visibility</p:attrName>
                                        </p:attrNameLst>
                                      </p:cBhvr>
                                      <p:to>
                                        <p:strVal val="visible"/>
                                      </p:to>
                                    </p:set>
                                    <p:animEffect transition="in" filter="blinds(horizontal)">
                                      <p:cBhvr additive="repl">
                                        <p:cTn id="443" dur="500"/>
                                        <p:tgtEl>
                                          <p:spTgt spid="301"/>
                                        </p:tgtEl>
                                      </p:cBhvr>
                                    </p:animEffect>
                                  </p:childTnLst>
                                </p:cTn>
                              </p:par>
                            </p:childTnLst>
                          </p:cTn>
                        </p:par>
                      </p:childTnLst>
                    </p:cTn>
                  </p:par>
                  <p:par>
                    <p:cTn id="444" fill="hold" nodeType="clickEffect">
                      <p:stCondLst>
                        <p:cond delay="indefinite"/>
                      </p:stCondLst>
                      <p:childTnLst>
                        <p:par>
                          <p:cTn id="445" fill="hold" nodeType="withEffect">
                            <p:stCondLst>
                              <p:cond delay="0"/>
                            </p:stCondLst>
                            <p:childTnLst>
                              <p:par>
                                <p:cTn id="446" presetID="3" presetClass="entr" fill="hold" nodeType="clickEffect" presetSubtype="10">
                                  <p:stCondLst>
                                    <p:cond delay="0"/>
                                  </p:stCondLst>
                                  <p:childTnLst>
                                    <p:set>
                                      <p:cBhvr>
                                        <p:cTn id="447" dur="1" fill="hold">
                                          <p:stCondLst>
                                            <p:cond delay="0"/>
                                          </p:stCondLst>
                                        </p:cTn>
                                        <p:tgtEl>
                                          <p:spTgt spid="302"/>
                                        </p:tgtEl>
                                        <p:attrNameLst>
                                          <p:attrName>style.visibility</p:attrName>
                                        </p:attrNameLst>
                                      </p:cBhvr>
                                      <p:to>
                                        <p:strVal val="visible"/>
                                      </p:to>
                                    </p:set>
                                    <p:animEffect transition="in" filter="blinds(horizontal)">
                                      <p:cBhvr additive="repl">
                                        <p:cTn id="448" dur="500"/>
                                        <p:tgtEl>
                                          <p:spTgt spid="302"/>
                                        </p:tgtEl>
                                      </p:cBhvr>
                                    </p:animEffect>
                                  </p:childTnLst>
                                </p:cTn>
                              </p:par>
                              <p:par>
                                <p:cTn id="449" presetID="3" presetClass="entr" fill="hold" nodeType="withEffect" presetSubtype="10">
                                  <p:stCondLst>
                                    <p:cond delay="0"/>
                                  </p:stCondLst>
                                  <p:childTnLst>
                                    <p:set>
                                      <p:cBhvr>
                                        <p:cTn id="450" dur="1" fill="hold">
                                          <p:stCondLst>
                                            <p:cond delay="0"/>
                                          </p:stCondLst>
                                        </p:cTn>
                                        <p:tgtEl>
                                          <p:spTgt spid="303"/>
                                        </p:tgtEl>
                                        <p:attrNameLst>
                                          <p:attrName>style.visibility</p:attrName>
                                        </p:attrNameLst>
                                      </p:cBhvr>
                                      <p:to>
                                        <p:strVal val="visible"/>
                                      </p:to>
                                    </p:set>
                                    <p:animEffect transition="in" filter="blinds(horizontal)">
                                      <p:cBhvr additive="repl">
                                        <p:cTn id="451" dur="500"/>
                                        <p:tgtEl>
                                          <p:spTgt spid="303"/>
                                        </p:tgtEl>
                                      </p:cBhvr>
                                    </p:animEffect>
                                  </p:childTnLst>
                                </p:cTn>
                              </p:par>
                            </p:childTnLst>
                          </p:cTn>
                        </p:par>
                      </p:childTnLst>
                    </p:cTn>
                  </p:par>
                  <p:par>
                    <p:cTn id="452" fill="hold" nodeType="clickEffect">
                      <p:stCondLst>
                        <p:cond delay="indefinite"/>
                      </p:stCondLst>
                      <p:childTnLst>
                        <p:par>
                          <p:cTn id="453" fill="hold" nodeType="withEffect">
                            <p:stCondLst>
                              <p:cond delay="0"/>
                            </p:stCondLst>
                            <p:childTnLst>
                              <p:par>
                                <p:cTn id="454" presetID="3" presetClass="entr" fill="hold" nodeType="clickEffect" presetSubtype="10">
                                  <p:stCondLst>
                                    <p:cond delay="0"/>
                                  </p:stCondLst>
                                  <p:childTnLst>
                                    <p:set>
                                      <p:cBhvr>
                                        <p:cTn id="455" dur="1" fill="hold">
                                          <p:stCondLst>
                                            <p:cond delay="0"/>
                                          </p:stCondLst>
                                        </p:cTn>
                                        <p:tgtEl>
                                          <p:spTgt spid="306"/>
                                        </p:tgtEl>
                                        <p:attrNameLst>
                                          <p:attrName>style.visibility</p:attrName>
                                        </p:attrNameLst>
                                      </p:cBhvr>
                                      <p:to>
                                        <p:strVal val="visible"/>
                                      </p:to>
                                    </p:set>
                                    <p:animEffect transition="in" filter="blinds(horizontal)">
                                      <p:cBhvr additive="repl">
                                        <p:cTn id="456" dur="500"/>
                                        <p:tgtEl>
                                          <p:spTgt spid="306"/>
                                        </p:tgtEl>
                                      </p:cBhvr>
                                    </p:animEffect>
                                  </p:childTnLst>
                                </p:cTn>
                              </p:par>
                            </p:childTnLst>
                          </p:cTn>
                        </p:par>
                      </p:childTnLst>
                    </p:cTn>
                  </p:par>
                  <p:par>
                    <p:cTn id="457" fill="hold" nodeType="clickEffect">
                      <p:stCondLst>
                        <p:cond delay="indefinite"/>
                      </p:stCondLst>
                      <p:childTnLst>
                        <p:par>
                          <p:cTn id="458" fill="hold" nodeType="withEffect">
                            <p:stCondLst>
                              <p:cond delay="0"/>
                            </p:stCondLst>
                            <p:childTnLst>
                              <p:par>
                                <p:cTn id="459" presetID="3" presetClass="entr" fill="hold" nodeType="clickEffect" presetSubtype="10">
                                  <p:stCondLst>
                                    <p:cond delay="0"/>
                                  </p:stCondLst>
                                  <p:childTnLst>
                                    <p:set>
                                      <p:cBhvr>
                                        <p:cTn id="460" dur="1" fill="hold">
                                          <p:stCondLst>
                                            <p:cond delay="0"/>
                                          </p:stCondLst>
                                        </p:cTn>
                                        <p:tgtEl>
                                          <p:spTgt spid="304"/>
                                        </p:tgtEl>
                                        <p:attrNameLst>
                                          <p:attrName>style.visibility</p:attrName>
                                        </p:attrNameLst>
                                      </p:cBhvr>
                                      <p:to>
                                        <p:strVal val="visible"/>
                                      </p:to>
                                    </p:set>
                                    <p:animEffect transition="in" filter="blinds(horizontal)">
                                      <p:cBhvr additive="repl">
                                        <p:cTn id="461" dur="500"/>
                                        <p:tgtEl>
                                          <p:spTgt spid="304"/>
                                        </p:tgtEl>
                                      </p:cBhvr>
                                    </p:animEffect>
                                  </p:childTnLst>
                                </p:cTn>
                              </p:par>
                              <p:par>
                                <p:cTn id="462" presetID="3" presetClass="entr" fill="hold" nodeType="withEffect" presetSubtype="10">
                                  <p:stCondLst>
                                    <p:cond delay="0"/>
                                  </p:stCondLst>
                                  <p:childTnLst>
                                    <p:set>
                                      <p:cBhvr>
                                        <p:cTn id="463" dur="1" fill="hold">
                                          <p:stCondLst>
                                            <p:cond delay="0"/>
                                          </p:stCondLst>
                                        </p:cTn>
                                        <p:tgtEl>
                                          <p:spTgt spid="305"/>
                                        </p:tgtEl>
                                        <p:attrNameLst>
                                          <p:attrName>style.visibility</p:attrName>
                                        </p:attrNameLst>
                                      </p:cBhvr>
                                      <p:to>
                                        <p:strVal val="visible"/>
                                      </p:to>
                                    </p:set>
                                    <p:animEffect transition="in" filter="blinds(horizontal)">
                                      <p:cBhvr additive="repl">
                                        <p:cTn id="464" dur="500"/>
                                        <p:tgtEl>
                                          <p:spTgt spid="305"/>
                                        </p:tgtEl>
                                      </p:cBhvr>
                                    </p:animEffect>
                                  </p:childTnLst>
                                </p:cTn>
                              </p:par>
                            </p:childTnLst>
                          </p:cTn>
                        </p:par>
                      </p:childTnLst>
                    </p:cTn>
                  </p:par>
                  <p:par>
                    <p:cTn id="465" fill="hold" nodeType="clickEffect">
                      <p:stCondLst>
                        <p:cond delay="indefinite"/>
                      </p:stCondLst>
                      <p:childTnLst>
                        <p:par>
                          <p:cTn id="466" fill="hold" nodeType="withEffect">
                            <p:stCondLst>
                              <p:cond delay="0"/>
                            </p:stCondLst>
                            <p:childTnLst>
                              <p:par>
                                <p:cTn id="467" presetID="3" presetClass="entr" fill="hold" nodeType="clickEffect" presetSubtype="10">
                                  <p:stCondLst>
                                    <p:cond delay="0"/>
                                  </p:stCondLst>
                                  <p:childTnLst>
                                    <p:set>
                                      <p:cBhvr>
                                        <p:cTn id="468" dur="1" fill="hold">
                                          <p:stCondLst>
                                            <p:cond delay="0"/>
                                          </p:stCondLst>
                                        </p:cTn>
                                        <p:tgtEl>
                                          <p:spTgt spid="312"/>
                                        </p:tgtEl>
                                        <p:attrNameLst>
                                          <p:attrName>style.visibility</p:attrName>
                                        </p:attrNameLst>
                                      </p:cBhvr>
                                      <p:to>
                                        <p:strVal val="visible"/>
                                      </p:to>
                                    </p:set>
                                    <p:animEffect transition="in" filter="blinds(horizontal)">
                                      <p:cBhvr additive="repl">
                                        <p:cTn id="469" dur="500"/>
                                        <p:tgtEl>
                                          <p:spTgt spid="312"/>
                                        </p:tgtEl>
                                      </p:cBhvr>
                                    </p:animEffect>
                                  </p:childTnLst>
                                </p:cTn>
                              </p:par>
                              <p:par>
                                <p:cTn id="470" presetID="3" presetClass="entr" fill="hold" nodeType="withEffect" presetSubtype="10">
                                  <p:stCondLst>
                                    <p:cond delay="0"/>
                                  </p:stCondLst>
                                  <p:childTnLst>
                                    <p:set>
                                      <p:cBhvr>
                                        <p:cTn id="471" dur="1" fill="hold">
                                          <p:stCondLst>
                                            <p:cond delay="0"/>
                                          </p:stCondLst>
                                        </p:cTn>
                                        <p:tgtEl>
                                          <p:spTgt spid="313"/>
                                        </p:tgtEl>
                                        <p:attrNameLst>
                                          <p:attrName>style.visibility</p:attrName>
                                        </p:attrNameLst>
                                      </p:cBhvr>
                                      <p:to>
                                        <p:strVal val="visible"/>
                                      </p:to>
                                    </p:set>
                                    <p:animEffect transition="in" filter="blinds(horizontal)">
                                      <p:cBhvr additive="repl">
                                        <p:cTn id="472"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6590E9C-19D5-4709-BF9B-C0915835C234}"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315" name="Rectangle 16"/>
          <p:cNvSpPr/>
          <p:nvPr/>
        </p:nvSpPr>
        <p:spPr>
          <a:xfrm>
            <a:off x="1188000" y="620640"/>
            <a:ext cx="268200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1</a:t>
            </a:r>
            <a:r>
              <a:rPr lang="zh-CN" sz="2000" b="1" u="none" strike="noStrike">
                <a:solidFill>
                  <a:srgbClr val="008080"/>
                </a:solidFill>
                <a:effectLst/>
                <a:uFillTx/>
                <a:latin typeface="Times New Roman"/>
              </a:rPr>
              <a:t>、比例（</a:t>
            </a:r>
            <a:r>
              <a:rPr lang="en-US" sz="2000" b="1" u="none" strike="noStrike">
                <a:solidFill>
                  <a:srgbClr val="008080"/>
                </a:solidFill>
                <a:effectLst/>
                <a:uFillTx/>
                <a:latin typeface="Times New Roman"/>
              </a:rPr>
              <a:t>P</a:t>
            </a:r>
            <a:r>
              <a:rPr lang="zh-CN" sz="2000" b="1" u="none" strike="noStrike">
                <a:solidFill>
                  <a:srgbClr val="008080"/>
                </a:solidFill>
                <a:effectLst/>
                <a:uFillTx/>
                <a:latin typeface="Times New Roman"/>
              </a:rPr>
              <a:t>）控制器</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16" name="Object 17"/>
              <p:cNvSpPr txBox="1"/>
              <p:nvPr/>
            </p:nvSpPr>
            <p:spPr>
              <a:xfrm>
                <a:off x="3851280" y="620640"/>
                <a:ext cx="1208160" cy="41292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sSub>
                      <m:e>
                        <m:r>
                          <m:t xml:space="preserve">k</m:t>
                        </m:r>
                      </m:e>
                      <m:sub>
                        <m:r>
                          <m:t xml:space="preserve">p</m:t>
                        </m:r>
                      </m:sub>
                    </m:sSub>
                  </m:oMath>
                </a14:m>
              </a:p>
            </p:txBody>
          </p:sp>
        </mc:Choice>
        <mc:Fallback>
          <p:sp>
            <p:nvSpPr>
              <p:cNvPr id="316" name="Object 17"/>
              <p:cNvSpPr txBox="1"/>
              <p:nvPr/>
            </p:nvSpPr>
            <p:spPr>
              <a:xfrm>
                <a:off x="3851280" y="620640"/>
                <a:ext cx="1208160" cy="412920"/>
              </a:xfrm>
              <a:prstGeom prst="rect">
                <a:avLst/>
              </a:prstGeom>
              <a:blipFill>
                <a:blip r:embed="rId1"/>
                <a:stretch>
                  <a:fillRect/>
                </a:stretch>
              </a:blipFill>
            </p:spPr>
          </p:sp>
        </mc:Fallback>
      </mc:AlternateContent>
      <p:sp>
        <p:nvSpPr>
          <p:cNvPr id="317" name="Rectangle 18"/>
          <p:cNvSpPr/>
          <p:nvPr/>
        </p:nvSpPr>
        <p:spPr>
          <a:xfrm>
            <a:off x="684360" y="1051560"/>
            <a:ext cx="8137440" cy="70380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作用：调整系统的开环比例系数，以提高系统的静态精度，降低系统的</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惰性，加快其响应速度。 </a:t>
            </a:r>
            <a:endParaRPr lang="en-US" sz="2000" b="0" u="none" strike="noStrike">
              <a:solidFill>
                <a:srgbClr val="000000"/>
              </a:solidFill>
              <a:effectLst/>
              <a:uFillTx/>
              <a:latin typeface="Times New Roman"/>
            </a:endParaRPr>
          </a:p>
        </p:txBody>
      </p:sp>
      <p:sp>
        <p:nvSpPr>
          <p:cNvPr id="318" name="Rectangle 19"/>
          <p:cNvSpPr/>
          <p:nvPr/>
        </p:nvSpPr>
        <p:spPr>
          <a:xfrm>
            <a:off x="691920" y="1915200"/>
            <a:ext cx="298044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例如：系统结构如图所示</a:t>
            </a:r>
            <a:endParaRPr lang="en-US" sz="2000" b="0" u="none" strike="noStrike">
              <a:solidFill>
                <a:srgbClr val="000000"/>
              </a:solidFill>
              <a:effectLst/>
              <a:uFillTx/>
              <a:latin typeface="Times New Roman"/>
            </a:endParaRPr>
          </a:p>
        </p:txBody>
      </p:sp>
      <p:graphicFrame>
        <p:nvGraphicFramePr>
          <p:cNvPr id="319" name="Object 20"/>
          <p:cNvGraphicFramePr/>
          <p:nvPr/>
        </p:nvGraphicFramePr>
        <p:xfrm>
          <a:off x="3780000" y="1700280"/>
          <a:ext cx="5184720" cy="1762200"/>
        </p:xfrm>
        <a:graphic>
          <a:graphicData uri="http://schemas.openxmlformats.org/presentationml/2006/ole">
            <p:oleObj r:id="rId2" spid="">
              <p:embed/>
              <p:pic>
                <p:nvPicPr>
                  <p:cNvPr id="320" name="Object 20"/>
                  <p:cNvPicPr/>
                  <p:nvPr/>
                </p:nvPicPr>
                <p:blipFill>
                  <a:blip r:embed="rId3"/>
                  <a:stretch/>
                </p:blipFill>
                <p:spPr>
                  <a:xfrm>
                    <a:off x="3780000" y="1700280"/>
                    <a:ext cx="5184720" cy="1762200"/>
                  </a:xfrm>
                  <a:prstGeom prst="rect">
                    <a:avLst/>
                  </a:prstGeom>
                  <a:noFill/>
                  <a:ln w="0">
                    <a:noFill/>
                  </a:ln>
                </p:spPr>
              </p:pic>
            </p:oleObj>
          </a:graphicData>
        </a:graphic>
      </p:graphicFrame>
      <p:sp>
        <p:nvSpPr>
          <p:cNvPr id="321" name="Rectangle 21"/>
          <p:cNvSpPr/>
          <p:nvPr/>
        </p:nvSpPr>
        <p:spPr>
          <a:xfrm>
            <a:off x="536400" y="2619360"/>
            <a:ext cx="196236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闭环传递函数：</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22" name="Object 22"/>
              <p:cNvSpPr txBox="1"/>
              <p:nvPr/>
            </p:nvSpPr>
            <p:spPr>
              <a:xfrm>
                <a:off x="684360" y="3141720"/>
                <a:ext cx="4967280" cy="1108080"/>
              </a:xfrm>
              <a:prstGeom prst="rect">
                <a:avLst/>
              </a:prstGeom>
            </p:spPr>
            <p:txBody>
              <a:bodyPr/>
              <a:p>
                <a14:m>
                  <m:oMath xmlns:m="http://schemas.openxmlformats.org/officeDocument/2006/math">
                    <m:r>
                      <m:t xml:space="preserve">G</m:t>
                    </m:r>
                    <m:r>
                      <m:t xml:space="preserve">(</m:t>
                    </m:r>
                    <m:r>
                      <m:t xml:space="preserve">s</m:t>
                    </m:r>
                    <m:r>
                      <m:t xml:space="preserve">)</m:t>
                    </m:r>
                    <m:r>
                      <m:t xml:space="preserve">=</m:t>
                    </m:r>
                    <m:f>
                      <m:num>
                        <m:r>
                          <m:t xml:space="preserve">C</m:t>
                        </m:r>
                        <m:r>
                          <m:t xml:space="preserve">(</m:t>
                        </m:r>
                        <m:r>
                          <m:t xml:space="preserve">s</m:t>
                        </m:r>
                        <m:r>
                          <m:t xml:space="preserve">)</m:t>
                        </m:r>
                      </m:num>
                      <m:den>
                        <m:r>
                          <m:t xml:space="preserve">R</m:t>
                        </m:r>
                        <m:r>
                          <m:t xml:space="preserve">(</m:t>
                        </m:r>
                        <m:r>
                          <m:t xml:space="preserve">s</m:t>
                        </m:r>
                        <m:r>
                          <m:t xml:space="preserve">)</m:t>
                        </m:r>
                      </m:den>
                    </m:f>
                    <m:r>
                      <m:t xml:space="preserve">=</m:t>
                    </m:r>
                    <m:f>
                      <m:num>
                        <m:sSub>
                          <m:e>
                            <m:r>
                              <m:t xml:space="preserve">k</m:t>
                            </m:r>
                          </m:e>
                          <m:sub>
                            <m:r>
                              <m:t xml:space="preserve">p</m:t>
                            </m:r>
                          </m:sub>
                        </m:sSub>
                      </m:num>
                      <m:den>
                        <m:sSup>
                          <m:e>
                            <m:r>
                              <m:t xml:space="preserve">T</m:t>
                            </m:r>
                          </m:e>
                          <m:sup>
                            <m:r>
                              <m:t xml:space="preserve">2</m:t>
                            </m:r>
                          </m:sup>
                        </m:sSup>
                        <m:sSup>
                          <m:e>
                            <m:r>
                              <m:t xml:space="preserve">S</m:t>
                            </m:r>
                          </m:e>
                          <m:sup>
                            <m:r>
                              <m:t xml:space="preserve">2</m:t>
                            </m:r>
                          </m:sup>
                        </m:sSup>
                        <m:r>
                          <m:t xml:space="preserve">+</m:t>
                        </m:r>
                        <m:r>
                          <m:t xml:space="preserve">2</m:t>
                        </m:r>
                        <m:r>
                          <m:t xml:space="preserve">ζ</m:t>
                        </m:r>
                        <m:r>
                          <m:rPr>
                            <m:lit/>
                            <m:nor/>
                          </m:rPr>
                          <m:t xml:space="preserve">Ts</m:t>
                        </m:r>
                        <m:r>
                          <m:t xml:space="preserve">+</m:t>
                        </m:r>
                        <m:sSub>
                          <m:e>
                            <m:r>
                              <m:t xml:space="preserve">k</m:t>
                            </m:r>
                          </m:e>
                          <m:sub>
                            <m:r>
                              <m:t xml:space="preserve">p</m:t>
                            </m:r>
                          </m:sub>
                        </m:sSub>
                      </m:den>
                    </m:f>
                    <m:r>
                      <m:t xml:space="preserve">=</m:t>
                    </m:r>
                    <m:f>
                      <m:num>
                        <m:sSub>
                          <m:e>
                            <m:r>
                              <m:t xml:space="preserve">k</m:t>
                            </m:r>
                          </m:e>
                          <m:sub>
                            <m:r>
                              <m:t xml:space="preserve">p</m:t>
                            </m:r>
                          </m:sub>
                        </m:sSub>
                      </m:num>
                      <m:den>
                        <m:f>
                          <m:num>
                            <m:sSup>
                              <m:e>
                                <m:r>
                                  <m:t xml:space="preserve">T</m:t>
                                </m:r>
                              </m:e>
                              <m:sup>
                                <m:r>
                                  <m:t xml:space="preserve">2</m:t>
                                </m:r>
                              </m:sup>
                            </m:sSup>
                          </m:num>
                          <m:den>
                            <m:sSub>
                              <m:e>
                                <m:r>
                                  <m:t xml:space="preserve">k</m:t>
                                </m:r>
                              </m:e>
                              <m:sub>
                                <m:r>
                                  <m:t xml:space="preserve">p</m:t>
                                </m:r>
                              </m:sub>
                            </m:sSub>
                          </m:den>
                        </m:f>
                        <m:sSup>
                          <m:e>
                            <m:r>
                              <m:t xml:space="preserve">S</m:t>
                            </m:r>
                          </m:e>
                          <m:sup>
                            <m:r>
                              <m:t xml:space="preserve">2</m:t>
                            </m:r>
                          </m:sup>
                        </m:sSup>
                        <m:r>
                          <m:t xml:space="preserve">+</m:t>
                        </m:r>
                        <m:f>
                          <m:num>
                            <m:r>
                              <m:t xml:space="preserve">2</m:t>
                            </m:r>
                            <m:r>
                              <m:t xml:space="preserve">ζT</m:t>
                            </m:r>
                          </m:num>
                          <m:den>
                            <m:sSub>
                              <m:e>
                                <m:r>
                                  <m:t xml:space="preserve">k</m:t>
                                </m:r>
                              </m:e>
                              <m:sub>
                                <m:r>
                                  <m:t xml:space="preserve">p</m:t>
                                </m:r>
                              </m:sub>
                            </m:sSub>
                          </m:den>
                        </m:f>
                        <m:r>
                          <m:t xml:space="preserve">s</m:t>
                        </m:r>
                        <m:r>
                          <m:t xml:space="preserve">+</m:t>
                        </m:r>
                        <m:r>
                          <m:t xml:space="preserve">1</m:t>
                        </m:r>
                      </m:den>
                    </m:f>
                  </m:oMath>
                </a14:m>
              </a:p>
            </p:txBody>
          </p:sp>
        </mc:Choice>
        <mc:Fallback>
          <p:sp>
            <p:nvSpPr>
              <p:cNvPr id="322" name="Object 22"/>
              <p:cNvSpPr txBox="1"/>
              <p:nvPr/>
            </p:nvSpPr>
            <p:spPr>
              <a:xfrm>
                <a:off x="684360" y="3141720"/>
                <a:ext cx="4967280" cy="1108080"/>
              </a:xfrm>
              <a:prstGeom prst="rect">
                <a:avLst/>
              </a:prstGeom>
              <a:blipFill>
                <a:blip r:embed="rId4"/>
                <a:stretch>
                  <a:fillRect/>
                </a:stretch>
              </a:blipFill>
            </p:spPr>
          </p:sp>
        </mc:Fallback>
      </mc:AlternateContent>
      <p:grpSp>
        <p:nvGrpSpPr>
          <p:cNvPr id="323" name="Group 26"/>
          <p:cNvGrpSpPr/>
          <p:nvPr/>
        </p:nvGrpSpPr>
        <p:grpSpPr>
          <a:xfrm>
            <a:off x="497520" y="4292640"/>
            <a:ext cx="5011200" cy="772560"/>
            <a:chOff x="497520" y="4292640"/>
            <a:chExt cx="5011200" cy="772560"/>
          </a:xfrm>
        </p:grpSpPr>
        <p:sp>
          <p:nvSpPr>
            <p:cNvPr id="324" name="Rectangle 23"/>
            <p:cNvSpPr/>
            <p:nvPr/>
          </p:nvSpPr>
          <p:spPr>
            <a:xfrm>
              <a:off x="497520" y="4435200"/>
              <a:ext cx="450720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时间常数              ，阻尼系数为</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25" name="Object 24"/>
                <p:cNvSpPr txBox="1"/>
                <p:nvPr/>
              </p:nvSpPr>
              <p:spPr>
                <a:xfrm>
                  <a:off x="2050920" y="4363920"/>
                  <a:ext cx="935280" cy="701280"/>
                </a:xfrm>
                <a:prstGeom prst="rect">
                  <a:avLst/>
                </a:prstGeom>
              </p:spPr>
              <p:txBody>
                <a:bodyPr/>
                <a:p>
                  <a14:m>
                    <m:oMath xmlns:m="http://schemas.openxmlformats.org/officeDocument/2006/math">
                      <m:sSup>
                        <m:e>
                          <m:r>
                            <m:t xml:space="preserve">T</m:t>
                          </m:r>
                        </m:e>
                        <m:sup>
                          <m:r>
                            <m:t xml:space="preserve">'</m:t>
                          </m:r>
                        </m:sup>
                      </m:sSup>
                      <m:r>
                        <m:t xml:space="preserve">=</m:t>
                      </m:r>
                      <m:f>
                        <m:num>
                          <m:r>
                            <m:t xml:space="preserve">T</m:t>
                          </m:r>
                        </m:num>
                        <m:den>
                          <m:rad>
                            <m:radPr>
                              <m:degHide m:val="1"/>
                            </m:radPr>
                            <m:deg/>
                            <m:e>
                              <m:sSub>
                                <m:e>
                                  <m:r>
                                    <m:t xml:space="preserve">k</m:t>
                                  </m:r>
                                </m:e>
                                <m:sub>
                                  <m:r>
                                    <m:t xml:space="preserve">p</m:t>
                                  </m:r>
                                </m:sub>
                              </m:sSub>
                            </m:e>
                          </m:rad>
                        </m:den>
                      </m:f>
                    </m:oMath>
                  </a14:m>
                </a:p>
              </p:txBody>
            </p:sp>
          </mc:Choice>
          <mc:Fallback>
            <p:sp>
              <p:nvSpPr>
                <p:cNvPr id="325" name="Object 24"/>
                <p:cNvSpPr txBox="1"/>
                <p:nvPr/>
              </p:nvSpPr>
              <p:spPr>
                <a:xfrm>
                  <a:off x="2050920" y="4363920"/>
                  <a:ext cx="935280" cy="701280"/>
                </a:xfrm>
                <a:prstGeom prst="rect">
                  <a:avLst/>
                </a:prstGeom>
                <a:blipFill>
                  <a:blip r:embed="rId5"/>
                  <a:stretch>
                    <a:fillRect/>
                  </a:stretch>
                </a:blipFill>
              </p:spPr>
            </p:sp>
          </mc:Fallback>
        </mc:AlternateContent>
        <mc:AlternateContent>
          <mc:Choice xmlns:a14="http://schemas.microsoft.com/office/drawing/2010/main" Requires="a14">
            <p:sp>
              <p:nvSpPr>
                <p:cNvPr id="326" name="Object 25"/>
                <p:cNvSpPr txBox="1"/>
                <p:nvPr/>
              </p:nvSpPr>
              <p:spPr>
                <a:xfrm>
                  <a:off x="4500720" y="4292640"/>
                  <a:ext cx="1008000" cy="757080"/>
                </a:xfrm>
                <a:prstGeom prst="rect">
                  <a:avLst/>
                </a:prstGeom>
              </p:spPr>
              <p:txBody>
                <a:bodyPr/>
                <a:p>
                  <a14:m>
                    <m:oMath xmlns:m="http://schemas.openxmlformats.org/officeDocument/2006/math">
                      <m:sSup>
                        <m:e>
                          <m:r>
                            <m:t xml:space="preserve">ζ</m:t>
                          </m:r>
                        </m:e>
                        <m:sup>
                          <m:r>
                            <m:t xml:space="preserve">'</m:t>
                          </m:r>
                        </m:sup>
                      </m:sSup>
                      <m:r>
                        <m:t xml:space="preserve">=</m:t>
                      </m:r>
                      <m:f>
                        <m:num>
                          <m:r>
                            <m:t xml:space="preserve">ζ</m:t>
                          </m:r>
                        </m:num>
                        <m:den>
                          <m:rad>
                            <m:radPr>
                              <m:degHide m:val="1"/>
                            </m:radPr>
                            <m:deg/>
                            <m:e>
                              <m:sSub>
                                <m:e>
                                  <m:r>
                                    <m:t xml:space="preserve">k</m:t>
                                  </m:r>
                                </m:e>
                                <m:sub>
                                  <m:r>
                                    <m:t xml:space="preserve">p</m:t>
                                  </m:r>
                                </m:sub>
                              </m:sSub>
                            </m:e>
                          </m:rad>
                        </m:den>
                      </m:f>
                    </m:oMath>
                  </a14:m>
                </a:p>
              </p:txBody>
            </p:sp>
          </mc:Choice>
          <mc:Fallback>
            <p:sp>
              <p:nvSpPr>
                <p:cNvPr id="326" name="Object 25"/>
                <p:cNvSpPr txBox="1"/>
                <p:nvPr/>
              </p:nvSpPr>
              <p:spPr>
                <a:xfrm>
                  <a:off x="4500720" y="4292640"/>
                  <a:ext cx="1008000" cy="757080"/>
                </a:xfrm>
                <a:prstGeom prst="rect">
                  <a:avLst/>
                </a:prstGeom>
                <a:blipFill>
                  <a:blip r:embed="rId6"/>
                  <a:stretch>
                    <a:fillRect/>
                  </a:stretch>
                </a:blipFill>
              </p:spPr>
            </p:sp>
          </mc:Fallback>
        </mc:AlternateContent>
      </p:grpSp>
      <p:grpSp>
        <p:nvGrpSpPr>
          <p:cNvPr id="327" name="Group 29"/>
          <p:cNvGrpSpPr/>
          <p:nvPr/>
        </p:nvGrpSpPr>
        <p:grpSpPr>
          <a:xfrm>
            <a:off x="826920" y="5157720"/>
            <a:ext cx="4751640" cy="1008720"/>
            <a:chOff x="826920" y="5157720"/>
            <a:chExt cx="4751640" cy="1008720"/>
          </a:xfrm>
        </p:grpSpPr>
        <p:sp>
          <p:nvSpPr>
            <p:cNvPr id="328" name="Rectangle 27"/>
            <p:cNvSpPr/>
            <p:nvPr/>
          </p:nvSpPr>
          <p:spPr>
            <a:xfrm>
              <a:off x="826920" y="5157720"/>
              <a:ext cx="4751640" cy="1008720"/>
            </a:xfrm>
            <a:prstGeom prst="rect">
              <a:avLst/>
            </a:prstGeom>
            <a:noFill/>
            <a:ln w="9360">
              <a:solidFill>
                <a:srgbClr val="CC99FF"/>
              </a:solidFill>
              <a:miter/>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增大     ，可以使系统的时间常数和阻尼系数都减小，即起到提高静态精度，降低系统的惰性，加快动态响应的作用。</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29" name="Object 28"/>
                <p:cNvSpPr txBox="1"/>
                <p:nvPr/>
              </p:nvSpPr>
              <p:spPr>
                <a:xfrm>
                  <a:off x="1403280" y="5157720"/>
                  <a:ext cx="366840" cy="482400"/>
                </a:xfrm>
                <a:prstGeom prst="rect">
                  <a:avLst/>
                </a:prstGeom>
              </p:spPr>
              <p:txBody>
                <a:bodyPr/>
                <a:p>
                  <a14:m>
                    <m:oMath xmlns:m="http://schemas.openxmlformats.org/officeDocument/2006/math">
                      <m:sSub>
                        <m:e>
                          <m:r>
                            <m:t xml:space="preserve">k</m:t>
                          </m:r>
                        </m:e>
                        <m:sub>
                          <m:r>
                            <m:t xml:space="preserve">p</m:t>
                          </m:r>
                        </m:sub>
                      </m:sSub>
                    </m:oMath>
                  </a14:m>
                </a:p>
              </p:txBody>
            </p:sp>
          </mc:Choice>
          <mc:Fallback>
            <p:sp>
              <p:nvSpPr>
                <p:cNvPr id="329" name="Object 28"/>
                <p:cNvSpPr txBox="1"/>
                <p:nvPr/>
              </p:nvSpPr>
              <p:spPr>
                <a:xfrm>
                  <a:off x="1403280" y="5157720"/>
                  <a:ext cx="366840" cy="482400"/>
                </a:xfrm>
                <a:prstGeom prst="rect">
                  <a:avLst/>
                </a:prstGeom>
                <a:blipFill>
                  <a:blip r:embed="rId7"/>
                  <a:stretch>
                    <a:fillRect/>
                  </a:stretch>
                </a:blipFill>
              </p:spPr>
            </p:sp>
          </mc:Fallback>
        </mc:AlternateContent>
      </p:grpSp>
      <p:sp>
        <p:nvSpPr>
          <p:cNvPr id="330" name="Rectangle 30"/>
          <p:cNvSpPr/>
          <p:nvPr/>
        </p:nvSpPr>
        <p:spPr>
          <a:xfrm>
            <a:off x="6156360" y="3860640"/>
            <a:ext cx="2303280" cy="2228400"/>
          </a:xfrm>
          <a:prstGeom prst="rect">
            <a:avLst/>
          </a:prstGeom>
          <a:solidFill>
            <a:srgbClr val="FFCCCC"/>
          </a:solidFill>
          <a:ln w="9360">
            <a:solidFill>
              <a:srgbClr val="CC99FF"/>
            </a:solidFill>
            <a:miter/>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缺点：若参数选择不当，会造成阻尼系数过小，使系统的动态响应变坏，相对稳定性降低，甚至造成闭环系统不稳定。</a:t>
            </a:r>
            <a:endParaRPr lang="en-US" sz="2000" b="0" u="none" strike="noStrike">
              <a:solidFill>
                <a:srgbClr val="000000"/>
              </a:solidFill>
              <a:effectLst/>
              <a:uFillTx/>
              <a:latin typeface="Times New Roman"/>
            </a:endParaRPr>
          </a:p>
        </p:txBody>
      </p:sp>
    </p:spTree>
  </p:cSld>
  <p:transition>
    <p:random/>
  </p:transition>
  <p:timing>
    <p:tnLst>
      <p:par>
        <p:cTn id="473" dur="indefinite" restart="never" nodeType="tmRoot">
          <p:childTnLst>
            <p:seq>
              <p:cTn id="474" dur="indefinite" nodeType="mainSeq">
                <p:childTnLst>
                  <p:par>
                    <p:cTn id="475" fill="hold" nodeType="clickEffect">
                      <p:stCondLst>
                        <p:cond delay="indefinite"/>
                      </p:stCondLst>
                      <p:childTnLst>
                        <p:par>
                          <p:cTn id="476" fill="hold" nodeType="withEffect">
                            <p:stCondLst>
                              <p:cond delay="0"/>
                            </p:stCondLst>
                            <p:childTnLst>
                              <p:par>
                                <p:cTn id="477" presetID="3" presetClass="entr" fill="hold" nodeType="clickEffect" presetSubtype="10">
                                  <p:stCondLst>
                                    <p:cond delay="0"/>
                                  </p:stCondLst>
                                  <p:childTnLst>
                                    <p:set>
                                      <p:cBhvr>
                                        <p:cTn id="478" dur="1" fill="hold">
                                          <p:stCondLst>
                                            <p:cond delay="0"/>
                                          </p:stCondLst>
                                        </p:cTn>
                                        <p:tgtEl>
                                          <p:spTgt spid="315"/>
                                        </p:tgtEl>
                                        <p:attrNameLst>
                                          <p:attrName>style.visibility</p:attrName>
                                        </p:attrNameLst>
                                      </p:cBhvr>
                                      <p:to>
                                        <p:strVal val="visible"/>
                                      </p:to>
                                    </p:set>
                                    <p:animEffect transition="in" filter="blinds(horizontal)">
                                      <p:cBhvr additive="repl">
                                        <p:cTn id="479" dur="500"/>
                                        <p:tgtEl>
                                          <p:spTgt spid="315"/>
                                        </p:tgtEl>
                                      </p:cBhvr>
                                    </p:animEffect>
                                  </p:childTnLst>
                                </p:cTn>
                              </p:par>
                              <p:par>
                                <p:cTn id="480" presetID="3" presetClass="entr" fill="hold" nodeType="withEffect" presetSubtype="10">
                                  <p:stCondLst>
                                    <p:cond delay="0"/>
                                  </p:stCondLst>
                                  <p:childTnLst>
                                    <p:set>
                                      <p:cBhvr>
                                        <p:cTn id="481" dur="1" fill="hold">
                                          <p:stCondLst>
                                            <p:cond delay="0"/>
                                          </p:stCondLst>
                                        </p:cTn>
                                        <p:tgtEl>
                                          <p:spTgt spid="316"/>
                                        </p:tgtEl>
                                        <p:attrNameLst>
                                          <p:attrName>style.visibility</p:attrName>
                                        </p:attrNameLst>
                                      </p:cBhvr>
                                      <p:to>
                                        <p:strVal val="visible"/>
                                      </p:to>
                                    </p:set>
                                    <p:animEffect transition="in" filter="blinds(horizontal)">
                                      <p:cBhvr additive="repl">
                                        <p:cTn id="482" dur="500"/>
                                        <p:tgtEl>
                                          <p:spTgt spid="316"/>
                                        </p:tgtEl>
                                      </p:cBhvr>
                                    </p:animEffect>
                                  </p:childTnLst>
                                </p:cTn>
                              </p:par>
                            </p:childTnLst>
                          </p:cTn>
                        </p:par>
                      </p:childTnLst>
                    </p:cTn>
                  </p:par>
                  <p:par>
                    <p:cTn id="483" fill="hold" nodeType="clickEffect">
                      <p:stCondLst>
                        <p:cond delay="indefinite"/>
                      </p:stCondLst>
                      <p:childTnLst>
                        <p:par>
                          <p:cTn id="484" fill="hold" nodeType="withEffect">
                            <p:stCondLst>
                              <p:cond delay="0"/>
                            </p:stCondLst>
                            <p:childTnLst>
                              <p:par>
                                <p:cTn id="485" presetID="3" presetClass="entr" fill="hold" nodeType="clickEffect" presetSubtype="10">
                                  <p:stCondLst>
                                    <p:cond delay="0"/>
                                  </p:stCondLst>
                                  <p:childTnLst>
                                    <p:set>
                                      <p:cBhvr>
                                        <p:cTn id="486" dur="1" fill="hold">
                                          <p:stCondLst>
                                            <p:cond delay="0"/>
                                          </p:stCondLst>
                                        </p:cTn>
                                        <p:tgtEl>
                                          <p:spTgt spid="317"/>
                                        </p:tgtEl>
                                        <p:attrNameLst>
                                          <p:attrName>style.visibility</p:attrName>
                                        </p:attrNameLst>
                                      </p:cBhvr>
                                      <p:to>
                                        <p:strVal val="visible"/>
                                      </p:to>
                                    </p:set>
                                    <p:animEffect transition="in" filter="blinds(horizontal)">
                                      <p:cBhvr additive="repl">
                                        <p:cTn id="487" dur="500"/>
                                        <p:tgtEl>
                                          <p:spTgt spid="317"/>
                                        </p:tgtEl>
                                      </p:cBhvr>
                                    </p:animEffect>
                                  </p:childTnLst>
                                </p:cTn>
                              </p:par>
                            </p:childTnLst>
                          </p:cTn>
                        </p:par>
                      </p:childTnLst>
                    </p:cTn>
                  </p:par>
                  <p:par>
                    <p:cTn id="488" fill="hold" nodeType="clickEffect">
                      <p:stCondLst>
                        <p:cond delay="indefinite"/>
                      </p:stCondLst>
                      <p:childTnLst>
                        <p:par>
                          <p:cTn id="489" fill="hold" nodeType="withEffect">
                            <p:stCondLst>
                              <p:cond delay="0"/>
                            </p:stCondLst>
                            <p:childTnLst>
                              <p:par>
                                <p:cTn id="490" presetID="3" presetClass="entr" fill="hold" nodeType="clickEffect" presetSubtype="10">
                                  <p:stCondLst>
                                    <p:cond delay="0"/>
                                  </p:stCondLst>
                                  <p:childTnLst>
                                    <p:set>
                                      <p:cBhvr>
                                        <p:cTn id="491" dur="1" fill="hold">
                                          <p:stCondLst>
                                            <p:cond delay="0"/>
                                          </p:stCondLst>
                                        </p:cTn>
                                        <p:tgtEl>
                                          <p:spTgt spid="318"/>
                                        </p:tgtEl>
                                        <p:attrNameLst>
                                          <p:attrName>style.visibility</p:attrName>
                                        </p:attrNameLst>
                                      </p:cBhvr>
                                      <p:to>
                                        <p:strVal val="visible"/>
                                      </p:to>
                                    </p:set>
                                    <p:animEffect transition="in" filter="blinds(horizontal)">
                                      <p:cBhvr additive="repl">
                                        <p:cTn id="492" dur="500"/>
                                        <p:tgtEl>
                                          <p:spTgt spid="318"/>
                                        </p:tgtEl>
                                      </p:cBhvr>
                                    </p:animEffect>
                                  </p:childTnLst>
                                </p:cTn>
                              </p:par>
                              <p:par>
                                <p:cTn id="493" presetID="3" presetClass="entr" fill="hold" nodeType="withEffect" presetSubtype="10">
                                  <p:stCondLst>
                                    <p:cond delay="0"/>
                                  </p:stCondLst>
                                  <p:childTnLst>
                                    <p:set>
                                      <p:cBhvr>
                                        <p:cTn id="494" dur="1" fill="hold">
                                          <p:stCondLst>
                                            <p:cond delay="0"/>
                                          </p:stCondLst>
                                        </p:cTn>
                                        <p:tgtEl>
                                          <p:spTgt spid="319"/>
                                        </p:tgtEl>
                                        <p:attrNameLst>
                                          <p:attrName>style.visibility</p:attrName>
                                        </p:attrNameLst>
                                      </p:cBhvr>
                                      <p:to>
                                        <p:strVal val="visible"/>
                                      </p:to>
                                    </p:set>
                                    <p:animEffect transition="in" filter="blinds(horizontal)">
                                      <p:cBhvr additive="repl">
                                        <p:cTn id="495" dur="500"/>
                                        <p:tgtEl>
                                          <p:spTgt spid="319"/>
                                        </p:tgtEl>
                                      </p:cBhvr>
                                    </p:animEffect>
                                  </p:childTnLst>
                                </p:cTn>
                              </p:par>
                            </p:childTnLst>
                          </p:cTn>
                        </p:par>
                      </p:childTnLst>
                    </p:cTn>
                  </p:par>
                  <p:par>
                    <p:cTn id="496" fill="hold" nodeType="clickEffect">
                      <p:stCondLst>
                        <p:cond delay="indefinite"/>
                      </p:stCondLst>
                      <p:childTnLst>
                        <p:par>
                          <p:cTn id="497" fill="hold" nodeType="withEffect">
                            <p:stCondLst>
                              <p:cond delay="0"/>
                            </p:stCondLst>
                            <p:childTnLst>
                              <p:par>
                                <p:cTn id="498" presetID="3" presetClass="entr" fill="hold" nodeType="clickEffect" presetSubtype="10">
                                  <p:stCondLst>
                                    <p:cond delay="0"/>
                                  </p:stCondLst>
                                  <p:childTnLst>
                                    <p:set>
                                      <p:cBhvr>
                                        <p:cTn id="499" dur="1" fill="hold">
                                          <p:stCondLst>
                                            <p:cond delay="0"/>
                                          </p:stCondLst>
                                        </p:cTn>
                                        <p:tgtEl>
                                          <p:spTgt spid="321"/>
                                        </p:tgtEl>
                                        <p:attrNameLst>
                                          <p:attrName>style.visibility</p:attrName>
                                        </p:attrNameLst>
                                      </p:cBhvr>
                                      <p:to>
                                        <p:strVal val="visible"/>
                                      </p:to>
                                    </p:set>
                                    <p:animEffect transition="in" filter="blinds(horizontal)">
                                      <p:cBhvr additive="repl">
                                        <p:cTn id="500" dur="500"/>
                                        <p:tgtEl>
                                          <p:spTgt spid="321"/>
                                        </p:tgtEl>
                                      </p:cBhvr>
                                    </p:animEffect>
                                  </p:childTnLst>
                                </p:cTn>
                              </p:par>
                            </p:childTnLst>
                          </p:cTn>
                        </p:par>
                      </p:childTnLst>
                    </p:cTn>
                  </p:par>
                  <p:par>
                    <p:cTn id="501" fill="hold" nodeType="clickEffect">
                      <p:stCondLst>
                        <p:cond delay="indefinite"/>
                      </p:stCondLst>
                      <p:childTnLst>
                        <p:par>
                          <p:cTn id="502" fill="hold" nodeType="withEffect">
                            <p:stCondLst>
                              <p:cond delay="0"/>
                            </p:stCondLst>
                            <p:childTnLst>
                              <p:par>
                                <p:cTn id="503" presetID="3" presetClass="entr" fill="hold" nodeType="clickEffect" presetSubtype="10">
                                  <p:stCondLst>
                                    <p:cond delay="0"/>
                                  </p:stCondLst>
                                  <p:childTnLst>
                                    <p:set>
                                      <p:cBhvr>
                                        <p:cTn id="504" dur="1" fill="hold">
                                          <p:stCondLst>
                                            <p:cond delay="0"/>
                                          </p:stCondLst>
                                        </p:cTn>
                                        <p:tgtEl>
                                          <p:spTgt spid="322"/>
                                        </p:tgtEl>
                                        <p:attrNameLst>
                                          <p:attrName>style.visibility</p:attrName>
                                        </p:attrNameLst>
                                      </p:cBhvr>
                                      <p:to>
                                        <p:strVal val="visible"/>
                                      </p:to>
                                    </p:set>
                                    <p:animEffect transition="in" filter="blinds(horizontal)">
                                      <p:cBhvr additive="repl">
                                        <p:cTn id="505" dur="500"/>
                                        <p:tgtEl>
                                          <p:spTgt spid="322"/>
                                        </p:tgtEl>
                                      </p:cBhvr>
                                    </p:animEffect>
                                  </p:childTnLst>
                                </p:cTn>
                              </p:par>
                            </p:childTnLst>
                          </p:cTn>
                        </p:par>
                      </p:childTnLst>
                    </p:cTn>
                  </p:par>
                  <p:par>
                    <p:cTn id="506" fill="hold" nodeType="clickEffect">
                      <p:stCondLst>
                        <p:cond delay="indefinite"/>
                      </p:stCondLst>
                      <p:childTnLst>
                        <p:par>
                          <p:cTn id="507" fill="hold" nodeType="withEffect">
                            <p:stCondLst>
                              <p:cond delay="0"/>
                            </p:stCondLst>
                            <p:childTnLst>
                              <p:par>
                                <p:cTn id="508" presetID="3" presetClass="entr" fill="hold" nodeType="clickEffect" presetSubtype="10">
                                  <p:stCondLst>
                                    <p:cond delay="0"/>
                                  </p:stCondLst>
                                  <p:childTnLst>
                                    <p:set>
                                      <p:cBhvr>
                                        <p:cTn id="509" dur="1" fill="hold">
                                          <p:stCondLst>
                                            <p:cond delay="0"/>
                                          </p:stCondLst>
                                        </p:cTn>
                                        <p:tgtEl>
                                          <p:spTgt spid="323"/>
                                        </p:tgtEl>
                                        <p:attrNameLst>
                                          <p:attrName>style.visibility</p:attrName>
                                        </p:attrNameLst>
                                      </p:cBhvr>
                                      <p:to>
                                        <p:strVal val="visible"/>
                                      </p:to>
                                    </p:set>
                                    <p:animEffect transition="in" filter="blinds(horizontal)">
                                      <p:cBhvr additive="repl">
                                        <p:cTn id="510" dur="500"/>
                                        <p:tgtEl>
                                          <p:spTgt spid="323"/>
                                        </p:tgtEl>
                                      </p:cBhvr>
                                    </p:animEffect>
                                  </p:childTnLst>
                                </p:cTn>
                              </p:par>
                            </p:childTnLst>
                          </p:cTn>
                        </p:par>
                      </p:childTnLst>
                    </p:cTn>
                  </p:par>
                  <p:par>
                    <p:cTn id="511" fill="hold" nodeType="clickEffect">
                      <p:stCondLst>
                        <p:cond delay="indefinite"/>
                      </p:stCondLst>
                      <p:childTnLst>
                        <p:par>
                          <p:cTn id="512" fill="hold" nodeType="withEffect">
                            <p:stCondLst>
                              <p:cond delay="0"/>
                            </p:stCondLst>
                            <p:childTnLst>
                              <p:par>
                                <p:cTn id="513" presetID="3" presetClass="entr" fill="hold" nodeType="clickEffect" presetSubtype="10">
                                  <p:stCondLst>
                                    <p:cond delay="0"/>
                                  </p:stCondLst>
                                  <p:childTnLst>
                                    <p:set>
                                      <p:cBhvr>
                                        <p:cTn id="514" dur="1" fill="hold">
                                          <p:stCondLst>
                                            <p:cond delay="0"/>
                                          </p:stCondLst>
                                        </p:cTn>
                                        <p:tgtEl>
                                          <p:spTgt spid="327"/>
                                        </p:tgtEl>
                                        <p:attrNameLst>
                                          <p:attrName>style.visibility</p:attrName>
                                        </p:attrNameLst>
                                      </p:cBhvr>
                                      <p:to>
                                        <p:strVal val="visible"/>
                                      </p:to>
                                    </p:set>
                                    <p:animEffect transition="in" filter="blinds(horizontal)">
                                      <p:cBhvr additive="repl">
                                        <p:cTn id="515" dur="500"/>
                                        <p:tgtEl>
                                          <p:spTgt spid="327"/>
                                        </p:tgtEl>
                                      </p:cBhvr>
                                    </p:animEffect>
                                  </p:childTnLst>
                                </p:cTn>
                              </p:par>
                            </p:childTnLst>
                          </p:cTn>
                        </p:par>
                      </p:childTnLst>
                    </p:cTn>
                  </p:par>
                  <p:par>
                    <p:cTn id="516" fill="hold" nodeType="clickEffect">
                      <p:stCondLst>
                        <p:cond delay="indefinite"/>
                      </p:stCondLst>
                      <p:childTnLst>
                        <p:par>
                          <p:cTn id="517" fill="hold" nodeType="withEffect">
                            <p:stCondLst>
                              <p:cond delay="0"/>
                            </p:stCondLst>
                            <p:childTnLst>
                              <p:par>
                                <p:cTn id="518" presetID="3" presetClass="entr" fill="hold" nodeType="clickEffect" presetSubtype="10">
                                  <p:stCondLst>
                                    <p:cond delay="0"/>
                                  </p:stCondLst>
                                  <p:childTnLst>
                                    <p:set>
                                      <p:cBhvr>
                                        <p:cTn id="519" dur="1" fill="hold">
                                          <p:stCondLst>
                                            <p:cond delay="0"/>
                                          </p:stCondLst>
                                        </p:cTn>
                                        <p:tgtEl>
                                          <p:spTgt spid="330"/>
                                        </p:tgtEl>
                                        <p:attrNameLst>
                                          <p:attrName>style.visibility</p:attrName>
                                        </p:attrNameLst>
                                      </p:cBhvr>
                                      <p:to>
                                        <p:strVal val="visible"/>
                                      </p:to>
                                    </p:set>
                                    <p:animEffect transition="in" filter="blinds(horizontal)">
                                      <p:cBhvr additive="repl">
                                        <p:cTn id="520"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2D2744E-8065-481F-A535-1EEC059199EC}"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sp>
        <p:nvSpPr>
          <p:cNvPr id="332" name="Rectangle 8"/>
          <p:cNvSpPr/>
          <p:nvPr/>
        </p:nvSpPr>
        <p:spPr>
          <a:xfrm>
            <a:off x="1319040" y="721440"/>
            <a:ext cx="329004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2</a:t>
            </a:r>
            <a:r>
              <a:rPr lang="zh-CN" sz="2000" b="1" u="none" strike="noStrike">
                <a:solidFill>
                  <a:srgbClr val="008080"/>
                </a:solidFill>
                <a:effectLst/>
                <a:uFillTx/>
                <a:latin typeface="Times New Roman"/>
              </a:rPr>
              <a:t>、比例积分（</a:t>
            </a:r>
            <a:r>
              <a:rPr lang="en-US" sz="2000" b="1" u="none" strike="noStrike">
                <a:solidFill>
                  <a:srgbClr val="008080"/>
                </a:solidFill>
                <a:effectLst/>
                <a:uFillTx/>
                <a:latin typeface="Times New Roman"/>
              </a:rPr>
              <a:t>PI</a:t>
            </a:r>
            <a:r>
              <a:rPr lang="zh-CN" sz="2000" b="1" u="none" strike="noStrike">
                <a:solidFill>
                  <a:srgbClr val="008080"/>
                </a:solidFill>
                <a:effectLst/>
                <a:uFillTx/>
                <a:latin typeface="Times New Roman"/>
              </a:rPr>
              <a:t>）控制器</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33" name="Object 10"/>
              <p:cNvSpPr txBox="1"/>
              <p:nvPr/>
            </p:nvSpPr>
            <p:spPr>
              <a:xfrm>
                <a:off x="4716360" y="620640"/>
                <a:ext cx="1871640" cy="66060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sSub>
                      <m:e>
                        <m:r>
                          <m:t xml:space="preserve">k</m:t>
                        </m:r>
                      </m:e>
                      <m:sub>
                        <m:r>
                          <m:t xml:space="preserve">p</m:t>
                        </m:r>
                      </m:sub>
                    </m:sSub>
                    <m:r>
                      <m:t xml:space="preserve">+</m:t>
                    </m:r>
                    <m:sSub>
                      <m:e>
                        <m:r>
                          <m:t xml:space="preserve">k</m:t>
                        </m:r>
                      </m:e>
                      <m:sub>
                        <m:r>
                          <m:t xml:space="preserve">i</m:t>
                        </m:r>
                      </m:sub>
                    </m:sSub>
                    <m:f>
                      <m:num>
                        <m:r>
                          <m:t xml:space="preserve">1</m:t>
                        </m:r>
                      </m:num>
                      <m:den>
                        <m:r>
                          <m:t xml:space="preserve">S</m:t>
                        </m:r>
                      </m:den>
                    </m:f>
                  </m:oMath>
                </a14:m>
              </a:p>
            </p:txBody>
          </p:sp>
        </mc:Choice>
        <mc:Fallback>
          <p:sp>
            <p:nvSpPr>
              <p:cNvPr id="333" name="Object 10"/>
              <p:cNvSpPr txBox="1"/>
              <p:nvPr/>
            </p:nvSpPr>
            <p:spPr>
              <a:xfrm>
                <a:off x="4716360" y="620640"/>
                <a:ext cx="1871640" cy="660600"/>
              </a:xfrm>
              <a:prstGeom prst="rect">
                <a:avLst/>
              </a:prstGeom>
              <a:blipFill>
                <a:blip r:embed="rId1"/>
                <a:stretch>
                  <a:fillRect/>
                </a:stretch>
              </a:blipFill>
            </p:spPr>
          </p:sp>
        </mc:Fallback>
      </mc:AlternateContent>
      <p:sp>
        <p:nvSpPr>
          <p:cNvPr id="334" name="Rectangle 14"/>
          <p:cNvSpPr/>
          <p:nvPr/>
        </p:nvSpPr>
        <p:spPr>
          <a:xfrm>
            <a:off x="539640" y="2133000"/>
            <a:ext cx="7345440" cy="474840"/>
          </a:xfrm>
          <a:prstGeom prst="rect">
            <a:avLst/>
          </a:prstGeom>
          <a:noFill/>
          <a:ln w="0">
            <a:noFill/>
          </a:ln>
        </p:spPr>
        <p:style>
          <a:lnRef idx="0"/>
          <a:fillRef idx="0"/>
          <a:effectRef idx="0"/>
          <a:fontRef idx="minor"/>
        </p:style>
        <p:txBody>
          <a:bodyPr lIns="90000" tIns="46800" rIns="90000" bIns="46800" anchor="ctr">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作用：可提高系统的无静差度，消除系统的静态误差。</a:t>
            </a:r>
            <a:endParaRPr lang="en-US" sz="2000" b="0" u="none" strike="noStrike">
              <a:solidFill>
                <a:srgbClr val="000000"/>
              </a:solidFill>
              <a:effectLst/>
              <a:uFillTx/>
              <a:latin typeface="Times New Roman"/>
            </a:endParaRPr>
          </a:p>
        </p:txBody>
      </p:sp>
      <p:sp>
        <p:nvSpPr>
          <p:cNvPr id="335" name="Rectangle 15"/>
          <p:cNvSpPr/>
          <p:nvPr/>
        </p:nvSpPr>
        <p:spPr>
          <a:xfrm>
            <a:off x="539640" y="2637000"/>
            <a:ext cx="7921800" cy="85572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缺点：若参数选择不当，积分控制可能会使系统的响应速度变慢，同</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时，也会影响到系统的稳定性。</a:t>
            </a:r>
            <a:endParaRPr lang="en-US" sz="2000" b="0" u="none" strike="noStrike">
              <a:solidFill>
                <a:srgbClr val="000000"/>
              </a:solidFill>
              <a:effectLst/>
              <a:uFillTx/>
              <a:latin typeface="Times New Roman"/>
            </a:endParaRPr>
          </a:p>
        </p:txBody>
      </p:sp>
      <p:sp>
        <p:nvSpPr>
          <p:cNvPr id="336" name="Rectangle 19"/>
          <p:cNvSpPr/>
          <p:nvPr/>
        </p:nvSpPr>
        <p:spPr>
          <a:xfrm>
            <a:off x="539640" y="1197000"/>
            <a:ext cx="8209080" cy="85572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特点：当误差信号为零时，控制信号（</a:t>
            </a:r>
            <a:r>
              <a:rPr lang="en-US" sz="2000" b="1" u="none" strike="noStrike">
                <a:solidFill>
                  <a:srgbClr val="000000"/>
                </a:solidFill>
                <a:effectLst/>
                <a:uFillTx/>
                <a:latin typeface="Times New Roman"/>
              </a:rPr>
              <a:t>PI</a:t>
            </a:r>
            <a:r>
              <a:rPr lang="zh-CN" sz="2000" b="1" u="none" strike="noStrike">
                <a:solidFill>
                  <a:srgbClr val="000000"/>
                </a:solidFill>
                <a:effectLst/>
                <a:uFillTx/>
                <a:latin typeface="Times New Roman"/>
              </a:rPr>
              <a:t>控制器的输出）可以不为零，</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仍保持一定的控制作用，</a:t>
            </a:r>
            <a:endParaRPr lang="en-US" sz="2000" b="0" u="none" strike="noStrike">
              <a:solidFill>
                <a:srgbClr val="000000"/>
              </a:solidFill>
              <a:effectLst/>
              <a:uFillTx/>
              <a:latin typeface="Times New Roman"/>
            </a:endParaRPr>
          </a:p>
        </p:txBody>
      </p:sp>
    </p:spTree>
  </p:cSld>
  <p:transition>
    <p:random/>
  </p:transition>
  <p:timing>
    <p:tnLst>
      <p:par>
        <p:cTn id="521" dur="indefinite" restart="never" nodeType="tmRoot">
          <p:childTnLst>
            <p:seq>
              <p:cTn id="522" dur="indefinite" nodeType="mainSeq">
                <p:childTnLst>
                  <p:par>
                    <p:cTn id="523" fill="hold" nodeType="clickEffect">
                      <p:stCondLst>
                        <p:cond delay="indefinite"/>
                      </p:stCondLst>
                      <p:childTnLst>
                        <p:par>
                          <p:cTn id="524" fill="hold" nodeType="withEffect">
                            <p:stCondLst>
                              <p:cond delay="0"/>
                            </p:stCondLst>
                            <p:childTnLst>
                              <p:par>
                                <p:cTn id="525" presetID="3" presetClass="entr" fill="hold" nodeType="clickEffect" presetSubtype="10">
                                  <p:stCondLst>
                                    <p:cond delay="0"/>
                                  </p:stCondLst>
                                  <p:childTnLst>
                                    <p:set>
                                      <p:cBhvr>
                                        <p:cTn id="526" dur="1" fill="hold">
                                          <p:stCondLst>
                                            <p:cond delay="0"/>
                                          </p:stCondLst>
                                        </p:cTn>
                                        <p:tgtEl>
                                          <p:spTgt spid="332"/>
                                        </p:tgtEl>
                                        <p:attrNameLst>
                                          <p:attrName>style.visibility</p:attrName>
                                        </p:attrNameLst>
                                      </p:cBhvr>
                                      <p:to>
                                        <p:strVal val="visible"/>
                                      </p:to>
                                    </p:set>
                                    <p:animEffect transition="in" filter="blinds(horizontal)">
                                      <p:cBhvr additive="repl">
                                        <p:cTn id="527" dur="500"/>
                                        <p:tgtEl>
                                          <p:spTgt spid="332"/>
                                        </p:tgtEl>
                                      </p:cBhvr>
                                    </p:animEffect>
                                  </p:childTnLst>
                                </p:cTn>
                              </p:par>
                              <p:par>
                                <p:cTn id="528" presetID="3" presetClass="entr" fill="hold" nodeType="withEffect" presetSubtype="10">
                                  <p:stCondLst>
                                    <p:cond delay="0"/>
                                  </p:stCondLst>
                                  <p:childTnLst>
                                    <p:set>
                                      <p:cBhvr>
                                        <p:cTn id="529" dur="1" fill="hold">
                                          <p:stCondLst>
                                            <p:cond delay="0"/>
                                          </p:stCondLst>
                                        </p:cTn>
                                        <p:tgtEl>
                                          <p:spTgt spid="333"/>
                                        </p:tgtEl>
                                        <p:attrNameLst>
                                          <p:attrName>style.visibility</p:attrName>
                                        </p:attrNameLst>
                                      </p:cBhvr>
                                      <p:to>
                                        <p:strVal val="visible"/>
                                      </p:to>
                                    </p:set>
                                    <p:animEffect transition="in" filter="blinds(horizontal)">
                                      <p:cBhvr additive="repl">
                                        <p:cTn id="530" dur="500"/>
                                        <p:tgtEl>
                                          <p:spTgt spid="333"/>
                                        </p:tgtEl>
                                      </p:cBhvr>
                                    </p:animEffect>
                                  </p:childTnLst>
                                </p:cTn>
                              </p:par>
                            </p:childTnLst>
                          </p:cTn>
                        </p:par>
                      </p:childTnLst>
                    </p:cTn>
                  </p:par>
                  <p:par>
                    <p:cTn id="531" fill="hold" nodeType="clickEffect">
                      <p:stCondLst>
                        <p:cond delay="indefinite"/>
                      </p:stCondLst>
                      <p:childTnLst>
                        <p:par>
                          <p:cTn id="532" fill="hold" nodeType="withEffect">
                            <p:stCondLst>
                              <p:cond delay="0"/>
                            </p:stCondLst>
                            <p:childTnLst>
                              <p:par>
                                <p:cTn id="533" presetID="3" presetClass="entr" fill="hold" nodeType="clickEffect" presetSubtype="10">
                                  <p:stCondLst>
                                    <p:cond delay="0"/>
                                  </p:stCondLst>
                                  <p:childTnLst>
                                    <p:set>
                                      <p:cBhvr>
                                        <p:cTn id="534" dur="1" fill="hold">
                                          <p:stCondLst>
                                            <p:cond delay="0"/>
                                          </p:stCondLst>
                                        </p:cTn>
                                        <p:tgtEl>
                                          <p:spTgt spid="336"/>
                                        </p:tgtEl>
                                        <p:attrNameLst>
                                          <p:attrName>style.visibility</p:attrName>
                                        </p:attrNameLst>
                                      </p:cBhvr>
                                      <p:to>
                                        <p:strVal val="visible"/>
                                      </p:to>
                                    </p:set>
                                    <p:animEffect transition="in" filter="blinds(horizontal)">
                                      <p:cBhvr additive="repl">
                                        <p:cTn id="535" dur="500"/>
                                        <p:tgtEl>
                                          <p:spTgt spid="336"/>
                                        </p:tgtEl>
                                      </p:cBhvr>
                                    </p:animEffect>
                                  </p:childTnLst>
                                </p:cTn>
                              </p:par>
                            </p:childTnLst>
                          </p:cTn>
                        </p:par>
                      </p:childTnLst>
                    </p:cTn>
                  </p:par>
                  <p:par>
                    <p:cTn id="536" fill="hold" nodeType="clickEffect">
                      <p:stCondLst>
                        <p:cond delay="indefinite"/>
                      </p:stCondLst>
                      <p:childTnLst>
                        <p:par>
                          <p:cTn id="537" fill="hold" nodeType="withEffect">
                            <p:stCondLst>
                              <p:cond delay="0"/>
                            </p:stCondLst>
                            <p:childTnLst>
                              <p:par>
                                <p:cTn id="538" presetID="3" presetClass="entr" fill="hold" nodeType="clickEffect" presetSubtype="10">
                                  <p:stCondLst>
                                    <p:cond delay="0"/>
                                  </p:stCondLst>
                                  <p:childTnLst>
                                    <p:set>
                                      <p:cBhvr>
                                        <p:cTn id="539" dur="1" fill="hold">
                                          <p:stCondLst>
                                            <p:cond delay="0"/>
                                          </p:stCondLst>
                                        </p:cTn>
                                        <p:tgtEl>
                                          <p:spTgt spid="334"/>
                                        </p:tgtEl>
                                        <p:attrNameLst>
                                          <p:attrName>style.visibility</p:attrName>
                                        </p:attrNameLst>
                                      </p:cBhvr>
                                      <p:to>
                                        <p:strVal val="visible"/>
                                      </p:to>
                                    </p:set>
                                    <p:animEffect transition="in" filter="blinds(horizontal)">
                                      <p:cBhvr additive="repl">
                                        <p:cTn id="540" dur="500"/>
                                        <p:tgtEl>
                                          <p:spTgt spid="334"/>
                                        </p:tgtEl>
                                      </p:cBhvr>
                                    </p:animEffect>
                                  </p:childTnLst>
                                </p:cTn>
                              </p:par>
                            </p:childTnLst>
                          </p:cTn>
                        </p:par>
                      </p:childTnLst>
                    </p:cTn>
                  </p:par>
                  <p:par>
                    <p:cTn id="541" fill="hold" nodeType="clickEffect">
                      <p:stCondLst>
                        <p:cond delay="indefinite"/>
                      </p:stCondLst>
                      <p:childTnLst>
                        <p:par>
                          <p:cTn id="542" fill="hold" nodeType="withEffect">
                            <p:stCondLst>
                              <p:cond delay="0"/>
                            </p:stCondLst>
                            <p:childTnLst>
                              <p:par>
                                <p:cTn id="543" presetID="3" presetClass="entr" fill="hold" nodeType="clickEffect" presetSubtype="10">
                                  <p:stCondLst>
                                    <p:cond delay="0"/>
                                  </p:stCondLst>
                                  <p:childTnLst>
                                    <p:set>
                                      <p:cBhvr>
                                        <p:cTn id="544" dur="1" fill="hold">
                                          <p:stCondLst>
                                            <p:cond delay="0"/>
                                          </p:stCondLst>
                                        </p:cTn>
                                        <p:tgtEl>
                                          <p:spTgt spid="335"/>
                                        </p:tgtEl>
                                        <p:attrNameLst>
                                          <p:attrName>style.visibility</p:attrName>
                                        </p:attrNameLst>
                                      </p:cBhvr>
                                      <p:to>
                                        <p:strVal val="visible"/>
                                      </p:to>
                                    </p:set>
                                    <p:animEffect transition="in" filter="blinds(horizontal)">
                                      <p:cBhvr additive="repl">
                                        <p:cTn id="545" dur="5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5669714-C83C-4700-B7C4-5A451B04BEA4}"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338" name="Rectangle 21"/>
          <p:cNvSpPr/>
          <p:nvPr/>
        </p:nvSpPr>
        <p:spPr>
          <a:xfrm>
            <a:off x="1046520" y="691200"/>
            <a:ext cx="337464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3</a:t>
            </a:r>
            <a:r>
              <a:rPr lang="zh-CN" sz="2000" b="1" u="none" strike="noStrike">
                <a:solidFill>
                  <a:srgbClr val="008080"/>
                </a:solidFill>
                <a:effectLst/>
                <a:uFillTx/>
                <a:latin typeface="Times New Roman"/>
              </a:rPr>
              <a:t>、比例微分（</a:t>
            </a:r>
            <a:r>
              <a:rPr lang="en-US" sz="2000" b="1" u="none" strike="noStrike">
                <a:solidFill>
                  <a:srgbClr val="008080"/>
                </a:solidFill>
                <a:effectLst/>
                <a:uFillTx/>
                <a:latin typeface="Times New Roman"/>
              </a:rPr>
              <a:t>PD</a:t>
            </a:r>
            <a:r>
              <a:rPr lang="zh-CN" sz="2000" b="1" u="none" strike="noStrike">
                <a:solidFill>
                  <a:srgbClr val="008080"/>
                </a:solidFill>
                <a:effectLst/>
                <a:uFillTx/>
                <a:latin typeface="Times New Roman"/>
              </a:rPr>
              <a:t>）控制器</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39" name="Object 22"/>
              <p:cNvSpPr txBox="1"/>
              <p:nvPr/>
            </p:nvSpPr>
            <p:spPr>
              <a:xfrm>
                <a:off x="1187280" y="1125360"/>
                <a:ext cx="1800360" cy="39852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sSub>
                      <m:e>
                        <m:r>
                          <m:t xml:space="preserve">k</m:t>
                        </m:r>
                      </m:e>
                      <m:sub>
                        <m:r>
                          <m:t xml:space="preserve">p</m:t>
                        </m:r>
                      </m:sub>
                    </m:sSub>
                    <m:r>
                      <m:t xml:space="preserve">+</m:t>
                    </m:r>
                    <m:sSub>
                      <m:e>
                        <m:r>
                          <m:t xml:space="preserve">k</m:t>
                        </m:r>
                      </m:e>
                      <m:sub>
                        <m:r>
                          <m:t xml:space="preserve">d</m:t>
                        </m:r>
                      </m:sub>
                    </m:sSub>
                    <m:r>
                      <m:t xml:space="preserve">S</m:t>
                    </m:r>
                  </m:oMath>
                </a14:m>
              </a:p>
            </p:txBody>
          </p:sp>
        </mc:Choice>
        <mc:Fallback>
          <p:sp>
            <p:nvSpPr>
              <p:cNvPr id="339" name="Object 22"/>
              <p:cNvSpPr txBox="1"/>
              <p:nvPr/>
            </p:nvSpPr>
            <p:spPr>
              <a:xfrm>
                <a:off x="1187280" y="1125360"/>
                <a:ext cx="1800360" cy="398520"/>
              </a:xfrm>
              <a:prstGeom prst="rect">
                <a:avLst/>
              </a:prstGeom>
              <a:blipFill>
                <a:blip r:embed="rId1"/>
                <a:stretch>
                  <a:fillRect/>
                </a:stretch>
              </a:blipFill>
            </p:spPr>
          </p:sp>
        </mc:Fallback>
      </mc:AlternateContent>
      <p:sp>
        <p:nvSpPr>
          <p:cNvPr id="340" name="Rectangle 23"/>
          <p:cNvSpPr/>
          <p:nvPr/>
        </p:nvSpPr>
        <p:spPr>
          <a:xfrm>
            <a:off x="826920" y="1557360"/>
            <a:ext cx="4608720" cy="19234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特点：控制作用不仅反映误差信号，同</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时也放映了误差信号随时间的变</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化。微分环节起到一“提前预报”</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的作用。</a:t>
            </a:r>
            <a:endParaRPr lang="en-US" sz="2000" b="0" u="none" strike="noStrike">
              <a:solidFill>
                <a:srgbClr val="000000"/>
              </a:solidFill>
              <a:effectLst/>
              <a:uFillTx/>
              <a:latin typeface="Times New Roman"/>
            </a:endParaRPr>
          </a:p>
        </p:txBody>
      </p:sp>
      <p:sp>
        <p:nvSpPr>
          <p:cNvPr id="341" name="Rectangle 25"/>
          <p:cNvSpPr/>
          <p:nvPr/>
        </p:nvSpPr>
        <p:spPr>
          <a:xfrm>
            <a:off x="826920" y="2924280"/>
            <a:ext cx="482472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作用：系统的超调减小，振荡减弱，过渡</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过程加快。</a:t>
            </a:r>
            <a:endParaRPr lang="en-US" sz="2000" b="0" u="none" strike="noStrike">
              <a:solidFill>
                <a:srgbClr val="000000"/>
              </a:solidFill>
              <a:effectLst/>
              <a:uFillTx/>
              <a:latin typeface="Times New Roman"/>
            </a:endParaRPr>
          </a:p>
        </p:txBody>
      </p:sp>
      <p:sp>
        <p:nvSpPr>
          <p:cNvPr id="342" name="Rectangle 26"/>
          <p:cNvSpPr/>
          <p:nvPr/>
        </p:nvSpPr>
        <p:spPr>
          <a:xfrm>
            <a:off x="907560" y="3645000"/>
            <a:ext cx="29804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缺点：对噪声过于敏感。</a:t>
            </a:r>
            <a:endParaRPr lang="en-US" sz="2000" b="0" u="none" strike="noStrike">
              <a:solidFill>
                <a:srgbClr val="000000"/>
              </a:solidFill>
              <a:effectLst/>
              <a:uFillTx/>
              <a:latin typeface="Times New Roman"/>
            </a:endParaRPr>
          </a:p>
        </p:txBody>
      </p:sp>
      <p:sp>
        <p:nvSpPr>
          <p:cNvPr id="343" name="Rectangle 27"/>
          <p:cNvSpPr/>
          <p:nvPr/>
        </p:nvSpPr>
        <p:spPr>
          <a:xfrm>
            <a:off x="755640" y="4940640"/>
            <a:ext cx="4392720" cy="100872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  </a:t>
            </a:r>
            <a:r>
              <a:rPr lang="zh-CN" sz="2000" b="1" u="none" strike="noStrike">
                <a:solidFill>
                  <a:srgbClr val="000000"/>
                </a:solidFill>
                <a:effectLst/>
                <a:uFillTx/>
                <a:latin typeface="Times New Roman"/>
              </a:rPr>
              <a:t>兼顾</a:t>
            </a:r>
            <a:r>
              <a:rPr lang="en-US" sz="2000" b="1" u="none" strike="noStrike">
                <a:solidFill>
                  <a:srgbClr val="000000"/>
                </a:solidFill>
                <a:effectLst/>
                <a:uFillTx/>
                <a:latin typeface="Times New Roman"/>
              </a:rPr>
              <a:t>PI</a:t>
            </a:r>
            <a:r>
              <a:rPr lang="zh-CN" sz="2000" b="1" u="none" strike="noStrike">
                <a:solidFill>
                  <a:srgbClr val="000000"/>
                </a:solidFill>
                <a:effectLst/>
                <a:uFillTx/>
                <a:latin typeface="Times New Roman"/>
              </a:rPr>
              <a:t>控制器和</a:t>
            </a:r>
            <a:r>
              <a:rPr lang="en-US" sz="2000" b="1" u="none" strike="noStrike">
                <a:solidFill>
                  <a:srgbClr val="000000"/>
                </a:solidFill>
                <a:effectLst/>
                <a:uFillTx/>
                <a:latin typeface="Times New Roman"/>
              </a:rPr>
              <a:t>PD</a:t>
            </a:r>
            <a:r>
              <a:rPr lang="zh-CN" sz="2000" b="1" u="none" strike="noStrike">
                <a:solidFill>
                  <a:srgbClr val="000000"/>
                </a:solidFill>
                <a:effectLst/>
                <a:uFillTx/>
                <a:latin typeface="Times New Roman"/>
              </a:rPr>
              <a:t>控制器二者共同的优点，是工程上应用最为广泛的控制器。</a:t>
            </a:r>
            <a:endParaRPr lang="en-US" sz="2000" b="0" u="none" strike="noStrike">
              <a:solidFill>
                <a:srgbClr val="000000"/>
              </a:solidFill>
              <a:effectLst/>
              <a:uFillTx/>
              <a:latin typeface="Times New Roman"/>
            </a:endParaRPr>
          </a:p>
        </p:txBody>
      </p:sp>
      <p:sp>
        <p:nvSpPr>
          <p:cNvPr id="344" name="Rectangle 28"/>
          <p:cNvSpPr/>
          <p:nvPr/>
        </p:nvSpPr>
        <p:spPr>
          <a:xfrm>
            <a:off x="1099800" y="4365720"/>
            <a:ext cx="194688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8080"/>
                </a:solidFill>
                <a:effectLst/>
                <a:uFillTx/>
                <a:latin typeface="Times New Roman"/>
              </a:rPr>
              <a:t>4</a:t>
            </a:r>
            <a:r>
              <a:rPr lang="zh-CN" sz="2000" b="1" u="none" strike="noStrike">
                <a:solidFill>
                  <a:srgbClr val="008080"/>
                </a:solidFill>
                <a:effectLst/>
                <a:uFillTx/>
                <a:latin typeface="Times New Roman"/>
              </a:rPr>
              <a:t>、</a:t>
            </a:r>
            <a:r>
              <a:rPr lang="en-US" sz="2000" b="1" u="none" strike="noStrike">
                <a:solidFill>
                  <a:srgbClr val="008080"/>
                </a:solidFill>
                <a:effectLst/>
                <a:uFillTx/>
                <a:latin typeface="Times New Roman"/>
              </a:rPr>
              <a:t>PID</a:t>
            </a:r>
            <a:r>
              <a:rPr lang="zh-CN" sz="2000" b="1" u="none" strike="noStrike">
                <a:solidFill>
                  <a:srgbClr val="008080"/>
                </a:solidFill>
                <a:effectLst/>
                <a:uFillTx/>
                <a:latin typeface="Times New Roman"/>
              </a:rPr>
              <a:t>控制器</a:t>
            </a:r>
            <a:endParaRPr lang="en-US" sz="2000" b="0" u="none" strike="noStrike">
              <a:solidFill>
                <a:srgbClr val="000000"/>
              </a:solidFill>
              <a:effectLst/>
              <a:uFillTx/>
              <a:latin typeface="Times New Roman"/>
            </a:endParaRPr>
          </a:p>
        </p:txBody>
      </p:sp>
      <p:grpSp>
        <p:nvGrpSpPr>
          <p:cNvPr id="345" name="Group 84"/>
          <p:cNvGrpSpPr/>
          <p:nvPr/>
        </p:nvGrpSpPr>
        <p:grpSpPr>
          <a:xfrm>
            <a:off x="5427720" y="1042920"/>
            <a:ext cx="3058920" cy="4834080"/>
            <a:chOff x="5427720" y="1042920"/>
            <a:chExt cx="3058920" cy="4834080"/>
          </a:xfrm>
        </p:grpSpPr>
        <p:sp>
          <p:nvSpPr>
            <p:cNvPr id="346" name="AutoShape 85"/>
            <p:cNvSpPr/>
            <p:nvPr/>
          </p:nvSpPr>
          <p:spPr>
            <a:xfrm>
              <a:off x="5427720" y="1042920"/>
              <a:ext cx="3058920" cy="483408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47" name="Line 86"/>
            <p:cNvSpPr/>
            <p:nvPr/>
          </p:nvSpPr>
          <p:spPr>
            <a:xfrm>
              <a:off x="5556240" y="2028600"/>
              <a:ext cx="2373840" cy="360"/>
            </a:xfrm>
            <a:prstGeom prst="line">
              <a:avLst/>
            </a:prstGeom>
            <a:ln w="9360">
              <a:solidFill>
                <a:srgbClr val="000000"/>
              </a:solidFill>
              <a:miter/>
              <a:tailEnd len="med" type="triangle" w="med"/>
            </a:ln>
          </p:spPr>
          <p:style>
            <a:lnRef idx="0"/>
            <a:fillRef idx="0"/>
            <a:effectRef idx="0"/>
            <a:fontRef idx="minor"/>
          </p:style>
          <p:txBody>
            <a:bodyPr lIns="90000" tIns="-46440" rIns="90000" bIns="-46440" anchor="t">
              <a:noAutofit/>
            </a:bodyPr>
            <a:p>
              <a:endParaRPr lang="en-US" sz="2400" b="0" u="none" strike="noStrike">
                <a:solidFill>
                  <a:srgbClr val="000000"/>
                </a:solidFill>
                <a:effectLst/>
                <a:uFillTx/>
                <a:latin typeface="Times New Roman"/>
              </a:endParaRPr>
            </a:p>
          </p:txBody>
        </p:sp>
        <p:sp>
          <p:nvSpPr>
            <p:cNvPr id="348" name="Line 87"/>
            <p:cNvSpPr/>
            <p:nvPr/>
          </p:nvSpPr>
          <p:spPr>
            <a:xfrm flipV="1">
              <a:off x="5814720" y="1225080"/>
              <a:ext cx="720" cy="9748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49" name="Line 88"/>
            <p:cNvSpPr/>
            <p:nvPr/>
          </p:nvSpPr>
          <p:spPr>
            <a:xfrm>
              <a:off x="5833800" y="1674360"/>
              <a:ext cx="1965960" cy="360"/>
            </a:xfrm>
            <a:prstGeom prst="line">
              <a:avLst/>
            </a:prstGeom>
            <a:ln w="9360">
              <a:solidFill>
                <a:srgbClr val="000000"/>
              </a:solidFill>
              <a:miter/>
            </a:ln>
          </p:spPr>
          <p:style>
            <a:lnRef idx="0"/>
            <a:fillRef idx="0"/>
            <a:effectRef idx="0"/>
            <a:fontRef idx="minor"/>
          </p:style>
          <p:txBody>
            <a:bodyPr lIns="90000" tIns="-46440" rIns="90000" bIns="-46440" anchor="t">
              <a:noAutofit/>
            </a:bodyPr>
            <a:p>
              <a:endParaRPr lang="en-US" sz="2400" b="0" u="none" strike="noStrike">
                <a:solidFill>
                  <a:srgbClr val="000000"/>
                </a:solidFill>
                <a:effectLst/>
                <a:uFillTx/>
                <a:latin typeface="Times New Roman"/>
              </a:endParaRPr>
            </a:p>
          </p:txBody>
        </p:sp>
        <p:sp>
          <p:nvSpPr>
            <p:cNvPr id="350" name="Text Box 89"/>
            <p:cNvSpPr/>
            <p:nvPr/>
          </p:nvSpPr>
          <p:spPr>
            <a:xfrm>
              <a:off x="5814720" y="1042920"/>
              <a:ext cx="810000" cy="39672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c(t)</a:t>
              </a:r>
              <a:endParaRPr lang="en-US" sz="2000" b="0" u="none" strike="noStrike">
                <a:solidFill>
                  <a:srgbClr val="000000"/>
                </a:solidFill>
                <a:effectLst/>
                <a:uFillTx/>
                <a:latin typeface="Times New Roman"/>
              </a:endParaRPr>
            </a:p>
          </p:txBody>
        </p:sp>
        <p:sp>
          <p:nvSpPr>
            <p:cNvPr id="351" name="Text Box 90"/>
            <p:cNvSpPr/>
            <p:nvPr/>
          </p:nvSpPr>
          <p:spPr>
            <a:xfrm>
              <a:off x="7907760" y="1943280"/>
              <a:ext cx="568440" cy="26820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t</a:t>
              </a:r>
              <a:endParaRPr lang="en-US" sz="2000" b="0" u="none" strike="noStrike">
                <a:solidFill>
                  <a:srgbClr val="000000"/>
                </a:solidFill>
                <a:effectLst/>
                <a:uFillTx/>
                <a:latin typeface="Times New Roman"/>
              </a:endParaRPr>
            </a:p>
          </p:txBody>
        </p:sp>
        <p:sp>
          <p:nvSpPr>
            <p:cNvPr id="352" name="Freeform 91"/>
            <p:cNvSpPr/>
            <p:nvPr/>
          </p:nvSpPr>
          <p:spPr>
            <a:xfrm>
              <a:off x="5821920" y="1538640"/>
              <a:ext cx="1912320" cy="489960"/>
            </a:xfrm>
            <a:custGeom>
              <a:avLst/>
              <a:gdLst>
                <a:gd name="GluePoint1X" fmla="*/ 0 w 1560"/>
                <a:gd name="GluePoint1Y" fmla="*/ 681 h 687"/>
                <a:gd name="GluePoint2X" fmla="*/ 260 w 1560"/>
                <a:gd name="GluePoint2Y" fmla="*/ 547 h 687"/>
                <a:gd name="GluePoint3X" fmla="*/ 389 w 1560"/>
                <a:gd name="GluePoint3Y" fmla="*/ 445 h 687"/>
                <a:gd name="GluePoint4X" fmla="*/ 689 w 1560"/>
                <a:gd name="GluePoint4Y" fmla="*/ 204 h 687"/>
                <a:gd name="GluePoint5X" fmla="*/ 1035 w 1560"/>
                <a:gd name="GluePoint5Y" fmla="*/ 57 h 687"/>
                <a:gd name="GluePoint6X" fmla="*/ 1511 w 1560"/>
                <a:gd name="GluePoint6Y" fmla="*/ 12 h 687"/>
                <a:gd name="GluePoint7X" fmla="*/ 1855 w 1560"/>
                <a:gd name="GluePoint7Y" fmla="*/ 132 h 687"/>
                <a:gd name="GluePoint8X" fmla="*/ 2240 w 1560"/>
                <a:gd name="GluePoint8Y" fmla="*/ 249 h 687"/>
                <a:gd name="GluePoint9X" fmla="*/ 2670 w 1560"/>
                <a:gd name="GluePoint9Y" fmla="*/ 264 h 687"/>
                <a:gd name="GluePoint10X" fmla="*/ 3185 w 1560"/>
                <a:gd name="GluePoint10Y" fmla="*/ 219 h 687"/>
                <a:gd name="GluePoint11X" fmla="*/ 3577 w 1560"/>
                <a:gd name="GluePoint11Y" fmla="*/ 162 h 687"/>
                <a:gd name="GluePoint12X" fmla="*/ 3920 w 1560"/>
                <a:gd name="GluePoint12Y" fmla="*/ 132 h 687"/>
                <a:gd name="GluePoint13X" fmla="*/ 4478 w 1560"/>
                <a:gd name="GluePoint13Y" fmla="*/ 174 h 68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1560" h="687">
                  <a:moveTo>
                    <a:pt x="0" y="687"/>
                  </a:moveTo>
                  <a:cubicBezTo>
                    <a:pt x="15" y="665"/>
                    <a:pt x="68" y="593"/>
                    <a:pt x="91" y="553"/>
                  </a:cubicBezTo>
                  <a:cubicBezTo>
                    <a:pt x="114" y="513"/>
                    <a:pt x="111" y="506"/>
                    <a:pt x="136" y="448"/>
                  </a:cubicBezTo>
                  <a:cubicBezTo>
                    <a:pt x="161" y="390"/>
                    <a:pt x="203" y="272"/>
                    <a:pt x="240" y="207"/>
                  </a:cubicBezTo>
                  <a:cubicBezTo>
                    <a:pt x="277" y="142"/>
                    <a:pt x="312" y="90"/>
                    <a:pt x="360" y="57"/>
                  </a:cubicBezTo>
                  <a:cubicBezTo>
                    <a:pt x="408" y="24"/>
                    <a:pt x="478" y="0"/>
                    <a:pt x="526" y="12"/>
                  </a:cubicBezTo>
                  <a:cubicBezTo>
                    <a:pt x="574" y="24"/>
                    <a:pt x="604" y="92"/>
                    <a:pt x="646" y="132"/>
                  </a:cubicBezTo>
                  <a:cubicBezTo>
                    <a:pt x="688" y="172"/>
                    <a:pt x="733" y="230"/>
                    <a:pt x="780" y="252"/>
                  </a:cubicBezTo>
                  <a:cubicBezTo>
                    <a:pt x="827" y="274"/>
                    <a:pt x="875" y="272"/>
                    <a:pt x="930" y="267"/>
                  </a:cubicBezTo>
                  <a:cubicBezTo>
                    <a:pt x="985" y="262"/>
                    <a:pt x="1057" y="239"/>
                    <a:pt x="1110" y="222"/>
                  </a:cubicBezTo>
                  <a:cubicBezTo>
                    <a:pt x="1163" y="205"/>
                    <a:pt x="1203" y="177"/>
                    <a:pt x="1246" y="162"/>
                  </a:cubicBezTo>
                  <a:cubicBezTo>
                    <a:pt x="1289" y="147"/>
                    <a:pt x="1314" y="130"/>
                    <a:pt x="1366" y="132"/>
                  </a:cubicBezTo>
                  <a:cubicBezTo>
                    <a:pt x="1418" y="134"/>
                    <a:pt x="1528" y="170"/>
                    <a:pt x="1560" y="177"/>
                  </a:cubicBezTo>
                </a:path>
              </a:pathLst>
            </a:custGeom>
            <a:no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3" name="Line 92"/>
            <p:cNvSpPr/>
            <p:nvPr/>
          </p:nvSpPr>
          <p:spPr>
            <a:xfrm flipV="1">
              <a:off x="5814720" y="2476440"/>
              <a:ext cx="1440" cy="9756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4" name="Text Box 93"/>
            <p:cNvSpPr/>
            <p:nvPr/>
          </p:nvSpPr>
          <p:spPr>
            <a:xfrm>
              <a:off x="5814720" y="2293920"/>
              <a:ext cx="812520" cy="39672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e(t)</a:t>
              </a:r>
              <a:endParaRPr lang="en-US" sz="2000" b="0" u="none" strike="noStrike">
                <a:solidFill>
                  <a:srgbClr val="000000"/>
                </a:solidFill>
                <a:effectLst/>
                <a:uFillTx/>
                <a:latin typeface="Times New Roman"/>
              </a:endParaRPr>
            </a:p>
          </p:txBody>
        </p:sp>
        <p:sp>
          <p:nvSpPr>
            <p:cNvPr id="355" name="Text Box 94"/>
            <p:cNvSpPr/>
            <p:nvPr/>
          </p:nvSpPr>
          <p:spPr>
            <a:xfrm>
              <a:off x="7913160" y="3195360"/>
              <a:ext cx="572760" cy="26820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t</a:t>
              </a:r>
              <a:endParaRPr lang="en-US" sz="2000" b="0" u="none" strike="noStrike">
                <a:solidFill>
                  <a:srgbClr val="000000"/>
                </a:solidFill>
                <a:effectLst/>
                <a:uFillTx/>
                <a:latin typeface="Times New Roman"/>
              </a:endParaRPr>
            </a:p>
          </p:txBody>
        </p:sp>
        <p:sp>
          <p:nvSpPr>
            <p:cNvPr id="356" name="Line 95"/>
            <p:cNvSpPr/>
            <p:nvPr/>
          </p:nvSpPr>
          <p:spPr>
            <a:xfrm>
              <a:off x="5444640" y="4251240"/>
              <a:ext cx="2401560" cy="360"/>
            </a:xfrm>
            <a:prstGeom prst="line">
              <a:avLst/>
            </a:prstGeom>
            <a:ln w="9360">
              <a:solidFill>
                <a:srgbClr val="000000"/>
              </a:solidFill>
              <a:miter/>
              <a:tailEnd len="med" type="triangle" w="med"/>
            </a:ln>
          </p:spPr>
          <p:style>
            <a:lnRef idx="0"/>
            <a:fillRef idx="0"/>
            <a:effectRef idx="0"/>
            <a:fontRef idx="minor"/>
          </p:style>
          <p:txBody>
            <a:bodyPr lIns="90000" tIns="-46440" rIns="90000" bIns="-46440" anchor="t">
              <a:noAutofit/>
            </a:bodyPr>
            <a:p>
              <a:endParaRPr lang="en-US" sz="2400" b="0" u="none" strike="noStrike">
                <a:solidFill>
                  <a:srgbClr val="000000"/>
                </a:solidFill>
                <a:effectLst/>
                <a:uFillTx/>
                <a:latin typeface="Times New Roman"/>
              </a:endParaRPr>
            </a:p>
          </p:txBody>
        </p:sp>
        <p:sp>
          <p:nvSpPr>
            <p:cNvPr id="357" name="Line 96"/>
            <p:cNvSpPr/>
            <p:nvPr/>
          </p:nvSpPr>
          <p:spPr>
            <a:xfrm flipV="1">
              <a:off x="5814720" y="3753000"/>
              <a:ext cx="720" cy="9752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58" name="Text Box 97"/>
            <p:cNvSpPr/>
            <p:nvPr/>
          </p:nvSpPr>
          <p:spPr>
            <a:xfrm>
              <a:off x="5814720" y="3581640"/>
              <a:ext cx="819360" cy="397080"/>
            </a:xfrm>
            <a:prstGeom prst="rect">
              <a:avLst/>
            </a:prstGeom>
            <a:noFill/>
            <a:ln w="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359" name="Text Box 98"/>
            <p:cNvSpPr/>
            <p:nvPr/>
          </p:nvSpPr>
          <p:spPr>
            <a:xfrm>
              <a:off x="7911360" y="4225320"/>
              <a:ext cx="575280" cy="26748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t</a:t>
              </a:r>
              <a:endParaRPr lang="en-US" sz="2000" b="0" u="none" strike="noStrike">
                <a:solidFill>
                  <a:srgbClr val="000000"/>
                </a:solidFill>
                <a:effectLst/>
                <a:uFillTx/>
                <a:latin typeface="Times New Roman"/>
              </a:endParaRPr>
            </a:p>
          </p:txBody>
        </p:sp>
        <p:sp>
          <p:nvSpPr>
            <p:cNvPr id="360" name="Freeform 99"/>
            <p:cNvSpPr/>
            <p:nvPr/>
          </p:nvSpPr>
          <p:spPr>
            <a:xfrm>
              <a:off x="5821920" y="4167360"/>
              <a:ext cx="1692360" cy="263160"/>
            </a:xfrm>
            <a:custGeom>
              <a:avLst/>
              <a:gdLst>
                <a:gd name="GluePoint1X" fmla="*/ 0 w 1364"/>
                <a:gd name="GluePoint1Y" fmla="*/ 110 h 367"/>
                <a:gd name="GluePoint2X" fmla="*/ 101 w 1364"/>
                <a:gd name="GluePoint2Y" fmla="*/ 188 h 367"/>
                <a:gd name="GluePoint3X" fmla="*/ 331 w 1364"/>
                <a:gd name="GluePoint3Y" fmla="*/ 323 h 367"/>
                <a:gd name="GluePoint4X" fmla="*/ 676 w 1364"/>
                <a:gd name="GluePoint4Y" fmla="*/ 368 h 367"/>
                <a:gd name="GluePoint5X" fmla="*/ 1024 w 1364"/>
                <a:gd name="GluePoint5Y" fmla="*/ 308 h 367"/>
                <a:gd name="GluePoint6X" fmla="*/ 1292 w 1364"/>
                <a:gd name="GluePoint6Y" fmla="*/ 155 h 367"/>
                <a:gd name="GluePoint7X" fmla="*/ 1604 w 1364"/>
                <a:gd name="GluePoint7Y" fmla="*/ 65 h 367"/>
                <a:gd name="GluePoint8X" fmla="*/ 2096 w 1364"/>
                <a:gd name="GluePoint8Y" fmla="*/ 5 h 367"/>
                <a:gd name="GluePoint9X" fmla="*/ 2632 w 1364"/>
                <a:gd name="GluePoint9Y" fmla="*/ 95 h 367"/>
                <a:gd name="GluePoint10X" fmla="*/ 3123 w 1364"/>
                <a:gd name="GluePoint10Y" fmla="*/ 155 h 367"/>
                <a:gd name="GluePoint11X" fmla="*/ 3720 w 1364"/>
                <a:gd name="GluePoint11Y" fmla="*/ 218 h 367"/>
                <a:gd name="GluePoint12X" fmla="*/ 4059 w 1364"/>
                <a:gd name="GluePoint12Y" fmla="*/ 233 h 3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l" t="t" r="r" b="b"/>
              <a:pathLst>
                <a:path w="1364" h="367">
                  <a:moveTo>
                    <a:pt x="0" y="110"/>
                  </a:moveTo>
                  <a:cubicBezTo>
                    <a:pt x="8" y="130"/>
                    <a:pt x="15" y="150"/>
                    <a:pt x="34" y="185"/>
                  </a:cubicBezTo>
                  <a:cubicBezTo>
                    <a:pt x="52" y="220"/>
                    <a:pt x="79" y="290"/>
                    <a:pt x="111" y="320"/>
                  </a:cubicBezTo>
                  <a:cubicBezTo>
                    <a:pt x="143" y="350"/>
                    <a:pt x="188" y="367"/>
                    <a:pt x="227" y="365"/>
                  </a:cubicBezTo>
                  <a:cubicBezTo>
                    <a:pt x="266" y="363"/>
                    <a:pt x="310" y="340"/>
                    <a:pt x="344" y="305"/>
                  </a:cubicBezTo>
                  <a:cubicBezTo>
                    <a:pt x="378" y="270"/>
                    <a:pt x="402" y="195"/>
                    <a:pt x="434" y="155"/>
                  </a:cubicBezTo>
                  <a:cubicBezTo>
                    <a:pt x="466" y="115"/>
                    <a:pt x="494" y="90"/>
                    <a:pt x="539" y="65"/>
                  </a:cubicBezTo>
                  <a:cubicBezTo>
                    <a:pt x="584" y="40"/>
                    <a:pt x="647" y="0"/>
                    <a:pt x="704" y="5"/>
                  </a:cubicBezTo>
                  <a:cubicBezTo>
                    <a:pt x="761" y="10"/>
                    <a:pt x="826" y="70"/>
                    <a:pt x="884" y="95"/>
                  </a:cubicBezTo>
                  <a:cubicBezTo>
                    <a:pt x="942" y="120"/>
                    <a:pt x="988" y="135"/>
                    <a:pt x="1049" y="155"/>
                  </a:cubicBezTo>
                  <a:cubicBezTo>
                    <a:pt x="1110" y="175"/>
                    <a:pt x="1198" y="203"/>
                    <a:pt x="1250" y="215"/>
                  </a:cubicBezTo>
                  <a:cubicBezTo>
                    <a:pt x="1302" y="227"/>
                    <a:pt x="1340" y="227"/>
                    <a:pt x="1364" y="230"/>
                  </a:cubicBezTo>
                </a:path>
              </a:pathLst>
            </a:custGeom>
            <a:no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1" name="Line 100"/>
            <p:cNvSpPr/>
            <p:nvPr/>
          </p:nvSpPr>
          <p:spPr>
            <a:xfrm>
              <a:off x="5434560" y="5572080"/>
              <a:ext cx="2383560" cy="720"/>
            </a:xfrm>
            <a:prstGeom prst="line">
              <a:avLst/>
            </a:prstGeom>
            <a:ln w="9360">
              <a:solidFill>
                <a:srgbClr val="000000"/>
              </a:solidFill>
              <a:miter/>
              <a:tailEnd len="med" type="triangle" w="med"/>
            </a:ln>
          </p:spPr>
          <p:style>
            <a:lnRef idx="0"/>
            <a:fillRef idx="0"/>
            <a:effectRef idx="0"/>
            <a:fontRef idx="minor"/>
          </p:style>
          <p:txBody>
            <a:bodyPr lIns="90000" tIns="-46080" rIns="90000" bIns="-46080" anchor="t">
              <a:noAutofit/>
            </a:bodyPr>
            <a:p>
              <a:endParaRPr lang="en-US" sz="2400" b="0" u="none" strike="noStrike">
                <a:solidFill>
                  <a:srgbClr val="000000"/>
                </a:solidFill>
                <a:effectLst/>
                <a:uFillTx/>
                <a:latin typeface="Times New Roman"/>
              </a:endParaRPr>
            </a:p>
          </p:txBody>
        </p:sp>
        <p:sp>
          <p:nvSpPr>
            <p:cNvPr id="362" name="Line 101"/>
            <p:cNvSpPr/>
            <p:nvPr/>
          </p:nvSpPr>
          <p:spPr>
            <a:xfrm flipV="1">
              <a:off x="5814720" y="4889880"/>
              <a:ext cx="1440" cy="97632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3" name="Text Box 102"/>
            <p:cNvSpPr/>
            <p:nvPr/>
          </p:nvSpPr>
          <p:spPr>
            <a:xfrm>
              <a:off x="5814720" y="4707360"/>
              <a:ext cx="812520" cy="39744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u(t)</a:t>
              </a:r>
              <a:endParaRPr lang="en-US" sz="2000" b="0" u="none" strike="noStrike">
                <a:solidFill>
                  <a:srgbClr val="000000"/>
                </a:solidFill>
                <a:effectLst/>
                <a:uFillTx/>
                <a:latin typeface="Times New Roman"/>
              </a:endParaRPr>
            </a:p>
          </p:txBody>
        </p:sp>
        <p:sp>
          <p:nvSpPr>
            <p:cNvPr id="364" name="Text Box 103"/>
            <p:cNvSpPr/>
            <p:nvPr/>
          </p:nvSpPr>
          <p:spPr>
            <a:xfrm>
              <a:off x="7884360" y="5609520"/>
              <a:ext cx="570960" cy="267480"/>
            </a:xfrm>
            <a:prstGeom prst="rect">
              <a:avLst/>
            </a:prstGeom>
            <a:noFill/>
            <a:ln w="0">
              <a:noFill/>
            </a:ln>
          </p:spPr>
          <p:style>
            <a:lnRef idx="0"/>
            <a:fillRef idx="0"/>
            <a:effectRef idx="0"/>
            <a:fontRef idx="minor"/>
          </p:style>
          <p:txBody>
            <a:bodyPr lIns="90000" tIns="46800" rIns="90000" bIns="46800" anchor="t">
              <a:noAutofit/>
            </a:bodyPr>
            <a:p>
              <a:pPr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t</a:t>
              </a:r>
              <a:endParaRPr lang="en-US" sz="2000" b="0" u="none" strike="noStrike">
                <a:solidFill>
                  <a:srgbClr val="000000"/>
                </a:solidFill>
                <a:effectLst/>
                <a:uFillTx/>
                <a:latin typeface="Times New Roman"/>
              </a:endParaRPr>
            </a:p>
          </p:txBody>
        </p:sp>
        <p:sp>
          <p:nvSpPr>
            <p:cNvPr id="365" name="Line 104"/>
            <p:cNvSpPr/>
            <p:nvPr/>
          </p:nvSpPr>
          <p:spPr>
            <a:xfrm>
              <a:off x="6660360" y="1685160"/>
              <a:ext cx="720" cy="38469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6" name="Freeform 105"/>
            <p:cNvSpPr/>
            <p:nvPr/>
          </p:nvSpPr>
          <p:spPr>
            <a:xfrm flipV="1">
              <a:off x="5824440" y="2828160"/>
              <a:ext cx="1912320" cy="489600"/>
            </a:xfrm>
            <a:custGeom>
              <a:avLst/>
              <a:gdLst>
                <a:gd name="GluePoint1X" fmla="*/ 0 w 1560"/>
                <a:gd name="GluePoint1Y" fmla="*/ 681 h 687"/>
                <a:gd name="GluePoint2X" fmla="*/ 260 w 1560"/>
                <a:gd name="GluePoint2Y" fmla="*/ 547 h 687"/>
                <a:gd name="GluePoint3X" fmla="*/ 389 w 1560"/>
                <a:gd name="GluePoint3Y" fmla="*/ 445 h 687"/>
                <a:gd name="GluePoint4X" fmla="*/ 689 w 1560"/>
                <a:gd name="GluePoint4Y" fmla="*/ 204 h 687"/>
                <a:gd name="GluePoint5X" fmla="*/ 1035 w 1560"/>
                <a:gd name="GluePoint5Y" fmla="*/ 57 h 687"/>
                <a:gd name="GluePoint6X" fmla="*/ 1511 w 1560"/>
                <a:gd name="GluePoint6Y" fmla="*/ 12 h 687"/>
                <a:gd name="GluePoint7X" fmla="*/ 1855 w 1560"/>
                <a:gd name="GluePoint7Y" fmla="*/ 132 h 687"/>
                <a:gd name="GluePoint8X" fmla="*/ 2240 w 1560"/>
                <a:gd name="GluePoint8Y" fmla="*/ 249 h 687"/>
                <a:gd name="GluePoint9X" fmla="*/ 2670 w 1560"/>
                <a:gd name="GluePoint9Y" fmla="*/ 264 h 687"/>
                <a:gd name="GluePoint10X" fmla="*/ 3185 w 1560"/>
                <a:gd name="GluePoint10Y" fmla="*/ 219 h 687"/>
                <a:gd name="GluePoint11X" fmla="*/ 3577 w 1560"/>
                <a:gd name="GluePoint11Y" fmla="*/ 162 h 687"/>
                <a:gd name="GluePoint12X" fmla="*/ 3920 w 1560"/>
                <a:gd name="GluePoint12Y" fmla="*/ 132 h 687"/>
                <a:gd name="GluePoint13X" fmla="*/ 4478 w 1560"/>
                <a:gd name="GluePoint13Y" fmla="*/ 174 h 68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1560" h="687">
                  <a:moveTo>
                    <a:pt x="0" y="687"/>
                  </a:moveTo>
                  <a:cubicBezTo>
                    <a:pt x="15" y="665"/>
                    <a:pt x="68" y="593"/>
                    <a:pt x="91" y="553"/>
                  </a:cubicBezTo>
                  <a:cubicBezTo>
                    <a:pt x="114" y="513"/>
                    <a:pt x="111" y="506"/>
                    <a:pt x="136" y="448"/>
                  </a:cubicBezTo>
                  <a:cubicBezTo>
                    <a:pt x="161" y="390"/>
                    <a:pt x="203" y="272"/>
                    <a:pt x="240" y="207"/>
                  </a:cubicBezTo>
                  <a:cubicBezTo>
                    <a:pt x="277" y="142"/>
                    <a:pt x="312" y="90"/>
                    <a:pt x="360" y="57"/>
                  </a:cubicBezTo>
                  <a:cubicBezTo>
                    <a:pt x="408" y="24"/>
                    <a:pt x="478" y="0"/>
                    <a:pt x="526" y="12"/>
                  </a:cubicBezTo>
                  <a:cubicBezTo>
                    <a:pt x="574" y="24"/>
                    <a:pt x="604" y="92"/>
                    <a:pt x="646" y="132"/>
                  </a:cubicBezTo>
                  <a:cubicBezTo>
                    <a:pt x="688" y="172"/>
                    <a:pt x="733" y="230"/>
                    <a:pt x="780" y="252"/>
                  </a:cubicBezTo>
                  <a:cubicBezTo>
                    <a:pt x="827" y="274"/>
                    <a:pt x="875" y="272"/>
                    <a:pt x="930" y="267"/>
                  </a:cubicBezTo>
                  <a:cubicBezTo>
                    <a:pt x="985" y="262"/>
                    <a:pt x="1057" y="239"/>
                    <a:pt x="1110" y="222"/>
                  </a:cubicBezTo>
                  <a:cubicBezTo>
                    <a:pt x="1163" y="205"/>
                    <a:pt x="1203" y="177"/>
                    <a:pt x="1246" y="162"/>
                  </a:cubicBezTo>
                  <a:cubicBezTo>
                    <a:pt x="1289" y="147"/>
                    <a:pt x="1314" y="130"/>
                    <a:pt x="1366" y="132"/>
                  </a:cubicBezTo>
                  <a:cubicBezTo>
                    <a:pt x="1418" y="134"/>
                    <a:pt x="1528" y="170"/>
                    <a:pt x="1560" y="177"/>
                  </a:cubicBezTo>
                </a:path>
              </a:pathLst>
            </a:custGeom>
            <a:noFill/>
            <a:ln w="93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7" name="Line 106"/>
            <p:cNvSpPr/>
            <p:nvPr/>
          </p:nvSpPr>
          <p:spPr>
            <a:xfrm>
              <a:off x="5556240" y="3185280"/>
              <a:ext cx="2373840" cy="720"/>
            </a:xfrm>
            <a:prstGeom prst="line">
              <a:avLst/>
            </a:prstGeom>
            <a:ln w="9360">
              <a:solidFill>
                <a:srgbClr val="000000"/>
              </a:solidFill>
              <a:miter/>
              <a:tailEnd len="med" type="triangle" w="med"/>
            </a:ln>
          </p:spPr>
          <p:style>
            <a:lnRef idx="0"/>
            <a:fillRef idx="0"/>
            <a:effectRef idx="0"/>
            <a:fontRef idx="minor"/>
          </p:style>
          <p:txBody>
            <a:bodyPr lIns="90000" tIns="-46080" rIns="90000" bIns="-46080" anchor="t">
              <a:noAutofit/>
            </a:bodyPr>
            <a:p>
              <a:endParaRPr lang="en-US" sz="2400" b="0" u="none" strike="noStrike">
                <a:solidFill>
                  <a:srgbClr val="000000"/>
                </a:solidFill>
                <a:effectLst/>
                <a:uFillTx/>
                <a:latin typeface="Times New Roman"/>
              </a:endParaRPr>
            </a:p>
          </p:txBody>
        </p:sp>
        <p:sp>
          <p:nvSpPr>
            <p:cNvPr id="368" name="Freeform 107"/>
            <p:cNvSpPr/>
            <p:nvPr/>
          </p:nvSpPr>
          <p:spPr>
            <a:xfrm flipV="1">
              <a:off x="5824440" y="5208120"/>
              <a:ext cx="1912320" cy="489960"/>
            </a:xfrm>
            <a:custGeom>
              <a:avLst/>
              <a:gdLst>
                <a:gd name="GluePoint1X" fmla="*/ 0 w 1560"/>
                <a:gd name="GluePoint1Y" fmla="*/ 681 h 687"/>
                <a:gd name="GluePoint2X" fmla="*/ 260 w 1560"/>
                <a:gd name="GluePoint2Y" fmla="*/ 547 h 687"/>
                <a:gd name="GluePoint3X" fmla="*/ 389 w 1560"/>
                <a:gd name="GluePoint3Y" fmla="*/ 445 h 687"/>
                <a:gd name="GluePoint4X" fmla="*/ 689 w 1560"/>
                <a:gd name="GluePoint4Y" fmla="*/ 204 h 687"/>
                <a:gd name="GluePoint5X" fmla="*/ 1035 w 1560"/>
                <a:gd name="GluePoint5Y" fmla="*/ 57 h 687"/>
                <a:gd name="GluePoint6X" fmla="*/ 1511 w 1560"/>
                <a:gd name="GluePoint6Y" fmla="*/ 12 h 687"/>
                <a:gd name="GluePoint7X" fmla="*/ 1855 w 1560"/>
                <a:gd name="GluePoint7Y" fmla="*/ 132 h 687"/>
                <a:gd name="GluePoint8X" fmla="*/ 2240 w 1560"/>
                <a:gd name="GluePoint8Y" fmla="*/ 249 h 687"/>
                <a:gd name="GluePoint9X" fmla="*/ 2670 w 1560"/>
                <a:gd name="GluePoint9Y" fmla="*/ 264 h 687"/>
                <a:gd name="GluePoint10X" fmla="*/ 3185 w 1560"/>
                <a:gd name="GluePoint10Y" fmla="*/ 219 h 687"/>
                <a:gd name="GluePoint11X" fmla="*/ 3577 w 1560"/>
                <a:gd name="GluePoint11Y" fmla="*/ 162 h 687"/>
                <a:gd name="GluePoint12X" fmla="*/ 3920 w 1560"/>
                <a:gd name="GluePoint12Y" fmla="*/ 132 h 687"/>
                <a:gd name="GluePoint13X" fmla="*/ 4478 w 1560"/>
                <a:gd name="GluePoint13Y" fmla="*/ 174 h 68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1560" h="687">
                  <a:moveTo>
                    <a:pt x="0" y="687"/>
                  </a:moveTo>
                  <a:cubicBezTo>
                    <a:pt x="15" y="665"/>
                    <a:pt x="68" y="593"/>
                    <a:pt x="91" y="553"/>
                  </a:cubicBezTo>
                  <a:cubicBezTo>
                    <a:pt x="114" y="513"/>
                    <a:pt x="111" y="506"/>
                    <a:pt x="136" y="448"/>
                  </a:cubicBezTo>
                  <a:cubicBezTo>
                    <a:pt x="161" y="390"/>
                    <a:pt x="203" y="272"/>
                    <a:pt x="240" y="207"/>
                  </a:cubicBezTo>
                  <a:cubicBezTo>
                    <a:pt x="277" y="142"/>
                    <a:pt x="312" y="90"/>
                    <a:pt x="360" y="57"/>
                  </a:cubicBezTo>
                  <a:cubicBezTo>
                    <a:pt x="408" y="24"/>
                    <a:pt x="478" y="0"/>
                    <a:pt x="526" y="12"/>
                  </a:cubicBezTo>
                  <a:cubicBezTo>
                    <a:pt x="574" y="24"/>
                    <a:pt x="604" y="92"/>
                    <a:pt x="646" y="132"/>
                  </a:cubicBezTo>
                  <a:cubicBezTo>
                    <a:pt x="688" y="172"/>
                    <a:pt x="733" y="230"/>
                    <a:pt x="780" y="252"/>
                  </a:cubicBezTo>
                  <a:cubicBezTo>
                    <a:pt x="827" y="274"/>
                    <a:pt x="875" y="272"/>
                    <a:pt x="930" y="267"/>
                  </a:cubicBezTo>
                  <a:cubicBezTo>
                    <a:pt x="985" y="262"/>
                    <a:pt x="1057" y="239"/>
                    <a:pt x="1110" y="222"/>
                  </a:cubicBezTo>
                  <a:cubicBezTo>
                    <a:pt x="1163" y="205"/>
                    <a:pt x="1203" y="177"/>
                    <a:pt x="1246" y="162"/>
                  </a:cubicBezTo>
                  <a:cubicBezTo>
                    <a:pt x="1289" y="147"/>
                    <a:pt x="1314" y="130"/>
                    <a:pt x="1366" y="132"/>
                  </a:cubicBezTo>
                  <a:cubicBezTo>
                    <a:pt x="1418" y="134"/>
                    <a:pt x="1528" y="170"/>
                    <a:pt x="1560" y="177"/>
                  </a:cubicBezTo>
                </a:path>
              </a:pathLst>
            </a:custGeom>
            <a:noFill/>
            <a:ln w="9360">
              <a:solidFill>
                <a:srgbClr val="FF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69" name="Line 108"/>
            <p:cNvSpPr/>
            <p:nvPr/>
          </p:nvSpPr>
          <p:spPr>
            <a:xfrm>
              <a:off x="6117120" y="1685160"/>
              <a:ext cx="720" cy="38469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0" name="Line 109"/>
            <p:cNvSpPr/>
            <p:nvPr/>
          </p:nvSpPr>
          <p:spPr>
            <a:xfrm>
              <a:off x="7294320" y="1685160"/>
              <a:ext cx="720" cy="3846960"/>
            </a:xfrm>
            <a:prstGeom prst="line">
              <a:avLst/>
            </a:prstGeom>
            <a:ln w="9360">
              <a:solidFill>
                <a:srgbClr val="000000"/>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1" name="Freeform 110"/>
            <p:cNvSpPr/>
            <p:nvPr/>
          </p:nvSpPr>
          <p:spPr>
            <a:xfrm>
              <a:off x="5819040" y="5214600"/>
              <a:ext cx="1912680" cy="527040"/>
            </a:xfrm>
            <a:custGeom>
              <a:avLst/>
              <a:gdLst>
                <a:gd name="GluePoint1X" fmla="*/ 0 w 2217"/>
                <a:gd name="GluePoint1Y" fmla="*/ 0 h 737"/>
                <a:gd name="GluePoint2X" fmla="*/ 107 w 2217"/>
                <a:gd name="GluePoint2Y" fmla="*/ 227 h 737"/>
                <a:gd name="GluePoint3X" fmla="*/ 167 w 2217"/>
                <a:gd name="GluePoint3Y" fmla="*/ 392 h 737"/>
                <a:gd name="GluePoint4X" fmla="*/ 302 w 2217"/>
                <a:gd name="GluePoint4Y" fmla="*/ 662 h 737"/>
                <a:gd name="GluePoint5X" fmla="*/ 542 w 2217"/>
                <a:gd name="GluePoint5Y" fmla="*/ 737 h 737"/>
                <a:gd name="GluePoint6X" fmla="*/ 707 w 2217"/>
                <a:gd name="GluePoint6Y" fmla="*/ 662 h 737"/>
                <a:gd name="GluePoint7X" fmla="*/ 857 w 2217"/>
                <a:gd name="GluePoint7Y" fmla="*/ 482 h 737"/>
                <a:gd name="GluePoint8X" fmla="*/ 1067 w 2217"/>
                <a:gd name="GluePoint8Y" fmla="*/ 317 h 737"/>
                <a:gd name="GluePoint9X" fmla="*/ 1352 w 2217"/>
                <a:gd name="GluePoint9Y" fmla="*/ 377 h 737"/>
                <a:gd name="GluePoint10X" fmla="*/ 1592 w 2217"/>
                <a:gd name="GluePoint10Y" fmla="*/ 527 h 737"/>
                <a:gd name="GluePoint11X" fmla="*/ 1772 w 2217"/>
                <a:gd name="GluePoint11Y" fmla="*/ 632 h 737"/>
                <a:gd name="GluePoint12X" fmla="*/ 1997 w 2217"/>
                <a:gd name="GluePoint12Y" fmla="*/ 647 h 737"/>
                <a:gd name="GluePoint13X" fmla="*/ 2217 w 2217"/>
                <a:gd name="GluePoint13Y" fmla="*/ 509 h 73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2217" h="737">
                  <a:moveTo>
                    <a:pt x="0" y="0"/>
                  </a:moveTo>
                  <a:cubicBezTo>
                    <a:pt x="18" y="38"/>
                    <a:pt x="79" y="162"/>
                    <a:pt x="107" y="227"/>
                  </a:cubicBezTo>
                  <a:cubicBezTo>
                    <a:pt x="135" y="292"/>
                    <a:pt x="134" y="319"/>
                    <a:pt x="167" y="392"/>
                  </a:cubicBezTo>
                  <a:cubicBezTo>
                    <a:pt x="200" y="465"/>
                    <a:pt x="239" y="604"/>
                    <a:pt x="302" y="662"/>
                  </a:cubicBezTo>
                  <a:cubicBezTo>
                    <a:pt x="365" y="720"/>
                    <a:pt x="475" y="737"/>
                    <a:pt x="542" y="737"/>
                  </a:cubicBezTo>
                  <a:cubicBezTo>
                    <a:pt x="609" y="737"/>
                    <a:pt x="654" y="705"/>
                    <a:pt x="707" y="662"/>
                  </a:cubicBezTo>
                  <a:cubicBezTo>
                    <a:pt x="760" y="619"/>
                    <a:pt x="797" y="539"/>
                    <a:pt x="857" y="482"/>
                  </a:cubicBezTo>
                  <a:cubicBezTo>
                    <a:pt x="917" y="425"/>
                    <a:pt x="985" y="334"/>
                    <a:pt x="1067" y="317"/>
                  </a:cubicBezTo>
                  <a:cubicBezTo>
                    <a:pt x="1149" y="300"/>
                    <a:pt x="1265" y="342"/>
                    <a:pt x="1352" y="377"/>
                  </a:cubicBezTo>
                  <a:cubicBezTo>
                    <a:pt x="1439" y="412"/>
                    <a:pt x="1522" y="485"/>
                    <a:pt x="1592" y="527"/>
                  </a:cubicBezTo>
                  <a:cubicBezTo>
                    <a:pt x="1662" y="569"/>
                    <a:pt x="1704" y="612"/>
                    <a:pt x="1772" y="632"/>
                  </a:cubicBezTo>
                  <a:cubicBezTo>
                    <a:pt x="1840" y="652"/>
                    <a:pt x="1923" y="667"/>
                    <a:pt x="1997" y="647"/>
                  </a:cubicBezTo>
                  <a:cubicBezTo>
                    <a:pt x="2071" y="627"/>
                    <a:pt x="2171" y="538"/>
                    <a:pt x="2217" y="509"/>
                  </a:cubicBezTo>
                </a:path>
              </a:pathLst>
            </a:custGeom>
            <a:noFill/>
            <a:ln w="38160">
              <a:solidFill>
                <a:srgbClr val="0000FF"/>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p:transition>
    <p:random/>
  </p:transition>
  <p:timing>
    <p:tnLst>
      <p:par>
        <p:cTn id="546" dur="indefinite" restart="never" nodeType="tmRoot">
          <p:childTnLst>
            <p:seq>
              <p:cTn id="547" dur="indefinite" nodeType="mainSeq">
                <p:childTnLst>
                  <p:par>
                    <p:cTn id="548" fill="hold" nodeType="clickEffect">
                      <p:stCondLst>
                        <p:cond delay="indefinite"/>
                      </p:stCondLst>
                      <p:childTnLst>
                        <p:par>
                          <p:cTn id="549" fill="hold" nodeType="withEffect">
                            <p:stCondLst>
                              <p:cond delay="0"/>
                            </p:stCondLst>
                            <p:childTnLst>
                              <p:par>
                                <p:cTn id="550" presetID="3" presetClass="entr" fill="hold" nodeType="clickEffect" presetSubtype="10">
                                  <p:stCondLst>
                                    <p:cond delay="0"/>
                                  </p:stCondLst>
                                  <p:childTnLst>
                                    <p:set>
                                      <p:cBhvr>
                                        <p:cTn id="551" dur="1" fill="hold">
                                          <p:stCondLst>
                                            <p:cond delay="0"/>
                                          </p:stCondLst>
                                        </p:cTn>
                                        <p:tgtEl>
                                          <p:spTgt spid="338"/>
                                        </p:tgtEl>
                                        <p:attrNameLst>
                                          <p:attrName>style.visibility</p:attrName>
                                        </p:attrNameLst>
                                      </p:cBhvr>
                                      <p:to>
                                        <p:strVal val="visible"/>
                                      </p:to>
                                    </p:set>
                                    <p:animEffect transition="in" filter="blinds(horizontal)">
                                      <p:cBhvr additive="repl">
                                        <p:cTn id="552" dur="500"/>
                                        <p:tgtEl>
                                          <p:spTgt spid="338"/>
                                        </p:tgtEl>
                                      </p:cBhvr>
                                    </p:animEffect>
                                  </p:childTnLst>
                                </p:cTn>
                              </p:par>
                              <p:par>
                                <p:cTn id="553" presetID="3" presetClass="entr" fill="hold" nodeType="withEffect" presetSubtype="10">
                                  <p:stCondLst>
                                    <p:cond delay="0"/>
                                  </p:stCondLst>
                                  <p:childTnLst>
                                    <p:set>
                                      <p:cBhvr>
                                        <p:cTn id="554" dur="1" fill="hold">
                                          <p:stCondLst>
                                            <p:cond delay="0"/>
                                          </p:stCondLst>
                                        </p:cTn>
                                        <p:tgtEl>
                                          <p:spTgt spid="339"/>
                                        </p:tgtEl>
                                        <p:attrNameLst>
                                          <p:attrName>style.visibility</p:attrName>
                                        </p:attrNameLst>
                                      </p:cBhvr>
                                      <p:to>
                                        <p:strVal val="visible"/>
                                      </p:to>
                                    </p:set>
                                    <p:animEffect transition="in" filter="blinds(horizontal)">
                                      <p:cBhvr additive="repl">
                                        <p:cTn id="555" dur="500"/>
                                        <p:tgtEl>
                                          <p:spTgt spid="339"/>
                                        </p:tgtEl>
                                      </p:cBhvr>
                                    </p:animEffect>
                                  </p:childTnLst>
                                </p:cTn>
                              </p:par>
                            </p:childTnLst>
                          </p:cTn>
                        </p:par>
                      </p:childTnLst>
                    </p:cTn>
                  </p:par>
                  <p:par>
                    <p:cTn id="556" fill="hold" nodeType="clickEffect">
                      <p:stCondLst>
                        <p:cond delay="indefinite"/>
                      </p:stCondLst>
                      <p:childTnLst>
                        <p:par>
                          <p:cTn id="557" fill="hold" nodeType="withEffect">
                            <p:stCondLst>
                              <p:cond delay="0"/>
                            </p:stCondLst>
                            <p:childTnLst>
                              <p:par>
                                <p:cTn id="558" presetID="3" presetClass="entr" fill="hold" nodeType="clickEffect" presetSubtype="10">
                                  <p:stCondLst>
                                    <p:cond delay="0"/>
                                  </p:stCondLst>
                                  <p:childTnLst>
                                    <p:set>
                                      <p:cBhvr>
                                        <p:cTn id="559" dur="1" fill="hold">
                                          <p:stCondLst>
                                            <p:cond delay="0"/>
                                          </p:stCondLst>
                                        </p:cTn>
                                        <p:tgtEl>
                                          <p:spTgt spid="340"/>
                                        </p:tgtEl>
                                        <p:attrNameLst>
                                          <p:attrName>style.visibility</p:attrName>
                                        </p:attrNameLst>
                                      </p:cBhvr>
                                      <p:to>
                                        <p:strVal val="visible"/>
                                      </p:to>
                                    </p:set>
                                    <p:animEffect transition="in" filter="blinds(horizontal)">
                                      <p:cBhvr additive="repl">
                                        <p:cTn id="560" dur="500"/>
                                        <p:tgtEl>
                                          <p:spTgt spid="340"/>
                                        </p:tgtEl>
                                      </p:cBhvr>
                                    </p:animEffect>
                                  </p:childTnLst>
                                </p:cTn>
                              </p:par>
                            </p:childTnLst>
                          </p:cTn>
                        </p:par>
                      </p:childTnLst>
                    </p:cTn>
                  </p:par>
                  <p:par>
                    <p:cTn id="561" fill="hold" nodeType="clickEffect">
                      <p:stCondLst>
                        <p:cond delay="indefinite"/>
                      </p:stCondLst>
                      <p:childTnLst>
                        <p:par>
                          <p:cTn id="562" fill="hold" nodeType="withEffect">
                            <p:stCondLst>
                              <p:cond delay="0"/>
                            </p:stCondLst>
                            <p:childTnLst>
                              <p:par>
                                <p:cTn id="563" presetID="3" presetClass="entr" fill="hold" nodeType="clickEffect" presetSubtype="10">
                                  <p:stCondLst>
                                    <p:cond delay="0"/>
                                  </p:stCondLst>
                                  <p:childTnLst>
                                    <p:set>
                                      <p:cBhvr>
                                        <p:cTn id="564" dur="1" fill="hold">
                                          <p:stCondLst>
                                            <p:cond delay="0"/>
                                          </p:stCondLst>
                                        </p:cTn>
                                        <p:tgtEl>
                                          <p:spTgt spid="345"/>
                                        </p:tgtEl>
                                        <p:attrNameLst>
                                          <p:attrName>style.visibility</p:attrName>
                                        </p:attrNameLst>
                                      </p:cBhvr>
                                      <p:to>
                                        <p:strVal val="visible"/>
                                      </p:to>
                                    </p:set>
                                    <p:animEffect transition="in" filter="blinds(horizontal)">
                                      <p:cBhvr additive="repl">
                                        <p:cTn id="565" dur="500"/>
                                        <p:tgtEl>
                                          <p:spTgt spid="345"/>
                                        </p:tgtEl>
                                      </p:cBhvr>
                                    </p:animEffect>
                                  </p:childTnLst>
                                </p:cTn>
                              </p:par>
                            </p:childTnLst>
                          </p:cTn>
                        </p:par>
                      </p:childTnLst>
                    </p:cTn>
                  </p:par>
                  <p:par>
                    <p:cTn id="566" fill="hold" nodeType="clickEffect">
                      <p:stCondLst>
                        <p:cond delay="indefinite"/>
                      </p:stCondLst>
                      <p:childTnLst>
                        <p:par>
                          <p:cTn id="567" fill="hold" nodeType="withEffect">
                            <p:stCondLst>
                              <p:cond delay="0"/>
                            </p:stCondLst>
                            <p:childTnLst>
                              <p:par>
                                <p:cTn id="568" presetID="3" presetClass="entr" fill="hold" nodeType="clickEffect" presetSubtype="10">
                                  <p:stCondLst>
                                    <p:cond delay="0"/>
                                  </p:stCondLst>
                                  <p:childTnLst>
                                    <p:set>
                                      <p:cBhvr>
                                        <p:cTn id="569" dur="1" fill="hold">
                                          <p:stCondLst>
                                            <p:cond delay="0"/>
                                          </p:stCondLst>
                                        </p:cTn>
                                        <p:tgtEl>
                                          <p:spTgt spid="341"/>
                                        </p:tgtEl>
                                        <p:attrNameLst>
                                          <p:attrName>style.visibility</p:attrName>
                                        </p:attrNameLst>
                                      </p:cBhvr>
                                      <p:to>
                                        <p:strVal val="visible"/>
                                      </p:to>
                                    </p:set>
                                    <p:animEffect transition="in" filter="blinds(horizontal)">
                                      <p:cBhvr additive="repl">
                                        <p:cTn id="570" dur="500"/>
                                        <p:tgtEl>
                                          <p:spTgt spid="341"/>
                                        </p:tgtEl>
                                      </p:cBhvr>
                                    </p:animEffect>
                                  </p:childTnLst>
                                </p:cTn>
                              </p:par>
                            </p:childTnLst>
                          </p:cTn>
                        </p:par>
                      </p:childTnLst>
                    </p:cTn>
                  </p:par>
                  <p:par>
                    <p:cTn id="571" fill="hold" nodeType="clickEffect">
                      <p:stCondLst>
                        <p:cond delay="indefinite"/>
                      </p:stCondLst>
                      <p:childTnLst>
                        <p:par>
                          <p:cTn id="572" fill="hold" nodeType="withEffect">
                            <p:stCondLst>
                              <p:cond delay="0"/>
                            </p:stCondLst>
                            <p:childTnLst>
                              <p:par>
                                <p:cTn id="573" presetID="3" presetClass="entr" fill="hold" nodeType="clickEffect" presetSubtype="10">
                                  <p:stCondLst>
                                    <p:cond delay="0"/>
                                  </p:stCondLst>
                                  <p:childTnLst>
                                    <p:set>
                                      <p:cBhvr>
                                        <p:cTn id="574" dur="1" fill="hold">
                                          <p:stCondLst>
                                            <p:cond delay="0"/>
                                          </p:stCondLst>
                                        </p:cTn>
                                        <p:tgtEl>
                                          <p:spTgt spid="342"/>
                                        </p:tgtEl>
                                        <p:attrNameLst>
                                          <p:attrName>style.visibility</p:attrName>
                                        </p:attrNameLst>
                                      </p:cBhvr>
                                      <p:to>
                                        <p:strVal val="visible"/>
                                      </p:to>
                                    </p:set>
                                    <p:animEffect transition="in" filter="blinds(horizontal)">
                                      <p:cBhvr additive="repl">
                                        <p:cTn id="575" dur="500"/>
                                        <p:tgtEl>
                                          <p:spTgt spid="342"/>
                                        </p:tgtEl>
                                      </p:cBhvr>
                                    </p:animEffect>
                                  </p:childTnLst>
                                </p:cTn>
                              </p:par>
                            </p:childTnLst>
                          </p:cTn>
                        </p:par>
                      </p:childTnLst>
                    </p:cTn>
                  </p:par>
                  <p:par>
                    <p:cTn id="576" fill="hold" nodeType="clickEffect">
                      <p:stCondLst>
                        <p:cond delay="indefinite"/>
                      </p:stCondLst>
                      <p:childTnLst>
                        <p:par>
                          <p:cTn id="577" fill="hold" nodeType="withEffect">
                            <p:stCondLst>
                              <p:cond delay="0"/>
                            </p:stCondLst>
                            <p:childTnLst>
                              <p:par>
                                <p:cTn id="578" presetID="3" presetClass="entr" fill="hold" nodeType="clickEffect" presetSubtype="10">
                                  <p:stCondLst>
                                    <p:cond delay="0"/>
                                  </p:stCondLst>
                                  <p:childTnLst>
                                    <p:set>
                                      <p:cBhvr>
                                        <p:cTn id="579" dur="1" fill="hold">
                                          <p:stCondLst>
                                            <p:cond delay="0"/>
                                          </p:stCondLst>
                                        </p:cTn>
                                        <p:tgtEl>
                                          <p:spTgt spid="344"/>
                                        </p:tgtEl>
                                        <p:attrNameLst>
                                          <p:attrName>style.visibility</p:attrName>
                                        </p:attrNameLst>
                                      </p:cBhvr>
                                      <p:to>
                                        <p:strVal val="visible"/>
                                      </p:to>
                                    </p:set>
                                    <p:animEffect transition="in" filter="blinds(horizontal)">
                                      <p:cBhvr additive="repl">
                                        <p:cTn id="580" dur="500"/>
                                        <p:tgtEl>
                                          <p:spTgt spid="344"/>
                                        </p:tgtEl>
                                      </p:cBhvr>
                                    </p:animEffect>
                                  </p:childTnLst>
                                </p:cTn>
                              </p:par>
                            </p:childTnLst>
                          </p:cTn>
                        </p:par>
                      </p:childTnLst>
                    </p:cTn>
                  </p:par>
                  <p:par>
                    <p:cTn id="581" fill="hold" nodeType="clickEffect">
                      <p:stCondLst>
                        <p:cond delay="indefinite"/>
                      </p:stCondLst>
                      <p:childTnLst>
                        <p:par>
                          <p:cTn id="582" fill="hold" nodeType="withEffect">
                            <p:stCondLst>
                              <p:cond delay="0"/>
                            </p:stCondLst>
                            <p:childTnLst>
                              <p:par>
                                <p:cTn id="583" presetID="3" presetClass="entr" fill="hold" nodeType="clickEffect" presetSubtype="10">
                                  <p:stCondLst>
                                    <p:cond delay="0"/>
                                  </p:stCondLst>
                                  <p:childTnLst>
                                    <p:set>
                                      <p:cBhvr>
                                        <p:cTn id="584" dur="1" fill="hold">
                                          <p:stCondLst>
                                            <p:cond delay="0"/>
                                          </p:stCondLst>
                                        </p:cTn>
                                        <p:tgtEl>
                                          <p:spTgt spid="343"/>
                                        </p:tgtEl>
                                        <p:attrNameLst>
                                          <p:attrName>style.visibility</p:attrName>
                                        </p:attrNameLst>
                                      </p:cBhvr>
                                      <p:to>
                                        <p:strVal val="visible"/>
                                      </p:to>
                                    </p:set>
                                    <p:animEffect transition="in" filter="blinds(horizontal)">
                                      <p:cBhvr additive="repl">
                                        <p:cTn id="585"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Line 4"/>
          <p:cNvSpPr/>
          <p:nvPr/>
        </p:nvSpPr>
        <p:spPr>
          <a:xfrm>
            <a:off x="468360" y="1341360"/>
            <a:ext cx="8064360" cy="0"/>
          </a:xfrm>
          <a:prstGeom prst="line">
            <a:avLst/>
          </a:prstGeom>
          <a:ln w="57240">
            <a:solidFill>
              <a:srgbClr val="31B6FD"/>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373" name="Text Box 6"/>
          <p:cNvSpPr/>
          <p:nvPr/>
        </p:nvSpPr>
        <p:spPr>
          <a:xfrm>
            <a:off x="476280" y="1449360"/>
            <a:ext cx="7785000" cy="86256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Arial"/>
              </a:rPr>
              <a:t>前提：</a:t>
            </a:r>
            <a:r>
              <a:rPr lang="zh-CN" sz="2000" b="1" u="none" strike="noStrike">
                <a:solidFill>
                  <a:srgbClr val="000000"/>
                </a:solidFill>
                <a:effectLst/>
                <a:uFillTx/>
                <a:latin typeface="Arial"/>
              </a:rPr>
              <a:t>系统设计所要满足的性能是由一组频域指标来表</a:t>
            </a:r>
            <a:endParaRPr lang="en-US" sz="2000" b="0" u="none" strike="noStrike">
              <a:solidFill>
                <a:srgbClr val="000000"/>
              </a:solidFill>
              <a:effectLst/>
              <a:uFillTx/>
              <a:latin typeface="Times New Roman"/>
            </a:endParaRPr>
          </a:p>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           示，则通常采用频域校正方法。</a:t>
            </a:r>
            <a:endParaRPr lang="en-US" sz="2000" b="0" u="none" strike="noStrike">
              <a:solidFill>
                <a:srgbClr val="000000"/>
              </a:solidFill>
              <a:effectLst/>
              <a:uFillTx/>
              <a:latin typeface="Times New Roman"/>
            </a:endParaRPr>
          </a:p>
        </p:txBody>
      </p:sp>
      <p:sp>
        <p:nvSpPr>
          <p:cNvPr id="374" name="Rectangle 7"/>
          <p:cNvSpPr/>
          <p:nvPr/>
        </p:nvSpPr>
        <p:spPr>
          <a:xfrm>
            <a:off x="522360" y="2619360"/>
            <a:ext cx="796608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要求：</a:t>
            </a:r>
            <a:r>
              <a:rPr lang="zh-CN" sz="2000" b="1" u="none" strike="noStrike">
                <a:solidFill>
                  <a:srgbClr val="000000"/>
                </a:solidFill>
                <a:effectLst/>
                <a:uFillTx/>
                <a:latin typeface="Times New Roman"/>
              </a:rPr>
              <a:t>依据系统开环对数频率特性，设计满足系统的稳态</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误差、开环截止角频率和相角（或增益）稳定裕度</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等性能要求的串联校正环节。</a:t>
            </a:r>
            <a:endParaRPr lang="en-US" sz="2000" b="0" u="none" strike="noStrike">
              <a:solidFill>
                <a:srgbClr val="000000"/>
              </a:solidFill>
              <a:effectLst/>
              <a:uFillTx/>
              <a:latin typeface="Times New Roman"/>
            </a:endParaRPr>
          </a:p>
        </p:txBody>
      </p:sp>
      <p:sp>
        <p:nvSpPr>
          <p:cNvPr id="375" name="Rectangle 8"/>
          <p:cNvSpPr/>
          <p:nvPr/>
        </p:nvSpPr>
        <p:spPr>
          <a:xfrm>
            <a:off x="611280" y="3968640"/>
            <a:ext cx="287964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原则：</a:t>
            </a:r>
            <a:r>
              <a:rPr lang="zh-CN" sz="2000" b="1" u="none" strike="noStrike">
                <a:solidFill>
                  <a:srgbClr val="000000"/>
                </a:solidFill>
                <a:effectLst/>
                <a:uFillTx/>
                <a:latin typeface="Times New Roman"/>
              </a:rPr>
              <a:t>分频段设计</a:t>
            </a:r>
            <a:endParaRPr lang="en-US" sz="2000" b="0" u="none" strike="noStrike">
              <a:solidFill>
                <a:srgbClr val="000000"/>
              </a:solidFill>
              <a:effectLst/>
              <a:uFillTx/>
              <a:latin typeface="Times New Roman"/>
            </a:endParaRPr>
          </a:p>
        </p:txBody>
      </p:sp>
      <p:sp>
        <p:nvSpPr>
          <p:cNvPr id="376" name="Rectangle 10"/>
          <p:cNvSpPr/>
          <p:nvPr/>
        </p:nvSpPr>
        <p:spPr>
          <a:xfrm>
            <a:off x="1604160" y="4464000"/>
            <a:ext cx="6543360" cy="398880"/>
          </a:xfrm>
          <a:prstGeom prst="rect">
            <a:avLst/>
          </a:prstGeom>
          <a:solidFill>
            <a:srgbClr val="FFCCCC"/>
          </a:solid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低频段：具有较高的增益，满足系统的稳态误差的要求；</a:t>
            </a:r>
            <a:endParaRPr lang="en-US" sz="2000" b="0" u="none" strike="noStrike">
              <a:solidFill>
                <a:srgbClr val="000000"/>
              </a:solidFill>
              <a:effectLst/>
              <a:uFillTx/>
              <a:latin typeface="Times New Roman"/>
            </a:endParaRPr>
          </a:p>
        </p:txBody>
      </p:sp>
      <p:sp>
        <p:nvSpPr>
          <p:cNvPr id="377" name="Rectangle 11"/>
          <p:cNvSpPr/>
          <p:nvPr/>
        </p:nvSpPr>
        <p:spPr>
          <a:xfrm>
            <a:off x="1557360" y="4959360"/>
            <a:ext cx="6767640" cy="703800"/>
          </a:xfrm>
          <a:prstGeom prst="rect">
            <a:avLst/>
          </a:prstGeom>
          <a:solidFill>
            <a:srgbClr val="FFCCCC"/>
          </a:solid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中频段：对数幅频特性的斜率一般为</a:t>
            </a:r>
            <a:r>
              <a:rPr lang="en-US" sz="2000" b="1" u="none" strike="noStrike">
                <a:solidFill>
                  <a:srgbClr val="000000"/>
                </a:solidFill>
                <a:effectLst/>
                <a:uFillTx/>
                <a:latin typeface="Times New Roman"/>
              </a:rPr>
              <a:t>-20dB/dec</a:t>
            </a:r>
            <a:r>
              <a:rPr lang="zh-CN" sz="2000" b="1" u="none" strike="noStrike">
                <a:solidFill>
                  <a:srgbClr val="000000"/>
                </a:solidFill>
                <a:effectLst/>
                <a:uFillTx/>
                <a:latin typeface="Times New Roman"/>
              </a:rPr>
              <a:t>，并占据充分宽的频带，以保证系统具有适当的稳定裕度</a:t>
            </a:r>
            <a:r>
              <a:rPr lang="en-US" sz="2000" b="1"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378" name="Rectangle 12"/>
          <p:cNvSpPr/>
          <p:nvPr/>
        </p:nvSpPr>
        <p:spPr>
          <a:xfrm>
            <a:off x="1640880" y="5815080"/>
            <a:ext cx="5525280" cy="398880"/>
          </a:xfrm>
          <a:prstGeom prst="rect">
            <a:avLst/>
          </a:prstGeom>
          <a:solidFill>
            <a:srgbClr val="FFCCCC"/>
          </a:solid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高频段增益尽快减小，以提高系统的抗噪能力。</a:t>
            </a:r>
            <a:endParaRPr lang="en-US" sz="2000" b="0" u="none" strike="noStrike">
              <a:solidFill>
                <a:srgbClr val="000000"/>
              </a:solidFill>
              <a:effectLst/>
              <a:uFillTx/>
              <a:latin typeface="Times New Roman"/>
            </a:endParaRPr>
          </a:p>
        </p:txBody>
      </p:sp>
    </p:spTree>
  </p:cSld>
  <p:transition>
    <p:random/>
  </p:transition>
  <p:timing>
    <p:tnLst>
      <p:par>
        <p:cTn id="586" dur="indefinite" restart="never" nodeType="tmRoot">
          <p:childTnLst>
            <p:seq>
              <p:cTn id="587" dur="indefinite" nodeType="mainSeq">
                <p:childTnLst>
                  <p:par>
                    <p:cTn id="588" fill="hold" nodeType="clickEffect">
                      <p:stCondLst>
                        <p:cond delay="indefinite"/>
                      </p:stCondLst>
                      <p:childTnLst>
                        <p:par>
                          <p:cTn id="589" fill="hold" nodeType="withEffect">
                            <p:stCondLst>
                              <p:cond delay="0"/>
                            </p:stCondLst>
                            <p:childTnLst>
                              <p:par>
                                <p:cTn id="590" presetID="3" presetClass="entr" fill="hold" nodeType="clickEffect" presetSubtype="10">
                                  <p:stCondLst>
                                    <p:cond delay="0"/>
                                  </p:stCondLst>
                                  <p:childTnLst>
                                    <p:set>
                                      <p:cBhvr>
                                        <p:cTn id="591" dur="1" fill="hold">
                                          <p:stCondLst>
                                            <p:cond delay="0"/>
                                          </p:stCondLst>
                                        </p:cTn>
                                        <p:tgtEl>
                                          <p:spTgt spid="373"/>
                                        </p:tgtEl>
                                        <p:attrNameLst>
                                          <p:attrName>style.visibility</p:attrName>
                                        </p:attrNameLst>
                                      </p:cBhvr>
                                      <p:to>
                                        <p:strVal val="visible"/>
                                      </p:to>
                                    </p:set>
                                    <p:animEffect transition="in" filter="blinds(horizontal)">
                                      <p:cBhvr additive="repl">
                                        <p:cTn id="592" dur="500"/>
                                        <p:tgtEl>
                                          <p:spTgt spid="373"/>
                                        </p:tgtEl>
                                      </p:cBhvr>
                                    </p:animEffect>
                                  </p:childTnLst>
                                </p:cTn>
                              </p:par>
                            </p:childTnLst>
                          </p:cTn>
                        </p:par>
                      </p:childTnLst>
                    </p:cTn>
                  </p:par>
                  <p:par>
                    <p:cTn id="593" fill="hold" nodeType="clickEffect">
                      <p:stCondLst>
                        <p:cond delay="indefinite"/>
                      </p:stCondLst>
                      <p:childTnLst>
                        <p:par>
                          <p:cTn id="594" fill="hold" nodeType="withEffect">
                            <p:stCondLst>
                              <p:cond delay="0"/>
                            </p:stCondLst>
                            <p:childTnLst>
                              <p:par>
                                <p:cTn id="595" presetID="3" presetClass="entr" fill="hold" nodeType="clickEffect" presetSubtype="10">
                                  <p:stCondLst>
                                    <p:cond delay="0"/>
                                  </p:stCondLst>
                                  <p:childTnLst>
                                    <p:set>
                                      <p:cBhvr>
                                        <p:cTn id="596" dur="1" fill="hold">
                                          <p:stCondLst>
                                            <p:cond delay="0"/>
                                          </p:stCondLst>
                                        </p:cTn>
                                        <p:tgtEl>
                                          <p:spTgt spid="374"/>
                                        </p:tgtEl>
                                        <p:attrNameLst>
                                          <p:attrName>style.visibility</p:attrName>
                                        </p:attrNameLst>
                                      </p:cBhvr>
                                      <p:to>
                                        <p:strVal val="visible"/>
                                      </p:to>
                                    </p:set>
                                    <p:animEffect transition="in" filter="blinds(horizontal)">
                                      <p:cBhvr additive="repl">
                                        <p:cTn id="597" dur="500"/>
                                        <p:tgtEl>
                                          <p:spTgt spid="374"/>
                                        </p:tgtEl>
                                      </p:cBhvr>
                                    </p:animEffect>
                                  </p:childTnLst>
                                </p:cTn>
                              </p:par>
                            </p:childTnLst>
                          </p:cTn>
                        </p:par>
                      </p:childTnLst>
                    </p:cTn>
                  </p:par>
                  <p:par>
                    <p:cTn id="598" fill="hold" nodeType="clickEffect">
                      <p:stCondLst>
                        <p:cond delay="indefinite"/>
                      </p:stCondLst>
                      <p:childTnLst>
                        <p:par>
                          <p:cTn id="599" fill="hold" nodeType="withEffect">
                            <p:stCondLst>
                              <p:cond delay="0"/>
                            </p:stCondLst>
                            <p:childTnLst>
                              <p:par>
                                <p:cTn id="600" presetID="3" presetClass="entr" fill="hold" nodeType="clickEffect" presetSubtype="10">
                                  <p:stCondLst>
                                    <p:cond delay="0"/>
                                  </p:stCondLst>
                                  <p:childTnLst>
                                    <p:set>
                                      <p:cBhvr>
                                        <p:cTn id="601" dur="1" fill="hold">
                                          <p:stCondLst>
                                            <p:cond delay="0"/>
                                          </p:stCondLst>
                                        </p:cTn>
                                        <p:tgtEl>
                                          <p:spTgt spid="375"/>
                                        </p:tgtEl>
                                        <p:attrNameLst>
                                          <p:attrName>style.visibility</p:attrName>
                                        </p:attrNameLst>
                                      </p:cBhvr>
                                      <p:to>
                                        <p:strVal val="visible"/>
                                      </p:to>
                                    </p:set>
                                    <p:animEffect transition="in" filter="blinds(horizontal)">
                                      <p:cBhvr additive="repl">
                                        <p:cTn id="602" dur="500"/>
                                        <p:tgtEl>
                                          <p:spTgt spid="375"/>
                                        </p:tgtEl>
                                      </p:cBhvr>
                                    </p:animEffect>
                                  </p:childTnLst>
                                </p:cTn>
                              </p:par>
                            </p:childTnLst>
                          </p:cTn>
                        </p:par>
                      </p:childTnLst>
                    </p:cTn>
                  </p:par>
                  <p:par>
                    <p:cTn id="603" fill="hold" nodeType="clickEffect">
                      <p:stCondLst>
                        <p:cond delay="indefinite"/>
                      </p:stCondLst>
                      <p:childTnLst>
                        <p:par>
                          <p:cTn id="604" fill="hold" nodeType="withEffect">
                            <p:stCondLst>
                              <p:cond delay="0"/>
                            </p:stCondLst>
                            <p:childTnLst>
                              <p:par>
                                <p:cTn id="605" presetID="3" presetClass="entr" fill="hold" nodeType="clickEffect" presetSubtype="10">
                                  <p:stCondLst>
                                    <p:cond delay="0"/>
                                  </p:stCondLst>
                                  <p:childTnLst>
                                    <p:set>
                                      <p:cBhvr>
                                        <p:cTn id="606" dur="1" fill="hold">
                                          <p:stCondLst>
                                            <p:cond delay="0"/>
                                          </p:stCondLst>
                                        </p:cTn>
                                        <p:tgtEl>
                                          <p:spTgt spid="376"/>
                                        </p:tgtEl>
                                        <p:attrNameLst>
                                          <p:attrName>style.visibility</p:attrName>
                                        </p:attrNameLst>
                                      </p:cBhvr>
                                      <p:to>
                                        <p:strVal val="visible"/>
                                      </p:to>
                                    </p:set>
                                    <p:animEffect transition="in" filter="blinds(horizontal)">
                                      <p:cBhvr additive="repl">
                                        <p:cTn id="607" dur="500"/>
                                        <p:tgtEl>
                                          <p:spTgt spid="376"/>
                                        </p:tgtEl>
                                      </p:cBhvr>
                                    </p:animEffect>
                                  </p:childTnLst>
                                </p:cTn>
                              </p:par>
                            </p:childTnLst>
                          </p:cTn>
                        </p:par>
                      </p:childTnLst>
                    </p:cTn>
                  </p:par>
                  <p:par>
                    <p:cTn id="608" fill="hold" nodeType="clickEffect">
                      <p:stCondLst>
                        <p:cond delay="indefinite"/>
                      </p:stCondLst>
                      <p:childTnLst>
                        <p:par>
                          <p:cTn id="609" fill="hold" nodeType="withEffect">
                            <p:stCondLst>
                              <p:cond delay="0"/>
                            </p:stCondLst>
                            <p:childTnLst>
                              <p:par>
                                <p:cTn id="610" presetID="3" presetClass="entr" fill="hold" nodeType="clickEffect" presetSubtype="10">
                                  <p:stCondLst>
                                    <p:cond delay="0"/>
                                  </p:stCondLst>
                                  <p:childTnLst>
                                    <p:set>
                                      <p:cBhvr>
                                        <p:cTn id="611" dur="1" fill="hold">
                                          <p:stCondLst>
                                            <p:cond delay="0"/>
                                          </p:stCondLst>
                                        </p:cTn>
                                        <p:tgtEl>
                                          <p:spTgt spid="377"/>
                                        </p:tgtEl>
                                        <p:attrNameLst>
                                          <p:attrName>style.visibility</p:attrName>
                                        </p:attrNameLst>
                                      </p:cBhvr>
                                      <p:to>
                                        <p:strVal val="visible"/>
                                      </p:to>
                                    </p:set>
                                    <p:animEffect transition="in" filter="blinds(horizontal)">
                                      <p:cBhvr additive="repl">
                                        <p:cTn id="612" dur="500"/>
                                        <p:tgtEl>
                                          <p:spTgt spid="377"/>
                                        </p:tgtEl>
                                      </p:cBhvr>
                                    </p:animEffect>
                                  </p:childTnLst>
                                </p:cTn>
                              </p:par>
                            </p:childTnLst>
                          </p:cTn>
                        </p:par>
                      </p:childTnLst>
                    </p:cTn>
                  </p:par>
                  <p:par>
                    <p:cTn id="613" fill="hold" nodeType="clickEffect">
                      <p:stCondLst>
                        <p:cond delay="indefinite"/>
                      </p:stCondLst>
                      <p:childTnLst>
                        <p:par>
                          <p:cTn id="614" fill="hold" nodeType="withEffect">
                            <p:stCondLst>
                              <p:cond delay="0"/>
                            </p:stCondLst>
                            <p:childTnLst>
                              <p:par>
                                <p:cTn id="615" presetID="3" presetClass="entr" fill="hold" nodeType="clickEffect" presetSubtype="10">
                                  <p:stCondLst>
                                    <p:cond delay="0"/>
                                  </p:stCondLst>
                                  <p:childTnLst>
                                    <p:set>
                                      <p:cBhvr>
                                        <p:cTn id="616" dur="1" fill="hold">
                                          <p:stCondLst>
                                            <p:cond delay="0"/>
                                          </p:stCondLst>
                                        </p:cTn>
                                        <p:tgtEl>
                                          <p:spTgt spid="378"/>
                                        </p:tgtEl>
                                        <p:attrNameLst>
                                          <p:attrName>style.visibility</p:attrName>
                                        </p:attrNameLst>
                                      </p:cBhvr>
                                      <p:to>
                                        <p:strVal val="visible"/>
                                      </p:to>
                                    </p:set>
                                    <p:animEffect transition="in" filter="blinds(horizontal)">
                                      <p:cBhvr additive="repl">
                                        <p:cTn id="617" dur="5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B152B7E-0DEC-4FA8-8663-7D8966FA484A}"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380" name="Rectangle 10"/>
          <p:cNvSpPr/>
          <p:nvPr/>
        </p:nvSpPr>
        <p:spPr>
          <a:xfrm>
            <a:off x="1042920" y="549360"/>
            <a:ext cx="288144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一、串联超前校正</a:t>
            </a:r>
            <a:endParaRPr lang="en-US" sz="2000" b="0" u="none" strike="noStrike">
              <a:solidFill>
                <a:srgbClr val="000000"/>
              </a:solidFill>
              <a:effectLst/>
              <a:uFillTx/>
              <a:latin typeface="Times New Roman"/>
            </a:endParaRPr>
          </a:p>
        </p:txBody>
      </p:sp>
      <p:sp>
        <p:nvSpPr>
          <p:cNvPr id="381" name="Rectangle 13"/>
          <p:cNvSpPr/>
          <p:nvPr/>
        </p:nvSpPr>
        <p:spPr>
          <a:xfrm>
            <a:off x="4211640" y="2352960"/>
            <a:ext cx="4032360" cy="703800"/>
          </a:xfrm>
          <a:prstGeom prst="rect">
            <a:avLst/>
          </a:prstGeom>
          <a:noFill/>
          <a:ln w="9360">
            <a:solidFill>
              <a:srgbClr val="CC99FF"/>
            </a:solidFill>
            <a:miter/>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其对数幅频特性的斜率左右对称，相频特性曲线必也左右对称。</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82" name="Object 12"/>
              <p:cNvSpPr txBox="1"/>
              <p:nvPr/>
            </p:nvSpPr>
            <p:spPr>
              <a:xfrm>
                <a:off x="1692360" y="1052640"/>
                <a:ext cx="2879640" cy="68868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r>
                          <m:t xml:space="preserve">α</m:t>
                        </m:r>
                        <m:r>
                          <m:rPr>
                            <m:lit/>
                            <m:nor/>
                          </m:rPr>
                          <m:t xml:space="preserve">Ts</m:t>
                        </m:r>
                        <m:r>
                          <m:t xml:space="preserve">+</m:t>
                        </m:r>
                        <m:r>
                          <m:t xml:space="preserve">1</m:t>
                        </m:r>
                      </m:num>
                      <m:den>
                        <m:r>
                          <m:rPr>
                            <m:lit/>
                            <m:nor/>
                          </m:rPr>
                          <m:t xml:space="preserve">Ts</m:t>
                        </m:r>
                        <m:r>
                          <m:t xml:space="preserve">+</m:t>
                        </m:r>
                        <m:r>
                          <m:t xml:space="preserve">1</m:t>
                        </m:r>
                      </m:den>
                    </m:f>
                    <m:r>
                      <m:t xml:space="preserve">,</m:t>
                    </m:r>
                    <m:r>
                      <m:t xml:space="preserve"> </m:t>
                    </m:r>
                    <m:r>
                      <m:t xml:space="preserve">(</m:t>
                    </m:r>
                    <m:r>
                      <m:t xml:space="preserve">α</m:t>
                    </m:r>
                    <m:r>
                      <m:t xml:space="preserve">&gt;</m:t>
                    </m:r>
                    <m:r>
                      <m:t xml:space="preserve">1</m:t>
                    </m:r>
                    <m:r>
                      <m:t xml:space="preserve">)</m:t>
                    </m:r>
                  </m:oMath>
                </a14:m>
              </a:p>
            </p:txBody>
          </p:sp>
        </mc:Choice>
        <mc:Fallback>
          <p:sp>
            <p:nvSpPr>
              <p:cNvPr id="382" name="Object 12"/>
              <p:cNvSpPr txBox="1"/>
              <p:nvPr/>
            </p:nvSpPr>
            <p:spPr>
              <a:xfrm>
                <a:off x="1692360" y="1052640"/>
                <a:ext cx="2879640" cy="688680"/>
              </a:xfrm>
              <a:prstGeom prst="rect">
                <a:avLst/>
              </a:prstGeom>
              <a:blipFill>
                <a:blip r:embed="rId1"/>
                <a:stretch>
                  <a:fillRect/>
                </a:stretch>
              </a:blipFill>
            </p:spPr>
          </p:sp>
        </mc:Fallback>
      </mc:AlternateContent>
      <mc:AlternateContent>
        <mc:Choice xmlns:a14="http://schemas.microsoft.com/office/drawing/2010/main" Requires="a14">
          <p:sp>
            <p:nvSpPr>
              <p:cNvPr id="383" name="Object 16"/>
              <p:cNvSpPr txBox="1"/>
              <p:nvPr/>
            </p:nvSpPr>
            <p:spPr>
              <a:xfrm>
                <a:off x="4211640" y="1773360"/>
                <a:ext cx="3857760" cy="403200"/>
              </a:xfrm>
              <a:prstGeom prst="rect">
                <a:avLst/>
              </a:prstGeom>
            </p:spPr>
            <p:txBody>
              <a:bodyPr/>
              <a:p>
                <a14:m>
                  <m:oMath xmlns:m="http://schemas.openxmlformats.org/officeDocument/2006/math">
                    <m:r>
                      <m:t xml:space="preserve">θ</m:t>
                    </m:r>
                    <m:r>
                      <m:t xml:space="preserve">(</m:t>
                    </m:r>
                    <m:r>
                      <m:t xml:space="preserve">ω</m:t>
                    </m:r>
                    <m:r>
                      <m:t xml:space="preserve">)</m:t>
                    </m:r>
                    <m:r>
                      <m:t xml:space="preserve">=</m:t>
                    </m:r>
                    <m:r>
                      <m:rPr>
                        <m:lit/>
                        <m:nor/>
                      </m:rPr>
                      <m:t xml:space="preserve">arctan</m:t>
                    </m:r>
                    <m:r>
                      <m:t xml:space="preserve">αTω</m:t>
                    </m:r>
                    <m:r>
                      <m:t xml:space="preserve">−</m:t>
                    </m:r>
                    <m:r>
                      <m:rPr>
                        <m:lit/>
                        <m:nor/>
                      </m:rPr>
                      <m:t xml:space="preserve">arctan</m:t>
                    </m:r>
                    <m:r>
                      <m:t xml:space="preserve">Tω</m:t>
                    </m:r>
                  </m:oMath>
                </a14:m>
              </a:p>
            </p:txBody>
          </p:sp>
        </mc:Choice>
        <mc:Fallback>
          <p:sp>
            <p:nvSpPr>
              <p:cNvPr id="383" name="Object 16"/>
              <p:cNvSpPr txBox="1"/>
              <p:nvPr/>
            </p:nvSpPr>
            <p:spPr>
              <a:xfrm>
                <a:off x="4211640" y="1773360"/>
                <a:ext cx="3857760" cy="403200"/>
              </a:xfrm>
              <a:prstGeom prst="rect">
                <a:avLst/>
              </a:prstGeom>
              <a:blipFill>
                <a:blip r:embed="rId2"/>
                <a:stretch>
                  <a:fillRect/>
                </a:stretch>
              </a:blipFill>
            </p:spPr>
          </p:sp>
        </mc:Fallback>
      </mc:AlternateContent>
      <p:graphicFrame>
        <p:nvGraphicFramePr>
          <p:cNvPr id="384" name="Object 19"/>
          <p:cNvGraphicFramePr/>
          <p:nvPr/>
        </p:nvGraphicFramePr>
        <p:xfrm>
          <a:off x="250920" y="1844640"/>
          <a:ext cx="3600360" cy="2376360"/>
        </p:xfrm>
        <a:graphic>
          <a:graphicData uri="http://schemas.openxmlformats.org/presentationml/2006/ole">
            <p:oleObj r:id="rId3" spid="">
              <p:embed/>
              <p:pic>
                <p:nvPicPr>
                  <p:cNvPr id="385" name="Object 19"/>
                  <p:cNvPicPr/>
                  <p:nvPr/>
                </p:nvPicPr>
                <p:blipFill>
                  <a:blip r:embed="rId4"/>
                  <a:stretch/>
                </p:blipFill>
                <p:spPr>
                  <a:xfrm>
                    <a:off x="250920" y="1844640"/>
                    <a:ext cx="3600360" cy="2376360"/>
                  </a:xfrm>
                  <a:prstGeom prst="rect">
                    <a:avLst/>
                  </a:prstGeom>
                  <a:solidFill>
                    <a:srgbClr val="CCFFCC"/>
                  </a:solidFill>
                  <a:ln w="0">
                    <a:noFill/>
                  </a:ln>
                </p:spPr>
              </p:pic>
            </p:oleObj>
          </a:graphicData>
        </a:graphic>
      </p:graphicFrame>
      <p:sp>
        <p:nvSpPr>
          <p:cNvPr id="386" name="Rectangle 21"/>
          <p:cNvSpPr/>
          <p:nvPr/>
        </p:nvSpPr>
        <p:spPr>
          <a:xfrm>
            <a:off x="324000" y="1125360"/>
            <a:ext cx="129528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传递函数</a:t>
            </a:r>
            <a:endParaRPr lang="en-US" sz="2000" b="0" u="none" strike="noStrike">
              <a:solidFill>
                <a:srgbClr val="000000"/>
              </a:solidFill>
              <a:effectLst/>
              <a:uFillTx/>
              <a:latin typeface="Times New Roman"/>
            </a:endParaRPr>
          </a:p>
        </p:txBody>
      </p:sp>
      <p:sp>
        <p:nvSpPr>
          <p:cNvPr id="387" name="Rectangle 22"/>
          <p:cNvSpPr/>
          <p:nvPr/>
        </p:nvSpPr>
        <p:spPr>
          <a:xfrm>
            <a:off x="4859280" y="1197000"/>
            <a:ext cx="151308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相频特性</a:t>
            </a:r>
            <a:endParaRPr lang="en-US" sz="2000" b="0" u="none" strike="noStrike">
              <a:solidFill>
                <a:srgbClr val="000000"/>
              </a:solidFill>
              <a:effectLst/>
              <a:uFillTx/>
              <a:latin typeface="Times New Roman"/>
            </a:endParaRPr>
          </a:p>
        </p:txBody>
      </p:sp>
      <p:sp>
        <p:nvSpPr>
          <p:cNvPr id="388" name="Rectangle 23"/>
          <p:cNvSpPr/>
          <p:nvPr/>
        </p:nvSpPr>
        <p:spPr>
          <a:xfrm>
            <a:off x="4150800" y="3213000"/>
            <a:ext cx="425268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最大相移点必位于对数频率的中心点</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89" name="Object 24"/>
              <p:cNvSpPr txBox="1"/>
              <p:nvPr/>
            </p:nvSpPr>
            <p:spPr>
              <a:xfrm>
                <a:off x="5651640" y="3500280"/>
                <a:ext cx="1152360" cy="668520"/>
              </a:xfrm>
              <a:prstGeom prst="rect">
                <a:avLst/>
              </a:prstGeom>
            </p:spPr>
            <p:txBody>
              <a:bodyPr/>
              <a:p>
                <a14:m>
                  <m:oMath xmlns:m="http://schemas.openxmlformats.org/officeDocument/2006/math">
                    <m:sSub>
                      <m:e>
                        <m:r>
                          <m:t xml:space="preserve">ω</m:t>
                        </m:r>
                      </m:e>
                      <m:sub>
                        <m:r>
                          <m:t xml:space="preserve">m</m:t>
                        </m:r>
                      </m:sub>
                    </m:sSub>
                    <m:r>
                      <m:t xml:space="preserve">=</m:t>
                    </m:r>
                    <m:f>
                      <m:num>
                        <m:r>
                          <m:t xml:space="preserve">1</m:t>
                        </m:r>
                      </m:num>
                      <m:den>
                        <m:rad>
                          <m:radPr>
                            <m:degHide m:val="1"/>
                          </m:radPr>
                          <m:deg/>
                          <m:e>
                            <m:r>
                              <m:t xml:space="preserve">α</m:t>
                            </m:r>
                          </m:e>
                        </m:rad>
                        <m:r>
                          <m:t xml:space="preserve">T</m:t>
                        </m:r>
                      </m:den>
                    </m:f>
                  </m:oMath>
                </a14:m>
              </a:p>
            </p:txBody>
          </p:sp>
        </mc:Choice>
        <mc:Fallback>
          <p:sp>
            <p:nvSpPr>
              <p:cNvPr id="389" name="Object 24"/>
              <p:cNvSpPr txBox="1"/>
              <p:nvPr/>
            </p:nvSpPr>
            <p:spPr>
              <a:xfrm>
                <a:off x="5651640" y="3500280"/>
                <a:ext cx="1152360" cy="668520"/>
              </a:xfrm>
              <a:prstGeom prst="rect">
                <a:avLst/>
              </a:prstGeom>
              <a:blipFill>
                <a:blip r:embed="rId5"/>
                <a:stretch>
                  <a:fillRect/>
                </a:stretch>
              </a:blipFill>
            </p:spPr>
          </p:sp>
        </mc:Fallback>
      </mc:AlternateContent>
      <p:sp>
        <p:nvSpPr>
          <p:cNvPr id="390" name="Rectangle 25"/>
          <p:cNvSpPr/>
          <p:nvPr/>
        </p:nvSpPr>
        <p:spPr>
          <a:xfrm>
            <a:off x="399600" y="4292640"/>
            <a:ext cx="14533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最大相移量</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391" name="Object 26"/>
              <p:cNvSpPr txBox="1"/>
              <p:nvPr/>
            </p:nvSpPr>
            <p:spPr>
              <a:xfrm>
                <a:off x="1908000" y="4149720"/>
                <a:ext cx="4248360" cy="741240"/>
              </a:xfrm>
              <a:prstGeom prst="rect">
                <a:avLst/>
              </a:prstGeom>
            </p:spPr>
            <p:txBody>
              <a:bodyPr/>
              <a:p>
                <a14:m>
                  <m:oMath xmlns:m="http://schemas.openxmlformats.org/officeDocument/2006/math">
                    <m:sSub>
                      <m:e>
                        <m:r>
                          <m:t xml:space="preserve">θ</m:t>
                        </m:r>
                      </m:e>
                      <m:sub>
                        <m:r>
                          <m:rPr>
                            <m:lit/>
                            <m:nor/>
                          </m:rPr>
                          <m:t xml:space="preserve">max</m:t>
                        </m:r>
                      </m:sub>
                    </m:sSub>
                    <m:r>
                      <m:t xml:space="preserve">=</m:t>
                    </m:r>
                    <m:r>
                      <m:t xml:space="preserve">θ</m:t>
                    </m:r>
                    <m:r>
                      <m:t xml:space="preserve">(</m:t>
                    </m:r>
                    <m:sSub>
                      <m:e>
                        <m:r>
                          <m:t xml:space="preserve">ω</m:t>
                        </m:r>
                      </m:e>
                      <m:sub>
                        <m:r>
                          <m:t xml:space="preserve">m</m:t>
                        </m:r>
                      </m:sub>
                    </m:sSub>
                    <m:r>
                      <m:t xml:space="preserve">)</m:t>
                    </m:r>
                    <m:r>
                      <m:t xml:space="preserve">=</m:t>
                    </m:r>
                    <m:r>
                      <m:rPr>
                        <m:lit/>
                        <m:nor/>
                      </m:rPr>
                      <m:t xml:space="preserve">arctan</m:t>
                    </m:r>
                    <m:rad>
                      <m:radPr>
                        <m:degHide m:val="1"/>
                      </m:radPr>
                      <m:deg/>
                      <m:e>
                        <m:r>
                          <m:t xml:space="preserve">α</m:t>
                        </m:r>
                      </m:e>
                    </m:rad>
                    <m:r>
                      <m:t xml:space="preserve">−</m:t>
                    </m:r>
                    <m:r>
                      <m:rPr>
                        <m:lit/>
                        <m:nor/>
                      </m:rPr>
                      <m:t xml:space="preserve">arctan</m:t>
                    </m:r>
                    <m:f>
                      <m:num>
                        <m:r>
                          <m:t xml:space="preserve">1</m:t>
                        </m:r>
                      </m:num>
                      <m:den>
                        <m:rad>
                          <m:radPr>
                            <m:degHide m:val="1"/>
                          </m:radPr>
                          <m:deg/>
                          <m:e>
                            <m:r>
                              <m:t xml:space="preserve">α</m:t>
                            </m:r>
                          </m:e>
                        </m:rad>
                      </m:den>
                    </m:f>
                  </m:oMath>
                </a14:m>
              </a:p>
            </p:txBody>
          </p:sp>
        </mc:Choice>
        <mc:Fallback>
          <p:sp>
            <p:nvSpPr>
              <p:cNvPr id="391" name="Object 26"/>
              <p:cNvSpPr txBox="1"/>
              <p:nvPr/>
            </p:nvSpPr>
            <p:spPr>
              <a:xfrm>
                <a:off x="1908000" y="4149720"/>
                <a:ext cx="4248360" cy="741240"/>
              </a:xfrm>
              <a:prstGeom prst="rect">
                <a:avLst/>
              </a:prstGeom>
              <a:blipFill>
                <a:blip r:embed="rId6"/>
                <a:stretch>
                  <a:fillRect/>
                </a:stretch>
              </a:blipFill>
            </p:spPr>
          </p:sp>
        </mc:Fallback>
      </mc:AlternateContent>
      <mc:AlternateContent>
        <mc:Choice xmlns:a14="http://schemas.microsoft.com/office/drawing/2010/main" Requires="a14">
          <p:sp>
            <p:nvSpPr>
              <p:cNvPr id="392" name="Object 29"/>
              <p:cNvSpPr txBox="1"/>
              <p:nvPr/>
            </p:nvSpPr>
            <p:spPr>
              <a:xfrm>
                <a:off x="1116000" y="5084640"/>
                <a:ext cx="6443640" cy="1227240"/>
              </a:xfrm>
              <a:prstGeom prst="rect">
                <a:avLst/>
              </a:prstGeom>
            </p:spPr>
            <p:txBody>
              <a:bodyPr/>
              <a:p>
                <a14:m>
                  <m:oMath xmlns:m="http://schemas.openxmlformats.org/officeDocument/2006/math">
                    <m:eqArr>
                      <m:e>
                        <m:r>
                          <m:rPr>
                            <m:lit/>
                            <m:nor/>
                          </m:rPr>
                          <m:t xml:space="preserve">sin</m:t>
                        </m:r>
                        <m:sSub>
                          <m:e>
                            <m:r>
                              <m:t xml:space="preserve">θ</m:t>
                            </m:r>
                          </m:e>
                          <m:sub>
                            <m:r>
                              <m:t xml:space="preserve">m</m:t>
                            </m:r>
                          </m:sub>
                        </m:sSub>
                        <m:r>
                          <m:t xml:space="preserve">=</m:t>
                        </m:r>
                        <m:r>
                          <m:rPr>
                            <m:lit/>
                            <m:nor/>
                          </m:rPr>
                          <m:t xml:space="preserve">sin</m:t>
                        </m:r>
                        <m:r>
                          <m:t xml:space="preserve">(</m:t>
                        </m:r>
                        <m:sSub>
                          <m:e>
                            <m:r>
                              <m:t xml:space="preserve">θ</m:t>
                            </m:r>
                          </m:e>
                          <m:sub>
                            <m:r>
                              <m:t xml:space="preserve">1</m:t>
                            </m:r>
                          </m:sub>
                        </m:sSub>
                        <m:r>
                          <m:t xml:space="preserve">−</m:t>
                        </m:r>
                        <m:sSub>
                          <m:e>
                            <m:r>
                              <m:t xml:space="preserve">θ</m:t>
                            </m:r>
                          </m:e>
                          <m:sub>
                            <m:r>
                              <m:t xml:space="preserve">2</m:t>
                            </m:r>
                          </m:sub>
                        </m:sSub>
                        <m:r>
                          <m:t xml:space="preserve">)</m:t>
                        </m:r>
                        <m:r>
                          <m:t xml:space="preserve">=</m:t>
                        </m:r>
                        <m:r>
                          <m:rPr>
                            <m:lit/>
                            <m:nor/>
                          </m:rPr>
                          <m:t xml:space="preserve">sin</m:t>
                        </m:r>
                        <m:sSub>
                          <m:e>
                            <m:r>
                              <m:t xml:space="preserve">θ</m:t>
                            </m:r>
                          </m:e>
                          <m:sub>
                            <m:r>
                              <m:t xml:space="preserve">1</m:t>
                            </m:r>
                          </m:sub>
                        </m:sSub>
                        <m:r>
                          <m:rPr>
                            <m:lit/>
                            <m:nor/>
                          </m:rPr>
                          <m:t xml:space="preserve">cos</m:t>
                        </m:r>
                        <m:sSub>
                          <m:e>
                            <m:r>
                              <m:t xml:space="preserve">θ</m:t>
                            </m:r>
                          </m:e>
                          <m:sub>
                            <m:r>
                              <m:t xml:space="preserve">2</m:t>
                            </m:r>
                          </m:sub>
                        </m:sSub>
                        <m:r>
                          <m:t xml:space="preserve">−</m:t>
                        </m:r>
                        <m:r>
                          <m:rPr>
                            <m:lit/>
                            <m:nor/>
                          </m:rPr>
                          <m:t xml:space="preserve">cos</m:t>
                        </m:r>
                        <m:sSub>
                          <m:e>
                            <m:r>
                              <m:t xml:space="preserve">θ</m:t>
                            </m:r>
                          </m:e>
                          <m:sub>
                            <m:r>
                              <m:t xml:space="preserve">1</m:t>
                            </m:r>
                          </m:sub>
                        </m:sSub>
                        <m:r>
                          <m:rPr>
                            <m:lit/>
                            <m:nor/>
                          </m:rPr>
                          <m:t xml:space="preserve">sin</m:t>
                        </m:r>
                        <m:sSub>
                          <m:e>
                            <m:r>
                              <m:t xml:space="preserve">θ</m:t>
                            </m:r>
                          </m:e>
                          <m:sub>
                            <m:r>
                              <m:t xml:space="preserve">2</m:t>
                            </m:r>
                          </m:sub>
                        </m:sSub>
                      </m:e>
                      <m:e>
                        <m:r>
                          <m:t xml:space="preserve"> </m:t>
                        </m:r>
                        <m:r>
                          <m:t xml:space="preserve">=</m:t>
                        </m:r>
                        <m:f>
                          <m:num>
                            <m:rad>
                              <m:radPr>
                                <m:degHide m:val="1"/>
                              </m:radPr>
                              <m:deg/>
                              <m:e>
                                <m:r>
                                  <m:t xml:space="preserve">α</m:t>
                                </m:r>
                              </m:e>
                            </m:rad>
                          </m:num>
                          <m:den>
                            <m:rad>
                              <m:radPr>
                                <m:degHide m:val="1"/>
                              </m:radPr>
                              <m:deg/>
                              <m:e>
                                <m:r>
                                  <m:t xml:space="preserve">α</m:t>
                                </m:r>
                                <m:r>
                                  <m:t xml:space="preserve">+</m:t>
                                </m:r>
                                <m:r>
                                  <m:t xml:space="preserve">1</m:t>
                                </m:r>
                              </m:e>
                            </m:rad>
                          </m:den>
                        </m:f>
                        <m:f>
                          <m:num>
                            <m:rad>
                              <m:radPr>
                                <m:degHide m:val="1"/>
                              </m:radPr>
                              <m:deg/>
                              <m:e>
                                <m:r>
                                  <m:t xml:space="preserve">α</m:t>
                                </m:r>
                              </m:e>
                            </m:rad>
                          </m:num>
                          <m:den>
                            <m:rad>
                              <m:radPr>
                                <m:degHide m:val="1"/>
                              </m:radPr>
                              <m:deg/>
                              <m:e>
                                <m:r>
                                  <m:t xml:space="preserve">α</m:t>
                                </m:r>
                                <m:r>
                                  <m:t xml:space="preserve">+</m:t>
                                </m:r>
                                <m:r>
                                  <m:t xml:space="preserve">1</m:t>
                                </m:r>
                              </m:e>
                            </m:rad>
                          </m:den>
                        </m:f>
                        <m:r>
                          <m:t xml:space="preserve">−</m:t>
                        </m:r>
                        <m:f>
                          <m:num>
                            <m:r>
                              <m:t xml:space="preserve">1</m:t>
                            </m:r>
                          </m:num>
                          <m:den>
                            <m:rad>
                              <m:radPr>
                                <m:degHide m:val="1"/>
                              </m:radPr>
                              <m:deg/>
                              <m:e>
                                <m:r>
                                  <m:t xml:space="preserve">α</m:t>
                                </m:r>
                                <m:r>
                                  <m:t xml:space="preserve">+</m:t>
                                </m:r>
                                <m:r>
                                  <m:t xml:space="preserve">1</m:t>
                                </m:r>
                              </m:e>
                            </m:rad>
                          </m:den>
                        </m:f>
                        <m:f>
                          <m:num>
                            <m:r>
                              <m:t xml:space="preserve">1</m:t>
                            </m:r>
                          </m:num>
                          <m:den>
                            <m:rad>
                              <m:radPr>
                                <m:degHide m:val="1"/>
                              </m:radPr>
                              <m:deg/>
                              <m:e>
                                <m:r>
                                  <m:t xml:space="preserve">α</m:t>
                                </m:r>
                                <m:r>
                                  <m:t xml:space="preserve">+</m:t>
                                </m:r>
                                <m:r>
                                  <m:t xml:space="preserve">1</m:t>
                                </m:r>
                              </m:e>
                            </m:rad>
                          </m:den>
                        </m:f>
                        <m:r>
                          <m:t xml:space="preserve">=</m:t>
                        </m:r>
                        <m:f>
                          <m:num>
                            <m:r>
                              <m:t xml:space="preserve">α</m:t>
                            </m:r>
                            <m:r>
                              <m:t xml:space="preserve">−</m:t>
                            </m:r>
                            <m:r>
                              <m:t xml:space="preserve">1</m:t>
                            </m:r>
                          </m:num>
                          <m:den>
                            <m:r>
                              <m:t xml:space="preserve">α</m:t>
                            </m:r>
                            <m:r>
                              <m:t xml:space="preserve">+</m:t>
                            </m:r>
                            <m:r>
                              <m:t xml:space="preserve">1</m:t>
                            </m:r>
                          </m:den>
                        </m:f>
                      </m:e>
                    </m:eqArr>
                  </m:oMath>
                </a14:m>
              </a:p>
            </p:txBody>
          </p:sp>
        </mc:Choice>
        <mc:Fallback>
          <p:sp>
            <p:nvSpPr>
              <p:cNvPr id="392" name="Object 29"/>
              <p:cNvSpPr txBox="1"/>
              <p:nvPr/>
            </p:nvSpPr>
            <p:spPr>
              <a:xfrm>
                <a:off x="1116000" y="5084640"/>
                <a:ext cx="6443640" cy="1227240"/>
              </a:xfrm>
              <a:prstGeom prst="rect">
                <a:avLst/>
              </a:prstGeom>
              <a:blipFill>
                <a:blip r:embed="rId7"/>
                <a:stretch>
                  <a:fillRect/>
                </a:stretch>
              </a:blipFill>
            </p:spPr>
          </p:sp>
        </mc:Fallback>
      </mc:AlternateContent>
      <p:grpSp>
        <p:nvGrpSpPr>
          <p:cNvPr id="393" name="Group 37"/>
          <p:cNvGrpSpPr/>
          <p:nvPr/>
        </p:nvGrpSpPr>
        <p:grpSpPr>
          <a:xfrm>
            <a:off x="4076640" y="3789360"/>
            <a:ext cx="576000" cy="431640"/>
            <a:chOff x="4076640" y="3789360"/>
            <a:chExt cx="576000" cy="431640"/>
          </a:xfrm>
        </p:grpSpPr>
        <mc:AlternateContent>
          <mc:Choice xmlns:a14="http://schemas.microsoft.com/office/drawing/2010/main" Requires="a14">
            <p:sp>
              <p:nvSpPr>
                <p:cNvPr id="394" name="Object 30"/>
                <p:cNvSpPr txBox="1"/>
                <p:nvPr/>
              </p:nvSpPr>
              <p:spPr>
                <a:xfrm>
                  <a:off x="4221000" y="3789360"/>
                  <a:ext cx="304920" cy="431640"/>
                </a:xfrm>
                <a:prstGeom prst="rect">
                  <a:avLst/>
                </a:prstGeom>
              </p:spPr>
              <p:txBody>
                <a:bodyPr/>
                <a:p>
                  <a14:m>
                    <m:oMath xmlns:m="http://schemas.openxmlformats.org/officeDocument/2006/math">
                      <m:sSub>
                        <m:e>
                          <m:r>
                            <m:t xml:space="preserve">θ</m:t>
                          </m:r>
                        </m:e>
                        <m:sub>
                          <m:r>
                            <m:t xml:space="preserve">1</m:t>
                          </m:r>
                        </m:sub>
                      </m:sSub>
                    </m:oMath>
                  </a14:m>
                </a:p>
              </p:txBody>
            </p:sp>
          </mc:Choice>
          <mc:Fallback>
            <p:sp>
              <p:nvSpPr>
                <p:cNvPr id="394" name="Object 30"/>
                <p:cNvSpPr txBox="1"/>
                <p:nvPr/>
              </p:nvSpPr>
              <p:spPr>
                <a:xfrm>
                  <a:off x="4221000" y="3789360"/>
                  <a:ext cx="304920" cy="431640"/>
                </a:xfrm>
                <a:prstGeom prst="rect">
                  <a:avLst/>
                </a:prstGeom>
                <a:blipFill>
                  <a:blip r:embed="rId8"/>
                  <a:stretch>
                    <a:fillRect/>
                  </a:stretch>
                </a:blipFill>
              </p:spPr>
            </p:sp>
          </mc:Fallback>
        </mc:AlternateContent>
        <p:sp>
          <p:nvSpPr>
            <p:cNvPr id="395" name="AutoShape 34"/>
            <p:cNvSpPr/>
            <p:nvPr/>
          </p:nvSpPr>
          <p:spPr>
            <a:xfrm>
              <a:off x="4076640" y="3860640"/>
              <a:ext cx="576000" cy="360360"/>
            </a:xfrm>
            <a:prstGeom prst="wedgeRoundRectCallout">
              <a:avLst>
                <a:gd name="adj1" fmla="val -41458"/>
                <a:gd name="adj2" fmla="val 65861"/>
                <a:gd name="adj3" fmla="val 16667"/>
              </a:avLst>
            </a:prstGeom>
            <a:noFill/>
            <a:ln w="9360">
              <a:solidFill>
                <a:srgbClr val="008080"/>
              </a:solidFill>
              <a:miter/>
            </a:ln>
          </p:spPr>
          <p:style>
            <a:lnRef idx="0"/>
            <a:fillRef idx="0"/>
            <a:effectRef idx="0"/>
            <a:fontRef idx="minor"/>
          </p:style>
          <p:txBody>
            <a:bodyPr lIns="90000" tIns="46800" rIns="90000" bIns="46800" anchor="t">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396" name="Group 38"/>
          <p:cNvGrpSpPr/>
          <p:nvPr/>
        </p:nvGrpSpPr>
        <p:grpSpPr>
          <a:xfrm>
            <a:off x="6443640" y="4292640"/>
            <a:ext cx="576360" cy="431640"/>
            <a:chOff x="6443640" y="4292640"/>
            <a:chExt cx="576360" cy="431640"/>
          </a:xfrm>
        </p:grpSpPr>
        <mc:AlternateContent>
          <mc:Choice xmlns:a14="http://schemas.microsoft.com/office/drawing/2010/main" Requires="a14">
            <p:sp>
              <p:nvSpPr>
                <p:cNvPr id="397" name="Object 35"/>
                <p:cNvSpPr txBox="1"/>
                <p:nvPr/>
              </p:nvSpPr>
              <p:spPr>
                <a:xfrm>
                  <a:off x="6588000" y="4292640"/>
                  <a:ext cx="301680" cy="395280"/>
                </a:xfrm>
                <a:prstGeom prst="rect">
                  <a:avLst/>
                </a:prstGeom>
              </p:spPr>
              <p:txBody>
                <a:bodyPr/>
                <a:p>
                  <a14:m>
                    <m:oMath xmlns:m="http://schemas.openxmlformats.org/officeDocument/2006/math">
                      <m:sSub>
                        <m:e>
                          <m:r>
                            <m:t xml:space="preserve">θ</m:t>
                          </m:r>
                        </m:e>
                        <m:sub>
                          <m:r>
                            <m:t xml:space="preserve">2</m:t>
                          </m:r>
                        </m:sub>
                      </m:sSub>
                    </m:oMath>
                  </a14:m>
                </a:p>
              </p:txBody>
            </p:sp>
          </mc:Choice>
          <mc:Fallback>
            <p:sp>
              <p:nvSpPr>
                <p:cNvPr id="397" name="Object 35"/>
                <p:cNvSpPr txBox="1"/>
                <p:nvPr/>
              </p:nvSpPr>
              <p:spPr>
                <a:xfrm>
                  <a:off x="6588000" y="4292640"/>
                  <a:ext cx="301680" cy="395280"/>
                </a:xfrm>
                <a:prstGeom prst="rect">
                  <a:avLst/>
                </a:prstGeom>
                <a:blipFill>
                  <a:blip r:embed="rId9"/>
                  <a:stretch>
                    <a:fillRect/>
                  </a:stretch>
                </a:blipFill>
              </p:spPr>
            </p:sp>
          </mc:Fallback>
        </mc:AlternateContent>
        <p:sp>
          <p:nvSpPr>
            <p:cNvPr id="398" name="AutoShape 36"/>
            <p:cNvSpPr/>
            <p:nvPr/>
          </p:nvSpPr>
          <p:spPr>
            <a:xfrm>
              <a:off x="6443640" y="4292640"/>
              <a:ext cx="576360" cy="431640"/>
            </a:xfrm>
            <a:prstGeom prst="wedgeRoundRectCallout">
              <a:avLst>
                <a:gd name="adj1" fmla="val -99310"/>
                <a:gd name="adj2" fmla="val -365"/>
                <a:gd name="adj3" fmla="val 16667"/>
              </a:avLst>
            </a:prstGeom>
            <a:noFill/>
            <a:ln w="9360">
              <a:solidFill>
                <a:srgbClr val="008080"/>
              </a:solidFill>
              <a:miter/>
            </a:ln>
          </p:spPr>
          <p:style>
            <a:lnRef idx="0"/>
            <a:fillRef idx="0"/>
            <a:effectRef idx="0"/>
            <a:fontRef idx="minor"/>
          </p:style>
          <p:txBody>
            <a:bodyPr lIns="90000" tIns="46800" rIns="90000" bIns="46800" anchor="t">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399" name="AutoShape 39"/>
          <p:cNvSpPr/>
          <p:nvPr/>
        </p:nvSpPr>
        <p:spPr>
          <a:xfrm>
            <a:off x="3995640" y="4724280"/>
            <a:ext cx="289080" cy="360360"/>
          </a:xfrm>
          <a:prstGeom prst="downArrow">
            <a:avLst>
              <a:gd name="adj1" fmla="val 50000"/>
              <a:gd name="adj2" fmla="val 31164"/>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Tree>
  </p:cSld>
  <p:transition>
    <p:random/>
  </p:transition>
  <p:timing>
    <p:tnLst>
      <p:par>
        <p:cTn id="618" dur="indefinite" restart="never" nodeType="tmRoot">
          <p:childTnLst>
            <p:seq>
              <p:cTn id="619" dur="indefinite" nodeType="mainSeq">
                <p:childTnLst>
                  <p:par>
                    <p:cTn id="620" fill="hold" nodeType="clickEffect">
                      <p:stCondLst>
                        <p:cond delay="indefinite"/>
                      </p:stCondLst>
                      <p:childTnLst>
                        <p:par>
                          <p:cTn id="621" fill="hold" nodeType="withEffect">
                            <p:stCondLst>
                              <p:cond delay="0"/>
                            </p:stCondLst>
                            <p:childTnLst>
                              <p:par>
                                <p:cTn id="622" presetID="3" presetClass="entr" fill="hold" nodeType="clickEffect" presetSubtype="10">
                                  <p:stCondLst>
                                    <p:cond delay="0"/>
                                  </p:stCondLst>
                                  <p:childTnLst>
                                    <p:set>
                                      <p:cBhvr>
                                        <p:cTn id="623" dur="1" fill="hold">
                                          <p:stCondLst>
                                            <p:cond delay="0"/>
                                          </p:stCondLst>
                                        </p:cTn>
                                        <p:tgtEl>
                                          <p:spTgt spid="380"/>
                                        </p:tgtEl>
                                        <p:attrNameLst>
                                          <p:attrName>style.visibility</p:attrName>
                                        </p:attrNameLst>
                                      </p:cBhvr>
                                      <p:to>
                                        <p:strVal val="visible"/>
                                      </p:to>
                                    </p:set>
                                    <p:animEffect transition="in" filter="blinds(horizontal)">
                                      <p:cBhvr additive="repl">
                                        <p:cTn id="624" dur="500"/>
                                        <p:tgtEl>
                                          <p:spTgt spid="380"/>
                                        </p:tgtEl>
                                      </p:cBhvr>
                                    </p:animEffect>
                                  </p:childTnLst>
                                </p:cTn>
                              </p:par>
                            </p:childTnLst>
                          </p:cTn>
                        </p:par>
                      </p:childTnLst>
                    </p:cTn>
                  </p:par>
                  <p:par>
                    <p:cTn id="625" fill="hold" nodeType="clickEffect">
                      <p:stCondLst>
                        <p:cond delay="indefinite"/>
                      </p:stCondLst>
                      <p:childTnLst>
                        <p:par>
                          <p:cTn id="626" fill="hold" nodeType="withEffect">
                            <p:stCondLst>
                              <p:cond delay="0"/>
                            </p:stCondLst>
                            <p:childTnLst>
                              <p:par>
                                <p:cTn id="627" presetID="3" presetClass="entr" fill="hold" nodeType="clickEffect" presetSubtype="10">
                                  <p:stCondLst>
                                    <p:cond delay="0"/>
                                  </p:stCondLst>
                                  <p:childTnLst>
                                    <p:set>
                                      <p:cBhvr>
                                        <p:cTn id="628" dur="1" fill="hold">
                                          <p:stCondLst>
                                            <p:cond delay="0"/>
                                          </p:stCondLst>
                                        </p:cTn>
                                        <p:tgtEl>
                                          <p:spTgt spid="382"/>
                                        </p:tgtEl>
                                        <p:attrNameLst>
                                          <p:attrName>style.visibility</p:attrName>
                                        </p:attrNameLst>
                                      </p:cBhvr>
                                      <p:to>
                                        <p:strVal val="visible"/>
                                      </p:to>
                                    </p:set>
                                    <p:animEffect transition="in" filter="blinds(horizontal)">
                                      <p:cBhvr additive="repl">
                                        <p:cTn id="629" dur="500"/>
                                        <p:tgtEl>
                                          <p:spTgt spid="382"/>
                                        </p:tgtEl>
                                      </p:cBhvr>
                                    </p:animEffect>
                                  </p:childTnLst>
                                </p:cTn>
                              </p:par>
                              <p:par>
                                <p:cTn id="630" presetID="3" presetClass="entr" fill="hold" nodeType="withEffect" presetSubtype="10">
                                  <p:stCondLst>
                                    <p:cond delay="0"/>
                                  </p:stCondLst>
                                  <p:childTnLst>
                                    <p:set>
                                      <p:cBhvr>
                                        <p:cTn id="631" dur="1" fill="hold">
                                          <p:stCondLst>
                                            <p:cond delay="0"/>
                                          </p:stCondLst>
                                        </p:cTn>
                                        <p:tgtEl>
                                          <p:spTgt spid="386"/>
                                        </p:tgtEl>
                                        <p:attrNameLst>
                                          <p:attrName>style.visibility</p:attrName>
                                        </p:attrNameLst>
                                      </p:cBhvr>
                                      <p:to>
                                        <p:strVal val="visible"/>
                                      </p:to>
                                    </p:set>
                                    <p:animEffect transition="in" filter="blinds(horizontal)">
                                      <p:cBhvr additive="repl">
                                        <p:cTn id="632" dur="500"/>
                                        <p:tgtEl>
                                          <p:spTgt spid="386"/>
                                        </p:tgtEl>
                                      </p:cBhvr>
                                    </p:animEffect>
                                  </p:childTnLst>
                                </p:cTn>
                              </p:par>
                            </p:childTnLst>
                          </p:cTn>
                        </p:par>
                      </p:childTnLst>
                    </p:cTn>
                  </p:par>
                  <p:par>
                    <p:cTn id="633" fill="hold" nodeType="clickEffect">
                      <p:stCondLst>
                        <p:cond delay="indefinite"/>
                      </p:stCondLst>
                      <p:childTnLst>
                        <p:par>
                          <p:cTn id="634" fill="hold" nodeType="withEffect">
                            <p:stCondLst>
                              <p:cond delay="0"/>
                            </p:stCondLst>
                            <p:childTnLst>
                              <p:par>
                                <p:cTn id="635" presetID="3" presetClass="entr" fill="hold" nodeType="clickEffect" presetSubtype="10">
                                  <p:stCondLst>
                                    <p:cond delay="0"/>
                                  </p:stCondLst>
                                  <p:childTnLst>
                                    <p:set>
                                      <p:cBhvr>
                                        <p:cTn id="636" dur="1" fill="hold">
                                          <p:stCondLst>
                                            <p:cond delay="0"/>
                                          </p:stCondLst>
                                        </p:cTn>
                                        <p:tgtEl>
                                          <p:spTgt spid="384"/>
                                        </p:tgtEl>
                                        <p:attrNameLst>
                                          <p:attrName>style.visibility</p:attrName>
                                        </p:attrNameLst>
                                      </p:cBhvr>
                                      <p:to>
                                        <p:strVal val="visible"/>
                                      </p:to>
                                    </p:set>
                                    <p:animEffect transition="in" filter="blinds(horizontal)">
                                      <p:cBhvr additive="repl">
                                        <p:cTn id="637" dur="500"/>
                                        <p:tgtEl>
                                          <p:spTgt spid="384"/>
                                        </p:tgtEl>
                                      </p:cBhvr>
                                    </p:animEffect>
                                  </p:childTnLst>
                                </p:cTn>
                              </p:par>
                            </p:childTnLst>
                          </p:cTn>
                        </p:par>
                      </p:childTnLst>
                    </p:cTn>
                  </p:par>
                  <p:par>
                    <p:cTn id="638" fill="hold" nodeType="clickEffect">
                      <p:stCondLst>
                        <p:cond delay="indefinite"/>
                      </p:stCondLst>
                      <p:childTnLst>
                        <p:par>
                          <p:cTn id="639" fill="hold" nodeType="withEffect">
                            <p:stCondLst>
                              <p:cond delay="0"/>
                            </p:stCondLst>
                            <p:childTnLst>
                              <p:par>
                                <p:cTn id="640" presetID="3" presetClass="entr" fill="hold" nodeType="clickEffect" presetSubtype="10">
                                  <p:stCondLst>
                                    <p:cond delay="0"/>
                                  </p:stCondLst>
                                  <p:childTnLst>
                                    <p:set>
                                      <p:cBhvr>
                                        <p:cTn id="641" dur="1" fill="hold">
                                          <p:stCondLst>
                                            <p:cond delay="0"/>
                                          </p:stCondLst>
                                        </p:cTn>
                                        <p:tgtEl>
                                          <p:spTgt spid="383"/>
                                        </p:tgtEl>
                                        <p:attrNameLst>
                                          <p:attrName>style.visibility</p:attrName>
                                        </p:attrNameLst>
                                      </p:cBhvr>
                                      <p:to>
                                        <p:strVal val="visible"/>
                                      </p:to>
                                    </p:set>
                                    <p:animEffect transition="in" filter="blinds(horizontal)">
                                      <p:cBhvr additive="repl">
                                        <p:cTn id="642" dur="500"/>
                                        <p:tgtEl>
                                          <p:spTgt spid="383"/>
                                        </p:tgtEl>
                                      </p:cBhvr>
                                    </p:animEffect>
                                  </p:childTnLst>
                                </p:cTn>
                              </p:par>
                              <p:par>
                                <p:cTn id="643" presetID="3" presetClass="entr" fill="hold" nodeType="withEffect" presetSubtype="10">
                                  <p:stCondLst>
                                    <p:cond delay="0"/>
                                  </p:stCondLst>
                                  <p:childTnLst>
                                    <p:set>
                                      <p:cBhvr>
                                        <p:cTn id="644" dur="1" fill="hold">
                                          <p:stCondLst>
                                            <p:cond delay="0"/>
                                          </p:stCondLst>
                                        </p:cTn>
                                        <p:tgtEl>
                                          <p:spTgt spid="387"/>
                                        </p:tgtEl>
                                        <p:attrNameLst>
                                          <p:attrName>style.visibility</p:attrName>
                                        </p:attrNameLst>
                                      </p:cBhvr>
                                      <p:to>
                                        <p:strVal val="visible"/>
                                      </p:to>
                                    </p:set>
                                    <p:animEffect transition="in" filter="blinds(horizontal)">
                                      <p:cBhvr additive="repl">
                                        <p:cTn id="645" dur="500"/>
                                        <p:tgtEl>
                                          <p:spTgt spid="387"/>
                                        </p:tgtEl>
                                      </p:cBhvr>
                                    </p:animEffect>
                                  </p:childTnLst>
                                </p:cTn>
                              </p:par>
                            </p:childTnLst>
                          </p:cTn>
                        </p:par>
                      </p:childTnLst>
                    </p:cTn>
                  </p:par>
                  <p:par>
                    <p:cTn id="646" fill="hold" nodeType="clickEffect">
                      <p:stCondLst>
                        <p:cond delay="indefinite"/>
                      </p:stCondLst>
                      <p:childTnLst>
                        <p:par>
                          <p:cTn id="647" fill="hold" nodeType="withEffect">
                            <p:stCondLst>
                              <p:cond delay="0"/>
                            </p:stCondLst>
                            <p:childTnLst>
                              <p:par>
                                <p:cTn id="648" presetID="3" presetClass="entr" fill="hold" nodeType="clickEffect" presetSubtype="10">
                                  <p:stCondLst>
                                    <p:cond delay="0"/>
                                  </p:stCondLst>
                                  <p:childTnLst>
                                    <p:set>
                                      <p:cBhvr>
                                        <p:cTn id="649" dur="1" fill="hold">
                                          <p:stCondLst>
                                            <p:cond delay="0"/>
                                          </p:stCondLst>
                                        </p:cTn>
                                        <p:tgtEl>
                                          <p:spTgt spid="381"/>
                                        </p:tgtEl>
                                        <p:attrNameLst>
                                          <p:attrName>style.visibility</p:attrName>
                                        </p:attrNameLst>
                                      </p:cBhvr>
                                      <p:to>
                                        <p:strVal val="visible"/>
                                      </p:to>
                                    </p:set>
                                    <p:animEffect transition="in" filter="blinds(horizontal)">
                                      <p:cBhvr additive="repl">
                                        <p:cTn id="650" dur="500"/>
                                        <p:tgtEl>
                                          <p:spTgt spid="381"/>
                                        </p:tgtEl>
                                      </p:cBhvr>
                                    </p:animEffect>
                                  </p:childTnLst>
                                </p:cTn>
                              </p:par>
                            </p:childTnLst>
                          </p:cTn>
                        </p:par>
                      </p:childTnLst>
                    </p:cTn>
                  </p:par>
                  <p:par>
                    <p:cTn id="651" fill="hold" nodeType="clickEffect">
                      <p:stCondLst>
                        <p:cond delay="indefinite"/>
                      </p:stCondLst>
                      <p:childTnLst>
                        <p:par>
                          <p:cTn id="652" fill="hold" nodeType="withEffect">
                            <p:stCondLst>
                              <p:cond delay="0"/>
                            </p:stCondLst>
                            <p:childTnLst>
                              <p:par>
                                <p:cTn id="653" presetID="3" presetClass="entr" fill="hold" nodeType="clickEffect" presetSubtype="10">
                                  <p:stCondLst>
                                    <p:cond delay="0"/>
                                  </p:stCondLst>
                                  <p:childTnLst>
                                    <p:set>
                                      <p:cBhvr>
                                        <p:cTn id="654" dur="1" fill="hold">
                                          <p:stCondLst>
                                            <p:cond delay="0"/>
                                          </p:stCondLst>
                                        </p:cTn>
                                        <p:tgtEl>
                                          <p:spTgt spid="388"/>
                                        </p:tgtEl>
                                        <p:attrNameLst>
                                          <p:attrName>style.visibility</p:attrName>
                                        </p:attrNameLst>
                                      </p:cBhvr>
                                      <p:to>
                                        <p:strVal val="visible"/>
                                      </p:to>
                                    </p:set>
                                    <p:animEffect transition="in" filter="blinds(horizontal)">
                                      <p:cBhvr additive="repl">
                                        <p:cTn id="655" dur="500"/>
                                        <p:tgtEl>
                                          <p:spTgt spid="388"/>
                                        </p:tgtEl>
                                      </p:cBhvr>
                                    </p:animEffect>
                                  </p:childTnLst>
                                </p:cTn>
                              </p:par>
                              <p:par>
                                <p:cTn id="656" presetID="3" presetClass="entr" fill="hold" nodeType="withEffect" presetSubtype="10">
                                  <p:stCondLst>
                                    <p:cond delay="0"/>
                                  </p:stCondLst>
                                  <p:childTnLst>
                                    <p:set>
                                      <p:cBhvr>
                                        <p:cTn id="657" dur="1" fill="hold">
                                          <p:stCondLst>
                                            <p:cond delay="0"/>
                                          </p:stCondLst>
                                        </p:cTn>
                                        <p:tgtEl>
                                          <p:spTgt spid="389"/>
                                        </p:tgtEl>
                                        <p:attrNameLst>
                                          <p:attrName>style.visibility</p:attrName>
                                        </p:attrNameLst>
                                      </p:cBhvr>
                                      <p:to>
                                        <p:strVal val="visible"/>
                                      </p:to>
                                    </p:set>
                                    <p:animEffect transition="in" filter="blinds(horizontal)">
                                      <p:cBhvr additive="repl">
                                        <p:cTn id="658" dur="500"/>
                                        <p:tgtEl>
                                          <p:spTgt spid="389"/>
                                        </p:tgtEl>
                                      </p:cBhvr>
                                    </p:animEffect>
                                  </p:childTnLst>
                                </p:cTn>
                              </p:par>
                            </p:childTnLst>
                          </p:cTn>
                        </p:par>
                      </p:childTnLst>
                    </p:cTn>
                  </p:par>
                  <p:par>
                    <p:cTn id="659" fill="hold" nodeType="clickEffect">
                      <p:stCondLst>
                        <p:cond delay="indefinite"/>
                      </p:stCondLst>
                      <p:childTnLst>
                        <p:par>
                          <p:cTn id="660" fill="hold" nodeType="withEffect">
                            <p:stCondLst>
                              <p:cond delay="0"/>
                            </p:stCondLst>
                            <p:childTnLst>
                              <p:par>
                                <p:cTn id="661" presetID="3" presetClass="entr" fill="hold" nodeType="clickEffect" presetSubtype="10">
                                  <p:stCondLst>
                                    <p:cond delay="0"/>
                                  </p:stCondLst>
                                  <p:childTnLst>
                                    <p:set>
                                      <p:cBhvr>
                                        <p:cTn id="662" dur="1" fill="hold">
                                          <p:stCondLst>
                                            <p:cond delay="0"/>
                                          </p:stCondLst>
                                        </p:cTn>
                                        <p:tgtEl>
                                          <p:spTgt spid="390"/>
                                        </p:tgtEl>
                                        <p:attrNameLst>
                                          <p:attrName>style.visibility</p:attrName>
                                        </p:attrNameLst>
                                      </p:cBhvr>
                                      <p:to>
                                        <p:strVal val="visible"/>
                                      </p:to>
                                    </p:set>
                                    <p:animEffect transition="in" filter="blinds(horizontal)">
                                      <p:cBhvr additive="repl">
                                        <p:cTn id="663" dur="500"/>
                                        <p:tgtEl>
                                          <p:spTgt spid="390"/>
                                        </p:tgtEl>
                                      </p:cBhvr>
                                    </p:animEffect>
                                  </p:childTnLst>
                                </p:cTn>
                              </p:par>
                              <p:par>
                                <p:cTn id="664" presetID="3" presetClass="entr" fill="hold" nodeType="withEffect" presetSubtype="10">
                                  <p:stCondLst>
                                    <p:cond delay="0"/>
                                  </p:stCondLst>
                                  <p:childTnLst>
                                    <p:set>
                                      <p:cBhvr>
                                        <p:cTn id="665" dur="1" fill="hold">
                                          <p:stCondLst>
                                            <p:cond delay="0"/>
                                          </p:stCondLst>
                                        </p:cTn>
                                        <p:tgtEl>
                                          <p:spTgt spid="391"/>
                                        </p:tgtEl>
                                        <p:attrNameLst>
                                          <p:attrName>style.visibility</p:attrName>
                                        </p:attrNameLst>
                                      </p:cBhvr>
                                      <p:to>
                                        <p:strVal val="visible"/>
                                      </p:to>
                                    </p:set>
                                    <p:animEffect transition="in" filter="blinds(horizontal)">
                                      <p:cBhvr additive="repl">
                                        <p:cTn id="666" dur="500"/>
                                        <p:tgtEl>
                                          <p:spTgt spid="391"/>
                                        </p:tgtEl>
                                      </p:cBhvr>
                                    </p:animEffect>
                                  </p:childTnLst>
                                </p:cTn>
                              </p:par>
                            </p:childTnLst>
                          </p:cTn>
                        </p:par>
                      </p:childTnLst>
                    </p:cTn>
                  </p:par>
                  <p:par>
                    <p:cTn id="667" fill="hold" nodeType="clickEffect">
                      <p:stCondLst>
                        <p:cond delay="indefinite"/>
                      </p:stCondLst>
                      <p:childTnLst>
                        <p:par>
                          <p:cTn id="668" fill="hold" nodeType="withEffect">
                            <p:stCondLst>
                              <p:cond delay="0"/>
                            </p:stCondLst>
                            <p:childTnLst>
                              <p:par>
                                <p:cTn id="669" presetID="3" presetClass="entr" fill="hold" nodeType="clickEffect" presetSubtype="10">
                                  <p:stCondLst>
                                    <p:cond delay="0"/>
                                  </p:stCondLst>
                                  <p:childTnLst>
                                    <p:set>
                                      <p:cBhvr>
                                        <p:cTn id="670" dur="1" fill="hold">
                                          <p:stCondLst>
                                            <p:cond delay="0"/>
                                          </p:stCondLst>
                                        </p:cTn>
                                        <p:tgtEl>
                                          <p:spTgt spid="393"/>
                                        </p:tgtEl>
                                        <p:attrNameLst>
                                          <p:attrName>style.visibility</p:attrName>
                                        </p:attrNameLst>
                                      </p:cBhvr>
                                      <p:to>
                                        <p:strVal val="visible"/>
                                      </p:to>
                                    </p:set>
                                    <p:animEffect transition="in" filter="blinds(horizontal)">
                                      <p:cBhvr additive="repl">
                                        <p:cTn id="671" dur="500"/>
                                        <p:tgtEl>
                                          <p:spTgt spid="393"/>
                                        </p:tgtEl>
                                      </p:cBhvr>
                                    </p:animEffect>
                                  </p:childTnLst>
                                </p:cTn>
                              </p:par>
                              <p:par>
                                <p:cTn id="672" presetID="3" presetClass="entr" fill="hold" nodeType="withEffect" presetSubtype="10">
                                  <p:stCondLst>
                                    <p:cond delay="0"/>
                                  </p:stCondLst>
                                  <p:childTnLst>
                                    <p:set>
                                      <p:cBhvr>
                                        <p:cTn id="673" dur="1" fill="hold">
                                          <p:stCondLst>
                                            <p:cond delay="0"/>
                                          </p:stCondLst>
                                        </p:cTn>
                                        <p:tgtEl>
                                          <p:spTgt spid="396"/>
                                        </p:tgtEl>
                                        <p:attrNameLst>
                                          <p:attrName>style.visibility</p:attrName>
                                        </p:attrNameLst>
                                      </p:cBhvr>
                                      <p:to>
                                        <p:strVal val="visible"/>
                                      </p:to>
                                    </p:set>
                                    <p:animEffect transition="in" filter="blinds(horizontal)">
                                      <p:cBhvr additive="repl">
                                        <p:cTn id="674" dur="500"/>
                                        <p:tgtEl>
                                          <p:spTgt spid="396"/>
                                        </p:tgtEl>
                                      </p:cBhvr>
                                    </p:animEffect>
                                  </p:childTnLst>
                                </p:cTn>
                              </p:par>
                            </p:childTnLst>
                          </p:cTn>
                        </p:par>
                      </p:childTnLst>
                    </p:cTn>
                  </p:par>
                  <p:par>
                    <p:cTn id="675" fill="hold" nodeType="clickEffect">
                      <p:stCondLst>
                        <p:cond delay="indefinite"/>
                      </p:stCondLst>
                      <p:childTnLst>
                        <p:par>
                          <p:cTn id="676" fill="hold" nodeType="withEffect">
                            <p:stCondLst>
                              <p:cond delay="0"/>
                            </p:stCondLst>
                            <p:childTnLst>
                              <p:par>
                                <p:cTn id="677" presetID="3" presetClass="entr" fill="hold" nodeType="clickEffect" presetSubtype="10">
                                  <p:stCondLst>
                                    <p:cond delay="0"/>
                                  </p:stCondLst>
                                  <p:childTnLst>
                                    <p:set>
                                      <p:cBhvr>
                                        <p:cTn id="678" dur="1" fill="hold">
                                          <p:stCondLst>
                                            <p:cond delay="0"/>
                                          </p:stCondLst>
                                        </p:cTn>
                                        <p:tgtEl>
                                          <p:spTgt spid="392"/>
                                        </p:tgtEl>
                                        <p:attrNameLst>
                                          <p:attrName>style.visibility</p:attrName>
                                        </p:attrNameLst>
                                      </p:cBhvr>
                                      <p:to>
                                        <p:strVal val="visible"/>
                                      </p:to>
                                    </p:set>
                                    <p:animEffect transition="in" filter="blinds(horizontal)">
                                      <p:cBhvr additive="repl">
                                        <p:cTn id="679" dur="500"/>
                                        <p:tgtEl>
                                          <p:spTgt spid="392"/>
                                        </p:tgtEl>
                                      </p:cBhvr>
                                    </p:animEffect>
                                  </p:childTnLst>
                                </p:cTn>
                              </p:par>
                              <p:par>
                                <p:cTn id="680" presetID="3" presetClass="entr" fill="hold" nodeType="withEffect" presetSubtype="10">
                                  <p:stCondLst>
                                    <p:cond delay="0"/>
                                  </p:stCondLst>
                                  <p:childTnLst>
                                    <p:set>
                                      <p:cBhvr>
                                        <p:cTn id="681" dur="1" fill="hold">
                                          <p:stCondLst>
                                            <p:cond delay="0"/>
                                          </p:stCondLst>
                                        </p:cTn>
                                        <p:tgtEl>
                                          <p:spTgt spid="399"/>
                                        </p:tgtEl>
                                        <p:attrNameLst>
                                          <p:attrName>style.visibility</p:attrName>
                                        </p:attrNameLst>
                                      </p:cBhvr>
                                      <p:to>
                                        <p:strVal val="visible"/>
                                      </p:to>
                                    </p:set>
                                    <p:animEffect transition="in" filter="blinds(horizontal)">
                                      <p:cBhvr additive="repl">
                                        <p:cTn id="682" dur="5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DEFF2B9-35D3-4E27-9C55-8C0BB22D4D78}"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mc:AlternateContent>
        <mc:Choice xmlns:a14="http://schemas.microsoft.com/office/drawing/2010/main" Requires="a14">
          <p:sp>
            <p:nvSpPr>
              <p:cNvPr id="401" name="Object 15"/>
              <p:cNvSpPr txBox="1"/>
              <p:nvPr/>
            </p:nvSpPr>
            <p:spPr>
              <a:xfrm>
                <a:off x="2004840" y="549360"/>
                <a:ext cx="2030760" cy="787320"/>
              </a:xfrm>
              <a:prstGeom prst="rect">
                <a:avLst/>
              </a:prstGeom>
            </p:spPr>
            <p:txBody>
              <a:bodyPr/>
              <a:p>
                <a14:m>
                  <m:oMath xmlns:m="http://schemas.openxmlformats.org/officeDocument/2006/math">
                    <m:r>
                      <m:t xml:space="preserve">θ</m:t>
                    </m:r>
                    <m:r>
                      <m:t xml:space="preserve">=</m:t>
                    </m:r>
                    <m:r>
                      <m:rPr>
                        <m:lit/>
                        <m:nor/>
                      </m:rPr>
                      <m:t xml:space="preserve">arcsin</m:t>
                    </m:r>
                    <m:f>
                      <m:num>
                        <m:r>
                          <m:t xml:space="preserve">α</m:t>
                        </m:r>
                        <m:r>
                          <m:t xml:space="preserve">−</m:t>
                        </m:r>
                        <m:r>
                          <m:t xml:space="preserve">1</m:t>
                        </m:r>
                      </m:num>
                      <m:den>
                        <m:r>
                          <m:t xml:space="preserve">α</m:t>
                        </m:r>
                        <m:r>
                          <m:t xml:space="preserve">+</m:t>
                        </m:r>
                        <m:r>
                          <m:t xml:space="preserve">1</m:t>
                        </m:r>
                      </m:den>
                    </m:f>
                  </m:oMath>
                </a14:m>
              </a:p>
            </p:txBody>
          </p:sp>
        </mc:Choice>
        <mc:Fallback>
          <p:sp>
            <p:nvSpPr>
              <p:cNvPr id="401" name="Object 15"/>
              <p:cNvSpPr txBox="1"/>
              <p:nvPr/>
            </p:nvSpPr>
            <p:spPr>
              <a:xfrm>
                <a:off x="2004840" y="549360"/>
                <a:ext cx="2030760" cy="787320"/>
              </a:xfrm>
              <a:prstGeom prst="rect">
                <a:avLst/>
              </a:prstGeom>
              <a:blipFill>
                <a:blip r:embed="rId1"/>
                <a:stretch>
                  <a:fillRect/>
                </a:stretch>
              </a:blipFill>
            </p:spPr>
          </p:sp>
        </mc:Fallback>
      </mc:AlternateContent>
      <mc:AlternateContent>
        <mc:Choice xmlns:a14="http://schemas.microsoft.com/office/drawing/2010/main" Requires="a14">
          <p:sp>
            <p:nvSpPr>
              <p:cNvPr id="402" name="Object 16"/>
              <p:cNvSpPr txBox="1"/>
              <p:nvPr/>
            </p:nvSpPr>
            <p:spPr>
              <a:xfrm>
                <a:off x="4859280" y="549360"/>
                <a:ext cx="1725840" cy="863640"/>
              </a:xfrm>
              <a:prstGeom prst="rect">
                <a:avLst/>
              </a:prstGeom>
            </p:spPr>
            <p:txBody>
              <a:bodyPr/>
              <a:p>
                <a14:m>
                  <m:oMath xmlns:m="http://schemas.openxmlformats.org/officeDocument/2006/math">
                    <m:r>
                      <m:t xml:space="preserve">α</m:t>
                    </m:r>
                    <m:r>
                      <m:t xml:space="preserve">=</m:t>
                    </m:r>
                    <m:f>
                      <m:num>
                        <m:r>
                          <m:t xml:space="preserve">1</m:t>
                        </m:r>
                        <m:r>
                          <m:t xml:space="preserve">+</m:t>
                        </m:r>
                        <m:r>
                          <m:rPr>
                            <m:lit/>
                            <m:nor/>
                          </m:rPr>
                          <m:t xml:space="preserve">sin</m:t>
                        </m:r>
                        <m:sSub>
                          <m:e>
                            <m:r>
                              <m:t xml:space="preserve">θ</m:t>
                            </m:r>
                          </m:e>
                          <m:sub>
                            <m:r>
                              <m:t xml:space="preserve">m</m:t>
                            </m:r>
                          </m:sub>
                        </m:sSub>
                      </m:num>
                      <m:den>
                        <m:r>
                          <m:t xml:space="preserve">1</m:t>
                        </m:r>
                        <m:r>
                          <m:t xml:space="preserve">−</m:t>
                        </m:r>
                        <m:r>
                          <m:rPr>
                            <m:lit/>
                            <m:nor/>
                          </m:rPr>
                          <m:t xml:space="preserve">sin</m:t>
                        </m:r>
                        <m:sSub>
                          <m:e>
                            <m:r>
                              <m:t xml:space="preserve">θ</m:t>
                            </m:r>
                          </m:e>
                          <m:sub>
                            <m:r>
                              <m:t xml:space="preserve">m</m:t>
                            </m:r>
                          </m:sub>
                        </m:sSub>
                      </m:den>
                    </m:f>
                  </m:oMath>
                </a14:m>
              </a:p>
            </p:txBody>
          </p:sp>
        </mc:Choice>
        <mc:Fallback>
          <p:sp>
            <p:nvSpPr>
              <p:cNvPr id="402" name="Object 16"/>
              <p:cNvSpPr txBox="1"/>
              <p:nvPr/>
            </p:nvSpPr>
            <p:spPr>
              <a:xfrm>
                <a:off x="4859280" y="549360"/>
                <a:ext cx="1725840" cy="863640"/>
              </a:xfrm>
              <a:prstGeom prst="rect">
                <a:avLst/>
              </a:prstGeom>
              <a:blipFill>
                <a:blip r:embed="rId2"/>
                <a:stretch>
                  <a:fillRect/>
                </a:stretch>
              </a:blipFill>
            </p:spPr>
          </p:sp>
        </mc:Fallback>
      </mc:AlternateContent>
      <p:grpSp>
        <p:nvGrpSpPr>
          <p:cNvPr id="403" name="Group 55"/>
          <p:cNvGrpSpPr/>
          <p:nvPr/>
        </p:nvGrpSpPr>
        <p:grpSpPr>
          <a:xfrm>
            <a:off x="6372360" y="3716280"/>
            <a:ext cx="2447640" cy="720720"/>
            <a:chOff x="6372360" y="3716280"/>
            <a:chExt cx="2447640" cy="720720"/>
          </a:xfrm>
        </p:grpSpPr>
        <p:sp>
          <p:nvSpPr>
            <p:cNvPr id="404" name="AutoShape 49"/>
            <p:cNvSpPr/>
            <p:nvPr/>
          </p:nvSpPr>
          <p:spPr>
            <a:xfrm>
              <a:off x="6372360" y="3716280"/>
              <a:ext cx="2447640" cy="720720"/>
            </a:xfrm>
            <a:prstGeom prst="wedgeRoundRectCallout">
              <a:avLst>
                <a:gd name="adj1" fmla="val -74449"/>
                <a:gd name="adj2" fmla="val -51101"/>
                <a:gd name="adj3" fmla="val 16667"/>
              </a:avLst>
            </a:prstGeom>
            <a:solidFill>
              <a:srgbClr val="FFCCCC"/>
            </a:solidFill>
            <a:ln w="9360">
              <a:solidFill>
                <a:srgbClr val="000000"/>
              </a:solidFill>
              <a:miter/>
            </a:ln>
          </p:spPr>
          <p:style>
            <a:lnRef idx="0"/>
            <a:fillRef idx="0"/>
            <a:effectRef idx="0"/>
            <a:fontRef idx="minor"/>
          </p:style>
          <p:txBody>
            <a:bodyPr lIns="90000" tIns="46800" rIns="90000" bIns="46800" anchor="t">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注意：     的选择要有相当的余量</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05" name="Object 17"/>
                <p:cNvSpPr txBox="1"/>
                <p:nvPr/>
              </p:nvSpPr>
              <p:spPr>
                <a:xfrm>
                  <a:off x="7380360" y="3716280"/>
                  <a:ext cx="380880" cy="457200"/>
                </a:xfrm>
                <a:prstGeom prst="rect">
                  <a:avLst/>
                </a:prstGeom>
              </p:spPr>
              <p:txBody>
                <a:bodyPr/>
                <a:p>
                  <a14:m>
                    <m:oMath xmlns:m="http://schemas.openxmlformats.org/officeDocument/2006/math">
                      <m:sSub>
                        <m:e>
                          <m:r>
                            <m:t xml:space="preserve">θ</m:t>
                          </m:r>
                        </m:e>
                        <m:sub>
                          <m:r>
                            <m:t xml:space="preserve">m</m:t>
                          </m:r>
                        </m:sub>
                      </m:sSub>
                    </m:oMath>
                  </a14:m>
                </a:p>
              </p:txBody>
            </p:sp>
          </mc:Choice>
          <mc:Fallback>
            <p:sp>
              <p:nvSpPr>
                <p:cNvPr id="405" name="Object 17"/>
                <p:cNvSpPr txBox="1"/>
                <p:nvPr/>
              </p:nvSpPr>
              <p:spPr>
                <a:xfrm>
                  <a:off x="7380360" y="3716280"/>
                  <a:ext cx="380880" cy="457200"/>
                </a:xfrm>
                <a:prstGeom prst="rect">
                  <a:avLst/>
                </a:prstGeom>
                <a:blipFill>
                  <a:blip r:embed="rId3"/>
                  <a:stretch>
                    <a:fillRect/>
                  </a:stretch>
                </a:blipFill>
              </p:spPr>
            </p:sp>
          </mc:Fallback>
        </mc:AlternateContent>
      </p:grpSp>
      <p:sp>
        <p:nvSpPr>
          <p:cNvPr id="406" name="Rectangle 21"/>
          <p:cNvSpPr/>
          <p:nvPr/>
        </p:nvSpPr>
        <p:spPr>
          <a:xfrm>
            <a:off x="0" y="3660840"/>
            <a:ext cx="184320" cy="39996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07" name="AutoShape 22"/>
          <p:cNvSpPr/>
          <p:nvPr/>
        </p:nvSpPr>
        <p:spPr>
          <a:xfrm>
            <a:off x="4211640" y="909720"/>
            <a:ext cx="503280" cy="144360"/>
          </a:xfrm>
          <a:prstGeom prst="rightArrow">
            <a:avLst>
              <a:gd name="adj1" fmla="val 50000"/>
              <a:gd name="adj2" fmla="val 87157"/>
            </a:avLst>
          </a:prstGeom>
          <a:solidFill>
            <a:srgbClr val="800000"/>
          </a:solidFill>
          <a:ln w="0">
            <a:noFill/>
          </a:ln>
        </p:spPr>
        <p:style>
          <a:lnRef idx="0"/>
          <a:fillRef idx="0"/>
          <a:effectRef idx="0"/>
          <a:fontRef idx="minor"/>
        </p:style>
        <p:txBody>
          <a:bodyPr wrap="none" lIns="90000" tIns="25560" rIns="90000" bIns="25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408" name="Group 25"/>
          <p:cNvGrpSpPr/>
          <p:nvPr/>
        </p:nvGrpSpPr>
        <p:grpSpPr>
          <a:xfrm>
            <a:off x="2050920" y="1413000"/>
            <a:ext cx="2066400" cy="484560"/>
            <a:chOff x="2050920" y="1413000"/>
            <a:chExt cx="2066400" cy="484560"/>
          </a:xfrm>
        </p:grpSpPr>
        <p:sp>
          <p:nvSpPr>
            <p:cNvPr id="409" name="Rectangle 23"/>
            <p:cNvSpPr/>
            <p:nvPr/>
          </p:nvSpPr>
          <p:spPr>
            <a:xfrm>
              <a:off x="2409480" y="1498680"/>
              <a:ext cx="170784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r>
                <a:rPr lang="zh-CN" sz="2000" b="0" u="none" strike="noStrike">
                  <a:solidFill>
                    <a:srgbClr val="000000"/>
                  </a:solidFill>
                  <a:effectLst/>
                  <a:uFillTx/>
                  <a:latin typeface="Times New Roman"/>
                </a:rPr>
                <a:t>超前相位角</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10" name="Object 24"/>
                <p:cNvSpPr txBox="1"/>
                <p:nvPr/>
              </p:nvSpPr>
              <p:spPr>
                <a:xfrm>
                  <a:off x="2050920" y="1413000"/>
                  <a:ext cx="422280" cy="474480"/>
                </a:xfrm>
                <a:prstGeom prst="rect">
                  <a:avLst/>
                </a:prstGeom>
              </p:spPr>
              <p:txBody>
                <a:bodyPr/>
                <a:p>
                  <a14:m>
                    <m:oMath xmlns:m="http://schemas.openxmlformats.org/officeDocument/2006/math">
                      <m:r>
                        <m:t xml:space="preserve">θ</m:t>
                      </m:r>
                    </m:oMath>
                  </a14:m>
                </a:p>
              </p:txBody>
            </p:sp>
          </mc:Choice>
          <mc:Fallback>
            <p:sp>
              <p:nvSpPr>
                <p:cNvPr id="410" name="Object 24"/>
                <p:cNvSpPr txBox="1"/>
                <p:nvPr/>
              </p:nvSpPr>
              <p:spPr>
                <a:xfrm>
                  <a:off x="2050920" y="1413000"/>
                  <a:ext cx="422280" cy="474480"/>
                </a:xfrm>
                <a:prstGeom prst="rect">
                  <a:avLst/>
                </a:prstGeom>
                <a:blipFill>
                  <a:blip r:embed="rId4"/>
                  <a:stretch>
                    <a:fillRect/>
                  </a:stretch>
                </a:blipFill>
              </p:spPr>
            </p:sp>
          </mc:Fallback>
        </mc:AlternateContent>
      </p:grpSp>
      <p:grpSp>
        <p:nvGrpSpPr>
          <p:cNvPr id="411" name="Group 54"/>
          <p:cNvGrpSpPr/>
          <p:nvPr/>
        </p:nvGrpSpPr>
        <p:grpSpPr>
          <a:xfrm>
            <a:off x="621720" y="1916280"/>
            <a:ext cx="7766640" cy="1081440"/>
            <a:chOff x="621720" y="1916280"/>
            <a:chExt cx="7766640" cy="1081440"/>
          </a:xfrm>
        </p:grpSpPr>
        <p:sp>
          <p:nvSpPr>
            <p:cNvPr id="412" name="Rectangle 26"/>
            <p:cNvSpPr/>
            <p:nvPr/>
          </p:nvSpPr>
          <p:spPr>
            <a:xfrm>
              <a:off x="621720" y="1916280"/>
              <a:ext cx="14533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主要作用：</a:t>
              </a:r>
              <a:endParaRPr lang="en-US" sz="2000" b="0" u="none" strike="noStrike">
                <a:solidFill>
                  <a:srgbClr val="000000"/>
                </a:solidFill>
                <a:effectLst/>
                <a:uFillTx/>
                <a:latin typeface="Times New Roman"/>
              </a:endParaRPr>
            </a:p>
          </p:txBody>
        </p:sp>
        <p:grpSp>
          <p:nvGrpSpPr>
            <p:cNvPr id="413" name="Group 53"/>
            <p:cNvGrpSpPr/>
            <p:nvPr/>
          </p:nvGrpSpPr>
          <p:grpSpPr>
            <a:xfrm>
              <a:off x="1835280" y="1916280"/>
              <a:ext cx="6553080" cy="1081440"/>
              <a:chOff x="1835280" y="1916280"/>
              <a:chExt cx="6553080" cy="1081440"/>
            </a:xfrm>
          </p:grpSpPr>
          <mc:AlternateContent>
            <mc:Choice xmlns:a14="http://schemas.microsoft.com/office/drawing/2010/main" Requires="a14">
              <p:sp>
                <p:nvSpPr>
                  <p:cNvPr id="414" name="Object 20"/>
                  <p:cNvSpPr txBox="1"/>
                  <p:nvPr/>
                </p:nvSpPr>
                <p:spPr>
                  <a:xfrm>
                    <a:off x="7524720" y="1916280"/>
                    <a:ext cx="38088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414" name="Object 20"/>
                  <p:cNvSpPr txBox="1"/>
                  <p:nvPr/>
                </p:nvSpPr>
                <p:spPr>
                  <a:xfrm>
                    <a:off x="7524720" y="1916280"/>
                    <a:ext cx="380880" cy="457200"/>
                  </a:xfrm>
                  <a:prstGeom prst="rect">
                    <a:avLst/>
                  </a:prstGeom>
                  <a:blipFill>
                    <a:blip r:embed="rId5"/>
                    <a:stretch>
                      <a:fillRect/>
                    </a:stretch>
                  </a:blipFill>
                </p:spPr>
              </p:sp>
            </mc:Fallback>
          </mc:AlternateContent>
          <p:sp>
            <p:nvSpPr>
              <p:cNvPr id="415" name="Rectangle 27"/>
              <p:cNvSpPr/>
              <p:nvPr/>
            </p:nvSpPr>
            <p:spPr>
              <a:xfrm>
                <a:off x="1835280" y="1989000"/>
                <a:ext cx="655308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利用超前相位角，补偿系统固有部分在截止角频率      附近的相角滞后，以提高系统的相角稳定裕度，改善系统的动态特性。</a:t>
                </a:r>
                <a:endParaRPr lang="en-US" sz="2000" b="0" u="none" strike="noStrike">
                  <a:solidFill>
                    <a:srgbClr val="000000"/>
                  </a:solidFill>
                  <a:effectLst/>
                  <a:uFillTx/>
                  <a:latin typeface="Times New Roman"/>
                </a:endParaRPr>
              </a:p>
            </p:txBody>
          </p:sp>
        </p:grpSp>
      </p:grpSp>
      <p:sp>
        <p:nvSpPr>
          <p:cNvPr id="416" name="Text Box 30"/>
          <p:cNvSpPr/>
          <p:nvPr/>
        </p:nvSpPr>
        <p:spPr>
          <a:xfrm>
            <a:off x="611280" y="3141720"/>
            <a:ext cx="129528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设计思路：</a:t>
            </a:r>
            <a:endParaRPr lang="en-US" sz="2000" b="0" u="none" strike="noStrike">
              <a:solidFill>
                <a:srgbClr val="000000"/>
              </a:solidFill>
              <a:effectLst/>
              <a:uFillTx/>
              <a:latin typeface="Times New Roman"/>
            </a:endParaRPr>
          </a:p>
        </p:txBody>
      </p:sp>
      <p:grpSp>
        <p:nvGrpSpPr>
          <p:cNvPr id="417" name="Group 39"/>
          <p:cNvGrpSpPr/>
          <p:nvPr/>
        </p:nvGrpSpPr>
        <p:grpSpPr>
          <a:xfrm>
            <a:off x="1979640" y="3141720"/>
            <a:ext cx="6264360" cy="730080"/>
            <a:chOff x="1979640" y="3141720"/>
            <a:chExt cx="6264360" cy="730080"/>
          </a:xfrm>
        </p:grpSpPr>
        <p:sp>
          <p:nvSpPr>
            <p:cNvPr id="418" name="Text Box 31"/>
            <p:cNvSpPr/>
            <p:nvPr/>
          </p:nvSpPr>
          <p:spPr>
            <a:xfrm>
              <a:off x="1979640" y="3141720"/>
              <a:ext cx="626436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a:t>
              </a:r>
              <a:r>
                <a:rPr lang="en-US" sz="2000" b="1" u="none" strike="noStrike">
                  <a:solidFill>
                    <a:srgbClr val="000000"/>
                  </a:solidFill>
                  <a:effectLst/>
                  <a:uFillTx/>
                  <a:latin typeface="Arial"/>
                </a:rPr>
                <a:t>1</a:t>
              </a:r>
              <a:r>
                <a:rPr lang="zh-CN" sz="2000" b="1" u="none" strike="noStrike">
                  <a:solidFill>
                    <a:srgbClr val="000000"/>
                  </a:solidFill>
                  <a:effectLst/>
                  <a:uFillTx/>
                  <a:latin typeface="Arial"/>
                </a:rPr>
                <a:t>）根据期望的相角稳定裕量与实际的相角稳定裕量的差值确定需加的超前相位角</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19" name="Object 33"/>
                <p:cNvSpPr txBox="1"/>
                <p:nvPr/>
              </p:nvSpPr>
              <p:spPr>
                <a:xfrm>
                  <a:off x="5364000" y="3500280"/>
                  <a:ext cx="330480" cy="371520"/>
                </a:xfrm>
                <a:prstGeom prst="rect">
                  <a:avLst/>
                </a:prstGeom>
              </p:spPr>
              <p:txBody>
                <a:bodyPr/>
                <a:p>
                  <a14:m>
                    <m:oMath xmlns:m="http://schemas.openxmlformats.org/officeDocument/2006/math">
                      <m:r>
                        <m:t xml:space="preserve">θ</m:t>
                      </m:r>
                    </m:oMath>
                  </a14:m>
                </a:p>
              </p:txBody>
            </p:sp>
          </mc:Choice>
          <mc:Fallback>
            <p:sp>
              <p:nvSpPr>
                <p:cNvPr id="419" name="Object 33"/>
                <p:cNvSpPr txBox="1"/>
                <p:nvPr/>
              </p:nvSpPr>
              <p:spPr>
                <a:xfrm>
                  <a:off x="5364000" y="3500280"/>
                  <a:ext cx="330480" cy="371520"/>
                </a:xfrm>
                <a:prstGeom prst="rect">
                  <a:avLst/>
                </a:prstGeom>
                <a:blipFill>
                  <a:blip r:embed="rId6"/>
                  <a:stretch>
                    <a:fillRect/>
                  </a:stretch>
                </a:blipFill>
              </p:spPr>
            </p:sp>
          </mc:Fallback>
        </mc:AlternateContent>
      </p:grpSp>
      <p:grpSp>
        <p:nvGrpSpPr>
          <p:cNvPr id="420" name="Group 40"/>
          <p:cNvGrpSpPr/>
          <p:nvPr/>
        </p:nvGrpSpPr>
        <p:grpSpPr>
          <a:xfrm>
            <a:off x="1962000" y="3924360"/>
            <a:ext cx="1873080" cy="703800"/>
            <a:chOff x="1962000" y="3924360"/>
            <a:chExt cx="1873080" cy="703800"/>
          </a:xfrm>
        </p:grpSpPr>
        <p:sp>
          <p:nvSpPr>
            <p:cNvPr id="421" name="Text Box 34"/>
            <p:cNvSpPr/>
            <p:nvPr/>
          </p:nvSpPr>
          <p:spPr>
            <a:xfrm>
              <a:off x="1962000" y="3924360"/>
              <a:ext cx="719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22" name="Object 35"/>
                <p:cNvSpPr txBox="1"/>
                <p:nvPr/>
              </p:nvSpPr>
              <p:spPr>
                <a:xfrm>
                  <a:off x="2682720" y="3924360"/>
                  <a:ext cx="331920" cy="372960"/>
                </a:xfrm>
                <a:prstGeom prst="rect">
                  <a:avLst/>
                </a:prstGeom>
              </p:spPr>
              <p:txBody>
                <a:bodyPr/>
                <a:p>
                  <a14:m>
                    <m:oMath xmlns:m="http://schemas.openxmlformats.org/officeDocument/2006/math">
                      <m:r>
                        <m:t xml:space="preserve">θ</m:t>
                      </m:r>
                    </m:oMath>
                  </a14:m>
                </a:p>
              </p:txBody>
            </p:sp>
          </mc:Choice>
          <mc:Fallback>
            <p:sp>
              <p:nvSpPr>
                <p:cNvPr id="422" name="Object 35"/>
                <p:cNvSpPr txBox="1"/>
                <p:nvPr/>
              </p:nvSpPr>
              <p:spPr>
                <a:xfrm>
                  <a:off x="2682720" y="3924360"/>
                  <a:ext cx="331920" cy="372960"/>
                </a:xfrm>
                <a:prstGeom prst="rect">
                  <a:avLst/>
                </a:prstGeom>
                <a:blipFill>
                  <a:blip r:embed="rId7"/>
                  <a:stretch>
                    <a:fillRect/>
                  </a:stretch>
                </a:blipFill>
              </p:spPr>
            </p:sp>
          </mc:Fallback>
        </mc:AlternateContent>
        <p:sp>
          <p:nvSpPr>
            <p:cNvPr id="423" name="AutoShape 37"/>
            <p:cNvSpPr/>
            <p:nvPr/>
          </p:nvSpPr>
          <p:spPr>
            <a:xfrm>
              <a:off x="3186000" y="4066920"/>
              <a:ext cx="288720" cy="144000"/>
            </a:xfrm>
            <a:prstGeom prst="rightArrow">
              <a:avLst>
                <a:gd name="adj1" fmla="val 50000"/>
                <a:gd name="adj2" fmla="val 50125"/>
              </a:avLst>
            </a:prstGeom>
            <a:solidFill>
              <a:srgbClr val="800000"/>
            </a:solidFill>
            <a:ln w="0">
              <a:noFill/>
            </a:ln>
          </p:spPr>
          <p:style>
            <a:lnRef idx="0"/>
            <a:fillRef idx="0"/>
            <a:effectRef idx="0"/>
            <a:fontRef idx="minor"/>
          </p:style>
          <p:txBody>
            <a:bodyPr wrap="none" lIns="90000" tIns="25200" rIns="90000" bIns="252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424" name="Object 38"/>
                <p:cNvSpPr txBox="1"/>
                <p:nvPr/>
              </p:nvSpPr>
              <p:spPr>
                <a:xfrm>
                  <a:off x="3546360" y="3995640"/>
                  <a:ext cx="288720" cy="264600"/>
                </a:xfrm>
                <a:prstGeom prst="rect">
                  <a:avLst/>
                </a:prstGeom>
              </p:spPr>
              <p:txBody>
                <a:bodyPr/>
                <a:p>
                  <a14:m>
                    <m:oMath xmlns:m="http://schemas.openxmlformats.org/officeDocument/2006/math">
                      <m:r>
                        <m:t xml:space="preserve">α</m:t>
                      </m:r>
                    </m:oMath>
                  </a14:m>
                </a:p>
              </p:txBody>
            </p:sp>
          </mc:Choice>
          <mc:Fallback>
            <p:sp>
              <p:nvSpPr>
                <p:cNvPr id="424" name="Object 38"/>
                <p:cNvSpPr txBox="1"/>
                <p:nvPr/>
              </p:nvSpPr>
              <p:spPr>
                <a:xfrm>
                  <a:off x="3546360" y="3995640"/>
                  <a:ext cx="288720" cy="264600"/>
                </a:xfrm>
                <a:prstGeom prst="rect">
                  <a:avLst/>
                </a:prstGeom>
                <a:blipFill>
                  <a:blip r:embed="rId8"/>
                  <a:stretch>
                    <a:fillRect/>
                  </a:stretch>
                </a:blipFill>
              </p:spPr>
            </p:sp>
          </mc:Fallback>
        </mc:AlternateContent>
      </p:grpSp>
      <p:grpSp>
        <p:nvGrpSpPr>
          <p:cNvPr id="425" name="Group 48"/>
          <p:cNvGrpSpPr/>
          <p:nvPr/>
        </p:nvGrpSpPr>
        <p:grpSpPr>
          <a:xfrm>
            <a:off x="1979640" y="4292640"/>
            <a:ext cx="4468680" cy="848160"/>
            <a:chOff x="1979640" y="4292640"/>
            <a:chExt cx="4468680" cy="848160"/>
          </a:xfrm>
        </p:grpSpPr>
        <p:sp>
          <p:nvSpPr>
            <p:cNvPr id="426" name="Text Box 42"/>
            <p:cNvSpPr/>
            <p:nvPr/>
          </p:nvSpPr>
          <p:spPr>
            <a:xfrm>
              <a:off x="1979640" y="4437000"/>
              <a:ext cx="719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27" name="Object 43"/>
                <p:cNvSpPr txBox="1"/>
                <p:nvPr/>
              </p:nvSpPr>
              <p:spPr>
                <a:xfrm>
                  <a:off x="2556000" y="4437000"/>
                  <a:ext cx="766800" cy="372960"/>
                </a:xfrm>
                <a:prstGeom prst="rect">
                  <a:avLst/>
                </a:prstGeom>
              </p:spPr>
              <p:txBody>
                <a:bodyPr/>
                <a:p>
                  <a14:m>
                    <m:oMath xmlns:m="http://schemas.openxmlformats.org/officeDocument/2006/math">
                      <m:r>
                        <m:t xml:space="preserve">ω</m:t>
                      </m:r>
                      <m:r>
                        <m:t xml:space="preserve">≈</m:t>
                      </m:r>
                      <m:r>
                        <m:t xml:space="preserve">ω</m:t>
                      </m:r>
                    </m:oMath>
                  </a14:m>
                </a:p>
              </p:txBody>
            </p:sp>
          </mc:Choice>
          <mc:Fallback>
            <p:sp>
              <p:nvSpPr>
                <p:cNvPr id="427" name="Object 43"/>
                <p:cNvSpPr txBox="1"/>
                <p:nvPr/>
              </p:nvSpPr>
              <p:spPr>
                <a:xfrm>
                  <a:off x="2556000" y="4437000"/>
                  <a:ext cx="766800" cy="372960"/>
                </a:xfrm>
                <a:prstGeom prst="rect">
                  <a:avLst/>
                </a:prstGeom>
                <a:blipFill>
                  <a:blip r:embed="rId9"/>
                  <a:stretch>
                    <a:fillRect/>
                  </a:stretch>
                </a:blipFill>
              </p:spPr>
            </p:sp>
          </mc:Fallback>
        </mc:AlternateContent>
        <p:sp>
          <p:nvSpPr>
            <p:cNvPr id="428" name="AutoShape 44"/>
            <p:cNvSpPr/>
            <p:nvPr/>
          </p:nvSpPr>
          <p:spPr>
            <a:xfrm>
              <a:off x="3348000" y="4581360"/>
              <a:ext cx="289080" cy="144720"/>
            </a:xfrm>
            <a:prstGeom prst="rightArrow">
              <a:avLst>
                <a:gd name="adj1" fmla="val 50000"/>
                <a:gd name="adj2" fmla="val 49938"/>
              </a:avLst>
            </a:prstGeom>
            <a:solidFill>
              <a:srgbClr val="800000"/>
            </a:solidFill>
            <a:ln w="0">
              <a:noFill/>
            </a:ln>
          </p:spPr>
          <p:style>
            <a:lnRef idx="0"/>
            <a:fillRef idx="0"/>
            <a:effectRef idx="0"/>
            <a:fontRef idx="minor"/>
          </p:style>
          <p:txBody>
            <a:bodyPr wrap="none" lIns="90000" tIns="25920" rIns="90000" bIns="259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429" name="Object 45"/>
                <p:cNvSpPr txBox="1"/>
                <p:nvPr/>
              </p:nvSpPr>
              <p:spPr>
                <a:xfrm>
                  <a:off x="3792600" y="4484520"/>
                  <a:ext cx="263520" cy="314640"/>
                </a:xfrm>
                <a:prstGeom prst="rect">
                  <a:avLst/>
                </a:prstGeom>
              </p:spPr>
              <p:txBody>
                <a:bodyPr/>
                <a:p>
                  <a14:m>
                    <m:oMath xmlns:m="http://schemas.openxmlformats.org/officeDocument/2006/math">
                      <m:r>
                        <m:t xml:space="preserve">T</m:t>
                      </m:r>
                    </m:oMath>
                  </a14:m>
                </a:p>
              </p:txBody>
            </p:sp>
          </mc:Choice>
          <mc:Fallback>
            <p:sp>
              <p:nvSpPr>
                <p:cNvPr id="429" name="Object 45"/>
                <p:cNvSpPr txBox="1"/>
                <p:nvPr/>
              </p:nvSpPr>
              <p:spPr>
                <a:xfrm>
                  <a:off x="3792600" y="4484520"/>
                  <a:ext cx="263520" cy="314640"/>
                </a:xfrm>
                <a:prstGeom prst="rect">
                  <a:avLst/>
                </a:prstGeom>
                <a:blipFill>
                  <a:blip r:embed="rId10"/>
                  <a:stretch>
                    <a:fillRect/>
                  </a:stretch>
                </a:blipFill>
              </p:spPr>
            </p:sp>
          </mc:Fallback>
        </mc:AlternateContent>
        <p:sp>
          <p:nvSpPr>
            <p:cNvPr id="430" name="AutoShape 46"/>
            <p:cNvSpPr/>
            <p:nvPr/>
          </p:nvSpPr>
          <p:spPr>
            <a:xfrm>
              <a:off x="4211640" y="4581360"/>
              <a:ext cx="289080" cy="144720"/>
            </a:xfrm>
            <a:prstGeom prst="rightArrow">
              <a:avLst>
                <a:gd name="adj1" fmla="val 50000"/>
                <a:gd name="adj2" fmla="val 49938"/>
              </a:avLst>
            </a:prstGeom>
            <a:solidFill>
              <a:srgbClr val="800000"/>
            </a:solidFill>
            <a:ln w="0">
              <a:noFill/>
            </a:ln>
          </p:spPr>
          <p:style>
            <a:lnRef idx="0"/>
            <a:fillRef idx="0"/>
            <a:effectRef idx="0"/>
            <a:fontRef idx="minor"/>
          </p:style>
          <p:txBody>
            <a:bodyPr wrap="none" lIns="90000" tIns="25920" rIns="90000" bIns="259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431" name="Object 47"/>
                <p:cNvSpPr txBox="1"/>
                <p:nvPr/>
              </p:nvSpPr>
              <p:spPr>
                <a:xfrm>
                  <a:off x="4716360" y="4292640"/>
                  <a:ext cx="1731960" cy="68904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r>
                            <m:t xml:space="preserve">α</m:t>
                          </m:r>
                          <m:r>
                            <m:rPr>
                              <m:lit/>
                              <m:nor/>
                            </m:rPr>
                            <m:t xml:space="preserve">Ts</m:t>
                          </m:r>
                          <m:r>
                            <m:t xml:space="preserve">+</m:t>
                          </m:r>
                          <m:r>
                            <m:t xml:space="preserve">1</m:t>
                          </m:r>
                        </m:num>
                        <m:den>
                          <m:r>
                            <m:rPr>
                              <m:lit/>
                              <m:nor/>
                            </m:rPr>
                            <m:t xml:space="preserve">Ts</m:t>
                          </m:r>
                          <m:r>
                            <m:t xml:space="preserve">+</m:t>
                          </m:r>
                          <m:r>
                            <m:t xml:space="preserve">1</m:t>
                          </m:r>
                        </m:den>
                      </m:f>
                    </m:oMath>
                  </a14:m>
                </a:p>
              </p:txBody>
            </p:sp>
          </mc:Choice>
          <mc:Fallback>
            <p:sp>
              <p:nvSpPr>
                <p:cNvPr id="431" name="Object 47"/>
                <p:cNvSpPr txBox="1"/>
                <p:nvPr/>
              </p:nvSpPr>
              <p:spPr>
                <a:xfrm>
                  <a:off x="4716360" y="4292640"/>
                  <a:ext cx="1731960" cy="689040"/>
                </a:xfrm>
                <a:prstGeom prst="rect">
                  <a:avLst/>
                </a:prstGeom>
                <a:blipFill>
                  <a:blip r:embed="rId11"/>
                  <a:stretch>
                    <a:fillRect/>
                  </a:stretch>
                </a:blipFill>
              </p:spPr>
            </p:sp>
          </mc:Fallback>
        </mc:AlternateContent>
      </p:grpSp>
      <p:grpSp>
        <p:nvGrpSpPr>
          <p:cNvPr id="432" name="Group 52"/>
          <p:cNvGrpSpPr/>
          <p:nvPr/>
        </p:nvGrpSpPr>
        <p:grpSpPr>
          <a:xfrm>
            <a:off x="5202360" y="4508640"/>
            <a:ext cx="3530520" cy="1363680"/>
            <a:chOff x="5202360" y="4508640"/>
            <a:chExt cx="3530520" cy="1363680"/>
          </a:xfrm>
        </p:grpSpPr>
        <mc:AlternateContent>
          <mc:Choice xmlns:a14="http://schemas.microsoft.com/office/drawing/2010/main" Requires="a14">
            <p:sp>
              <p:nvSpPr>
                <p:cNvPr id="433" name="Object 18"/>
                <p:cNvSpPr txBox="1"/>
                <p:nvPr/>
              </p:nvSpPr>
              <p:spPr>
                <a:xfrm>
                  <a:off x="5202360" y="5084640"/>
                  <a:ext cx="3530520" cy="787680"/>
                </a:xfrm>
                <a:prstGeom prst="rect">
                  <a:avLst/>
                </a:prstGeom>
              </p:spPr>
              <p:txBody>
                <a:bodyPr/>
                <a:p>
                  <a14:m>
                    <m:oMath xmlns:m="http://schemas.openxmlformats.org/officeDocument/2006/math">
                      <m:r>
                        <m:t xml:space="preserve">L</m:t>
                      </m:r>
                      <m:r>
                        <m:t xml:space="preserve">(</m:t>
                      </m:r>
                      <m:sSub>
                        <m:e>
                          <m:r>
                            <m:t xml:space="preserve">ω</m:t>
                          </m:r>
                        </m:e>
                        <m:sub>
                          <m:r>
                            <m:t xml:space="preserve">m</m:t>
                          </m:r>
                        </m:sub>
                      </m:sSub>
                      <m:r>
                        <m:t xml:space="preserve">)</m:t>
                      </m:r>
                      <m:r>
                        <m:t xml:space="preserve">=</m:t>
                      </m:r>
                      <m:f>
                        <m:num>
                          <m:r>
                            <m:t xml:space="preserve">1</m:t>
                          </m:r>
                        </m:num>
                        <m:den>
                          <m:r>
                            <m:t xml:space="preserve">2</m:t>
                          </m:r>
                        </m:den>
                      </m:f>
                      <m:r>
                        <m:t xml:space="preserve">×</m:t>
                      </m:r>
                      <m:r>
                        <m:rPr>
                          <m:lit/>
                          <m:nor/>
                        </m:rPr>
                        <m:t xml:space="preserve">20</m:t>
                      </m:r>
                      <m:r>
                        <m:rPr>
                          <m:lit/>
                          <m:nor/>
                        </m:rPr>
                        <m:t xml:space="preserve">lg</m:t>
                      </m:r>
                      <m:r>
                        <m:t xml:space="preserve">α</m:t>
                      </m:r>
                      <m:r>
                        <m:t xml:space="preserve">=</m:t>
                      </m:r>
                      <m:r>
                        <m:rPr>
                          <m:lit/>
                          <m:nor/>
                        </m:rPr>
                        <m:t xml:space="preserve">10</m:t>
                      </m:r>
                      <m:r>
                        <m:rPr>
                          <m:lit/>
                          <m:nor/>
                        </m:rPr>
                        <m:t xml:space="preserve">lg</m:t>
                      </m:r>
                      <m:r>
                        <m:t xml:space="preserve">α</m:t>
                      </m:r>
                    </m:oMath>
                  </a14:m>
                </a:p>
              </p:txBody>
            </p:sp>
          </mc:Choice>
          <mc:Fallback>
            <p:sp>
              <p:nvSpPr>
                <p:cNvPr id="433" name="Object 18"/>
                <p:cNvSpPr txBox="1"/>
                <p:nvPr/>
              </p:nvSpPr>
              <p:spPr>
                <a:xfrm>
                  <a:off x="5202360" y="5084640"/>
                  <a:ext cx="3530520" cy="787680"/>
                </a:xfrm>
                <a:prstGeom prst="rect">
                  <a:avLst/>
                </a:prstGeom>
                <a:blipFill>
                  <a:blip r:embed="rId12"/>
                  <a:stretch>
                    <a:fillRect/>
                  </a:stretch>
                </a:blipFill>
              </p:spPr>
            </p:sp>
          </mc:Fallback>
        </mc:AlternateContent>
        <p:sp>
          <p:nvSpPr>
            <p:cNvPr id="434" name="AutoShape 50"/>
            <p:cNvSpPr/>
            <p:nvPr/>
          </p:nvSpPr>
          <p:spPr>
            <a:xfrm>
              <a:off x="7182000" y="4508640"/>
              <a:ext cx="216000" cy="576000"/>
            </a:xfrm>
            <a:prstGeom prst="downArrow">
              <a:avLst>
                <a:gd name="adj1" fmla="val 50000"/>
                <a:gd name="adj2" fmla="val 66667"/>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435" name="Text Box 51"/>
          <p:cNvSpPr/>
          <p:nvPr/>
        </p:nvSpPr>
        <p:spPr>
          <a:xfrm>
            <a:off x="7542360" y="4464000"/>
            <a:ext cx="64764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a:t>
            </a:r>
            <a:endParaRPr lang="en-US" sz="2000" b="0" u="none" strike="noStrike">
              <a:solidFill>
                <a:srgbClr val="000000"/>
              </a:solidFill>
              <a:effectLst/>
              <a:uFillTx/>
              <a:latin typeface="Times New Roman"/>
            </a:endParaRPr>
          </a:p>
        </p:txBody>
      </p:sp>
    </p:spTree>
  </p:cSld>
  <p:transition>
    <p:random/>
  </p:transition>
  <p:timing>
    <p:tnLst>
      <p:par>
        <p:cTn id="683" dur="indefinite" restart="never" nodeType="tmRoot">
          <p:childTnLst>
            <p:seq>
              <p:cTn id="684" dur="indefinite" nodeType="mainSeq">
                <p:childTnLst>
                  <p:par>
                    <p:cTn id="685" fill="hold" nodeType="clickEffect">
                      <p:stCondLst>
                        <p:cond delay="indefinite"/>
                      </p:stCondLst>
                      <p:childTnLst>
                        <p:par>
                          <p:cTn id="686" fill="hold" nodeType="withEffect">
                            <p:stCondLst>
                              <p:cond delay="0"/>
                            </p:stCondLst>
                            <p:childTnLst>
                              <p:par>
                                <p:cTn id="687" presetID="3" presetClass="entr" fill="hold" nodeType="clickEffect" presetSubtype="10">
                                  <p:stCondLst>
                                    <p:cond delay="0"/>
                                  </p:stCondLst>
                                  <p:childTnLst>
                                    <p:set>
                                      <p:cBhvr>
                                        <p:cTn id="688" dur="1" fill="hold">
                                          <p:stCondLst>
                                            <p:cond delay="0"/>
                                          </p:stCondLst>
                                        </p:cTn>
                                        <p:tgtEl>
                                          <p:spTgt spid="401"/>
                                        </p:tgtEl>
                                        <p:attrNameLst>
                                          <p:attrName>style.visibility</p:attrName>
                                        </p:attrNameLst>
                                      </p:cBhvr>
                                      <p:to>
                                        <p:strVal val="visible"/>
                                      </p:to>
                                    </p:set>
                                    <p:animEffect transition="in" filter="blinds(horizontal)">
                                      <p:cBhvr additive="repl">
                                        <p:cTn id="689" dur="500"/>
                                        <p:tgtEl>
                                          <p:spTgt spid="401"/>
                                        </p:tgtEl>
                                      </p:cBhvr>
                                    </p:animEffect>
                                  </p:childTnLst>
                                </p:cTn>
                              </p:par>
                            </p:childTnLst>
                          </p:cTn>
                        </p:par>
                      </p:childTnLst>
                    </p:cTn>
                  </p:par>
                  <p:par>
                    <p:cTn id="690" fill="hold" nodeType="clickEffect">
                      <p:stCondLst>
                        <p:cond delay="indefinite"/>
                      </p:stCondLst>
                      <p:childTnLst>
                        <p:par>
                          <p:cTn id="691" fill="hold" nodeType="withEffect">
                            <p:stCondLst>
                              <p:cond delay="0"/>
                            </p:stCondLst>
                            <p:childTnLst>
                              <p:par>
                                <p:cTn id="692" presetID="3" presetClass="entr" fill="hold" nodeType="clickEffect" presetSubtype="10">
                                  <p:stCondLst>
                                    <p:cond delay="0"/>
                                  </p:stCondLst>
                                  <p:childTnLst>
                                    <p:set>
                                      <p:cBhvr>
                                        <p:cTn id="693" dur="1" fill="hold">
                                          <p:stCondLst>
                                            <p:cond delay="0"/>
                                          </p:stCondLst>
                                        </p:cTn>
                                        <p:tgtEl>
                                          <p:spTgt spid="408"/>
                                        </p:tgtEl>
                                        <p:attrNameLst>
                                          <p:attrName>style.visibility</p:attrName>
                                        </p:attrNameLst>
                                      </p:cBhvr>
                                      <p:to>
                                        <p:strVal val="visible"/>
                                      </p:to>
                                    </p:set>
                                    <p:animEffect transition="in" filter="blinds(horizontal)">
                                      <p:cBhvr additive="repl">
                                        <p:cTn id="694" dur="500"/>
                                        <p:tgtEl>
                                          <p:spTgt spid="408"/>
                                        </p:tgtEl>
                                      </p:cBhvr>
                                    </p:animEffect>
                                  </p:childTnLst>
                                </p:cTn>
                              </p:par>
                            </p:childTnLst>
                          </p:cTn>
                        </p:par>
                      </p:childTnLst>
                    </p:cTn>
                  </p:par>
                  <p:par>
                    <p:cTn id="695" fill="hold" nodeType="clickEffect">
                      <p:stCondLst>
                        <p:cond delay="indefinite"/>
                      </p:stCondLst>
                      <p:childTnLst>
                        <p:par>
                          <p:cTn id="696" fill="hold" nodeType="withEffect">
                            <p:stCondLst>
                              <p:cond delay="0"/>
                            </p:stCondLst>
                            <p:childTnLst>
                              <p:par>
                                <p:cTn id="697" presetID="3" presetClass="entr" fill="hold" nodeType="clickEffect" presetSubtype="10">
                                  <p:stCondLst>
                                    <p:cond delay="0"/>
                                  </p:stCondLst>
                                  <p:childTnLst>
                                    <p:set>
                                      <p:cBhvr>
                                        <p:cTn id="698" dur="1" fill="hold">
                                          <p:stCondLst>
                                            <p:cond delay="0"/>
                                          </p:stCondLst>
                                        </p:cTn>
                                        <p:tgtEl>
                                          <p:spTgt spid="402"/>
                                        </p:tgtEl>
                                        <p:attrNameLst>
                                          <p:attrName>style.visibility</p:attrName>
                                        </p:attrNameLst>
                                      </p:cBhvr>
                                      <p:to>
                                        <p:strVal val="visible"/>
                                      </p:to>
                                    </p:set>
                                    <p:animEffect transition="in" filter="blinds(horizontal)">
                                      <p:cBhvr additive="repl">
                                        <p:cTn id="699" dur="500"/>
                                        <p:tgtEl>
                                          <p:spTgt spid="402"/>
                                        </p:tgtEl>
                                      </p:cBhvr>
                                    </p:animEffect>
                                  </p:childTnLst>
                                </p:cTn>
                              </p:par>
                              <p:par>
                                <p:cTn id="700" presetID="3" presetClass="entr" fill="hold" nodeType="withEffect" presetSubtype="10">
                                  <p:stCondLst>
                                    <p:cond delay="0"/>
                                  </p:stCondLst>
                                  <p:childTnLst>
                                    <p:set>
                                      <p:cBhvr>
                                        <p:cTn id="701" dur="1" fill="hold">
                                          <p:stCondLst>
                                            <p:cond delay="0"/>
                                          </p:stCondLst>
                                        </p:cTn>
                                        <p:tgtEl>
                                          <p:spTgt spid="407"/>
                                        </p:tgtEl>
                                        <p:attrNameLst>
                                          <p:attrName>style.visibility</p:attrName>
                                        </p:attrNameLst>
                                      </p:cBhvr>
                                      <p:to>
                                        <p:strVal val="visible"/>
                                      </p:to>
                                    </p:set>
                                    <p:animEffect transition="in" filter="blinds(horizontal)">
                                      <p:cBhvr additive="repl">
                                        <p:cTn id="702" dur="500"/>
                                        <p:tgtEl>
                                          <p:spTgt spid="407"/>
                                        </p:tgtEl>
                                      </p:cBhvr>
                                    </p:animEffect>
                                  </p:childTnLst>
                                </p:cTn>
                              </p:par>
                            </p:childTnLst>
                          </p:cTn>
                        </p:par>
                      </p:childTnLst>
                    </p:cTn>
                  </p:par>
                  <p:par>
                    <p:cTn id="703" fill="hold" nodeType="clickEffect">
                      <p:stCondLst>
                        <p:cond delay="indefinite"/>
                      </p:stCondLst>
                      <p:childTnLst>
                        <p:par>
                          <p:cTn id="704" fill="hold" nodeType="withEffect">
                            <p:stCondLst>
                              <p:cond delay="0"/>
                            </p:stCondLst>
                            <p:childTnLst>
                              <p:par>
                                <p:cTn id="705" presetID="3" presetClass="entr" fill="hold" nodeType="clickEffect" presetSubtype="10">
                                  <p:stCondLst>
                                    <p:cond delay="0"/>
                                  </p:stCondLst>
                                  <p:childTnLst>
                                    <p:set>
                                      <p:cBhvr>
                                        <p:cTn id="706" dur="1" fill="hold">
                                          <p:stCondLst>
                                            <p:cond delay="0"/>
                                          </p:stCondLst>
                                        </p:cTn>
                                        <p:tgtEl>
                                          <p:spTgt spid="411"/>
                                        </p:tgtEl>
                                        <p:attrNameLst>
                                          <p:attrName>style.visibility</p:attrName>
                                        </p:attrNameLst>
                                      </p:cBhvr>
                                      <p:to>
                                        <p:strVal val="visible"/>
                                      </p:to>
                                    </p:set>
                                    <p:animEffect transition="in" filter="blinds(horizontal)">
                                      <p:cBhvr additive="repl">
                                        <p:cTn id="707" dur="500"/>
                                        <p:tgtEl>
                                          <p:spTgt spid="411"/>
                                        </p:tgtEl>
                                      </p:cBhvr>
                                    </p:animEffect>
                                  </p:childTnLst>
                                </p:cTn>
                              </p:par>
                            </p:childTnLst>
                          </p:cTn>
                        </p:par>
                      </p:childTnLst>
                    </p:cTn>
                  </p:par>
                  <p:par>
                    <p:cTn id="708" fill="hold" nodeType="clickEffect">
                      <p:stCondLst>
                        <p:cond delay="indefinite"/>
                      </p:stCondLst>
                      <p:childTnLst>
                        <p:par>
                          <p:cTn id="709" fill="hold" nodeType="withEffect">
                            <p:stCondLst>
                              <p:cond delay="0"/>
                            </p:stCondLst>
                            <p:childTnLst>
                              <p:par>
                                <p:cTn id="710" presetID="3" presetClass="entr" fill="hold" nodeType="clickEffect" presetSubtype="10">
                                  <p:stCondLst>
                                    <p:cond delay="0"/>
                                  </p:stCondLst>
                                  <p:childTnLst>
                                    <p:set>
                                      <p:cBhvr>
                                        <p:cTn id="711" dur="1" fill="hold">
                                          <p:stCondLst>
                                            <p:cond delay="0"/>
                                          </p:stCondLst>
                                        </p:cTn>
                                        <p:tgtEl>
                                          <p:spTgt spid="416"/>
                                        </p:tgtEl>
                                        <p:attrNameLst>
                                          <p:attrName>style.visibility</p:attrName>
                                        </p:attrNameLst>
                                      </p:cBhvr>
                                      <p:to>
                                        <p:strVal val="visible"/>
                                      </p:to>
                                    </p:set>
                                    <p:animEffect transition="in" filter="blinds(horizontal)">
                                      <p:cBhvr additive="repl">
                                        <p:cTn id="712" dur="500"/>
                                        <p:tgtEl>
                                          <p:spTgt spid="416"/>
                                        </p:tgtEl>
                                      </p:cBhvr>
                                    </p:animEffect>
                                  </p:childTnLst>
                                </p:cTn>
                              </p:par>
                            </p:childTnLst>
                          </p:cTn>
                        </p:par>
                      </p:childTnLst>
                    </p:cTn>
                  </p:par>
                  <p:par>
                    <p:cTn id="713" fill="hold" nodeType="clickEffect">
                      <p:stCondLst>
                        <p:cond delay="indefinite"/>
                      </p:stCondLst>
                      <p:childTnLst>
                        <p:par>
                          <p:cTn id="714" fill="hold" nodeType="withEffect">
                            <p:stCondLst>
                              <p:cond delay="0"/>
                            </p:stCondLst>
                            <p:childTnLst>
                              <p:par>
                                <p:cTn id="715" presetID="3" presetClass="entr" fill="hold" nodeType="clickEffect" presetSubtype="10">
                                  <p:stCondLst>
                                    <p:cond delay="0"/>
                                  </p:stCondLst>
                                  <p:childTnLst>
                                    <p:set>
                                      <p:cBhvr>
                                        <p:cTn id="716" dur="1" fill="hold">
                                          <p:stCondLst>
                                            <p:cond delay="0"/>
                                          </p:stCondLst>
                                        </p:cTn>
                                        <p:tgtEl>
                                          <p:spTgt spid="417"/>
                                        </p:tgtEl>
                                        <p:attrNameLst>
                                          <p:attrName>style.visibility</p:attrName>
                                        </p:attrNameLst>
                                      </p:cBhvr>
                                      <p:to>
                                        <p:strVal val="visible"/>
                                      </p:to>
                                    </p:set>
                                    <p:animEffect transition="in" filter="blinds(horizontal)">
                                      <p:cBhvr additive="repl">
                                        <p:cTn id="717" dur="500"/>
                                        <p:tgtEl>
                                          <p:spTgt spid="417"/>
                                        </p:tgtEl>
                                      </p:cBhvr>
                                    </p:animEffect>
                                  </p:childTnLst>
                                </p:cTn>
                              </p:par>
                            </p:childTnLst>
                          </p:cTn>
                        </p:par>
                      </p:childTnLst>
                    </p:cTn>
                  </p:par>
                  <p:par>
                    <p:cTn id="718" fill="hold" nodeType="clickEffect">
                      <p:stCondLst>
                        <p:cond delay="indefinite"/>
                      </p:stCondLst>
                      <p:childTnLst>
                        <p:par>
                          <p:cTn id="719" fill="hold" nodeType="withEffect">
                            <p:stCondLst>
                              <p:cond delay="0"/>
                            </p:stCondLst>
                            <p:childTnLst>
                              <p:par>
                                <p:cTn id="720" presetID="3" presetClass="entr" fill="hold" nodeType="clickEffect" presetSubtype="10">
                                  <p:stCondLst>
                                    <p:cond delay="0"/>
                                  </p:stCondLst>
                                  <p:childTnLst>
                                    <p:set>
                                      <p:cBhvr>
                                        <p:cTn id="721" dur="1" fill="hold">
                                          <p:stCondLst>
                                            <p:cond delay="0"/>
                                          </p:stCondLst>
                                        </p:cTn>
                                        <p:tgtEl>
                                          <p:spTgt spid="420"/>
                                        </p:tgtEl>
                                        <p:attrNameLst>
                                          <p:attrName>style.visibility</p:attrName>
                                        </p:attrNameLst>
                                      </p:cBhvr>
                                      <p:to>
                                        <p:strVal val="visible"/>
                                      </p:to>
                                    </p:set>
                                    <p:animEffect transition="in" filter="blinds(horizontal)">
                                      <p:cBhvr additive="repl">
                                        <p:cTn id="722" dur="500"/>
                                        <p:tgtEl>
                                          <p:spTgt spid="420"/>
                                        </p:tgtEl>
                                      </p:cBhvr>
                                    </p:animEffect>
                                  </p:childTnLst>
                                </p:cTn>
                              </p:par>
                            </p:childTnLst>
                          </p:cTn>
                        </p:par>
                      </p:childTnLst>
                    </p:cTn>
                  </p:par>
                  <p:par>
                    <p:cTn id="723" fill="hold" nodeType="clickEffect">
                      <p:stCondLst>
                        <p:cond delay="indefinite"/>
                      </p:stCondLst>
                      <p:childTnLst>
                        <p:par>
                          <p:cTn id="724" fill="hold" nodeType="withEffect">
                            <p:stCondLst>
                              <p:cond delay="0"/>
                            </p:stCondLst>
                            <p:childTnLst>
                              <p:par>
                                <p:cTn id="725" presetID="3" presetClass="entr" fill="hold" nodeType="clickEffect" presetSubtype="10">
                                  <p:stCondLst>
                                    <p:cond delay="0"/>
                                  </p:stCondLst>
                                  <p:childTnLst>
                                    <p:set>
                                      <p:cBhvr>
                                        <p:cTn id="726" dur="1" fill="hold">
                                          <p:stCondLst>
                                            <p:cond delay="0"/>
                                          </p:stCondLst>
                                        </p:cTn>
                                        <p:tgtEl>
                                          <p:spTgt spid="425"/>
                                        </p:tgtEl>
                                        <p:attrNameLst>
                                          <p:attrName>style.visibility</p:attrName>
                                        </p:attrNameLst>
                                      </p:cBhvr>
                                      <p:to>
                                        <p:strVal val="visible"/>
                                      </p:to>
                                    </p:set>
                                    <p:animEffect transition="in" filter="blinds(horizontal)">
                                      <p:cBhvr additive="repl">
                                        <p:cTn id="727" dur="500"/>
                                        <p:tgtEl>
                                          <p:spTgt spid="425"/>
                                        </p:tgtEl>
                                      </p:cBhvr>
                                    </p:animEffect>
                                  </p:childTnLst>
                                </p:cTn>
                              </p:par>
                            </p:childTnLst>
                          </p:cTn>
                        </p:par>
                      </p:childTnLst>
                    </p:cTn>
                  </p:par>
                  <p:par>
                    <p:cTn id="728" fill="hold" nodeType="clickEffect">
                      <p:stCondLst>
                        <p:cond delay="indefinite"/>
                      </p:stCondLst>
                      <p:childTnLst>
                        <p:par>
                          <p:cTn id="729" fill="hold" nodeType="withEffect">
                            <p:stCondLst>
                              <p:cond delay="0"/>
                            </p:stCondLst>
                            <p:childTnLst>
                              <p:par>
                                <p:cTn id="730" presetID="2" presetClass="entr" fill="hold" nodeType="clickEffect" presetSubtype="2">
                                  <p:stCondLst>
                                    <p:cond delay="0"/>
                                  </p:stCondLst>
                                  <p:childTnLst>
                                    <p:set>
                                      <p:cBhvr>
                                        <p:cTn id="731" dur="1" fill="hold">
                                          <p:stCondLst>
                                            <p:cond delay="0"/>
                                          </p:stCondLst>
                                        </p:cTn>
                                        <p:tgtEl>
                                          <p:spTgt spid="403"/>
                                        </p:tgtEl>
                                        <p:attrNameLst>
                                          <p:attrName>style.visibility</p:attrName>
                                        </p:attrNameLst>
                                      </p:cBhvr>
                                      <p:to>
                                        <p:strVal val="visible"/>
                                      </p:to>
                                    </p:set>
                                    <p:anim calcmode="lin" valueType="num">
                                      <p:cBhvr additive="base">
                                        <p:cTn id="732" dur="500" fill="hold"/>
                                        <p:tgtEl>
                                          <p:spTgt spid="403"/>
                                        </p:tgtEl>
                                        <p:attrNameLst>
                                          <p:attrName>ppt_x</p:attrName>
                                        </p:attrNameLst>
                                      </p:cBhvr>
                                      <p:tavLst>
                                        <p:tav>
                                          <p:val>
                                            <p:strVal val="1+#ppt_w/2"/>
                                          </p:val>
                                        </p:tav>
                                        <p:tav tm="100000">
                                          <p:val>
                                            <p:strVal val="#ppt_x"/>
                                          </p:val>
                                        </p:tav>
                                      </p:tavLst>
                                    </p:anim>
                                    <p:anim calcmode="lin" valueType="num">
                                      <p:cBhvr additive="base">
                                        <p:cTn id="733" dur="500" fill="hold"/>
                                        <p:tgtEl>
                                          <p:spTgt spid="403"/>
                                        </p:tgtEl>
                                        <p:attrNameLst>
                                          <p:attrName>ppt_y</p:attrName>
                                        </p:attrNameLst>
                                      </p:cBhvr>
                                      <p:tavLst>
                                        <p:tav>
                                          <p:val>
                                            <p:strVal val="#ppt_y"/>
                                          </p:val>
                                        </p:tav>
                                        <p:tav tm="100000">
                                          <p:val>
                                            <p:strVal val="#ppt_y"/>
                                          </p:val>
                                        </p:tav>
                                      </p:tavLst>
                                    </p:anim>
                                  </p:childTnLst>
                                </p:cTn>
                              </p:par>
                            </p:childTnLst>
                          </p:cTn>
                        </p:par>
                      </p:childTnLst>
                    </p:cTn>
                  </p:par>
                  <p:par>
                    <p:cTn id="734" fill="hold" nodeType="clickEffect">
                      <p:stCondLst>
                        <p:cond delay="indefinite"/>
                      </p:stCondLst>
                      <p:childTnLst>
                        <p:par>
                          <p:cTn id="735" fill="hold" nodeType="withEffect">
                            <p:stCondLst>
                              <p:cond delay="0"/>
                            </p:stCondLst>
                            <p:childTnLst>
                              <p:par>
                                <p:cTn id="736" presetID="12" presetClass="entr" fill="hold" nodeType="clickEffect" presetSubtype="1">
                                  <p:stCondLst>
                                    <p:cond delay="0"/>
                                  </p:stCondLst>
                                  <p:childTnLst>
                                    <p:set>
                                      <p:cBhvr>
                                        <p:cTn id="737" dur="1" fill="hold">
                                          <p:stCondLst>
                                            <p:cond delay="0"/>
                                          </p:stCondLst>
                                        </p:cTn>
                                        <p:tgtEl>
                                          <p:spTgt spid="435"/>
                                        </p:tgtEl>
                                        <p:attrNameLst>
                                          <p:attrName>style.visibility</p:attrName>
                                        </p:attrNameLst>
                                      </p:cBhvr>
                                      <p:to>
                                        <p:strVal val="visible"/>
                                      </p:to>
                                    </p:set>
                                    <p:animEffect transition="in" filter="slide(fromTop)">
                                      <p:cBhvr additive="repl">
                                        <p:cTn id="738" dur="500"/>
                                        <p:tgtEl>
                                          <p:spTgt spid="435"/>
                                        </p:tgtEl>
                                      </p:cBhvr>
                                    </p:animEffect>
                                  </p:childTnLst>
                                </p:cTn>
                              </p:par>
                            </p:childTnLst>
                          </p:cTn>
                        </p:par>
                      </p:childTnLst>
                    </p:cTn>
                  </p:par>
                  <p:par>
                    <p:cTn id="739" fill="hold" nodeType="clickEffect">
                      <p:stCondLst>
                        <p:cond delay="indefinite"/>
                      </p:stCondLst>
                      <p:childTnLst>
                        <p:par>
                          <p:cTn id="740" fill="hold" nodeType="withEffect">
                            <p:stCondLst>
                              <p:cond delay="0"/>
                            </p:stCondLst>
                            <p:childTnLst>
                              <p:par>
                                <p:cTn id="741" presetID="3" presetClass="entr" fill="hold" nodeType="clickEffect" presetSubtype="10">
                                  <p:stCondLst>
                                    <p:cond delay="0"/>
                                  </p:stCondLst>
                                  <p:childTnLst>
                                    <p:set>
                                      <p:cBhvr>
                                        <p:cTn id="742" dur="1" fill="hold">
                                          <p:stCondLst>
                                            <p:cond delay="0"/>
                                          </p:stCondLst>
                                        </p:cTn>
                                        <p:tgtEl>
                                          <p:spTgt spid="432"/>
                                        </p:tgtEl>
                                        <p:attrNameLst>
                                          <p:attrName>style.visibility</p:attrName>
                                        </p:attrNameLst>
                                      </p:cBhvr>
                                      <p:to>
                                        <p:strVal val="visible"/>
                                      </p:to>
                                    </p:set>
                                    <p:animEffect transition="in" filter="blinds(horizontal)">
                                      <p:cBhvr additive="repl">
                                        <p:cTn id="743" dur="500"/>
                                        <p:tgtEl>
                                          <p:spTgt spid="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007C4E9-E452-496F-BDB5-08FE5363F166}"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437" name="Rectangle 13"/>
          <p:cNvSpPr/>
          <p:nvPr/>
        </p:nvSpPr>
        <p:spPr>
          <a:xfrm>
            <a:off x="2124000" y="691200"/>
            <a:ext cx="6624720" cy="39888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设一控制系统的结构图所示。系统固有部分的传递函数为</a:t>
            </a:r>
            <a:endParaRPr lang="en-US" sz="2000" b="0" u="none" strike="noStrike">
              <a:solidFill>
                <a:srgbClr val="000000"/>
              </a:solidFill>
              <a:effectLst/>
              <a:uFillTx/>
              <a:latin typeface="Times New Roman"/>
            </a:endParaRPr>
          </a:p>
        </p:txBody>
      </p:sp>
      <p:sp>
        <p:nvSpPr>
          <p:cNvPr id="438" name="Rectangle 15"/>
          <p:cNvSpPr/>
          <p:nvPr/>
        </p:nvSpPr>
        <p:spPr>
          <a:xfrm>
            <a:off x="0" y="3019320"/>
            <a:ext cx="184320" cy="4003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439" name="Object 14"/>
              <p:cNvSpPr txBox="1"/>
              <p:nvPr/>
            </p:nvSpPr>
            <p:spPr>
              <a:xfrm>
                <a:off x="3059280" y="1125360"/>
                <a:ext cx="2952720" cy="679680"/>
              </a:xfrm>
              <a:prstGeom prst="rect">
                <a:avLst/>
              </a:prstGeom>
            </p:spPr>
            <p:txBody>
              <a:bodyPr/>
              <a:p>
                <a14:m>
                  <m:oMath xmlns:m="http://schemas.openxmlformats.org/officeDocument/2006/math">
                    <m:sSub>
                      <m:e>
                        <m:r>
                          <m:t xml:space="preserve">G</m:t>
                        </m:r>
                      </m:e>
                      <m:sub>
                        <m:r>
                          <m:t xml:space="preserve">o</m:t>
                        </m:r>
                      </m:sub>
                    </m:sSub>
                    <m:r>
                      <m:t xml:space="preserve">(</m:t>
                    </m:r>
                    <m:r>
                      <m:t xml:space="preserve">s</m:t>
                    </m:r>
                    <m:r>
                      <m:t xml:space="preserve">)</m:t>
                    </m:r>
                    <m:r>
                      <m:t xml:space="preserve">=</m:t>
                    </m:r>
                    <m:f>
                      <m:num>
                        <m:r>
                          <m:t xml:space="preserve">K</m:t>
                        </m:r>
                      </m:num>
                      <m:den>
                        <m:r>
                          <m:t xml:space="preserve">s</m:t>
                        </m:r>
                        <m:r>
                          <m:t xml:space="preserve">(</m:t>
                        </m:r>
                        <m:r>
                          <m:t xml:space="preserve">0</m:t>
                        </m:r>
                        <m:r>
                          <m:rPr>
                            <m:lit/>
                            <m:nor/>
                          </m:rPr>
                          <m:t xml:space="preserve">.</m:t>
                        </m:r>
                        <m:r>
                          <m:t xml:space="preserve">1</m:t>
                        </m:r>
                        <m:r>
                          <m:t xml:space="preserve">s</m:t>
                        </m:r>
                        <m:r>
                          <m:t xml:space="preserve">+</m:t>
                        </m:r>
                        <m:r>
                          <m:t xml:space="preserve">1</m:t>
                        </m:r>
                        <m:r>
                          <m:t xml:space="preserve">)</m:t>
                        </m:r>
                        <m:r>
                          <m:t xml:space="preserve">(</m:t>
                        </m:r>
                        <m:r>
                          <m:t xml:space="preserve">0</m:t>
                        </m:r>
                        <m:r>
                          <m:rPr>
                            <m:lit/>
                            <m:nor/>
                          </m:rPr>
                          <m:t xml:space="preserve">.</m:t>
                        </m:r>
                        <m:r>
                          <m:rPr>
                            <m:lit/>
                            <m:nor/>
                          </m:rPr>
                          <m:t xml:space="preserve">01</m:t>
                        </m:r>
                        <m:r>
                          <m:t xml:space="preserve">s</m:t>
                        </m:r>
                        <m:r>
                          <m:t xml:space="preserve">+</m:t>
                        </m:r>
                        <m:r>
                          <m:t xml:space="preserve">1</m:t>
                        </m:r>
                        <m:r>
                          <m:t xml:space="preserve">)</m:t>
                        </m:r>
                      </m:den>
                    </m:f>
                  </m:oMath>
                </a14:m>
              </a:p>
            </p:txBody>
          </p:sp>
        </mc:Choice>
        <mc:Fallback>
          <p:sp>
            <p:nvSpPr>
              <p:cNvPr id="439" name="Object 14"/>
              <p:cNvSpPr txBox="1"/>
              <p:nvPr/>
            </p:nvSpPr>
            <p:spPr>
              <a:xfrm>
                <a:off x="3059280" y="1125360"/>
                <a:ext cx="2952720" cy="679680"/>
              </a:xfrm>
              <a:prstGeom prst="rect">
                <a:avLst/>
              </a:prstGeom>
              <a:blipFill>
                <a:blip r:embed="rId1"/>
                <a:stretch>
                  <a:fillRect/>
                </a:stretch>
              </a:blipFill>
            </p:spPr>
          </p:sp>
        </mc:Fallback>
      </mc:AlternateContent>
      <p:grpSp>
        <p:nvGrpSpPr>
          <p:cNvPr id="440" name="Group 27"/>
          <p:cNvGrpSpPr/>
          <p:nvPr/>
        </p:nvGrpSpPr>
        <p:grpSpPr>
          <a:xfrm>
            <a:off x="539640" y="1916280"/>
            <a:ext cx="8353440" cy="1008720"/>
            <a:chOff x="539640" y="1916280"/>
            <a:chExt cx="8353440" cy="1008720"/>
          </a:xfrm>
        </p:grpSpPr>
        <p:sp>
          <p:nvSpPr>
            <p:cNvPr id="441" name="Rectangle 16"/>
            <p:cNvSpPr/>
            <p:nvPr/>
          </p:nvSpPr>
          <p:spPr>
            <a:xfrm>
              <a:off x="539640" y="1916280"/>
              <a:ext cx="835344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要求设计一串联校正装置         ，使系统的静态速度误差系数                 ，相角稳定裕度           ，开环截止角频率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42" name="Object 17"/>
                <p:cNvSpPr txBox="1"/>
                <p:nvPr/>
              </p:nvSpPr>
              <p:spPr>
                <a:xfrm>
                  <a:off x="3419640" y="1955880"/>
                  <a:ext cx="576000" cy="33480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oMath>
                  </a14:m>
                </a:p>
              </p:txBody>
            </p:sp>
          </mc:Choice>
          <mc:Fallback>
            <p:sp>
              <p:nvSpPr>
                <p:cNvPr id="442" name="Object 17"/>
                <p:cNvSpPr txBox="1"/>
                <p:nvPr/>
              </p:nvSpPr>
              <p:spPr>
                <a:xfrm>
                  <a:off x="3419640" y="1955880"/>
                  <a:ext cx="576000" cy="334800"/>
                </a:xfrm>
                <a:prstGeom prst="rect">
                  <a:avLst/>
                </a:prstGeom>
                <a:blipFill>
                  <a:blip r:embed="rId2"/>
                  <a:stretch>
                    <a:fillRect/>
                  </a:stretch>
                </a:blipFill>
              </p:spPr>
            </p:sp>
          </mc:Fallback>
        </mc:AlternateContent>
        <p:pic>
          <p:nvPicPr>
            <p:cNvPr id="443" name="Picture 18"/>
            <p:cNvPicPr/>
            <p:nvPr/>
          </p:nvPicPr>
          <p:blipFill>
            <a:blip r:embed="rId3"/>
            <a:stretch/>
          </p:blipFill>
          <p:spPr>
            <a:xfrm>
              <a:off x="7451640" y="1989000"/>
              <a:ext cx="1081080" cy="336600"/>
            </a:xfrm>
            <a:prstGeom prst="rect">
              <a:avLst/>
            </a:prstGeom>
            <a:noFill/>
            <a:ln w="0">
              <a:noFill/>
            </a:ln>
          </p:spPr>
        </p:pic>
        <p:pic>
          <p:nvPicPr>
            <p:cNvPr id="444" name="Picture 19"/>
            <p:cNvPicPr/>
            <p:nvPr/>
          </p:nvPicPr>
          <p:blipFill>
            <a:blip r:embed="rId4"/>
            <a:stretch/>
          </p:blipFill>
          <p:spPr>
            <a:xfrm>
              <a:off x="2195640" y="2276640"/>
              <a:ext cx="718920" cy="339480"/>
            </a:xfrm>
            <a:prstGeom prst="rect">
              <a:avLst/>
            </a:prstGeom>
            <a:noFill/>
            <a:ln w="0">
              <a:noFill/>
            </a:ln>
          </p:spPr>
        </p:pic>
        <mc:AlternateContent>
          <mc:Choice xmlns:a14="http://schemas.microsoft.com/office/drawing/2010/main" Requires="a14">
            <p:sp>
              <p:nvSpPr>
                <p:cNvPr id="445" name="Object 20"/>
                <p:cNvSpPr txBox="1"/>
                <p:nvPr/>
              </p:nvSpPr>
              <p:spPr>
                <a:xfrm>
                  <a:off x="5013360" y="2276640"/>
                  <a:ext cx="988920" cy="35388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45</m:t>
                      </m:r>
                      <m:sSup>
                        <m:e>
                          <m:r>
                            <m:t xml:space="preserve">s</m:t>
                          </m:r>
                        </m:e>
                        <m:sup>
                          <m:r>
                            <m:t xml:space="preserve">−</m:t>
                          </m:r>
                          <m:r>
                            <m:t xml:space="preserve">1</m:t>
                          </m:r>
                        </m:sup>
                      </m:sSup>
                    </m:oMath>
                  </a14:m>
                </a:p>
              </p:txBody>
            </p:sp>
          </mc:Choice>
          <mc:Fallback>
            <p:sp>
              <p:nvSpPr>
                <p:cNvPr id="445" name="Object 20"/>
                <p:cNvSpPr txBox="1"/>
                <p:nvPr/>
              </p:nvSpPr>
              <p:spPr>
                <a:xfrm>
                  <a:off x="5013360" y="2276640"/>
                  <a:ext cx="988920" cy="353880"/>
                </a:xfrm>
                <a:prstGeom prst="rect">
                  <a:avLst/>
                </a:prstGeom>
                <a:blipFill>
                  <a:blip r:embed="rId5"/>
                  <a:stretch>
                    <a:fillRect/>
                  </a:stretch>
                </a:blipFill>
              </p:spPr>
            </p:sp>
          </mc:Fallback>
        </mc:AlternateContent>
      </p:grpSp>
      <p:graphicFrame>
        <p:nvGraphicFramePr>
          <p:cNvPr id="446" name="Object 24"/>
          <p:cNvGraphicFramePr/>
          <p:nvPr/>
        </p:nvGraphicFramePr>
        <p:xfrm>
          <a:off x="1619280" y="2997360"/>
          <a:ext cx="5545080" cy="1301760"/>
        </p:xfrm>
        <a:graphic>
          <a:graphicData uri="http://schemas.openxmlformats.org/presentationml/2006/ole">
            <p:oleObj r:id="rId6" spid="">
              <p:embed/>
              <p:pic>
                <p:nvPicPr>
                  <p:cNvPr id="447" name="Object 24"/>
                  <p:cNvPicPr/>
                  <p:nvPr/>
                </p:nvPicPr>
                <p:blipFill>
                  <a:blip r:embed="rId7"/>
                  <a:stretch/>
                </p:blipFill>
                <p:spPr>
                  <a:xfrm>
                    <a:off x="1619280" y="2997360"/>
                    <a:ext cx="5545080" cy="1301760"/>
                  </a:xfrm>
                  <a:prstGeom prst="rect">
                    <a:avLst/>
                  </a:prstGeom>
                  <a:solidFill>
                    <a:srgbClr val="CCFFCC"/>
                  </a:solidFill>
                  <a:ln w="0">
                    <a:noFill/>
                  </a:ln>
                </p:spPr>
              </p:pic>
            </p:oleObj>
          </a:graphicData>
        </a:graphic>
      </p:graphicFrame>
      <p:grpSp>
        <p:nvGrpSpPr>
          <p:cNvPr id="448" name="Text Box 26"/>
          <p:cNvGrpSpPr/>
          <p:nvPr/>
        </p:nvGrpSpPr>
        <p:grpSpPr>
          <a:xfrm>
            <a:off x="927000" y="669960"/>
            <a:ext cx="1127160" cy="726120"/>
            <a:chOff x="927000" y="669960"/>
            <a:chExt cx="1127160" cy="726120"/>
          </a:xfrm>
        </p:grpSpPr>
        <p:pic>
          <p:nvPicPr>
            <p:cNvPr id="449" name="Text Box 26"/>
            <p:cNvPicPr/>
            <p:nvPr/>
          </p:nvPicPr>
          <p:blipFill>
            <a:blip r:embed="rId8"/>
            <a:stretch/>
          </p:blipFill>
          <p:spPr>
            <a:xfrm>
              <a:off x="927000" y="669960"/>
              <a:ext cx="1127160" cy="585720"/>
            </a:xfrm>
            <a:prstGeom prst="rect">
              <a:avLst/>
            </a:prstGeom>
            <a:noFill/>
            <a:ln w="0">
              <a:noFill/>
            </a:ln>
          </p:spPr>
        </p:pic>
        <p:sp>
          <p:nvSpPr>
            <p:cNvPr id="450" name=""/>
            <p:cNvSpPr/>
            <p:nvPr/>
          </p:nvSpPr>
          <p:spPr>
            <a:xfrm>
              <a:off x="971640" y="692280"/>
              <a:ext cx="100800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BD2309"/>
                  </a:solidFill>
                  <a:effectLst/>
                  <a:uFillTx/>
                  <a:latin typeface="Times New Roman"/>
                </a:rPr>
                <a:t>例</a:t>
              </a:r>
              <a:r>
                <a:rPr lang="en-US" sz="2000" b="1" u="none" strike="noStrike">
                  <a:solidFill>
                    <a:srgbClr val="BD2309"/>
                  </a:solidFill>
                  <a:effectLst/>
                  <a:uFillTx/>
                  <a:latin typeface="Times New Roman"/>
                </a:rPr>
                <a:t>6</a:t>
              </a:r>
              <a:r>
                <a:rPr lang="zh-CN" sz="2000" b="1" u="none" strike="noStrike">
                  <a:solidFill>
                    <a:srgbClr val="BD2309"/>
                  </a:solidFill>
                  <a:effectLst/>
                  <a:uFillTx/>
                  <a:latin typeface="Times New Roman"/>
                </a:rPr>
                <a:t>－</a:t>
              </a:r>
              <a:r>
                <a:rPr lang="en-US" sz="2000" b="1" u="none" strike="noStrike">
                  <a:solidFill>
                    <a:srgbClr val="BD2309"/>
                  </a:solidFill>
                  <a:effectLst/>
                  <a:uFillTx/>
                  <a:latin typeface="Times New Roman"/>
                </a:rPr>
                <a:t>1</a:t>
              </a:r>
              <a:endParaRPr lang="en-US" sz="2000" b="0" u="none" strike="noStrike">
                <a:solidFill>
                  <a:srgbClr val="000000"/>
                </a:solidFill>
                <a:effectLst/>
                <a:uFillTx/>
                <a:latin typeface="Times New Roman"/>
              </a:endParaRPr>
            </a:p>
          </p:txBody>
        </p:sp>
      </p:grpSp>
      <p:grpSp>
        <p:nvGrpSpPr>
          <p:cNvPr id="451" name="Group 31"/>
          <p:cNvGrpSpPr/>
          <p:nvPr/>
        </p:nvGrpSpPr>
        <p:grpSpPr>
          <a:xfrm>
            <a:off x="324000" y="4653000"/>
            <a:ext cx="8172360" cy="703800"/>
            <a:chOff x="324000" y="4653000"/>
            <a:chExt cx="8172360" cy="703800"/>
          </a:xfrm>
        </p:grpSpPr>
        <p:sp>
          <p:nvSpPr>
            <p:cNvPr id="452" name="Rectangle 28"/>
            <p:cNvSpPr/>
            <p:nvPr/>
          </p:nvSpPr>
          <p:spPr>
            <a:xfrm>
              <a:off x="324000" y="4653000"/>
              <a:ext cx="813744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1</a:t>
              </a:r>
              <a:r>
                <a:rPr lang="zh-CN" sz="2000" b="1" u="none" strike="noStrike">
                  <a:solidFill>
                    <a:srgbClr val="000000"/>
                  </a:solidFill>
                  <a:effectLst/>
                  <a:uFillTx/>
                  <a:latin typeface="Times New Roman"/>
                </a:rPr>
                <a:t>）为了满足静态指标要求，首先令                        ，并画出               时系统固有部分的对数幅频特性和相频特性图。</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53" name="Object 29"/>
                <p:cNvSpPr txBox="1"/>
                <p:nvPr/>
              </p:nvSpPr>
              <p:spPr>
                <a:xfrm>
                  <a:off x="4643280" y="4653000"/>
                  <a:ext cx="1656000" cy="379440"/>
                </a:xfrm>
                <a:prstGeom prst="rect">
                  <a:avLst/>
                </a:prstGeom>
              </p:spPr>
              <p:txBody>
                <a:bodyPr/>
                <a:p>
                  <a14:m>
                    <m:oMath xmlns:m="http://schemas.openxmlformats.org/officeDocument/2006/math">
                      <m:r>
                        <m:t xml:space="preserve">K</m:t>
                      </m:r>
                      <m:r>
                        <m:t xml:space="preserve">=</m:t>
                      </m:r>
                      <m:sSub>
                        <m:e>
                          <m:r>
                            <m:t xml:space="preserve">K</m:t>
                          </m:r>
                        </m:e>
                        <m:sub>
                          <m:r>
                            <m:t xml:space="preserve">v</m:t>
                          </m:r>
                        </m:sub>
                      </m:sSub>
                      <m:r>
                        <m:t xml:space="preserve">=</m:t>
                      </m:r>
                      <m:r>
                        <m:rPr>
                          <m:lit/>
                          <m:nor/>
                        </m:rPr>
                        <m:t xml:space="preserve">100</m:t>
                      </m:r>
                      <m:sSup>
                        <m:e>
                          <m:r>
                            <m:t xml:space="preserve">s</m:t>
                          </m:r>
                        </m:e>
                        <m:sup>
                          <m:r>
                            <m:t xml:space="preserve">−</m:t>
                          </m:r>
                          <m:r>
                            <m:t xml:space="preserve">1</m:t>
                          </m:r>
                        </m:sup>
                      </m:sSup>
                    </m:oMath>
                  </a14:m>
                </a:p>
              </p:txBody>
            </p:sp>
          </mc:Choice>
          <mc:Fallback>
            <p:sp>
              <p:nvSpPr>
                <p:cNvPr id="453" name="Object 29"/>
                <p:cNvSpPr txBox="1"/>
                <p:nvPr/>
              </p:nvSpPr>
              <p:spPr>
                <a:xfrm>
                  <a:off x="4643280" y="4653000"/>
                  <a:ext cx="1656000" cy="379440"/>
                </a:xfrm>
                <a:prstGeom prst="rect">
                  <a:avLst/>
                </a:prstGeom>
                <a:blipFill>
                  <a:blip r:embed="rId9"/>
                  <a:stretch>
                    <a:fillRect/>
                  </a:stretch>
                </a:blipFill>
              </p:spPr>
            </p:sp>
          </mc:Fallback>
        </mc:AlternateContent>
        <mc:AlternateContent>
          <mc:Choice xmlns:a14="http://schemas.microsoft.com/office/drawing/2010/main" Requires="a14">
            <p:sp>
              <p:nvSpPr>
                <p:cNvPr id="454" name="Object 30"/>
                <p:cNvSpPr txBox="1"/>
                <p:nvPr/>
              </p:nvSpPr>
              <p:spPr>
                <a:xfrm>
                  <a:off x="7380360" y="4724280"/>
                  <a:ext cx="1116000" cy="319320"/>
                </a:xfrm>
                <a:prstGeom prst="rect">
                  <a:avLst/>
                </a:prstGeom>
              </p:spPr>
              <p:txBody>
                <a:bodyPr/>
                <a:p>
                  <a14:m>
                    <m:oMath xmlns:m="http://schemas.openxmlformats.org/officeDocument/2006/math">
                      <m:r>
                        <m:t xml:space="preserve">K</m:t>
                      </m:r>
                      <m:r>
                        <m:t xml:space="preserve">=</m:t>
                      </m:r>
                      <m:r>
                        <m:rPr>
                          <m:lit/>
                          <m:nor/>
                        </m:rPr>
                        <m:t xml:space="preserve">100</m:t>
                      </m:r>
                      <m:sSup>
                        <m:e>
                          <m:r>
                            <m:t xml:space="preserve">s</m:t>
                          </m:r>
                        </m:e>
                        <m:sup>
                          <m:r>
                            <m:t xml:space="preserve">−</m:t>
                          </m:r>
                          <m:r>
                            <m:t xml:space="preserve">1</m:t>
                          </m:r>
                        </m:sup>
                      </m:sSup>
                    </m:oMath>
                  </a14:m>
                </a:p>
              </p:txBody>
            </p:sp>
          </mc:Choice>
          <mc:Fallback>
            <p:sp>
              <p:nvSpPr>
                <p:cNvPr id="454" name="Object 30"/>
                <p:cNvSpPr txBox="1"/>
                <p:nvPr/>
              </p:nvSpPr>
              <p:spPr>
                <a:xfrm>
                  <a:off x="7380360" y="4724280"/>
                  <a:ext cx="1116000" cy="319320"/>
                </a:xfrm>
                <a:prstGeom prst="rect">
                  <a:avLst/>
                </a:prstGeom>
                <a:blipFill>
                  <a:blip r:embed="rId10"/>
                  <a:stretch>
                    <a:fillRect/>
                  </a:stretch>
                </a:blipFill>
              </p:spPr>
            </p:sp>
          </mc:Fallback>
        </mc:AlternateContent>
      </p:grpSp>
    </p:spTree>
  </p:cSld>
  <p:transition>
    <p:random/>
  </p:transition>
  <p:timing>
    <p:tnLst>
      <p:par>
        <p:cTn id="744" dur="indefinite" restart="never" nodeType="tmRoot">
          <p:childTnLst>
            <p:seq>
              <p:cTn id="745" dur="indefinite" nodeType="mainSeq">
                <p:childTnLst>
                  <p:par>
                    <p:cTn id="746" fill="hold" nodeType="clickEffect">
                      <p:stCondLst>
                        <p:cond delay="0"/>
                      </p:stCondLst>
                      <p:childTnLst>
                        <p:par>
                          <p:cTn id="747" fill="hold" nodeType="withEffect">
                            <p:stCondLst>
                              <p:cond delay="0"/>
                            </p:stCondLst>
                            <p:childTnLst>
                              <p:par>
                                <p:cTn id="748" presetID="20" presetClass="entr" fill="hold" nodeType="withEffect">
                                  <p:stCondLst>
                                    <p:cond delay="0"/>
                                  </p:stCondLst>
                                  <p:childTnLst>
                                    <p:set>
                                      <p:cBhvr>
                                        <p:cTn id="749" dur="1" fill="hold">
                                          <p:stCondLst>
                                            <p:cond delay="0"/>
                                          </p:stCondLst>
                                        </p:cTn>
                                        <p:tgtEl>
                                          <p:spTgt spid="446"/>
                                        </p:tgtEl>
                                        <p:attrNameLst>
                                          <p:attrName>style.visibility</p:attrName>
                                        </p:attrNameLst>
                                      </p:cBhvr>
                                      <p:to>
                                        <p:strVal val="visible"/>
                                      </p:to>
                                    </p:set>
                                    <p:animEffect transition="in" filter="wedge">
                                      <p:cBhvr additive="repl">
                                        <p:cTn id="750" dur="2000"/>
                                        <p:tgtEl>
                                          <p:spTgt spid="446"/>
                                        </p:tgtEl>
                                      </p:cBhvr>
                                    </p:animEffect>
                                  </p:childTnLst>
                                </p:cTn>
                              </p:par>
                            </p:childTnLst>
                          </p:cTn>
                        </p:par>
                      </p:childTnLst>
                    </p:cTn>
                  </p:par>
                  <p:par>
                    <p:cTn id="751" fill="hold" nodeType="clickEffect">
                      <p:stCondLst>
                        <p:cond delay="indefinite"/>
                      </p:stCondLst>
                      <p:childTnLst>
                        <p:par>
                          <p:cTn id="752" fill="hold" nodeType="withEffect">
                            <p:stCondLst>
                              <p:cond delay="0"/>
                            </p:stCondLst>
                            <p:childTnLst>
                              <p:par>
                                <p:cTn id="753" presetID="3" presetClass="entr" fill="hold" nodeType="clickEffect" presetSubtype="10">
                                  <p:stCondLst>
                                    <p:cond delay="0"/>
                                  </p:stCondLst>
                                  <p:childTnLst>
                                    <p:set>
                                      <p:cBhvr>
                                        <p:cTn id="754" dur="1" fill="hold">
                                          <p:stCondLst>
                                            <p:cond delay="0"/>
                                          </p:stCondLst>
                                        </p:cTn>
                                        <p:tgtEl>
                                          <p:spTgt spid="451"/>
                                        </p:tgtEl>
                                        <p:attrNameLst>
                                          <p:attrName>style.visibility</p:attrName>
                                        </p:attrNameLst>
                                      </p:cBhvr>
                                      <p:to>
                                        <p:strVal val="visible"/>
                                      </p:to>
                                    </p:set>
                                    <p:animEffect transition="in" filter="blinds(horizontal)">
                                      <p:cBhvr additive="repl">
                                        <p:cTn id="755" dur="5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058DD95-DB4D-416B-8E79-46164E689ECA}"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grpSp>
        <p:nvGrpSpPr>
          <p:cNvPr id="456" name="Group 56"/>
          <p:cNvGrpSpPr/>
          <p:nvPr/>
        </p:nvGrpSpPr>
        <p:grpSpPr>
          <a:xfrm>
            <a:off x="324000" y="4797360"/>
            <a:ext cx="5328720" cy="703800"/>
            <a:chOff x="324000" y="4797360"/>
            <a:chExt cx="5328720" cy="703800"/>
          </a:xfrm>
        </p:grpSpPr>
        <p:sp>
          <p:nvSpPr>
            <p:cNvPr id="457" name="Text Box 23"/>
            <p:cNvSpPr/>
            <p:nvPr/>
          </p:nvSpPr>
          <p:spPr>
            <a:xfrm>
              <a:off x="324000" y="4798800"/>
              <a:ext cx="187308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黑线：校正前</a:t>
              </a:r>
              <a:endParaRPr lang="en-US" sz="2000" b="0" u="none" strike="noStrike">
                <a:solidFill>
                  <a:srgbClr val="000000"/>
                </a:solidFill>
                <a:effectLst/>
                <a:uFillTx/>
                <a:latin typeface="Times New Roman"/>
              </a:endParaRPr>
            </a:p>
          </p:txBody>
        </p:sp>
        <p:sp>
          <p:nvSpPr>
            <p:cNvPr id="458" name="Text Box 24"/>
            <p:cNvSpPr/>
            <p:nvPr/>
          </p:nvSpPr>
          <p:spPr>
            <a:xfrm>
              <a:off x="2052360" y="4797360"/>
              <a:ext cx="172872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绿线：校正装置</a:t>
              </a:r>
              <a:endParaRPr lang="en-US" sz="2000" b="0" u="none" strike="noStrike">
                <a:solidFill>
                  <a:srgbClr val="000000"/>
                </a:solidFill>
                <a:effectLst/>
                <a:uFillTx/>
                <a:latin typeface="Times New Roman"/>
              </a:endParaRPr>
            </a:p>
          </p:txBody>
        </p:sp>
        <p:sp>
          <p:nvSpPr>
            <p:cNvPr id="459" name="Text Box 25"/>
            <p:cNvSpPr/>
            <p:nvPr/>
          </p:nvSpPr>
          <p:spPr>
            <a:xfrm>
              <a:off x="4068720" y="4797360"/>
              <a:ext cx="158400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红线：校正后</a:t>
              </a:r>
              <a:endParaRPr lang="en-US" sz="2000" b="0" u="none" strike="noStrike">
                <a:solidFill>
                  <a:srgbClr val="000000"/>
                </a:solidFill>
                <a:effectLst/>
                <a:uFillTx/>
                <a:latin typeface="Times New Roman"/>
              </a:endParaRPr>
            </a:p>
          </p:txBody>
        </p:sp>
      </p:grpSp>
      <p:grpSp>
        <p:nvGrpSpPr>
          <p:cNvPr id="460" name="Group 33"/>
          <p:cNvGrpSpPr/>
          <p:nvPr/>
        </p:nvGrpSpPr>
        <p:grpSpPr>
          <a:xfrm>
            <a:off x="5427720" y="593640"/>
            <a:ext cx="3017880" cy="703800"/>
            <a:chOff x="5427720" y="593640"/>
            <a:chExt cx="3017880" cy="703800"/>
          </a:xfrm>
        </p:grpSpPr>
        <p:sp>
          <p:nvSpPr>
            <p:cNvPr id="461" name="Text Box 30"/>
            <p:cNvSpPr/>
            <p:nvPr/>
          </p:nvSpPr>
          <p:spPr>
            <a:xfrm>
              <a:off x="5427720" y="593640"/>
              <a:ext cx="93636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期望值：</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62" name="Object 31"/>
                <p:cNvSpPr txBox="1"/>
                <p:nvPr/>
              </p:nvSpPr>
              <p:spPr>
                <a:xfrm>
                  <a:off x="7372440" y="593640"/>
                  <a:ext cx="1073160" cy="38412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45</m:t>
                      </m:r>
                      <m:sSup>
                        <m:e>
                          <m:r>
                            <m:t xml:space="preserve">s</m:t>
                          </m:r>
                        </m:e>
                        <m:sup>
                          <m:r>
                            <m:t xml:space="preserve">−</m:t>
                          </m:r>
                          <m:r>
                            <m:t xml:space="preserve">1</m:t>
                          </m:r>
                        </m:sup>
                      </m:sSup>
                    </m:oMath>
                  </a14:m>
                </a:p>
              </p:txBody>
            </p:sp>
          </mc:Choice>
          <mc:Fallback>
            <p:sp>
              <p:nvSpPr>
                <p:cNvPr id="462" name="Object 31"/>
                <p:cNvSpPr txBox="1"/>
                <p:nvPr/>
              </p:nvSpPr>
              <p:spPr>
                <a:xfrm>
                  <a:off x="7372440" y="593640"/>
                  <a:ext cx="1073160" cy="384120"/>
                </a:xfrm>
                <a:prstGeom prst="rect">
                  <a:avLst/>
                </a:prstGeom>
                <a:blipFill>
                  <a:blip r:embed="rId1"/>
                  <a:stretch>
                    <a:fillRect/>
                  </a:stretch>
                </a:blipFill>
              </p:spPr>
            </p:sp>
          </mc:Fallback>
        </mc:AlternateContent>
        <mc:AlternateContent>
          <mc:Choice xmlns:a14="http://schemas.microsoft.com/office/drawing/2010/main" Requires="a14">
            <p:sp>
              <p:nvSpPr>
                <p:cNvPr id="463" name="Object 32"/>
                <p:cNvSpPr txBox="1"/>
                <p:nvPr/>
              </p:nvSpPr>
              <p:spPr>
                <a:xfrm>
                  <a:off x="6364080" y="593640"/>
                  <a:ext cx="770040" cy="365040"/>
                </a:xfrm>
                <a:prstGeom prst="rect">
                  <a:avLst/>
                </a:prstGeom>
              </p:spPr>
              <p:txBody>
                <a:bodyPr/>
                <a:p>
                  <a14:m>
                    <m:oMath xmlns:m="http://schemas.openxmlformats.org/officeDocument/2006/math">
                      <m:r>
                        <m:t xml:space="preserve">γ</m:t>
                      </m:r>
                      <m:r>
                        <m:t xml:space="preserve">≥</m:t>
                      </m:r>
                      <m:sSup>
                        <m:e>
                          <m:r>
                            <m:rPr>
                              <m:lit/>
                              <m:nor/>
                            </m:rPr>
                            <m:t xml:space="preserve">30</m:t>
                          </m:r>
                        </m:e>
                        <m:sup>
                          <m:r>
                            <m:t xml:space="preserve">0</m:t>
                          </m:r>
                        </m:sup>
                      </m:sSup>
                    </m:oMath>
                  </a14:m>
                </a:p>
              </p:txBody>
            </p:sp>
          </mc:Choice>
          <mc:Fallback>
            <p:sp>
              <p:nvSpPr>
                <p:cNvPr id="463" name="Object 32"/>
                <p:cNvSpPr txBox="1"/>
                <p:nvPr/>
              </p:nvSpPr>
              <p:spPr>
                <a:xfrm>
                  <a:off x="6364080" y="593640"/>
                  <a:ext cx="770040" cy="365040"/>
                </a:xfrm>
                <a:prstGeom prst="rect">
                  <a:avLst/>
                </a:prstGeom>
                <a:blipFill>
                  <a:blip r:embed="rId2"/>
                  <a:stretch>
                    <a:fillRect/>
                  </a:stretch>
                </a:blipFill>
              </p:spPr>
            </p:sp>
          </mc:Fallback>
        </mc:AlternateContent>
      </p:grpSp>
      <p:grpSp>
        <p:nvGrpSpPr>
          <p:cNvPr id="464" name="Group 42"/>
          <p:cNvGrpSpPr/>
          <p:nvPr/>
        </p:nvGrpSpPr>
        <p:grpSpPr>
          <a:xfrm>
            <a:off x="5616720" y="1052640"/>
            <a:ext cx="3296880" cy="2893320"/>
            <a:chOff x="5616720" y="1052640"/>
            <a:chExt cx="3296880" cy="2893320"/>
          </a:xfrm>
        </p:grpSpPr>
        <p:sp>
          <p:nvSpPr>
            <p:cNvPr id="465" name="Text Box 29"/>
            <p:cNvSpPr/>
            <p:nvPr/>
          </p:nvSpPr>
          <p:spPr>
            <a:xfrm>
              <a:off x="5616720" y="1052640"/>
              <a:ext cx="8650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a:t>
              </a:r>
              <a:endParaRPr lang="en-US" sz="2000" b="0" u="none" strike="noStrike">
                <a:solidFill>
                  <a:srgbClr val="000000"/>
                </a:solidFill>
                <a:effectLst/>
                <a:uFillTx/>
                <a:latin typeface="Times New Roman"/>
              </a:endParaRPr>
            </a:p>
          </p:txBody>
        </p:sp>
        <p:sp>
          <p:nvSpPr>
            <p:cNvPr id="466" name="Rectangle 34"/>
            <p:cNvSpPr/>
            <p:nvPr/>
          </p:nvSpPr>
          <p:spPr>
            <a:xfrm>
              <a:off x="5806080" y="1066680"/>
              <a:ext cx="31075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初选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67" name="Object 35"/>
                <p:cNvSpPr txBox="1"/>
                <p:nvPr/>
              </p:nvSpPr>
              <p:spPr>
                <a:xfrm>
                  <a:off x="7056720" y="1123920"/>
                  <a:ext cx="1012680" cy="35532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50</m:t>
                      </m:r>
                      <m:sSup>
                        <m:e>
                          <m:r>
                            <m:t xml:space="preserve">s</m:t>
                          </m:r>
                        </m:e>
                        <m:sup>
                          <m:r>
                            <m:t xml:space="preserve">−</m:t>
                          </m:r>
                          <m:r>
                            <m:t xml:space="preserve">1</m:t>
                          </m:r>
                        </m:sup>
                      </m:sSup>
                    </m:oMath>
                  </a14:m>
                </a:p>
              </p:txBody>
            </p:sp>
          </mc:Choice>
          <mc:Fallback>
            <p:sp>
              <p:nvSpPr>
                <p:cNvPr id="467" name="Object 35"/>
                <p:cNvSpPr txBox="1"/>
                <p:nvPr/>
              </p:nvSpPr>
              <p:spPr>
                <a:xfrm>
                  <a:off x="7056720" y="1123920"/>
                  <a:ext cx="1012680" cy="355320"/>
                </a:xfrm>
                <a:prstGeom prst="rect">
                  <a:avLst/>
                </a:prstGeom>
                <a:blipFill>
                  <a:blip r:embed="rId3"/>
                  <a:stretch>
                    <a:fillRect/>
                  </a:stretch>
                </a:blipFill>
              </p:spPr>
            </p:sp>
          </mc:Fallback>
        </mc:AlternateContent>
        <p:sp>
          <p:nvSpPr>
            <p:cNvPr id="468" name="Rectangle 36"/>
            <p:cNvSpPr/>
            <p:nvPr/>
          </p:nvSpPr>
          <p:spPr>
            <a:xfrm>
              <a:off x="5832720" y="1412640"/>
              <a:ext cx="2736720" cy="25333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系统故有部分（黑线）             在               处的相角为</a:t>
              </a:r>
              <a:r>
                <a:rPr lang="en-US" sz="2000" b="0" u="none" strike="noStrike">
                  <a:solidFill>
                    <a:srgbClr val="000000"/>
                  </a:solidFill>
                  <a:effectLst/>
                  <a:uFillTx/>
                  <a:latin typeface="Times New Roman"/>
                </a:rPr>
                <a:t>-195°</a:t>
              </a:r>
              <a:r>
                <a:rPr lang="zh-CN" sz="2000" b="0" u="none" strike="noStrike">
                  <a:solidFill>
                    <a:srgbClr val="000000"/>
                  </a:solidFill>
                  <a:effectLst/>
                  <a:uFillTx/>
                  <a:latin typeface="Times New Roman"/>
                </a:rPr>
                <a:t>，由期望的相角稳定裕量            ，需要增加的相角至少为</a:t>
              </a:r>
              <a:r>
                <a:rPr lang="en-US" sz="2000" b="0" u="none" strike="noStrike">
                  <a:solidFill>
                    <a:srgbClr val="000000"/>
                  </a:solidFill>
                  <a:effectLst/>
                  <a:uFillTx/>
                  <a:latin typeface="Times New Roman"/>
                </a:rPr>
                <a:t>45°         </a:t>
              </a:r>
              <a:r>
                <a:rPr lang="zh-CN" sz="2000" b="0" u="none" strike="noStrike">
                  <a:solidFill>
                    <a:srgbClr val="000000"/>
                  </a:solidFill>
                  <a:effectLst/>
                  <a:uFillTx/>
                  <a:latin typeface="Times New Roman"/>
                </a:rPr>
                <a:t>超前校正</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69" name="Object 38"/>
                <p:cNvSpPr txBox="1"/>
                <p:nvPr/>
              </p:nvSpPr>
              <p:spPr>
                <a:xfrm>
                  <a:off x="6193080" y="1773360"/>
                  <a:ext cx="1012680" cy="35496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50</m:t>
                      </m:r>
                      <m:sSup>
                        <m:e>
                          <m:r>
                            <m:t xml:space="preserve">s</m:t>
                          </m:r>
                        </m:e>
                        <m:sup>
                          <m:r>
                            <m:t xml:space="preserve">−</m:t>
                          </m:r>
                          <m:r>
                            <m:t xml:space="preserve">1</m:t>
                          </m:r>
                        </m:sup>
                      </m:sSup>
                    </m:oMath>
                  </a14:m>
                </a:p>
              </p:txBody>
            </p:sp>
          </mc:Choice>
          <mc:Fallback>
            <p:sp>
              <p:nvSpPr>
                <p:cNvPr id="469" name="Object 38"/>
                <p:cNvSpPr txBox="1"/>
                <p:nvPr/>
              </p:nvSpPr>
              <p:spPr>
                <a:xfrm>
                  <a:off x="6193080" y="1773360"/>
                  <a:ext cx="1012680" cy="354960"/>
                </a:xfrm>
                <a:prstGeom prst="rect">
                  <a:avLst/>
                </a:prstGeom>
                <a:blipFill>
                  <a:blip r:embed="rId4"/>
                  <a:stretch>
                    <a:fillRect/>
                  </a:stretch>
                </a:blipFill>
              </p:spPr>
            </p:sp>
          </mc:Fallback>
        </mc:AlternateContent>
        <mc:AlternateContent>
          <mc:Choice xmlns:a14="http://schemas.microsoft.com/office/drawing/2010/main" Requires="a14">
            <p:sp>
              <p:nvSpPr>
                <p:cNvPr id="470" name="Object 40"/>
                <p:cNvSpPr txBox="1"/>
                <p:nvPr/>
              </p:nvSpPr>
              <p:spPr>
                <a:xfrm>
                  <a:off x="7272360" y="2347920"/>
                  <a:ext cx="720720" cy="340920"/>
                </a:xfrm>
                <a:prstGeom prst="rect">
                  <a:avLst/>
                </a:prstGeom>
              </p:spPr>
              <p:txBody>
                <a:bodyPr/>
                <a:p>
                  <a14:m>
                    <m:oMath xmlns:m="http://schemas.openxmlformats.org/officeDocument/2006/math">
                      <m:r>
                        <m:t xml:space="preserve">γ</m:t>
                      </m:r>
                      <m:r>
                        <m:t xml:space="preserve">≥</m:t>
                      </m:r>
                      <m:sSup>
                        <m:e>
                          <m:r>
                            <m:rPr>
                              <m:lit/>
                              <m:nor/>
                            </m:rPr>
                            <m:t xml:space="preserve">30</m:t>
                          </m:r>
                        </m:e>
                        <m:sup>
                          <m:r>
                            <m:t xml:space="preserve">0</m:t>
                          </m:r>
                        </m:sup>
                      </m:sSup>
                    </m:oMath>
                  </a14:m>
                </a:p>
              </p:txBody>
            </p:sp>
          </mc:Choice>
          <mc:Fallback>
            <p:sp>
              <p:nvSpPr>
                <p:cNvPr id="470" name="Object 40"/>
                <p:cNvSpPr txBox="1"/>
                <p:nvPr/>
              </p:nvSpPr>
              <p:spPr>
                <a:xfrm>
                  <a:off x="7272360" y="2347920"/>
                  <a:ext cx="720720" cy="340920"/>
                </a:xfrm>
                <a:prstGeom prst="rect">
                  <a:avLst/>
                </a:prstGeom>
                <a:blipFill>
                  <a:blip r:embed="rId5"/>
                  <a:stretch>
                    <a:fillRect/>
                  </a:stretch>
                </a:blipFill>
              </p:spPr>
            </p:sp>
          </mc:Fallback>
        </mc:AlternateContent>
        <p:sp>
          <p:nvSpPr>
            <p:cNvPr id="471" name="AutoShape 41"/>
            <p:cNvSpPr/>
            <p:nvPr/>
          </p:nvSpPr>
          <p:spPr>
            <a:xfrm>
              <a:off x="6480360" y="3068640"/>
              <a:ext cx="433440" cy="142560"/>
            </a:xfrm>
            <a:prstGeom prst="rightArrow">
              <a:avLst>
                <a:gd name="adj1" fmla="val 50000"/>
                <a:gd name="adj2" fmla="val 76010"/>
              </a:avLst>
            </a:prstGeom>
            <a:solidFill>
              <a:srgbClr val="800000"/>
            </a:solidFill>
            <a:ln w="0">
              <a:noFill/>
            </a:ln>
          </p:spPr>
          <p:style>
            <a:lnRef idx="0"/>
            <a:fillRef idx="0"/>
            <a:effectRef idx="0"/>
            <a:fontRef idx="minor"/>
          </p:style>
          <p:txBody>
            <a:bodyPr wrap="none" lIns="90000" tIns="24480" rIns="90000" bIns="2448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472" name="Group 60"/>
          <p:cNvGrpSpPr/>
          <p:nvPr/>
        </p:nvGrpSpPr>
        <p:grpSpPr>
          <a:xfrm>
            <a:off x="5580000" y="3573360"/>
            <a:ext cx="3349800" cy="703800"/>
            <a:chOff x="5580000" y="3573360"/>
            <a:chExt cx="3349800" cy="703800"/>
          </a:xfrm>
        </p:grpSpPr>
        <p:sp>
          <p:nvSpPr>
            <p:cNvPr id="473" name="Text Box 43"/>
            <p:cNvSpPr/>
            <p:nvPr/>
          </p:nvSpPr>
          <p:spPr>
            <a:xfrm>
              <a:off x="5580000" y="3573360"/>
              <a:ext cx="334980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）取            （</a:t>
              </a:r>
              <a:r>
                <a:rPr lang="en-US" sz="2000" b="0" u="none" strike="noStrike">
                  <a:solidFill>
                    <a:srgbClr val="000000"/>
                  </a:solidFill>
                  <a:effectLst/>
                  <a:uFillTx/>
                  <a:latin typeface="Arial"/>
                </a:rPr>
                <a:t>10°</a:t>
              </a:r>
              <a:r>
                <a:rPr lang="zh-CN" sz="2000" b="0" u="none" strike="noStrike">
                  <a:solidFill>
                    <a:srgbClr val="000000"/>
                  </a:solidFill>
                  <a:effectLst/>
                  <a:uFillTx/>
                  <a:latin typeface="Arial"/>
                </a:rPr>
                <a:t>余量）</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474" name="Object 44"/>
                <p:cNvSpPr txBox="1"/>
                <p:nvPr/>
              </p:nvSpPr>
              <p:spPr>
                <a:xfrm>
                  <a:off x="6624720" y="3573360"/>
                  <a:ext cx="863640" cy="365400"/>
                </a:xfrm>
                <a:prstGeom prst="rect">
                  <a:avLst/>
                </a:prstGeom>
              </p:spPr>
              <p:txBody>
                <a:bodyPr/>
                <a:p>
                  <a14:m>
                    <m:oMath xmlns:m="http://schemas.openxmlformats.org/officeDocument/2006/math">
                      <m:sSub>
                        <m:e>
                          <m:r>
                            <m:t xml:space="preserve">θ</m:t>
                          </m:r>
                        </m:e>
                        <m:sub>
                          <m:r>
                            <m:t xml:space="preserve">m</m:t>
                          </m:r>
                        </m:sub>
                      </m:sSub>
                      <m:r>
                        <m:t xml:space="preserve">=</m:t>
                      </m:r>
                      <m:sSup>
                        <m:e>
                          <m:r>
                            <m:rPr>
                              <m:lit/>
                              <m:nor/>
                            </m:rPr>
                            <m:t xml:space="preserve">55</m:t>
                          </m:r>
                        </m:e>
                        <m:sup>
                          <m:r>
                            <m:t xml:space="preserve">∘</m:t>
                          </m:r>
                        </m:sup>
                      </m:sSup>
                    </m:oMath>
                  </a14:m>
                </a:p>
              </p:txBody>
            </p:sp>
          </mc:Choice>
          <mc:Fallback>
            <p:sp>
              <p:nvSpPr>
                <p:cNvPr id="474" name="Object 44"/>
                <p:cNvSpPr txBox="1"/>
                <p:nvPr/>
              </p:nvSpPr>
              <p:spPr>
                <a:xfrm>
                  <a:off x="6624720" y="3573360"/>
                  <a:ext cx="863640" cy="365400"/>
                </a:xfrm>
                <a:prstGeom prst="rect">
                  <a:avLst/>
                </a:prstGeom>
                <a:blipFill>
                  <a:blip r:embed="rId6"/>
                  <a:stretch>
                    <a:fillRect/>
                  </a:stretch>
                </a:blipFill>
              </p:spPr>
            </p:sp>
          </mc:Fallback>
        </mc:AlternateContent>
      </p:grpSp>
      <p:grpSp>
        <p:nvGrpSpPr>
          <p:cNvPr id="475" name="Group 61"/>
          <p:cNvGrpSpPr/>
          <p:nvPr/>
        </p:nvGrpSpPr>
        <p:grpSpPr>
          <a:xfrm>
            <a:off x="6372360" y="4005360"/>
            <a:ext cx="1728720" cy="934920"/>
            <a:chOff x="6372360" y="4005360"/>
            <a:chExt cx="1728720" cy="934920"/>
          </a:xfrm>
        </p:grpSpPr>
        <p:sp>
          <p:nvSpPr>
            <p:cNvPr id="476" name="AutoShape 46"/>
            <p:cNvSpPr/>
            <p:nvPr/>
          </p:nvSpPr>
          <p:spPr>
            <a:xfrm>
              <a:off x="7164360" y="4005360"/>
              <a:ext cx="144360" cy="288720"/>
            </a:xfrm>
            <a:prstGeom prst="downArrow">
              <a:avLst>
                <a:gd name="adj1" fmla="val 50000"/>
                <a:gd name="adj2" fmla="val 50000"/>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477" name="Object 48"/>
                <p:cNvSpPr txBox="1"/>
                <p:nvPr/>
              </p:nvSpPr>
              <p:spPr>
                <a:xfrm>
                  <a:off x="6372360" y="4292640"/>
                  <a:ext cx="1728720" cy="647640"/>
                </a:xfrm>
                <a:prstGeom prst="rect">
                  <a:avLst/>
                </a:prstGeom>
              </p:spPr>
              <p:txBody>
                <a:bodyPr/>
                <a:p>
                  <a14:m>
                    <m:oMath xmlns:m="http://schemas.openxmlformats.org/officeDocument/2006/math">
                      <m:r>
                        <m:t xml:space="preserve">α</m:t>
                      </m:r>
                      <m:r>
                        <m:t xml:space="preserve">=</m:t>
                      </m:r>
                      <m:f>
                        <m:num>
                          <m:r>
                            <m:t xml:space="preserve">1</m:t>
                          </m:r>
                          <m:r>
                            <m:t xml:space="preserve">+</m:t>
                          </m:r>
                          <m:r>
                            <m:rPr>
                              <m:lit/>
                              <m:nor/>
                            </m:rPr>
                            <m:t xml:space="preserve">sin</m:t>
                          </m:r>
                          <m:sSub>
                            <m:e>
                              <m:r>
                                <m:t xml:space="preserve">θ</m:t>
                              </m:r>
                            </m:e>
                            <m:sub>
                              <m:r>
                                <m:t xml:space="preserve">m</m:t>
                              </m:r>
                            </m:sub>
                          </m:sSub>
                        </m:num>
                        <m:den>
                          <m:r>
                            <m:t xml:space="preserve">1</m:t>
                          </m:r>
                          <m:r>
                            <m:t xml:space="preserve">−</m:t>
                          </m:r>
                          <m:r>
                            <m:rPr>
                              <m:lit/>
                              <m:nor/>
                            </m:rPr>
                            <m:t xml:space="preserve">sin</m:t>
                          </m:r>
                          <m:sSub>
                            <m:e>
                              <m:r>
                                <m:t xml:space="preserve">θ</m:t>
                              </m:r>
                            </m:e>
                            <m:sub>
                              <m:r>
                                <m:t xml:space="preserve">m</m:t>
                              </m:r>
                            </m:sub>
                          </m:sSub>
                        </m:den>
                      </m:f>
                      <m:r>
                        <m:t xml:space="preserve">≈</m:t>
                      </m:r>
                      <m:r>
                        <m:rPr>
                          <m:lit/>
                          <m:nor/>
                        </m:rPr>
                        <m:t xml:space="preserve">10</m:t>
                      </m:r>
                    </m:oMath>
                  </a14:m>
                </a:p>
              </p:txBody>
            </p:sp>
          </mc:Choice>
          <mc:Fallback>
            <p:sp>
              <p:nvSpPr>
                <p:cNvPr id="477" name="Object 48"/>
                <p:cNvSpPr txBox="1"/>
                <p:nvPr/>
              </p:nvSpPr>
              <p:spPr>
                <a:xfrm>
                  <a:off x="6372360" y="4292640"/>
                  <a:ext cx="1728720" cy="647640"/>
                </a:xfrm>
                <a:prstGeom prst="rect">
                  <a:avLst/>
                </a:prstGeom>
                <a:blipFill>
                  <a:blip r:embed="rId7"/>
                  <a:stretch>
                    <a:fillRect/>
                  </a:stretch>
                </a:blipFill>
              </p:spPr>
            </p:sp>
          </mc:Fallback>
        </mc:AlternateContent>
      </p:grpSp>
      <p:grpSp>
        <p:nvGrpSpPr>
          <p:cNvPr id="478" name="Group 62"/>
          <p:cNvGrpSpPr/>
          <p:nvPr/>
        </p:nvGrpSpPr>
        <p:grpSpPr>
          <a:xfrm>
            <a:off x="395280" y="5302080"/>
            <a:ext cx="2940120" cy="668520"/>
            <a:chOff x="395280" y="5302080"/>
            <a:chExt cx="2940120" cy="668520"/>
          </a:xfrm>
        </p:grpSpPr>
        <mc:AlternateContent>
          <mc:Choice xmlns:a14="http://schemas.microsoft.com/office/drawing/2010/main" Requires="a14">
            <p:sp>
              <p:nvSpPr>
                <p:cNvPr id="479" name="Object 49"/>
                <p:cNvSpPr txBox="1"/>
                <p:nvPr/>
              </p:nvSpPr>
              <p:spPr>
                <a:xfrm>
                  <a:off x="1474920" y="5302080"/>
                  <a:ext cx="1860480" cy="668520"/>
                </a:xfrm>
                <a:prstGeom prst="rect">
                  <a:avLst/>
                </a:prstGeom>
              </p:spPr>
              <p:txBody>
                <a:bodyPr/>
                <a:p>
                  <a14:m>
                    <m:oMath xmlns:m="http://schemas.openxmlformats.org/officeDocument/2006/math">
                      <m:sSub>
                        <m:e>
                          <m:r>
                            <m:t xml:space="preserve">ω</m:t>
                          </m:r>
                        </m:e>
                        <m:sub>
                          <m:r>
                            <m:t xml:space="preserve">m</m:t>
                          </m:r>
                        </m:sub>
                      </m:sSub>
                      <m:r>
                        <m:t xml:space="preserve">=</m:t>
                      </m:r>
                      <m:f>
                        <m:num>
                          <m:r>
                            <m:t xml:space="preserve">1</m:t>
                          </m:r>
                        </m:num>
                        <m:den>
                          <m:rad>
                            <m:radPr>
                              <m:degHide m:val="1"/>
                            </m:radPr>
                            <m:deg/>
                            <m:e>
                              <m:r>
                                <m:t xml:space="preserve">α</m:t>
                              </m:r>
                            </m:e>
                          </m:rad>
                          <m:r>
                            <m:t xml:space="preserve">T</m:t>
                          </m:r>
                        </m:den>
                      </m:f>
                      <m:r>
                        <m:t xml:space="preserve">=</m:t>
                      </m:r>
                      <m:r>
                        <m:rPr>
                          <m:lit/>
                          <m:nor/>
                        </m:rPr>
                        <m:t xml:space="preserve">50</m:t>
                      </m:r>
                      <m:sSup>
                        <m:e>
                          <m:r>
                            <m:t xml:space="preserve">s</m:t>
                          </m:r>
                        </m:e>
                        <m:sup>
                          <m:r>
                            <m:t xml:space="preserve">−</m:t>
                          </m:r>
                          <m:r>
                            <m:t xml:space="preserve">1</m:t>
                          </m:r>
                        </m:sup>
                      </m:sSup>
                    </m:oMath>
                  </a14:m>
                </a:p>
              </p:txBody>
            </p:sp>
          </mc:Choice>
          <mc:Fallback>
            <p:sp>
              <p:nvSpPr>
                <p:cNvPr id="479" name="Object 49"/>
                <p:cNvSpPr txBox="1"/>
                <p:nvPr/>
              </p:nvSpPr>
              <p:spPr>
                <a:xfrm>
                  <a:off x="1474920" y="5302080"/>
                  <a:ext cx="1860480" cy="668520"/>
                </a:xfrm>
                <a:prstGeom prst="rect">
                  <a:avLst/>
                </a:prstGeom>
                <a:blipFill>
                  <a:blip r:embed="rId8"/>
                  <a:stretch>
                    <a:fillRect/>
                  </a:stretch>
                </a:blipFill>
              </p:spPr>
            </p:sp>
          </mc:Fallback>
        </mc:AlternateContent>
        <p:sp>
          <p:nvSpPr>
            <p:cNvPr id="480" name="Text Box 50"/>
            <p:cNvSpPr/>
            <p:nvPr/>
          </p:nvSpPr>
          <p:spPr>
            <a:xfrm>
              <a:off x="395280" y="5445000"/>
              <a:ext cx="129708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a:t>
              </a:r>
              <a:r>
                <a:rPr lang="zh-CN" sz="2000" b="0" u="none" strike="noStrike">
                  <a:solidFill>
                    <a:srgbClr val="000000"/>
                  </a:solidFill>
                  <a:effectLst/>
                  <a:uFillTx/>
                  <a:latin typeface="Arial"/>
                </a:rPr>
                <a:t>）由</a:t>
              </a:r>
              <a:endParaRPr lang="en-US" sz="2000" b="0" u="none" strike="noStrike">
                <a:solidFill>
                  <a:srgbClr val="000000"/>
                </a:solidFill>
                <a:effectLst/>
                <a:uFillTx/>
                <a:latin typeface="Times New Roman"/>
              </a:endParaRPr>
            </a:p>
          </p:txBody>
        </p:sp>
      </p:grpSp>
      <p:grpSp>
        <p:nvGrpSpPr>
          <p:cNvPr id="481" name="Group 63"/>
          <p:cNvGrpSpPr/>
          <p:nvPr/>
        </p:nvGrpSpPr>
        <p:grpSpPr>
          <a:xfrm>
            <a:off x="3492360" y="5373720"/>
            <a:ext cx="2471760" cy="561960"/>
            <a:chOff x="3492360" y="5373720"/>
            <a:chExt cx="2471760" cy="561960"/>
          </a:xfrm>
        </p:grpSpPr>
        <mc:AlternateContent>
          <mc:Choice xmlns:a14="http://schemas.microsoft.com/office/drawing/2010/main" Requires="a14">
            <p:sp>
              <p:nvSpPr>
                <p:cNvPr id="482" name="Object 52"/>
                <p:cNvSpPr txBox="1"/>
                <p:nvPr/>
              </p:nvSpPr>
              <p:spPr>
                <a:xfrm>
                  <a:off x="3995640" y="5373720"/>
                  <a:ext cx="760680" cy="561960"/>
                </a:xfrm>
                <a:prstGeom prst="rect">
                  <a:avLst/>
                </a:prstGeom>
              </p:spPr>
              <p:txBody>
                <a:bodyPr/>
                <a:p>
                  <a14:m>
                    <m:oMath xmlns:m="http://schemas.openxmlformats.org/officeDocument/2006/math">
                      <m:f>
                        <m:num>
                          <m:r>
                            <m:t xml:space="preserve">1</m:t>
                          </m:r>
                        </m:num>
                        <m:den>
                          <m:r>
                            <m:t xml:space="preserve">T</m:t>
                          </m:r>
                        </m:den>
                      </m:f>
                      <m:r>
                        <m:t xml:space="preserve">=</m:t>
                      </m:r>
                      <m:r>
                        <m:rPr>
                          <m:lit/>
                          <m:nor/>
                        </m:rPr>
                        <m:t xml:space="preserve">158</m:t>
                      </m:r>
                    </m:oMath>
                  </a14:m>
                </a:p>
              </p:txBody>
            </p:sp>
          </mc:Choice>
          <mc:Fallback>
            <p:sp>
              <p:nvSpPr>
                <p:cNvPr id="482" name="Object 52"/>
                <p:cNvSpPr txBox="1"/>
                <p:nvPr/>
              </p:nvSpPr>
              <p:spPr>
                <a:xfrm>
                  <a:off x="3995640" y="5373720"/>
                  <a:ext cx="760680" cy="561960"/>
                </a:xfrm>
                <a:prstGeom prst="rect">
                  <a:avLst/>
                </a:prstGeom>
                <a:blipFill>
                  <a:blip r:embed="rId9"/>
                  <a:stretch>
                    <a:fillRect/>
                  </a:stretch>
                </a:blipFill>
              </p:spPr>
            </p:sp>
          </mc:Fallback>
        </mc:AlternateContent>
        <mc:AlternateContent>
          <mc:Choice xmlns:a14="http://schemas.microsoft.com/office/drawing/2010/main" Requires="a14">
            <p:sp>
              <p:nvSpPr>
                <p:cNvPr id="483" name="Object 53"/>
                <p:cNvSpPr txBox="1"/>
                <p:nvPr/>
              </p:nvSpPr>
              <p:spPr>
                <a:xfrm>
                  <a:off x="5003640" y="5373720"/>
                  <a:ext cx="960480" cy="561960"/>
                </a:xfrm>
                <a:prstGeom prst="rect">
                  <a:avLst/>
                </a:prstGeom>
              </p:spPr>
              <p:txBody>
                <a:bodyPr/>
                <a:p>
                  <a14:m>
                    <m:oMath xmlns:m="http://schemas.openxmlformats.org/officeDocument/2006/math">
                      <m:f>
                        <m:num>
                          <m:r>
                            <m:t xml:space="preserve">1</m:t>
                          </m:r>
                        </m:num>
                        <m:den>
                          <m:r>
                            <m:t xml:space="preserve">αT</m:t>
                          </m:r>
                        </m:den>
                      </m:f>
                      <m:r>
                        <m:t xml:space="preserve">=</m:t>
                      </m:r>
                      <m:r>
                        <m:rPr>
                          <m:lit/>
                          <m:nor/>
                        </m:rPr>
                        <m:t xml:space="preserve">15</m:t>
                      </m:r>
                      <m:r>
                        <m:rPr>
                          <m:lit/>
                          <m:nor/>
                        </m:rPr>
                        <m:t xml:space="preserve">.</m:t>
                      </m:r>
                      <m:r>
                        <m:t xml:space="preserve">8</m:t>
                      </m:r>
                    </m:oMath>
                  </a14:m>
                </a:p>
              </p:txBody>
            </p:sp>
          </mc:Choice>
          <mc:Fallback>
            <p:sp>
              <p:nvSpPr>
                <p:cNvPr id="483" name="Object 53"/>
                <p:cNvSpPr txBox="1"/>
                <p:nvPr/>
              </p:nvSpPr>
              <p:spPr>
                <a:xfrm>
                  <a:off x="5003640" y="5373720"/>
                  <a:ext cx="960480" cy="561960"/>
                </a:xfrm>
                <a:prstGeom prst="rect">
                  <a:avLst/>
                </a:prstGeom>
                <a:blipFill>
                  <a:blip r:embed="rId10"/>
                  <a:stretch>
                    <a:fillRect/>
                  </a:stretch>
                </a:blipFill>
              </p:spPr>
            </p:sp>
          </mc:Fallback>
        </mc:AlternateContent>
        <p:sp>
          <p:nvSpPr>
            <p:cNvPr id="484" name="AutoShape 57"/>
            <p:cNvSpPr/>
            <p:nvPr/>
          </p:nvSpPr>
          <p:spPr>
            <a:xfrm>
              <a:off x="3492360" y="5516640"/>
              <a:ext cx="360360" cy="144360"/>
            </a:xfrm>
            <a:prstGeom prst="rightArrow">
              <a:avLst>
                <a:gd name="adj1" fmla="val 50000"/>
                <a:gd name="adj2" fmla="val 62406"/>
              </a:avLst>
            </a:prstGeom>
            <a:solidFill>
              <a:srgbClr val="800000"/>
            </a:solidFill>
            <a:ln w="0">
              <a:noFill/>
            </a:ln>
          </p:spPr>
          <p:style>
            <a:lnRef idx="0"/>
            <a:fillRef idx="0"/>
            <a:effectRef idx="0"/>
            <a:fontRef idx="minor"/>
          </p:style>
          <p:txBody>
            <a:bodyPr wrap="none" lIns="90000" tIns="25560" rIns="90000" bIns="25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485" name="Group 64"/>
          <p:cNvGrpSpPr/>
          <p:nvPr/>
        </p:nvGrpSpPr>
        <p:grpSpPr>
          <a:xfrm>
            <a:off x="6156360" y="5013360"/>
            <a:ext cx="2232000" cy="1152360"/>
            <a:chOff x="6156360" y="5013360"/>
            <a:chExt cx="2232000" cy="1152360"/>
          </a:xfrm>
        </p:grpSpPr>
        <mc:AlternateContent>
          <mc:Choice xmlns:a14="http://schemas.microsoft.com/office/drawing/2010/main" Requires="a14">
            <p:sp>
              <p:nvSpPr>
                <p:cNvPr id="486" name="Object 55"/>
                <p:cNvSpPr txBox="1"/>
                <p:nvPr/>
              </p:nvSpPr>
              <p:spPr>
                <a:xfrm>
                  <a:off x="6732720" y="5013360"/>
                  <a:ext cx="1655640" cy="115236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f>
                            <m:num>
                              <m:r>
                                <m:t xml:space="preserve">1</m:t>
                              </m:r>
                            </m:num>
                            <m:den>
                              <m:r>
                                <m:rPr>
                                  <m:lit/>
                                  <m:nor/>
                                </m:rPr>
                                <m:t xml:space="preserve">15</m:t>
                              </m:r>
                              <m:r>
                                <m:rPr>
                                  <m:lit/>
                                  <m:nor/>
                                </m:rPr>
                                <m:t xml:space="preserve">.</m:t>
                              </m:r>
                              <m:r>
                                <m:t xml:space="preserve">8</m:t>
                              </m:r>
                            </m:den>
                          </m:f>
                          <m:r>
                            <m:t xml:space="preserve">s</m:t>
                          </m:r>
                          <m:r>
                            <m:t xml:space="preserve">+</m:t>
                          </m:r>
                          <m:r>
                            <m:t xml:space="preserve">1</m:t>
                          </m:r>
                        </m:num>
                        <m:den>
                          <m:f>
                            <m:num>
                              <m:r>
                                <m:t xml:space="preserve">1</m:t>
                              </m:r>
                            </m:num>
                            <m:den>
                              <m:r>
                                <m:rPr>
                                  <m:lit/>
                                  <m:nor/>
                                </m:rPr>
                                <m:t xml:space="preserve">158</m:t>
                              </m:r>
                            </m:den>
                          </m:f>
                          <m:r>
                            <m:t xml:space="preserve">s</m:t>
                          </m:r>
                          <m:r>
                            <m:t xml:space="preserve">+</m:t>
                          </m:r>
                          <m:r>
                            <m:t xml:space="preserve">1</m:t>
                          </m:r>
                        </m:den>
                      </m:f>
                    </m:oMath>
                  </a14:m>
                </a:p>
              </p:txBody>
            </p:sp>
          </mc:Choice>
          <mc:Fallback>
            <p:sp>
              <p:nvSpPr>
                <p:cNvPr id="486" name="Object 55"/>
                <p:cNvSpPr txBox="1"/>
                <p:nvPr/>
              </p:nvSpPr>
              <p:spPr>
                <a:xfrm>
                  <a:off x="6732720" y="5013360"/>
                  <a:ext cx="1655640" cy="1152360"/>
                </a:xfrm>
                <a:prstGeom prst="rect">
                  <a:avLst/>
                </a:prstGeom>
                <a:blipFill>
                  <a:blip r:embed="rId11"/>
                  <a:stretch>
                    <a:fillRect/>
                  </a:stretch>
                </a:blipFill>
              </p:spPr>
            </p:sp>
          </mc:Fallback>
        </mc:AlternateContent>
        <p:sp>
          <p:nvSpPr>
            <p:cNvPr id="487" name="AutoShape 58"/>
            <p:cNvSpPr/>
            <p:nvPr/>
          </p:nvSpPr>
          <p:spPr>
            <a:xfrm>
              <a:off x="6156360" y="5516640"/>
              <a:ext cx="360360" cy="144360"/>
            </a:xfrm>
            <a:prstGeom prst="rightArrow">
              <a:avLst>
                <a:gd name="adj1" fmla="val 50000"/>
                <a:gd name="adj2" fmla="val 62406"/>
              </a:avLst>
            </a:prstGeom>
            <a:solidFill>
              <a:srgbClr val="800000"/>
            </a:solidFill>
            <a:ln w="0">
              <a:noFill/>
            </a:ln>
          </p:spPr>
          <p:style>
            <a:lnRef idx="0"/>
            <a:fillRef idx="0"/>
            <a:effectRef idx="0"/>
            <a:fontRef idx="minor"/>
          </p:style>
          <p:txBody>
            <a:bodyPr wrap="none" lIns="90000" tIns="25560" rIns="90000" bIns="25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mc:AlternateContent>
        <mc:Choice xmlns:a14="http://schemas.microsoft.com/office/drawing/2010/main" Requires="a14">
          <p:sp>
            <p:nvSpPr>
              <p:cNvPr id="488" name="Object 66"/>
              <p:cNvSpPr txBox="1"/>
              <p:nvPr/>
            </p:nvSpPr>
            <p:spPr>
              <a:xfrm>
                <a:off x="1601640" y="368280"/>
                <a:ext cx="2891160" cy="679320"/>
              </a:xfrm>
              <a:prstGeom prst="rect">
                <a:avLst/>
              </a:prstGeom>
            </p:spPr>
            <p:txBody>
              <a:bodyPr/>
              <a:p>
                <a14:m>
                  <m:oMath xmlns:m="http://schemas.openxmlformats.org/officeDocument/2006/math">
                    <m:sSub>
                      <m:e>
                        <m:r>
                          <m:t xml:space="preserve">G</m:t>
                        </m:r>
                      </m:e>
                      <m:sub>
                        <m:r>
                          <m:t xml:space="preserve">o</m:t>
                        </m:r>
                      </m:sub>
                    </m:sSub>
                    <m:r>
                      <m:t xml:space="preserve">(</m:t>
                    </m:r>
                    <m:r>
                      <m:t xml:space="preserve">s</m:t>
                    </m:r>
                    <m:r>
                      <m:t xml:space="preserve">)</m:t>
                    </m:r>
                    <m:r>
                      <m:t xml:space="preserve">=</m:t>
                    </m:r>
                    <m:f>
                      <m:num>
                        <m:r>
                          <m:rPr>
                            <m:lit/>
                            <m:nor/>
                          </m:rPr>
                          <m:t xml:space="preserve">100</m:t>
                        </m:r>
                      </m:num>
                      <m:den>
                        <m:r>
                          <m:t xml:space="preserve">s</m:t>
                        </m:r>
                        <m:r>
                          <m:t xml:space="preserve">(</m:t>
                        </m:r>
                        <m:r>
                          <m:t xml:space="preserve">0</m:t>
                        </m:r>
                        <m:r>
                          <m:rPr>
                            <m:lit/>
                            <m:nor/>
                          </m:rPr>
                          <m:t xml:space="preserve">.</m:t>
                        </m:r>
                        <m:r>
                          <m:t xml:space="preserve">1</m:t>
                        </m:r>
                        <m:r>
                          <m:t xml:space="preserve">s</m:t>
                        </m:r>
                        <m:r>
                          <m:t xml:space="preserve">+</m:t>
                        </m:r>
                        <m:r>
                          <m:t xml:space="preserve">1</m:t>
                        </m:r>
                        <m:r>
                          <m:t xml:space="preserve">)</m:t>
                        </m:r>
                        <m:r>
                          <m:t xml:space="preserve">(</m:t>
                        </m:r>
                        <m:r>
                          <m:t xml:space="preserve">0</m:t>
                        </m:r>
                        <m:r>
                          <m:rPr>
                            <m:lit/>
                            <m:nor/>
                          </m:rPr>
                          <m:t xml:space="preserve">.</m:t>
                        </m:r>
                        <m:r>
                          <m:rPr>
                            <m:lit/>
                            <m:nor/>
                          </m:rPr>
                          <m:t xml:space="preserve">01</m:t>
                        </m:r>
                        <m:r>
                          <m:t xml:space="preserve">s</m:t>
                        </m:r>
                        <m:r>
                          <m:t xml:space="preserve">+</m:t>
                        </m:r>
                        <m:r>
                          <m:t xml:space="preserve">1</m:t>
                        </m:r>
                        <m:r>
                          <m:t xml:space="preserve">)</m:t>
                        </m:r>
                      </m:den>
                    </m:f>
                  </m:oMath>
                </a14:m>
              </a:p>
            </p:txBody>
          </p:sp>
        </mc:Choice>
        <mc:Fallback>
          <p:sp>
            <p:nvSpPr>
              <p:cNvPr id="488" name="Object 66"/>
              <p:cNvSpPr txBox="1"/>
              <p:nvPr/>
            </p:nvSpPr>
            <p:spPr>
              <a:xfrm>
                <a:off x="1601640" y="368280"/>
                <a:ext cx="2891160" cy="679320"/>
              </a:xfrm>
              <a:prstGeom prst="rect">
                <a:avLst/>
              </a:prstGeom>
              <a:blipFill>
                <a:blip r:embed="rId12"/>
                <a:stretch>
                  <a:fillRect/>
                </a:stretch>
              </a:blipFill>
            </p:spPr>
          </p:sp>
        </mc:Fallback>
      </mc:AlternateContent>
      <p:sp>
        <p:nvSpPr>
          <p:cNvPr id="489" name="AutoShape 67"/>
          <p:cNvSpPr/>
          <p:nvPr/>
        </p:nvSpPr>
        <p:spPr>
          <a:xfrm>
            <a:off x="250920" y="1062000"/>
            <a:ext cx="5329080" cy="3672000"/>
          </a:xfrm>
          <a:prstGeom prst="rect">
            <a:avLst/>
          </a:prstGeom>
          <a:solidFill>
            <a:srgbClr val="CCFFCC"/>
          </a:solidFill>
          <a:ln w="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0" name="Rectangle 69"/>
          <p:cNvSpPr/>
          <p:nvPr/>
        </p:nvSpPr>
        <p:spPr>
          <a:xfrm>
            <a:off x="717480" y="1371600"/>
            <a:ext cx="4211640" cy="3330720"/>
          </a:xfrm>
          <a:prstGeom prst="rect">
            <a:avLst/>
          </a:prstGeom>
          <a:solidFill>
            <a:srgbClr val="FFFFFF"/>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91" name="Rectangle 70"/>
          <p:cNvSpPr/>
          <p:nvPr/>
        </p:nvSpPr>
        <p:spPr>
          <a:xfrm>
            <a:off x="717480" y="1371600"/>
            <a:ext cx="4211640" cy="3330720"/>
          </a:xfrm>
          <a:prstGeom prst="rect">
            <a:avLst/>
          </a:prstGeom>
          <a:noFill/>
          <a:ln cap="rnd" w="12600">
            <a:solidFill>
              <a:srgbClr val="000000"/>
            </a:solidFill>
            <a:round/>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492" name="Line 71"/>
          <p:cNvSpPr/>
          <p:nvPr/>
        </p:nvSpPr>
        <p:spPr>
          <a:xfrm>
            <a:off x="717480" y="4191120"/>
            <a:ext cx="4211640" cy="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3" name="Line 72"/>
          <p:cNvSpPr/>
          <p:nvPr/>
        </p:nvSpPr>
        <p:spPr>
          <a:xfrm>
            <a:off x="717480" y="3678120"/>
            <a:ext cx="4211640" cy="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4" name="Line 73"/>
          <p:cNvSpPr/>
          <p:nvPr/>
        </p:nvSpPr>
        <p:spPr>
          <a:xfrm>
            <a:off x="717480" y="3165480"/>
            <a:ext cx="4211640" cy="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5" name="Line 74"/>
          <p:cNvSpPr/>
          <p:nvPr/>
        </p:nvSpPr>
        <p:spPr>
          <a:xfrm>
            <a:off x="717480" y="2652840"/>
            <a:ext cx="4211640" cy="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6" name="Line 75"/>
          <p:cNvSpPr/>
          <p:nvPr/>
        </p:nvSpPr>
        <p:spPr>
          <a:xfrm>
            <a:off x="717480" y="2141640"/>
            <a:ext cx="4211640" cy="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7" name="Line 76"/>
          <p:cNvSpPr/>
          <p:nvPr/>
        </p:nvSpPr>
        <p:spPr>
          <a:xfrm>
            <a:off x="717480" y="1628640"/>
            <a:ext cx="4211640" cy="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8" name="Line 77"/>
          <p:cNvSpPr/>
          <p:nvPr/>
        </p:nvSpPr>
        <p:spPr>
          <a:xfrm flipV="1">
            <a:off x="1770120" y="1371600"/>
            <a:ext cx="0" cy="333072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499" name="Line 78"/>
          <p:cNvSpPr/>
          <p:nvPr/>
        </p:nvSpPr>
        <p:spPr>
          <a:xfrm flipV="1">
            <a:off x="2835360" y="1371600"/>
            <a:ext cx="0" cy="333072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00" name="Line 79"/>
          <p:cNvSpPr/>
          <p:nvPr/>
        </p:nvSpPr>
        <p:spPr>
          <a:xfrm flipV="1">
            <a:off x="3875040" y="1371600"/>
            <a:ext cx="0" cy="3330720"/>
          </a:xfrm>
          <a:prstGeom prst="line">
            <a:avLst/>
          </a:prstGeom>
          <a:ln cap="rnd"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501" name="Group 86"/>
          <p:cNvGrpSpPr/>
          <p:nvPr/>
        </p:nvGrpSpPr>
        <p:grpSpPr>
          <a:xfrm>
            <a:off x="625680" y="1071720"/>
            <a:ext cx="845640" cy="328680"/>
            <a:chOff x="625680" y="1071720"/>
            <a:chExt cx="845640" cy="328680"/>
          </a:xfrm>
        </p:grpSpPr>
        <p:sp>
          <p:nvSpPr>
            <p:cNvPr id="502" name="Rectangle 80"/>
            <p:cNvSpPr/>
            <p:nvPr/>
          </p:nvSpPr>
          <p:spPr>
            <a:xfrm>
              <a:off x="1386000" y="1095120"/>
              <a:ext cx="85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503" name="Rectangle 81"/>
            <p:cNvSpPr/>
            <p:nvPr/>
          </p:nvSpPr>
          <p:spPr>
            <a:xfrm>
              <a:off x="1131480" y="1095120"/>
              <a:ext cx="2977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dB</a:t>
              </a:r>
              <a:endParaRPr lang="en-US" sz="2000" b="0" u="none" strike="noStrike">
                <a:solidFill>
                  <a:srgbClr val="000000"/>
                </a:solidFill>
                <a:effectLst/>
                <a:uFillTx/>
                <a:latin typeface="Times New Roman"/>
              </a:endParaRPr>
            </a:p>
          </p:txBody>
        </p:sp>
        <p:sp>
          <p:nvSpPr>
            <p:cNvPr id="504" name="Rectangle 82"/>
            <p:cNvSpPr/>
            <p:nvPr/>
          </p:nvSpPr>
          <p:spPr>
            <a:xfrm>
              <a:off x="982440" y="1095120"/>
              <a:ext cx="17028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505" name="Rectangle 83"/>
            <p:cNvSpPr/>
            <p:nvPr/>
          </p:nvSpPr>
          <p:spPr>
            <a:xfrm>
              <a:off x="752400" y="1095120"/>
              <a:ext cx="85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506" name="Rectangle 84"/>
            <p:cNvSpPr/>
            <p:nvPr/>
          </p:nvSpPr>
          <p:spPr>
            <a:xfrm>
              <a:off x="817920" y="1071720"/>
              <a:ext cx="17532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507" name="Rectangle 85"/>
            <p:cNvSpPr/>
            <p:nvPr/>
          </p:nvSpPr>
          <p:spPr>
            <a:xfrm>
              <a:off x="625680" y="1095120"/>
              <a:ext cx="1422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L</a:t>
              </a:r>
              <a:endParaRPr lang="en-US" sz="2000" b="0" u="none" strike="noStrike">
                <a:solidFill>
                  <a:srgbClr val="000000"/>
                </a:solidFill>
                <a:effectLst/>
                <a:uFillTx/>
                <a:latin typeface="Times New Roman"/>
              </a:endParaRPr>
            </a:p>
          </p:txBody>
        </p:sp>
      </p:grpSp>
      <p:grpSp>
        <p:nvGrpSpPr>
          <p:cNvPr id="508" name="Group 91"/>
          <p:cNvGrpSpPr/>
          <p:nvPr/>
        </p:nvGrpSpPr>
        <p:grpSpPr>
          <a:xfrm>
            <a:off x="4695840" y="1071720"/>
            <a:ext cx="456840" cy="328680"/>
            <a:chOff x="4695840" y="1071720"/>
            <a:chExt cx="456840" cy="328680"/>
          </a:xfrm>
        </p:grpSpPr>
        <p:sp>
          <p:nvSpPr>
            <p:cNvPr id="509" name="Rectangle 87"/>
            <p:cNvSpPr/>
            <p:nvPr/>
          </p:nvSpPr>
          <p:spPr>
            <a:xfrm>
              <a:off x="5067360" y="1095120"/>
              <a:ext cx="85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510" name="Rectangle 88"/>
            <p:cNvSpPr/>
            <p:nvPr/>
          </p:nvSpPr>
          <p:spPr>
            <a:xfrm>
              <a:off x="4843440" y="1095120"/>
              <a:ext cx="85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sp>
          <p:nvSpPr>
            <p:cNvPr id="511" name="Rectangle 89"/>
            <p:cNvSpPr/>
            <p:nvPr/>
          </p:nvSpPr>
          <p:spPr>
            <a:xfrm>
              <a:off x="4907160" y="1071720"/>
              <a:ext cx="17532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512" name="Rectangle 90"/>
            <p:cNvSpPr/>
            <p:nvPr/>
          </p:nvSpPr>
          <p:spPr>
            <a:xfrm>
              <a:off x="4695840" y="1071720"/>
              <a:ext cx="15408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sp>
        <p:nvSpPr>
          <p:cNvPr id="513" name="Rectangle 92"/>
          <p:cNvSpPr/>
          <p:nvPr/>
        </p:nvSpPr>
        <p:spPr>
          <a:xfrm>
            <a:off x="437400" y="150012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40</a:t>
            </a:r>
            <a:endParaRPr lang="en-US" sz="2000" b="0" u="none" strike="noStrike">
              <a:solidFill>
                <a:srgbClr val="000000"/>
              </a:solidFill>
              <a:effectLst/>
              <a:uFillTx/>
              <a:latin typeface="Times New Roman"/>
            </a:endParaRPr>
          </a:p>
        </p:txBody>
      </p:sp>
      <p:sp>
        <p:nvSpPr>
          <p:cNvPr id="514" name="Rectangle 93"/>
          <p:cNvSpPr/>
          <p:nvPr/>
        </p:nvSpPr>
        <p:spPr>
          <a:xfrm>
            <a:off x="464400" y="203184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20</a:t>
            </a:r>
            <a:endParaRPr lang="en-US" sz="2000" b="0" u="none" strike="noStrike">
              <a:solidFill>
                <a:srgbClr val="000000"/>
              </a:solidFill>
              <a:effectLst/>
              <a:uFillTx/>
              <a:latin typeface="Times New Roman"/>
            </a:endParaRPr>
          </a:p>
        </p:txBody>
      </p:sp>
      <p:sp>
        <p:nvSpPr>
          <p:cNvPr id="515" name="Rectangle 94"/>
          <p:cNvSpPr/>
          <p:nvPr/>
        </p:nvSpPr>
        <p:spPr>
          <a:xfrm>
            <a:off x="570240" y="253224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0</a:t>
            </a:r>
            <a:endParaRPr lang="en-US" sz="2000" b="0" u="none" strike="noStrike">
              <a:solidFill>
                <a:srgbClr val="000000"/>
              </a:solidFill>
              <a:effectLst/>
              <a:uFillTx/>
              <a:latin typeface="Times New Roman"/>
            </a:endParaRPr>
          </a:p>
        </p:txBody>
      </p:sp>
      <p:grpSp>
        <p:nvGrpSpPr>
          <p:cNvPr id="516" name="Group 97"/>
          <p:cNvGrpSpPr/>
          <p:nvPr/>
        </p:nvGrpSpPr>
        <p:grpSpPr>
          <a:xfrm>
            <a:off x="311400" y="3024360"/>
            <a:ext cx="412920" cy="327600"/>
            <a:chOff x="311400" y="3024360"/>
            <a:chExt cx="412920" cy="327600"/>
          </a:xfrm>
        </p:grpSpPr>
        <p:sp>
          <p:nvSpPr>
            <p:cNvPr id="517" name="Rectangle 95"/>
            <p:cNvSpPr/>
            <p:nvPr/>
          </p:nvSpPr>
          <p:spPr>
            <a:xfrm>
              <a:off x="469080" y="304668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20</a:t>
              </a:r>
              <a:endParaRPr lang="en-US" sz="2000" b="0" u="none" strike="noStrike">
                <a:solidFill>
                  <a:srgbClr val="000000"/>
                </a:solidFill>
                <a:effectLst/>
                <a:uFillTx/>
                <a:latin typeface="Times New Roman"/>
              </a:endParaRPr>
            </a:p>
          </p:txBody>
        </p:sp>
        <p:sp>
          <p:nvSpPr>
            <p:cNvPr id="518" name="Rectangle 96"/>
            <p:cNvSpPr/>
            <p:nvPr/>
          </p:nvSpPr>
          <p:spPr>
            <a:xfrm>
              <a:off x="311400" y="302436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19" name="Group 100"/>
          <p:cNvGrpSpPr/>
          <p:nvPr/>
        </p:nvGrpSpPr>
        <p:grpSpPr>
          <a:xfrm>
            <a:off x="311400" y="3540240"/>
            <a:ext cx="412920" cy="327600"/>
            <a:chOff x="311400" y="3540240"/>
            <a:chExt cx="412920" cy="327600"/>
          </a:xfrm>
        </p:grpSpPr>
        <p:sp>
          <p:nvSpPr>
            <p:cNvPr id="520" name="Rectangle 98"/>
            <p:cNvSpPr/>
            <p:nvPr/>
          </p:nvSpPr>
          <p:spPr>
            <a:xfrm>
              <a:off x="469080" y="356256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40</a:t>
              </a:r>
              <a:endParaRPr lang="en-US" sz="2000" b="0" u="none" strike="noStrike">
                <a:solidFill>
                  <a:srgbClr val="000000"/>
                </a:solidFill>
                <a:effectLst/>
                <a:uFillTx/>
                <a:latin typeface="Times New Roman"/>
              </a:endParaRPr>
            </a:p>
          </p:txBody>
        </p:sp>
        <p:sp>
          <p:nvSpPr>
            <p:cNvPr id="521" name="Rectangle 99"/>
            <p:cNvSpPr/>
            <p:nvPr/>
          </p:nvSpPr>
          <p:spPr>
            <a:xfrm>
              <a:off x="311400" y="354024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22" name="Group 103"/>
          <p:cNvGrpSpPr/>
          <p:nvPr/>
        </p:nvGrpSpPr>
        <p:grpSpPr>
          <a:xfrm>
            <a:off x="311400" y="4054320"/>
            <a:ext cx="409680" cy="327600"/>
            <a:chOff x="311400" y="4054320"/>
            <a:chExt cx="409680" cy="327600"/>
          </a:xfrm>
        </p:grpSpPr>
        <p:sp>
          <p:nvSpPr>
            <p:cNvPr id="523" name="Rectangle 101"/>
            <p:cNvSpPr/>
            <p:nvPr/>
          </p:nvSpPr>
          <p:spPr>
            <a:xfrm>
              <a:off x="465840" y="407664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60</a:t>
              </a:r>
              <a:endParaRPr lang="en-US" sz="2000" b="0" u="none" strike="noStrike">
                <a:solidFill>
                  <a:srgbClr val="000000"/>
                </a:solidFill>
                <a:effectLst/>
                <a:uFillTx/>
                <a:latin typeface="Times New Roman"/>
              </a:endParaRPr>
            </a:p>
          </p:txBody>
        </p:sp>
        <p:sp>
          <p:nvSpPr>
            <p:cNvPr id="524" name="Rectangle 102"/>
            <p:cNvSpPr/>
            <p:nvPr/>
          </p:nvSpPr>
          <p:spPr>
            <a:xfrm>
              <a:off x="311400" y="405432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25" name="Group 106"/>
          <p:cNvGrpSpPr/>
          <p:nvPr/>
        </p:nvGrpSpPr>
        <p:grpSpPr>
          <a:xfrm>
            <a:off x="4939560" y="1530360"/>
            <a:ext cx="435240" cy="309960"/>
            <a:chOff x="4939560" y="1530360"/>
            <a:chExt cx="435240" cy="309960"/>
          </a:xfrm>
        </p:grpSpPr>
        <p:sp>
          <p:nvSpPr>
            <p:cNvPr id="526" name="Rectangle 104"/>
            <p:cNvSpPr/>
            <p:nvPr/>
          </p:nvSpPr>
          <p:spPr>
            <a:xfrm>
              <a:off x="5272200" y="1530360"/>
              <a:ext cx="1026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MT Extra"/>
                  <a:ea typeface="MT Extra"/>
                </a:rPr>
                <a:t></a:t>
              </a:r>
              <a:endParaRPr lang="en-US" sz="2000" b="0" u="none" strike="noStrike">
                <a:solidFill>
                  <a:srgbClr val="000000"/>
                </a:solidFill>
                <a:effectLst/>
                <a:uFillTx/>
                <a:latin typeface="Times New Roman"/>
              </a:endParaRPr>
            </a:p>
          </p:txBody>
        </p:sp>
        <p:sp>
          <p:nvSpPr>
            <p:cNvPr id="527" name="Rectangle 105"/>
            <p:cNvSpPr/>
            <p:nvPr/>
          </p:nvSpPr>
          <p:spPr>
            <a:xfrm>
              <a:off x="4939560" y="1535040"/>
              <a:ext cx="382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180</a:t>
              </a:r>
              <a:endParaRPr lang="en-US" sz="2000" b="0" u="none" strike="noStrike">
                <a:solidFill>
                  <a:srgbClr val="000000"/>
                </a:solidFill>
                <a:effectLst/>
                <a:uFillTx/>
                <a:latin typeface="Times New Roman"/>
              </a:endParaRPr>
            </a:p>
          </p:txBody>
        </p:sp>
      </p:grpSp>
      <p:grpSp>
        <p:nvGrpSpPr>
          <p:cNvPr id="528" name="Group 109"/>
          <p:cNvGrpSpPr/>
          <p:nvPr/>
        </p:nvGrpSpPr>
        <p:grpSpPr>
          <a:xfrm>
            <a:off x="4957200" y="2033640"/>
            <a:ext cx="330480" cy="310320"/>
            <a:chOff x="4957200" y="2033640"/>
            <a:chExt cx="330480" cy="310320"/>
          </a:xfrm>
        </p:grpSpPr>
        <p:sp>
          <p:nvSpPr>
            <p:cNvPr id="529" name="Rectangle 107"/>
            <p:cNvSpPr/>
            <p:nvPr/>
          </p:nvSpPr>
          <p:spPr>
            <a:xfrm>
              <a:off x="5185080" y="2033640"/>
              <a:ext cx="1026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MT Extra"/>
                  <a:ea typeface="MT Extra"/>
                </a:rPr>
                <a:t></a:t>
              </a:r>
              <a:endParaRPr lang="en-US" sz="2000" b="0" u="none" strike="noStrike">
                <a:solidFill>
                  <a:srgbClr val="000000"/>
                </a:solidFill>
                <a:effectLst/>
                <a:uFillTx/>
                <a:latin typeface="Times New Roman"/>
              </a:endParaRPr>
            </a:p>
          </p:txBody>
        </p:sp>
        <p:sp>
          <p:nvSpPr>
            <p:cNvPr id="530" name="Rectangle 108"/>
            <p:cNvSpPr/>
            <p:nvPr/>
          </p:nvSpPr>
          <p:spPr>
            <a:xfrm>
              <a:off x="4957200" y="203868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90</a:t>
              </a:r>
              <a:endParaRPr lang="en-US" sz="2000" b="0" u="none" strike="noStrike">
                <a:solidFill>
                  <a:srgbClr val="000000"/>
                </a:solidFill>
                <a:effectLst/>
                <a:uFillTx/>
                <a:latin typeface="Times New Roman"/>
              </a:endParaRPr>
            </a:p>
          </p:txBody>
        </p:sp>
      </p:grpSp>
      <p:grpSp>
        <p:nvGrpSpPr>
          <p:cNvPr id="531" name="Group 113"/>
          <p:cNvGrpSpPr/>
          <p:nvPr/>
        </p:nvGrpSpPr>
        <p:grpSpPr>
          <a:xfrm>
            <a:off x="4977000" y="3044880"/>
            <a:ext cx="474120" cy="329040"/>
            <a:chOff x="4977000" y="3044880"/>
            <a:chExt cx="474120" cy="329040"/>
          </a:xfrm>
        </p:grpSpPr>
        <p:sp>
          <p:nvSpPr>
            <p:cNvPr id="532" name="Rectangle 110"/>
            <p:cNvSpPr/>
            <p:nvPr/>
          </p:nvSpPr>
          <p:spPr>
            <a:xfrm>
              <a:off x="5348520" y="3062160"/>
              <a:ext cx="1026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MT Extra"/>
                  <a:ea typeface="MT Extra"/>
                </a:rPr>
                <a:t></a:t>
              </a:r>
              <a:endParaRPr lang="en-US" sz="2000" b="0" u="none" strike="noStrike">
                <a:solidFill>
                  <a:srgbClr val="000000"/>
                </a:solidFill>
                <a:effectLst/>
                <a:uFillTx/>
                <a:latin typeface="Times New Roman"/>
              </a:endParaRPr>
            </a:p>
          </p:txBody>
        </p:sp>
        <p:sp>
          <p:nvSpPr>
            <p:cNvPr id="533" name="Rectangle 111"/>
            <p:cNvSpPr/>
            <p:nvPr/>
          </p:nvSpPr>
          <p:spPr>
            <a:xfrm>
              <a:off x="5126760" y="306864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90</a:t>
              </a:r>
              <a:endParaRPr lang="en-US" sz="2000" b="0" u="none" strike="noStrike">
                <a:solidFill>
                  <a:srgbClr val="000000"/>
                </a:solidFill>
                <a:effectLst/>
                <a:uFillTx/>
                <a:latin typeface="Times New Roman"/>
              </a:endParaRPr>
            </a:p>
          </p:txBody>
        </p:sp>
        <p:sp>
          <p:nvSpPr>
            <p:cNvPr id="534" name="Rectangle 112"/>
            <p:cNvSpPr/>
            <p:nvPr/>
          </p:nvSpPr>
          <p:spPr>
            <a:xfrm>
              <a:off x="4977000" y="304488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35" name="Group 117"/>
          <p:cNvGrpSpPr/>
          <p:nvPr/>
        </p:nvGrpSpPr>
        <p:grpSpPr>
          <a:xfrm>
            <a:off x="4962960" y="3559320"/>
            <a:ext cx="572400" cy="328680"/>
            <a:chOff x="4962960" y="3559320"/>
            <a:chExt cx="572400" cy="328680"/>
          </a:xfrm>
        </p:grpSpPr>
        <p:sp>
          <p:nvSpPr>
            <p:cNvPr id="536" name="Rectangle 114"/>
            <p:cNvSpPr/>
            <p:nvPr/>
          </p:nvSpPr>
          <p:spPr>
            <a:xfrm>
              <a:off x="5432760" y="3578040"/>
              <a:ext cx="1026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MT Extra"/>
                  <a:ea typeface="MT Extra"/>
                </a:rPr>
                <a:t></a:t>
              </a:r>
              <a:endParaRPr lang="en-US" sz="2000" b="0" u="none" strike="noStrike">
                <a:solidFill>
                  <a:srgbClr val="000000"/>
                </a:solidFill>
                <a:effectLst/>
                <a:uFillTx/>
                <a:latin typeface="Times New Roman"/>
              </a:endParaRPr>
            </a:p>
          </p:txBody>
        </p:sp>
        <p:sp>
          <p:nvSpPr>
            <p:cNvPr id="537" name="Rectangle 115"/>
            <p:cNvSpPr/>
            <p:nvPr/>
          </p:nvSpPr>
          <p:spPr>
            <a:xfrm>
              <a:off x="5098320" y="3582720"/>
              <a:ext cx="382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180</a:t>
              </a:r>
              <a:endParaRPr lang="en-US" sz="2000" b="0" u="none" strike="noStrike">
                <a:solidFill>
                  <a:srgbClr val="000000"/>
                </a:solidFill>
                <a:effectLst/>
                <a:uFillTx/>
                <a:latin typeface="Times New Roman"/>
              </a:endParaRPr>
            </a:p>
          </p:txBody>
        </p:sp>
        <p:sp>
          <p:nvSpPr>
            <p:cNvPr id="538" name="Rectangle 116"/>
            <p:cNvSpPr/>
            <p:nvPr/>
          </p:nvSpPr>
          <p:spPr>
            <a:xfrm>
              <a:off x="4962960" y="355932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39" name="Group 121"/>
          <p:cNvGrpSpPr/>
          <p:nvPr/>
        </p:nvGrpSpPr>
        <p:grpSpPr>
          <a:xfrm>
            <a:off x="4964400" y="4075200"/>
            <a:ext cx="602640" cy="328680"/>
            <a:chOff x="4964400" y="4075200"/>
            <a:chExt cx="602640" cy="328680"/>
          </a:xfrm>
        </p:grpSpPr>
        <p:sp>
          <p:nvSpPr>
            <p:cNvPr id="540" name="Rectangle 118"/>
            <p:cNvSpPr/>
            <p:nvPr/>
          </p:nvSpPr>
          <p:spPr>
            <a:xfrm>
              <a:off x="5464440" y="4092480"/>
              <a:ext cx="1026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MT Extra"/>
                  <a:ea typeface="MT Extra"/>
                </a:rPr>
                <a:t></a:t>
              </a:r>
              <a:endParaRPr lang="en-US" sz="2000" b="0" u="none" strike="noStrike">
                <a:solidFill>
                  <a:srgbClr val="000000"/>
                </a:solidFill>
                <a:effectLst/>
                <a:uFillTx/>
                <a:latin typeface="Times New Roman"/>
              </a:endParaRPr>
            </a:p>
          </p:txBody>
        </p:sp>
        <p:sp>
          <p:nvSpPr>
            <p:cNvPr id="541" name="Rectangle 119"/>
            <p:cNvSpPr/>
            <p:nvPr/>
          </p:nvSpPr>
          <p:spPr>
            <a:xfrm>
              <a:off x="5125320" y="4098600"/>
              <a:ext cx="382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270</a:t>
              </a:r>
              <a:endParaRPr lang="en-US" sz="2000" b="0" u="none" strike="noStrike">
                <a:solidFill>
                  <a:srgbClr val="000000"/>
                </a:solidFill>
                <a:effectLst/>
                <a:uFillTx/>
                <a:latin typeface="Times New Roman"/>
              </a:endParaRPr>
            </a:p>
          </p:txBody>
        </p:sp>
        <p:sp>
          <p:nvSpPr>
            <p:cNvPr id="542" name="Rectangle 120"/>
            <p:cNvSpPr/>
            <p:nvPr/>
          </p:nvSpPr>
          <p:spPr>
            <a:xfrm>
              <a:off x="4964400" y="407520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sp>
        <p:nvSpPr>
          <p:cNvPr id="543" name="Rectangle 122"/>
          <p:cNvSpPr/>
          <p:nvPr/>
        </p:nvSpPr>
        <p:spPr>
          <a:xfrm>
            <a:off x="4948560" y="2484360"/>
            <a:ext cx="17532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544" name="Line 123"/>
          <p:cNvSpPr/>
          <p:nvPr/>
        </p:nvSpPr>
        <p:spPr>
          <a:xfrm>
            <a:off x="698400" y="1628640"/>
            <a:ext cx="1071720" cy="513000"/>
          </a:xfrm>
          <a:prstGeom prst="line">
            <a:avLst/>
          </a:prstGeom>
          <a:ln cap="rnd" w="223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5" name="Line 124"/>
          <p:cNvSpPr/>
          <p:nvPr/>
        </p:nvSpPr>
        <p:spPr>
          <a:xfrm flipH="1" flipV="1">
            <a:off x="1769760" y="2141640"/>
            <a:ext cx="1065240" cy="1023840"/>
          </a:xfrm>
          <a:prstGeom prst="line">
            <a:avLst/>
          </a:prstGeom>
          <a:ln cap="rnd" w="223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46" name="Line 125"/>
          <p:cNvSpPr/>
          <p:nvPr/>
        </p:nvSpPr>
        <p:spPr>
          <a:xfrm flipH="1" flipV="1">
            <a:off x="2835360" y="3165120"/>
            <a:ext cx="1054080" cy="1536840"/>
          </a:xfrm>
          <a:prstGeom prst="line">
            <a:avLst/>
          </a:prstGeom>
          <a:ln cap="rnd" w="223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547" name="Group 132"/>
          <p:cNvGrpSpPr/>
          <p:nvPr/>
        </p:nvGrpSpPr>
        <p:grpSpPr>
          <a:xfrm>
            <a:off x="1105200" y="1614600"/>
            <a:ext cx="1104120" cy="327600"/>
            <a:chOff x="1105200" y="1614600"/>
            <a:chExt cx="1104120" cy="327600"/>
          </a:xfrm>
        </p:grpSpPr>
        <p:sp>
          <p:nvSpPr>
            <p:cNvPr id="548" name="Rectangle 129"/>
            <p:cNvSpPr/>
            <p:nvPr/>
          </p:nvSpPr>
          <p:spPr>
            <a:xfrm>
              <a:off x="1487880" y="1636920"/>
              <a:ext cx="7214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dB/dec</a:t>
              </a:r>
              <a:endParaRPr lang="en-US" sz="2000" b="0" u="none" strike="noStrike">
                <a:solidFill>
                  <a:srgbClr val="000000"/>
                </a:solidFill>
                <a:effectLst/>
                <a:uFillTx/>
                <a:latin typeface="Times New Roman"/>
              </a:endParaRPr>
            </a:p>
          </p:txBody>
        </p:sp>
        <p:sp>
          <p:nvSpPr>
            <p:cNvPr id="549" name="Rectangle 130"/>
            <p:cNvSpPr/>
            <p:nvPr/>
          </p:nvSpPr>
          <p:spPr>
            <a:xfrm>
              <a:off x="1267560" y="163692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20</a:t>
              </a:r>
              <a:endParaRPr lang="en-US" sz="2000" b="0" u="none" strike="noStrike">
                <a:solidFill>
                  <a:srgbClr val="000000"/>
                </a:solidFill>
                <a:effectLst/>
                <a:uFillTx/>
                <a:latin typeface="Times New Roman"/>
              </a:endParaRPr>
            </a:p>
          </p:txBody>
        </p:sp>
        <p:sp>
          <p:nvSpPr>
            <p:cNvPr id="550" name="Rectangle 131"/>
            <p:cNvSpPr/>
            <p:nvPr/>
          </p:nvSpPr>
          <p:spPr>
            <a:xfrm>
              <a:off x="1105200" y="161460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sp>
        <p:nvSpPr>
          <p:cNvPr id="551" name="Rectangle 133"/>
          <p:cNvSpPr/>
          <p:nvPr/>
        </p:nvSpPr>
        <p:spPr>
          <a:xfrm>
            <a:off x="822240" y="2270160"/>
            <a:ext cx="1076400" cy="252360"/>
          </a:xfrm>
          <a:prstGeom prst="rect">
            <a:avLst/>
          </a:prstGeom>
          <a:solidFill>
            <a:srgbClr val="FFFFFF"/>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552" name="Group 137"/>
          <p:cNvGrpSpPr/>
          <p:nvPr/>
        </p:nvGrpSpPr>
        <p:grpSpPr>
          <a:xfrm>
            <a:off x="1049760" y="2266920"/>
            <a:ext cx="1103400" cy="327240"/>
            <a:chOff x="1049760" y="2266920"/>
            <a:chExt cx="1103400" cy="327240"/>
          </a:xfrm>
        </p:grpSpPr>
        <p:sp>
          <p:nvSpPr>
            <p:cNvPr id="553" name="Rectangle 134"/>
            <p:cNvSpPr/>
            <p:nvPr/>
          </p:nvSpPr>
          <p:spPr>
            <a:xfrm>
              <a:off x="1431720" y="2288880"/>
              <a:ext cx="7214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dB/dec</a:t>
              </a:r>
              <a:endParaRPr lang="en-US" sz="2000" b="0" u="none" strike="noStrike">
                <a:solidFill>
                  <a:srgbClr val="000000"/>
                </a:solidFill>
                <a:effectLst/>
                <a:uFillTx/>
                <a:latin typeface="Times New Roman"/>
              </a:endParaRPr>
            </a:p>
          </p:txBody>
        </p:sp>
        <p:sp>
          <p:nvSpPr>
            <p:cNvPr id="554" name="Rectangle 135"/>
            <p:cNvSpPr/>
            <p:nvPr/>
          </p:nvSpPr>
          <p:spPr>
            <a:xfrm>
              <a:off x="1211760" y="228888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40</a:t>
              </a:r>
              <a:endParaRPr lang="en-US" sz="2000" b="0" u="none" strike="noStrike">
                <a:solidFill>
                  <a:srgbClr val="000000"/>
                </a:solidFill>
                <a:effectLst/>
                <a:uFillTx/>
                <a:latin typeface="Times New Roman"/>
              </a:endParaRPr>
            </a:p>
          </p:txBody>
        </p:sp>
        <p:sp>
          <p:nvSpPr>
            <p:cNvPr id="555" name="Rectangle 136"/>
            <p:cNvSpPr/>
            <p:nvPr/>
          </p:nvSpPr>
          <p:spPr>
            <a:xfrm>
              <a:off x="1049760" y="226692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sp>
        <p:nvSpPr>
          <p:cNvPr id="556" name="Rectangle 138"/>
          <p:cNvSpPr/>
          <p:nvPr/>
        </p:nvSpPr>
        <p:spPr>
          <a:xfrm>
            <a:off x="3443400" y="3757680"/>
            <a:ext cx="1076040" cy="252360"/>
          </a:xfrm>
          <a:prstGeom prst="rect">
            <a:avLst/>
          </a:prstGeom>
          <a:solidFill>
            <a:srgbClr val="FFFFFF"/>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557" name="Group 142"/>
          <p:cNvGrpSpPr/>
          <p:nvPr/>
        </p:nvGrpSpPr>
        <p:grpSpPr>
          <a:xfrm>
            <a:off x="3488040" y="3743280"/>
            <a:ext cx="1099440" cy="327240"/>
            <a:chOff x="3488040" y="3743280"/>
            <a:chExt cx="1099440" cy="327240"/>
          </a:xfrm>
        </p:grpSpPr>
        <p:sp>
          <p:nvSpPr>
            <p:cNvPr id="558" name="Rectangle 139"/>
            <p:cNvSpPr/>
            <p:nvPr/>
          </p:nvSpPr>
          <p:spPr>
            <a:xfrm>
              <a:off x="3866040" y="3765240"/>
              <a:ext cx="7214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dB/dec</a:t>
              </a:r>
              <a:endParaRPr lang="en-US" sz="2000" b="0" u="none" strike="noStrike">
                <a:solidFill>
                  <a:srgbClr val="000000"/>
                </a:solidFill>
                <a:effectLst/>
                <a:uFillTx/>
                <a:latin typeface="Times New Roman"/>
              </a:endParaRPr>
            </a:p>
          </p:txBody>
        </p:sp>
        <p:sp>
          <p:nvSpPr>
            <p:cNvPr id="559" name="Rectangle 140"/>
            <p:cNvSpPr/>
            <p:nvPr/>
          </p:nvSpPr>
          <p:spPr>
            <a:xfrm>
              <a:off x="3645720" y="376524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60</a:t>
              </a:r>
              <a:endParaRPr lang="en-US" sz="2000" b="0" u="none" strike="noStrike">
                <a:solidFill>
                  <a:srgbClr val="000000"/>
                </a:solidFill>
                <a:effectLst/>
                <a:uFillTx/>
                <a:latin typeface="Times New Roman"/>
              </a:endParaRPr>
            </a:p>
          </p:txBody>
        </p:sp>
        <p:sp>
          <p:nvSpPr>
            <p:cNvPr id="560" name="Rectangle 141"/>
            <p:cNvSpPr/>
            <p:nvPr/>
          </p:nvSpPr>
          <p:spPr>
            <a:xfrm>
              <a:off x="3488040" y="3743280"/>
              <a:ext cx="14040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pic>
        <p:nvPicPr>
          <p:cNvPr id="561" name="Picture 144"/>
          <p:cNvPicPr/>
          <p:nvPr/>
        </p:nvPicPr>
        <p:blipFill>
          <a:blip r:embed="rId13"/>
          <a:stretch/>
        </p:blipFill>
        <p:spPr>
          <a:xfrm>
            <a:off x="2158920" y="2133720"/>
            <a:ext cx="417600" cy="393480"/>
          </a:xfrm>
          <a:prstGeom prst="rect">
            <a:avLst/>
          </a:prstGeom>
          <a:noFill/>
          <a:ln w="0">
            <a:noFill/>
          </a:ln>
        </p:spPr>
      </p:pic>
      <p:sp>
        <p:nvSpPr>
          <p:cNvPr id="562" name="Rectangle 154"/>
          <p:cNvSpPr/>
          <p:nvPr/>
        </p:nvSpPr>
        <p:spPr>
          <a:xfrm>
            <a:off x="1528200" y="2666880"/>
            <a:ext cx="25524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10</a:t>
            </a:r>
            <a:endParaRPr lang="en-US" sz="2000" b="0" u="none" strike="noStrike">
              <a:solidFill>
                <a:srgbClr val="000000"/>
              </a:solidFill>
              <a:effectLst/>
              <a:uFillTx/>
              <a:latin typeface="Times New Roman"/>
            </a:endParaRPr>
          </a:p>
        </p:txBody>
      </p:sp>
      <p:sp>
        <p:nvSpPr>
          <p:cNvPr id="563" name="Rectangle 155"/>
          <p:cNvSpPr/>
          <p:nvPr/>
        </p:nvSpPr>
        <p:spPr>
          <a:xfrm>
            <a:off x="2920320" y="2666880"/>
            <a:ext cx="38232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100</a:t>
            </a:r>
            <a:endParaRPr lang="en-US" sz="2000" b="0" u="none" strike="noStrike">
              <a:solidFill>
                <a:srgbClr val="000000"/>
              </a:solidFill>
              <a:effectLst/>
              <a:uFillTx/>
              <a:latin typeface="Times New Roman"/>
            </a:endParaRPr>
          </a:p>
        </p:txBody>
      </p:sp>
      <p:sp>
        <p:nvSpPr>
          <p:cNvPr id="564" name="Rectangle 156"/>
          <p:cNvSpPr/>
          <p:nvPr/>
        </p:nvSpPr>
        <p:spPr>
          <a:xfrm>
            <a:off x="3895560" y="2665440"/>
            <a:ext cx="50976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1000</a:t>
            </a:r>
            <a:endParaRPr lang="en-US" sz="2000" b="0" u="none" strike="noStrike">
              <a:solidFill>
                <a:srgbClr val="000000"/>
              </a:solidFill>
              <a:effectLst/>
              <a:uFillTx/>
              <a:latin typeface="Times New Roman"/>
            </a:endParaRPr>
          </a:p>
        </p:txBody>
      </p:sp>
      <p:grpSp>
        <p:nvGrpSpPr>
          <p:cNvPr id="565" name="Group 171"/>
          <p:cNvGrpSpPr/>
          <p:nvPr/>
        </p:nvGrpSpPr>
        <p:grpSpPr>
          <a:xfrm>
            <a:off x="792000" y="1763640"/>
            <a:ext cx="297720" cy="430560"/>
            <a:chOff x="792000" y="1763640"/>
            <a:chExt cx="297720" cy="430560"/>
          </a:xfrm>
        </p:grpSpPr>
        <p:sp>
          <p:nvSpPr>
            <p:cNvPr id="566" name="Line 167"/>
            <p:cNvSpPr/>
            <p:nvPr/>
          </p:nvSpPr>
          <p:spPr>
            <a:xfrm>
              <a:off x="792000" y="1773000"/>
              <a:ext cx="0" cy="2430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67" name="Line 168"/>
            <p:cNvSpPr/>
            <p:nvPr/>
          </p:nvSpPr>
          <p:spPr>
            <a:xfrm>
              <a:off x="1066320" y="1773000"/>
              <a:ext cx="0" cy="2430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68" name="Rectangle 169"/>
            <p:cNvSpPr/>
            <p:nvPr/>
          </p:nvSpPr>
          <p:spPr>
            <a:xfrm>
              <a:off x="961920" y="188892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o</a:t>
              </a:r>
              <a:endParaRPr lang="en-US" sz="2000" b="0" u="none" strike="noStrike">
                <a:solidFill>
                  <a:srgbClr val="000000"/>
                </a:solidFill>
                <a:effectLst/>
                <a:uFillTx/>
                <a:latin typeface="Times New Roman"/>
              </a:endParaRPr>
            </a:p>
          </p:txBody>
        </p:sp>
        <p:sp>
          <p:nvSpPr>
            <p:cNvPr id="569" name="Rectangle 170"/>
            <p:cNvSpPr/>
            <p:nvPr/>
          </p:nvSpPr>
          <p:spPr>
            <a:xfrm>
              <a:off x="804960" y="1763640"/>
              <a:ext cx="18468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G</a:t>
              </a:r>
              <a:endParaRPr lang="en-US" sz="2000" b="0" u="none" strike="noStrike">
                <a:solidFill>
                  <a:srgbClr val="000000"/>
                </a:solidFill>
                <a:effectLst/>
                <a:uFillTx/>
                <a:latin typeface="Times New Roman"/>
              </a:endParaRPr>
            </a:p>
          </p:txBody>
        </p:sp>
      </p:grpSp>
      <p:grpSp>
        <p:nvGrpSpPr>
          <p:cNvPr id="570" name="Group 174"/>
          <p:cNvGrpSpPr/>
          <p:nvPr/>
        </p:nvGrpSpPr>
        <p:grpSpPr>
          <a:xfrm>
            <a:off x="928440" y="3254400"/>
            <a:ext cx="2949840" cy="865080"/>
            <a:chOff x="928440" y="3254400"/>
            <a:chExt cx="2949840" cy="865080"/>
          </a:xfrm>
        </p:grpSpPr>
        <p:sp>
          <p:nvSpPr>
            <p:cNvPr id="571" name="Rectangle 172"/>
            <p:cNvSpPr/>
            <p:nvPr/>
          </p:nvSpPr>
          <p:spPr>
            <a:xfrm>
              <a:off x="928440" y="326844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 </a:t>
              </a:r>
              <a:endParaRPr lang="en-US" sz="2000" b="0" u="none" strike="noStrike">
                <a:solidFill>
                  <a:srgbClr val="000000"/>
                </a:solidFill>
                <a:effectLst/>
                <a:uFillTx/>
                <a:latin typeface="Times New Roman"/>
              </a:endParaRPr>
            </a:p>
          </p:txBody>
        </p:sp>
        <p:sp>
          <p:nvSpPr>
            <p:cNvPr id="572" name="Freeform 173"/>
            <p:cNvSpPr/>
            <p:nvPr/>
          </p:nvSpPr>
          <p:spPr>
            <a:xfrm>
              <a:off x="974880" y="3254400"/>
              <a:ext cx="2903400" cy="865080"/>
            </a:xfrm>
            <a:custGeom>
              <a:avLst/>
              <a:gdLst>
                <a:gd name="GluePoint1X" fmla="*/ 0 w 1829"/>
                <a:gd name="GluePoint1Y" fmla="*/ 0 h 545"/>
                <a:gd name="GluePoint2X" fmla="*/ 489 w 1829"/>
                <a:gd name="GluePoint2Y" fmla="*/ 121 h 545"/>
                <a:gd name="GluePoint3X" fmla="*/ 1227 w 1829"/>
                <a:gd name="GluePoint3Y" fmla="*/ 444 h 545"/>
                <a:gd name="GluePoint4X" fmla="*/ 1829 w 1829"/>
                <a:gd name="GluePoint4Y" fmla="*/ 545 h 545"/>
              </a:gdLst>
              <a:ahLst/>
              <a:cxnLst>
                <a:cxn ang="0">
                  <a:pos x="GluePoint1X" y="GluePoint1Y"/>
                </a:cxn>
                <a:cxn ang="0">
                  <a:pos x="GluePoint2X" y="GluePoint2Y"/>
                </a:cxn>
                <a:cxn ang="0">
                  <a:pos x="GluePoint3X" y="GluePoint3Y"/>
                </a:cxn>
                <a:cxn ang="0">
                  <a:pos x="GluePoint4X" y="GluePoint4Y"/>
                </a:cxn>
              </a:cxnLst>
              <a:rect l="l" t="t" r="r" b="b"/>
              <a:pathLst>
                <a:path w="1829" h="545">
                  <a:moveTo>
                    <a:pt x="0" y="0"/>
                  </a:moveTo>
                  <a:cubicBezTo>
                    <a:pt x="118" y="16"/>
                    <a:pt x="279" y="49"/>
                    <a:pt x="489" y="121"/>
                  </a:cubicBezTo>
                  <a:cubicBezTo>
                    <a:pt x="698" y="192"/>
                    <a:pt x="1026" y="375"/>
                    <a:pt x="1227" y="444"/>
                  </a:cubicBezTo>
                  <a:cubicBezTo>
                    <a:pt x="1427" y="512"/>
                    <a:pt x="1711" y="534"/>
                    <a:pt x="1829" y="545"/>
                  </a:cubicBezTo>
                </a:path>
              </a:pathLst>
            </a:custGeom>
            <a:noFill/>
            <a:ln w="2844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573" name="Group 186"/>
          <p:cNvGrpSpPr/>
          <p:nvPr/>
        </p:nvGrpSpPr>
        <p:grpSpPr>
          <a:xfrm>
            <a:off x="1166400" y="2325600"/>
            <a:ext cx="3156480" cy="1765440"/>
            <a:chOff x="1166400" y="2325600"/>
            <a:chExt cx="3156480" cy="1765440"/>
          </a:xfrm>
        </p:grpSpPr>
        <p:sp>
          <p:nvSpPr>
            <p:cNvPr id="574" name="Line 126"/>
            <p:cNvSpPr/>
            <p:nvPr/>
          </p:nvSpPr>
          <p:spPr>
            <a:xfrm>
              <a:off x="1962000" y="2325600"/>
              <a:ext cx="873360" cy="430200"/>
            </a:xfrm>
            <a:prstGeom prst="line">
              <a:avLst/>
            </a:prstGeom>
            <a:ln cap="rnd" w="22320">
              <a:solidFill>
                <a:srgbClr val="FF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75" name="Line 127"/>
            <p:cNvSpPr/>
            <p:nvPr/>
          </p:nvSpPr>
          <p:spPr>
            <a:xfrm>
              <a:off x="2835360" y="2755800"/>
              <a:ext cx="303120" cy="293760"/>
            </a:xfrm>
            <a:prstGeom prst="line">
              <a:avLst/>
            </a:prstGeom>
            <a:ln cap="rnd" w="22320">
              <a:solidFill>
                <a:srgbClr val="FF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76" name="Line 128"/>
            <p:cNvSpPr/>
            <p:nvPr/>
          </p:nvSpPr>
          <p:spPr>
            <a:xfrm>
              <a:off x="3138480" y="3049560"/>
              <a:ext cx="422280" cy="628560"/>
            </a:xfrm>
            <a:prstGeom prst="line">
              <a:avLst/>
            </a:prstGeom>
            <a:ln cap="rnd" w="22320">
              <a:solidFill>
                <a:srgbClr val="FF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577" name="Group 177"/>
            <p:cNvGrpSpPr/>
            <p:nvPr/>
          </p:nvGrpSpPr>
          <p:grpSpPr>
            <a:xfrm>
              <a:off x="1166400" y="3198960"/>
              <a:ext cx="3156480" cy="892080"/>
              <a:chOff x="1166400" y="3198960"/>
              <a:chExt cx="3156480" cy="892080"/>
            </a:xfrm>
          </p:grpSpPr>
          <p:sp>
            <p:nvSpPr>
              <p:cNvPr id="578" name="Rectangle 175"/>
              <p:cNvSpPr/>
              <p:nvPr/>
            </p:nvSpPr>
            <p:spPr>
              <a:xfrm>
                <a:off x="1166400" y="321480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 </a:t>
                </a:r>
                <a:endParaRPr lang="en-US" sz="2000" b="0" u="none" strike="noStrike">
                  <a:solidFill>
                    <a:srgbClr val="000000"/>
                  </a:solidFill>
                  <a:effectLst/>
                  <a:uFillTx/>
                  <a:latin typeface="Times New Roman"/>
                </a:endParaRPr>
              </a:p>
            </p:txBody>
          </p:sp>
          <p:sp>
            <p:nvSpPr>
              <p:cNvPr id="579" name="Freeform 176"/>
              <p:cNvSpPr/>
              <p:nvPr/>
            </p:nvSpPr>
            <p:spPr>
              <a:xfrm>
                <a:off x="1211400" y="3198960"/>
                <a:ext cx="3111480" cy="892080"/>
              </a:xfrm>
              <a:custGeom>
                <a:avLst/>
                <a:gdLst>
                  <a:gd name="GluePoint1X" fmla="*/ 0 w 1960"/>
                  <a:gd name="GluePoint1Y" fmla="*/ 0 h 562"/>
                  <a:gd name="GluePoint2X" fmla="*/ 632 w 1960"/>
                  <a:gd name="GluePoint2Y" fmla="*/ 101 h 562"/>
                  <a:gd name="GluePoint3X" fmla="*/ 1294 w 1960"/>
                  <a:gd name="GluePoint3Y" fmla="*/ 438 h 562"/>
                  <a:gd name="GluePoint4X" fmla="*/ 1960 w 1960"/>
                  <a:gd name="GluePoint4Y" fmla="*/ 562 h 562"/>
                </a:gdLst>
                <a:ahLst/>
                <a:cxnLst>
                  <a:cxn ang="0">
                    <a:pos x="GluePoint1X" y="GluePoint1Y"/>
                  </a:cxn>
                  <a:cxn ang="0">
                    <a:pos x="GluePoint2X" y="GluePoint2Y"/>
                  </a:cxn>
                  <a:cxn ang="0">
                    <a:pos x="GluePoint3X" y="GluePoint3Y"/>
                  </a:cxn>
                  <a:cxn ang="0">
                    <a:pos x="GluePoint4X" y="GluePoint4Y"/>
                  </a:cxn>
                </a:cxnLst>
                <a:rect l="l" t="t" r="r" b="b"/>
                <a:pathLst>
                  <a:path w="1960" h="562">
                    <a:moveTo>
                      <a:pt x="0" y="0"/>
                    </a:moveTo>
                    <a:cubicBezTo>
                      <a:pt x="135" y="11"/>
                      <a:pt x="370" y="43"/>
                      <a:pt x="632" y="101"/>
                    </a:cubicBezTo>
                    <a:cubicBezTo>
                      <a:pt x="893" y="160"/>
                      <a:pt x="1098" y="320"/>
                      <a:pt x="1294" y="438"/>
                    </a:cubicBezTo>
                    <a:cubicBezTo>
                      <a:pt x="1489" y="556"/>
                      <a:pt x="1825" y="559"/>
                      <a:pt x="1960" y="562"/>
                    </a:cubicBezTo>
                  </a:path>
                </a:pathLst>
              </a:custGeom>
              <a:noFill/>
              <a:ln w="27000">
                <a:solidFill>
                  <a:srgbClr val="FF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grpSp>
        <p:nvGrpSpPr>
          <p:cNvPr id="580" name="Group 187"/>
          <p:cNvGrpSpPr/>
          <p:nvPr/>
        </p:nvGrpSpPr>
        <p:grpSpPr>
          <a:xfrm>
            <a:off x="2441880" y="2324160"/>
            <a:ext cx="1266120" cy="1289520"/>
            <a:chOff x="2441880" y="2324160"/>
            <a:chExt cx="1266120" cy="1289520"/>
          </a:xfrm>
        </p:grpSpPr>
        <p:grpSp>
          <p:nvGrpSpPr>
            <p:cNvPr id="581" name="Group 149"/>
            <p:cNvGrpSpPr/>
            <p:nvPr/>
          </p:nvGrpSpPr>
          <p:grpSpPr>
            <a:xfrm>
              <a:off x="2441880" y="2324160"/>
              <a:ext cx="264600" cy="470520"/>
              <a:chOff x="2441880" y="2324160"/>
              <a:chExt cx="264600" cy="470520"/>
            </a:xfrm>
          </p:grpSpPr>
          <p:sp>
            <p:nvSpPr>
              <p:cNvPr id="582" name="Rectangle 146"/>
              <p:cNvSpPr/>
              <p:nvPr/>
            </p:nvSpPr>
            <p:spPr>
              <a:xfrm>
                <a:off x="2592720" y="2489400"/>
                <a:ext cx="11376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c</a:t>
                </a:r>
                <a:endParaRPr lang="en-US" sz="2000" b="0" u="none" strike="noStrike">
                  <a:solidFill>
                    <a:srgbClr val="000000"/>
                  </a:solidFill>
                  <a:effectLst/>
                  <a:uFillTx/>
                  <a:latin typeface="Times New Roman"/>
                </a:endParaRPr>
              </a:p>
            </p:txBody>
          </p:sp>
          <p:sp>
            <p:nvSpPr>
              <p:cNvPr id="583" name="Rectangle 147"/>
              <p:cNvSpPr/>
              <p:nvPr/>
            </p:nvSpPr>
            <p:spPr>
              <a:xfrm>
                <a:off x="2441880" y="2337120"/>
                <a:ext cx="17532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sp>
            <p:nvSpPr>
              <p:cNvPr id="584" name="Rectangle 148"/>
              <p:cNvSpPr/>
              <p:nvPr/>
            </p:nvSpPr>
            <p:spPr>
              <a:xfrm>
                <a:off x="2600280" y="2324160"/>
                <a:ext cx="6372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85" name="Group 165"/>
            <p:cNvGrpSpPr/>
            <p:nvPr/>
          </p:nvGrpSpPr>
          <p:grpSpPr>
            <a:xfrm>
              <a:off x="3402000" y="3159000"/>
              <a:ext cx="306000" cy="448200"/>
              <a:chOff x="3402000" y="3159000"/>
              <a:chExt cx="306000" cy="448200"/>
            </a:xfrm>
          </p:grpSpPr>
          <p:sp>
            <p:nvSpPr>
              <p:cNvPr id="586" name="Line 161"/>
              <p:cNvSpPr/>
              <p:nvPr/>
            </p:nvSpPr>
            <p:spPr>
              <a:xfrm>
                <a:off x="3402000" y="3159000"/>
                <a:ext cx="0" cy="293760"/>
              </a:xfrm>
              <a:prstGeom prst="line">
                <a:avLst/>
              </a:prstGeom>
              <a:ln w="79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7" name="Line 162"/>
              <p:cNvSpPr/>
              <p:nvPr/>
            </p:nvSpPr>
            <p:spPr>
              <a:xfrm>
                <a:off x="3692520" y="3159000"/>
                <a:ext cx="0" cy="293760"/>
              </a:xfrm>
              <a:prstGeom prst="line">
                <a:avLst/>
              </a:prstGeom>
              <a:ln w="792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88" name="Rectangle 163"/>
              <p:cNvSpPr/>
              <p:nvPr/>
            </p:nvSpPr>
            <p:spPr>
              <a:xfrm>
                <a:off x="3580200" y="330192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g</a:t>
                </a:r>
                <a:endParaRPr lang="en-US" sz="2000" b="0" u="none" strike="noStrike">
                  <a:solidFill>
                    <a:srgbClr val="000000"/>
                  </a:solidFill>
                  <a:effectLst/>
                  <a:uFillTx/>
                  <a:latin typeface="Times New Roman"/>
                </a:endParaRPr>
              </a:p>
            </p:txBody>
          </p:sp>
          <p:sp>
            <p:nvSpPr>
              <p:cNvPr id="589" name="Rectangle 164"/>
              <p:cNvSpPr/>
              <p:nvPr/>
            </p:nvSpPr>
            <p:spPr>
              <a:xfrm>
                <a:off x="3416400" y="3173040"/>
                <a:ext cx="18468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G</a:t>
                </a:r>
                <a:endParaRPr lang="en-US" sz="2000" b="0" u="none" strike="noStrike">
                  <a:solidFill>
                    <a:srgbClr val="000000"/>
                  </a:solidFill>
                  <a:effectLst/>
                  <a:uFillTx/>
                  <a:latin typeface="Times New Roman"/>
                </a:endParaRPr>
              </a:p>
            </p:txBody>
          </p:sp>
        </p:grpSp>
        <p:grpSp>
          <p:nvGrpSpPr>
            <p:cNvPr id="590" name="Group 180"/>
            <p:cNvGrpSpPr/>
            <p:nvPr/>
          </p:nvGrpSpPr>
          <p:grpSpPr>
            <a:xfrm>
              <a:off x="2457360" y="3159000"/>
              <a:ext cx="275760" cy="454680"/>
              <a:chOff x="2457360" y="3159000"/>
              <a:chExt cx="275760" cy="454680"/>
            </a:xfrm>
          </p:grpSpPr>
          <p:sp>
            <p:nvSpPr>
              <p:cNvPr id="591" name="Rectangle 178"/>
              <p:cNvSpPr/>
              <p:nvPr/>
            </p:nvSpPr>
            <p:spPr>
              <a:xfrm>
                <a:off x="2605320" y="330840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g</a:t>
                </a:r>
                <a:endParaRPr lang="en-US" sz="2000" b="0" u="none" strike="noStrike">
                  <a:solidFill>
                    <a:srgbClr val="000000"/>
                  </a:solidFill>
                  <a:effectLst/>
                  <a:uFillTx/>
                  <a:latin typeface="Times New Roman"/>
                </a:endParaRPr>
              </a:p>
            </p:txBody>
          </p:sp>
          <p:sp>
            <p:nvSpPr>
              <p:cNvPr id="592" name="Rectangle 179"/>
              <p:cNvSpPr/>
              <p:nvPr/>
            </p:nvSpPr>
            <p:spPr>
              <a:xfrm>
                <a:off x="2457360" y="3159000"/>
                <a:ext cx="15408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grpSp>
        <p:nvGrpSpPr>
          <p:cNvPr id="593" name="Group 183"/>
          <p:cNvGrpSpPr/>
          <p:nvPr/>
        </p:nvGrpSpPr>
        <p:grpSpPr>
          <a:xfrm>
            <a:off x="2457360" y="3789360"/>
            <a:ext cx="267840" cy="457560"/>
            <a:chOff x="2457360" y="3789360"/>
            <a:chExt cx="267840" cy="457560"/>
          </a:xfrm>
        </p:grpSpPr>
        <p:sp>
          <p:nvSpPr>
            <p:cNvPr id="594" name="Rectangle 181"/>
            <p:cNvSpPr/>
            <p:nvPr/>
          </p:nvSpPr>
          <p:spPr>
            <a:xfrm>
              <a:off x="2597400" y="3941640"/>
              <a:ext cx="127800" cy="3052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imes New Roman"/>
                </a:rPr>
                <a:t>o</a:t>
              </a:r>
              <a:endParaRPr lang="en-US" sz="2000" b="0" u="none" strike="noStrike">
                <a:solidFill>
                  <a:srgbClr val="000000"/>
                </a:solidFill>
                <a:effectLst/>
                <a:uFillTx/>
                <a:latin typeface="Times New Roman"/>
              </a:endParaRPr>
            </a:p>
          </p:txBody>
        </p:sp>
        <p:sp>
          <p:nvSpPr>
            <p:cNvPr id="595" name="Rectangle 182"/>
            <p:cNvSpPr/>
            <p:nvPr/>
          </p:nvSpPr>
          <p:spPr>
            <a:xfrm>
              <a:off x="2457360" y="3789360"/>
              <a:ext cx="154080" cy="3052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Symbol"/>
                  <a:ea typeface="Symbol"/>
                </a:rPr>
                <a:t></a:t>
              </a:r>
              <a:endParaRPr lang="en-US" sz="2000" b="0" u="none" strike="noStrike">
                <a:solidFill>
                  <a:srgbClr val="000000"/>
                </a:solidFill>
                <a:effectLst/>
                <a:uFillTx/>
                <a:latin typeface="Times New Roman"/>
              </a:endParaRPr>
            </a:p>
          </p:txBody>
        </p:sp>
      </p:grpSp>
      <p:grpSp>
        <p:nvGrpSpPr>
          <p:cNvPr id="596" name="Group 185"/>
          <p:cNvGrpSpPr/>
          <p:nvPr/>
        </p:nvGrpSpPr>
        <p:grpSpPr>
          <a:xfrm>
            <a:off x="717480" y="2141640"/>
            <a:ext cx="3942000" cy="511200"/>
            <a:chOff x="717480" y="2141640"/>
            <a:chExt cx="3942000" cy="511200"/>
          </a:xfrm>
        </p:grpSpPr>
        <p:sp>
          <p:nvSpPr>
            <p:cNvPr id="597" name="Freeform 143"/>
            <p:cNvSpPr/>
            <p:nvPr/>
          </p:nvSpPr>
          <p:spPr>
            <a:xfrm>
              <a:off x="717480" y="2141640"/>
              <a:ext cx="3421080" cy="511200"/>
            </a:xfrm>
            <a:custGeom>
              <a:avLst/>
              <a:gdLst>
                <a:gd name="GluePoint1X" fmla="*/ 0 w 2155"/>
                <a:gd name="GluePoint1Y" fmla="*/ 322 h 322"/>
                <a:gd name="GluePoint2X" fmla="*/ 763 w 2155"/>
                <a:gd name="GluePoint2Y" fmla="*/ 322 h 322"/>
                <a:gd name="GluePoint3X" fmla="*/ 1459 w 2155"/>
                <a:gd name="GluePoint3Y" fmla="*/ 0 h 322"/>
                <a:gd name="GluePoint4X" fmla="*/ 2155 w 2155"/>
                <a:gd name="GluePoint4Y" fmla="*/ 0 h 322"/>
              </a:gdLst>
              <a:ahLst/>
              <a:cxnLst>
                <a:cxn ang="0">
                  <a:pos x="GluePoint1X" y="GluePoint1Y"/>
                </a:cxn>
                <a:cxn ang="0">
                  <a:pos x="GluePoint2X" y="GluePoint2Y"/>
                </a:cxn>
                <a:cxn ang="0">
                  <a:pos x="GluePoint3X" y="GluePoint3Y"/>
                </a:cxn>
                <a:cxn ang="0">
                  <a:pos x="GluePoint4X" y="GluePoint4Y"/>
                </a:cxn>
              </a:cxnLst>
              <a:rect l="l" t="t" r="r" b="b"/>
              <a:pathLst>
                <a:path w="2155" h="322">
                  <a:moveTo>
                    <a:pt x="0" y="322"/>
                  </a:moveTo>
                  <a:lnTo>
                    <a:pt x="763" y="322"/>
                  </a:lnTo>
                  <a:lnTo>
                    <a:pt x="1459" y="0"/>
                  </a:lnTo>
                  <a:lnTo>
                    <a:pt x="2155" y="0"/>
                  </a:lnTo>
                </a:path>
              </a:pathLst>
            </a:custGeom>
            <a:noFill/>
            <a:ln cap="rnd" w="22320">
              <a:solidFill>
                <a:srgbClr val="0000FF"/>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598" name="Freeform 184"/>
            <p:cNvSpPr/>
            <p:nvPr/>
          </p:nvSpPr>
          <p:spPr>
            <a:xfrm>
              <a:off x="836640" y="2436840"/>
              <a:ext cx="3822840" cy="185760"/>
            </a:xfrm>
            <a:custGeom>
              <a:avLst/>
              <a:gdLst>
                <a:gd name="GluePoint1X" fmla="*/ 0 w 2408"/>
                <a:gd name="GluePoint1Y" fmla="*/ 117 h 117"/>
                <a:gd name="GluePoint2X" fmla="*/ 281 w 2408"/>
                <a:gd name="GluePoint2Y" fmla="*/ 89 h 117"/>
                <a:gd name="GluePoint3X" fmla="*/ 1112 w 2408"/>
                <a:gd name="GluePoint3Y" fmla="*/ 1 h 117"/>
                <a:gd name="GluePoint4X" fmla="*/ 2144 w 2408"/>
                <a:gd name="GluePoint4Y" fmla="*/ 85 h 117"/>
                <a:gd name="GluePoint5X" fmla="*/ 2408 w 2408"/>
                <a:gd name="GluePoint5Y" fmla="*/ 117 h 11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408" h="117">
                  <a:moveTo>
                    <a:pt x="0" y="117"/>
                  </a:moveTo>
                  <a:cubicBezTo>
                    <a:pt x="47" y="112"/>
                    <a:pt x="96" y="108"/>
                    <a:pt x="281" y="89"/>
                  </a:cubicBezTo>
                  <a:cubicBezTo>
                    <a:pt x="466" y="70"/>
                    <a:pt x="802" y="2"/>
                    <a:pt x="1112" y="1"/>
                  </a:cubicBezTo>
                  <a:cubicBezTo>
                    <a:pt x="1422" y="0"/>
                    <a:pt x="1928" y="66"/>
                    <a:pt x="2144" y="85"/>
                  </a:cubicBezTo>
                  <a:cubicBezTo>
                    <a:pt x="2360" y="104"/>
                    <a:pt x="2353" y="110"/>
                    <a:pt x="2408" y="117"/>
                  </a:cubicBezTo>
                </a:path>
              </a:pathLst>
            </a:custGeom>
            <a:noFill/>
            <a:ln w="9360">
              <a:solidFill>
                <a:srgbClr val="0000FF"/>
              </a:solidFill>
              <a:prstDash val="dash"/>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p:transition>
    <p:random/>
  </p:transition>
  <p:timing>
    <p:tnLst>
      <p:par>
        <p:cTn id="756" dur="indefinite" restart="never" nodeType="tmRoot">
          <p:childTnLst>
            <p:seq>
              <p:cTn id="757" dur="indefinite" nodeType="mainSeq">
                <p:childTnLst>
                  <p:par>
                    <p:cTn id="758" fill="hold" nodeType="clickEffect">
                      <p:stCondLst>
                        <p:cond delay="indefinite"/>
                      </p:stCondLst>
                      <p:childTnLst>
                        <p:par>
                          <p:cTn id="759" fill="hold" nodeType="withEffect">
                            <p:stCondLst>
                              <p:cond delay="0"/>
                            </p:stCondLst>
                            <p:childTnLst>
                              <p:par>
                                <p:cTn id="760" presetID="3" presetClass="entr" fill="hold" nodeType="clickEffect" presetSubtype="10">
                                  <p:stCondLst>
                                    <p:cond delay="0"/>
                                  </p:stCondLst>
                                  <p:childTnLst>
                                    <p:set>
                                      <p:cBhvr>
                                        <p:cTn id="761" dur="1" fill="hold">
                                          <p:stCondLst>
                                            <p:cond delay="0"/>
                                          </p:stCondLst>
                                        </p:cTn>
                                        <p:tgtEl>
                                          <p:spTgt spid="460"/>
                                        </p:tgtEl>
                                        <p:attrNameLst>
                                          <p:attrName>style.visibility</p:attrName>
                                        </p:attrNameLst>
                                      </p:cBhvr>
                                      <p:to>
                                        <p:strVal val="visible"/>
                                      </p:to>
                                    </p:set>
                                    <p:animEffect transition="in" filter="blinds(horizontal)">
                                      <p:cBhvr additive="repl">
                                        <p:cTn id="762" dur="500"/>
                                        <p:tgtEl>
                                          <p:spTgt spid="460"/>
                                        </p:tgtEl>
                                      </p:cBhvr>
                                    </p:animEffect>
                                  </p:childTnLst>
                                </p:cTn>
                              </p:par>
                            </p:childTnLst>
                          </p:cTn>
                        </p:par>
                        <p:par>
                          <p:cTn id="763" fill="hold" nodeType="afterEffect">
                            <p:stCondLst>
                              <p:cond delay="500"/>
                            </p:stCondLst>
                            <p:childTnLst>
                              <p:par>
                                <p:cTn id="764" presetID="18" presetClass="entr" fill="hold" nodeType="afterEffect" presetSubtype="12">
                                  <p:stCondLst>
                                    <p:cond delay="0"/>
                                  </p:stCondLst>
                                  <p:childTnLst>
                                    <p:set>
                                      <p:cBhvr>
                                        <p:cTn id="765" dur="1" fill="hold">
                                          <p:stCondLst>
                                            <p:cond delay="0"/>
                                          </p:stCondLst>
                                        </p:cTn>
                                        <p:tgtEl>
                                          <p:spTgt spid="464"/>
                                        </p:tgtEl>
                                        <p:attrNameLst>
                                          <p:attrName>style.visibility</p:attrName>
                                        </p:attrNameLst>
                                      </p:cBhvr>
                                      <p:to>
                                        <p:strVal val="visible"/>
                                      </p:to>
                                    </p:set>
                                    <p:animEffect transition="in" filter="strips(downLeft)">
                                      <p:cBhvr additive="repl">
                                        <p:cTn id="766" dur="500"/>
                                        <p:tgtEl>
                                          <p:spTgt spid="464"/>
                                        </p:tgtEl>
                                      </p:cBhvr>
                                    </p:animEffect>
                                  </p:childTnLst>
                                </p:cTn>
                              </p:par>
                            </p:childTnLst>
                          </p:cTn>
                        </p:par>
                      </p:childTnLst>
                    </p:cTn>
                  </p:par>
                  <p:par>
                    <p:cTn id="767" fill="hold" nodeType="clickEffect">
                      <p:stCondLst>
                        <p:cond delay="indefinite"/>
                      </p:stCondLst>
                      <p:childTnLst>
                        <p:par>
                          <p:cTn id="768" fill="hold" nodeType="withEffect">
                            <p:stCondLst>
                              <p:cond delay="0"/>
                            </p:stCondLst>
                            <p:childTnLst>
                              <p:par>
                                <p:cTn id="769" presetID="3" presetClass="entr" fill="hold" nodeType="clickEffect" presetSubtype="10">
                                  <p:stCondLst>
                                    <p:cond delay="0"/>
                                  </p:stCondLst>
                                  <p:childTnLst>
                                    <p:set>
                                      <p:cBhvr>
                                        <p:cTn id="770" dur="1" fill="hold">
                                          <p:stCondLst>
                                            <p:cond delay="0"/>
                                          </p:stCondLst>
                                        </p:cTn>
                                        <p:tgtEl>
                                          <p:spTgt spid="472"/>
                                        </p:tgtEl>
                                        <p:attrNameLst>
                                          <p:attrName>style.visibility</p:attrName>
                                        </p:attrNameLst>
                                      </p:cBhvr>
                                      <p:to>
                                        <p:strVal val="visible"/>
                                      </p:to>
                                    </p:set>
                                    <p:animEffect transition="in" filter="blinds(horizontal)">
                                      <p:cBhvr additive="repl">
                                        <p:cTn id="771" dur="500"/>
                                        <p:tgtEl>
                                          <p:spTgt spid="472"/>
                                        </p:tgtEl>
                                      </p:cBhvr>
                                    </p:animEffect>
                                  </p:childTnLst>
                                </p:cTn>
                              </p:par>
                            </p:childTnLst>
                          </p:cTn>
                        </p:par>
                      </p:childTnLst>
                    </p:cTn>
                  </p:par>
                  <p:par>
                    <p:cTn id="772" fill="hold" nodeType="clickEffect">
                      <p:stCondLst>
                        <p:cond delay="indefinite"/>
                      </p:stCondLst>
                      <p:childTnLst>
                        <p:par>
                          <p:cTn id="773" fill="hold" nodeType="withEffect">
                            <p:stCondLst>
                              <p:cond delay="0"/>
                            </p:stCondLst>
                            <p:childTnLst>
                              <p:par>
                                <p:cTn id="774" presetID="12" presetClass="entr" fill="hold" nodeType="clickEffect" presetSubtype="1">
                                  <p:stCondLst>
                                    <p:cond delay="0"/>
                                  </p:stCondLst>
                                  <p:childTnLst>
                                    <p:set>
                                      <p:cBhvr>
                                        <p:cTn id="775" dur="1" fill="hold">
                                          <p:stCondLst>
                                            <p:cond delay="0"/>
                                          </p:stCondLst>
                                        </p:cTn>
                                        <p:tgtEl>
                                          <p:spTgt spid="475"/>
                                        </p:tgtEl>
                                        <p:attrNameLst>
                                          <p:attrName>style.visibility</p:attrName>
                                        </p:attrNameLst>
                                      </p:cBhvr>
                                      <p:to>
                                        <p:strVal val="visible"/>
                                      </p:to>
                                    </p:set>
                                    <p:animEffect transition="in" filter="slide(fromTop)">
                                      <p:cBhvr additive="repl">
                                        <p:cTn id="776" dur="500"/>
                                        <p:tgtEl>
                                          <p:spTgt spid="475"/>
                                        </p:tgtEl>
                                      </p:cBhvr>
                                    </p:animEffect>
                                  </p:childTnLst>
                                </p:cTn>
                              </p:par>
                            </p:childTnLst>
                          </p:cTn>
                        </p:par>
                      </p:childTnLst>
                    </p:cTn>
                  </p:par>
                  <p:par>
                    <p:cTn id="777" fill="hold" nodeType="clickEffect">
                      <p:stCondLst>
                        <p:cond delay="indefinite"/>
                      </p:stCondLst>
                      <p:childTnLst>
                        <p:par>
                          <p:cTn id="778" fill="hold" nodeType="withEffect">
                            <p:stCondLst>
                              <p:cond delay="0"/>
                            </p:stCondLst>
                            <p:childTnLst>
                              <p:par>
                                <p:cTn id="779" presetID="3" presetClass="entr" fill="hold" nodeType="clickEffect" presetSubtype="10">
                                  <p:stCondLst>
                                    <p:cond delay="0"/>
                                  </p:stCondLst>
                                  <p:childTnLst>
                                    <p:set>
                                      <p:cBhvr>
                                        <p:cTn id="780" dur="1" fill="hold">
                                          <p:stCondLst>
                                            <p:cond delay="0"/>
                                          </p:stCondLst>
                                        </p:cTn>
                                        <p:tgtEl>
                                          <p:spTgt spid="478"/>
                                        </p:tgtEl>
                                        <p:attrNameLst>
                                          <p:attrName>style.visibility</p:attrName>
                                        </p:attrNameLst>
                                      </p:cBhvr>
                                      <p:to>
                                        <p:strVal val="visible"/>
                                      </p:to>
                                    </p:set>
                                    <p:animEffect transition="in" filter="blinds(horizontal)">
                                      <p:cBhvr additive="repl">
                                        <p:cTn id="781" dur="500"/>
                                        <p:tgtEl>
                                          <p:spTgt spid="478"/>
                                        </p:tgtEl>
                                      </p:cBhvr>
                                    </p:animEffect>
                                  </p:childTnLst>
                                </p:cTn>
                              </p:par>
                            </p:childTnLst>
                          </p:cTn>
                        </p:par>
                      </p:childTnLst>
                    </p:cTn>
                  </p:par>
                  <p:par>
                    <p:cTn id="782" fill="hold" nodeType="clickEffect">
                      <p:stCondLst>
                        <p:cond delay="indefinite"/>
                      </p:stCondLst>
                      <p:childTnLst>
                        <p:par>
                          <p:cTn id="783" fill="hold" nodeType="withEffect">
                            <p:stCondLst>
                              <p:cond delay="0"/>
                            </p:stCondLst>
                            <p:childTnLst>
                              <p:par>
                                <p:cTn id="784" presetID="12" presetClass="entr" fill="hold" nodeType="clickEffect" presetSubtype="8">
                                  <p:stCondLst>
                                    <p:cond delay="0"/>
                                  </p:stCondLst>
                                  <p:childTnLst>
                                    <p:set>
                                      <p:cBhvr>
                                        <p:cTn id="785" dur="1" fill="hold">
                                          <p:stCondLst>
                                            <p:cond delay="0"/>
                                          </p:stCondLst>
                                        </p:cTn>
                                        <p:tgtEl>
                                          <p:spTgt spid="481"/>
                                        </p:tgtEl>
                                        <p:attrNameLst>
                                          <p:attrName>style.visibility</p:attrName>
                                        </p:attrNameLst>
                                      </p:cBhvr>
                                      <p:to>
                                        <p:strVal val="visible"/>
                                      </p:to>
                                    </p:set>
                                    <p:animEffect transition="in" filter="slide(fromLeft)">
                                      <p:cBhvr additive="repl">
                                        <p:cTn id="786" dur="1000"/>
                                        <p:tgtEl>
                                          <p:spTgt spid="481"/>
                                        </p:tgtEl>
                                      </p:cBhvr>
                                    </p:animEffect>
                                  </p:childTnLst>
                                </p:cTn>
                              </p:par>
                            </p:childTnLst>
                          </p:cTn>
                        </p:par>
                      </p:childTnLst>
                    </p:cTn>
                  </p:par>
                  <p:par>
                    <p:cTn id="787" fill="hold" nodeType="clickEffect">
                      <p:stCondLst>
                        <p:cond delay="indefinite"/>
                      </p:stCondLst>
                      <p:childTnLst>
                        <p:par>
                          <p:cTn id="788" fill="hold" nodeType="withEffect">
                            <p:stCondLst>
                              <p:cond delay="0"/>
                            </p:stCondLst>
                            <p:childTnLst>
                              <p:par>
                                <p:cTn id="789" presetID="12" presetClass="entr" fill="hold" nodeType="clickEffect" presetSubtype="8">
                                  <p:stCondLst>
                                    <p:cond delay="0"/>
                                  </p:stCondLst>
                                  <p:childTnLst>
                                    <p:set>
                                      <p:cBhvr>
                                        <p:cTn id="790" dur="1" fill="hold">
                                          <p:stCondLst>
                                            <p:cond delay="0"/>
                                          </p:stCondLst>
                                        </p:cTn>
                                        <p:tgtEl>
                                          <p:spTgt spid="485"/>
                                        </p:tgtEl>
                                        <p:attrNameLst>
                                          <p:attrName>style.visibility</p:attrName>
                                        </p:attrNameLst>
                                      </p:cBhvr>
                                      <p:to>
                                        <p:strVal val="visible"/>
                                      </p:to>
                                    </p:set>
                                    <p:animEffect transition="in" filter="slide(fromLeft)">
                                      <p:cBhvr additive="repl">
                                        <p:cTn id="791" dur="1000"/>
                                        <p:tgtEl>
                                          <p:spTgt spid="485"/>
                                        </p:tgtEl>
                                      </p:cBhvr>
                                    </p:animEffect>
                                  </p:childTnLst>
                                </p:cTn>
                              </p:par>
                            </p:childTnLst>
                          </p:cTn>
                        </p:par>
                      </p:childTnLst>
                    </p:cTn>
                  </p:par>
                  <p:par>
                    <p:cTn id="792" fill="hold" nodeType="clickEffect">
                      <p:stCondLst>
                        <p:cond delay="indefinite"/>
                      </p:stCondLst>
                      <p:childTnLst>
                        <p:par>
                          <p:cTn id="793" fill="hold" nodeType="withEffect">
                            <p:stCondLst>
                              <p:cond delay="0"/>
                            </p:stCondLst>
                            <p:childTnLst>
                              <p:par>
                                <p:cTn id="794" presetID="22" presetClass="entr" fill="hold" nodeType="clickEffect" presetSubtype="8">
                                  <p:stCondLst>
                                    <p:cond delay="0"/>
                                  </p:stCondLst>
                                  <p:childTnLst>
                                    <p:set>
                                      <p:cBhvr>
                                        <p:cTn id="795" dur="1" fill="hold">
                                          <p:stCondLst>
                                            <p:cond delay="0"/>
                                          </p:stCondLst>
                                        </p:cTn>
                                        <p:tgtEl>
                                          <p:spTgt spid="596"/>
                                        </p:tgtEl>
                                        <p:attrNameLst>
                                          <p:attrName>style.visibility</p:attrName>
                                        </p:attrNameLst>
                                      </p:cBhvr>
                                      <p:to>
                                        <p:strVal val="visible"/>
                                      </p:to>
                                    </p:set>
                                    <p:animEffect transition="in" filter="wipe(left)">
                                      <p:cBhvr additive="repl">
                                        <p:cTn id="796" dur="500"/>
                                        <p:tgtEl>
                                          <p:spTgt spid="596"/>
                                        </p:tgtEl>
                                      </p:cBhvr>
                                    </p:animEffect>
                                  </p:childTnLst>
                                </p:cTn>
                              </p:par>
                            </p:childTnLst>
                          </p:cTn>
                        </p:par>
                      </p:childTnLst>
                    </p:cTn>
                  </p:par>
                  <p:par>
                    <p:cTn id="797" fill="hold" nodeType="clickEffect">
                      <p:stCondLst>
                        <p:cond delay="indefinite"/>
                      </p:stCondLst>
                      <p:childTnLst>
                        <p:par>
                          <p:cTn id="798" fill="hold" nodeType="withEffect">
                            <p:stCondLst>
                              <p:cond delay="0"/>
                            </p:stCondLst>
                            <p:childTnLst>
                              <p:par>
                                <p:cTn id="799" presetID="22" presetClass="entr" fill="hold" nodeType="clickEffect" presetSubtype="8">
                                  <p:stCondLst>
                                    <p:cond delay="0"/>
                                  </p:stCondLst>
                                  <p:childTnLst>
                                    <p:set>
                                      <p:cBhvr>
                                        <p:cTn id="800" dur="1" fill="hold">
                                          <p:stCondLst>
                                            <p:cond delay="0"/>
                                          </p:stCondLst>
                                        </p:cTn>
                                        <p:tgtEl>
                                          <p:spTgt spid="573"/>
                                        </p:tgtEl>
                                        <p:attrNameLst>
                                          <p:attrName>style.visibility</p:attrName>
                                        </p:attrNameLst>
                                      </p:cBhvr>
                                      <p:to>
                                        <p:strVal val="visible"/>
                                      </p:to>
                                    </p:set>
                                    <p:animEffect transition="in" filter="wipe(left)">
                                      <p:cBhvr additive="repl">
                                        <p:cTn id="801" dur="500"/>
                                        <p:tgtEl>
                                          <p:spTgt spid="573"/>
                                        </p:tgtEl>
                                      </p:cBhvr>
                                    </p:animEffect>
                                  </p:childTnLst>
                                </p:cTn>
                              </p:par>
                            </p:childTnLst>
                          </p:cTn>
                        </p:par>
                      </p:childTnLst>
                    </p:cTn>
                  </p:par>
                  <p:par>
                    <p:cTn id="802" fill="hold" nodeType="clickEffect">
                      <p:stCondLst>
                        <p:cond delay="indefinite"/>
                      </p:stCondLst>
                      <p:childTnLst>
                        <p:par>
                          <p:cTn id="803" fill="hold" nodeType="withEffect">
                            <p:stCondLst>
                              <p:cond delay="0"/>
                            </p:stCondLst>
                            <p:childTnLst>
                              <p:par>
                                <p:cTn id="804" presetID="9" presetClass="entr" fill="hold" nodeType="clickEffect">
                                  <p:stCondLst>
                                    <p:cond delay="0"/>
                                  </p:stCondLst>
                                  <p:childTnLst>
                                    <p:set>
                                      <p:cBhvr>
                                        <p:cTn id="805" dur="1" fill="hold">
                                          <p:stCondLst>
                                            <p:cond delay="0"/>
                                          </p:stCondLst>
                                        </p:cTn>
                                        <p:tgtEl>
                                          <p:spTgt spid="580"/>
                                        </p:tgtEl>
                                        <p:attrNameLst>
                                          <p:attrName>style.visibility</p:attrName>
                                        </p:attrNameLst>
                                      </p:cBhvr>
                                      <p:to>
                                        <p:strVal val="visible"/>
                                      </p:to>
                                    </p:set>
                                    <p:animEffect transition="in" filter="dissolve">
                                      <p:cBhvr additive="repl">
                                        <p:cTn id="806" dur="5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99" name="Group 21"/>
          <p:cNvGrpSpPr/>
          <p:nvPr/>
        </p:nvGrpSpPr>
        <p:grpSpPr>
          <a:xfrm>
            <a:off x="900000" y="907920"/>
            <a:ext cx="7200720" cy="703800"/>
            <a:chOff x="900000" y="907920"/>
            <a:chExt cx="7200720" cy="703800"/>
          </a:xfrm>
        </p:grpSpPr>
        <mc:AlternateContent>
          <mc:Choice xmlns:a14="http://schemas.microsoft.com/office/drawing/2010/main" Requires="a14">
            <p:sp>
              <p:nvSpPr>
                <p:cNvPr id="600" name="Object 17"/>
                <p:cNvSpPr txBox="1"/>
                <p:nvPr/>
              </p:nvSpPr>
              <p:spPr>
                <a:xfrm>
                  <a:off x="3708360" y="979200"/>
                  <a:ext cx="1079280" cy="366840"/>
                </a:xfrm>
                <a:prstGeom prst="rect">
                  <a:avLst/>
                </a:prstGeom>
              </p:spPr>
              <p:txBody>
                <a:bodyPr/>
                <a:p>
                  <a14:m>
                    <m:oMath xmlns:m="http://schemas.openxmlformats.org/officeDocument/2006/math">
                      <m:sSub>
                        <m:e>
                          <m:r>
                            <m:t xml:space="preserve">ω</m:t>
                          </m:r>
                        </m:e>
                        <m:sub>
                          <m:r>
                            <m:t xml:space="preserve">m</m:t>
                          </m:r>
                        </m:sub>
                      </m:sSub>
                      <m:r>
                        <m:t xml:space="preserve">=</m:t>
                      </m:r>
                      <m:r>
                        <m:rPr>
                          <m:lit/>
                          <m:nor/>
                        </m:rPr>
                        <m:t xml:space="preserve">50</m:t>
                      </m:r>
                      <m:sSup>
                        <m:e>
                          <m:r>
                            <m:t xml:space="preserve">s</m:t>
                          </m:r>
                        </m:e>
                        <m:sup>
                          <m:r>
                            <m:t xml:space="preserve">−</m:t>
                          </m:r>
                          <m:r>
                            <m:t xml:space="preserve">1</m:t>
                          </m:r>
                        </m:sup>
                      </m:sSup>
                    </m:oMath>
                  </a14:m>
                </a:p>
              </p:txBody>
            </p:sp>
          </mc:Choice>
          <mc:Fallback>
            <p:sp>
              <p:nvSpPr>
                <p:cNvPr id="600" name="Object 17"/>
                <p:cNvSpPr txBox="1"/>
                <p:nvPr/>
              </p:nvSpPr>
              <p:spPr>
                <a:xfrm>
                  <a:off x="3708360" y="979200"/>
                  <a:ext cx="1079280" cy="366840"/>
                </a:xfrm>
                <a:prstGeom prst="rect">
                  <a:avLst/>
                </a:prstGeom>
                <a:blipFill>
                  <a:blip r:embed="rId1"/>
                  <a:stretch>
                    <a:fillRect/>
                  </a:stretch>
                </a:blipFill>
              </p:spPr>
            </p:sp>
          </mc:Fallback>
        </mc:AlternateContent>
        <p:sp>
          <p:nvSpPr>
            <p:cNvPr id="601" name="Text Box 19"/>
            <p:cNvSpPr/>
            <p:nvPr/>
          </p:nvSpPr>
          <p:spPr>
            <a:xfrm>
              <a:off x="900000" y="907920"/>
              <a:ext cx="720072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a:t>
              </a:r>
              <a:r>
                <a:rPr lang="en-US" sz="2000" b="1" u="none" strike="noStrike">
                  <a:solidFill>
                    <a:srgbClr val="000000"/>
                  </a:solidFill>
                  <a:effectLst/>
                  <a:uFillTx/>
                  <a:latin typeface="Arial"/>
                </a:rPr>
                <a:t>5</a:t>
              </a:r>
              <a:r>
                <a:rPr lang="zh-CN" sz="2000" b="1" u="none" strike="noStrike">
                  <a:solidFill>
                    <a:srgbClr val="000000"/>
                  </a:solidFill>
                  <a:effectLst/>
                  <a:uFillTx/>
                  <a:latin typeface="Arial"/>
                </a:rPr>
                <a:t>）分析：校正部分在                  处产生的幅值增益为</a:t>
              </a:r>
              <a:endParaRPr lang="en-US" sz="2000" b="0" u="none" strike="noStrike">
                <a:solidFill>
                  <a:srgbClr val="000000"/>
                </a:solidFill>
                <a:effectLst/>
                <a:uFillTx/>
                <a:latin typeface="Times New Roman"/>
              </a:endParaRPr>
            </a:p>
          </p:txBody>
        </p:sp>
      </p:grpSp>
      <mc:AlternateContent>
        <mc:Choice xmlns:a14="http://schemas.microsoft.com/office/drawing/2010/main" Requires="a14">
          <p:sp>
            <p:nvSpPr>
              <p:cNvPr id="602" name="Object 20"/>
              <p:cNvSpPr txBox="1"/>
              <p:nvPr/>
            </p:nvSpPr>
            <p:spPr>
              <a:xfrm>
                <a:off x="2411280" y="1341360"/>
                <a:ext cx="3376800" cy="598680"/>
              </a:xfrm>
              <a:prstGeom prst="rect">
                <a:avLst/>
              </a:prstGeom>
            </p:spPr>
            <p:txBody>
              <a:bodyPr/>
              <a:p>
                <a14:m>
                  <m:oMath xmlns:m="http://schemas.openxmlformats.org/officeDocument/2006/math">
                    <m:r>
                      <m:t xml:space="preserve">L</m:t>
                    </m:r>
                    <m:r>
                      <m:t xml:space="preserve">(</m:t>
                    </m:r>
                    <m:sSub>
                      <m:e>
                        <m:r>
                          <m:t xml:space="preserve">ω</m:t>
                        </m:r>
                      </m:e>
                      <m:sub>
                        <m:r>
                          <m:t xml:space="preserve">m</m:t>
                        </m:r>
                      </m:sub>
                    </m:sSub>
                    <m:r>
                      <m:t xml:space="preserve">)</m:t>
                    </m:r>
                    <m:r>
                      <m:t xml:space="preserve">=</m:t>
                    </m:r>
                    <m:f>
                      <m:num>
                        <m:r>
                          <m:t xml:space="preserve">1</m:t>
                        </m:r>
                      </m:num>
                      <m:den>
                        <m:r>
                          <m:t xml:space="preserve">2</m:t>
                        </m:r>
                      </m:den>
                    </m:f>
                    <m:r>
                      <m:t xml:space="preserve">×</m:t>
                    </m:r>
                    <m:r>
                      <m:rPr>
                        <m:lit/>
                        <m:nor/>
                      </m:rPr>
                      <m:t xml:space="preserve">20</m:t>
                    </m:r>
                    <m:r>
                      <m:rPr>
                        <m:lit/>
                        <m:nor/>
                      </m:rPr>
                      <m:t xml:space="preserve">lg</m:t>
                    </m:r>
                    <m:r>
                      <m:t xml:space="preserve">α</m:t>
                    </m:r>
                    <m:r>
                      <m:t xml:space="preserve">=</m:t>
                    </m:r>
                    <m:r>
                      <m:rPr>
                        <m:lit/>
                        <m:nor/>
                      </m:rPr>
                      <m:t xml:space="preserve">10</m:t>
                    </m:r>
                    <m:r>
                      <m:rPr>
                        <m:lit/>
                        <m:nor/>
                      </m:rPr>
                      <m:t xml:space="preserve">lg</m:t>
                    </m:r>
                    <m:r>
                      <m:t xml:space="preserve">α</m:t>
                    </m:r>
                    <m:r>
                      <m:t xml:space="preserve">=</m:t>
                    </m:r>
                    <m:r>
                      <m:rPr>
                        <m:lit/>
                        <m:nor/>
                      </m:rPr>
                      <m:t xml:space="preserve">10</m:t>
                    </m:r>
                    <m:r>
                      <m:rPr>
                        <m:lit/>
                        <m:nor/>
                      </m:rPr>
                      <m:t xml:space="preserve">dB</m:t>
                    </m:r>
                  </m:oMath>
                </a14:m>
              </a:p>
            </p:txBody>
          </p:sp>
        </mc:Choice>
        <mc:Fallback>
          <p:sp>
            <p:nvSpPr>
              <p:cNvPr id="602" name="Object 20"/>
              <p:cNvSpPr txBox="1"/>
              <p:nvPr/>
            </p:nvSpPr>
            <p:spPr>
              <a:xfrm>
                <a:off x="2411280" y="1341360"/>
                <a:ext cx="3376800" cy="598680"/>
              </a:xfrm>
              <a:prstGeom prst="rect">
                <a:avLst/>
              </a:prstGeom>
              <a:blipFill>
                <a:blip r:embed="rId2"/>
                <a:stretch>
                  <a:fillRect/>
                </a:stretch>
              </a:blipFill>
            </p:spPr>
          </p:sp>
        </mc:Fallback>
      </mc:AlternateContent>
      <p:sp>
        <p:nvSpPr>
          <p:cNvPr id="603" name="Rectangle 22"/>
          <p:cNvSpPr/>
          <p:nvPr/>
        </p:nvSpPr>
        <p:spPr>
          <a:xfrm>
            <a:off x="900000" y="1989000"/>
            <a:ext cx="755964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系统固有部分在               处的幅值为</a:t>
            </a:r>
            <a:r>
              <a:rPr lang="en-US" sz="2000" b="1" u="none" strike="noStrike">
                <a:solidFill>
                  <a:srgbClr val="000000"/>
                </a:solidFill>
                <a:effectLst/>
                <a:uFillTx/>
                <a:latin typeface="宋体"/>
              </a:rPr>
              <a:t>-8dB</a:t>
            </a:r>
            <a:r>
              <a:rPr lang="zh-CN" sz="2000" b="1" u="none" strike="noStrike">
                <a:solidFill>
                  <a:srgbClr val="000000"/>
                </a:solidFill>
                <a:effectLst/>
                <a:uFillTx/>
                <a:latin typeface="宋体"/>
              </a:rPr>
              <a:t>。因此，系统校正后在</a:t>
            </a:r>
            <a:endParaRPr lang="en-US" sz="2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宋体"/>
              </a:rPr>
              <a:t>         处的</a:t>
            </a:r>
            <a:r>
              <a:rPr lang="zh-CN" sz="2000" b="1" u="none" strike="noStrike">
                <a:solidFill>
                  <a:srgbClr val="000000"/>
                </a:solidFill>
                <a:effectLst/>
                <a:uFillTx/>
                <a:latin typeface="Times New Roman"/>
              </a:rPr>
              <a:t>开环增益将</a:t>
            </a:r>
            <a:r>
              <a:rPr lang="zh-CN" sz="2000" b="1" u="none" strike="noStrike">
                <a:solidFill>
                  <a:srgbClr val="000000"/>
                </a:solidFill>
                <a:effectLst/>
                <a:uFillTx/>
                <a:latin typeface="宋体"/>
              </a:rPr>
              <a:t>为</a:t>
            </a:r>
            <a:r>
              <a:rPr lang="en-US" sz="2000" b="1" u="none" strike="noStrike">
                <a:solidFill>
                  <a:srgbClr val="000000"/>
                </a:solidFill>
                <a:effectLst/>
                <a:uFillTx/>
                <a:latin typeface="宋体"/>
              </a:rPr>
              <a:t>-8+10=2dB</a:t>
            </a:r>
            <a:r>
              <a:rPr lang="zh-CN" sz="2000" b="1" u="none" strike="noStrike">
                <a:solidFill>
                  <a:srgbClr val="000000"/>
                </a:solidFill>
                <a:effectLst/>
                <a:uFillTx/>
                <a:latin typeface="宋体"/>
              </a:rPr>
              <a:t>，可见，校正后系统的实际开环截止角频率并不是</a:t>
            </a:r>
            <a:r>
              <a:rPr lang="en-US" sz="2000" b="1" u="none" strike="noStrike">
                <a:solidFill>
                  <a:srgbClr val="000000"/>
                </a:solidFill>
                <a:effectLst/>
                <a:uFillTx/>
                <a:latin typeface="宋体"/>
              </a:rPr>
              <a:t>50</a:t>
            </a:r>
            <a:r>
              <a:rPr lang="zh-CN" sz="2000" b="1" u="none" strike="noStrike">
                <a:solidFill>
                  <a:srgbClr val="000000"/>
                </a:solidFill>
                <a:effectLst/>
                <a:uFillTx/>
                <a:latin typeface="宋体"/>
              </a:rPr>
              <a:t>，而较此值为高。</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04" name="Object 23"/>
              <p:cNvSpPr txBox="1"/>
              <p:nvPr/>
            </p:nvSpPr>
            <p:spPr>
              <a:xfrm>
                <a:off x="2771640" y="1989000"/>
                <a:ext cx="1079640" cy="371520"/>
              </a:xfrm>
              <a:prstGeom prst="rect">
                <a:avLst/>
              </a:prstGeom>
            </p:spPr>
            <p:txBody>
              <a:bodyPr/>
              <a:p>
                <a14:m>
                  <m:oMath xmlns:m="http://schemas.openxmlformats.org/officeDocument/2006/math">
                    <m:sSub>
                      <m:e>
                        <m:r>
                          <m:t xml:space="preserve">ω</m:t>
                        </m:r>
                      </m:e>
                      <m:sub>
                        <m:r>
                          <m:t xml:space="preserve">m</m:t>
                        </m:r>
                      </m:sub>
                    </m:sSub>
                    <m:r>
                      <m:t xml:space="preserve">=</m:t>
                    </m:r>
                    <m:r>
                      <m:rPr>
                        <m:lit/>
                        <m:nor/>
                      </m:rPr>
                      <m:t xml:space="preserve">50</m:t>
                    </m:r>
                    <m:sSup>
                      <m:e>
                        <m:r>
                          <m:t xml:space="preserve">s</m:t>
                        </m:r>
                      </m:e>
                      <m:sup>
                        <m:r>
                          <m:t xml:space="preserve">−</m:t>
                        </m:r>
                        <m:r>
                          <m:t xml:space="preserve">1</m:t>
                        </m:r>
                      </m:sup>
                    </m:sSup>
                  </m:oMath>
                </a14:m>
              </a:p>
            </p:txBody>
          </p:sp>
        </mc:Choice>
        <mc:Fallback>
          <p:sp>
            <p:nvSpPr>
              <p:cNvPr id="604" name="Object 23"/>
              <p:cNvSpPr txBox="1"/>
              <p:nvPr/>
            </p:nvSpPr>
            <p:spPr>
              <a:xfrm>
                <a:off x="2771640" y="1989000"/>
                <a:ext cx="1079640" cy="371520"/>
              </a:xfrm>
              <a:prstGeom prst="rect">
                <a:avLst/>
              </a:prstGeom>
              <a:blipFill>
                <a:blip r:embed="rId3"/>
                <a:stretch>
                  <a:fillRect/>
                </a:stretch>
              </a:blipFill>
            </p:spPr>
          </p:sp>
        </mc:Fallback>
      </mc:AlternateContent>
      <mc:AlternateContent>
        <mc:Choice xmlns:a14="http://schemas.microsoft.com/office/drawing/2010/main" Requires="a14">
          <p:sp>
            <p:nvSpPr>
              <p:cNvPr id="605" name="Object 24"/>
              <p:cNvSpPr txBox="1"/>
              <p:nvPr/>
            </p:nvSpPr>
            <p:spPr>
              <a:xfrm>
                <a:off x="1042920" y="2349360"/>
                <a:ext cx="1079640" cy="371520"/>
              </a:xfrm>
              <a:prstGeom prst="rect">
                <a:avLst/>
              </a:prstGeom>
            </p:spPr>
            <p:txBody>
              <a:bodyPr/>
              <a:p>
                <a14:m>
                  <m:oMath xmlns:m="http://schemas.openxmlformats.org/officeDocument/2006/math">
                    <m:sSub>
                      <m:e>
                        <m:r>
                          <m:t xml:space="preserve">ω</m:t>
                        </m:r>
                      </m:e>
                      <m:sub>
                        <m:r>
                          <m:t xml:space="preserve">m</m:t>
                        </m:r>
                      </m:sub>
                    </m:sSub>
                    <m:r>
                      <m:t xml:space="preserve">=</m:t>
                    </m:r>
                    <m:r>
                      <m:rPr>
                        <m:lit/>
                        <m:nor/>
                      </m:rPr>
                      <m:t xml:space="preserve">50</m:t>
                    </m:r>
                    <m:sSup>
                      <m:e>
                        <m:r>
                          <m:t xml:space="preserve">s</m:t>
                        </m:r>
                      </m:e>
                      <m:sup>
                        <m:r>
                          <m:t xml:space="preserve">−</m:t>
                        </m:r>
                        <m:r>
                          <m:t xml:space="preserve">1</m:t>
                        </m:r>
                      </m:sup>
                    </m:sSup>
                  </m:oMath>
                </a14:m>
              </a:p>
            </p:txBody>
          </p:sp>
        </mc:Choice>
        <mc:Fallback>
          <p:sp>
            <p:nvSpPr>
              <p:cNvPr id="605" name="Object 24"/>
              <p:cNvSpPr txBox="1"/>
              <p:nvPr/>
            </p:nvSpPr>
            <p:spPr>
              <a:xfrm>
                <a:off x="1042920" y="2349360"/>
                <a:ext cx="1079640" cy="371520"/>
              </a:xfrm>
              <a:prstGeom prst="rect">
                <a:avLst/>
              </a:prstGeom>
              <a:blipFill>
                <a:blip r:embed="rId4"/>
                <a:stretch>
                  <a:fillRect/>
                </a:stretch>
              </a:blipFill>
            </p:spPr>
          </p:sp>
        </mc:Fallback>
      </mc:AlternateContent>
      <p:sp>
        <p:nvSpPr>
          <p:cNvPr id="606" name="Text Box 25"/>
          <p:cNvSpPr/>
          <p:nvPr/>
        </p:nvSpPr>
        <p:spPr>
          <a:xfrm>
            <a:off x="900000" y="3213000"/>
            <a:ext cx="755964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a:t>
            </a:r>
            <a:r>
              <a:rPr lang="en-US" sz="2000" b="1" u="none" strike="noStrike">
                <a:solidFill>
                  <a:srgbClr val="000000"/>
                </a:solidFill>
                <a:effectLst/>
                <a:uFillTx/>
                <a:latin typeface="Arial"/>
              </a:rPr>
              <a:t>6</a:t>
            </a:r>
            <a:r>
              <a:rPr lang="zh-CN" sz="2000" b="1" u="none" strike="noStrike">
                <a:solidFill>
                  <a:srgbClr val="000000"/>
                </a:solidFill>
                <a:effectLst/>
                <a:uFillTx/>
                <a:latin typeface="Arial"/>
              </a:rPr>
              <a:t>）画出校正后系统的开环频率特性如图，并验证系统的性能能否真正满足要求。</a:t>
            </a:r>
            <a:endParaRPr lang="en-US" sz="2000" b="0" u="none" strike="noStrike">
              <a:solidFill>
                <a:srgbClr val="000000"/>
              </a:solidFill>
              <a:effectLst/>
              <a:uFillTx/>
              <a:latin typeface="Times New Roman"/>
            </a:endParaRPr>
          </a:p>
        </p:txBody>
      </p:sp>
      <p:grpSp>
        <p:nvGrpSpPr>
          <p:cNvPr id="607" name="Group 30"/>
          <p:cNvGrpSpPr/>
          <p:nvPr/>
        </p:nvGrpSpPr>
        <p:grpSpPr>
          <a:xfrm>
            <a:off x="900000" y="4005360"/>
            <a:ext cx="7416720" cy="703800"/>
            <a:chOff x="900000" y="4005360"/>
            <a:chExt cx="7416720" cy="703800"/>
          </a:xfrm>
        </p:grpSpPr>
        <mc:AlternateContent>
          <mc:Choice xmlns:a14="http://schemas.microsoft.com/office/drawing/2010/main" Requires="a14">
            <p:sp>
              <p:nvSpPr>
                <p:cNvPr id="608" name="Object 26"/>
                <p:cNvSpPr txBox="1"/>
                <p:nvPr/>
              </p:nvSpPr>
              <p:spPr>
                <a:xfrm>
                  <a:off x="1908000" y="4005360"/>
                  <a:ext cx="1297080" cy="450720"/>
                </a:xfrm>
                <a:prstGeom prst="rect">
                  <a:avLst/>
                </a:prstGeom>
              </p:spPr>
              <p:txBody>
                <a:bodyPr/>
                <a:p>
                  <a14:m>
                    <m:oMath xmlns:m="http://schemas.openxmlformats.org/officeDocument/2006/math">
                      <m:sSubSup>
                        <m:e>
                          <m:r>
                            <m:t xml:space="preserve">ω</m:t>
                          </m:r>
                        </m:e>
                        <m:sub>
                          <m:r>
                            <m:t xml:space="preserve">c</m:t>
                          </m:r>
                        </m:sub>
                        <m:sup>
                          <m:r>
                            <m:t xml:space="preserve">'</m:t>
                          </m:r>
                        </m:sup>
                      </m:sSubSup>
                      <m:r>
                        <m:t xml:space="preserve">=</m:t>
                      </m:r>
                      <m:r>
                        <m:rPr>
                          <m:lit/>
                          <m:nor/>
                        </m:rPr>
                        <m:t xml:space="preserve">63</m:t>
                      </m:r>
                      <m:sSup>
                        <m:e>
                          <m:r>
                            <m:t xml:space="preserve">s</m:t>
                          </m:r>
                        </m:e>
                        <m:sup>
                          <m:r>
                            <m:t xml:space="preserve">−</m:t>
                          </m:r>
                          <m:r>
                            <m:t xml:space="preserve">1</m:t>
                          </m:r>
                        </m:sup>
                      </m:sSup>
                    </m:oMath>
                  </a14:m>
                </a:p>
              </p:txBody>
            </p:sp>
          </mc:Choice>
          <mc:Fallback>
            <p:sp>
              <p:nvSpPr>
                <p:cNvPr id="608" name="Object 26"/>
                <p:cNvSpPr txBox="1"/>
                <p:nvPr/>
              </p:nvSpPr>
              <p:spPr>
                <a:xfrm>
                  <a:off x="1908000" y="4005360"/>
                  <a:ext cx="1297080" cy="450720"/>
                </a:xfrm>
                <a:prstGeom prst="rect">
                  <a:avLst/>
                </a:prstGeom>
                <a:blipFill>
                  <a:blip r:embed="rId5"/>
                  <a:stretch>
                    <a:fillRect/>
                  </a:stretch>
                </a:blipFill>
              </p:spPr>
            </p:sp>
          </mc:Fallback>
        </mc:AlternateContent>
        <mc:AlternateContent>
          <mc:Choice xmlns:a14="http://schemas.microsoft.com/office/drawing/2010/main" Requires="a14">
            <p:sp>
              <p:nvSpPr>
                <p:cNvPr id="609" name="Object 27"/>
                <p:cNvSpPr txBox="1"/>
                <p:nvPr/>
              </p:nvSpPr>
              <p:spPr>
                <a:xfrm>
                  <a:off x="3348000" y="4005360"/>
                  <a:ext cx="1444320" cy="380880"/>
                </a:xfrm>
                <a:prstGeom prst="rect">
                  <a:avLst/>
                </a:prstGeom>
              </p:spPr>
              <p:txBody>
                <a:bodyPr/>
                <a:p>
                  <a14:m>
                    <m:oMath xmlns:m="http://schemas.openxmlformats.org/officeDocument/2006/math">
                      <m:r>
                        <m:t xml:space="preserve">ϕ</m:t>
                      </m:r>
                      <m:r>
                        <m:t xml:space="preserve">(</m:t>
                      </m:r>
                      <m:sSubSup>
                        <m:e>
                          <m:r>
                            <m:t xml:space="preserve">ω</m:t>
                          </m:r>
                        </m:e>
                        <m:sub>
                          <m:r>
                            <m:t xml:space="preserve">c</m:t>
                          </m:r>
                        </m:sub>
                        <m:sup>
                          <m:r>
                            <m:t xml:space="preserve">'</m:t>
                          </m:r>
                        </m:sup>
                      </m:sSubSup>
                      <m:r>
                        <m:t xml:space="preserve">)</m:t>
                      </m:r>
                      <m:r>
                        <m:t xml:space="preserve">=</m:t>
                      </m:r>
                      <m:r>
                        <m:t xml:space="preserve">−</m:t>
                      </m:r>
                      <m:sSup>
                        <m:e>
                          <m:r>
                            <m:rPr>
                              <m:lit/>
                              <m:nor/>
                            </m:rPr>
                            <m:t xml:space="preserve">149</m:t>
                          </m:r>
                        </m:e>
                        <m:sup>
                          <m:r>
                            <m:t xml:space="preserve">0</m:t>
                          </m:r>
                        </m:sup>
                      </m:sSup>
                    </m:oMath>
                  </a14:m>
                </a:p>
              </p:txBody>
            </p:sp>
          </mc:Choice>
          <mc:Fallback>
            <p:sp>
              <p:nvSpPr>
                <p:cNvPr id="609" name="Object 27"/>
                <p:cNvSpPr txBox="1"/>
                <p:nvPr/>
              </p:nvSpPr>
              <p:spPr>
                <a:xfrm>
                  <a:off x="3348000" y="4005360"/>
                  <a:ext cx="1444320" cy="380880"/>
                </a:xfrm>
                <a:prstGeom prst="rect">
                  <a:avLst/>
                </a:prstGeom>
                <a:blipFill>
                  <a:blip r:embed="rId6"/>
                  <a:stretch>
                    <a:fillRect/>
                  </a:stretch>
                </a:blipFill>
              </p:spPr>
            </p:sp>
          </mc:Fallback>
        </mc:AlternateContent>
        <mc:AlternateContent>
          <mc:Choice xmlns:a14="http://schemas.microsoft.com/office/drawing/2010/main" Requires="a14">
            <p:sp>
              <p:nvSpPr>
                <p:cNvPr id="610" name="Object 28"/>
                <p:cNvSpPr txBox="1"/>
                <p:nvPr/>
              </p:nvSpPr>
              <p:spPr>
                <a:xfrm>
                  <a:off x="4932000" y="4005360"/>
                  <a:ext cx="774720" cy="376200"/>
                </a:xfrm>
                <a:prstGeom prst="rect">
                  <a:avLst/>
                </a:prstGeom>
              </p:spPr>
              <p:txBody>
                <a:bodyPr/>
                <a:p>
                  <a14:m>
                    <m:oMath xmlns:m="http://schemas.openxmlformats.org/officeDocument/2006/math">
                      <m:r>
                        <m:t xml:space="preserve">γ</m:t>
                      </m:r>
                      <m:r>
                        <m:t xml:space="preserve">=</m:t>
                      </m:r>
                      <m:sSup>
                        <m:e>
                          <m:r>
                            <m:rPr>
                              <m:lit/>
                              <m:nor/>
                            </m:rPr>
                            <m:t xml:space="preserve">31</m:t>
                          </m:r>
                        </m:e>
                        <m:sup>
                          <m:r>
                            <m:t xml:space="preserve">0</m:t>
                          </m:r>
                        </m:sup>
                      </m:sSup>
                    </m:oMath>
                  </a14:m>
                </a:p>
              </p:txBody>
            </p:sp>
          </mc:Choice>
          <mc:Fallback>
            <p:sp>
              <p:nvSpPr>
                <p:cNvPr id="610" name="Object 28"/>
                <p:cNvSpPr txBox="1"/>
                <p:nvPr/>
              </p:nvSpPr>
              <p:spPr>
                <a:xfrm>
                  <a:off x="4932000" y="4005360"/>
                  <a:ext cx="774720" cy="376200"/>
                </a:xfrm>
                <a:prstGeom prst="rect">
                  <a:avLst/>
                </a:prstGeom>
                <a:blipFill>
                  <a:blip r:embed="rId7"/>
                  <a:stretch>
                    <a:fillRect/>
                  </a:stretch>
                </a:blipFill>
              </p:spPr>
            </p:sp>
          </mc:Fallback>
        </mc:AlternateContent>
        <p:sp>
          <p:nvSpPr>
            <p:cNvPr id="611" name="Text Box 29"/>
            <p:cNvSpPr/>
            <p:nvPr/>
          </p:nvSpPr>
          <p:spPr>
            <a:xfrm>
              <a:off x="900000" y="4005360"/>
              <a:ext cx="741672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Arial"/>
                </a:rPr>
                <a:t>经验证：                ，                    ，          ，满足系统性能要求。</a:t>
              </a:r>
              <a:r>
                <a:rPr lang="zh-CN" sz="2000" b="0" u="none" strike="noStrike">
                  <a:solidFill>
                    <a:srgbClr val="000000"/>
                  </a:solidFill>
                  <a:effectLst/>
                  <a:uFillTx/>
                  <a:latin typeface="Arial"/>
                </a:rPr>
                <a:t> </a:t>
              </a:r>
              <a:endParaRPr lang="en-US" sz="2000" b="0" u="none" strike="noStrike">
                <a:solidFill>
                  <a:srgbClr val="000000"/>
                </a:solidFill>
                <a:effectLst/>
                <a:uFillTx/>
                <a:latin typeface="Times New Roman"/>
              </a:endParaRPr>
            </a:p>
          </p:txBody>
        </p:sp>
      </p:grpSp>
      <p:grpSp>
        <p:nvGrpSpPr>
          <p:cNvPr id="612" name="Group 34"/>
          <p:cNvGrpSpPr/>
          <p:nvPr/>
        </p:nvGrpSpPr>
        <p:grpSpPr>
          <a:xfrm>
            <a:off x="611280" y="4797360"/>
            <a:ext cx="8137440" cy="1012320"/>
            <a:chOff x="611280" y="4797360"/>
            <a:chExt cx="8137440" cy="1012320"/>
          </a:xfrm>
        </p:grpSpPr>
        <p:sp>
          <p:nvSpPr>
            <p:cNvPr id="613" name="Rectangle 31"/>
            <p:cNvSpPr/>
            <p:nvPr/>
          </p:nvSpPr>
          <p:spPr>
            <a:xfrm>
              <a:off x="611280" y="4797360"/>
              <a:ext cx="8137440" cy="1008720"/>
            </a:xfrm>
            <a:prstGeom prst="rect">
              <a:avLst/>
            </a:prstGeom>
            <a:solidFill>
              <a:srgbClr val="FFCCCC"/>
            </a:solidFill>
            <a:ln w="9360">
              <a:solidFill>
                <a:srgbClr val="000000"/>
              </a:solidFill>
              <a:miter/>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注意</a:t>
              </a:r>
              <a:r>
                <a:rPr lang="zh-CN" sz="2000" b="1" u="none" strike="noStrike">
                  <a:solidFill>
                    <a:srgbClr val="000000"/>
                  </a:solidFill>
                  <a:effectLst/>
                  <a:uFillTx/>
                  <a:latin typeface="Times New Roman"/>
                </a:rPr>
                <a:t>：当要求超前校正提供的相位超前角大于</a:t>
              </a:r>
              <a:r>
                <a:rPr lang="en-US" sz="2000" b="1" u="none" strike="noStrike">
                  <a:solidFill>
                    <a:srgbClr val="000000"/>
                  </a:solidFill>
                  <a:effectLst/>
                  <a:uFillTx/>
                  <a:latin typeface="Times New Roman"/>
                </a:rPr>
                <a:t>60°</a:t>
              </a:r>
              <a:r>
                <a:rPr lang="zh-CN" sz="2000" b="1" u="none" strike="noStrike">
                  <a:solidFill>
                    <a:srgbClr val="000000"/>
                  </a:solidFill>
                  <a:effectLst/>
                  <a:uFillTx/>
                  <a:latin typeface="Times New Roman"/>
                </a:rPr>
                <a:t>时，      值将会太大</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14)</a:t>
              </a:r>
              <a:r>
                <a:rPr lang="zh-CN" sz="2000" b="1" u="none" strike="noStrike">
                  <a:solidFill>
                    <a:srgbClr val="000000"/>
                  </a:solidFill>
                  <a:effectLst/>
                  <a:uFillTx/>
                  <a:latin typeface="Times New Roman"/>
                </a:rPr>
                <a:t>。这致使高频段的增益过大，从而加强高频噪声的干扰，使系统无法正常工作。所以一般应使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14" name="Object 32"/>
                <p:cNvSpPr txBox="1"/>
                <p:nvPr/>
              </p:nvSpPr>
              <p:spPr>
                <a:xfrm>
                  <a:off x="6948360" y="4868640"/>
                  <a:ext cx="304920" cy="279000"/>
                </a:xfrm>
                <a:prstGeom prst="rect">
                  <a:avLst/>
                </a:prstGeom>
              </p:spPr>
              <p:txBody>
                <a:bodyPr/>
                <a:p>
                  <a14:m>
                    <m:oMath xmlns:m="http://schemas.openxmlformats.org/officeDocument/2006/math">
                      <m:r>
                        <m:t xml:space="preserve">α</m:t>
                      </m:r>
                    </m:oMath>
                  </a14:m>
                </a:p>
              </p:txBody>
            </p:sp>
          </mc:Choice>
          <mc:Fallback>
            <p:sp>
              <p:nvSpPr>
                <p:cNvPr id="614" name="Object 32"/>
                <p:cNvSpPr txBox="1"/>
                <p:nvPr/>
              </p:nvSpPr>
              <p:spPr>
                <a:xfrm>
                  <a:off x="6948360" y="4868640"/>
                  <a:ext cx="304920" cy="279000"/>
                </a:xfrm>
                <a:prstGeom prst="rect">
                  <a:avLst/>
                </a:prstGeom>
                <a:blipFill>
                  <a:blip r:embed="rId8"/>
                  <a:stretch>
                    <a:fillRect/>
                  </a:stretch>
                </a:blipFill>
              </p:spPr>
            </p:sp>
          </mc:Fallback>
        </mc:AlternateContent>
        <mc:AlternateContent>
          <mc:Choice xmlns:a14="http://schemas.microsoft.com/office/drawing/2010/main" Requires="a14">
            <p:sp>
              <p:nvSpPr>
                <p:cNvPr id="615" name="Object 33"/>
                <p:cNvSpPr txBox="1"/>
                <p:nvPr/>
              </p:nvSpPr>
              <p:spPr>
                <a:xfrm>
                  <a:off x="4067280" y="5445000"/>
                  <a:ext cx="863640" cy="364680"/>
                </a:xfrm>
                <a:prstGeom prst="rect">
                  <a:avLst/>
                </a:prstGeom>
              </p:spPr>
              <p:txBody>
                <a:bodyPr/>
                <a:p>
                  <a14:m>
                    <m:oMath xmlns:m="http://schemas.openxmlformats.org/officeDocument/2006/math">
                      <m:sSub>
                        <m:e>
                          <m:r>
                            <m:t xml:space="preserve">θ</m:t>
                          </m:r>
                        </m:e>
                        <m:sub>
                          <m:r>
                            <m:t xml:space="preserve">m</m:t>
                          </m:r>
                        </m:sub>
                      </m:sSub>
                      <m:r>
                        <m:t xml:space="preserve">≤</m:t>
                      </m:r>
                      <m:sSup>
                        <m:e>
                          <m:r>
                            <m:rPr>
                              <m:lit/>
                              <m:nor/>
                            </m:rPr>
                            <m:t xml:space="preserve">60</m:t>
                          </m:r>
                        </m:e>
                        <m:sup>
                          <m:r>
                            <m:t xml:space="preserve">∘</m:t>
                          </m:r>
                        </m:sup>
                      </m:sSup>
                    </m:oMath>
                  </a14:m>
                </a:p>
              </p:txBody>
            </p:sp>
          </mc:Choice>
          <mc:Fallback>
            <p:sp>
              <p:nvSpPr>
                <p:cNvPr id="615" name="Object 33"/>
                <p:cNvSpPr txBox="1"/>
                <p:nvPr/>
              </p:nvSpPr>
              <p:spPr>
                <a:xfrm>
                  <a:off x="4067280" y="5445000"/>
                  <a:ext cx="863640" cy="364680"/>
                </a:xfrm>
                <a:prstGeom prst="rect">
                  <a:avLst/>
                </a:prstGeom>
                <a:blipFill>
                  <a:blip r:embed="rId9"/>
                  <a:stretch>
                    <a:fillRect/>
                  </a:stretch>
                </a:blipFill>
              </p:spPr>
            </p:sp>
          </mc:Fallback>
        </mc:AlternateContent>
      </p:grpSp>
    </p:spTree>
  </p:cSld>
  <p:transition>
    <p:random/>
  </p:transition>
  <p:timing>
    <p:tnLst>
      <p:par>
        <p:cTn id="807" dur="indefinite" restart="never" nodeType="tmRoot">
          <p:childTnLst>
            <p:seq>
              <p:cTn id="808" dur="indefinite" nodeType="mainSeq">
                <p:childTnLst>
                  <p:par>
                    <p:cTn id="809" fill="hold" nodeType="clickEffect">
                      <p:stCondLst>
                        <p:cond delay="indefinite"/>
                      </p:stCondLst>
                      <p:childTnLst>
                        <p:par>
                          <p:cTn id="810" fill="hold" nodeType="withEffect">
                            <p:stCondLst>
                              <p:cond delay="0"/>
                            </p:stCondLst>
                            <p:childTnLst>
                              <p:par>
                                <p:cTn id="811" presetID="3" presetClass="entr" fill="hold" nodeType="clickEffect" presetSubtype="10">
                                  <p:stCondLst>
                                    <p:cond delay="0"/>
                                  </p:stCondLst>
                                  <p:childTnLst>
                                    <p:set>
                                      <p:cBhvr>
                                        <p:cTn id="812" dur="1" fill="hold">
                                          <p:stCondLst>
                                            <p:cond delay="0"/>
                                          </p:stCondLst>
                                        </p:cTn>
                                        <p:tgtEl>
                                          <p:spTgt spid="599"/>
                                        </p:tgtEl>
                                        <p:attrNameLst>
                                          <p:attrName>style.visibility</p:attrName>
                                        </p:attrNameLst>
                                      </p:cBhvr>
                                      <p:to>
                                        <p:strVal val="visible"/>
                                      </p:to>
                                    </p:set>
                                    <p:animEffect transition="in" filter="blinds(horizontal)">
                                      <p:cBhvr additive="repl">
                                        <p:cTn id="813" dur="500"/>
                                        <p:tgtEl>
                                          <p:spTgt spid="599"/>
                                        </p:tgtEl>
                                      </p:cBhvr>
                                    </p:animEffect>
                                  </p:childTnLst>
                                </p:cTn>
                              </p:par>
                              <p:par>
                                <p:cTn id="814" presetID="3" presetClass="entr" fill="hold" nodeType="withEffect" presetSubtype="10">
                                  <p:stCondLst>
                                    <p:cond delay="0"/>
                                  </p:stCondLst>
                                  <p:childTnLst>
                                    <p:set>
                                      <p:cBhvr>
                                        <p:cTn id="815" dur="1" fill="hold">
                                          <p:stCondLst>
                                            <p:cond delay="0"/>
                                          </p:stCondLst>
                                        </p:cTn>
                                        <p:tgtEl>
                                          <p:spTgt spid="602"/>
                                        </p:tgtEl>
                                        <p:attrNameLst>
                                          <p:attrName>style.visibility</p:attrName>
                                        </p:attrNameLst>
                                      </p:cBhvr>
                                      <p:to>
                                        <p:strVal val="visible"/>
                                      </p:to>
                                    </p:set>
                                    <p:animEffect transition="in" filter="blinds(horizontal)">
                                      <p:cBhvr additive="repl">
                                        <p:cTn id="816" dur="500"/>
                                        <p:tgtEl>
                                          <p:spTgt spid="602"/>
                                        </p:tgtEl>
                                      </p:cBhvr>
                                    </p:animEffect>
                                  </p:childTnLst>
                                </p:cTn>
                              </p:par>
                              <p:par>
                                <p:cTn id="817" presetID="3" presetClass="entr" fill="hold" nodeType="withEffect" presetSubtype="10">
                                  <p:stCondLst>
                                    <p:cond delay="0"/>
                                  </p:stCondLst>
                                  <p:childTnLst>
                                    <p:set>
                                      <p:cBhvr>
                                        <p:cTn id="818" dur="1" fill="hold">
                                          <p:stCondLst>
                                            <p:cond delay="0"/>
                                          </p:stCondLst>
                                        </p:cTn>
                                        <p:tgtEl>
                                          <p:spTgt spid="603"/>
                                        </p:tgtEl>
                                        <p:attrNameLst>
                                          <p:attrName>style.visibility</p:attrName>
                                        </p:attrNameLst>
                                      </p:cBhvr>
                                      <p:to>
                                        <p:strVal val="visible"/>
                                      </p:to>
                                    </p:set>
                                    <p:animEffect transition="in" filter="blinds(horizontal)">
                                      <p:cBhvr additive="repl">
                                        <p:cTn id="819" dur="500"/>
                                        <p:tgtEl>
                                          <p:spTgt spid="603"/>
                                        </p:tgtEl>
                                      </p:cBhvr>
                                    </p:animEffect>
                                  </p:childTnLst>
                                </p:cTn>
                              </p:par>
                              <p:par>
                                <p:cTn id="820" presetID="3" presetClass="entr" fill="hold" nodeType="withEffect" presetSubtype="10">
                                  <p:stCondLst>
                                    <p:cond delay="0"/>
                                  </p:stCondLst>
                                  <p:childTnLst>
                                    <p:set>
                                      <p:cBhvr>
                                        <p:cTn id="821" dur="1" fill="hold">
                                          <p:stCondLst>
                                            <p:cond delay="0"/>
                                          </p:stCondLst>
                                        </p:cTn>
                                        <p:tgtEl>
                                          <p:spTgt spid="604"/>
                                        </p:tgtEl>
                                        <p:attrNameLst>
                                          <p:attrName>style.visibility</p:attrName>
                                        </p:attrNameLst>
                                      </p:cBhvr>
                                      <p:to>
                                        <p:strVal val="visible"/>
                                      </p:to>
                                    </p:set>
                                    <p:animEffect transition="in" filter="blinds(horizontal)">
                                      <p:cBhvr additive="repl">
                                        <p:cTn id="822" dur="500"/>
                                        <p:tgtEl>
                                          <p:spTgt spid="604"/>
                                        </p:tgtEl>
                                      </p:cBhvr>
                                    </p:animEffect>
                                  </p:childTnLst>
                                </p:cTn>
                              </p:par>
                              <p:par>
                                <p:cTn id="823" presetID="3" presetClass="entr" fill="hold" nodeType="withEffect" presetSubtype="10">
                                  <p:stCondLst>
                                    <p:cond delay="0"/>
                                  </p:stCondLst>
                                  <p:childTnLst>
                                    <p:set>
                                      <p:cBhvr>
                                        <p:cTn id="824" dur="1" fill="hold">
                                          <p:stCondLst>
                                            <p:cond delay="0"/>
                                          </p:stCondLst>
                                        </p:cTn>
                                        <p:tgtEl>
                                          <p:spTgt spid="605"/>
                                        </p:tgtEl>
                                        <p:attrNameLst>
                                          <p:attrName>style.visibility</p:attrName>
                                        </p:attrNameLst>
                                      </p:cBhvr>
                                      <p:to>
                                        <p:strVal val="visible"/>
                                      </p:to>
                                    </p:set>
                                    <p:animEffect transition="in" filter="blinds(horizontal)">
                                      <p:cBhvr additive="repl">
                                        <p:cTn id="825" dur="500"/>
                                        <p:tgtEl>
                                          <p:spTgt spid="605"/>
                                        </p:tgtEl>
                                      </p:cBhvr>
                                    </p:animEffect>
                                  </p:childTnLst>
                                </p:cTn>
                              </p:par>
                            </p:childTnLst>
                          </p:cTn>
                        </p:par>
                      </p:childTnLst>
                    </p:cTn>
                  </p:par>
                  <p:par>
                    <p:cTn id="826" fill="hold" nodeType="clickEffect">
                      <p:stCondLst>
                        <p:cond delay="indefinite"/>
                      </p:stCondLst>
                      <p:childTnLst>
                        <p:par>
                          <p:cTn id="827" fill="hold" nodeType="withEffect">
                            <p:stCondLst>
                              <p:cond delay="0"/>
                            </p:stCondLst>
                            <p:childTnLst>
                              <p:par>
                                <p:cTn id="828" presetID="3" presetClass="entr" fill="hold" nodeType="clickEffect" presetSubtype="10">
                                  <p:stCondLst>
                                    <p:cond delay="0"/>
                                  </p:stCondLst>
                                  <p:childTnLst>
                                    <p:set>
                                      <p:cBhvr>
                                        <p:cTn id="829" dur="1" fill="hold">
                                          <p:stCondLst>
                                            <p:cond delay="0"/>
                                          </p:stCondLst>
                                        </p:cTn>
                                        <p:tgtEl>
                                          <p:spTgt spid="606"/>
                                        </p:tgtEl>
                                        <p:attrNameLst>
                                          <p:attrName>style.visibility</p:attrName>
                                        </p:attrNameLst>
                                      </p:cBhvr>
                                      <p:to>
                                        <p:strVal val="visible"/>
                                      </p:to>
                                    </p:set>
                                    <p:animEffect transition="in" filter="blinds(horizontal)">
                                      <p:cBhvr additive="repl">
                                        <p:cTn id="830" dur="500"/>
                                        <p:tgtEl>
                                          <p:spTgt spid="606"/>
                                        </p:tgtEl>
                                      </p:cBhvr>
                                    </p:animEffect>
                                  </p:childTnLst>
                                </p:cTn>
                              </p:par>
                            </p:childTnLst>
                          </p:cTn>
                        </p:par>
                      </p:childTnLst>
                    </p:cTn>
                  </p:par>
                  <p:par>
                    <p:cTn id="831" fill="hold" nodeType="clickEffect">
                      <p:stCondLst>
                        <p:cond delay="indefinite"/>
                      </p:stCondLst>
                      <p:childTnLst>
                        <p:par>
                          <p:cTn id="832" fill="hold" nodeType="withEffect">
                            <p:stCondLst>
                              <p:cond delay="0"/>
                            </p:stCondLst>
                            <p:childTnLst>
                              <p:par>
                                <p:cTn id="833" presetID="3" presetClass="entr" fill="hold" nodeType="clickEffect" presetSubtype="10">
                                  <p:stCondLst>
                                    <p:cond delay="0"/>
                                  </p:stCondLst>
                                  <p:childTnLst>
                                    <p:set>
                                      <p:cBhvr>
                                        <p:cTn id="834" dur="1" fill="hold">
                                          <p:stCondLst>
                                            <p:cond delay="0"/>
                                          </p:stCondLst>
                                        </p:cTn>
                                        <p:tgtEl>
                                          <p:spTgt spid="607"/>
                                        </p:tgtEl>
                                        <p:attrNameLst>
                                          <p:attrName>style.visibility</p:attrName>
                                        </p:attrNameLst>
                                      </p:cBhvr>
                                      <p:to>
                                        <p:strVal val="visible"/>
                                      </p:to>
                                    </p:set>
                                    <p:animEffect transition="in" filter="blinds(horizontal)">
                                      <p:cBhvr additive="repl">
                                        <p:cTn id="835" dur="500"/>
                                        <p:tgtEl>
                                          <p:spTgt spid="607"/>
                                        </p:tgtEl>
                                      </p:cBhvr>
                                    </p:animEffect>
                                  </p:childTnLst>
                                </p:cTn>
                              </p:par>
                            </p:childTnLst>
                          </p:cTn>
                        </p:par>
                      </p:childTnLst>
                    </p:cTn>
                  </p:par>
                  <p:par>
                    <p:cTn id="836" fill="hold" nodeType="clickEffect">
                      <p:stCondLst>
                        <p:cond delay="indefinite"/>
                      </p:stCondLst>
                      <p:childTnLst>
                        <p:par>
                          <p:cTn id="837" fill="hold" nodeType="withEffect">
                            <p:stCondLst>
                              <p:cond delay="0"/>
                            </p:stCondLst>
                            <p:childTnLst>
                              <p:par>
                                <p:cTn id="838" presetID="18" presetClass="entr" fill="hold" nodeType="clickEffect" presetSubtype="6">
                                  <p:stCondLst>
                                    <p:cond delay="0"/>
                                  </p:stCondLst>
                                  <p:childTnLst>
                                    <p:set>
                                      <p:cBhvr>
                                        <p:cTn id="839" dur="1" fill="hold">
                                          <p:stCondLst>
                                            <p:cond delay="0"/>
                                          </p:stCondLst>
                                        </p:cTn>
                                        <p:tgtEl>
                                          <p:spTgt spid="612"/>
                                        </p:tgtEl>
                                        <p:attrNameLst>
                                          <p:attrName>style.visibility</p:attrName>
                                        </p:attrNameLst>
                                      </p:cBhvr>
                                      <p:to>
                                        <p:strVal val="visible"/>
                                      </p:to>
                                    </p:set>
                                    <p:animEffect transition="in" filter="strips(downRight)">
                                      <p:cBhvr additive="repl">
                                        <p:cTn id="840" dur="2000"/>
                                        <p:tgtEl>
                                          <p:spTgt spid="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Rectangle 23"/>
          <p:cNvSpPr/>
          <p:nvPr/>
        </p:nvSpPr>
        <p:spPr>
          <a:xfrm>
            <a:off x="1183680" y="578160"/>
            <a:ext cx="412560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基于频率法综合超前校正的步骤</a:t>
            </a:r>
            <a:r>
              <a:rPr lang="zh-CN" sz="2000" b="0" u="none" strike="noStrike">
                <a:solidFill>
                  <a:srgbClr val="008080"/>
                </a:solidFill>
                <a:effectLst/>
                <a:uFillTx/>
                <a:latin typeface="Times New Roman"/>
              </a:rPr>
              <a:t>： </a:t>
            </a:r>
            <a:endParaRPr lang="en-US" sz="2000" b="0" u="none" strike="noStrike">
              <a:solidFill>
                <a:srgbClr val="000000"/>
              </a:solidFill>
              <a:effectLst/>
              <a:uFillTx/>
              <a:latin typeface="Times New Roman"/>
            </a:endParaRPr>
          </a:p>
        </p:txBody>
      </p:sp>
      <p:sp>
        <p:nvSpPr>
          <p:cNvPr id="617" name="Rectangle 30"/>
          <p:cNvSpPr/>
          <p:nvPr/>
        </p:nvSpPr>
        <p:spPr>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618" name="Group 31"/>
          <p:cNvGrpSpPr/>
          <p:nvPr/>
        </p:nvGrpSpPr>
        <p:grpSpPr>
          <a:xfrm>
            <a:off x="539640" y="981000"/>
            <a:ext cx="8137800" cy="5045400"/>
            <a:chOff x="539640" y="981000"/>
            <a:chExt cx="8137800" cy="5045400"/>
          </a:xfrm>
        </p:grpSpPr>
        <p:sp>
          <p:nvSpPr>
            <p:cNvPr id="619" name="Rectangle 24"/>
            <p:cNvSpPr/>
            <p:nvPr/>
          </p:nvSpPr>
          <p:spPr>
            <a:xfrm>
              <a:off x="539640" y="981000"/>
              <a:ext cx="8137800" cy="504540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宋体"/>
                </a:rPr>
                <a:t>1</a:t>
              </a:r>
              <a:r>
                <a:rPr lang="zh-CN" sz="2000" b="1" u="none" strike="noStrike">
                  <a:solidFill>
                    <a:srgbClr val="000000"/>
                  </a:solidFill>
                  <a:effectLst/>
                  <a:uFillTx/>
                  <a:latin typeface="宋体"/>
                </a:rPr>
                <a:t>、首先根据静态指标要求，确定开环比例系数，并按照已确定的</a:t>
              </a:r>
              <a:r>
                <a:rPr lang="en-US" sz="2000" b="1" u="none" strike="noStrike">
                  <a:solidFill>
                    <a:srgbClr val="000000"/>
                  </a:solidFill>
                  <a:effectLst/>
                  <a:uFillTx/>
                  <a:latin typeface="宋体"/>
                </a:rPr>
                <a:t>K</a:t>
              </a:r>
              <a:r>
                <a:rPr lang="zh-CN" sz="2000" b="1" u="none" strike="noStrike">
                  <a:solidFill>
                    <a:srgbClr val="000000"/>
                  </a:solidFill>
                  <a:effectLst/>
                  <a:uFillTx/>
                  <a:latin typeface="宋体"/>
                </a:rPr>
                <a:t>值画出系统固有部分的</a:t>
              </a:r>
              <a:r>
                <a:rPr lang="en-US" sz="2000" b="1" u="none" strike="noStrike">
                  <a:solidFill>
                    <a:srgbClr val="000000"/>
                  </a:solidFill>
                  <a:effectLst/>
                  <a:uFillTx/>
                  <a:latin typeface="宋体"/>
                </a:rPr>
                <a:t>Bode</a:t>
              </a:r>
              <a:r>
                <a:rPr lang="zh-CN" sz="2000" b="1" u="none" strike="noStrike">
                  <a:solidFill>
                    <a:srgbClr val="000000"/>
                  </a:solidFill>
                  <a:effectLst/>
                  <a:uFillTx/>
                  <a:latin typeface="宋体"/>
                </a:rPr>
                <a:t>图。</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宋体"/>
                </a:rPr>
                <a:t>2</a:t>
              </a:r>
              <a:r>
                <a:rPr lang="zh-CN" sz="2000" b="1" u="none" strike="noStrike">
                  <a:solidFill>
                    <a:srgbClr val="000000"/>
                  </a:solidFill>
                  <a:effectLst/>
                  <a:uFillTx/>
                  <a:latin typeface="宋体"/>
                </a:rPr>
                <a:t>、根据动态指标要求预选    。从</a:t>
              </a:r>
              <a:r>
                <a:rPr lang="en-US" sz="2000" b="1" u="none" strike="noStrike">
                  <a:solidFill>
                    <a:srgbClr val="000000"/>
                  </a:solidFill>
                  <a:effectLst/>
                  <a:uFillTx/>
                  <a:latin typeface="宋体"/>
                </a:rPr>
                <a:t>Bode</a:t>
              </a:r>
              <a:r>
                <a:rPr lang="zh-CN" sz="2000" b="1" u="none" strike="noStrike">
                  <a:solidFill>
                    <a:srgbClr val="000000"/>
                  </a:solidFill>
                  <a:effectLst/>
                  <a:uFillTx/>
                  <a:latin typeface="宋体"/>
                </a:rPr>
                <a:t>图上求出系统固有部分在   点的相角。</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宋体"/>
                </a:rPr>
                <a:t>3</a:t>
              </a:r>
              <a:r>
                <a:rPr lang="zh-CN" sz="2000" b="1" u="none" strike="noStrike">
                  <a:solidFill>
                    <a:srgbClr val="000000"/>
                  </a:solidFill>
                  <a:effectLst/>
                  <a:uFillTx/>
                  <a:latin typeface="宋体"/>
                </a:rPr>
                <a:t>、根据性能指标要求的相角稳定裕量，确定在   点是否需要提供相角超前量。如不需要，就无须引进超前校正。若需要，算出需要提供的相角超前量。</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宋体"/>
                </a:rPr>
                <a:t>4</a:t>
              </a:r>
              <a:r>
                <a:rPr lang="zh-CN" sz="2000" b="1" u="none" strike="noStrike">
                  <a:solidFill>
                    <a:srgbClr val="000000"/>
                  </a:solidFill>
                  <a:effectLst/>
                  <a:uFillTx/>
                  <a:latin typeface="宋体"/>
                </a:rPr>
                <a:t>、如果所需相角超前量不大于</a:t>
              </a:r>
              <a:r>
                <a:rPr lang="en-US" sz="2000" b="1" u="none" strike="noStrike">
                  <a:solidFill>
                    <a:srgbClr val="000000"/>
                  </a:solidFill>
                  <a:effectLst/>
                  <a:uFillTx/>
                  <a:latin typeface="宋体"/>
                </a:rPr>
                <a:t>60°</a:t>
              </a:r>
              <a:r>
                <a:rPr lang="zh-CN" sz="2000" b="1" u="none" strike="noStrike">
                  <a:solidFill>
                    <a:srgbClr val="000000"/>
                  </a:solidFill>
                  <a:effectLst/>
                  <a:uFillTx/>
                  <a:latin typeface="宋体"/>
                </a:rPr>
                <a:t>，就由所需超前相位角求出超前校正强度   。如果所需相角超前量大于</a:t>
              </a:r>
              <a:r>
                <a:rPr lang="en-US" sz="2000" b="1" u="none" strike="noStrike">
                  <a:solidFill>
                    <a:srgbClr val="000000"/>
                  </a:solidFill>
                  <a:effectLst/>
                  <a:uFillTx/>
                  <a:latin typeface="宋体"/>
                </a:rPr>
                <a:t>60°</a:t>
              </a:r>
              <a:r>
                <a:rPr lang="zh-CN" sz="2000" b="1" u="none" strike="noStrike">
                  <a:solidFill>
                    <a:srgbClr val="000000"/>
                  </a:solidFill>
                  <a:effectLst/>
                  <a:uFillTx/>
                  <a:latin typeface="宋体"/>
                </a:rPr>
                <a:t>，超前校正已不适合应考虑采用其他校正方式。</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宋体"/>
                </a:rPr>
                <a:t>5</a:t>
              </a:r>
              <a:r>
                <a:rPr lang="zh-CN" sz="2000" b="1" u="none" strike="noStrike">
                  <a:solidFill>
                    <a:srgbClr val="000000"/>
                  </a:solidFill>
                  <a:effectLst/>
                  <a:uFillTx/>
                  <a:latin typeface="宋体"/>
                </a:rPr>
                <a:t>、由                 </a:t>
              </a:r>
              <a:r>
                <a:rPr lang="zh-CN" sz="2000" b="1" u="none" strike="noStrike">
                  <a:solidFill>
                    <a:srgbClr val="000000"/>
                  </a:solidFill>
                  <a:effectLst/>
                  <a:uFillTx/>
                  <a:latin typeface="Times New Roman"/>
                </a:rPr>
                <a:t>求出超前校正的两个转折频率       和      。</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宋体"/>
                </a:rPr>
                <a:t>6</a:t>
              </a:r>
              <a:r>
                <a:rPr lang="zh-CN" sz="2000" b="1" u="none" strike="noStrike">
                  <a:solidFill>
                    <a:srgbClr val="000000"/>
                  </a:solidFill>
                  <a:effectLst/>
                  <a:uFillTx/>
                  <a:latin typeface="宋体"/>
                </a:rPr>
                <a:t>、验证校正后系统是否满足要求。</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20" name="Object 25"/>
                <p:cNvSpPr txBox="1"/>
                <p:nvPr/>
              </p:nvSpPr>
              <p:spPr>
                <a:xfrm>
                  <a:off x="5867280" y="2565360"/>
                  <a:ext cx="38124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620" name="Object 25"/>
                <p:cNvSpPr txBox="1"/>
                <p:nvPr/>
              </p:nvSpPr>
              <p:spPr>
                <a:xfrm>
                  <a:off x="5867280" y="2565360"/>
                  <a:ext cx="381240" cy="457200"/>
                </a:xfrm>
                <a:prstGeom prst="rect">
                  <a:avLst/>
                </a:prstGeom>
                <a:blipFill>
                  <a:blip r:embed="rId1"/>
                  <a:stretch>
                    <a:fillRect/>
                  </a:stretch>
                </a:blipFill>
              </p:spPr>
            </p:sp>
          </mc:Fallback>
        </mc:AlternateContent>
        <mc:AlternateContent>
          <mc:Choice xmlns:a14="http://schemas.microsoft.com/office/drawing/2010/main" Requires="a14">
            <p:sp>
              <p:nvSpPr>
                <p:cNvPr id="621" name="Object 26"/>
                <p:cNvSpPr txBox="1"/>
                <p:nvPr/>
              </p:nvSpPr>
              <p:spPr>
                <a:xfrm>
                  <a:off x="3635280" y="1773000"/>
                  <a:ext cx="38124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621" name="Object 26"/>
                <p:cNvSpPr txBox="1"/>
                <p:nvPr/>
              </p:nvSpPr>
              <p:spPr>
                <a:xfrm>
                  <a:off x="3635280" y="1773000"/>
                  <a:ext cx="381240" cy="457200"/>
                </a:xfrm>
                <a:prstGeom prst="rect">
                  <a:avLst/>
                </a:prstGeom>
                <a:blipFill>
                  <a:blip r:embed="rId2"/>
                  <a:stretch>
                    <a:fillRect/>
                  </a:stretch>
                </a:blipFill>
              </p:spPr>
            </p:sp>
          </mc:Fallback>
        </mc:AlternateContent>
        <mc:AlternateContent>
          <mc:Choice xmlns:a14="http://schemas.microsoft.com/office/drawing/2010/main" Requires="a14">
            <p:sp>
              <p:nvSpPr>
                <p:cNvPr id="622" name="Object 27"/>
                <p:cNvSpPr txBox="1"/>
                <p:nvPr/>
              </p:nvSpPr>
              <p:spPr>
                <a:xfrm>
                  <a:off x="7956720" y="1773000"/>
                  <a:ext cx="38088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622" name="Object 27"/>
                <p:cNvSpPr txBox="1"/>
                <p:nvPr/>
              </p:nvSpPr>
              <p:spPr>
                <a:xfrm>
                  <a:off x="7956720" y="1773000"/>
                  <a:ext cx="380880" cy="457200"/>
                </a:xfrm>
                <a:prstGeom prst="rect">
                  <a:avLst/>
                </a:prstGeom>
                <a:blipFill>
                  <a:blip r:embed="rId3"/>
                  <a:stretch>
                    <a:fillRect/>
                  </a:stretch>
                </a:blipFill>
              </p:spPr>
            </p:sp>
          </mc:Fallback>
        </mc:AlternateContent>
        <mc:AlternateContent>
          <mc:Choice xmlns:a14="http://schemas.microsoft.com/office/drawing/2010/main" Requires="a14">
            <p:sp>
              <p:nvSpPr>
                <p:cNvPr id="623" name="Object 29"/>
                <p:cNvSpPr txBox="1"/>
                <p:nvPr/>
              </p:nvSpPr>
              <p:spPr>
                <a:xfrm>
                  <a:off x="1403280" y="4149720"/>
                  <a:ext cx="298440" cy="279360"/>
                </a:xfrm>
                <a:prstGeom prst="rect">
                  <a:avLst/>
                </a:prstGeom>
              </p:spPr>
              <p:txBody>
                <a:bodyPr/>
                <a:p>
                  <a14:m>
                    <m:oMath xmlns:m="http://schemas.openxmlformats.org/officeDocument/2006/math">
                      <m:r>
                        <m:t xml:space="preserve">α</m:t>
                      </m:r>
                    </m:oMath>
                  </a14:m>
                </a:p>
              </p:txBody>
            </p:sp>
          </mc:Choice>
          <mc:Fallback>
            <p:sp>
              <p:nvSpPr>
                <p:cNvPr id="623" name="Object 29"/>
                <p:cNvSpPr txBox="1"/>
                <p:nvPr/>
              </p:nvSpPr>
              <p:spPr>
                <a:xfrm>
                  <a:off x="1403280" y="4149720"/>
                  <a:ext cx="298440" cy="279360"/>
                </a:xfrm>
                <a:prstGeom prst="rect">
                  <a:avLst/>
                </a:prstGeom>
                <a:blipFill>
                  <a:blip r:embed="rId4"/>
                  <a:stretch>
                    <a:fillRect/>
                  </a:stretch>
                </a:blipFill>
              </p:spPr>
            </p:sp>
          </mc:Fallback>
        </mc:AlternateContent>
      </p:grpSp>
      <mc:AlternateContent>
        <mc:Choice xmlns:a14="http://schemas.microsoft.com/office/drawing/2010/main" Requires="a14">
          <p:sp>
            <p:nvSpPr>
              <p:cNvPr id="624" name="Object 32"/>
              <p:cNvSpPr txBox="1"/>
              <p:nvPr/>
            </p:nvSpPr>
            <p:spPr>
              <a:xfrm>
                <a:off x="1258920" y="4797360"/>
                <a:ext cx="2160720" cy="441360"/>
              </a:xfrm>
              <a:prstGeom prst="rect">
                <a:avLst/>
              </a:prstGeom>
            </p:spPr>
            <p:txBody>
              <a:bodyPr/>
              <a:p>
                <a14:m>
                  <m:oMath xmlns:m="http://schemas.openxmlformats.org/officeDocument/2006/math">
                    <m:sSub>
                      <m:e>
                        <m:r>
                          <m:t xml:space="preserve">ω</m:t>
                        </m:r>
                      </m:e>
                      <m:sub>
                        <m:r>
                          <m:t xml:space="preserve">m</m:t>
                        </m:r>
                      </m:sub>
                    </m:sSub>
                    <m:r>
                      <m:t xml:space="preserve">=</m:t>
                    </m:r>
                    <m:sSub>
                      <m:e>
                        <m:r>
                          <m:t xml:space="preserve">ω</m:t>
                        </m:r>
                      </m:e>
                      <m:sub>
                        <m:r>
                          <m:t xml:space="preserve">c</m:t>
                        </m:r>
                      </m:sub>
                    </m:sSub>
                    <m:r>
                      <m:t xml:space="preserve">=</m:t>
                    </m:r>
                    <m:f>
                      <m:fPr>
                        <m:type m:val="lin"/>
                      </m:fPr>
                      <m:num>
                        <m:r>
                          <m:t xml:space="preserve">1</m:t>
                        </m:r>
                      </m:num>
                      <m:den>
                        <m:r>
                          <m:t xml:space="preserve">(</m:t>
                        </m:r>
                      </m:den>
                    </m:f>
                    <m:rad>
                      <m:radPr>
                        <m:degHide m:val="1"/>
                      </m:radPr>
                      <m:deg/>
                      <m:e>
                        <m:r>
                          <m:t xml:space="preserve">α</m:t>
                        </m:r>
                      </m:e>
                    </m:rad>
                    <m:r>
                      <m:t xml:space="preserve">T</m:t>
                    </m:r>
                    <m:r>
                      <m:t xml:space="preserve">)</m:t>
                    </m:r>
                  </m:oMath>
                </a14:m>
              </a:p>
            </p:txBody>
          </p:sp>
        </mc:Choice>
        <mc:Fallback>
          <p:sp>
            <p:nvSpPr>
              <p:cNvPr id="624" name="Object 32"/>
              <p:cNvSpPr txBox="1"/>
              <p:nvPr/>
            </p:nvSpPr>
            <p:spPr>
              <a:xfrm>
                <a:off x="1258920" y="4797360"/>
                <a:ext cx="2160720" cy="441360"/>
              </a:xfrm>
              <a:prstGeom prst="rect">
                <a:avLst/>
              </a:prstGeom>
              <a:blipFill>
                <a:blip r:embed="rId5"/>
                <a:stretch>
                  <a:fillRect/>
                </a:stretch>
              </a:blipFill>
            </p:spPr>
          </p:sp>
        </mc:Fallback>
      </mc:AlternateContent>
      <mc:AlternateContent>
        <mc:Choice xmlns:a14="http://schemas.microsoft.com/office/drawing/2010/main" Requires="a14">
          <p:sp>
            <p:nvSpPr>
              <p:cNvPr id="625" name="Object 33"/>
              <p:cNvSpPr txBox="1"/>
              <p:nvPr/>
            </p:nvSpPr>
            <p:spPr>
              <a:xfrm>
                <a:off x="6804000" y="4797360"/>
                <a:ext cx="403200" cy="598680"/>
              </a:xfrm>
              <a:prstGeom prst="rect">
                <a:avLst/>
              </a:prstGeom>
            </p:spPr>
            <p:txBody>
              <a:bodyPr/>
              <a:p>
                <a14:m>
                  <m:oMath xmlns:m="http://schemas.openxmlformats.org/officeDocument/2006/math">
                    <m:f>
                      <m:num>
                        <m:r>
                          <m:t xml:space="preserve">1</m:t>
                        </m:r>
                      </m:num>
                      <m:den>
                        <m:r>
                          <m:t xml:space="preserve">Tα</m:t>
                        </m:r>
                      </m:den>
                    </m:f>
                  </m:oMath>
                </a14:m>
              </a:p>
            </p:txBody>
          </p:sp>
        </mc:Choice>
        <mc:Fallback>
          <p:sp>
            <p:nvSpPr>
              <p:cNvPr id="625" name="Object 33"/>
              <p:cNvSpPr txBox="1"/>
              <p:nvPr/>
            </p:nvSpPr>
            <p:spPr>
              <a:xfrm>
                <a:off x="6804000" y="4797360"/>
                <a:ext cx="403200" cy="598680"/>
              </a:xfrm>
              <a:prstGeom prst="rect">
                <a:avLst/>
              </a:prstGeom>
              <a:blipFill>
                <a:blip r:embed="rId6"/>
                <a:stretch>
                  <a:fillRect/>
                </a:stretch>
              </a:blipFill>
            </p:spPr>
          </p:sp>
        </mc:Fallback>
      </mc:AlternateContent>
      <mc:AlternateContent>
        <mc:Choice xmlns:a14="http://schemas.microsoft.com/office/drawing/2010/main" Requires="a14">
          <p:sp>
            <p:nvSpPr>
              <p:cNvPr id="626" name="Object 34"/>
              <p:cNvSpPr txBox="1"/>
              <p:nvPr/>
            </p:nvSpPr>
            <p:spPr>
              <a:xfrm>
                <a:off x="7524720" y="4797360"/>
                <a:ext cx="271440" cy="647640"/>
              </a:xfrm>
              <a:prstGeom prst="rect">
                <a:avLst/>
              </a:prstGeom>
            </p:spPr>
            <p:txBody>
              <a:bodyPr/>
              <a:p>
                <a14:m>
                  <m:oMath xmlns:m="http://schemas.openxmlformats.org/officeDocument/2006/math">
                    <m:f>
                      <m:num>
                        <m:r>
                          <m:t xml:space="preserve">1</m:t>
                        </m:r>
                      </m:num>
                      <m:den>
                        <m:r>
                          <m:t xml:space="preserve">T</m:t>
                        </m:r>
                      </m:den>
                    </m:f>
                  </m:oMath>
                </a14:m>
              </a:p>
            </p:txBody>
          </p:sp>
        </mc:Choice>
        <mc:Fallback>
          <p:sp>
            <p:nvSpPr>
              <p:cNvPr id="626" name="Object 34"/>
              <p:cNvSpPr txBox="1"/>
              <p:nvPr/>
            </p:nvSpPr>
            <p:spPr>
              <a:xfrm>
                <a:off x="7524720" y="4797360"/>
                <a:ext cx="271440" cy="647640"/>
              </a:xfrm>
              <a:prstGeom prst="rect">
                <a:avLst/>
              </a:prstGeom>
              <a:blipFill>
                <a:blip r:embed="rId7"/>
                <a:stretch>
                  <a:fillRect/>
                </a:stretch>
              </a:blipFill>
            </p:spPr>
          </p:sp>
        </mc:Fallback>
      </mc:AlternateContent>
    </p:spTree>
  </p:cSld>
  <p:transition>
    <p:random/>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Rectangle 38"/>
          <p:cNvSpPr/>
          <p:nvPr/>
        </p:nvSpPr>
        <p:spPr>
          <a:xfrm>
            <a:off x="1106640" y="651240"/>
            <a:ext cx="7380000" cy="5967000"/>
          </a:xfrm>
          <a:prstGeom prst="rect">
            <a:avLst/>
          </a:prstGeom>
          <a:noFill/>
          <a:ln w="0">
            <a:noFill/>
          </a:ln>
        </p:spPr>
        <p:style>
          <a:lnRef idx="0"/>
          <a:fillRef idx="0"/>
          <a:effectRef idx="0"/>
          <a:fontRef idx="minor"/>
        </p:style>
        <p:txBody>
          <a:bodyPr lIns="90000" tIns="46800" rIns="90000" bIns="46800" anchor="ctr">
            <a:spAutoFit/>
          </a:bodyPr>
          <a:p>
            <a:pPr marL="355680" indent="-355680">
              <a:lnSpc>
                <a:spcPct val="150000"/>
              </a:lnSpc>
              <a:buClr>
                <a:srgbClr val="000000"/>
              </a:buClr>
              <a:buFont typeface="Wingdings" charset="2"/>
              <a:buChar char=""/>
              <a:tabLst>
                <a:tab pos="25416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1" u="none" strike="noStrike">
                <a:solidFill>
                  <a:srgbClr val="000000"/>
                </a:solidFill>
                <a:effectLst/>
                <a:uFillTx/>
                <a:latin typeface="幼圆"/>
                <a:ea typeface="幼圆"/>
              </a:rPr>
              <a:t>本例中系统固有部分的对数幅频特性在选定的</a:t>
            </a:r>
            <a:r>
              <a:rPr lang="en-US" sz="1800" b="1" u="none" strike="noStrike">
                <a:solidFill>
                  <a:srgbClr val="000000"/>
                </a:solidFill>
                <a:effectLst/>
                <a:uFillTx/>
                <a:latin typeface="幼圆"/>
                <a:ea typeface="幼圆"/>
              </a:rPr>
              <a:t>ω</a:t>
            </a:r>
            <a:r>
              <a:rPr lang="en-US" sz="1800" b="1" u="none" strike="noStrike" baseline="-25000">
                <a:solidFill>
                  <a:srgbClr val="000000"/>
                </a:solidFill>
                <a:effectLst/>
                <a:uFillTx/>
                <a:latin typeface="幼圆"/>
                <a:ea typeface="幼圆"/>
              </a:rPr>
              <a:t>c</a:t>
            </a:r>
            <a:r>
              <a:rPr lang="zh-CN" sz="1800" b="1" u="none" strike="noStrike">
                <a:solidFill>
                  <a:srgbClr val="000000"/>
                </a:solidFill>
                <a:effectLst/>
                <a:uFillTx/>
                <a:latin typeface="幼圆"/>
                <a:ea typeface="幼圆"/>
              </a:rPr>
              <a:t>点的斜率为</a:t>
            </a:r>
            <a:r>
              <a:rPr lang="en-US" sz="1800" b="1" u="none" strike="noStrike">
                <a:solidFill>
                  <a:srgbClr val="000000"/>
                </a:solidFill>
                <a:effectLst/>
                <a:uFillTx/>
                <a:latin typeface="幼圆"/>
                <a:ea typeface="幼圆"/>
              </a:rPr>
              <a:t>-40</a:t>
            </a:r>
            <a:r>
              <a:rPr lang="zh-CN" sz="1800" b="1" u="none" strike="noStrike">
                <a:solidFill>
                  <a:srgbClr val="000000"/>
                </a:solidFill>
                <a:effectLst/>
                <a:uFillTx/>
                <a:latin typeface="幼圆"/>
                <a:ea typeface="幼圆"/>
              </a:rPr>
              <a:t>，这一点很重要。由于超前校正装置的对数幅频特性中频段的斜率是</a:t>
            </a:r>
            <a:r>
              <a:rPr lang="en-US" sz="1800" b="1" u="none" strike="noStrike">
                <a:solidFill>
                  <a:srgbClr val="000000"/>
                </a:solidFill>
                <a:effectLst/>
                <a:uFillTx/>
                <a:latin typeface="幼圆"/>
                <a:ea typeface="幼圆"/>
              </a:rPr>
              <a:t>+20</a:t>
            </a:r>
            <a:r>
              <a:rPr lang="zh-CN" sz="1800" b="1" u="none" strike="noStrike">
                <a:solidFill>
                  <a:srgbClr val="000000"/>
                </a:solidFill>
                <a:effectLst/>
                <a:uFillTx/>
                <a:latin typeface="幼圆"/>
                <a:ea typeface="幼圆"/>
              </a:rPr>
              <a:t>，所以在加入校正装置后，系统的特性在</a:t>
            </a:r>
            <a:r>
              <a:rPr lang="en-US" sz="1800" b="1" u="none" strike="noStrike">
                <a:solidFill>
                  <a:srgbClr val="000000"/>
                </a:solidFill>
                <a:effectLst/>
                <a:uFillTx/>
                <a:latin typeface="幼圆"/>
                <a:ea typeface="幼圆"/>
              </a:rPr>
              <a:t>ω</a:t>
            </a:r>
            <a:r>
              <a:rPr lang="en-US" sz="1800" b="1" u="none" strike="noStrike" baseline="-25000">
                <a:solidFill>
                  <a:srgbClr val="000000"/>
                </a:solidFill>
                <a:effectLst/>
                <a:uFillTx/>
                <a:latin typeface="幼圆"/>
                <a:ea typeface="幼圆"/>
              </a:rPr>
              <a:t>c</a:t>
            </a:r>
            <a:r>
              <a:rPr lang="zh-CN" sz="1800" b="1" u="none" strike="noStrike">
                <a:solidFill>
                  <a:srgbClr val="000000"/>
                </a:solidFill>
                <a:effectLst/>
                <a:uFillTx/>
                <a:latin typeface="幼圆"/>
                <a:ea typeface="幼圆"/>
              </a:rPr>
              <a:t>点附近的斜率就成为</a:t>
            </a:r>
            <a:r>
              <a:rPr lang="en-US" sz="1800" b="1" u="none" strike="noStrike">
                <a:solidFill>
                  <a:srgbClr val="000000"/>
                </a:solidFill>
                <a:effectLst/>
                <a:uFillTx/>
                <a:latin typeface="幼圆"/>
                <a:ea typeface="幼圆"/>
              </a:rPr>
              <a:t>-20</a:t>
            </a:r>
            <a:r>
              <a:rPr lang="zh-CN" sz="1800" b="1" u="none" strike="noStrike">
                <a:solidFill>
                  <a:srgbClr val="000000"/>
                </a:solidFill>
                <a:effectLst/>
                <a:uFillTx/>
                <a:latin typeface="幼圆"/>
                <a:ea typeface="幼圆"/>
              </a:rPr>
              <a:t>。这正是保证系统稳定所必需的。</a:t>
            </a:r>
            <a:endParaRPr lang="en-US" sz="1800" b="0" u="none" strike="noStrike">
              <a:solidFill>
                <a:srgbClr val="000000"/>
              </a:solidFill>
              <a:effectLst/>
              <a:uFillTx/>
              <a:latin typeface="Times New Roman"/>
            </a:endParaRPr>
          </a:p>
          <a:p>
            <a:pPr marL="355680" indent="-355680">
              <a:lnSpc>
                <a:spcPct val="150000"/>
              </a:lnSpc>
              <a:buClr>
                <a:srgbClr val="000000"/>
              </a:buClr>
              <a:buFont typeface="Wingdings" charset="2"/>
              <a:buChar char=""/>
              <a:tabLst>
                <a:tab pos="25416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1" u="none" strike="noStrike">
                <a:solidFill>
                  <a:srgbClr val="000000"/>
                </a:solidFill>
                <a:effectLst/>
                <a:uFillTx/>
                <a:latin typeface="幼圆"/>
                <a:ea typeface="幼圆"/>
              </a:rPr>
              <a:t>在确定超前校正所应提供的相角超前量时，我们加了</a:t>
            </a:r>
            <a:r>
              <a:rPr lang="en-US" sz="1800" b="1" u="none" strike="noStrike">
                <a:solidFill>
                  <a:srgbClr val="000000"/>
                </a:solidFill>
                <a:effectLst/>
                <a:uFillTx/>
                <a:latin typeface="幼圆"/>
                <a:ea typeface="幼圆"/>
              </a:rPr>
              <a:t>10°</a:t>
            </a:r>
            <a:r>
              <a:rPr lang="zh-CN" sz="1800" b="1" u="none" strike="noStrike">
                <a:solidFill>
                  <a:srgbClr val="000000"/>
                </a:solidFill>
                <a:effectLst/>
                <a:uFillTx/>
                <a:latin typeface="幼圆"/>
                <a:ea typeface="幼圆"/>
              </a:rPr>
              <a:t>的余量。这是因为考虑到校正装置加上之后，实际的截止角频率点会略有右移，以致使相角稳定裕量减小。这</a:t>
            </a:r>
            <a:r>
              <a:rPr lang="en-US" sz="1800" b="1" u="none" strike="noStrike">
                <a:solidFill>
                  <a:srgbClr val="000000"/>
                </a:solidFill>
                <a:effectLst/>
                <a:uFillTx/>
                <a:latin typeface="幼圆"/>
                <a:ea typeface="幼圆"/>
              </a:rPr>
              <a:t>10°</a:t>
            </a:r>
            <a:r>
              <a:rPr lang="zh-CN" sz="1800" b="1" u="none" strike="noStrike">
                <a:solidFill>
                  <a:srgbClr val="000000"/>
                </a:solidFill>
                <a:effectLst/>
                <a:uFillTx/>
                <a:latin typeface="幼圆"/>
                <a:ea typeface="幼圆"/>
              </a:rPr>
              <a:t>的余量就是用来补偿截至角频率点右移而造成的相角滞后。</a:t>
            </a:r>
            <a:endParaRPr lang="en-US" sz="1800" b="0" u="none" strike="noStrike">
              <a:solidFill>
                <a:srgbClr val="000000"/>
              </a:solidFill>
              <a:effectLst/>
              <a:uFillTx/>
              <a:latin typeface="Times New Roman"/>
            </a:endParaRPr>
          </a:p>
          <a:p>
            <a:pPr marL="355680" indent="-355680">
              <a:lnSpc>
                <a:spcPct val="150000"/>
              </a:lnSpc>
              <a:buClr>
                <a:srgbClr val="000000"/>
              </a:buClr>
              <a:buFont typeface="Wingdings" charset="2"/>
              <a:buChar char=""/>
              <a:tabLst>
                <a:tab pos="25416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1" u="none" strike="noStrike">
                <a:solidFill>
                  <a:srgbClr val="000000"/>
                </a:solidFill>
                <a:effectLst/>
                <a:uFillTx/>
                <a:latin typeface="幼圆"/>
                <a:ea typeface="幼圆"/>
              </a:rPr>
              <a:t>当要求超前校正提供的相位超前量大于</a:t>
            </a:r>
            <a:r>
              <a:rPr lang="en-US" sz="1800" b="1" u="none" strike="noStrike">
                <a:solidFill>
                  <a:srgbClr val="000000"/>
                </a:solidFill>
                <a:effectLst/>
                <a:uFillTx/>
                <a:latin typeface="幼圆"/>
                <a:ea typeface="幼圆"/>
              </a:rPr>
              <a:t>60°</a:t>
            </a:r>
            <a:r>
              <a:rPr lang="zh-CN" sz="1800" b="1" u="none" strike="noStrike">
                <a:solidFill>
                  <a:srgbClr val="000000"/>
                </a:solidFill>
                <a:effectLst/>
                <a:uFillTx/>
                <a:latin typeface="幼圆"/>
                <a:ea typeface="幼圆"/>
              </a:rPr>
              <a:t>时，只用一个超前校正装置就难以实现。这是由于为了获得大于</a:t>
            </a:r>
            <a:r>
              <a:rPr lang="en-US" sz="1800" b="1" u="none" strike="noStrike">
                <a:solidFill>
                  <a:srgbClr val="000000"/>
                </a:solidFill>
                <a:effectLst/>
                <a:uFillTx/>
                <a:latin typeface="幼圆"/>
                <a:ea typeface="幼圆"/>
              </a:rPr>
              <a:t>60°</a:t>
            </a:r>
            <a:r>
              <a:rPr lang="zh-CN" sz="1800" b="1" u="none" strike="noStrike">
                <a:solidFill>
                  <a:srgbClr val="000000"/>
                </a:solidFill>
                <a:effectLst/>
                <a:uFillTx/>
                <a:latin typeface="幼圆"/>
                <a:ea typeface="幼圆"/>
              </a:rPr>
              <a:t>的超前角，</a:t>
            </a:r>
            <a:r>
              <a:rPr lang="en-US" sz="1800" b="1" u="none" strike="noStrike">
                <a:solidFill>
                  <a:srgbClr val="000000"/>
                </a:solidFill>
                <a:effectLst/>
                <a:uFillTx/>
                <a:latin typeface="幼圆"/>
                <a:ea typeface="幼圆"/>
              </a:rPr>
              <a:t>α</a:t>
            </a:r>
            <a:r>
              <a:rPr lang="zh-CN" sz="1800" b="1" u="none" strike="noStrike">
                <a:solidFill>
                  <a:srgbClr val="000000"/>
                </a:solidFill>
                <a:effectLst/>
                <a:uFillTx/>
                <a:latin typeface="幼圆"/>
                <a:ea typeface="幼圆"/>
              </a:rPr>
              <a:t>值将会太大</a:t>
            </a:r>
            <a:r>
              <a:rPr lang="en-US" sz="1800" b="1" u="none" strike="noStrike">
                <a:solidFill>
                  <a:srgbClr val="000000"/>
                </a:solidFill>
                <a:effectLst/>
                <a:uFillTx/>
                <a:latin typeface="幼圆"/>
                <a:ea typeface="幼圆"/>
              </a:rPr>
              <a:t>(</a:t>
            </a:r>
            <a:r>
              <a:rPr lang="zh-CN" sz="1800" b="1" u="none" strike="noStrike">
                <a:solidFill>
                  <a:srgbClr val="000000"/>
                </a:solidFill>
                <a:effectLst/>
                <a:uFillTx/>
                <a:latin typeface="幼圆"/>
                <a:ea typeface="幼圆"/>
              </a:rPr>
              <a:t>＞</a:t>
            </a:r>
            <a:r>
              <a:rPr lang="en-US" sz="1800" b="1" u="none" strike="noStrike">
                <a:solidFill>
                  <a:srgbClr val="000000"/>
                </a:solidFill>
                <a:effectLst/>
                <a:uFillTx/>
                <a:latin typeface="幼圆"/>
                <a:ea typeface="幼圆"/>
              </a:rPr>
              <a:t>14)</a:t>
            </a:r>
            <a:r>
              <a:rPr lang="zh-CN" sz="1800" b="1" u="none" strike="noStrike">
                <a:solidFill>
                  <a:srgbClr val="000000"/>
                </a:solidFill>
                <a:effectLst/>
                <a:uFillTx/>
                <a:latin typeface="幼圆"/>
                <a:ea typeface="幼圆"/>
              </a:rPr>
              <a:t>。这致使高频段的增益过大，从而加强高频噪声的干扰，使系统无法正常工作。所以一般应使</a:t>
            </a:r>
            <a:r>
              <a:rPr lang="en-US" sz="1800" b="1" u="none" strike="noStrike">
                <a:solidFill>
                  <a:srgbClr val="000000"/>
                </a:solidFill>
                <a:effectLst/>
                <a:uFillTx/>
                <a:latin typeface="幼圆"/>
                <a:ea typeface="幼圆"/>
              </a:rPr>
              <a:t>θm≤60°</a:t>
            </a:r>
            <a:r>
              <a:rPr lang="zh-CN" sz="1800" b="1" u="none" strike="noStrike">
                <a:solidFill>
                  <a:srgbClr val="000000"/>
                </a:solidFill>
                <a:effectLst/>
                <a:uFillTx/>
                <a:latin typeface="幼圆"/>
                <a:ea typeface="幼圆"/>
              </a:rPr>
              <a:t>。如果确有必要使用很大的超前角，可采用两级超前校正来实现。在需要时，两级校正之间可加入隔离放大器。</a:t>
            </a:r>
            <a:endParaRPr lang="en-US" sz="1800" b="0" u="none" strike="noStrike">
              <a:solidFill>
                <a:srgbClr val="000000"/>
              </a:solidFill>
              <a:effectLst/>
              <a:uFillTx/>
              <a:latin typeface="Times New Roman"/>
            </a:endParaRPr>
          </a:p>
        </p:txBody>
      </p:sp>
    </p:spTree>
  </p:cSld>
  <p:transition>
    <p:random/>
  </p:transition>
  <p:timing>
    <p:tnLst>
      <p:par>
        <p:cTn id="841" dur="indefinite" restart="never" nodeType="tmRoot">
          <p:childTnLst>
            <p:seq>
              <p:cTn id="842" dur="indefinite" nodeType="mainSeq">
                <p:childTnLst>
                  <p:par>
                    <p:cTn id="843" fill="hold" nodeType="clickEffect">
                      <p:stCondLst>
                        <p:cond delay="indefinite"/>
                      </p:stCondLst>
                      <p:childTnLst>
                        <p:par>
                          <p:cTn id="844" fill="hold" nodeType="withEffect">
                            <p:stCondLst>
                              <p:cond delay="0"/>
                            </p:stCondLst>
                            <p:childTnLst>
                              <p:par>
                                <p:cTn id="845" presetID="22" presetClass="entr" fill="hold" nodeType="clickEffect" presetSubtype="4">
                                  <p:stCondLst>
                                    <p:cond delay="0"/>
                                  </p:stCondLst>
                                  <p:childTnLst>
                                    <p:set>
                                      <p:cBhvr>
                                        <p:cTn id="846" dur="1" fill="hold">
                                          <p:stCondLst>
                                            <p:cond delay="0"/>
                                          </p:stCondLst>
                                        </p:cTn>
                                        <p:tgtEl>
                                          <p:spTgt spid="627">
                                            <p:txEl>
                                              <p:pRg st="0" end="0"/>
                                            </p:txEl>
                                          </p:spTgt>
                                        </p:tgtEl>
                                        <p:attrNameLst>
                                          <p:attrName>style.visibility</p:attrName>
                                        </p:attrNameLst>
                                      </p:cBhvr>
                                      <p:to>
                                        <p:strVal val="visible"/>
                                      </p:to>
                                    </p:set>
                                    <p:animEffect transition="in" filter="wipe(down)">
                                      <p:cBhvr additive="repl">
                                        <p:cTn id="847" dur="500"/>
                                        <p:tgtEl>
                                          <p:spTgt spid="627">
                                            <p:txEl>
                                              <p:pRg st="0" end="0"/>
                                            </p:txEl>
                                          </p:spTgt>
                                        </p:tgtEl>
                                      </p:cBhvr>
                                    </p:animEffect>
                                  </p:childTnLst>
                                </p:cTn>
                              </p:par>
                            </p:childTnLst>
                          </p:cTn>
                        </p:par>
                      </p:childTnLst>
                    </p:cTn>
                  </p:par>
                  <p:par>
                    <p:cTn id="848" fill="hold" nodeType="clickEffect">
                      <p:stCondLst>
                        <p:cond delay="indefinite"/>
                      </p:stCondLst>
                      <p:childTnLst>
                        <p:par>
                          <p:cTn id="849" fill="hold" nodeType="withEffect">
                            <p:stCondLst>
                              <p:cond delay="0"/>
                            </p:stCondLst>
                            <p:childTnLst>
                              <p:par>
                                <p:cTn id="850" presetID="22" presetClass="entr" fill="hold" nodeType="clickEffect" presetSubtype="4">
                                  <p:stCondLst>
                                    <p:cond delay="0"/>
                                  </p:stCondLst>
                                  <p:childTnLst>
                                    <p:set>
                                      <p:cBhvr>
                                        <p:cTn id="851" dur="1" fill="hold">
                                          <p:stCondLst>
                                            <p:cond delay="0"/>
                                          </p:stCondLst>
                                        </p:cTn>
                                        <p:tgtEl>
                                          <p:spTgt spid="627">
                                            <p:txEl>
                                              <p:pRg st="1" end="1"/>
                                            </p:txEl>
                                          </p:spTgt>
                                        </p:tgtEl>
                                        <p:attrNameLst>
                                          <p:attrName>style.visibility</p:attrName>
                                        </p:attrNameLst>
                                      </p:cBhvr>
                                      <p:to>
                                        <p:strVal val="visible"/>
                                      </p:to>
                                    </p:set>
                                    <p:animEffect transition="in" filter="wipe(down)">
                                      <p:cBhvr additive="repl">
                                        <p:cTn id="852" dur="500"/>
                                        <p:tgtEl>
                                          <p:spTgt spid="627">
                                            <p:txEl>
                                              <p:pRg st="1" end="1"/>
                                            </p:txEl>
                                          </p:spTgt>
                                        </p:tgtEl>
                                      </p:cBhvr>
                                    </p:animEffect>
                                  </p:childTnLst>
                                </p:cTn>
                              </p:par>
                            </p:childTnLst>
                          </p:cTn>
                        </p:par>
                      </p:childTnLst>
                    </p:cTn>
                  </p:par>
                  <p:par>
                    <p:cTn id="853" fill="hold" nodeType="clickEffect">
                      <p:stCondLst>
                        <p:cond delay="indefinite"/>
                      </p:stCondLst>
                      <p:childTnLst>
                        <p:par>
                          <p:cTn id="854" fill="hold" nodeType="withEffect">
                            <p:stCondLst>
                              <p:cond delay="0"/>
                            </p:stCondLst>
                            <p:childTnLst>
                              <p:par>
                                <p:cTn id="855" presetID="22" presetClass="entr" fill="hold" nodeType="clickEffect" presetSubtype="4">
                                  <p:stCondLst>
                                    <p:cond delay="0"/>
                                  </p:stCondLst>
                                  <p:childTnLst>
                                    <p:set>
                                      <p:cBhvr>
                                        <p:cTn id="856" dur="1" fill="hold">
                                          <p:stCondLst>
                                            <p:cond delay="0"/>
                                          </p:stCondLst>
                                        </p:cTn>
                                        <p:tgtEl>
                                          <p:spTgt spid="627">
                                            <p:txEl>
                                              <p:pRg st="2" end="2"/>
                                            </p:txEl>
                                          </p:spTgt>
                                        </p:tgtEl>
                                        <p:attrNameLst>
                                          <p:attrName>style.visibility</p:attrName>
                                        </p:attrNameLst>
                                      </p:cBhvr>
                                      <p:to>
                                        <p:strVal val="visible"/>
                                      </p:to>
                                    </p:set>
                                    <p:animEffect transition="in" filter="wipe(down)">
                                      <p:cBhvr additive="repl">
                                        <p:cTn id="857" dur="500"/>
                                        <p:tgtEl>
                                          <p:spTgt spid="62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F654AD3-10E5-4F19-971E-5175DAE38BF3}"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sp>
        <p:nvSpPr>
          <p:cNvPr id="629" name="Rectangle 42"/>
          <p:cNvSpPr/>
          <p:nvPr/>
        </p:nvSpPr>
        <p:spPr>
          <a:xfrm>
            <a:off x="1042920" y="578160"/>
            <a:ext cx="3600360" cy="39888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二、串联滞后校正</a:t>
            </a:r>
            <a:endParaRPr lang="en-US" sz="2000" b="0" u="none" strike="noStrike">
              <a:solidFill>
                <a:srgbClr val="000000"/>
              </a:solidFill>
              <a:effectLst/>
              <a:uFillTx/>
              <a:latin typeface="Times New Roman"/>
            </a:endParaRPr>
          </a:p>
        </p:txBody>
      </p:sp>
      <p:sp>
        <p:nvSpPr>
          <p:cNvPr id="630" name="Rectangle 43"/>
          <p:cNvSpPr/>
          <p:nvPr/>
        </p:nvSpPr>
        <p:spPr>
          <a:xfrm>
            <a:off x="826920" y="1341360"/>
            <a:ext cx="151308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传递函数：</a:t>
            </a:r>
            <a:endParaRPr lang="en-US" sz="2000" b="0" u="none" strike="noStrike">
              <a:solidFill>
                <a:srgbClr val="000000"/>
              </a:solidFill>
              <a:effectLst/>
              <a:uFillTx/>
              <a:latin typeface="Times New Roman"/>
            </a:endParaRPr>
          </a:p>
        </p:txBody>
      </p:sp>
      <p:sp>
        <p:nvSpPr>
          <p:cNvPr id="631" name="Rectangle 45"/>
          <p:cNvSpPr/>
          <p:nvPr/>
        </p:nvSpPr>
        <p:spPr>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632" name="Object 44"/>
              <p:cNvSpPr txBox="1"/>
              <p:nvPr/>
            </p:nvSpPr>
            <p:spPr>
              <a:xfrm>
                <a:off x="2340000" y="1268280"/>
                <a:ext cx="2503440" cy="63972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r>
                          <m:rPr>
                            <m:lit/>
                            <m:nor/>
                          </m:rPr>
                          <m:t xml:space="preserve">Ts</m:t>
                        </m:r>
                        <m:r>
                          <m:t xml:space="preserve">+</m:t>
                        </m:r>
                        <m:r>
                          <m:t xml:space="preserve">1</m:t>
                        </m:r>
                      </m:num>
                      <m:den>
                        <m:r>
                          <m:t xml:space="preserve">β</m:t>
                        </m:r>
                        <m:r>
                          <m:rPr>
                            <m:lit/>
                            <m:nor/>
                          </m:rPr>
                          <m:t xml:space="preserve">Ts</m:t>
                        </m:r>
                        <m:r>
                          <m:t xml:space="preserve">+</m:t>
                        </m:r>
                        <m:r>
                          <m:t xml:space="preserve">1</m:t>
                        </m:r>
                      </m:den>
                    </m:f>
                    <m:r>
                      <m:t xml:space="preserve">,</m:t>
                    </m:r>
                    <m:r>
                      <m:t xml:space="preserve"> </m:t>
                    </m:r>
                    <m:r>
                      <m:t xml:space="preserve">(</m:t>
                    </m:r>
                    <m:r>
                      <m:t xml:space="preserve">β</m:t>
                    </m:r>
                    <m:r>
                      <m:t xml:space="preserve">&gt;</m:t>
                    </m:r>
                    <m:r>
                      <m:t xml:space="preserve">1</m:t>
                    </m:r>
                    <m:r>
                      <m:t xml:space="preserve">)</m:t>
                    </m:r>
                  </m:oMath>
                </a14:m>
              </a:p>
            </p:txBody>
          </p:sp>
        </mc:Choice>
        <mc:Fallback>
          <p:sp>
            <p:nvSpPr>
              <p:cNvPr id="632" name="Object 44"/>
              <p:cNvSpPr txBox="1"/>
              <p:nvPr/>
            </p:nvSpPr>
            <p:spPr>
              <a:xfrm>
                <a:off x="2340000" y="1268280"/>
                <a:ext cx="2503440" cy="639720"/>
              </a:xfrm>
              <a:prstGeom prst="rect">
                <a:avLst/>
              </a:prstGeom>
              <a:blipFill>
                <a:blip r:embed="rId1"/>
                <a:stretch>
                  <a:fillRect/>
                </a:stretch>
              </a:blipFill>
            </p:spPr>
          </p:sp>
        </mc:Fallback>
      </mc:AlternateContent>
      <p:graphicFrame>
        <p:nvGraphicFramePr>
          <p:cNvPr id="633" name="Object 49"/>
          <p:cNvGraphicFramePr/>
          <p:nvPr/>
        </p:nvGraphicFramePr>
        <p:xfrm>
          <a:off x="826920" y="2133720"/>
          <a:ext cx="4537080" cy="2817720"/>
        </p:xfrm>
        <a:graphic>
          <a:graphicData uri="http://schemas.openxmlformats.org/presentationml/2006/ole">
            <p:oleObj r:id="rId2" spid="">
              <p:embed/>
              <p:pic>
                <p:nvPicPr>
                  <p:cNvPr id="634" name="Object 49"/>
                  <p:cNvPicPr/>
                  <p:nvPr/>
                </p:nvPicPr>
                <p:blipFill>
                  <a:blip r:embed="rId3"/>
                  <a:stretch/>
                </p:blipFill>
                <p:spPr>
                  <a:xfrm>
                    <a:off x="826920" y="2133720"/>
                    <a:ext cx="4537080" cy="2817720"/>
                  </a:xfrm>
                  <a:prstGeom prst="rect">
                    <a:avLst/>
                  </a:prstGeom>
                  <a:solidFill>
                    <a:srgbClr val="CCFFCC"/>
                  </a:solidFill>
                  <a:ln w="0">
                    <a:noFill/>
                  </a:ln>
                </p:spPr>
              </p:pic>
            </p:oleObj>
          </a:graphicData>
        </a:graphic>
      </p:graphicFrame>
      <p:grpSp>
        <p:nvGrpSpPr>
          <p:cNvPr id="635" name="Group 54"/>
          <p:cNvGrpSpPr/>
          <p:nvPr/>
        </p:nvGrpSpPr>
        <p:grpSpPr>
          <a:xfrm>
            <a:off x="4707000" y="2708280"/>
            <a:ext cx="2430360" cy="676440"/>
            <a:chOff x="4707000" y="2708280"/>
            <a:chExt cx="2430360" cy="676440"/>
          </a:xfrm>
        </p:grpSpPr>
        <p:sp>
          <p:nvSpPr>
            <p:cNvPr id="636" name="Line 51"/>
            <p:cNvSpPr/>
            <p:nvPr/>
          </p:nvSpPr>
          <p:spPr>
            <a:xfrm>
              <a:off x="4707000" y="2708280"/>
              <a:ext cx="0" cy="676440"/>
            </a:xfrm>
            <a:prstGeom prst="line">
              <a:avLst/>
            </a:prstGeom>
            <a:ln w="25560">
              <a:solidFill>
                <a:srgbClr val="800000"/>
              </a:solidFill>
              <a:miter/>
              <a:headEnd len="med" type="triangle" w="me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37" name="AutoShape 52"/>
            <p:cNvSpPr/>
            <p:nvPr/>
          </p:nvSpPr>
          <p:spPr>
            <a:xfrm>
              <a:off x="5202360" y="3024360"/>
              <a:ext cx="583920" cy="134640"/>
            </a:xfrm>
            <a:prstGeom prst="leftArrow">
              <a:avLst>
                <a:gd name="adj1" fmla="val 50000"/>
                <a:gd name="adj2" fmla="val 108422"/>
              </a:avLst>
            </a:prstGeom>
            <a:solidFill>
              <a:srgbClr val="800000"/>
            </a:solidFill>
            <a:ln w="0">
              <a:noFill/>
            </a:ln>
          </p:spPr>
          <p:style>
            <a:lnRef idx="0"/>
            <a:fillRef idx="0"/>
            <a:effectRef idx="0"/>
            <a:fontRef idx="minor"/>
          </p:style>
          <p:txBody>
            <a:bodyPr wrap="none" lIns="90000" tIns="20880" rIns="90000" bIns="2088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638" name="Object 53"/>
                <p:cNvSpPr txBox="1"/>
                <p:nvPr/>
              </p:nvSpPr>
              <p:spPr>
                <a:xfrm>
                  <a:off x="6146640" y="2889360"/>
                  <a:ext cx="990720" cy="426960"/>
                </a:xfrm>
                <a:prstGeom prst="rect">
                  <a:avLst/>
                </a:prstGeom>
              </p:spPr>
              <p:txBody>
                <a:bodyPr/>
                <a:p>
                  <a14:m>
                    <m:oMath xmlns:m="http://schemas.openxmlformats.org/officeDocument/2006/math">
                      <m:r>
                        <m:rPr>
                          <m:lit/>
                          <m:nor/>
                        </m:rPr>
                        <m:t xml:space="preserve">20</m:t>
                      </m:r>
                      <m:r>
                        <m:rPr>
                          <m:lit/>
                          <m:nor/>
                        </m:rPr>
                        <m:t xml:space="preserve">lg</m:t>
                      </m:r>
                      <m:r>
                        <m:t xml:space="preserve">β</m:t>
                      </m:r>
                    </m:oMath>
                  </a14:m>
                </a:p>
              </p:txBody>
            </p:sp>
          </mc:Choice>
          <mc:Fallback>
            <p:sp>
              <p:nvSpPr>
                <p:cNvPr id="638" name="Object 53"/>
                <p:cNvSpPr txBox="1"/>
                <p:nvPr/>
              </p:nvSpPr>
              <p:spPr>
                <a:xfrm>
                  <a:off x="6146640" y="2889360"/>
                  <a:ext cx="990720" cy="426960"/>
                </a:xfrm>
                <a:prstGeom prst="rect">
                  <a:avLst/>
                </a:prstGeom>
                <a:blipFill>
                  <a:blip r:embed="rId4"/>
                  <a:stretch>
                    <a:fillRect/>
                  </a:stretch>
                </a:blipFill>
              </p:spPr>
            </p:sp>
          </mc:Fallback>
        </mc:AlternateContent>
      </p:grpSp>
    </p:spTree>
  </p:cSld>
  <p:transition>
    <p:random/>
  </p:transition>
  <p:timing>
    <p:tnLst>
      <p:par>
        <p:cTn id="858" dur="indefinite" restart="never" nodeType="tmRoot">
          <p:childTnLst>
            <p:seq>
              <p:cTn id="859" dur="indefinite" nodeType="mainSeq">
                <p:childTnLst>
                  <p:par>
                    <p:cTn id="860" fill="hold" nodeType="clickEffect">
                      <p:stCondLst>
                        <p:cond delay="indefinite"/>
                      </p:stCondLst>
                      <p:childTnLst>
                        <p:par>
                          <p:cTn id="861" fill="hold" nodeType="withEffect">
                            <p:stCondLst>
                              <p:cond delay="0"/>
                            </p:stCondLst>
                            <p:childTnLst>
                              <p:par>
                                <p:cTn id="862" presetID="3" presetClass="entr" fill="hold" nodeType="clickEffect" presetSubtype="10">
                                  <p:stCondLst>
                                    <p:cond delay="0"/>
                                  </p:stCondLst>
                                  <p:childTnLst>
                                    <p:set>
                                      <p:cBhvr>
                                        <p:cTn id="863" dur="1" fill="hold">
                                          <p:stCondLst>
                                            <p:cond delay="0"/>
                                          </p:stCondLst>
                                        </p:cTn>
                                        <p:tgtEl>
                                          <p:spTgt spid="629"/>
                                        </p:tgtEl>
                                        <p:attrNameLst>
                                          <p:attrName>style.visibility</p:attrName>
                                        </p:attrNameLst>
                                      </p:cBhvr>
                                      <p:to>
                                        <p:strVal val="visible"/>
                                      </p:to>
                                    </p:set>
                                    <p:animEffect transition="in" filter="blinds(horizontal)">
                                      <p:cBhvr additive="repl">
                                        <p:cTn id="864" dur="500"/>
                                        <p:tgtEl>
                                          <p:spTgt spid="629"/>
                                        </p:tgtEl>
                                      </p:cBhvr>
                                    </p:animEffect>
                                  </p:childTnLst>
                                </p:cTn>
                              </p:par>
                            </p:childTnLst>
                          </p:cTn>
                        </p:par>
                      </p:childTnLst>
                    </p:cTn>
                  </p:par>
                  <p:par>
                    <p:cTn id="865" fill="hold" nodeType="clickEffect">
                      <p:stCondLst>
                        <p:cond delay="indefinite"/>
                      </p:stCondLst>
                      <p:childTnLst>
                        <p:par>
                          <p:cTn id="866" fill="hold" nodeType="withEffect">
                            <p:stCondLst>
                              <p:cond delay="0"/>
                            </p:stCondLst>
                            <p:childTnLst>
                              <p:par>
                                <p:cTn id="867" presetID="3" presetClass="entr" fill="hold" nodeType="clickEffect" presetSubtype="10">
                                  <p:stCondLst>
                                    <p:cond delay="0"/>
                                  </p:stCondLst>
                                  <p:childTnLst>
                                    <p:set>
                                      <p:cBhvr>
                                        <p:cTn id="868" dur="1" fill="hold">
                                          <p:stCondLst>
                                            <p:cond delay="0"/>
                                          </p:stCondLst>
                                        </p:cTn>
                                        <p:tgtEl>
                                          <p:spTgt spid="630"/>
                                        </p:tgtEl>
                                        <p:attrNameLst>
                                          <p:attrName>style.visibility</p:attrName>
                                        </p:attrNameLst>
                                      </p:cBhvr>
                                      <p:to>
                                        <p:strVal val="visible"/>
                                      </p:to>
                                    </p:set>
                                    <p:animEffect transition="in" filter="blinds(horizontal)">
                                      <p:cBhvr additive="repl">
                                        <p:cTn id="869" dur="500"/>
                                        <p:tgtEl>
                                          <p:spTgt spid="630"/>
                                        </p:tgtEl>
                                      </p:cBhvr>
                                    </p:animEffect>
                                  </p:childTnLst>
                                </p:cTn>
                              </p:par>
                              <p:par>
                                <p:cTn id="870" presetID="3" presetClass="entr" fill="hold" nodeType="withEffect" presetSubtype="10">
                                  <p:stCondLst>
                                    <p:cond delay="0"/>
                                  </p:stCondLst>
                                  <p:childTnLst>
                                    <p:set>
                                      <p:cBhvr>
                                        <p:cTn id="871" dur="1" fill="hold">
                                          <p:stCondLst>
                                            <p:cond delay="0"/>
                                          </p:stCondLst>
                                        </p:cTn>
                                        <p:tgtEl>
                                          <p:spTgt spid="632"/>
                                        </p:tgtEl>
                                        <p:attrNameLst>
                                          <p:attrName>style.visibility</p:attrName>
                                        </p:attrNameLst>
                                      </p:cBhvr>
                                      <p:to>
                                        <p:strVal val="visible"/>
                                      </p:to>
                                    </p:set>
                                    <p:animEffect transition="in" filter="blinds(horizontal)">
                                      <p:cBhvr additive="repl">
                                        <p:cTn id="872" dur="500"/>
                                        <p:tgtEl>
                                          <p:spTgt spid="632"/>
                                        </p:tgtEl>
                                      </p:cBhvr>
                                    </p:animEffect>
                                  </p:childTnLst>
                                </p:cTn>
                              </p:par>
                            </p:childTnLst>
                          </p:cTn>
                        </p:par>
                      </p:childTnLst>
                    </p:cTn>
                  </p:par>
                  <p:par>
                    <p:cTn id="873" fill="hold" nodeType="clickEffect">
                      <p:stCondLst>
                        <p:cond delay="indefinite"/>
                      </p:stCondLst>
                      <p:childTnLst>
                        <p:par>
                          <p:cTn id="874" fill="hold" nodeType="withEffect">
                            <p:stCondLst>
                              <p:cond delay="0"/>
                            </p:stCondLst>
                            <p:childTnLst>
                              <p:par>
                                <p:cTn id="875" presetID="18" presetClass="entr" fill="hold" nodeType="clickEffect" presetSubtype="6">
                                  <p:stCondLst>
                                    <p:cond delay="0"/>
                                  </p:stCondLst>
                                  <p:childTnLst>
                                    <p:set>
                                      <p:cBhvr>
                                        <p:cTn id="876" dur="1" fill="hold">
                                          <p:stCondLst>
                                            <p:cond delay="0"/>
                                          </p:stCondLst>
                                        </p:cTn>
                                        <p:tgtEl>
                                          <p:spTgt spid="633"/>
                                        </p:tgtEl>
                                        <p:attrNameLst>
                                          <p:attrName>style.visibility</p:attrName>
                                        </p:attrNameLst>
                                      </p:cBhvr>
                                      <p:to>
                                        <p:strVal val="visible"/>
                                      </p:to>
                                    </p:set>
                                    <p:animEffect transition="in" filter="strips(downRight)">
                                      <p:cBhvr additive="repl">
                                        <p:cTn id="877" dur="2000"/>
                                        <p:tgtEl>
                                          <p:spTgt spid="633"/>
                                        </p:tgtEl>
                                      </p:cBhvr>
                                    </p:animEffect>
                                  </p:childTnLst>
                                </p:cTn>
                              </p:par>
                            </p:childTnLst>
                          </p:cTn>
                        </p:par>
                      </p:childTnLst>
                    </p:cTn>
                  </p:par>
                  <p:par>
                    <p:cTn id="878" fill="hold" nodeType="clickEffect">
                      <p:stCondLst>
                        <p:cond delay="indefinite"/>
                      </p:stCondLst>
                      <p:childTnLst>
                        <p:par>
                          <p:cTn id="879" fill="hold" nodeType="withEffect">
                            <p:stCondLst>
                              <p:cond delay="0"/>
                            </p:stCondLst>
                            <p:childTnLst>
                              <p:par>
                                <p:cTn id="880" presetID="2" presetClass="entr" fill="hold" nodeType="clickEffect" presetSubtype="2">
                                  <p:stCondLst>
                                    <p:cond delay="0"/>
                                  </p:stCondLst>
                                  <p:childTnLst>
                                    <p:set>
                                      <p:cBhvr>
                                        <p:cTn id="881" dur="1" fill="hold">
                                          <p:stCondLst>
                                            <p:cond delay="0"/>
                                          </p:stCondLst>
                                        </p:cTn>
                                        <p:tgtEl>
                                          <p:spTgt spid="635"/>
                                        </p:tgtEl>
                                        <p:attrNameLst>
                                          <p:attrName>style.visibility</p:attrName>
                                        </p:attrNameLst>
                                      </p:cBhvr>
                                      <p:to>
                                        <p:strVal val="visible"/>
                                      </p:to>
                                    </p:set>
                                    <p:anim calcmode="lin" valueType="num">
                                      <p:cBhvr additive="base">
                                        <p:cTn id="882" dur="500" fill="hold"/>
                                        <p:tgtEl>
                                          <p:spTgt spid="635"/>
                                        </p:tgtEl>
                                        <p:attrNameLst>
                                          <p:attrName>ppt_x</p:attrName>
                                        </p:attrNameLst>
                                      </p:cBhvr>
                                      <p:tavLst>
                                        <p:tav>
                                          <p:val>
                                            <p:strVal val="1+#ppt_w/2"/>
                                          </p:val>
                                        </p:tav>
                                        <p:tav tm="100000">
                                          <p:val>
                                            <p:strVal val="#ppt_x"/>
                                          </p:val>
                                        </p:tav>
                                      </p:tavLst>
                                    </p:anim>
                                    <p:anim calcmode="lin" valueType="num">
                                      <p:cBhvr additive="base">
                                        <p:cTn id="883" dur="500" fill="hold"/>
                                        <p:tgtEl>
                                          <p:spTgt spid="635"/>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5EBB57-BF94-450B-883A-ACEA08318A99}"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640" name="Rectangle 4"/>
          <p:cNvSpPr/>
          <p:nvPr/>
        </p:nvSpPr>
        <p:spPr>
          <a:xfrm>
            <a:off x="2179440" y="592560"/>
            <a:ext cx="361656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一系统固有部分的传递函数为 </a:t>
            </a:r>
            <a:endParaRPr lang="en-US" sz="2000" b="0" u="none" strike="noStrike">
              <a:solidFill>
                <a:srgbClr val="000000"/>
              </a:solidFill>
              <a:effectLst/>
              <a:uFillTx/>
              <a:latin typeface="Times New Roman"/>
            </a:endParaRPr>
          </a:p>
        </p:txBody>
      </p:sp>
      <p:sp>
        <p:nvSpPr>
          <p:cNvPr id="641" name="Rectangle 6"/>
          <p:cNvSpPr/>
          <p:nvPr/>
        </p:nvSpPr>
        <p:spPr>
          <a:xfrm>
            <a:off x="0" y="3019320"/>
            <a:ext cx="184320" cy="4003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642" name="Object 5"/>
              <p:cNvSpPr txBox="1"/>
              <p:nvPr/>
            </p:nvSpPr>
            <p:spPr>
              <a:xfrm>
                <a:off x="5786280" y="450720"/>
                <a:ext cx="2454480" cy="646200"/>
              </a:xfrm>
              <a:prstGeom prst="rect">
                <a:avLst/>
              </a:prstGeom>
            </p:spPr>
            <p:txBody>
              <a:bodyPr/>
              <a:p>
                <a14:m>
                  <m:oMath xmlns:m="http://schemas.openxmlformats.org/officeDocument/2006/math">
                    <m:sSub>
                      <m:e>
                        <m:r>
                          <m:t xml:space="preserve">G</m:t>
                        </m:r>
                      </m:e>
                      <m:sub>
                        <m:r>
                          <m:t xml:space="preserve">g</m:t>
                        </m:r>
                      </m:sub>
                    </m:sSub>
                    <m:r>
                      <m:t xml:space="preserve">(</m:t>
                    </m:r>
                    <m:r>
                      <m:t xml:space="preserve">s</m:t>
                    </m:r>
                    <m:r>
                      <m:t xml:space="preserve">)</m:t>
                    </m:r>
                    <m:r>
                      <m:t xml:space="preserve">=</m:t>
                    </m:r>
                    <m:f>
                      <m:num>
                        <m:r>
                          <m:t xml:space="preserve">K</m:t>
                        </m:r>
                      </m:num>
                      <m:den>
                        <m:r>
                          <m:t xml:space="preserve">s</m:t>
                        </m:r>
                        <m:r>
                          <m:t xml:space="preserve">(</m:t>
                        </m:r>
                        <m:r>
                          <m:t xml:space="preserve">s</m:t>
                        </m:r>
                        <m:r>
                          <m:t xml:space="preserve">+</m:t>
                        </m:r>
                        <m:r>
                          <m:t xml:space="preserve">1</m:t>
                        </m:r>
                        <m:r>
                          <m:t xml:space="preserve">)</m:t>
                        </m:r>
                        <m:r>
                          <m:t xml:space="preserve">(</m:t>
                        </m:r>
                        <m:r>
                          <m:t xml:space="preserve">0</m:t>
                        </m:r>
                        <m:r>
                          <m:rPr>
                            <m:lit/>
                            <m:nor/>
                          </m:rPr>
                          <m:t xml:space="preserve">.</m:t>
                        </m:r>
                        <m:r>
                          <m:t xml:space="preserve">5</m:t>
                        </m:r>
                        <m:r>
                          <m:t xml:space="preserve">s</m:t>
                        </m:r>
                        <m:r>
                          <m:t xml:space="preserve">+</m:t>
                        </m:r>
                        <m:r>
                          <m:t xml:space="preserve">1</m:t>
                        </m:r>
                        <m:r>
                          <m:t xml:space="preserve">)</m:t>
                        </m:r>
                      </m:den>
                    </m:f>
                  </m:oMath>
                </a14:m>
              </a:p>
            </p:txBody>
          </p:sp>
        </mc:Choice>
        <mc:Fallback>
          <p:sp>
            <p:nvSpPr>
              <p:cNvPr id="642" name="Object 5"/>
              <p:cNvSpPr txBox="1"/>
              <p:nvPr/>
            </p:nvSpPr>
            <p:spPr>
              <a:xfrm>
                <a:off x="5786280" y="450720"/>
                <a:ext cx="2454480" cy="646200"/>
              </a:xfrm>
              <a:prstGeom prst="rect">
                <a:avLst/>
              </a:prstGeom>
              <a:blipFill>
                <a:blip r:embed="rId1"/>
                <a:stretch>
                  <a:fillRect/>
                </a:stretch>
              </a:blipFill>
            </p:spPr>
          </p:sp>
        </mc:Fallback>
      </mc:AlternateContent>
      <p:grpSp>
        <p:nvGrpSpPr>
          <p:cNvPr id="643" name="Group 159"/>
          <p:cNvGrpSpPr/>
          <p:nvPr/>
        </p:nvGrpSpPr>
        <p:grpSpPr>
          <a:xfrm>
            <a:off x="611280" y="1089000"/>
            <a:ext cx="8137440" cy="719280"/>
            <a:chOff x="611280" y="1089000"/>
            <a:chExt cx="8137440" cy="719280"/>
          </a:xfrm>
        </p:grpSpPr>
        <p:sp>
          <p:nvSpPr>
            <p:cNvPr id="644" name="Rectangle 7"/>
            <p:cNvSpPr/>
            <p:nvPr/>
          </p:nvSpPr>
          <p:spPr>
            <a:xfrm>
              <a:off x="611280" y="1089000"/>
              <a:ext cx="813744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设计一串联校正装置，使系统的开环比例系数为                </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相位稳定裕度为                 ，截止角频率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45" name="Object 8"/>
                <p:cNvSpPr txBox="1"/>
                <p:nvPr/>
              </p:nvSpPr>
              <p:spPr>
                <a:xfrm>
                  <a:off x="6156360" y="1125720"/>
                  <a:ext cx="936720" cy="333360"/>
                </a:xfrm>
                <a:prstGeom prst="rect">
                  <a:avLst/>
                </a:prstGeom>
              </p:spPr>
              <p:txBody>
                <a:bodyPr/>
                <a:p>
                  <a14:m>
                    <m:oMath xmlns:m="http://schemas.openxmlformats.org/officeDocument/2006/math">
                      <m:r>
                        <m:t xml:space="preserve">K</m:t>
                      </m:r>
                      <m:r>
                        <m:t xml:space="preserve">=</m:t>
                      </m:r>
                      <m:r>
                        <m:t xml:space="preserve">5</m:t>
                      </m:r>
                      <m:sSup>
                        <m:e>
                          <m:r>
                            <m:t xml:space="preserve">s</m:t>
                          </m:r>
                        </m:e>
                        <m:sup>
                          <m:r>
                            <m:t xml:space="preserve">−</m:t>
                          </m:r>
                          <m:r>
                            <m:t xml:space="preserve">1</m:t>
                          </m:r>
                        </m:sup>
                      </m:sSup>
                    </m:oMath>
                  </a14:m>
                </a:p>
              </p:txBody>
            </p:sp>
          </mc:Choice>
          <mc:Fallback>
            <p:sp>
              <p:nvSpPr>
                <p:cNvPr id="645" name="Object 8"/>
                <p:cNvSpPr txBox="1"/>
                <p:nvPr/>
              </p:nvSpPr>
              <p:spPr>
                <a:xfrm>
                  <a:off x="6156360" y="1125720"/>
                  <a:ext cx="936720" cy="333360"/>
                </a:xfrm>
                <a:prstGeom prst="rect">
                  <a:avLst/>
                </a:prstGeom>
                <a:blipFill>
                  <a:blip r:embed="rId2"/>
                  <a:stretch>
                    <a:fillRect/>
                  </a:stretch>
                </a:blipFill>
              </p:spPr>
            </p:sp>
          </mc:Fallback>
        </mc:AlternateContent>
        <mc:AlternateContent>
          <mc:Choice xmlns:a14="http://schemas.microsoft.com/office/drawing/2010/main" Requires="a14">
            <p:sp>
              <p:nvSpPr>
                <p:cNvPr id="646" name="Object 9"/>
                <p:cNvSpPr txBox="1"/>
                <p:nvPr/>
              </p:nvSpPr>
              <p:spPr>
                <a:xfrm>
                  <a:off x="1403280" y="1376640"/>
                  <a:ext cx="887400" cy="409320"/>
                </a:xfrm>
                <a:prstGeom prst="rect">
                  <a:avLst/>
                </a:prstGeom>
              </p:spPr>
              <p:txBody>
                <a:bodyPr/>
                <a:p>
                  <a14:m>
                    <m:oMath xmlns:m="http://schemas.openxmlformats.org/officeDocument/2006/math">
                      <m:r>
                        <m:t xml:space="preserve">γ</m:t>
                      </m:r>
                      <m:r>
                        <m:t xml:space="preserve">≥</m:t>
                      </m:r>
                      <m:sSup>
                        <m:e>
                          <m:r>
                            <m:rPr>
                              <m:lit/>
                              <m:nor/>
                            </m:rPr>
                            <m:t xml:space="preserve">40</m:t>
                          </m:r>
                        </m:e>
                        <m:sup>
                          <m:r>
                            <m:t xml:space="preserve">∘</m:t>
                          </m:r>
                        </m:sup>
                      </m:sSup>
                    </m:oMath>
                  </a14:m>
                </a:p>
              </p:txBody>
            </p:sp>
          </mc:Choice>
          <mc:Fallback>
            <p:sp>
              <p:nvSpPr>
                <p:cNvPr id="646" name="Object 9"/>
                <p:cNvSpPr txBox="1"/>
                <p:nvPr/>
              </p:nvSpPr>
              <p:spPr>
                <a:xfrm>
                  <a:off x="1403280" y="1376640"/>
                  <a:ext cx="887400" cy="409320"/>
                </a:xfrm>
                <a:prstGeom prst="rect">
                  <a:avLst/>
                </a:prstGeom>
                <a:blipFill>
                  <a:blip r:embed="rId3"/>
                  <a:stretch>
                    <a:fillRect/>
                  </a:stretch>
                </a:blipFill>
              </p:spPr>
            </p:sp>
          </mc:Fallback>
        </mc:AlternateContent>
        <mc:AlternateContent>
          <mc:Choice xmlns:a14="http://schemas.microsoft.com/office/drawing/2010/main" Requires="a14">
            <p:sp>
              <p:nvSpPr>
                <p:cNvPr id="647" name="Object 10"/>
                <p:cNvSpPr txBox="1"/>
                <p:nvPr/>
              </p:nvSpPr>
              <p:spPr>
                <a:xfrm>
                  <a:off x="3995640" y="1376640"/>
                  <a:ext cx="1295640" cy="431640"/>
                </a:xfrm>
                <a:prstGeom prst="rect">
                  <a:avLst/>
                </a:prstGeom>
              </p:spPr>
              <p:txBody>
                <a:bodyPr/>
                <a:p>
                  <a14:m>
                    <m:oMath xmlns:m="http://schemas.openxmlformats.org/officeDocument/2006/math">
                      <m:sSub>
                        <m:e>
                          <m:r>
                            <m:t xml:space="preserve">ω</m:t>
                          </m:r>
                        </m:e>
                        <m:sub>
                          <m:r>
                            <m:t xml:space="preserve">c</m:t>
                          </m:r>
                        </m:sub>
                      </m:sSub>
                      <m:r>
                        <m:t xml:space="preserve">=</m:t>
                      </m:r>
                      <m:r>
                        <m:t xml:space="preserve">0</m:t>
                      </m:r>
                      <m:r>
                        <m:rPr>
                          <m:lit/>
                          <m:nor/>
                        </m:rPr>
                        <m:t xml:space="preserve">.</m:t>
                      </m:r>
                      <m:r>
                        <m:t xml:space="preserve">5</m:t>
                      </m:r>
                      <m:sSup>
                        <m:e>
                          <m:r>
                            <m:t xml:space="preserve">s</m:t>
                          </m:r>
                        </m:e>
                        <m:sup>
                          <m:r>
                            <m:t xml:space="preserve">−</m:t>
                          </m:r>
                          <m:r>
                            <m:t xml:space="preserve">1</m:t>
                          </m:r>
                        </m:sup>
                      </m:sSup>
                    </m:oMath>
                  </a14:m>
                </a:p>
              </p:txBody>
            </p:sp>
          </mc:Choice>
          <mc:Fallback>
            <p:sp>
              <p:nvSpPr>
                <p:cNvPr id="647" name="Object 10"/>
                <p:cNvSpPr txBox="1"/>
                <p:nvPr/>
              </p:nvSpPr>
              <p:spPr>
                <a:xfrm>
                  <a:off x="3995640" y="1376640"/>
                  <a:ext cx="1295640" cy="431640"/>
                </a:xfrm>
                <a:prstGeom prst="rect">
                  <a:avLst/>
                </a:prstGeom>
                <a:blipFill>
                  <a:blip r:embed="rId4"/>
                  <a:stretch>
                    <a:fillRect/>
                  </a:stretch>
                </a:blipFill>
              </p:spPr>
            </p:sp>
          </mc:Fallback>
        </mc:AlternateContent>
      </p:grpSp>
      <mc:AlternateContent>
        <mc:Choice xmlns:a14="http://schemas.microsoft.com/office/drawing/2010/main" Requires="a14">
          <p:sp>
            <p:nvSpPr>
              <p:cNvPr id="648" name="Object 11"/>
              <p:cNvSpPr txBox="1"/>
              <p:nvPr/>
            </p:nvSpPr>
            <p:spPr>
              <a:xfrm>
                <a:off x="7227720" y="2079720"/>
                <a:ext cx="719280" cy="244440"/>
              </a:xfrm>
              <a:prstGeom prst="rect">
                <a:avLst/>
              </a:prstGeom>
            </p:spPr>
            <p:txBody>
              <a:bodyPr/>
              <a:p>
                <a14:m>
                  <m:oMath xmlns:m="http://schemas.openxmlformats.org/officeDocument/2006/math">
                    <m:r>
                      <m:t xml:space="preserve">K</m:t>
                    </m:r>
                    <m:r>
                      <m:t xml:space="preserve">=</m:t>
                    </m:r>
                    <m:r>
                      <m:t xml:space="preserve">5</m:t>
                    </m:r>
                  </m:oMath>
                </a14:m>
              </a:p>
            </p:txBody>
          </p:sp>
        </mc:Choice>
        <mc:Fallback>
          <p:sp>
            <p:nvSpPr>
              <p:cNvPr id="648" name="Object 11"/>
              <p:cNvSpPr txBox="1"/>
              <p:nvPr/>
            </p:nvSpPr>
            <p:spPr>
              <a:xfrm>
                <a:off x="7227720" y="2079720"/>
                <a:ext cx="719280" cy="244440"/>
              </a:xfrm>
              <a:prstGeom prst="rect">
                <a:avLst/>
              </a:prstGeom>
              <a:blipFill>
                <a:blip r:embed="rId5"/>
                <a:stretch>
                  <a:fillRect/>
                </a:stretch>
              </a:blipFill>
            </p:spPr>
          </p:sp>
        </mc:Fallback>
      </mc:AlternateContent>
      <p:sp>
        <p:nvSpPr>
          <p:cNvPr id="649" name="Rectangle 14"/>
          <p:cNvSpPr/>
          <p:nvPr/>
        </p:nvSpPr>
        <p:spPr>
          <a:xfrm>
            <a:off x="6327720" y="1719360"/>
            <a:ext cx="2430360" cy="161856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1</a:t>
            </a:r>
            <a:r>
              <a:rPr lang="zh-CN" sz="2000" b="1" u="none" strike="noStrike">
                <a:solidFill>
                  <a:srgbClr val="000000"/>
                </a:solidFill>
                <a:effectLst/>
                <a:uFillTx/>
                <a:latin typeface="Times New Roman"/>
              </a:rPr>
              <a:t>）根据静态性能指标取           ，并按此值画出系统固有部分的频率特性图。</a:t>
            </a:r>
            <a:endParaRPr lang="en-US" sz="2000" b="0" u="none" strike="noStrike">
              <a:solidFill>
                <a:srgbClr val="000000"/>
              </a:solidFill>
              <a:effectLst/>
              <a:uFillTx/>
              <a:latin typeface="Times New Roman"/>
            </a:endParaRPr>
          </a:p>
        </p:txBody>
      </p:sp>
      <p:grpSp>
        <p:nvGrpSpPr>
          <p:cNvPr id="650" name="Text Box 19"/>
          <p:cNvGrpSpPr/>
          <p:nvPr/>
        </p:nvGrpSpPr>
        <p:grpSpPr>
          <a:xfrm>
            <a:off x="987480" y="573120"/>
            <a:ext cx="1127160" cy="724320"/>
            <a:chOff x="987480" y="573120"/>
            <a:chExt cx="1127160" cy="724320"/>
          </a:xfrm>
        </p:grpSpPr>
        <p:pic>
          <p:nvPicPr>
            <p:cNvPr id="651" name="Text Box 19"/>
            <p:cNvPicPr/>
            <p:nvPr/>
          </p:nvPicPr>
          <p:blipFill>
            <a:blip r:embed="rId6"/>
            <a:stretch/>
          </p:blipFill>
          <p:spPr>
            <a:xfrm>
              <a:off x="987480" y="573120"/>
              <a:ext cx="1127160" cy="585720"/>
            </a:xfrm>
            <a:prstGeom prst="rect">
              <a:avLst/>
            </a:prstGeom>
            <a:noFill/>
            <a:ln w="0">
              <a:noFill/>
            </a:ln>
          </p:spPr>
        </p:pic>
        <p:sp>
          <p:nvSpPr>
            <p:cNvPr id="652" name=""/>
            <p:cNvSpPr/>
            <p:nvPr/>
          </p:nvSpPr>
          <p:spPr>
            <a:xfrm>
              <a:off x="1033560" y="593640"/>
              <a:ext cx="100800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BD2309"/>
                  </a:solidFill>
                  <a:effectLst/>
                  <a:uFillTx/>
                  <a:latin typeface="Times New Roman"/>
                </a:rPr>
                <a:t>例</a:t>
              </a:r>
              <a:r>
                <a:rPr lang="en-US" sz="2000" b="1" u="none" strike="noStrike">
                  <a:solidFill>
                    <a:srgbClr val="BD2309"/>
                  </a:solidFill>
                  <a:effectLst/>
                  <a:uFillTx/>
                  <a:latin typeface="Times New Roman"/>
                </a:rPr>
                <a:t>6</a:t>
              </a:r>
              <a:r>
                <a:rPr lang="zh-CN" sz="2000" b="1" u="none" strike="noStrike">
                  <a:solidFill>
                    <a:srgbClr val="BD2309"/>
                  </a:solidFill>
                  <a:effectLst/>
                  <a:uFillTx/>
                  <a:latin typeface="Times New Roman"/>
                </a:rPr>
                <a:t>－</a:t>
              </a:r>
              <a:r>
                <a:rPr lang="en-US" sz="2000" b="1" u="none" strike="noStrike">
                  <a:solidFill>
                    <a:srgbClr val="BD2309"/>
                  </a:solidFill>
                  <a:effectLst/>
                  <a:uFillTx/>
                  <a:latin typeface="Times New Roman"/>
                </a:rPr>
                <a:t>2</a:t>
              </a:r>
              <a:endParaRPr lang="en-US" sz="2000" b="0" u="none" strike="noStrike">
                <a:solidFill>
                  <a:srgbClr val="000000"/>
                </a:solidFill>
                <a:effectLst/>
                <a:uFillTx/>
                <a:latin typeface="Times New Roman"/>
              </a:endParaRPr>
            </a:p>
          </p:txBody>
        </p:sp>
      </p:grpSp>
      <p:sp>
        <p:nvSpPr>
          <p:cNvPr id="653" name="Rectangle 20"/>
          <p:cNvSpPr/>
          <p:nvPr/>
        </p:nvSpPr>
        <p:spPr>
          <a:xfrm>
            <a:off x="6416640" y="3473280"/>
            <a:ext cx="2330640" cy="161856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由图可求出系统固有部分的截至角频率约为</a:t>
            </a:r>
            <a:r>
              <a:rPr lang="en-US" sz="2000" b="1" u="none" strike="noStrike">
                <a:solidFill>
                  <a:srgbClr val="000000"/>
                </a:solidFill>
                <a:effectLst/>
                <a:uFillTx/>
                <a:latin typeface="Times New Roman"/>
              </a:rPr>
              <a:t>2s</a:t>
            </a:r>
            <a:r>
              <a:rPr lang="en-US" sz="2000" b="1" u="none" strike="noStrike" baseline="30000">
                <a:solidFill>
                  <a:srgbClr val="000000"/>
                </a:solidFill>
                <a:effectLst/>
                <a:uFillTx/>
                <a:latin typeface="Times New Roman"/>
              </a:rPr>
              <a:t>-1</a:t>
            </a:r>
            <a:r>
              <a:rPr lang="zh-CN" sz="2000" b="1" u="none" strike="noStrike">
                <a:solidFill>
                  <a:srgbClr val="000000"/>
                </a:solidFill>
                <a:effectLst/>
                <a:uFillTx/>
                <a:latin typeface="Times New Roman"/>
              </a:rPr>
              <a:t>，该点的相角为</a:t>
            </a:r>
            <a:r>
              <a:rPr lang="en-US" sz="2000" b="1" u="none" strike="noStrike">
                <a:solidFill>
                  <a:srgbClr val="000000"/>
                </a:solidFill>
                <a:effectLst/>
                <a:uFillTx/>
                <a:latin typeface="Times New Roman"/>
              </a:rPr>
              <a:t>-200°</a:t>
            </a:r>
            <a:r>
              <a:rPr lang="zh-CN" sz="2000" b="1" u="none" strike="noStrike">
                <a:solidFill>
                  <a:srgbClr val="000000"/>
                </a:solidFill>
                <a:effectLst/>
                <a:uFillTx/>
                <a:latin typeface="Times New Roman"/>
              </a:rPr>
              <a:t>，系统不稳定。</a:t>
            </a:r>
            <a:endParaRPr lang="en-US" sz="2000" b="0" u="none" strike="noStrike">
              <a:solidFill>
                <a:srgbClr val="000000"/>
              </a:solidFill>
              <a:effectLst/>
              <a:uFillTx/>
              <a:latin typeface="Times New Roman"/>
            </a:endParaRPr>
          </a:p>
        </p:txBody>
      </p:sp>
      <p:grpSp>
        <p:nvGrpSpPr>
          <p:cNvPr id="654" name="Group 211"/>
          <p:cNvGrpSpPr/>
          <p:nvPr/>
        </p:nvGrpSpPr>
        <p:grpSpPr>
          <a:xfrm>
            <a:off x="0" y="1898640"/>
            <a:ext cx="6291360" cy="4392720"/>
            <a:chOff x="0" y="1898640"/>
            <a:chExt cx="6291360" cy="4392720"/>
          </a:xfrm>
        </p:grpSpPr>
        <p:sp>
          <p:nvSpPr>
            <p:cNvPr id="655" name="Rectangle 162"/>
            <p:cNvSpPr/>
            <p:nvPr/>
          </p:nvSpPr>
          <p:spPr>
            <a:xfrm>
              <a:off x="503280" y="2187720"/>
              <a:ext cx="4968720" cy="410364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56" name="Line 163"/>
            <p:cNvSpPr/>
            <p:nvPr/>
          </p:nvSpPr>
          <p:spPr>
            <a:xfrm>
              <a:off x="503280" y="4130640"/>
              <a:ext cx="49687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7" name="Line 164"/>
            <p:cNvSpPr/>
            <p:nvPr/>
          </p:nvSpPr>
          <p:spPr>
            <a:xfrm>
              <a:off x="503280" y="348300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8" name="Line 165"/>
            <p:cNvSpPr/>
            <p:nvPr/>
          </p:nvSpPr>
          <p:spPr>
            <a:xfrm>
              <a:off x="503280" y="283536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59" name="Line 166"/>
            <p:cNvSpPr/>
            <p:nvPr/>
          </p:nvSpPr>
          <p:spPr>
            <a:xfrm>
              <a:off x="503280" y="485136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0" name="Line 167"/>
            <p:cNvSpPr/>
            <p:nvPr/>
          </p:nvSpPr>
          <p:spPr>
            <a:xfrm>
              <a:off x="503280" y="557064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1" name="Line 168"/>
            <p:cNvSpPr/>
            <p:nvPr/>
          </p:nvSpPr>
          <p:spPr>
            <a:xfrm>
              <a:off x="2879640" y="2187720"/>
              <a:ext cx="0" cy="410364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2" name="Line 169"/>
            <p:cNvSpPr/>
            <p:nvPr/>
          </p:nvSpPr>
          <p:spPr>
            <a:xfrm>
              <a:off x="4176720" y="2187720"/>
              <a:ext cx="0" cy="410364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63" name="Line 170"/>
            <p:cNvSpPr/>
            <p:nvPr/>
          </p:nvSpPr>
          <p:spPr>
            <a:xfrm>
              <a:off x="1655640" y="2187720"/>
              <a:ext cx="0" cy="410364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664" name="Object 171"/>
                <p:cNvSpPr txBox="1"/>
                <p:nvPr/>
              </p:nvSpPr>
              <p:spPr>
                <a:xfrm>
                  <a:off x="503280" y="1898640"/>
                  <a:ext cx="744480" cy="284040"/>
                </a:xfrm>
                <a:prstGeom prst="rect">
                  <a:avLst/>
                </a:prstGeom>
              </p:spPr>
              <p:txBody>
                <a:bodyPr/>
                <a:p>
                  <a14:m>
                    <m:oMath xmlns:m="http://schemas.openxmlformats.org/officeDocument/2006/math">
                      <m:r>
                        <m:t xml:space="preserve">L</m:t>
                      </m:r>
                      <m:r>
                        <m:t xml:space="preserve">(</m:t>
                      </m:r>
                      <m:r>
                        <m:t xml:space="preserve">ω</m:t>
                      </m:r>
                      <m:r>
                        <m:t xml:space="preserve">)</m:t>
                      </m:r>
                      <m:r>
                        <m:rPr>
                          <m:lit/>
                          <m:nor/>
                        </m:rPr>
                        <m:t xml:space="preserve">dB</m:t>
                      </m:r>
                    </m:oMath>
                  </a14:m>
                </a:p>
              </p:txBody>
            </p:sp>
          </mc:Choice>
          <mc:Fallback>
            <p:sp>
              <p:nvSpPr>
                <p:cNvPr id="664" name="Object 171"/>
                <p:cNvSpPr txBox="1"/>
                <p:nvPr/>
              </p:nvSpPr>
              <p:spPr>
                <a:xfrm>
                  <a:off x="503280" y="1898640"/>
                  <a:ext cx="744480" cy="284040"/>
                </a:xfrm>
                <a:prstGeom prst="rect">
                  <a:avLst/>
                </a:prstGeom>
                <a:blipFill>
                  <a:blip r:embed="rId7"/>
                  <a:stretch>
                    <a:fillRect/>
                  </a:stretch>
                </a:blipFill>
              </p:spPr>
            </p:sp>
          </mc:Fallback>
        </mc:AlternateContent>
        <mc:AlternateContent>
          <mc:Choice xmlns:a14="http://schemas.microsoft.com/office/drawing/2010/main" Requires="a14">
            <p:sp>
              <p:nvSpPr>
                <p:cNvPr id="665" name="Object 172"/>
                <p:cNvSpPr txBox="1"/>
                <p:nvPr/>
              </p:nvSpPr>
              <p:spPr>
                <a:xfrm>
                  <a:off x="5256360" y="1898640"/>
                  <a:ext cx="496800" cy="284040"/>
                </a:xfrm>
                <a:prstGeom prst="rect">
                  <a:avLst/>
                </a:prstGeom>
              </p:spPr>
              <p:txBody>
                <a:bodyPr/>
                <a:p>
                  <a14:m>
                    <m:oMath xmlns:m="http://schemas.openxmlformats.org/officeDocument/2006/math">
                      <m:r>
                        <m:t xml:space="preserve">ϕ</m:t>
                      </m:r>
                      <m:r>
                        <m:t xml:space="preserve">(</m:t>
                      </m:r>
                      <m:r>
                        <m:t xml:space="preserve">ω</m:t>
                      </m:r>
                      <m:r>
                        <m:t xml:space="preserve">)</m:t>
                      </m:r>
                    </m:oMath>
                  </a14:m>
                </a:p>
              </p:txBody>
            </p:sp>
          </mc:Choice>
          <mc:Fallback>
            <p:sp>
              <p:nvSpPr>
                <p:cNvPr id="665" name="Object 172"/>
                <p:cNvSpPr txBox="1"/>
                <p:nvPr/>
              </p:nvSpPr>
              <p:spPr>
                <a:xfrm>
                  <a:off x="5256360" y="1898640"/>
                  <a:ext cx="496800" cy="284040"/>
                </a:xfrm>
                <a:prstGeom prst="rect">
                  <a:avLst/>
                </a:prstGeom>
                <a:blipFill>
                  <a:blip r:embed="rId8"/>
                  <a:stretch>
                    <a:fillRect/>
                  </a:stretch>
                </a:blipFill>
              </p:spPr>
            </p:sp>
          </mc:Fallback>
        </mc:AlternateContent>
        <p:sp>
          <p:nvSpPr>
            <p:cNvPr id="666" name="Text Box 173"/>
            <p:cNvSpPr/>
            <p:nvPr/>
          </p:nvSpPr>
          <p:spPr>
            <a:xfrm>
              <a:off x="431640" y="4130640"/>
              <a:ext cx="57636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0.01</a:t>
              </a:r>
              <a:endParaRPr lang="en-US" sz="2000" b="0" u="none" strike="noStrike">
                <a:solidFill>
                  <a:srgbClr val="000000"/>
                </a:solidFill>
                <a:effectLst/>
                <a:uFillTx/>
                <a:latin typeface="Times New Roman"/>
              </a:endParaRPr>
            </a:p>
          </p:txBody>
        </p:sp>
        <p:sp>
          <p:nvSpPr>
            <p:cNvPr id="667" name="Text Box 174"/>
            <p:cNvSpPr/>
            <p:nvPr/>
          </p:nvSpPr>
          <p:spPr>
            <a:xfrm>
              <a:off x="142920" y="3338640"/>
              <a:ext cx="43344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668" name="Text Box 175"/>
            <p:cNvSpPr/>
            <p:nvPr/>
          </p:nvSpPr>
          <p:spPr>
            <a:xfrm>
              <a:off x="142920" y="2690640"/>
              <a:ext cx="43344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669" name="Text Box 176"/>
            <p:cNvSpPr/>
            <p:nvPr/>
          </p:nvSpPr>
          <p:spPr>
            <a:xfrm>
              <a:off x="0" y="5427720"/>
              <a:ext cx="57636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670" name="Text Box 177"/>
            <p:cNvSpPr/>
            <p:nvPr/>
          </p:nvSpPr>
          <p:spPr>
            <a:xfrm>
              <a:off x="0" y="4707000"/>
              <a:ext cx="50472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71" name="Object 178"/>
                <p:cNvSpPr txBox="1"/>
                <p:nvPr/>
              </p:nvSpPr>
              <p:spPr>
                <a:xfrm>
                  <a:off x="5543640" y="4059360"/>
                  <a:ext cx="212760" cy="195120"/>
                </a:xfrm>
                <a:prstGeom prst="rect">
                  <a:avLst/>
                </a:prstGeom>
              </p:spPr>
              <p:txBody>
                <a:bodyPr/>
                <a:p>
                  <a14:m>
                    <m:oMath xmlns:m="http://schemas.openxmlformats.org/officeDocument/2006/math">
                      <m:r>
                        <m:t xml:space="preserve">ω</m:t>
                      </m:r>
                    </m:oMath>
                  </a14:m>
                </a:p>
              </p:txBody>
            </p:sp>
          </mc:Choice>
          <mc:Fallback>
            <p:sp>
              <p:nvSpPr>
                <p:cNvPr id="671" name="Object 178"/>
                <p:cNvSpPr txBox="1"/>
                <p:nvPr/>
              </p:nvSpPr>
              <p:spPr>
                <a:xfrm>
                  <a:off x="5543640" y="4059360"/>
                  <a:ext cx="212760" cy="195120"/>
                </a:xfrm>
                <a:prstGeom prst="rect">
                  <a:avLst/>
                </a:prstGeom>
                <a:blipFill>
                  <a:blip r:embed="rId9"/>
                  <a:stretch>
                    <a:fillRect/>
                  </a:stretch>
                </a:blipFill>
              </p:spPr>
            </p:sp>
          </mc:Fallback>
        </mc:AlternateContent>
        <p:sp>
          <p:nvSpPr>
            <p:cNvPr id="672" name="Text Box 179"/>
            <p:cNvSpPr/>
            <p:nvPr/>
          </p:nvSpPr>
          <p:spPr>
            <a:xfrm>
              <a:off x="5400720" y="2690640"/>
              <a:ext cx="503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673" name="Text Box 180"/>
            <p:cNvSpPr/>
            <p:nvPr/>
          </p:nvSpPr>
          <p:spPr>
            <a:xfrm>
              <a:off x="5472000" y="3338640"/>
              <a:ext cx="503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674" name="Text Box 181"/>
            <p:cNvSpPr/>
            <p:nvPr/>
          </p:nvSpPr>
          <p:spPr>
            <a:xfrm>
              <a:off x="1655640" y="4130640"/>
              <a:ext cx="57636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0.1</a:t>
              </a:r>
              <a:endParaRPr lang="en-US" sz="2000" b="0" u="none" strike="noStrike">
                <a:solidFill>
                  <a:srgbClr val="000000"/>
                </a:solidFill>
                <a:effectLst/>
                <a:uFillTx/>
                <a:latin typeface="Times New Roman"/>
              </a:endParaRPr>
            </a:p>
          </p:txBody>
        </p:sp>
        <p:sp>
          <p:nvSpPr>
            <p:cNvPr id="675" name="Text Box 182"/>
            <p:cNvSpPr/>
            <p:nvPr/>
          </p:nvSpPr>
          <p:spPr>
            <a:xfrm>
              <a:off x="2879640" y="4130640"/>
              <a:ext cx="72072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a:t>
              </a:r>
              <a:endParaRPr lang="en-US" sz="2000" b="0" u="none" strike="noStrike">
                <a:solidFill>
                  <a:srgbClr val="000000"/>
                </a:solidFill>
                <a:effectLst/>
                <a:uFillTx/>
                <a:latin typeface="Times New Roman"/>
              </a:endParaRPr>
            </a:p>
          </p:txBody>
        </p:sp>
        <p:sp>
          <p:nvSpPr>
            <p:cNvPr id="676" name="Text Box 183"/>
            <p:cNvSpPr/>
            <p:nvPr/>
          </p:nvSpPr>
          <p:spPr>
            <a:xfrm>
              <a:off x="4103640" y="4130640"/>
              <a:ext cx="50472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a:t>
              </a:r>
              <a:endParaRPr lang="en-US" sz="2000" b="0" u="none" strike="noStrike">
                <a:solidFill>
                  <a:srgbClr val="000000"/>
                </a:solidFill>
                <a:effectLst/>
                <a:uFillTx/>
                <a:latin typeface="Times New Roman"/>
              </a:endParaRPr>
            </a:p>
          </p:txBody>
        </p:sp>
        <p:sp>
          <p:nvSpPr>
            <p:cNvPr id="677" name="Line 184"/>
            <p:cNvSpPr/>
            <p:nvPr/>
          </p:nvSpPr>
          <p:spPr>
            <a:xfrm>
              <a:off x="297000" y="2349360"/>
              <a:ext cx="2592360" cy="136692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8" name="Line 185"/>
            <p:cNvSpPr/>
            <p:nvPr/>
          </p:nvSpPr>
          <p:spPr>
            <a:xfrm>
              <a:off x="2879640" y="3697200"/>
              <a:ext cx="432000" cy="43344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79" name="Line 186"/>
            <p:cNvSpPr/>
            <p:nvPr/>
          </p:nvSpPr>
          <p:spPr>
            <a:xfrm>
              <a:off x="3311640" y="4130640"/>
              <a:ext cx="1224000" cy="215892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680" name="Object 187"/>
                <p:cNvSpPr txBox="1"/>
                <p:nvPr/>
              </p:nvSpPr>
              <p:spPr>
                <a:xfrm>
                  <a:off x="1695600" y="2851200"/>
                  <a:ext cx="1098360" cy="247680"/>
                </a:xfrm>
                <a:prstGeom prst="rect">
                  <a:avLst/>
                </a:prstGeom>
              </p:spPr>
              <p:txBody>
                <a:bodyPr/>
                <a:p>
                  <a14:m>
                    <m:oMath xmlns:m="http://schemas.openxmlformats.org/officeDocument/2006/math">
                      <m:r>
                        <m:t xml:space="preserve">−</m:t>
                      </m:r>
                      <m:r>
                        <m:rPr>
                          <m:lit/>
                          <m:nor/>
                        </m:rPr>
                        <m:t xml:space="preserve">20</m:t>
                      </m:r>
                      <m:f>
                        <m:fPr>
                          <m:type m:val="lin"/>
                        </m:fPr>
                        <m:num>
                          <m:r>
                            <m:rPr>
                              <m:lit/>
                              <m:nor/>
                            </m:rPr>
                            <m:t xml:space="preserve">dB</m:t>
                          </m:r>
                        </m:num>
                        <m:den>
                          <m:r>
                            <m:rPr>
                              <m:lit/>
                              <m:nor/>
                            </m:rPr>
                            <m:t xml:space="preserve">dec</m:t>
                          </m:r>
                        </m:den>
                      </m:f>
                    </m:oMath>
                  </a14:m>
                </a:p>
              </p:txBody>
            </p:sp>
          </mc:Choice>
          <mc:Fallback>
            <p:sp>
              <p:nvSpPr>
                <p:cNvPr id="680" name="Object 187"/>
                <p:cNvSpPr txBox="1"/>
                <p:nvPr/>
              </p:nvSpPr>
              <p:spPr>
                <a:xfrm>
                  <a:off x="1695600" y="2851200"/>
                  <a:ext cx="1098360" cy="247680"/>
                </a:xfrm>
                <a:prstGeom prst="rect">
                  <a:avLst/>
                </a:prstGeom>
                <a:blipFill>
                  <a:blip r:embed="rId10"/>
                  <a:stretch>
                    <a:fillRect/>
                  </a:stretch>
                </a:blipFill>
              </p:spPr>
            </p:sp>
          </mc:Fallback>
        </mc:AlternateContent>
        <mc:AlternateContent>
          <mc:Choice xmlns:a14="http://schemas.microsoft.com/office/drawing/2010/main" Requires="a14">
            <p:sp>
              <p:nvSpPr>
                <p:cNvPr id="681" name="Object 188"/>
                <p:cNvSpPr txBox="1"/>
                <p:nvPr/>
              </p:nvSpPr>
              <p:spPr>
                <a:xfrm>
                  <a:off x="3168720" y="3697200"/>
                  <a:ext cx="1098360" cy="247680"/>
                </a:xfrm>
                <a:prstGeom prst="rect">
                  <a:avLst/>
                </a:prstGeom>
              </p:spPr>
              <p:txBody>
                <a:bodyPr/>
                <a:p>
                  <a14:m>
                    <m:oMath xmlns:m="http://schemas.openxmlformats.org/officeDocument/2006/math">
                      <m:r>
                        <m:t xml:space="preserve">−</m:t>
                      </m:r>
                      <m:r>
                        <m:rPr>
                          <m:lit/>
                          <m:nor/>
                        </m:rPr>
                        <m:t xml:space="preserve">40</m:t>
                      </m:r>
                      <m:f>
                        <m:fPr>
                          <m:type m:val="lin"/>
                        </m:fPr>
                        <m:num>
                          <m:r>
                            <m:rPr>
                              <m:lit/>
                              <m:nor/>
                            </m:rPr>
                            <m:t xml:space="preserve">dB</m:t>
                          </m:r>
                        </m:num>
                        <m:den>
                          <m:r>
                            <m:rPr>
                              <m:lit/>
                              <m:nor/>
                            </m:rPr>
                            <m:t xml:space="preserve">dec</m:t>
                          </m:r>
                        </m:den>
                      </m:f>
                    </m:oMath>
                  </a14:m>
                </a:p>
              </p:txBody>
            </p:sp>
          </mc:Choice>
          <mc:Fallback>
            <p:sp>
              <p:nvSpPr>
                <p:cNvPr id="681" name="Object 188"/>
                <p:cNvSpPr txBox="1"/>
                <p:nvPr/>
              </p:nvSpPr>
              <p:spPr>
                <a:xfrm>
                  <a:off x="3168720" y="3697200"/>
                  <a:ext cx="1098360" cy="247680"/>
                </a:xfrm>
                <a:prstGeom prst="rect">
                  <a:avLst/>
                </a:prstGeom>
                <a:blipFill>
                  <a:blip r:embed="rId11"/>
                  <a:stretch>
                    <a:fillRect/>
                  </a:stretch>
                </a:blipFill>
              </p:spPr>
            </p:sp>
          </mc:Fallback>
        </mc:AlternateContent>
        <mc:AlternateContent>
          <mc:Choice xmlns:a14="http://schemas.microsoft.com/office/drawing/2010/main" Requires="a14">
            <p:sp>
              <p:nvSpPr>
                <p:cNvPr id="682" name="Object 189"/>
                <p:cNvSpPr txBox="1"/>
                <p:nvPr/>
              </p:nvSpPr>
              <p:spPr>
                <a:xfrm>
                  <a:off x="3960720" y="4994280"/>
                  <a:ext cx="1098720" cy="247680"/>
                </a:xfrm>
                <a:prstGeom prst="rect">
                  <a:avLst/>
                </a:prstGeom>
              </p:spPr>
              <p:txBody>
                <a:bodyPr/>
                <a:p>
                  <a14:m>
                    <m:oMath xmlns:m="http://schemas.openxmlformats.org/officeDocument/2006/math">
                      <m:r>
                        <m:t xml:space="preserve">−</m:t>
                      </m:r>
                      <m:r>
                        <m:rPr>
                          <m:lit/>
                          <m:nor/>
                        </m:rPr>
                        <m:t xml:space="preserve">60</m:t>
                      </m:r>
                      <m:f>
                        <m:fPr>
                          <m:type m:val="lin"/>
                        </m:fPr>
                        <m:num>
                          <m:r>
                            <m:rPr>
                              <m:lit/>
                              <m:nor/>
                            </m:rPr>
                            <m:t xml:space="preserve">dB</m:t>
                          </m:r>
                        </m:num>
                        <m:den>
                          <m:r>
                            <m:rPr>
                              <m:lit/>
                              <m:nor/>
                            </m:rPr>
                            <m:t xml:space="preserve">dec</m:t>
                          </m:r>
                        </m:den>
                      </m:f>
                    </m:oMath>
                  </a14:m>
                </a:p>
              </p:txBody>
            </p:sp>
          </mc:Choice>
          <mc:Fallback>
            <p:sp>
              <p:nvSpPr>
                <p:cNvPr id="682" name="Object 189"/>
                <p:cNvSpPr txBox="1"/>
                <p:nvPr/>
              </p:nvSpPr>
              <p:spPr>
                <a:xfrm>
                  <a:off x="3960720" y="4994280"/>
                  <a:ext cx="1098720" cy="247680"/>
                </a:xfrm>
                <a:prstGeom prst="rect">
                  <a:avLst/>
                </a:prstGeom>
                <a:blipFill>
                  <a:blip r:embed="rId12"/>
                  <a:stretch>
                    <a:fillRect/>
                  </a:stretch>
                </a:blipFill>
              </p:spPr>
            </p:sp>
          </mc:Fallback>
        </mc:AlternateContent>
        <p:sp>
          <p:nvSpPr>
            <p:cNvPr id="683" name="Text Box 190"/>
            <p:cNvSpPr/>
            <p:nvPr/>
          </p:nvSpPr>
          <p:spPr>
            <a:xfrm>
              <a:off x="5427720" y="5364000"/>
              <a:ext cx="86364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684" name="Text Box 191"/>
            <p:cNvSpPr/>
            <p:nvPr/>
          </p:nvSpPr>
          <p:spPr>
            <a:xfrm>
              <a:off x="5427720" y="4643280"/>
              <a:ext cx="86364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685" name="Freeform 192"/>
            <p:cNvSpPr/>
            <p:nvPr/>
          </p:nvSpPr>
          <p:spPr>
            <a:xfrm>
              <a:off x="1062000" y="4915080"/>
              <a:ext cx="4032360" cy="1296720"/>
            </a:xfrm>
            <a:custGeom>
              <a:avLst/>
              <a:gdLst>
                <a:gd name="GluePoint1X" fmla="*/ 0 w 861"/>
                <a:gd name="GluePoint1Y" fmla="*/ 73 h 370"/>
                <a:gd name="GluePoint2X" fmla="*/ 2316 w 861"/>
                <a:gd name="GluePoint2Y" fmla="*/ 73 h 370"/>
                <a:gd name="GluePoint3X" fmla="*/ 8136 w 861"/>
                <a:gd name="GluePoint3Y" fmla="*/ 561 h 370"/>
                <a:gd name="GluePoint4X" fmla="*/ 13969 w 861"/>
                <a:gd name="GluePoint4Y" fmla="*/ 3003 h 370"/>
                <a:gd name="GluePoint5X" fmla="*/ 22105 w 861"/>
                <a:gd name="GluePoint5Y" fmla="*/ 3983 h 37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861" h="370">
                  <a:moveTo>
                    <a:pt x="0" y="7"/>
                  </a:moveTo>
                  <a:cubicBezTo>
                    <a:pt x="18" y="3"/>
                    <a:pt x="37" y="0"/>
                    <a:pt x="90" y="7"/>
                  </a:cubicBezTo>
                  <a:cubicBezTo>
                    <a:pt x="143" y="14"/>
                    <a:pt x="241" y="7"/>
                    <a:pt x="317" y="52"/>
                  </a:cubicBezTo>
                  <a:cubicBezTo>
                    <a:pt x="393" y="97"/>
                    <a:pt x="453" y="226"/>
                    <a:pt x="544" y="279"/>
                  </a:cubicBezTo>
                  <a:cubicBezTo>
                    <a:pt x="635" y="332"/>
                    <a:pt x="808" y="355"/>
                    <a:pt x="861" y="370"/>
                  </a:cubicBezTo>
                </a:path>
              </a:pathLst>
            </a:custGeom>
            <a:noFill/>
            <a:ln w="255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686" name="Group 213"/>
          <p:cNvGrpSpPr/>
          <p:nvPr/>
        </p:nvGrpSpPr>
        <p:grpSpPr>
          <a:xfrm>
            <a:off x="3267000" y="4103640"/>
            <a:ext cx="90720" cy="1575000"/>
            <a:chOff x="3267000" y="4103640"/>
            <a:chExt cx="90720" cy="1575000"/>
          </a:xfrm>
        </p:grpSpPr>
        <p:sp>
          <p:nvSpPr>
            <p:cNvPr id="687" name="Oval 210"/>
            <p:cNvSpPr/>
            <p:nvPr/>
          </p:nvSpPr>
          <p:spPr>
            <a:xfrm>
              <a:off x="3267000" y="4103640"/>
              <a:ext cx="90720" cy="90360"/>
            </a:xfrm>
            <a:prstGeom prst="ellipse">
              <a:avLst/>
            </a:prstGeom>
            <a:solidFill>
              <a:srgbClr val="CC0099"/>
            </a:solidFill>
            <a:ln w="0">
              <a:noFill/>
            </a:ln>
          </p:spPr>
          <p:style>
            <a:lnRef idx="0"/>
            <a:fillRef idx="0"/>
            <a:effectRef idx="0"/>
            <a:fontRef idx="minor"/>
          </p:style>
          <p:txBody>
            <a:bodyPr wrap="none" lIns="90000" tIns="17640" rIns="90000" bIns="176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88" name="Line 212"/>
            <p:cNvSpPr/>
            <p:nvPr/>
          </p:nvSpPr>
          <p:spPr>
            <a:xfrm>
              <a:off x="3311640" y="4149720"/>
              <a:ext cx="0" cy="1528920"/>
            </a:xfrm>
            <a:prstGeom prst="line">
              <a:avLst/>
            </a:prstGeom>
            <a:ln w="19080">
              <a:solidFill>
                <a:srgbClr val="3366FF"/>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p:transition>
    <p:random/>
  </p:transition>
  <p:timing>
    <p:tnLst>
      <p:par>
        <p:cTn id="884" dur="indefinite" restart="never" nodeType="tmRoot">
          <p:childTnLst>
            <p:seq>
              <p:cTn id="885" dur="indefinite" nodeType="mainSeq">
                <p:childTnLst>
                  <p:par>
                    <p:cTn id="886" fill="hold" nodeType="clickEffect">
                      <p:stCondLst>
                        <p:cond delay="indefinite"/>
                      </p:stCondLst>
                      <p:childTnLst>
                        <p:par>
                          <p:cTn id="887" fill="hold" nodeType="withEffect">
                            <p:stCondLst>
                              <p:cond delay="0"/>
                            </p:stCondLst>
                            <p:childTnLst>
                              <p:par>
                                <p:cTn id="888" presetID="3" presetClass="entr" fill="hold" nodeType="clickEffect" presetSubtype="10">
                                  <p:stCondLst>
                                    <p:cond delay="0"/>
                                  </p:stCondLst>
                                  <p:childTnLst>
                                    <p:set>
                                      <p:cBhvr>
                                        <p:cTn id="889" dur="1" fill="hold">
                                          <p:stCondLst>
                                            <p:cond delay="0"/>
                                          </p:stCondLst>
                                        </p:cTn>
                                        <p:tgtEl>
                                          <p:spTgt spid="649"/>
                                        </p:tgtEl>
                                        <p:attrNameLst>
                                          <p:attrName>style.visibility</p:attrName>
                                        </p:attrNameLst>
                                      </p:cBhvr>
                                      <p:to>
                                        <p:strVal val="visible"/>
                                      </p:to>
                                    </p:set>
                                    <p:animEffect transition="in" filter="blinds(horizontal)">
                                      <p:cBhvr additive="repl">
                                        <p:cTn id="890" dur="500"/>
                                        <p:tgtEl>
                                          <p:spTgt spid="649"/>
                                        </p:tgtEl>
                                      </p:cBhvr>
                                    </p:animEffect>
                                  </p:childTnLst>
                                </p:cTn>
                              </p:par>
                            </p:childTnLst>
                          </p:cTn>
                        </p:par>
                      </p:childTnLst>
                    </p:cTn>
                  </p:par>
                  <p:par>
                    <p:cTn id="891" fill="hold" nodeType="clickEffect">
                      <p:stCondLst>
                        <p:cond delay="indefinite"/>
                      </p:stCondLst>
                      <p:childTnLst>
                        <p:par>
                          <p:cTn id="892" fill="hold" nodeType="withEffect">
                            <p:stCondLst>
                              <p:cond delay="0"/>
                            </p:stCondLst>
                            <p:childTnLst>
                              <p:par>
                                <p:cTn id="893" presetID="2" presetClass="entr" fill="hold" nodeType="clickEffect" presetSubtype="8">
                                  <p:stCondLst>
                                    <p:cond delay="0"/>
                                  </p:stCondLst>
                                  <p:childTnLst>
                                    <p:set>
                                      <p:cBhvr>
                                        <p:cTn id="894" dur="1" fill="hold">
                                          <p:stCondLst>
                                            <p:cond delay="0"/>
                                          </p:stCondLst>
                                        </p:cTn>
                                        <p:tgtEl>
                                          <p:spTgt spid="654"/>
                                        </p:tgtEl>
                                        <p:attrNameLst>
                                          <p:attrName>style.visibility</p:attrName>
                                        </p:attrNameLst>
                                      </p:cBhvr>
                                      <p:to>
                                        <p:strVal val="visible"/>
                                      </p:to>
                                    </p:set>
                                    <p:anim calcmode="lin" valueType="num">
                                      <p:cBhvr additive="base">
                                        <p:cTn id="895" dur="1000" fill="hold"/>
                                        <p:tgtEl>
                                          <p:spTgt spid="654"/>
                                        </p:tgtEl>
                                        <p:attrNameLst>
                                          <p:attrName>ppt_x</p:attrName>
                                        </p:attrNameLst>
                                      </p:cBhvr>
                                      <p:tavLst>
                                        <p:tav>
                                          <p:val>
                                            <p:strVal val="0-#ppt_w/2"/>
                                          </p:val>
                                        </p:tav>
                                        <p:tav tm="100000">
                                          <p:val>
                                            <p:strVal val="#ppt_x"/>
                                          </p:val>
                                        </p:tav>
                                      </p:tavLst>
                                    </p:anim>
                                    <p:anim calcmode="lin" valueType="num">
                                      <p:cBhvr additive="base">
                                        <p:cTn id="896" dur="1000" fill="hold"/>
                                        <p:tgtEl>
                                          <p:spTgt spid="654"/>
                                        </p:tgtEl>
                                        <p:attrNameLst>
                                          <p:attrName>ppt_y</p:attrName>
                                        </p:attrNameLst>
                                      </p:cBhvr>
                                      <p:tavLst>
                                        <p:tav>
                                          <p:val>
                                            <p:strVal val="#ppt_y"/>
                                          </p:val>
                                        </p:tav>
                                        <p:tav tm="100000">
                                          <p:val>
                                            <p:strVal val="#ppt_y"/>
                                          </p:val>
                                        </p:tav>
                                      </p:tavLst>
                                    </p:anim>
                                  </p:childTnLst>
                                </p:cTn>
                              </p:par>
                            </p:childTnLst>
                          </p:cTn>
                        </p:par>
                      </p:childTnLst>
                    </p:cTn>
                  </p:par>
                  <p:par>
                    <p:cTn id="897" fill="hold" nodeType="clickEffect">
                      <p:stCondLst>
                        <p:cond delay="indefinite"/>
                      </p:stCondLst>
                      <p:childTnLst>
                        <p:par>
                          <p:cTn id="898" fill="hold" nodeType="withEffect">
                            <p:stCondLst>
                              <p:cond delay="0"/>
                            </p:stCondLst>
                            <p:childTnLst>
                              <p:par>
                                <p:cTn id="899" presetID="3" presetClass="entr" fill="hold" nodeType="clickEffect" presetSubtype="10">
                                  <p:stCondLst>
                                    <p:cond delay="0"/>
                                  </p:stCondLst>
                                  <p:childTnLst>
                                    <p:set>
                                      <p:cBhvr>
                                        <p:cTn id="900" dur="1" fill="hold">
                                          <p:stCondLst>
                                            <p:cond delay="0"/>
                                          </p:stCondLst>
                                        </p:cTn>
                                        <p:tgtEl>
                                          <p:spTgt spid="653"/>
                                        </p:tgtEl>
                                        <p:attrNameLst>
                                          <p:attrName>style.visibility</p:attrName>
                                        </p:attrNameLst>
                                      </p:cBhvr>
                                      <p:to>
                                        <p:strVal val="visible"/>
                                      </p:to>
                                    </p:set>
                                    <p:animEffect transition="in" filter="blinds(horizontal)">
                                      <p:cBhvr additive="repl">
                                        <p:cTn id="901" dur="500"/>
                                        <p:tgtEl>
                                          <p:spTgt spid="653"/>
                                        </p:tgtEl>
                                      </p:cBhvr>
                                    </p:animEffect>
                                  </p:childTnLst>
                                </p:cTn>
                              </p:par>
                            </p:childTnLst>
                          </p:cTn>
                        </p:par>
                      </p:childTnLst>
                    </p:cTn>
                  </p:par>
                  <p:par>
                    <p:cTn id="902" fill="hold" nodeType="clickEffect">
                      <p:stCondLst>
                        <p:cond delay="indefinite"/>
                      </p:stCondLst>
                      <p:childTnLst>
                        <p:par>
                          <p:cTn id="903" fill="hold" nodeType="withEffect">
                            <p:stCondLst>
                              <p:cond delay="0"/>
                            </p:stCondLst>
                            <p:childTnLst>
                              <p:par>
                                <p:cTn id="904" presetID="2" presetClass="entr" fill="hold" nodeType="clickEffect" presetSubtype="4">
                                  <p:stCondLst>
                                    <p:cond delay="0"/>
                                  </p:stCondLst>
                                  <p:childTnLst>
                                    <p:set>
                                      <p:cBhvr>
                                        <p:cTn id="905" dur="1" fill="hold">
                                          <p:stCondLst>
                                            <p:cond delay="0"/>
                                          </p:stCondLst>
                                        </p:cTn>
                                        <p:tgtEl>
                                          <p:spTgt spid="686"/>
                                        </p:tgtEl>
                                        <p:attrNameLst>
                                          <p:attrName>style.visibility</p:attrName>
                                        </p:attrNameLst>
                                      </p:cBhvr>
                                      <p:to>
                                        <p:strVal val="visible"/>
                                      </p:to>
                                    </p:set>
                                    <p:anim calcmode="lin" valueType="num">
                                      <p:cBhvr additive="base">
                                        <p:cTn id="906" dur="500" fill="hold"/>
                                        <p:tgtEl>
                                          <p:spTgt spid="686"/>
                                        </p:tgtEl>
                                        <p:attrNameLst>
                                          <p:attrName>ppt_x</p:attrName>
                                        </p:attrNameLst>
                                      </p:cBhvr>
                                      <p:tavLst>
                                        <p:tav>
                                          <p:val>
                                            <p:strVal val="#ppt_x"/>
                                          </p:val>
                                        </p:tav>
                                        <p:tav tm="100000">
                                          <p:val>
                                            <p:strVal val="#ppt_x"/>
                                          </p:val>
                                        </p:tav>
                                      </p:tavLst>
                                    </p:anim>
                                    <p:anim calcmode="lin" valueType="num">
                                      <p:cBhvr additive="base">
                                        <p:cTn id="907" dur="500" fill="hold"/>
                                        <p:tgtEl>
                                          <p:spTgt spid="686"/>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灯片编号占位符 3"/>
          <p:cNvSpPr/>
          <p:nvPr/>
        </p:nvSpPr>
        <p:spPr>
          <a:xfrm>
            <a:off x="6553080" y="6248520"/>
            <a:ext cx="2133720" cy="45720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6713ECD-35F5-46BD-A57C-0339F1BFDBF1}"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grpSp>
        <p:nvGrpSpPr>
          <p:cNvPr id="690" name="Group 92"/>
          <p:cNvGrpSpPr/>
          <p:nvPr/>
        </p:nvGrpSpPr>
        <p:grpSpPr>
          <a:xfrm>
            <a:off x="0" y="4329000"/>
            <a:ext cx="2340720" cy="720720"/>
            <a:chOff x="0" y="4329000"/>
            <a:chExt cx="2340720" cy="720720"/>
          </a:xfrm>
        </p:grpSpPr>
        <p:grpSp>
          <p:nvGrpSpPr>
            <p:cNvPr id="691" name="Group 81"/>
            <p:cNvGrpSpPr/>
            <p:nvPr/>
          </p:nvGrpSpPr>
          <p:grpSpPr>
            <a:xfrm>
              <a:off x="0" y="4329000"/>
              <a:ext cx="2340720" cy="720720"/>
              <a:chOff x="0" y="4329000"/>
              <a:chExt cx="2340720" cy="720720"/>
            </a:xfrm>
          </p:grpSpPr>
          <p:sp>
            <p:nvSpPr>
              <p:cNvPr id="692" name="Line 78"/>
              <p:cNvSpPr/>
              <p:nvPr/>
            </p:nvSpPr>
            <p:spPr>
              <a:xfrm>
                <a:off x="0" y="4329000"/>
                <a:ext cx="604080" cy="0"/>
              </a:xfrm>
              <a:prstGeom prst="line">
                <a:avLst/>
              </a:prstGeom>
              <a:ln w="19080">
                <a:solidFill>
                  <a:srgbClr val="00FF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3" name="Line 79"/>
              <p:cNvSpPr/>
              <p:nvPr/>
            </p:nvSpPr>
            <p:spPr>
              <a:xfrm>
                <a:off x="604080" y="4329000"/>
                <a:ext cx="1132200" cy="720720"/>
              </a:xfrm>
              <a:prstGeom prst="line">
                <a:avLst/>
              </a:prstGeom>
              <a:ln w="19080">
                <a:solidFill>
                  <a:srgbClr val="00FF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694" name="Line 80"/>
              <p:cNvSpPr/>
              <p:nvPr/>
            </p:nvSpPr>
            <p:spPr>
              <a:xfrm>
                <a:off x="1736280" y="5049720"/>
                <a:ext cx="604440" cy="0"/>
              </a:xfrm>
              <a:prstGeom prst="line">
                <a:avLst/>
              </a:prstGeom>
              <a:ln w="19080">
                <a:solidFill>
                  <a:srgbClr val="00FF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695" name="Freeform 86"/>
            <p:cNvSpPr/>
            <p:nvPr/>
          </p:nvSpPr>
          <p:spPr>
            <a:xfrm>
              <a:off x="151200" y="4402080"/>
              <a:ext cx="1964880" cy="360360"/>
            </a:xfrm>
            <a:custGeom>
              <a:avLst/>
              <a:gdLst>
                <a:gd name="GluePoint1X" fmla="*/ 0 w 1723"/>
                <a:gd name="GluePoint1Y" fmla="*/ 0 h 332"/>
                <a:gd name="GluePoint2X" fmla="*/ 87 w 1723"/>
                <a:gd name="GluePoint2Y" fmla="*/ 29 h 332"/>
                <a:gd name="GluePoint3X" fmla="*/ 189 w 1723"/>
                <a:gd name="GluePoint3Y" fmla="*/ 87 h 332"/>
                <a:gd name="GluePoint4X" fmla="*/ 306 w 1723"/>
                <a:gd name="GluePoint4Y" fmla="*/ 101 h 332"/>
                <a:gd name="GluePoint5X" fmla="*/ 423 w 1723"/>
                <a:gd name="GluePoint5Y" fmla="*/ 58 h 332"/>
                <a:gd name="GluePoint6X" fmla="*/ 495 w 1723"/>
                <a:gd name="GluePoint6Y" fmla="*/ 29 h 332"/>
                <a:gd name="GluePoint7X" fmla="*/ 553 w 1723"/>
                <a:gd name="GluePoint7Y" fmla="*/ 14 h 3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723" h="332">
                  <a:moveTo>
                    <a:pt x="0" y="0"/>
                  </a:moveTo>
                  <a:cubicBezTo>
                    <a:pt x="87" y="22"/>
                    <a:pt x="174" y="45"/>
                    <a:pt x="272" y="90"/>
                  </a:cubicBezTo>
                  <a:cubicBezTo>
                    <a:pt x="370" y="135"/>
                    <a:pt x="476" y="234"/>
                    <a:pt x="589" y="272"/>
                  </a:cubicBezTo>
                  <a:cubicBezTo>
                    <a:pt x="702" y="310"/>
                    <a:pt x="831" y="332"/>
                    <a:pt x="952" y="317"/>
                  </a:cubicBezTo>
                  <a:cubicBezTo>
                    <a:pt x="1073" y="302"/>
                    <a:pt x="1217" y="219"/>
                    <a:pt x="1315" y="181"/>
                  </a:cubicBezTo>
                  <a:cubicBezTo>
                    <a:pt x="1413" y="143"/>
                    <a:pt x="1474" y="113"/>
                    <a:pt x="1542" y="90"/>
                  </a:cubicBezTo>
                  <a:cubicBezTo>
                    <a:pt x="1610" y="67"/>
                    <a:pt x="1693" y="52"/>
                    <a:pt x="1723" y="45"/>
                  </a:cubicBezTo>
                </a:path>
              </a:pathLst>
            </a:custGeom>
            <a:noFill/>
            <a:ln w="19080">
              <a:solidFill>
                <a:srgbClr val="00FFFF"/>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696" name="Group 130"/>
          <p:cNvGrpSpPr/>
          <p:nvPr/>
        </p:nvGrpSpPr>
        <p:grpSpPr>
          <a:xfrm>
            <a:off x="836640" y="765000"/>
            <a:ext cx="7632720" cy="1321920"/>
            <a:chOff x="836640" y="765000"/>
            <a:chExt cx="7632720" cy="1321920"/>
          </a:xfrm>
        </p:grpSpPr>
        <p:sp>
          <p:nvSpPr>
            <p:cNvPr id="697" name="Rectangle 98"/>
            <p:cNvSpPr/>
            <p:nvPr/>
          </p:nvSpPr>
          <p:spPr>
            <a:xfrm>
              <a:off x="836640" y="773280"/>
              <a:ext cx="763272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按照性能指标要求，系统的截止角频率为             。从图中可见，系统固有部分在此点的相角约为</a:t>
              </a:r>
              <a:r>
                <a:rPr lang="en-US" sz="2000" b="1" u="none" strike="noStrike">
                  <a:solidFill>
                    <a:srgbClr val="000000"/>
                  </a:solidFill>
                  <a:effectLst/>
                  <a:uFillTx/>
                  <a:latin typeface="Times New Roman"/>
                </a:rPr>
                <a:t>-130°</a:t>
              </a:r>
              <a:r>
                <a:rPr lang="zh-CN" sz="2000" b="1" u="none" strike="noStrike">
                  <a:solidFill>
                    <a:srgbClr val="000000"/>
                  </a:solidFill>
                  <a:effectLst/>
                  <a:uFillTx/>
                  <a:latin typeface="Times New Roman"/>
                </a:rPr>
                <a:t>。若此频率为校正后系统的截止角频率，就可有</a:t>
              </a:r>
              <a:r>
                <a:rPr lang="en-US" sz="2000" b="1" u="none" strike="noStrike">
                  <a:solidFill>
                    <a:srgbClr val="000000"/>
                  </a:solidFill>
                  <a:effectLst/>
                  <a:uFillTx/>
                  <a:latin typeface="Times New Roman"/>
                </a:rPr>
                <a:t>50°</a:t>
              </a:r>
              <a:r>
                <a:rPr lang="zh-CN" sz="2000" b="1" u="none" strike="noStrike">
                  <a:solidFill>
                    <a:srgbClr val="000000"/>
                  </a:solidFill>
                  <a:effectLst/>
                  <a:uFillTx/>
                  <a:latin typeface="Times New Roman"/>
                </a:rPr>
                <a:t>的相角稳定裕度。能够满足系统性能要求。</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698" name="Object 65"/>
                <p:cNvSpPr txBox="1"/>
                <p:nvPr/>
              </p:nvSpPr>
              <p:spPr>
                <a:xfrm>
                  <a:off x="5508720" y="765000"/>
                  <a:ext cx="936360" cy="392400"/>
                </a:xfrm>
                <a:prstGeom prst="rect">
                  <a:avLst/>
                </a:prstGeom>
              </p:spPr>
              <p:txBody>
                <a:bodyPr/>
                <a:p>
                  <a14:m>
                    <m:oMath xmlns:m="http://schemas.openxmlformats.org/officeDocument/2006/math">
                      <m:sSub>
                        <m:e>
                          <m:r>
                            <m:t xml:space="preserve">ω</m:t>
                          </m:r>
                        </m:e>
                        <m:sub>
                          <m:r>
                            <m:t xml:space="preserve">c</m:t>
                          </m:r>
                        </m:sub>
                      </m:sSub>
                      <m:r>
                        <m:t xml:space="preserve">=</m:t>
                      </m:r>
                      <m:r>
                        <m:t xml:space="preserve">0</m:t>
                      </m:r>
                      <m:r>
                        <m:rPr>
                          <m:lit/>
                          <m:nor/>
                        </m:rPr>
                        <m:t xml:space="preserve">.</m:t>
                      </m:r>
                      <m:r>
                        <m:t xml:space="preserve">5</m:t>
                      </m:r>
                    </m:oMath>
                  </a14:m>
                </a:p>
              </p:txBody>
            </p:sp>
          </mc:Choice>
          <mc:Fallback>
            <p:sp>
              <p:nvSpPr>
                <p:cNvPr id="698" name="Object 65"/>
                <p:cNvSpPr txBox="1"/>
                <p:nvPr/>
              </p:nvSpPr>
              <p:spPr>
                <a:xfrm>
                  <a:off x="5508720" y="765000"/>
                  <a:ext cx="936360" cy="392400"/>
                </a:xfrm>
                <a:prstGeom prst="rect">
                  <a:avLst/>
                </a:prstGeom>
                <a:blipFill>
                  <a:blip r:embed="rId1"/>
                  <a:stretch>
                    <a:fillRect/>
                  </a:stretch>
                </a:blipFill>
              </p:spPr>
            </p:sp>
          </mc:Fallback>
        </mc:AlternateContent>
      </p:grpSp>
      <p:grpSp>
        <p:nvGrpSpPr>
          <p:cNvPr id="699" name="Group 121"/>
          <p:cNvGrpSpPr/>
          <p:nvPr/>
        </p:nvGrpSpPr>
        <p:grpSpPr>
          <a:xfrm>
            <a:off x="6084720" y="2060640"/>
            <a:ext cx="2951280" cy="1313640"/>
            <a:chOff x="6084720" y="2060640"/>
            <a:chExt cx="2951280" cy="1313640"/>
          </a:xfrm>
        </p:grpSpPr>
        <p:sp>
          <p:nvSpPr>
            <p:cNvPr id="700" name="Rectangle 103"/>
            <p:cNvSpPr/>
            <p:nvPr/>
          </p:nvSpPr>
          <p:spPr>
            <a:xfrm>
              <a:off x="6084720" y="2060640"/>
              <a:ext cx="295128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系统固有部分在           处的增益为</a:t>
              </a:r>
              <a:r>
                <a:rPr lang="en-US" sz="2000" b="1" u="none" strike="noStrike">
                  <a:solidFill>
                    <a:srgbClr val="000000"/>
                  </a:solidFill>
                  <a:effectLst/>
                  <a:uFillTx/>
                  <a:latin typeface="Times New Roman"/>
                </a:rPr>
                <a:t>20dB</a:t>
              </a:r>
              <a:r>
                <a:rPr lang="zh-CN" sz="2000" b="1" u="none" strike="noStrike">
                  <a:solidFill>
                    <a:srgbClr val="000000"/>
                  </a:solidFill>
                  <a:effectLst/>
                  <a:uFillTx/>
                  <a:latin typeface="Times New Roman"/>
                </a:rPr>
                <a:t>，要把它降低到</a:t>
              </a:r>
              <a:r>
                <a:rPr lang="en-US" sz="2000" b="1" u="none" strike="noStrike">
                  <a:solidFill>
                    <a:srgbClr val="000000"/>
                  </a:solidFill>
                  <a:effectLst/>
                  <a:uFillTx/>
                  <a:latin typeface="Times New Roman"/>
                </a:rPr>
                <a:t>0dB</a:t>
              </a:r>
              <a:r>
                <a:rPr lang="zh-CN" sz="2000" b="1" u="none" strike="noStrike">
                  <a:solidFill>
                    <a:srgbClr val="000000"/>
                  </a:solidFill>
                  <a:effectLst/>
                  <a:uFillTx/>
                  <a:latin typeface="Times New Roman"/>
                </a:rPr>
                <a:t>，需降低</a:t>
              </a:r>
              <a:r>
                <a:rPr lang="en-US" sz="2000" b="1" u="none" strike="noStrike">
                  <a:solidFill>
                    <a:srgbClr val="000000"/>
                  </a:solidFill>
                  <a:effectLst/>
                  <a:uFillTx/>
                  <a:latin typeface="Times New Roman"/>
                </a:rPr>
                <a:t>20dB</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01" name="Object 104"/>
                <p:cNvSpPr txBox="1"/>
                <p:nvPr/>
              </p:nvSpPr>
              <p:spPr>
                <a:xfrm>
                  <a:off x="7956720" y="2060640"/>
                  <a:ext cx="936360" cy="392040"/>
                </a:xfrm>
                <a:prstGeom prst="rect">
                  <a:avLst/>
                </a:prstGeom>
              </p:spPr>
              <p:txBody>
                <a:bodyPr/>
                <a:p>
                  <a14:m>
                    <m:oMath xmlns:m="http://schemas.openxmlformats.org/officeDocument/2006/math">
                      <m:sSub>
                        <m:e>
                          <m:r>
                            <m:t xml:space="preserve">ω</m:t>
                          </m:r>
                        </m:e>
                        <m:sub>
                          <m:r>
                            <m:t xml:space="preserve">c</m:t>
                          </m:r>
                        </m:sub>
                      </m:sSub>
                      <m:r>
                        <m:t xml:space="preserve">=</m:t>
                      </m:r>
                      <m:r>
                        <m:t xml:space="preserve">0</m:t>
                      </m:r>
                      <m:r>
                        <m:rPr>
                          <m:lit/>
                          <m:nor/>
                        </m:rPr>
                        <m:t xml:space="preserve">.</m:t>
                      </m:r>
                      <m:r>
                        <m:t xml:space="preserve">5</m:t>
                      </m:r>
                    </m:oMath>
                  </a14:m>
                </a:p>
              </p:txBody>
            </p:sp>
          </mc:Choice>
          <mc:Fallback>
            <p:sp>
              <p:nvSpPr>
                <p:cNvPr id="701" name="Object 104"/>
                <p:cNvSpPr txBox="1"/>
                <p:nvPr/>
              </p:nvSpPr>
              <p:spPr>
                <a:xfrm>
                  <a:off x="7956720" y="2060640"/>
                  <a:ext cx="936360" cy="392040"/>
                </a:xfrm>
                <a:prstGeom prst="rect">
                  <a:avLst/>
                </a:prstGeom>
                <a:blipFill>
                  <a:blip r:embed="rId2"/>
                  <a:stretch>
                    <a:fillRect/>
                  </a:stretch>
                </a:blipFill>
              </p:spPr>
            </p:sp>
          </mc:Fallback>
        </mc:AlternateContent>
      </p:grpSp>
      <p:grpSp>
        <p:nvGrpSpPr>
          <p:cNvPr id="702" name="Group 122"/>
          <p:cNvGrpSpPr/>
          <p:nvPr/>
        </p:nvGrpSpPr>
        <p:grpSpPr>
          <a:xfrm>
            <a:off x="6462720" y="3284640"/>
            <a:ext cx="1871640" cy="682560"/>
            <a:chOff x="6462720" y="3284640"/>
            <a:chExt cx="1871640" cy="682560"/>
          </a:xfrm>
        </p:grpSpPr>
        <mc:AlternateContent>
          <mc:Choice xmlns:a14="http://schemas.microsoft.com/office/drawing/2010/main" Requires="a14">
            <p:sp>
              <p:nvSpPr>
                <p:cNvPr id="703" name="Object 59"/>
                <p:cNvSpPr txBox="1"/>
                <p:nvPr/>
              </p:nvSpPr>
              <p:spPr>
                <a:xfrm>
                  <a:off x="6462720" y="3564000"/>
                  <a:ext cx="1871640" cy="403200"/>
                </a:xfrm>
                <a:prstGeom prst="rect">
                  <a:avLst/>
                </a:prstGeom>
              </p:spPr>
              <p:txBody>
                <a:bodyPr/>
                <a:p>
                  <a14:m>
                    <m:oMath xmlns:m="http://schemas.openxmlformats.org/officeDocument/2006/math">
                      <m:r>
                        <m:rPr>
                          <m:lit/>
                          <m:nor/>
                        </m:rPr>
                        <m:t xml:space="preserve">20</m:t>
                      </m:r>
                      <m:r>
                        <m:rPr>
                          <m:lit/>
                          <m:nor/>
                        </m:rPr>
                        <m:t xml:space="preserve">lg</m:t>
                      </m:r>
                      <m:r>
                        <m:t xml:space="preserve">β</m:t>
                      </m:r>
                      <m:r>
                        <m:t xml:space="preserve">=</m:t>
                      </m:r>
                      <m:r>
                        <m:rPr>
                          <m:lit/>
                          <m:nor/>
                        </m:rPr>
                        <m:t xml:space="preserve">20</m:t>
                      </m:r>
                      <m:r>
                        <m:rPr>
                          <m:lit/>
                          <m:nor/>
                        </m:rPr>
                        <m:t xml:space="preserve">dB</m:t>
                      </m:r>
                    </m:oMath>
                  </a14:m>
                </a:p>
              </p:txBody>
            </p:sp>
          </mc:Choice>
          <mc:Fallback>
            <p:sp>
              <p:nvSpPr>
                <p:cNvPr id="703" name="Object 59"/>
                <p:cNvSpPr txBox="1"/>
                <p:nvPr/>
              </p:nvSpPr>
              <p:spPr>
                <a:xfrm>
                  <a:off x="6462720" y="3564000"/>
                  <a:ext cx="1871640" cy="403200"/>
                </a:xfrm>
                <a:prstGeom prst="rect">
                  <a:avLst/>
                </a:prstGeom>
                <a:blipFill>
                  <a:blip r:embed="rId3"/>
                  <a:stretch>
                    <a:fillRect/>
                  </a:stretch>
                </a:blipFill>
              </p:spPr>
            </p:sp>
          </mc:Fallback>
        </mc:AlternateContent>
        <p:sp>
          <p:nvSpPr>
            <p:cNvPr id="704" name="AutoShape 106"/>
            <p:cNvSpPr/>
            <p:nvPr/>
          </p:nvSpPr>
          <p:spPr>
            <a:xfrm>
              <a:off x="7236000" y="3284640"/>
              <a:ext cx="215640" cy="215640"/>
            </a:xfrm>
            <a:prstGeom prst="downArrow">
              <a:avLst>
                <a:gd name="adj1" fmla="val 50000"/>
                <a:gd name="adj2" fmla="val 25000"/>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705" name="Group 123"/>
          <p:cNvGrpSpPr/>
          <p:nvPr/>
        </p:nvGrpSpPr>
        <p:grpSpPr>
          <a:xfrm>
            <a:off x="6877080" y="4005360"/>
            <a:ext cx="863640" cy="609480"/>
            <a:chOff x="6877080" y="4005360"/>
            <a:chExt cx="863640" cy="609480"/>
          </a:xfrm>
        </p:grpSpPr>
        <mc:AlternateContent>
          <mc:Choice xmlns:a14="http://schemas.microsoft.com/office/drawing/2010/main" Requires="a14">
            <p:sp>
              <p:nvSpPr>
                <p:cNvPr id="706" name="Object 105"/>
                <p:cNvSpPr txBox="1"/>
                <p:nvPr/>
              </p:nvSpPr>
              <p:spPr>
                <a:xfrm>
                  <a:off x="6877080" y="4221000"/>
                  <a:ext cx="863640" cy="393840"/>
                </a:xfrm>
                <a:prstGeom prst="rect">
                  <a:avLst/>
                </a:prstGeom>
              </p:spPr>
              <p:txBody>
                <a:bodyPr/>
                <a:p>
                  <a14:m>
                    <m:oMath xmlns:m="http://schemas.openxmlformats.org/officeDocument/2006/math">
                      <m:r>
                        <m:t xml:space="preserve">β</m:t>
                      </m:r>
                      <m:r>
                        <m:t xml:space="preserve">=</m:t>
                      </m:r>
                      <m:r>
                        <m:rPr>
                          <m:lit/>
                          <m:nor/>
                        </m:rPr>
                        <m:t xml:space="preserve">10</m:t>
                      </m:r>
                    </m:oMath>
                  </a14:m>
                </a:p>
              </p:txBody>
            </p:sp>
          </mc:Choice>
          <mc:Fallback>
            <p:sp>
              <p:nvSpPr>
                <p:cNvPr id="706" name="Object 105"/>
                <p:cNvSpPr txBox="1"/>
                <p:nvPr/>
              </p:nvSpPr>
              <p:spPr>
                <a:xfrm>
                  <a:off x="6877080" y="4221000"/>
                  <a:ext cx="863640" cy="393840"/>
                </a:xfrm>
                <a:prstGeom prst="rect">
                  <a:avLst/>
                </a:prstGeom>
                <a:blipFill>
                  <a:blip r:embed="rId4"/>
                  <a:stretch>
                    <a:fillRect/>
                  </a:stretch>
                </a:blipFill>
              </p:spPr>
            </p:sp>
          </mc:Fallback>
        </mc:AlternateContent>
        <p:sp>
          <p:nvSpPr>
            <p:cNvPr id="707" name="AutoShape 107"/>
            <p:cNvSpPr/>
            <p:nvPr/>
          </p:nvSpPr>
          <p:spPr>
            <a:xfrm>
              <a:off x="7236000" y="4005360"/>
              <a:ext cx="215640" cy="144360"/>
            </a:xfrm>
            <a:prstGeom prst="downArrow">
              <a:avLst>
                <a:gd name="adj1" fmla="val 50000"/>
                <a:gd name="adj2" fmla="val 25000"/>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708" name="Group 124"/>
          <p:cNvGrpSpPr/>
          <p:nvPr/>
        </p:nvGrpSpPr>
        <p:grpSpPr>
          <a:xfrm>
            <a:off x="6029640" y="4599000"/>
            <a:ext cx="2471400" cy="1819440"/>
            <a:chOff x="6029640" y="4599000"/>
            <a:chExt cx="2471400" cy="1819440"/>
          </a:xfrm>
        </p:grpSpPr>
        <p:sp>
          <p:nvSpPr>
            <p:cNvPr id="709" name="Rectangle 108"/>
            <p:cNvSpPr/>
            <p:nvPr/>
          </p:nvSpPr>
          <p:spPr>
            <a:xfrm>
              <a:off x="6029640" y="4599000"/>
              <a:ext cx="247140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校正装置的转折频率</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10" name="Object 109"/>
                <p:cNvSpPr txBox="1"/>
                <p:nvPr/>
              </p:nvSpPr>
              <p:spPr>
                <a:xfrm>
                  <a:off x="6443640" y="5013360"/>
                  <a:ext cx="1871640" cy="642960"/>
                </a:xfrm>
                <a:prstGeom prst="rect">
                  <a:avLst/>
                </a:prstGeom>
              </p:spPr>
              <p:txBody>
                <a:bodyPr/>
                <a:p>
                  <a14:m>
                    <m:oMath xmlns:m="http://schemas.openxmlformats.org/officeDocument/2006/math">
                      <m:sSub>
                        <m:e>
                          <m:r>
                            <m:t xml:space="preserve">ω</m:t>
                          </m:r>
                        </m:e>
                        <m:sub>
                          <m:r>
                            <m:t xml:space="preserve">2</m:t>
                          </m:r>
                        </m:sub>
                      </m:sSub>
                      <m:r>
                        <m:t xml:space="preserve">=</m:t>
                      </m:r>
                      <m:f>
                        <m:num>
                          <m:r>
                            <m:t xml:space="preserve">1</m:t>
                          </m:r>
                        </m:num>
                        <m:den>
                          <m:r>
                            <m:t xml:space="preserve">T</m:t>
                          </m:r>
                        </m:den>
                      </m:f>
                      <m:r>
                        <m:t xml:space="preserve">=</m:t>
                      </m:r>
                      <m:f>
                        <m:num>
                          <m:sSub>
                            <m:e>
                              <m:r>
                                <m:t xml:space="preserve">ω</m:t>
                              </m:r>
                            </m:e>
                            <m:sub>
                              <m:r>
                                <m:t xml:space="preserve">c</m:t>
                              </m:r>
                            </m:sub>
                          </m:sSub>
                        </m:num>
                        <m:den>
                          <m:r>
                            <m:t xml:space="preserve">5</m:t>
                          </m:r>
                        </m:den>
                      </m:f>
                      <m:r>
                        <m:t xml:space="preserve">=</m:t>
                      </m:r>
                      <m:r>
                        <m:t xml:space="preserve">0</m:t>
                      </m:r>
                      <m:r>
                        <m:rPr>
                          <m:lit/>
                          <m:nor/>
                        </m:rPr>
                        <m:t xml:space="preserve">.</m:t>
                      </m:r>
                      <m:r>
                        <m:t xml:space="preserve">1</m:t>
                      </m:r>
                    </m:oMath>
                  </a14:m>
                </a:p>
              </p:txBody>
            </p:sp>
          </mc:Choice>
          <mc:Fallback>
            <p:sp>
              <p:nvSpPr>
                <p:cNvPr id="710" name="Object 109"/>
                <p:cNvSpPr txBox="1"/>
                <p:nvPr/>
              </p:nvSpPr>
              <p:spPr>
                <a:xfrm>
                  <a:off x="6443640" y="5013360"/>
                  <a:ext cx="1871640" cy="642960"/>
                </a:xfrm>
                <a:prstGeom prst="rect">
                  <a:avLst/>
                </a:prstGeom>
                <a:blipFill>
                  <a:blip r:embed="rId5"/>
                  <a:stretch>
                    <a:fillRect/>
                  </a:stretch>
                </a:blipFill>
              </p:spPr>
            </p:sp>
          </mc:Fallback>
        </mc:AlternateContent>
        <mc:AlternateContent>
          <mc:Choice xmlns:a14="http://schemas.microsoft.com/office/drawing/2010/main" Requires="a14">
            <p:sp>
              <p:nvSpPr>
                <p:cNvPr id="711" name="Object 110"/>
                <p:cNvSpPr txBox="1"/>
                <p:nvPr/>
              </p:nvSpPr>
              <p:spPr>
                <a:xfrm>
                  <a:off x="6516720" y="5734080"/>
                  <a:ext cx="1579680" cy="684360"/>
                </a:xfrm>
                <a:prstGeom prst="rect">
                  <a:avLst/>
                </a:prstGeom>
              </p:spPr>
              <p:txBody>
                <a:bodyPr/>
                <a:p>
                  <a14:m>
                    <m:oMath xmlns:m="http://schemas.openxmlformats.org/officeDocument/2006/math">
                      <m:sSub>
                        <m:e>
                          <m:r>
                            <m:t xml:space="preserve">ω</m:t>
                          </m:r>
                        </m:e>
                        <m:sub>
                          <m:r>
                            <m:t xml:space="preserve">1</m:t>
                          </m:r>
                        </m:sub>
                      </m:sSub>
                      <m:r>
                        <m:t xml:space="preserve">=</m:t>
                      </m:r>
                      <m:f>
                        <m:num>
                          <m:r>
                            <m:t xml:space="preserve">1</m:t>
                          </m:r>
                        </m:num>
                        <m:den>
                          <m:r>
                            <m:t xml:space="preserve">βT</m:t>
                          </m:r>
                        </m:den>
                      </m:f>
                      <m:r>
                        <m:t xml:space="preserve">=</m:t>
                      </m:r>
                      <m:r>
                        <m:t xml:space="preserve">0</m:t>
                      </m:r>
                      <m:r>
                        <m:rPr>
                          <m:lit/>
                          <m:nor/>
                        </m:rPr>
                        <m:t xml:space="preserve">.</m:t>
                      </m:r>
                      <m:r>
                        <m:rPr>
                          <m:lit/>
                          <m:nor/>
                        </m:rPr>
                        <m:t xml:space="preserve">01</m:t>
                      </m:r>
                    </m:oMath>
                  </a14:m>
                </a:p>
              </p:txBody>
            </p:sp>
          </mc:Choice>
          <mc:Fallback>
            <p:sp>
              <p:nvSpPr>
                <p:cNvPr id="711" name="Object 110"/>
                <p:cNvSpPr txBox="1"/>
                <p:nvPr/>
              </p:nvSpPr>
              <p:spPr>
                <a:xfrm>
                  <a:off x="6516720" y="5734080"/>
                  <a:ext cx="1579680" cy="684360"/>
                </a:xfrm>
                <a:prstGeom prst="rect">
                  <a:avLst/>
                </a:prstGeom>
                <a:blipFill>
                  <a:blip r:embed="rId6"/>
                  <a:stretch>
                    <a:fillRect/>
                  </a:stretch>
                </a:blipFill>
              </p:spPr>
            </p:sp>
          </mc:Fallback>
        </mc:AlternateContent>
      </p:grpSp>
      <p:grpSp>
        <p:nvGrpSpPr>
          <p:cNvPr id="712" name="Group 129"/>
          <p:cNvGrpSpPr/>
          <p:nvPr/>
        </p:nvGrpSpPr>
        <p:grpSpPr>
          <a:xfrm>
            <a:off x="162000" y="2664000"/>
            <a:ext cx="4707000" cy="3690000"/>
            <a:chOff x="162000" y="2664000"/>
            <a:chExt cx="4707000" cy="3690000"/>
          </a:xfrm>
        </p:grpSpPr>
        <p:grpSp>
          <p:nvGrpSpPr>
            <p:cNvPr id="713" name="Group 120"/>
            <p:cNvGrpSpPr/>
            <p:nvPr/>
          </p:nvGrpSpPr>
          <p:grpSpPr>
            <a:xfrm>
              <a:off x="162000" y="2664000"/>
              <a:ext cx="4707000" cy="3690000"/>
              <a:chOff x="162000" y="2664000"/>
              <a:chExt cx="4707000" cy="3690000"/>
            </a:xfrm>
          </p:grpSpPr>
          <p:sp>
            <p:nvSpPr>
              <p:cNvPr id="714" name="Line 67"/>
              <p:cNvSpPr/>
              <p:nvPr/>
            </p:nvSpPr>
            <p:spPr>
              <a:xfrm>
                <a:off x="543240" y="2664000"/>
                <a:ext cx="1148040" cy="123156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15" name="Line 69"/>
              <p:cNvSpPr/>
              <p:nvPr/>
            </p:nvSpPr>
            <p:spPr>
              <a:xfrm>
                <a:off x="1691280" y="3895560"/>
                <a:ext cx="1219320" cy="65196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16" name="Line 71"/>
              <p:cNvSpPr/>
              <p:nvPr/>
            </p:nvSpPr>
            <p:spPr>
              <a:xfrm>
                <a:off x="3413880" y="5127120"/>
                <a:ext cx="573840" cy="115992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17" name="Freeform 96"/>
              <p:cNvSpPr/>
              <p:nvPr/>
            </p:nvSpPr>
            <p:spPr>
              <a:xfrm>
                <a:off x="162000" y="5153040"/>
                <a:ext cx="4707000" cy="1200960"/>
              </a:xfrm>
              <a:custGeom>
                <a:avLst/>
                <a:gdLst>
                  <a:gd name="GluePoint1X" fmla="*/ 0 w 2976"/>
                  <a:gd name="GluePoint1Y" fmla="*/ 0 h 752"/>
                  <a:gd name="GluePoint2X" fmla="*/ 200 w 2976"/>
                  <a:gd name="GluePoint2Y" fmla="*/ 92 h 752"/>
                  <a:gd name="GluePoint3X" fmla="*/ 376 w 2976"/>
                  <a:gd name="GluePoint3Y" fmla="*/ 190 h 752"/>
                  <a:gd name="GluePoint4X" fmla="*/ 496 w 2976"/>
                  <a:gd name="GluePoint4Y" fmla="*/ 233 h 752"/>
                  <a:gd name="GluePoint5X" fmla="*/ 648 w 2976"/>
                  <a:gd name="GluePoint5Y" fmla="*/ 225 h 752"/>
                  <a:gd name="GluePoint6X" fmla="*/ 784 w 2976"/>
                  <a:gd name="GluePoint6Y" fmla="*/ 190 h 752"/>
                  <a:gd name="GluePoint7X" fmla="*/ 1016 w 2976"/>
                  <a:gd name="GluePoint7Y" fmla="*/ 106 h 752"/>
                  <a:gd name="GluePoint8X" fmla="*/ 1200 w 2976"/>
                  <a:gd name="GluePoint8Y" fmla="*/ 78 h 752"/>
                  <a:gd name="GluePoint9X" fmla="*/ 1496 w 2976"/>
                  <a:gd name="GluePoint9Y" fmla="*/ 78 h 752"/>
                  <a:gd name="GluePoint10X" fmla="*/ 1768 w 2976"/>
                  <a:gd name="GluePoint10Y" fmla="*/ 184 h 752"/>
                  <a:gd name="GluePoint11X" fmla="*/ 1952 w 2976"/>
                  <a:gd name="GluePoint11Y" fmla="*/ 344 h 752"/>
                  <a:gd name="GluePoint12X" fmla="*/ 2192 w 2976"/>
                  <a:gd name="GluePoint12Y" fmla="*/ 536 h 752"/>
                  <a:gd name="GluePoint13X" fmla="*/ 2536 w 2976"/>
                  <a:gd name="GluePoint13Y" fmla="*/ 672 h 752"/>
                  <a:gd name="GluePoint14X" fmla="*/ 2976 w 2976"/>
                  <a:gd name="GluePoint14Y" fmla="*/ 752 h 75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l" t="t" r="r" b="b"/>
                <a:pathLst>
                  <a:path w="2976" h="752">
                    <a:moveTo>
                      <a:pt x="0" y="0"/>
                    </a:moveTo>
                    <a:cubicBezTo>
                      <a:pt x="33" y="17"/>
                      <a:pt x="137" y="60"/>
                      <a:pt x="200" y="92"/>
                    </a:cubicBezTo>
                    <a:cubicBezTo>
                      <a:pt x="263" y="123"/>
                      <a:pt x="327" y="166"/>
                      <a:pt x="376" y="190"/>
                    </a:cubicBezTo>
                    <a:cubicBezTo>
                      <a:pt x="425" y="214"/>
                      <a:pt x="451" y="226"/>
                      <a:pt x="496" y="233"/>
                    </a:cubicBezTo>
                    <a:cubicBezTo>
                      <a:pt x="541" y="239"/>
                      <a:pt x="600" y="233"/>
                      <a:pt x="648" y="225"/>
                    </a:cubicBezTo>
                    <a:cubicBezTo>
                      <a:pt x="696" y="218"/>
                      <a:pt x="723" y="211"/>
                      <a:pt x="784" y="190"/>
                    </a:cubicBezTo>
                    <a:cubicBezTo>
                      <a:pt x="845" y="170"/>
                      <a:pt x="947" y="124"/>
                      <a:pt x="1016" y="106"/>
                    </a:cubicBezTo>
                    <a:cubicBezTo>
                      <a:pt x="1085" y="87"/>
                      <a:pt x="1120" y="82"/>
                      <a:pt x="1200" y="78"/>
                    </a:cubicBezTo>
                    <a:cubicBezTo>
                      <a:pt x="1280" y="73"/>
                      <a:pt x="1401" y="60"/>
                      <a:pt x="1496" y="78"/>
                    </a:cubicBezTo>
                    <a:cubicBezTo>
                      <a:pt x="1591" y="96"/>
                      <a:pt x="1692" y="140"/>
                      <a:pt x="1768" y="184"/>
                    </a:cubicBezTo>
                    <a:cubicBezTo>
                      <a:pt x="1844" y="228"/>
                      <a:pt x="1881" y="285"/>
                      <a:pt x="1952" y="344"/>
                    </a:cubicBezTo>
                    <a:cubicBezTo>
                      <a:pt x="2023" y="403"/>
                      <a:pt x="2095" y="481"/>
                      <a:pt x="2192" y="536"/>
                    </a:cubicBezTo>
                    <a:cubicBezTo>
                      <a:pt x="2289" y="591"/>
                      <a:pt x="2405" y="636"/>
                      <a:pt x="2536" y="672"/>
                    </a:cubicBezTo>
                    <a:cubicBezTo>
                      <a:pt x="2667" y="708"/>
                      <a:pt x="2884" y="735"/>
                      <a:pt x="2976" y="752"/>
                    </a:cubicBezTo>
                  </a:path>
                </a:pathLst>
              </a:custGeom>
              <a:noFill/>
              <a:ln w="25560">
                <a:solidFill>
                  <a:srgbClr val="8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718" name="Line 70"/>
            <p:cNvSpPr/>
            <p:nvPr/>
          </p:nvSpPr>
          <p:spPr>
            <a:xfrm>
              <a:off x="2898000" y="4565160"/>
              <a:ext cx="502560" cy="57960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719" name="Group 117"/>
          <p:cNvGrpSpPr/>
          <p:nvPr/>
        </p:nvGrpSpPr>
        <p:grpSpPr>
          <a:xfrm>
            <a:off x="2502000" y="4284720"/>
            <a:ext cx="88920" cy="946080"/>
            <a:chOff x="2502000" y="4284720"/>
            <a:chExt cx="88920" cy="946080"/>
          </a:xfrm>
        </p:grpSpPr>
        <p:sp>
          <p:nvSpPr>
            <p:cNvPr id="720" name="Oval 115"/>
            <p:cNvSpPr/>
            <p:nvPr/>
          </p:nvSpPr>
          <p:spPr>
            <a:xfrm>
              <a:off x="2502000" y="4284720"/>
              <a:ext cx="88920" cy="88920"/>
            </a:xfrm>
            <a:prstGeom prst="ellipse">
              <a:avLst/>
            </a:prstGeom>
            <a:solidFill>
              <a:srgbClr val="FF0000"/>
            </a:solidFill>
            <a:ln w="0">
              <a:noFill/>
            </a:ln>
          </p:spPr>
          <p:style>
            <a:lnRef idx="0"/>
            <a:fillRef idx="0"/>
            <a:effectRef idx="0"/>
            <a:fontRef idx="minor"/>
          </p:style>
          <p:txBody>
            <a:bodyPr wrap="none" lIns="90000" tIns="16200" rIns="90000" bIns="162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21" name="Line 116"/>
            <p:cNvSpPr/>
            <p:nvPr/>
          </p:nvSpPr>
          <p:spPr>
            <a:xfrm>
              <a:off x="2546640" y="4330800"/>
              <a:ext cx="0" cy="900000"/>
            </a:xfrm>
            <a:prstGeom prst="line">
              <a:avLst/>
            </a:prstGeom>
            <a:ln w="19080">
              <a:solidFill>
                <a:srgbClr val="0000FF"/>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722" name="Text Box 127"/>
          <p:cNvSpPr/>
          <p:nvPr/>
        </p:nvSpPr>
        <p:spPr>
          <a:xfrm>
            <a:off x="8307360" y="4373640"/>
            <a:ext cx="539640" cy="398880"/>
          </a:xfrm>
          <a:prstGeom prst="rect">
            <a:avLst/>
          </a:prstGeom>
          <a:noFill/>
          <a:ln w="0">
            <a:noFill/>
          </a:ln>
        </p:spPr>
        <p:style>
          <a:lnRef idx="0"/>
          <a:fillRef idx="0"/>
          <a:effectRef idx="0"/>
          <a:fontRef idx="minor"/>
        </p:style>
        <p:txBody>
          <a:bodyPr lIns="90000" tIns="46800" rIns="90000" bIns="46800" anchor="t">
            <a:spAutoFit/>
          </a:bodyPr>
          <a:p>
            <a:pPr>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990000"/>
                </a:solidFill>
                <a:effectLst/>
                <a:uFillTx/>
                <a:latin typeface="Times New Roman"/>
              </a:rPr>
              <a:t>？</a:t>
            </a:r>
            <a:endParaRPr lang="en-US" sz="2000" b="0" u="none" strike="noStrike">
              <a:solidFill>
                <a:srgbClr val="000000"/>
              </a:solidFill>
              <a:effectLst/>
              <a:uFillTx/>
              <a:latin typeface="Times New Roman"/>
            </a:endParaRPr>
          </a:p>
        </p:txBody>
      </p:sp>
      <p:grpSp>
        <p:nvGrpSpPr>
          <p:cNvPr id="723" name="Group 128"/>
          <p:cNvGrpSpPr/>
          <p:nvPr/>
        </p:nvGrpSpPr>
        <p:grpSpPr>
          <a:xfrm>
            <a:off x="0" y="2124000"/>
            <a:ext cx="6218280" cy="4392360"/>
            <a:chOff x="0" y="2124000"/>
            <a:chExt cx="6218280" cy="4392360"/>
          </a:xfrm>
        </p:grpSpPr>
        <p:sp>
          <p:nvSpPr>
            <p:cNvPr id="724" name="Rectangle 6"/>
            <p:cNvSpPr/>
            <p:nvPr/>
          </p:nvSpPr>
          <p:spPr>
            <a:xfrm>
              <a:off x="503280" y="2412720"/>
              <a:ext cx="4968720" cy="410364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25" name="Line 7"/>
            <p:cNvSpPr/>
            <p:nvPr/>
          </p:nvSpPr>
          <p:spPr>
            <a:xfrm>
              <a:off x="503280" y="4356000"/>
              <a:ext cx="49687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6" name="Line 8"/>
            <p:cNvSpPr/>
            <p:nvPr/>
          </p:nvSpPr>
          <p:spPr>
            <a:xfrm>
              <a:off x="503280" y="370836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7" name="Line 9"/>
            <p:cNvSpPr/>
            <p:nvPr/>
          </p:nvSpPr>
          <p:spPr>
            <a:xfrm>
              <a:off x="503280" y="306036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8" name="Line 10"/>
            <p:cNvSpPr/>
            <p:nvPr/>
          </p:nvSpPr>
          <p:spPr>
            <a:xfrm>
              <a:off x="503280" y="507672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29" name="Line 11"/>
            <p:cNvSpPr/>
            <p:nvPr/>
          </p:nvSpPr>
          <p:spPr>
            <a:xfrm>
              <a:off x="503280" y="5795640"/>
              <a:ext cx="49687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30" name="Line 12"/>
            <p:cNvSpPr/>
            <p:nvPr/>
          </p:nvSpPr>
          <p:spPr>
            <a:xfrm>
              <a:off x="2879640" y="2412720"/>
              <a:ext cx="0" cy="410364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31" name="Line 13"/>
            <p:cNvSpPr/>
            <p:nvPr/>
          </p:nvSpPr>
          <p:spPr>
            <a:xfrm>
              <a:off x="4176720" y="2412720"/>
              <a:ext cx="0" cy="410364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32" name="Line 16"/>
            <p:cNvSpPr/>
            <p:nvPr/>
          </p:nvSpPr>
          <p:spPr>
            <a:xfrm>
              <a:off x="1655640" y="2412720"/>
              <a:ext cx="0" cy="410364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733" name="Object 18"/>
                <p:cNvSpPr txBox="1"/>
                <p:nvPr/>
              </p:nvSpPr>
              <p:spPr>
                <a:xfrm>
                  <a:off x="503280" y="2124000"/>
                  <a:ext cx="744480" cy="284040"/>
                </a:xfrm>
                <a:prstGeom prst="rect">
                  <a:avLst/>
                </a:prstGeom>
              </p:spPr>
              <p:txBody>
                <a:bodyPr/>
                <a:p>
                  <a14:m>
                    <m:oMath xmlns:m="http://schemas.openxmlformats.org/officeDocument/2006/math">
                      <m:r>
                        <m:t xml:space="preserve">L</m:t>
                      </m:r>
                      <m:r>
                        <m:t xml:space="preserve">(</m:t>
                      </m:r>
                      <m:r>
                        <m:t xml:space="preserve">ω</m:t>
                      </m:r>
                      <m:r>
                        <m:t xml:space="preserve">)</m:t>
                      </m:r>
                      <m:r>
                        <m:rPr>
                          <m:lit/>
                          <m:nor/>
                        </m:rPr>
                        <m:t xml:space="preserve">dB</m:t>
                      </m:r>
                    </m:oMath>
                  </a14:m>
                </a:p>
              </p:txBody>
            </p:sp>
          </mc:Choice>
          <mc:Fallback>
            <p:sp>
              <p:nvSpPr>
                <p:cNvPr id="733" name="Object 18"/>
                <p:cNvSpPr txBox="1"/>
                <p:nvPr/>
              </p:nvSpPr>
              <p:spPr>
                <a:xfrm>
                  <a:off x="503280" y="2124000"/>
                  <a:ext cx="744480" cy="284040"/>
                </a:xfrm>
                <a:prstGeom prst="rect">
                  <a:avLst/>
                </a:prstGeom>
                <a:blipFill>
                  <a:blip r:embed="rId7"/>
                  <a:stretch>
                    <a:fillRect/>
                  </a:stretch>
                </a:blipFill>
              </p:spPr>
            </p:sp>
          </mc:Fallback>
        </mc:AlternateContent>
        <mc:AlternateContent>
          <mc:Choice xmlns:a14="http://schemas.microsoft.com/office/drawing/2010/main" Requires="a14">
            <p:sp>
              <p:nvSpPr>
                <p:cNvPr id="734" name="Object 20"/>
                <p:cNvSpPr txBox="1"/>
                <p:nvPr/>
              </p:nvSpPr>
              <p:spPr>
                <a:xfrm>
                  <a:off x="5256000" y="2124000"/>
                  <a:ext cx="497160" cy="284040"/>
                </a:xfrm>
                <a:prstGeom prst="rect">
                  <a:avLst/>
                </a:prstGeom>
              </p:spPr>
              <p:txBody>
                <a:bodyPr/>
                <a:p>
                  <a14:m>
                    <m:oMath xmlns:m="http://schemas.openxmlformats.org/officeDocument/2006/math">
                      <m:r>
                        <m:t xml:space="preserve">ϕ</m:t>
                      </m:r>
                      <m:r>
                        <m:t xml:space="preserve">(</m:t>
                      </m:r>
                      <m:r>
                        <m:t xml:space="preserve">ω</m:t>
                      </m:r>
                      <m:r>
                        <m:t xml:space="preserve">)</m:t>
                      </m:r>
                    </m:oMath>
                  </a14:m>
                </a:p>
              </p:txBody>
            </p:sp>
          </mc:Choice>
          <mc:Fallback>
            <p:sp>
              <p:nvSpPr>
                <p:cNvPr id="734" name="Object 20"/>
                <p:cNvSpPr txBox="1"/>
                <p:nvPr/>
              </p:nvSpPr>
              <p:spPr>
                <a:xfrm>
                  <a:off x="5256000" y="2124000"/>
                  <a:ext cx="497160" cy="284040"/>
                </a:xfrm>
                <a:prstGeom prst="rect">
                  <a:avLst/>
                </a:prstGeom>
                <a:blipFill>
                  <a:blip r:embed="rId8"/>
                  <a:stretch>
                    <a:fillRect/>
                  </a:stretch>
                </a:blipFill>
              </p:spPr>
            </p:sp>
          </mc:Fallback>
        </mc:AlternateContent>
        <p:sp>
          <p:nvSpPr>
            <p:cNvPr id="735" name="Text Box 21"/>
            <p:cNvSpPr/>
            <p:nvPr/>
          </p:nvSpPr>
          <p:spPr>
            <a:xfrm>
              <a:off x="431640" y="4356000"/>
              <a:ext cx="57636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0.01</a:t>
              </a:r>
              <a:endParaRPr lang="en-US" sz="2000" b="0" u="none" strike="noStrike">
                <a:solidFill>
                  <a:srgbClr val="000000"/>
                </a:solidFill>
                <a:effectLst/>
                <a:uFillTx/>
                <a:latin typeface="Times New Roman"/>
              </a:endParaRPr>
            </a:p>
          </p:txBody>
        </p:sp>
        <p:sp>
          <p:nvSpPr>
            <p:cNvPr id="736" name="Text Box 22"/>
            <p:cNvSpPr/>
            <p:nvPr/>
          </p:nvSpPr>
          <p:spPr>
            <a:xfrm>
              <a:off x="142920" y="3563640"/>
              <a:ext cx="4330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737" name="Text Box 23"/>
            <p:cNvSpPr/>
            <p:nvPr/>
          </p:nvSpPr>
          <p:spPr>
            <a:xfrm>
              <a:off x="142920" y="2916000"/>
              <a:ext cx="4330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738" name="Text Box 24"/>
            <p:cNvSpPr/>
            <p:nvPr/>
          </p:nvSpPr>
          <p:spPr>
            <a:xfrm>
              <a:off x="0" y="5653080"/>
              <a:ext cx="57600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739" name="Text Box 25"/>
            <p:cNvSpPr/>
            <p:nvPr/>
          </p:nvSpPr>
          <p:spPr>
            <a:xfrm>
              <a:off x="0" y="4932360"/>
              <a:ext cx="50472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40" name="Object 27"/>
                <p:cNvSpPr txBox="1"/>
                <p:nvPr/>
              </p:nvSpPr>
              <p:spPr>
                <a:xfrm>
                  <a:off x="5543640" y="4284360"/>
                  <a:ext cx="212400" cy="195480"/>
                </a:xfrm>
                <a:prstGeom prst="rect">
                  <a:avLst/>
                </a:prstGeom>
              </p:spPr>
              <p:txBody>
                <a:bodyPr/>
                <a:p>
                  <a14:m>
                    <m:oMath xmlns:m="http://schemas.openxmlformats.org/officeDocument/2006/math">
                      <m:r>
                        <m:t xml:space="preserve">ω</m:t>
                      </m:r>
                    </m:oMath>
                  </a14:m>
                </a:p>
              </p:txBody>
            </p:sp>
          </mc:Choice>
          <mc:Fallback>
            <p:sp>
              <p:nvSpPr>
                <p:cNvPr id="740" name="Object 27"/>
                <p:cNvSpPr txBox="1"/>
                <p:nvPr/>
              </p:nvSpPr>
              <p:spPr>
                <a:xfrm>
                  <a:off x="5543640" y="4284360"/>
                  <a:ext cx="212400" cy="195480"/>
                </a:xfrm>
                <a:prstGeom prst="rect">
                  <a:avLst/>
                </a:prstGeom>
                <a:blipFill>
                  <a:blip r:embed="rId9"/>
                  <a:stretch>
                    <a:fillRect/>
                  </a:stretch>
                </a:blipFill>
              </p:spPr>
            </p:sp>
          </mc:Fallback>
        </mc:AlternateContent>
        <p:sp>
          <p:nvSpPr>
            <p:cNvPr id="741" name="Text Box 29"/>
            <p:cNvSpPr/>
            <p:nvPr/>
          </p:nvSpPr>
          <p:spPr>
            <a:xfrm>
              <a:off x="5400720" y="2916000"/>
              <a:ext cx="503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742" name="Text Box 30"/>
            <p:cNvSpPr/>
            <p:nvPr/>
          </p:nvSpPr>
          <p:spPr>
            <a:xfrm>
              <a:off x="5472000" y="3563640"/>
              <a:ext cx="50328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743" name="Text Box 31"/>
            <p:cNvSpPr/>
            <p:nvPr/>
          </p:nvSpPr>
          <p:spPr>
            <a:xfrm>
              <a:off x="1655640" y="4356000"/>
              <a:ext cx="57636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0.1</a:t>
              </a:r>
              <a:endParaRPr lang="en-US" sz="2000" b="0" u="none" strike="noStrike">
                <a:solidFill>
                  <a:srgbClr val="000000"/>
                </a:solidFill>
                <a:effectLst/>
                <a:uFillTx/>
                <a:latin typeface="Times New Roman"/>
              </a:endParaRPr>
            </a:p>
          </p:txBody>
        </p:sp>
        <p:sp>
          <p:nvSpPr>
            <p:cNvPr id="744" name="Text Box 32"/>
            <p:cNvSpPr/>
            <p:nvPr/>
          </p:nvSpPr>
          <p:spPr>
            <a:xfrm>
              <a:off x="2879640" y="4356000"/>
              <a:ext cx="72072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a:t>
              </a:r>
              <a:endParaRPr lang="en-US" sz="2000" b="0" u="none" strike="noStrike">
                <a:solidFill>
                  <a:srgbClr val="000000"/>
                </a:solidFill>
                <a:effectLst/>
                <a:uFillTx/>
                <a:latin typeface="Times New Roman"/>
              </a:endParaRPr>
            </a:p>
          </p:txBody>
        </p:sp>
        <p:sp>
          <p:nvSpPr>
            <p:cNvPr id="745" name="Text Box 33"/>
            <p:cNvSpPr/>
            <p:nvPr/>
          </p:nvSpPr>
          <p:spPr>
            <a:xfrm>
              <a:off x="4103640" y="4356000"/>
              <a:ext cx="50472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a:t>
              </a:r>
              <a:endParaRPr lang="en-US" sz="2000" b="0" u="none" strike="noStrike">
                <a:solidFill>
                  <a:srgbClr val="000000"/>
                </a:solidFill>
                <a:effectLst/>
                <a:uFillTx/>
                <a:latin typeface="Times New Roman"/>
              </a:endParaRPr>
            </a:p>
          </p:txBody>
        </p:sp>
        <p:sp>
          <p:nvSpPr>
            <p:cNvPr id="746" name="Line 35"/>
            <p:cNvSpPr/>
            <p:nvPr/>
          </p:nvSpPr>
          <p:spPr>
            <a:xfrm>
              <a:off x="287280" y="2555640"/>
              <a:ext cx="2592360" cy="136692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47" name="Line 48"/>
            <p:cNvSpPr/>
            <p:nvPr/>
          </p:nvSpPr>
          <p:spPr>
            <a:xfrm>
              <a:off x="2879640" y="3922560"/>
              <a:ext cx="431640" cy="43344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48" name="Line 50"/>
            <p:cNvSpPr/>
            <p:nvPr/>
          </p:nvSpPr>
          <p:spPr>
            <a:xfrm>
              <a:off x="3311280" y="4356000"/>
              <a:ext cx="1224000" cy="215892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749" name="Object 56"/>
                <p:cNvSpPr txBox="1"/>
                <p:nvPr/>
              </p:nvSpPr>
              <p:spPr>
                <a:xfrm>
                  <a:off x="1695240" y="3076560"/>
                  <a:ext cx="1098720" cy="247320"/>
                </a:xfrm>
                <a:prstGeom prst="rect">
                  <a:avLst/>
                </a:prstGeom>
              </p:spPr>
              <p:txBody>
                <a:bodyPr/>
                <a:p>
                  <a14:m>
                    <m:oMath xmlns:m="http://schemas.openxmlformats.org/officeDocument/2006/math">
                      <m:r>
                        <m:t xml:space="preserve">−</m:t>
                      </m:r>
                      <m:r>
                        <m:rPr>
                          <m:lit/>
                          <m:nor/>
                        </m:rPr>
                        <m:t xml:space="preserve">20</m:t>
                      </m:r>
                      <m:f>
                        <m:fPr>
                          <m:type m:val="lin"/>
                        </m:fPr>
                        <m:num>
                          <m:r>
                            <m:rPr>
                              <m:lit/>
                              <m:nor/>
                            </m:rPr>
                            <m:t xml:space="preserve">dB</m:t>
                          </m:r>
                        </m:num>
                        <m:den>
                          <m:r>
                            <m:rPr>
                              <m:lit/>
                              <m:nor/>
                            </m:rPr>
                            <m:t xml:space="preserve">dec</m:t>
                          </m:r>
                        </m:den>
                      </m:f>
                    </m:oMath>
                  </a14:m>
                </a:p>
              </p:txBody>
            </p:sp>
          </mc:Choice>
          <mc:Fallback>
            <p:sp>
              <p:nvSpPr>
                <p:cNvPr id="749" name="Object 56"/>
                <p:cNvSpPr txBox="1"/>
                <p:nvPr/>
              </p:nvSpPr>
              <p:spPr>
                <a:xfrm>
                  <a:off x="1695240" y="3076560"/>
                  <a:ext cx="1098720" cy="247320"/>
                </a:xfrm>
                <a:prstGeom prst="rect">
                  <a:avLst/>
                </a:prstGeom>
                <a:blipFill>
                  <a:blip r:embed="rId10"/>
                  <a:stretch>
                    <a:fillRect/>
                  </a:stretch>
                </a:blipFill>
              </p:spPr>
            </p:sp>
          </mc:Fallback>
        </mc:AlternateContent>
        <mc:AlternateContent>
          <mc:Choice xmlns:a14="http://schemas.microsoft.com/office/drawing/2010/main" Requires="a14">
            <p:sp>
              <p:nvSpPr>
                <p:cNvPr id="750" name="Object 57"/>
                <p:cNvSpPr txBox="1"/>
                <p:nvPr/>
              </p:nvSpPr>
              <p:spPr>
                <a:xfrm>
                  <a:off x="3168720" y="3922560"/>
                  <a:ext cx="1098360" cy="247680"/>
                </a:xfrm>
                <a:prstGeom prst="rect">
                  <a:avLst/>
                </a:prstGeom>
              </p:spPr>
              <p:txBody>
                <a:bodyPr/>
                <a:p>
                  <a14:m>
                    <m:oMath xmlns:m="http://schemas.openxmlformats.org/officeDocument/2006/math">
                      <m:r>
                        <m:t xml:space="preserve">−</m:t>
                      </m:r>
                      <m:r>
                        <m:rPr>
                          <m:lit/>
                          <m:nor/>
                        </m:rPr>
                        <m:t xml:space="preserve">40</m:t>
                      </m:r>
                      <m:f>
                        <m:fPr>
                          <m:type m:val="lin"/>
                        </m:fPr>
                        <m:num>
                          <m:r>
                            <m:rPr>
                              <m:lit/>
                              <m:nor/>
                            </m:rPr>
                            <m:t xml:space="preserve">dB</m:t>
                          </m:r>
                        </m:num>
                        <m:den>
                          <m:r>
                            <m:rPr>
                              <m:lit/>
                              <m:nor/>
                            </m:rPr>
                            <m:t xml:space="preserve">dec</m:t>
                          </m:r>
                        </m:den>
                      </m:f>
                    </m:oMath>
                  </a14:m>
                </a:p>
              </p:txBody>
            </p:sp>
          </mc:Choice>
          <mc:Fallback>
            <p:sp>
              <p:nvSpPr>
                <p:cNvPr id="750" name="Object 57"/>
                <p:cNvSpPr txBox="1"/>
                <p:nvPr/>
              </p:nvSpPr>
              <p:spPr>
                <a:xfrm>
                  <a:off x="3168720" y="3922560"/>
                  <a:ext cx="1098360" cy="247680"/>
                </a:xfrm>
                <a:prstGeom prst="rect">
                  <a:avLst/>
                </a:prstGeom>
                <a:blipFill>
                  <a:blip r:embed="rId11"/>
                  <a:stretch>
                    <a:fillRect/>
                  </a:stretch>
                </a:blipFill>
              </p:spPr>
            </p:sp>
          </mc:Fallback>
        </mc:AlternateContent>
        <mc:AlternateContent>
          <mc:Choice xmlns:a14="http://schemas.microsoft.com/office/drawing/2010/main" Requires="a14">
            <p:sp>
              <p:nvSpPr>
                <p:cNvPr id="751" name="Object 58"/>
                <p:cNvSpPr txBox="1"/>
                <p:nvPr/>
              </p:nvSpPr>
              <p:spPr>
                <a:xfrm>
                  <a:off x="3960720" y="5219640"/>
                  <a:ext cx="1098720" cy="247680"/>
                </a:xfrm>
                <a:prstGeom prst="rect">
                  <a:avLst/>
                </a:prstGeom>
              </p:spPr>
              <p:txBody>
                <a:bodyPr/>
                <a:p>
                  <a14:m>
                    <m:oMath xmlns:m="http://schemas.openxmlformats.org/officeDocument/2006/math">
                      <m:r>
                        <m:t xml:space="preserve">−</m:t>
                      </m:r>
                      <m:r>
                        <m:rPr>
                          <m:lit/>
                          <m:nor/>
                        </m:rPr>
                        <m:t xml:space="preserve">60</m:t>
                      </m:r>
                      <m:f>
                        <m:fPr>
                          <m:type m:val="lin"/>
                        </m:fPr>
                        <m:num>
                          <m:r>
                            <m:rPr>
                              <m:lit/>
                              <m:nor/>
                            </m:rPr>
                            <m:t xml:space="preserve">dB</m:t>
                          </m:r>
                        </m:num>
                        <m:den>
                          <m:r>
                            <m:rPr>
                              <m:lit/>
                              <m:nor/>
                            </m:rPr>
                            <m:t xml:space="preserve">dec</m:t>
                          </m:r>
                        </m:den>
                      </m:f>
                    </m:oMath>
                  </a14:m>
                </a:p>
              </p:txBody>
            </p:sp>
          </mc:Choice>
          <mc:Fallback>
            <p:sp>
              <p:nvSpPr>
                <p:cNvPr id="751" name="Object 58"/>
                <p:cNvSpPr txBox="1"/>
                <p:nvPr/>
              </p:nvSpPr>
              <p:spPr>
                <a:xfrm>
                  <a:off x="3960720" y="5219640"/>
                  <a:ext cx="1098720" cy="247680"/>
                </a:xfrm>
                <a:prstGeom prst="rect">
                  <a:avLst/>
                </a:prstGeom>
                <a:blipFill>
                  <a:blip r:embed="rId12"/>
                  <a:stretch>
                    <a:fillRect/>
                  </a:stretch>
                </a:blipFill>
              </p:spPr>
            </p:sp>
          </mc:Fallback>
        </mc:AlternateContent>
        <p:sp>
          <p:nvSpPr>
            <p:cNvPr id="752" name="Text Box 26"/>
            <p:cNvSpPr/>
            <p:nvPr/>
          </p:nvSpPr>
          <p:spPr>
            <a:xfrm>
              <a:off x="5354640" y="5634000"/>
              <a:ext cx="863640" cy="70380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753" name="Text Box 28"/>
            <p:cNvSpPr/>
            <p:nvPr/>
          </p:nvSpPr>
          <p:spPr>
            <a:xfrm>
              <a:off x="5354640" y="4913280"/>
              <a:ext cx="86364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754" name="Freeform 77"/>
            <p:cNvSpPr/>
            <p:nvPr/>
          </p:nvSpPr>
          <p:spPr>
            <a:xfrm>
              <a:off x="1241280" y="5128920"/>
              <a:ext cx="4032360" cy="1297080"/>
            </a:xfrm>
            <a:custGeom>
              <a:avLst/>
              <a:gdLst>
                <a:gd name="GluePoint1X" fmla="*/ 0 w 861"/>
                <a:gd name="GluePoint1Y" fmla="*/ 73 h 370"/>
                <a:gd name="GluePoint2X" fmla="*/ 2316 w 861"/>
                <a:gd name="GluePoint2Y" fmla="*/ 73 h 370"/>
                <a:gd name="GluePoint3X" fmla="*/ 8136 w 861"/>
                <a:gd name="GluePoint3Y" fmla="*/ 561 h 370"/>
                <a:gd name="GluePoint4X" fmla="*/ 13969 w 861"/>
                <a:gd name="GluePoint4Y" fmla="*/ 3003 h 370"/>
                <a:gd name="GluePoint5X" fmla="*/ 22105 w 861"/>
                <a:gd name="GluePoint5Y" fmla="*/ 3983 h 37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861" h="370">
                  <a:moveTo>
                    <a:pt x="0" y="7"/>
                  </a:moveTo>
                  <a:cubicBezTo>
                    <a:pt x="18" y="3"/>
                    <a:pt x="37" y="0"/>
                    <a:pt x="90" y="7"/>
                  </a:cubicBezTo>
                  <a:cubicBezTo>
                    <a:pt x="143" y="14"/>
                    <a:pt x="241" y="7"/>
                    <a:pt x="317" y="52"/>
                  </a:cubicBezTo>
                  <a:cubicBezTo>
                    <a:pt x="393" y="97"/>
                    <a:pt x="453" y="226"/>
                    <a:pt x="544" y="279"/>
                  </a:cubicBezTo>
                  <a:cubicBezTo>
                    <a:pt x="635" y="332"/>
                    <a:pt x="808" y="355"/>
                    <a:pt x="861" y="370"/>
                  </a:cubicBezTo>
                </a:path>
              </a:pathLst>
            </a:custGeom>
            <a:noFill/>
            <a:ln w="255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755" name="Group 114"/>
          <p:cNvGrpSpPr/>
          <p:nvPr/>
        </p:nvGrpSpPr>
        <p:grpSpPr>
          <a:xfrm>
            <a:off x="2322360" y="2033640"/>
            <a:ext cx="3419280" cy="938160"/>
            <a:chOff x="2322360" y="2033640"/>
            <a:chExt cx="3419280" cy="938160"/>
          </a:xfrm>
        </p:grpSpPr>
        <p:sp>
          <p:nvSpPr>
            <p:cNvPr id="756" name="Rectangle 113"/>
            <p:cNvSpPr/>
            <p:nvPr/>
          </p:nvSpPr>
          <p:spPr>
            <a:xfrm>
              <a:off x="2322360" y="2033640"/>
              <a:ext cx="3419280" cy="936720"/>
            </a:xfrm>
            <a:prstGeom prst="rect">
              <a:avLst/>
            </a:prstGeom>
            <a:solidFill>
              <a:srgbClr val="FFCCCC"/>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757" name="Object 111"/>
                <p:cNvSpPr txBox="1"/>
                <p:nvPr/>
              </p:nvSpPr>
              <p:spPr>
                <a:xfrm>
                  <a:off x="2485440" y="2106720"/>
                  <a:ext cx="3008520" cy="86508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r>
                            <m:rPr>
                              <m:lit/>
                              <m:nor/>
                            </m:rPr>
                            <m:t xml:space="preserve">Ts</m:t>
                          </m:r>
                          <m:r>
                            <m:t xml:space="preserve">+</m:t>
                          </m:r>
                          <m:r>
                            <m:t xml:space="preserve">1</m:t>
                          </m:r>
                        </m:num>
                        <m:den>
                          <m:r>
                            <m:t xml:space="preserve">β</m:t>
                          </m:r>
                          <m:r>
                            <m:rPr>
                              <m:lit/>
                              <m:nor/>
                            </m:rPr>
                            <m:t xml:space="preserve">Ts</m:t>
                          </m:r>
                          <m:r>
                            <m:t xml:space="preserve">+</m:t>
                          </m:r>
                          <m:r>
                            <m:t xml:space="preserve">1</m:t>
                          </m:r>
                        </m:den>
                      </m:f>
                      <m:r>
                        <m:t xml:space="preserve">=</m:t>
                      </m:r>
                      <m:f>
                        <m:num>
                          <m:r>
                            <m:rPr>
                              <m:lit/>
                              <m:nor/>
                            </m:rPr>
                            <m:t xml:space="preserve">10</m:t>
                          </m:r>
                          <m:r>
                            <m:t xml:space="preserve">s</m:t>
                          </m:r>
                          <m:r>
                            <m:t xml:space="preserve">+</m:t>
                          </m:r>
                          <m:r>
                            <m:t xml:space="preserve">1</m:t>
                          </m:r>
                        </m:num>
                        <m:den>
                          <m:r>
                            <m:rPr>
                              <m:lit/>
                              <m:nor/>
                            </m:rPr>
                            <m:t xml:space="preserve">100</m:t>
                          </m:r>
                          <m:r>
                            <m:t xml:space="preserve">s</m:t>
                          </m:r>
                          <m:r>
                            <m:t xml:space="preserve">+</m:t>
                          </m:r>
                          <m:r>
                            <m:t xml:space="preserve">1</m:t>
                          </m:r>
                        </m:den>
                      </m:f>
                    </m:oMath>
                  </a14:m>
                </a:p>
              </p:txBody>
            </p:sp>
          </mc:Choice>
          <mc:Fallback>
            <p:sp>
              <p:nvSpPr>
                <p:cNvPr id="757" name="Object 111"/>
                <p:cNvSpPr txBox="1"/>
                <p:nvPr/>
              </p:nvSpPr>
              <p:spPr>
                <a:xfrm>
                  <a:off x="2485440" y="2106720"/>
                  <a:ext cx="3008520" cy="865080"/>
                </a:xfrm>
                <a:prstGeom prst="rect">
                  <a:avLst/>
                </a:prstGeom>
                <a:blipFill>
                  <a:blip r:embed="rId13"/>
                  <a:stretch>
                    <a:fillRect/>
                  </a:stretch>
                </a:blipFill>
              </p:spPr>
            </p:sp>
          </mc:Fallback>
        </mc:AlternateContent>
      </p:grpSp>
    </p:spTree>
  </p:cSld>
  <p:transition>
    <p:random/>
  </p:transition>
  <p:timing>
    <p:tnLst>
      <p:par>
        <p:cTn id="908" dur="indefinite" restart="never" nodeType="tmRoot">
          <p:childTnLst>
            <p:seq>
              <p:cTn id="909" dur="indefinite" nodeType="mainSeq">
                <p:childTnLst>
                  <p:par>
                    <p:cTn id="910" fill="hold" nodeType="clickEffect">
                      <p:stCondLst>
                        <p:cond delay="indefinite"/>
                      </p:stCondLst>
                      <p:childTnLst>
                        <p:par>
                          <p:cTn id="911" fill="hold" nodeType="withEffect">
                            <p:stCondLst>
                              <p:cond delay="0"/>
                            </p:stCondLst>
                            <p:childTnLst>
                              <p:par>
                                <p:cTn id="912" presetID="3" presetClass="entr" fill="hold" nodeType="clickEffect" presetSubtype="10">
                                  <p:stCondLst>
                                    <p:cond delay="0"/>
                                  </p:stCondLst>
                                  <p:childTnLst>
                                    <p:set>
                                      <p:cBhvr>
                                        <p:cTn id="913" dur="1" fill="hold">
                                          <p:stCondLst>
                                            <p:cond delay="0"/>
                                          </p:stCondLst>
                                        </p:cTn>
                                        <p:tgtEl>
                                          <p:spTgt spid="696"/>
                                        </p:tgtEl>
                                        <p:attrNameLst>
                                          <p:attrName>style.visibility</p:attrName>
                                        </p:attrNameLst>
                                      </p:cBhvr>
                                      <p:to>
                                        <p:strVal val="visible"/>
                                      </p:to>
                                    </p:set>
                                    <p:animEffect transition="in" filter="blinds(horizontal)">
                                      <p:cBhvr additive="repl">
                                        <p:cTn id="914" dur="500"/>
                                        <p:tgtEl>
                                          <p:spTgt spid="696"/>
                                        </p:tgtEl>
                                      </p:cBhvr>
                                    </p:animEffect>
                                  </p:childTnLst>
                                </p:cTn>
                              </p:par>
                            </p:childTnLst>
                          </p:cTn>
                        </p:par>
                      </p:childTnLst>
                    </p:cTn>
                  </p:par>
                  <p:par>
                    <p:cTn id="915" fill="hold" nodeType="clickEffect">
                      <p:stCondLst>
                        <p:cond delay="indefinite"/>
                      </p:stCondLst>
                      <p:childTnLst>
                        <p:par>
                          <p:cTn id="916" fill="hold" nodeType="withEffect">
                            <p:stCondLst>
                              <p:cond delay="0"/>
                            </p:stCondLst>
                            <p:childTnLst>
                              <p:par>
                                <p:cTn id="917" presetID="2" presetClass="entr" fill="hold" nodeType="clickEffect" presetSubtype="4">
                                  <p:stCondLst>
                                    <p:cond delay="0"/>
                                  </p:stCondLst>
                                  <p:childTnLst>
                                    <p:set>
                                      <p:cBhvr>
                                        <p:cTn id="918" dur="1" fill="hold">
                                          <p:stCondLst>
                                            <p:cond delay="0"/>
                                          </p:stCondLst>
                                        </p:cTn>
                                        <p:tgtEl>
                                          <p:spTgt spid="719"/>
                                        </p:tgtEl>
                                        <p:attrNameLst>
                                          <p:attrName>style.visibility</p:attrName>
                                        </p:attrNameLst>
                                      </p:cBhvr>
                                      <p:to>
                                        <p:strVal val="visible"/>
                                      </p:to>
                                    </p:set>
                                    <p:anim calcmode="lin" valueType="num">
                                      <p:cBhvr additive="base">
                                        <p:cTn id="919" dur="500" fill="hold"/>
                                        <p:tgtEl>
                                          <p:spTgt spid="719"/>
                                        </p:tgtEl>
                                        <p:attrNameLst>
                                          <p:attrName>ppt_x</p:attrName>
                                        </p:attrNameLst>
                                      </p:cBhvr>
                                      <p:tavLst>
                                        <p:tav>
                                          <p:val>
                                            <p:strVal val="#ppt_x"/>
                                          </p:val>
                                        </p:tav>
                                        <p:tav tm="100000">
                                          <p:val>
                                            <p:strVal val="#ppt_x"/>
                                          </p:val>
                                        </p:tav>
                                      </p:tavLst>
                                    </p:anim>
                                    <p:anim calcmode="lin" valueType="num">
                                      <p:cBhvr additive="base">
                                        <p:cTn id="920" dur="500" fill="hold"/>
                                        <p:tgtEl>
                                          <p:spTgt spid="719"/>
                                        </p:tgtEl>
                                        <p:attrNameLst>
                                          <p:attrName>ppt_y</p:attrName>
                                        </p:attrNameLst>
                                      </p:cBhvr>
                                      <p:tavLst>
                                        <p:tav>
                                          <p:val>
                                            <p:strVal val="1+#ppt_h/2"/>
                                          </p:val>
                                        </p:tav>
                                        <p:tav tm="100000">
                                          <p:val>
                                            <p:strVal val="#ppt_y"/>
                                          </p:val>
                                        </p:tav>
                                      </p:tavLst>
                                    </p:anim>
                                  </p:childTnLst>
                                </p:cTn>
                              </p:par>
                            </p:childTnLst>
                          </p:cTn>
                        </p:par>
                      </p:childTnLst>
                    </p:cTn>
                  </p:par>
                  <p:par>
                    <p:cTn id="921" fill="hold" nodeType="clickEffect">
                      <p:stCondLst>
                        <p:cond delay="indefinite"/>
                      </p:stCondLst>
                      <p:childTnLst>
                        <p:par>
                          <p:cTn id="922" fill="hold" nodeType="withEffect">
                            <p:stCondLst>
                              <p:cond delay="0"/>
                            </p:stCondLst>
                            <p:childTnLst>
                              <p:par>
                                <p:cTn id="923" presetID="3" presetClass="entr" fill="hold" nodeType="clickEffect" presetSubtype="10">
                                  <p:stCondLst>
                                    <p:cond delay="0"/>
                                  </p:stCondLst>
                                  <p:childTnLst>
                                    <p:set>
                                      <p:cBhvr>
                                        <p:cTn id="924" dur="1" fill="hold">
                                          <p:stCondLst>
                                            <p:cond delay="0"/>
                                          </p:stCondLst>
                                        </p:cTn>
                                        <p:tgtEl>
                                          <p:spTgt spid="699"/>
                                        </p:tgtEl>
                                        <p:attrNameLst>
                                          <p:attrName>style.visibility</p:attrName>
                                        </p:attrNameLst>
                                      </p:cBhvr>
                                      <p:to>
                                        <p:strVal val="visible"/>
                                      </p:to>
                                    </p:set>
                                    <p:animEffect transition="in" filter="blinds(horizontal)">
                                      <p:cBhvr additive="repl">
                                        <p:cTn id="925" dur="500"/>
                                        <p:tgtEl>
                                          <p:spTgt spid="699"/>
                                        </p:tgtEl>
                                      </p:cBhvr>
                                    </p:animEffect>
                                  </p:childTnLst>
                                </p:cTn>
                              </p:par>
                            </p:childTnLst>
                          </p:cTn>
                        </p:par>
                      </p:childTnLst>
                    </p:cTn>
                  </p:par>
                  <p:par>
                    <p:cTn id="926" fill="hold" nodeType="clickEffect">
                      <p:stCondLst>
                        <p:cond delay="indefinite"/>
                      </p:stCondLst>
                      <p:childTnLst>
                        <p:par>
                          <p:cTn id="927" fill="hold" nodeType="withEffect">
                            <p:stCondLst>
                              <p:cond delay="0"/>
                            </p:stCondLst>
                            <p:childTnLst>
                              <p:par>
                                <p:cTn id="928" presetID="12" presetClass="entr" fill="hold" nodeType="clickEffect" presetSubtype="1">
                                  <p:stCondLst>
                                    <p:cond delay="0"/>
                                  </p:stCondLst>
                                  <p:childTnLst>
                                    <p:set>
                                      <p:cBhvr>
                                        <p:cTn id="929" dur="1" fill="hold">
                                          <p:stCondLst>
                                            <p:cond delay="0"/>
                                          </p:stCondLst>
                                        </p:cTn>
                                        <p:tgtEl>
                                          <p:spTgt spid="702"/>
                                        </p:tgtEl>
                                        <p:attrNameLst>
                                          <p:attrName>style.visibility</p:attrName>
                                        </p:attrNameLst>
                                      </p:cBhvr>
                                      <p:to>
                                        <p:strVal val="visible"/>
                                      </p:to>
                                    </p:set>
                                    <p:animEffect transition="in" filter="slide(fromTop)">
                                      <p:cBhvr additive="repl">
                                        <p:cTn id="930" dur="1000"/>
                                        <p:tgtEl>
                                          <p:spTgt spid="702"/>
                                        </p:tgtEl>
                                      </p:cBhvr>
                                    </p:animEffect>
                                  </p:childTnLst>
                                </p:cTn>
                              </p:par>
                            </p:childTnLst>
                          </p:cTn>
                        </p:par>
                      </p:childTnLst>
                    </p:cTn>
                  </p:par>
                  <p:par>
                    <p:cTn id="931" fill="hold" nodeType="clickEffect">
                      <p:stCondLst>
                        <p:cond delay="indefinite"/>
                      </p:stCondLst>
                      <p:childTnLst>
                        <p:par>
                          <p:cTn id="932" fill="hold" nodeType="withEffect">
                            <p:stCondLst>
                              <p:cond delay="0"/>
                            </p:stCondLst>
                            <p:childTnLst>
                              <p:par>
                                <p:cTn id="933" presetID="12" presetClass="entr" fill="hold" nodeType="clickEffect" presetSubtype="1">
                                  <p:stCondLst>
                                    <p:cond delay="0"/>
                                  </p:stCondLst>
                                  <p:childTnLst>
                                    <p:set>
                                      <p:cBhvr>
                                        <p:cTn id="934" dur="1" fill="hold">
                                          <p:stCondLst>
                                            <p:cond delay="0"/>
                                          </p:stCondLst>
                                        </p:cTn>
                                        <p:tgtEl>
                                          <p:spTgt spid="705"/>
                                        </p:tgtEl>
                                        <p:attrNameLst>
                                          <p:attrName>style.visibility</p:attrName>
                                        </p:attrNameLst>
                                      </p:cBhvr>
                                      <p:to>
                                        <p:strVal val="visible"/>
                                      </p:to>
                                    </p:set>
                                    <p:animEffect transition="in" filter="slide(fromTop)">
                                      <p:cBhvr additive="repl">
                                        <p:cTn id="935" dur="1000"/>
                                        <p:tgtEl>
                                          <p:spTgt spid="705"/>
                                        </p:tgtEl>
                                      </p:cBhvr>
                                    </p:animEffect>
                                  </p:childTnLst>
                                </p:cTn>
                              </p:par>
                            </p:childTnLst>
                          </p:cTn>
                        </p:par>
                      </p:childTnLst>
                    </p:cTn>
                  </p:par>
                  <p:par>
                    <p:cTn id="936" fill="hold" nodeType="clickEffect">
                      <p:stCondLst>
                        <p:cond delay="indefinite"/>
                      </p:stCondLst>
                      <p:childTnLst>
                        <p:par>
                          <p:cTn id="937" fill="hold" nodeType="withEffect">
                            <p:stCondLst>
                              <p:cond delay="0"/>
                            </p:stCondLst>
                            <p:childTnLst>
                              <p:par>
                                <p:cTn id="938" presetID="3" presetClass="entr" fill="hold" nodeType="clickEffect" presetSubtype="10">
                                  <p:stCondLst>
                                    <p:cond delay="0"/>
                                  </p:stCondLst>
                                  <p:childTnLst>
                                    <p:set>
                                      <p:cBhvr>
                                        <p:cTn id="939" dur="1" fill="hold">
                                          <p:stCondLst>
                                            <p:cond delay="0"/>
                                          </p:stCondLst>
                                        </p:cTn>
                                        <p:tgtEl>
                                          <p:spTgt spid="708"/>
                                        </p:tgtEl>
                                        <p:attrNameLst>
                                          <p:attrName>style.visibility</p:attrName>
                                        </p:attrNameLst>
                                      </p:cBhvr>
                                      <p:to>
                                        <p:strVal val="visible"/>
                                      </p:to>
                                    </p:set>
                                    <p:animEffect transition="in" filter="blinds(horizontal)">
                                      <p:cBhvr additive="repl">
                                        <p:cTn id="940" dur="500"/>
                                        <p:tgtEl>
                                          <p:spTgt spid="708"/>
                                        </p:tgtEl>
                                      </p:cBhvr>
                                    </p:animEffect>
                                  </p:childTnLst>
                                </p:cTn>
                              </p:par>
                            </p:childTnLst>
                          </p:cTn>
                        </p:par>
                      </p:childTnLst>
                    </p:cTn>
                  </p:par>
                  <p:par>
                    <p:cTn id="941" fill="hold" nodeType="clickEffect">
                      <p:stCondLst>
                        <p:cond delay="indefinite"/>
                      </p:stCondLst>
                      <p:childTnLst>
                        <p:par>
                          <p:cTn id="942" fill="hold" nodeType="withEffect">
                            <p:stCondLst>
                              <p:cond delay="0"/>
                            </p:stCondLst>
                            <p:childTnLst>
                              <p:par>
                                <p:cTn id="943" presetID="2" presetClass="entr" fill="hold" nodeType="clickEffect" presetSubtype="2">
                                  <p:stCondLst>
                                    <p:cond delay="0"/>
                                  </p:stCondLst>
                                  <p:childTnLst>
                                    <p:set>
                                      <p:cBhvr>
                                        <p:cTn id="944" dur="1" fill="hold">
                                          <p:stCondLst>
                                            <p:cond delay="0"/>
                                          </p:stCondLst>
                                        </p:cTn>
                                        <p:tgtEl>
                                          <p:spTgt spid="722"/>
                                        </p:tgtEl>
                                        <p:attrNameLst>
                                          <p:attrName>style.visibility</p:attrName>
                                        </p:attrNameLst>
                                      </p:cBhvr>
                                      <p:to>
                                        <p:strVal val="visible"/>
                                      </p:to>
                                    </p:set>
                                    <p:anim calcmode="lin" valueType="num">
                                      <p:cBhvr additive="base">
                                        <p:cTn id="945" dur="500" fill="hold"/>
                                        <p:tgtEl>
                                          <p:spTgt spid="722"/>
                                        </p:tgtEl>
                                        <p:attrNameLst>
                                          <p:attrName>ppt_x</p:attrName>
                                        </p:attrNameLst>
                                      </p:cBhvr>
                                      <p:tavLst>
                                        <p:tav>
                                          <p:val>
                                            <p:strVal val="1+#ppt_w/2"/>
                                          </p:val>
                                        </p:tav>
                                        <p:tav tm="100000">
                                          <p:val>
                                            <p:strVal val="#ppt_x"/>
                                          </p:val>
                                        </p:tav>
                                      </p:tavLst>
                                    </p:anim>
                                    <p:anim calcmode="lin" valueType="num">
                                      <p:cBhvr additive="base">
                                        <p:cTn id="946" dur="500" fill="hold"/>
                                        <p:tgtEl>
                                          <p:spTgt spid="722"/>
                                        </p:tgtEl>
                                        <p:attrNameLst>
                                          <p:attrName>ppt_y</p:attrName>
                                        </p:attrNameLst>
                                      </p:cBhvr>
                                      <p:tavLst>
                                        <p:tav>
                                          <p:val>
                                            <p:strVal val="#ppt_y"/>
                                          </p:val>
                                        </p:tav>
                                        <p:tav tm="100000">
                                          <p:val>
                                            <p:strVal val="#ppt_y"/>
                                          </p:val>
                                        </p:tav>
                                      </p:tavLst>
                                    </p:anim>
                                  </p:childTnLst>
                                </p:cTn>
                              </p:par>
                            </p:childTnLst>
                          </p:cTn>
                        </p:par>
                      </p:childTnLst>
                    </p:cTn>
                  </p:par>
                  <p:par>
                    <p:cTn id="947" fill="hold" nodeType="clickEffect">
                      <p:stCondLst>
                        <p:cond delay="indefinite"/>
                      </p:stCondLst>
                      <p:childTnLst>
                        <p:par>
                          <p:cTn id="948" fill="hold" nodeType="withEffect">
                            <p:stCondLst>
                              <p:cond delay="0"/>
                            </p:stCondLst>
                            <p:childTnLst>
                              <p:par>
                                <p:cTn id="949" presetID="3" presetClass="entr" fill="hold" nodeType="clickEffect" presetSubtype="10">
                                  <p:stCondLst>
                                    <p:cond delay="0"/>
                                  </p:stCondLst>
                                  <p:childTnLst>
                                    <p:set>
                                      <p:cBhvr>
                                        <p:cTn id="950" dur="1" fill="hold">
                                          <p:stCondLst>
                                            <p:cond delay="0"/>
                                          </p:stCondLst>
                                        </p:cTn>
                                        <p:tgtEl>
                                          <p:spTgt spid="755"/>
                                        </p:tgtEl>
                                        <p:attrNameLst>
                                          <p:attrName>style.visibility</p:attrName>
                                        </p:attrNameLst>
                                      </p:cBhvr>
                                      <p:to>
                                        <p:strVal val="visible"/>
                                      </p:to>
                                    </p:set>
                                    <p:animEffect transition="in" filter="blinds(horizontal)">
                                      <p:cBhvr additive="repl">
                                        <p:cTn id="951" dur="500"/>
                                        <p:tgtEl>
                                          <p:spTgt spid="755"/>
                                        </p:tgtEl>
                                      </p:cBhvr>
                                    </p:animEffect>
                                  </p:childTnLst>
                                </p:cTn>
                              </p:par>
                            </p:childTnLst>
                          </p:cTn>
                        </p:par>
                      </p:childTnLst>
                    </p:cTn>
                  </p:par>
                  <p:par>
                    <p:cTn id="952" fill="hold" nodeType="clickEffect">
                      <p:stCondLst>
                        <p:cond delay="indefinite"/>
                      </p:stCondLst>
                      <p:childTnLst>
                        <p:par>
                          <p:cTn id="953" fill="hold" nodeType="withEffect">
                            <p:stCondLst>
                              <p:cond delay="0"/>
                            </p:stCondLst>
                            <p:childTnLst>
                              <p:par>
                                <p:cTn id="954" presetID="2" presetClass="entr" fill="hold" nodeType="clickEffect" presetSubtype="8">
                                  <p:stCondLst>
                                    <p:cond delay="0"/>
                                  </p:stCondLst>
                                  <p:childTnLst>
                                    <p:set>
                                      <p:cBhvr>
                                        <p:cTn id="955" dur="1" fill="hold">
                                          <p:stCondLst>
                                            <p:cond delay="0"/>
                                          </p:stCondLst>
                                        </p:cTn>
                                        <p:tgtEl>
                                          <p:spTgt spid="690"/>
                                        </p:tgtEl>
                                        <p:attrNameLst>
                                          <p:attrName>style.visibility</p:attrName>
                                        </p:attrNameLst>
                                      </p:cBhvr>
                                      <p:to>
                                        <p:strVal val="visible"/>
                                      </p:to>
                                    </p:set>
                                    <p:anim calcmode="lin" valueType="num">
                                      <p:cBhvr additive="base">
                                        <p:cTn id="956" dur="500" fill="hold"/>
                                        <p:tgtEl>
                                          <p:spTgt spid="690"/>
                                        </p:tgtEl>
                                        <p:attrNameLst>
                                          <p:attrName>ppt_x</p:attrName>
                                        </p:attrNameLst>
                                      </p:cBhvr>
                                      <p:tavLst>
                                        <p:tav>
                                          <p:val>
                                            <p:strVal val="0-#ppt_w/2"/>
                                          </p:val>
                                        </p:tav>
                                        <p:tav tm="100000">
                                          <p:val>
                                            <p:strVal val="#ppt_x"/>
                                          </p:val>
                                        </p:tav>
                                      </p:tavLst>
                                    </p:anim>
                                    <p:anim calcmode="lin" valueType="num">
                                      <p:cBhvr additive="base">
                                        <p:cTn id="957" dur="500" fill="hold"/>
                                        <p:tgtEl>
                                          <p:spTgt spid="690"/>
                                        </p:tgtEl>
                                        <p:attrNameLst>
                                          <p:attrName>ppt_y</p:attrName>
                                        </p:attrNameLst>
                                      </p:cBhvr>
                                      <p:tavLst>
                                        <p:tav>
                                          <p:val>
                                            <p:strVal val="#ppt_y"/>
                                          </p:val>
                                        </p:tav>
                                        <p:tav tm="100000">
                                          <p:val>
                                            <p:strVal val="#ppt_y"/>
                                          </p:val>
                                        </p:tav>
                                      </p:tavLst>
                                    </p:anim>
                                  </p:childTnLst>
                                </p:cTn>
                              </p:par>
                            </p:childTnLst>
                          </p:cTn>
                        </p:par>
                      </p:childTnLst>
                    </p:cTn>
                  </p:par>
                  <p:par>
                    <p:cTn id="958" fill="hold" nodeType="clickEffect">
                      <p:stCondLst>
                        <p:cond delay="indefinite"/>
                      </p:stCondLst>
                      <p:childTnLst>
                        <p:par>
                          <p:cTn id="959" fill="hold" nodeType="withEffect">
                            <p:stCondLst>
                              <p:cond delay="0"/>
                            </p:stCondLst>
                            <p:childTnLst>
                              <p:par>
                                <p:cTn id="960" presetID="18" presetClass="entr" fill="hold" nodeType="clickEffect" presetSubtype="6">
                                  <p:stCondLst>
                                    <p:cond delay="0"/>
                                  </p:stCondLst>
                                  <p:childTnLst>
                                    <p:set>
                                      <p:cBhvr>
                                        <p:cTn id="961" dur="1" fill="hold">
                                          <p:stCondLst>
                                            <p:cond delay="0"/>
                                          </p:stCondLst>
                                        </p:cTn>
                                        <p:tgtEl>
                                          <p:spTgt spid="712"/>
                                        </p:tgtEl>
                                        <p:attrNameLst>
                                          <p:attrName>style.visibility</p:attrName>
                                        </p:attrNameLst>
                                      </p:cBhvr>
                                      <p:to>
                                        <p:strVal val="visible"/>
                                      </p:to>
                                    </p:set>
                                    <p:animEffect transition="in" filter="strips(downRight)">
                                      <p:cBhvr additive="repl">
                                        <p:cTn id="962" dur="5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5CC805F-94DB-457A-BF7E-B4B47B24E1FE}"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grpSp>
        <p:nvGrpSpPr>
          <p:cNvPr id="759" name="Group 40"/>
          <p:cNvGrpSpPr/>
          <p:nvPr/>
        </p:nvGrpSpPr>
        <p:grpSpPr>
          <a:xfrm>
            <a:off x="539640" y="3141720"/>
            <a:ext cx="7723440" cy="1617480"/>
            <a:chOff x="539640" y="3141720"/>
            <a:chExt cx="7723440" cy="1617480"/>
          </a:xfrm>
        </p:grpSpPr>
        <p:sp>
          <p:nvSpPr>
            <p:cNvPr id="760" name="Rectangle 31"/>
            <p:cNvSpPr/>
            <p:nvPr/>
          </p:nvSpPr>
          <p:spPr>
            <a:xfrm>
              <a:off x="539640" y="3141720"/>
              <a:ext cx="7723440" cy="161748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      </a:t>
              </a:r>
              <a:r>
                <a:rPr lang="zh-CN" sz="2000" b="1" u="none" strike="noStrike">
                  <a:solidFill>
                    <a:srgbClr val="000000"/>
                  </a:solidFill>
                  <a:effectLst/>
                  <a:uFillTx/>
                  <a:latin typeface="Times New Roman"/>
                </a:rPr>
                <a:t>本例中系统固有部分的对数幅频特性在选定的      点的斜率为</a:t>
              </a:r>
              <a:r>
                <a:rPr lang="en-US" sz="2000" b="1" u="none" strike="noStrike">
                  <a:solidFill>
                    <a:srgbClr val="000000"/>
                  </a:solidFill>
                  <a:effectLst/>
                  <a:uFillTx/>
                  <a:latin typeface="Times New Roman"/>
                </a:rPr>
                <a:t>-20</a:t>
              </a:r>
              <a:r>
                <a:rPr lang="zh-CN" sz="2000" b="1" u="none" strike="noStrike">
                  <a:solidFill>
                    <a:srgbClr val="000000"/>
                  </a:solidFill>
                  <a:effectLst/>
                  <a:uFillTx/>
                  <a:latin typeface="Times New Roman"/>
                </a:rPr>
                <a:t>。由于滞后校正装置的对数幅频特性高频端的斜率是</a:t>
              </a:r>
              <a:r>
                <a:rPr lang="en-US" sz="2000" b="1" u="none" strike="noStrike">
                  <a:solidFill>
                    <a:srgbClr val="000000"/>
                  </a:solidFill>
                  <a:effectLst/>
                  <a:uFillTx/>
                  <a:latin typeface="Times New Roman"/>
                </a:rPr>
                <a:t>0</a:t>
              </a:r>
              <a:r>
                <a:rPr lang="zh-CN" sz="2000" b="1" u="none" strike="noStrike">
                  <a:solidFill>
                    <a:srgbClr val="000000"/>
                  </a:solidFill>
                  <a:effectLst/>
                  <a:uFillTx/>
                  <a:latin typeface="Times New Roman"/>
                </a:rPr>
                <a:t>，所以在加入校正装置后，系统在      点附近的斜率仍为</a:t>
              </a:r>
              <a:r>
                <a:rPr lang="en-US" sz="2000" b="1" u="none" strike="noStrike">
                  <a:solidFill>
                    <a:srgbClr val="000000"/>
                  </a:solidFill>
                  <a:effectLst/>
                  <a:uFillTx/>
                  <a:latin typeface="Times New Roman"/>
                </a:rPr>
                <a:t>-20</a:t>
              </a:r>
              <a:r>
                <a:rPr lang="zh-CN" sz="2000" b="1" u="none" strike="noStrike">
                  <a:solidFill>
                    <a:srgbClr val="000000"/>
                  </a:solidFill>
                  <a:effectLst/>
                  <a:uFillTx/>
                  <a:latin typeface="Times New Roman"/>
                </a:rPr>
                <a:t>。这正是保证系统稳定所必需的。</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61" name="Object 32"/>
                <p:cNvSpPr txBox="1"/>
                <p:nvPr/>
              </p:nvSpPr>
              <p:spPr>
                <a:xfrm>
                  <a:off x="2700360" y="3943440"/>
                  <a:ext cx="38088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761" name="Object 32"/>
                <p:cNvSpPr txBox="1"/>
                <p:nvPr/>
              </p:nvSpPr>
              <p:spPr>
                <a:xfrm>
                  <a:off x="2700360" y="3943440"/>
                  <a:ext cx="380880" cy="457200"/>
                </a:xfrm>
                <a:prstGeom prst="rect">
                  <a:avLst/>
                </a:prstGeom>
                <a:blipFill>
                  <a:blip r:embed="rId1"/>
                  <a:stretch>
                    <a:fillRect/>
                  </a:stretch>
                </a:blipFill>
              </p:spPr>
            </p:sp>
          </mc:Fallback>
        </mc:AlternateContent>
        <mc:AlternateContent>
          <mc:Choice xmlns:a14="http://schemas.microsoft.com/office/drawing/2010/main" Requires="a14">
            <p:sp>
              <p:nvSpPr>
                <p:cNvPr id="762" name="Object 34"/>
                <p:cNvSpPr txBox="1"/>
                <p:nvPr/>
              </p:nvSpPr>
              <p:spPr>
                <a:xfrm>
                  <a:off x="6156360" y="3141720"/>
                  <a:ext cx="38088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762" name="Object 34"/>
                <p:cNvSpPr txBox="1"/>
                <p:nvPr/>
              </p:nvSpPr>
              <p:spPr>
                <a:xfrm>
                  <a:off x="6156360" y="3141720"/>
                  <a:ext cx="380880" cy="457200"/>
                </a:xfrm>
                <a:prstGeom prst="rect">
                  <a:avLst/>
                </a:prstGeom>
                <a:blipFill>
                  <a:blip r:embed="rId2"/>
                  <a:stretch>
                    <a:fillRect/>
                  </a:stretch>
                </a:blipFill>
              </p:spPr>
            </p:sp>
          </mc:Fallback>
        </mc:AlternateContent>
      </p:grpSp>
      <p:sp>
        <p:nvSpPr>
          <p:cNvPr id="763" name="Rectangle 35"/>
          <p:cNvSpPr/>
          <p:nvPr/>
        </p:nvSpPr>
        <p:spPr>
          <a:xfrm>
            <a:off x="468360" y="1197000"/>
            <a:ext cx="217476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滞后校正的作用</a:t>
            </a:r>
            <a:r>
              <a:rPr lang="en-US" sz="2000" b="1"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p:grpSp>
        <p:nvGrpSpPr>
          <p:cNvPr id="764" name="Group 39"/>
          <p:cNvGrpSpPr/>
          <p:nvPr/>
        </p:nvGrpSpPr>
        <p:grpSpPr>
          <a:xfrm>
            <a:off x="539640" y="1700280"/>
            <a:ext cx="7550280" cy="1249200"/>
            <a:chOff x="539640" y="1700280"/>
            <a:chExt cx="7550280" cy="1249200"/>
          </a:xfrm>
        </p:grpSpPr>
        <mc:AlternateContent>
          <mc:Choice xmlns:a14="http://schemas.microsoft.com/office/drawing/2010/main" Requires="a14">
            <p:sp>
              <p:nvSpPr>
                <p:cNvPr id="765" name="Object 33"/>
                <p:cNvSpPr txBox="1"/>
                <p:nvPr/>
              </p:nvSpPr>
              <p:spPr>
                <a:xfrm>
                  <a:off x="2400480" y="2492280"/>
                  <a:ext cx="380880" cy="45720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765" name="Object 33"/>
                <p:cNvSpPr txBox="1"/>
                <p:nvPr/>
              </p:nvSpPr>
              <p:spPr>
                <a:xfrm>
                  <a:off x="2400480" y="2492280"/>
                  <a:ext cx="380880" cy="457200"/>
                </a:xfrm>
                <a:prstGeom prst="rect">
                  <a:avLst/>
                </a:prstGeom>
                <a:blipFill>
                  <a:blip r:embed="rId3"/>
                  <a:stretch>
                    <a:fillRect/>
                  </a:stretch>
                </a:blipFill>
              </p:spPr>
            </p:sp>
          </mc:Fallback>
        </mc:AlternateContent>
        <p:sp>
          <p:nvSpPr>
            <p:cNvPr id="766" name="Rectangle 36"/>
            <p:cNvSpPr/>
            <p:nvPr/>
          </p:nvSpPr>
          <p:spPr>
            <a:xfrm>
              <a:off x="539640" y="1700280"/>
              <a:ext cx="7550280" cy="123660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       </a:t>
              </a:r>
              <a:r>
                <a:rPr lang="zh-CN" sz="2000" b="1" u="none" strike="noStrike">
                  <a:solidFill>
                    <a:srgbClr val="000000"/>
                  </a:solidFill>
                  <a:effectLst/>
                  <a:uFillTx/>
                  <a:latin typeface="Times New Roman"/>
                </a:rPr>
                <a:t>降低中频段和高频段的开环增益，但同时使低频段的开环增益不受影响。这样来达到同时兼顾静态性能与稳定性的目的。它的副作用是会在      点产生一定的相角滞后。</a:t>
              </a:r>
              <a:endParaRPr lang="en-US" sz="2000" b="0" u="none" strike="noStrike">
                <a:solidFill>
                  <a:srgbClr val="000000"/>
                </a:solidFill>
                <a:effectLst/>
                <a:uFillTx/>
                <a:latin typeface="Times New Roman"/>
              </a:endParaRPr>
            </a:p>
          </p:txBody>
        </p:sp>
      </p:grpSp>
    </p:spTree>
  </p:cSld>
  <p:transition>
    <p:random/>
  </p:transition>
  <p:timing>
    <p:tnLst>
      <p:par>
        <p:cTn id="963" dur="indefinite" restart="never" nodeType="tmRoot">
          <p:childTnLst>
            <p:seq>
              <p:cTn id="964" dur="indefinite" nodeType="mainSeq">
                <p:childTnLst>
                  <p:par>
                    <p:cTn id="965" fill="hold" nodeType="clickEffect">
                      <p:stCondLst>
                        <p:cond delay="indefinite"/>
                      </p:stCondLst>
                      <p:childTnLst>
                        <p:par>
                          <p:cTn id="966" fill="hold" nodeType="withEffect">
                            <p:stCondLst>
                              <p:cond delay="0"/>
                            </p:stCondLst>
                            <p:childTnLst>
                              <p:par>
                                <p:cTn id="967" presetID="22" presetClass="entr" fill="hold" nodeType="clickEffect" presetSubtype="4">
                                  <p:stCondLst>
                                    <p:cond delay="0"/>
                                  </p:stCondLst>
                                  <p:childTnLst>
                                    <p:set>
                                      <p:cBhvr>
                                        <p:cTn id="968" dur="1" fill="hold">
                                          <p:stCondLst>
                                            <p:cond delay="0"/>
                                          </p:stCondLst>
                                        </p:cTn>
                                        <p:tgtEl>
                                          <p:spTgt spid="764"/>
                                        </p:tgtEl>
                                        <p:attrNameLst>
                                          <p:attrName>style.visibility</p:attrName>
                                        </p:attrNameLst>
                                      </p:cBhvr>
                                      <p:to>
                                        <p:strVal val="visible"/>
                                      </p:to>
                                    </p:set>
                                    <p:animEffect transition="in" filter="wipe(down)">
                                      <p:cBhvr additive="repl">
                                        <p:cTn id="969" dur="500"/>
                                        <p:tgtEl>
                                          <p:spTgt spid="764"/>
                                        </p:tgtEl>
                                      </p:cBhvr>
                                    </p:animEffect>
                                  </p:childTnLst>
                                </p:cTn>
                              </p:par>
                            </p:childTnLst>
                          </p:cTn>
                        </p:par>
                      </p:childTnLst>
                    </p:cTn>
                  </p:par>
                  <p:par>
                    <p:cTn id="970" fill="hold" nodeType="clickEffect">
                      <p:stCondLst>
                        <p:cond delay="indefinite"/>
                      </p:stCondLst>
                      <p:childTnLst>
                        <p:par>
                          <p:cTn id="971" fill="hold" nodeType="withEffect">
                            <p:stCondLst>
                              <p:cond delay="0"/>
                            </p:stCondLst>
                            <p:childTnLst>
                              <p:par>
                                <p:cTn id="972" presetID="22" presetClass="entr" fill="hold" nodeType="clickEffect" presetSubtype="4">
                                  <p:stCondLst>
                                    <p:cond delay="0"/>
                                  </p:stCondLst>
                                  <p:childTnLst>
                                    <p:set>
                                      <p:cBhvr>
                                        <p:cTn id="973" dur="1" fill="hold">
                                          <p:stCondLst>
                                            <p:cond delay="0"/>
                                          </p:stCondLst>
                                        </p:cTn>
                                        <p:tgtEl>
                                          <p:spTgt spid="759"/>
                                        </p:tgtEl>
                                        <p:attrNameLst>
                                          <p:attrName>style.visibility</p:attrName>
                                        </p:attrNameLst>
                                      </p:cBhvr>
                                      <p:to>
                                        <p:strVal val="visible"/>
                                      </p:to>
                                    </p:set>
                                    <p:animEffect transition="in" filter="wipe(down)">
                                      <p:cBhvr additive="repl">
                                        <p:cTn id="974" dur="500"/>
                                        <p:tgtEl>
                                          <p:spTgt spid="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983858C-9BBE-4D97-A305-ADB378A3AD68}" type="slidenum">
              <a:rPr lang="en-US" sz="2000" b="0" u="none" strike="noStrike">
                <a:solidFill>
                  <a:srgbClr val="000000"/>
                </a:solidFill>
                <a:effectLst/>
                <a:uFillTx/>
                <a:latin typeface="Arial Black"/>
              </a:rPr>
              <a:t>&lt;编号&gt;</a:t>
            </a:fld>
            <a:endParaRPr lang="en-US" sz="2000" b="0" u="none" strike="noStrike">
              <a:solidFill>
                <a:srgbClr val="000000"/>
              </a:solidFill>
              <a:effectLst/>
              <a:uFillTx/>
              <a:latin typeface="Times New Roman"/>
            </a:endParaRPr>
          </a:p>
        </p:txBody>
      </p:sp>
      <p:sp>
        <p:nvSpPr>
          <p:cNvPr id="768" name="Rectangle 9"/>
          <p:cNvSpPr/>
          <p:nvPr/>
        </p:nvSpPr>
        <p:spPr>
          <a:xfrm>
            <a:off x="1001880" y="865800"/>
            <a:ext cx="4252680" cy="39888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基于频域法的滞后校正的综合步骤：</a:t>
            </a:r>
            <a:endParaRPr lang="en-US" sz="2000" b="0" u="none" strike="noStrike">
              <a:solidFill>
                <a:srgbClr val="000000"/>
              </a:solidFill>
              <a:effectLst/>
              <a:uFillTx/>
              <a:latin typeface="Times New Roman"/>
            </a:endParaRPr>
          </a:p>
        </p:txBody>
      </p:sp>
      <p:grpSp>
        <p:nvGrpSpPr>
          <p:cNvPr id="769" name="Group 26"/>
          <p:cNvGrpSpPr/>
          <p:nvPr/>
        </p:nvGrpSpPr>
        <p:grpSpPr>
          <a:xfrm>
            <a:off x="539640" y="1413000"/>
            <a:ext cx="8137800" cy="5045400"/>
            <a:chOff x="539640" y="1413000"/>
            <a:chExt cx="8137800" cy="5045400"/>
          </a:xfrm>
        </p:grpSpPr>
        <p:sp>
          <p:nvSpPr>
            <p:cNvPr id="770" name="Rectangle 10"/>
            <p:cNvSpPr/>
            <p:nvPr/>
          </p:nvSpPr>
          <p:spPr>
            <a:xfrm>
              <a:off x="539640" y="1413000"/>
              <a:ext cx="8137800" cy="504540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1</a:t>
              </a:r>
              <a:r>
                <a:rPr lang="zh-CN" sz="2000" b="1" u="none" strike="noStrike">
                  <a:solidFill>
                    <a:srgbClr val="000000"/>
                  </a:solidFill>
                  <a:effectLst/>
                  <a:uFillTx/>
                  <a:latin typeface="Times New Roman"/>
                </a:rPr>
                <a:t>、首先根据静态指标要求确定开环比例系数      ，按照所确定值画出系统固有部分的</a:t>
              </a:r>
              <a:r>
                <a:rPr lang="en-US" sz="2000" b="1" u="none" strike="noStrike">
                  <a:solidFill>
                    <a:srgbClr val="000000"/>
                  </a:solidFill>
                  <a:effectLst/>
                  <a:uFillTx/>
                  <a:latin typeface="Times New Roman"/>
                </a:rPr>
                <a:t>Bode</a:t>
              </a:r>
              <a:r>
                <a:rPr lang="zh-CN" sz="2000" b="1" u="none" strike="noStrike">
                  <a:solidFill>
                    <a:srgbClr val="000000"/>
                  </a:solidFill>
                  <a:effectLst/>
                  <a:uFillTx/>
                  <a:latin typeface="Times New Roman"/>
                </a:rPr>
                <a:t>图。</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2</a:t>
              </a:r>
              <a:r>
                <a:rPr lang="zh-CN" sz="2000" b="1" u="none" strike="noStrike">
                  <a:solidFill>
                    <a:srgbClr val="000000"/>
                  </a:solidFill>
                  <a:effectLst/>
                  <a:uFillTx/>
                  <a:latin typeface="Times New Roman"/>
                </a:rPr>
                <a:t>、根据动态性能指标，初选       值。根据其</a:t>
              </a:r>
              <a:r>
                <a:rPr lang="en-US" sz="2000" b="1" u="none" strike="noStrike">
                  <a:solidFill>
                    <a:srgbClr val="000000"/>
                  </a:solidFill>
                  <a:effectLst/>
                  <a:uFillTx/>
                  <a:latin typeface="Times New Roman"/>
                </a:rPr>
                <a:t>Bode</a:t>
              </a:r>
              <a:r>
                <a:rPr lang="zh-CN" sz="2000" b="1" u="none" strike="noStrike">
                  <a:solidFill>
                    <a:srgbClr val="000000"/>
                  </a:solidFill>
                  <a:effectLst/>
                  <a:uFillTx/>
                  <a:latin typeface="Times New Roman"/>
                </a:rPr>
                <a:t>图求出系统固有部分在初选点的相角，判断是否满足相位稳定裕度的要求</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注意设计滞后校正将会带来的</a:t>
              </a:r>
              <a:r>
                <a:rPr lang="en-US" sz="2000" b="1" u="none" strike="noStrike">
                  <a:solidFill>
                    <a:srgbClr val="000000"/>
                  </a:solidFill>
                  <a:effectLst/>
                  <a:uFillTx/>
                  <a:latin typeface="Times New Roman"/>
                </a:rPr>
                <a:t>5°</a:t>
              </a: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12°</a:t>
              </a:r>
              <a:r>
                <a:rPr lang="zh-CN" sz="2000" b="1" u="none" strike="noStrike">
                  <a:solidFill>
                    <a:srgbClr val="000000"/>
                  </a:solidFill>
                  <a:effectLst/>
                  <a:uFillTx/>
                  <a:latin typeface="Times New Roman"/>
                </a:rPr>
                <a:t>的滞后量</a:t>
              </a:r>
              <a:r>
                <a:rPr lang="en-US" sz="2000" b="1" u="none" strike="noStrike">
                  <a:solidFill>
                    <a:srgbClr val="000000"/>
                  </a:solidFill>
                  <a:effectLst/>
                  <a:uFillTx/>
                  <a:latin typeface="Times New Roman"/>
                </a:rPr>
                <a:t>)</a:t>
              </a:r>
              <a:r>
                <a:rPr lang="zh-CN" sz="2000" b="1" u="none" strike="noStrike">
                  <a:solidFill>
                    <a:srgbClr val="000000"/>
                  </a:solidFill>
                  <a:effectLst/>
                  <a:uFillTx/>
                  <a:latin typeface="Times New Roman"/>
                </a:rPr>
                <a:t>。若满足，转第</a:t>
              </a:r>
              <a:r>
                <a:rPr lang="en-US" sz="2000" b="1" u="none" strike="noStrike">
                  <a:solidFill>
                    <a:srgbClr val="000000"/>
                  </a:solidFill>
                  <a:effectLst/>
                  <a:uFillTx/>
                  <a:latin typeface="Times New Roman"/>
                </a:rPr>
                <a:t>3</a:t>
              </a:r>
              <a:r>
                <a:rPr lang="zh-CN" sz="2000" b="1" u="none" strike="noStrike">
                  <a:solidFill>
                    <a:srgbClr val="000000"/>
                  </a:solidFill>
                  <a:effectLst/>
                  <a:uFillTx/>
                  <a:latin typeface="Times New Roman"/>
                </a:rPr>
                <a:t>步；否则，如果允许降低       ，就适当降低 。如果不允许，就改用滞后超前校正。</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3</a:t>
              </a:r>
              <a:r>
                <a:rPr lang="zh-CN" sz="2000" b="1" u="none" strike="noStrike">
                  <a:solidFill>
                    <a:srgbClr val="000000"/>
                  </a:solidFill>
                  <a:effectLst/>
                  <a:uFillTx/>
                  <a:latin typeface="Times New Roman"/>
                </a:rPr>
                <a:t>、根据</a:t>
              </a:r>
              <a:r>
                <a:rPr lang="en-US" sz="2000" b="1" u="none" strike="noStrike">
                  <a:solidFill>
                    <a:srgbClr val="000000"/>
                  </a:solidFill>
                  <a:effectLst/>
                  <a:uFillTx/>
                  <a:latin typeface="Times New Roman"/>
                </a:rPr>
                <a:t>Bode</a:t>
              </a:r>
              <a:r>
                <a:rPr lang="zh-CN" sz="2000" b="1" u="none" strike="noStrike">
                  <a:solidFill>
                    <a:srgbClr val="000000"/>
                  </a:solidFill>
                  <a:effectLst/>
                  <a:uFillTx/>
                  <a:latin typeface="Times New Roman"/>
                </a:rPr>
                <a:t>图计算系统固有部分在       点的开环增益              。如果</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，则无须校正。如果                 ，令                          ，并计算滞后校正的校正强度      。</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4</a:t>
              </a:r>
              <a:r>
                <a:rPr lang="zh-CN" sz="2000" b="1" u="none" strike="noStrike">
                  <a:solidFill>
                    <a:srgbClr val="000000"/>
                  </a:solidFill>
                  <a:effectLst/>
                  <a:uFillTx/>
                  <a:latin typeface="Times New Roman"/>
                </a:rPr>
                <a:t>、选择                                           ，进而确定                       。             </a:t>
              </a:r>
              <a:endParaRPr lang="en-US" sz="2000" b="0" u="none" strike="noStrike">
                <a:solidFill>
                  <a:srgbClr val="000000"/>
                </a:solidFill>
                <a:effectLst/>
                <a:uFillTx/>
                <a:latin typeface="Times New Roman"/>
              </a:endParaRPr>
            </a:p>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5</a:t>
              </a:r>
              <a:r>
                <a:rPr lang="zh-CN" sz="2000" b="1" u="none" strike="noStrike">
                  <a:solidFill>
                    <a:srgbClr val="000000"/>
                  </a:solidFill>
                  <a:effectLst/>
                  <a:uFillTx/>
                  <a:latin typeface="Times New Roman"/>
                </a:rPr>
                <a:t>、画出校正后系统的</a:t>
              </a:r>
              <a:r>
                <a:rPr lang="en-US" sz="2000" b="1" u="none" strike="noStrike">
                  <a:solidFill>
                    <a:srgbClr val="000000"/>
                  </a:solidFill>
                  <a:effectLst/>
                  <a:uFillTx/>
                  <a:latin typeface="Times New Roman"/>
                </a:rPr>
                <a:t>Bode</a:t>
              </a:r>
              <a:r>
                <a:rPr lang="zh-CN" sz="2000" b="1" u="none" strike="noStrike">
                  <a:solidFill>
                    <a:srgbClr val="000000"/>
                  </a:solidFill>
                  <a:effectLst/>
                  <a:uFillTx/>
                  <a:latin typeface="Times New Roman"/>
                </a:rPr>
                <a:t>图，校核相位裕度。</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771" name="Object 11"/>
                <p:cNvSpPr txBox="1"/>
                <p:nvPr/>
              </p:nvSpPr>
              <p:spPr>
                <a:xfrm>
                  <a:off x="5651640" y="1484280"/>
                  <a:ext cx="287280" cy="286920"/>
                </a:xfrm>
                <a:prstGeom prst="rect">
                  <a:avLst/>
                </a:prstGeom>
              </p:spPr>
              <p:txBody>
                <a:bodyPr/>
                <a:p>
                  <a14:m>
                    <m:oMath xmlns:m="http://schemas.openxmlformats.org/officeDocument/2006/math">
                      <m:r>
                        <m:t xml:space="preserve">K</m:t>
                      </m:r>
                    </m:oMath>
                  </a14:m>
                </a:p>
              </p:txBody>
            </p:sp>
          </mc:Choice>
          <mc:Fallback>
            <p:sp>
              <p:nvSpPr>
                <p:cNvPr id="771" name="Object 11"/>
                <p:cNvSpPr txBox="1"/>
                <p:nvPr/>
              </p:nvSpPr>
              <p:spPr>
                <a:xfrm>
                  <a:off x="5651640" y="1484280"/>
                  <a:ext cx="287280" cy="286920"/>
                </a:xfrm>
                <a:prstGeom prst="rect">
                  <a:avLst/>
                </a:prstGeom>
                <a:blipFill>
                  <a:blip r:embed="rId1"/>
                  <a:stretch>
                    <a:fillRect/>
                  </a:stretch>
                </a:blipFill>
              </p:spPr>
            </p:sp>
          </mc:Fallback>
        </mc:AlternateContent>
        <mc:AlternateContent>
          <mc:Choice xmlns:a14="http://schemas.microsoft.com/office/drawing/2010/main" Requires="a14">
            <p:sp>
              <p:nvSpPr>
                <p:cNvPr id="772" name="Object 13"/>
                <p:cNvSpPr txBox="1"/>
                <p:nvPr/>
              </p:nvSpPr>
              <p:spPr>
                <a:xfrm>
                  <a:off x="1403280" y="3355920"/>
                  <a:ext cx="381240" cy="45684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772" name="Object 13"/>
                <p:cNvSpPr txBox="1"/>
                <p:nvPr/>
              </p:nvSpPr>
              <p:spPr>
                <a:xfrm>
                  <a:off x="1403280" y="3355920"/>
                  <a:ext cx="381240" cy="456840"/>
                </a:xfrm>
                <a:prstGeom prst="rect">
                  <a:avLst/>
                </a:prstGeom>
                <a:blipFill>
                  <a:blip r:embed="rId2"/>
                  <a:stretch>
                    <a:fillRect/>
                  </a:stretch>
                </a:blipFill>
              </p:spPr>
            </p:sp>
          </mc:Fallback>
        </mc:AlternateContent>
        <mc:AlternateContent>
          <mc:Choice xmlns:a14="http://schemas.microsoft.com/office/drawing/2010/main" Requires="a14">
            <p:sp>
              <p:nvSpPr>
                <p:cNvPr id="773" name="Object 17"/>
                <p:cNvSpPr txBox="1"/>
                <p:nvPr/>
              </p:nvSpPr>
              <p:spPr>
                <a:xfrm>
                  <a:off x="3924360" y="2203560"/>
                  <a:ext cx="380880" cy="45684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773" name="Object 17"/>
                <p:cNvSpPr txBox="1"/>
                <p:nvPr/>
              </p:nvSpPr>
              <p:spPr>
                <a:xfrm>
                  <a:off x="3924360" y="2203560"/>
                  <a:ext cx="380880" cy="456840"/>
                </a:xfrm>
                <a:prstGeom prst="rect">
                  <a:avLst/>
                </a:prstGeom>
                <a:blipFill>
                  <a:blip r:embed="rId3"/>
                  <a:stretch>
                    <a:fillRect/>
                  </a:stretch>
                </a:blipFill>
              </p:spPr>
            </p:sp>
          </mc:Fallback>
        </mc:AlternateContent>
        <mc:AlternateContent>
          <mc:Choice xmlns:a14="http://schemas.microsoft.com/office/drawing/2010/main" Requires="a14">
            <p:sp>
              <p:nvSpPr>
                <p:cNvPr id="774" name="Object 18"/>
                <p:cNvSpPr txBox="1"/>
                <p:nvPr/>
              </p:nvSpPr>
              <p:spPr>
                <a:xfrm>
                  <a:off x="6732720" y="3787560"/>
                  <a:ext cx="720720" cy="360000"/>
                </a:xfrm>
                <a:prstGeom prst="rect">
                  <a:avLst/>
                </a:prstGeom>
              </p:spPr>
              <p:txBody>
                <a:bodyPr/>
                <a:p>
                  <a14:m>
                    <m:oMath xmlns:m="http://schemas.openxmlformats.org/officeDocument/2006/math">
                      <m:sSub>
                        <m:e>
                          <m:r>
                            <m:t xml:space="preserve">L</m:t>
                          </m:r>
                        </m:e>
                        <m:sub>
                          <m:r>
                            <m:t xml:space="preserve">g</m:t>
                          </m:r>
                        </m:sub>
                      </m:sSub>
                      <m:r>
                        <m:t xml:space="preserve">(</m:t>
                      </m:r>
                      <m:sSub>
                        <m:e>
                          <m:r>
                            <m:t xml:space="preserve">ω</m:t>
                          </m:r>
                        </m:e>
                        <m:sub>
                          <m:r>
                            <m:t xml:space="preserve">c</m:t>
                          </m:r>
                        </m:sub>
                      </m:sSub>
                      <m:r>
                        <m:t xml:space="preserve">)</m:t>
                      </m:r>
                    </m:oMath>
                  </a14:m>
                </a:p>
              </p:txBody>
            </p:sp>
          </mc:Choice>
          <mc:Fallback>
            <p:sp>
              <p:nvSpPr>
                <p:cNvPr id="774" name="Object 18"/>
                <p:cNvSpPr txBox="1"/>
                <p:nvPr/>
              </p:nvSpPr>
              <p:spPr>
                <a:xfrm>
                  <a:off x="6732720" y="3787560"/>
                  <a:ext cx="720720" cy="360000"/>
                </a:xfrm>
                <a:prstGeom prst="rect">
                  <a:avLst/>
                </a:prstGeom>
                <a:blipFill>
                  <a:blip r:embed="rId4"/>
                  <a:stretch>
                    <a:fillRect/>
                  </a:stretch>
                </a:blipFill>
              </p:spPr>
            </p:sp>
          </mc:Fallback>
        </mc:AlternateContent>
        <mc:AlternateContent>
          <mc:Choice xmlns:a14="http://schemas.microsoft.com/office/drawing/2010/main" Requires="a14">
            <p:sp>
              <p:nvSpPr>
                <p:cNvPr id="775" name="Object 19"/>
                <p:cNvSpPr txBox="1"/>
                <p:nvPr/>
              </p:nvSpPr>
              <p:spPr>
                <a:xfrm>
                  <a:off x="611280" y="4172040"/>
                  <a:ext cx="1152360" cy="383760"/>
                </a:xfrm>
                <a:prstGeom prst="rect">
                  <a:avLst/>
                </a:prstGeom>
              </p:spPr>
              <p:txBody>
                <a:bodyPr/>
                <a:p>
                  <a14:m>
                    <m:oMath xmlns:m="http://schemas.openxmlformats.org/officeDocument/2006/math">
                      <m:sSub>
                        <m:e>
                          <m:r>
                            <m:t xml:space="preserve">L</m:t>
                          </m:r>
                        </m:e>
                        <m:sub>
                          <m:r>
                            <m:t xml:space="preserve">g</m:t>
                          </m:r>
                        </m:sub>
                      </m:sSub>
                      <m:r>
                        <m:t xml:space="preserve">(</m:t>
                      </m:r>
                      <m:sSub>
                        <m:e>
                          <m:r>
                            <m:t xml:space="preserve">ω</m:t>
                          </m:r>
                        </m:e>
                        <m:sub>
                          <m:r>
                            <m:t xml:space="preserve">c</m:t>
                          </m:r>
                        </m:sub>
                      </m:sSub>
                      <m:r>
                        <m:t xml:space="preserve">)</m:t>
                      </m:r>
                      <m:r>
                        <m:t xml:space="preserve">&lt;</m:t>
                      </m:r>
                      <m:r>
                        <m:t xml:space="preserve">0</m:t>
                      </m:r>
                    </m:oMath>
                  </a14:m>
                </a:p>
              </p:txBody>
            </p:sp>
          </mc:Choice>
          <mc:Fallback>
            <p:sp>
              <p:nvSpPr>
                <p:cNvPr id="775" name="Object 19"/>
                <p:cNvSpPr txBox="1"/>
                <p:nvPr/>
              </p:nvSpPr>
              <p:spPr>
                <a:xfrm>
                  <a:off x="611280" y="4172040"/>
                  <a:ext cx="1152360" cy="383760"/>
                </a:xfrm>
                <a:prstGeom prst="rect">
                  <a:avLst/>
                </a:prstGeom>
                <a:blipFill>
                  <a:blip r:embed="rId5"/>
                  <a:stretch>
                    <a:fillRect/>
                  </a:stretch>
                </a:blipFill>
              </p:spPr>
            </p:sp>
          </mc:Fallback>
        </mc:AlternateContent>
        <mc:AlternateContent>
          <mc:Choice xmlns:a14="http://schemas.microsoft.com/office/drawing/2010/main" Requires="a14">
            <p:sp>
              <p:nvSpPr>
                <p:cNvPr id="776" name="Object 20"/>
                <p:cNvSpPr txBox="1"/>
                <p:nvPr/>
              </p:nvSpPr>
              <p:spPr>
                <a:xfrm>
                  <a:off x="4205160" y="4149720"/>
                  <a:ext cx="1079640" cy="360000"/>
                </a:xfrm>
                <a:prstGeom prst="rect">
                  <a:avLst/>
                </a:prstGeom>
              </p:spPr>
              <p:txBody>
                <a:bodyPr/>
                <a:p>
                  <a14:m>
                    <m:oMath xmlns:m="http://schemas.openxmlformats.org/officeDocument/2006/math">
                      <m:sSub>
                        <m:e>
                          <m:r>
                            <m:t xml:space="preserve">L</m:t>
                          </m:r>
                        </m:e>
                        <m:sub>
                          <m:r>
                            <m:t xml:space="preserve">g</m:t>
                          </m:r>
                        </m:sub>
                      </m:sSub>
                      <m:r>
                        <m:t xml:space="preserve">(</m:t>
                      </m:r>
                      <m:sSub>
                        <m:e>
                          <m:r>
                            <m:t xml:space="preserve">ω</m:t>
                          </m:r>
                        </m:e>
                        <m:sub>
                          <m:r>
                            <m:t xml:space="preserve">c</m:t>
                          </m:r>
                        </m:sub>
                      </m:sSub>
                      <m:r>
                        <m:t xml:space="preserve">)</m:t>
                      </m:r>
                      <m:r>
                        <m:t xml:space="preserve">&gt;</m:t>
                      </m:r>
                      <m:r>
                        <m:t xml:space="preserve">0</m:t>
                      </m:r>
                    </m:oMath>
                  </a14:m>
                </a:p>
              </p:txBody>
            </p:sp>
          </mc:Choice>
          <mc:Fallback>
            <p:sp>
              <p:nvSpPr>
                <p:cNvPr id="776" name="Object 20"/>
                <p:cNvSpPr txBox="1"/>
                <p:nvPr/>
              </p:nvSpPr>
              <p:spPr>
                <a:xfrm>
                  <a:off x="4205160" y="4149720"/>
                  <a:ext cx="1079640" cy="360000"/>
                </a:xfrm>
                <a:prstGeom prst="rect">
                  <a:avLst/>
                </a:prstGeom>
                <a:blipFill>
                  <a:blip r:embed="rId6"/>
                  <a:stretch>
                    <a:fillRect/>
                  </a:stretch>
                </a:blipFill>
              </p:spPr>
            </p:sp>
          </mc:Fallback>
        </mc:AlternateContent>
        <mc:AlternateContent>
          <mc:Choice xmlns:a14="http://schemas.microsoft.com/office/drawing/2010/main" Requires="a14">
            <p:sp>
              <p:nvSpPr>
                <p:cNvPr id="777" name="Object 21"/>
                <p:cNvSpPr txBox="1"/>
                <p:nvPr/>
              </p:nvSpPr>
              <p:spPr>
                <a:xfrm>
                  <a:off x="6012000" y="4147920"/>
                  <a:ext cx="1655640" cy="374400"/>
                </a:xfrm>
                <a:prstGeom prst="rect">
                  <a:avLst/>
                </a:prstGeom>
              </p:spPr>
              <p:txBody>
                <a:bodyPr/>
                <a:p>
                  <a14:m>
                    <m:oMath xmlns:m="http://schemas.openxmlformats.org/officeDocument/2006/math">
                      <m:sSub>
                        <m:e>
                          <m:r>
                            <m:t xml:space="preserve">L</m:t>
                          </m:r>
                        </m:e>
                        <m:sub>
                          <m:r>
                            <m:t xml:space="preserve">g</m:t>
                          </m:r>
                        </m:sub>
                      </m:sSub>
                      <m:r>
                        <m:t xml:space="preserve">(</m:t>
                      </m:r>
                      <m:sSub>
                        <m:e>
                          <m:r>
                            <m:t xml:space="preserve">ω</m:t>
                          </m:r>
                        </m:e>
                        <m:sub>
                          <m:r>
                            <m:t xml:space="preserve">c</m:t>
                          </m:r>
                        </m:sub>
                      </m:sSub>
                      <m:r>
                        <m:t xml:space="preserve">)</m:t>
                      </m:r>
                      <m:r>
                        <m:t xml:space="preserve">=</m:t>
                      </m:r>
                      <m:r>
                        <m:rPr>
                          <m:lit/>
                          <m:nor/>
                        </m:rPr>
                        <m:t xml:space="preserve">20</m:t>
                      </m:r>
                      <m:r>
                        <m:rPr>
                          <m:lit/>
                          <m:nor/>
                        </m:rPr>
                        <m:t xml:space="preserve">lg</m:t>
                      </m:r>
                      <m:r>
                        <m:t xml:space="preserve">β</m:t>
                      </m:r>
                    </m:oMath>
                  </a14:m>
                </a:p>
              </p:txBody>
            </p:sp>
          </mc:Choice>
          <mc:Fallback>
            <p:sp>
              <p:nvSpPr>
                <p:cNvPr id="777" name="Object 21"/>
                <p:cNvSpPr txBox="1"/>
                <p:nvPr/>
              </p:nvSpPr>
              <p:spPr>
                <a:xfrm>
                  <a:off x="6012000" y="4147920"/>
                  <a:ext cx="1655640" cy="374400"/>
                </a:xfrm>
                <a:prstGeom prst="rect">
                  <a:avLst/>
                </a:prstGeom>
                <a:blipFill>
                  <a:blip r:embed="rId7"/>
                  <a:stretch>
                    <a:fillRect/>
                  </a:stretch>
                </a:blipFill>
              </p:spPr>
            </p:sp>
          </mc:Fallback>
        </mc:AlternateContent>
        <mc:AlternateContent>
          <mc:Choice xmlns:a14="http://schemas.microsoft.com/office/drawing/2010/main" Requires="a14">
            <p:sp>
              <p:nvSpPr>
                <p:cNvPr id="778" name="Object 22"/>
                <p:cNvSpPr txBox="1"/>
                <p:nvPr/>
              </p:nvSpPr>
              <p:spPr>
                <a:xfrm>
                  <a:off x="3003480" y="4581360"/>
                  <a:ext cx="250920" cy="333000"/>
                </a:xfrm>
                <a:prstGeom prst="rect">
                  <a:avLst/>
                </a:prstGeom>
              </p:spPr>
              <p:txBody>
                <a:bodyPr/>
                <a:p>
                  <a14:m>
                    <m:oMath xmlns:m="http://schemas.openxmlformats.org/officeDocument/2006/math">
                      <m:r>
                        <m:t xml:space="preserve">β</m:t>
                      </m:r>
                    </m:oMath>
                  </a14:m>
                </a:p>
              </p:txBody>
            </p:sp>
          </mc:Choice>
          <mc:Fallback>
            <p:sp>
              <p:nvSpPr>
                <p:cNvPr id="778" name="Object 22"/>
                <p:cNvSpPr txBox="1"/>
                <p:nvPr/>
              </p:nvSpPr>
              <p:spPr>
                <a:xfrm>
                  <a:off x="3003480" y="4581360"/>
                  <a:ext cx="250920" cy="333000"/>
                </a:xfrm>
                <a:prstGeom prst="rect">
                  <a:avLst/>
                </a:prstGeom>
                <a:blipFill>
                  <a:blip r:embed="rId8"/>
                  <a:stretch>
                    <a:fillRect/>
                  </a:stretch>
                </a:blipFill>
              </p:spPr>
            </p:sp>
          </mc:Fallback>
        </mc:AlternateContent>
        <mc:AlternateContent>
          <mc:Choice xmlns:a14="http://schemas.microsoft.com/office/drawing/2010/main" Requires="a14">
            <p:sp>
              <p:nvSpPr>
                <p:cNvPr id="779" name="Object 23"/>
                <p:cNvSpPr txBox="1"/>
                <p:nvPr/>
              </p:nvSpPr>
              <p:spPr>
                <a:xfrm>
                  <a:off x="1547640" y="4868640"/>
                  <a:ext cx="2953080" cy="403200"/>
                </a:xfrm>
                <a:prstGeom prst="rect">
                  <a:avLst/>
                </a:prstGeom>
              </p:spPr>
              <p:txBody>
                <a:bodyPr/>
                <a:p>
                  <a14:m>
                    <m:oMath xmlns:m="http://schemas.openxmlformats.org/officeDocument/2006/math">
                      <m:sSub>
                        <m:e>
                          <m:r>
                            <m:t xml:space="preserve">ω</m:t>
                          </m:r>
                        </m:e>
                        <m:sub>
                          <m:r>
                            <m:t xml:space="preserve">2</m:t>
                          </m:r>
                        </m:sub>
                      </m:sSub>
                      <m:r>
                        <m:t xml:space="preserve">=</m:t>
                      </m:r>
                      <m:f>
                        <m:fPr>
                          <m:type m:val="lin"/>
                        </m:fPr>
                        <m:num>
                          <m:r>
                            <m:t xml:space="preserve">1</m:t>
                          </m:r>
                        </m:num>
                        <m:den>
                          <m:r>
                            <m:t xml:space="preserve">T</m:t>
                          </m:r>
                        </m:den>
                      </m:f>
                      <m:r>
                        <m:t xml:space="preserve">=</m:t>
                      </m:r>
                      <m:r>
                        <m:t xml:space="preserve">(</m:t>
                      </m:r>
                      <m:f>
                        <m:fPr>
                          <m:type m:val="lin"/>
                        </m:fPr>
                        <m:num>
                          <m:r>
                            <m:t xml:space="preserve">1</m:t>
                          </m:r>
                        </m:num>
                        <m:den>
                          <m:r>
                            <m:t xml:space="preserve">5</m:t>
                          </m:r>
                        </m:den>
                      </m:f>
                      <m:r>
                        <m:rPr>
                          <m:lit/>
                          <m:nor/>
                        </m:rPr>
                        <m:t xml:space="preserve">~</m:t>
                      </m:r>
                      <m:f>
                        <m:fPr>
                          <m:type m:val="lin"/>
                        </m:fPr>
                        <m:num>
                          <m:r>
                            <m:t xml:space="preserve">1</m:t>
                          </m:r>
                        </m:num>
                        <m:den>
                          <m:r>
                            <m:rPr>
                              <m:lit/>
                              <m:nor/>
                            </m:rPr>
                            <m:t xml:space="preserve">10</m:t>
                          </m:r>
                        </m:den>
                      </m:f>
                      <m:r>
                        <m:t xml:space="preserve">)</m:t>
                      </m:r>
                      <m:sSub>
                        <m:e>
                          <m:r>
                            <m:t xml:space="preserve">ω</m:t>
                          </m:r>
                        </m:e>
                        <m:sub>
                          <m:r>
                            <m:t xml:space="preserve">c</m:t>
                          </m:r>
                        </m:sub>
                      </m:sSub>
                    </m:oMath>
                  </a14:m>
                </a:p>
              </p:txBody>
            </p:sp>
          </mc:Choice>
          <mc:Fallback>
            <p:sp>
              <p:nvSpPr>
                <p:cNvPr id="779" name="Object 23"/>
                <p:cNvSpPr txBox="1"/>
                <p:nvPr/>
              </p:nvSpPr>
              <p:spPr>
                <a:xfrm>
                  <a:off x="1547640" y="4868640"/>
                  <a:ext cx="2953080" cy="403200"/>
                </a:xfrm>
                <a:prstGeom prst="rect">
                  <a:avLst/>
                </a:prstGeom>
                <a:blipFill>
                  <a:blip r:embed="rId9"/>
                  <a:stretch>
                    <a:fillRect/>
                  </a:stretch>
                </a:blipFill>
              </p:spPr>
            </p:sp>
          </mc:Fallback>
        </mc:AlternateContent>
        <mc:AlternateContent>
          <mc:Choice xmlns:a14="http://schemas.microsoft.com/office/drawing/2010/main" Requires="a14">
            <p:sp>
              <p:nvSpPr>
                <p:cNvPr id="780" name="Object 24"/>
                <p:cNvSpPr txBox="1"/>
                <p:nvPr/>
              </p:nvSpPr>
              <p:spPr>
                <a:xfrm>
                  <a:off x="5580000" y="4868640"/>
                  <a:ext cx="1368360" cy="380880"/>
                </a:xfrm>
                <a:prstGeom prst="rect">
                  <a:avLst/>
                </a:prstGeom>
              </p:spPr>
              <p:txBody>
                <a:bodyPr/>
                <a:p>
                  <a14:m>
                    <m:oMath xmlns:m="http://schemas.openxmlformats.org/officeDocument/2006/math">
                      <m:sSub>
                        <m:e>
                          <m:r>
                            <m:t xml:space="preserve">ω</m:t>
                          </m:r>
                        </m:e>
                        <m:sub>
                          <m:r>
                            <m:t xml:space="preserve">1</m:t>
                          </m:r>
                        </m:sub>
                      </m:sSub>
                      <m:r>
                        <m:t xml:space="preserve">=</m:t>
                      </m:r>
                      <m:f>
                        <m:fPr>
                          <m:type m:val="lin"/>
                        </m:fPr>
                        <m:num>
                          <m:r>
                            <m:t xml:space="preserve">1</m:t>
                          </m:r>
                        </m:num>
                        <m:den>
                          <m:r>
                            <m:t xml:space="preserve">(</m:t>
                          </m:r>
                        </m:den>
                      </m:f>
                      <m:r>
                        <m:t xml:space="preserve">βT</m:t>
                      </m:r>
                      <m:r>
                        <m:t xml:space="preserve">)</m:t>
                      </m:r>
                    </m:oMath>
                  </a14:m>
                </a:p>
              </p:txBody>
            </p:sp>
          </mc:Choice>
          <mc:Fallback>
            <p:sp>
              <p:nvSpPr>
                <p:cNvPr id="780" name="Object 24"/>
                <p:cNvSpPr txBox="1"/>
                <p:nvPr/>
              </p:nvSpPr>
              <p:spPr>
                <a:xfrm>
                  <a:off x="5580000" y="4868640"/>
                  <a:ext cx="1368360" cy="380880"/>
                </a:xfrm>
                <a:prstGeom prst="rect">
                  <a:avLst/>
                </a:prstGeom>
                <a:blipFill>
                  <a:blip r:embed="rId10"/>
                  <a:stretch>
                    <a:fillRect/>
                  </a:stretch>
                </a:blipFill>
              </p:spPr>
            </p:sp>
          </mc:Fallback>
        </mc:AlternateContent>
        <mc:AlternateContent>
          <mc:Choice xmlns:a14="http://schemas.microsoft.com/office/drawing/2010/main" Requires="a14">
            <p:sp>
              <p:nvSpPr>
                <p:cNvPr id="781" name="Object 25"/>
                <p:cNvSpPr txBox="1"/>
                <p:nvPr/>
              </p:nvSpPr>
              <p:spPr>
                <a:xfrm>
                  <a:off x="4788000" y="3716280"/>
                  <a:ext cx="380880" cy="45684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781" name="Object 25"/>
                <p:cNvSpPr txBox="1"/>
                <p:nvPr/>
              </p:nvSpPr>
              <p:spPr>
                <a:xfrm>
                  <a:off x="4788000" y="3716280"/>
                  <a:ext cx="380880" cy="456840"/>
                </a:xfrm>
                <a:prstGeom prst="rect">
                  <a:avLst/>
                </a:prstGeom>
                <a:blipFill>
                  <a:blip r:embed="rId11"/>
                  <a:stretch>
                    <a:fillRect/>
                  </a:stretch>
                </a:blipFill>
              </p:spPr>
            </p:sp>
          </mc:Fallback>
        </mc:AlternateContent>
      </p:grpSp>
    </p:spTree>
  </p:cSld>
  <p:transition>
    <p:random/>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D5F9D42-3463-4D0D-A0A9-941BB6C1D87B}"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sp>
        <p:nvSpPr>
          <p:cNvPr id="783" name="Rectangle 33"/>
          <p:cNvSpPr/>
          <p:nvPr/>
        </p:nvSpPr>
        <p:spPr>
          <a:xfrm>
            <a:off x="1188720" y="619560"/>
            <a:ext cx="3533760" cy="4597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8080"/>
                </a:solidFill>
                <a:effectLst/>
                <a:uFillTx/>
                <a:latin typeface="Times New Roman"/>
              </a:rPr>
              <a:t>三、串联滞后</a:t>
            </a:r>
            <a:r>
              <a:rPr lang="en-US" sz="2400" b="1" u="none" strike="noStrike">
                <a:solidFill>
                  <a:srgbClr val="008080"/>
                </a:solidFill>
                <a:effectLst/>
                <a:uFillTx/>
                <a:latin typeface="Times New Roman"/>
              </a:rPr>
              <a:t>—</a:t>
            </a:r>
            <a:r>
              <a:rPr lang="zh-CN" sz="2400" b="1" u="none" strike="noStrike">
                <a:solidFill>
                  <a:srgbClr val="008080"/>
                </a:solidFill>
                <a:effectLst/>
                <a:uFillTx/>
                <a:latin typeface="Times New Roman"/>
              </a:rPr>
              <a:t>超前校正</a:t>
            </a: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784" name="Object 36"/>
              <p:cNvSpPr txBox="1"/>
              <p:nvPr/>
            </p:nvSpPr>
            <p:spPr>
              <a:xfrm>
                <a:off x="539640" y="1628640"/>
                <a:ext cx="2808360" cy="75744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sSub>
                          <m:e>
                            <m:r>
                              <m:t xml:space="preserve">T</m:t>
                            </m:r>
                          </m:e>
                          <m:sub>
                            <m:r>
                              <m:t xml:space="preserve">2</m:t>
                            </m:r>
                          </m:sub>
                        </m:sSub>
                        <m:r>
                          <m:t xml:space="preserve">s</m:t>
                        </m:r>
                        <m:r>
                          <m:t xml:space="preserve">+</m:t>
                        </m:r>
                        <m:r>
                          <m:t xml:space="preserve">1</m:t>
                        </m:r>
                      </m:num>
                      <m:den>
                        <m:sSub>
                          <m:e>
                            <m:r>
                              <m:t xml:space="preserve">βT</m:t>
                            </m:r>
                          </m:e>
                          <m:sub>
                            <m:r>
                              <m:t xml:space="preserve">2</m:t>
                            </m:r>
                          </m:sub>
                        </m:sSub>
                        <m:r>
                          <m:t xml:space="preserve">s</m:t>
                        </m:r>
                        <m:r>
                          <m:t xml:space="preserve">+</m:t>
                        </m:r>
                        <m:r>
                          <m:t xml:space="preserve">1</m:t>
                        </m:r>
                      </m:den>
                    </m:f>
                    <m:r>
                      <m:t xml:space="preserve">⋅</m:t>
                    </m:r>
                    <m:f>
                      <m:num>
                        <m:sSub>
                          <m:e>
                            <m:r>
                              <m:t xml:space="preserve">αT</m:t>
                            </m:r>
                          </m:e>
                          <m:sub>
                            <m:r>
                              <m:t xml:space="preserve">1</m:t>
                            </m:r>
                          </m:sub>
                        </m:sSub>
                        <m:r>
                          <m:t xml:space="preserve">s</m:t>
                        </m:r>
                        <m:r>
                          <m:t xml:space="preserve">+</m:t>
                        </m:r>
                        <m:r>
                          <m:t xml:space="preserve">1</m:t>
                        </m:r>
                      </m:num>
                      <m:den>
                        <m:sSub>
                          <m:e>
                            <m:r>
                              <m:t xml:space="preserve">T</m:t>
                            </m:r>
                          </m:e>
                          <m:sub>
                            <m:r>
                              <m:t xml:space="preserve">1</m:t>
                            </m:r>
                          </m:sub>
                        </m:sSub>
                        <m:r>
                          <m:t xml:space="preserve">s</m:t>
                        </m:r>
                        <m:r>
                          <m:t xml:space="preserve">+</m:t>
                        </m:r>
                        <m:r>
                          <m:t xml:space="preserve">1</m:t>
                        </m:r>
                      </m:den>
                    </m:f>
                  </m:oMath>
                </a14:m>
              </a:p>
            </p:txBody>
          </p:sp>
        </mc:Choice>
        <mc:Fallback>
          <p:sp>
            <p:nvSpPr>
              <p:cNvPr id="784" name="Object 36"/>
              <p:cNvSpPr txBox="1"/>
              <p:nvPr/>
            </p:nvSpPr>
            <p:spPr>
              <a:xfrm>
                <a:off x="539640" y="1628640"/>
                <a:ext cx="2808360" cy="757440"/>
              </a:xfrm>
              <a:prstGeom prst="rect">
                <a:avLst/>
              </a:prstGeom>
              <a:blipFill>
                <a:blip r:embed="rId1"/>
                <a:stretch>
                  <a:fillRect/>
                </a:stretch>
              </a:blipFill>
            </p:spPr>
          </p:sp>
        </mc:Fallback>
      </mc:AlternateContent>
      <p:sp>
        <p:nvSpPr>
          <p:cNvPr id="785" name="Rectangle 39"/>
          <p:cNvSpPr/>
          <p:nvPr/>
        </p:nvSpPr>
        <p:spPr>
          <a:xfrm>
            <a:off x="464760" y="1125360"/>
            <a:ext cx="292392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rPr>
              <a:t>校正装置传递函数：</a:t>
            </a:r>
            <a:endParaRPr lang="en-US" sz="2400" b="0" u="none" strike="noStrike">
              <a:solidFill>
                <a:srgbClr val="000000"/>
              </a:solidFill>
              <a:effectLst/>
              <a:uFillTx/>
              <a:latin typeface="Times New Roman"/>
            </a:endParaRPr>
          </a:p>
        </p:txBody>
      </p:sp>
      <p:grpSp>
        <p:nvGrpSpPr>
          <p:cNvPr id="786" name="Group 41"/>
          <p:cNvGrpSpPr/>
          <p:nvPr/>
        </p:nvGrpSpPr>
        <p:grpSpPr>
          <a:xfrm>
            <a:off x="395280" y="2637000"/>
            <a:ext cx="3096720" cy="471240"/>
            <a:chOff x="395280" y="2637000"/>
            <a:chExt cx="3096720" cy="471240"/>
          </a:xfrm>
        </p:grpSpPr>
        <mc:AlternateContent>
          <mc:Choice xmlns:a14="http://schemas.microsoft.com/office/drawing/2010/main" Requires="a14">
            <p:sp>
              <p:nvSpPr>
                <p:cNvPr id="787" name="Object 37"/>
                <p:cNvSpPr txBox="1"/>
                <p:nvPr/>
              </p:nvSpPr>
              <p:spPr>
                <a:xfrm>
                  <a:off x="1042920" y="2709720"/>
                  <a:ext cx="1152000" cy="376200"/>
                </a:xfrm>
                <a:prstGeom prst="rect">
                  <a:avLst/>
                </a:prstGeom>
              </p:spPr>
              <p:txBody>
                <a:bodyPr/>
                <a:p>
                  <a14:m>
                    <m:oMath xmlns:m="http://schemas.openxmlformats.org/officeDocument/2006/math">
                      <m:r>
                        <m:t xml:space="preserve">β</m:t>
                      </m:r>
                      <m:r>
                        <m:t xml:space="preserve">≥</m:t>
                      </m:r>
                      <m:r>
                        <m:t xml:space="preserve">α</m:t>
                      </m:r>
                      <m:r>
                        <m:t xml:space="preserve">&gt;</m:t>
                      </m:r>
                      <m:r>
                        <m:t xml:space="preserve">1</m:t>
                      </m:r>
                    </m:oMath>
                  </a14:m>
                </a:p>
              </p:txBody>
            </p:sp>
          </mc:Choice>
          <mc:Fallback>
            <p:sp>
              <p:nvSpPr>
                <p:cNvPr id="787" name="Object 37"/>
                <p:cNvSpPr txBox="1"/>
                <p:nvPr/>
              </p:nvSpPr>
              <p:spPr>
                <a:xfrm>
                  <a:off x="1042920" y="2709720"/>
                  <a:ext cx="1152000" cy="376200"/>
                </a:xfrm>
                <a:prstGeom prst="rect">
                  <a:avLst/>
                </a:prstGeom>
                <a:blipFill>
                  <a:blip r:embed="rId2"/>
                  <a:stretch>
                    <a:fillRect/>
                  </a:stretch>
                </a:blipFill>
              </p:spPr>
            </p:sp>
          </mc:Fallback>
        </mc:AlternateContent>
        <mc:AlternateContent>
          <mc:Choice xmlns:a14="http://schemas.microsoft.com/office/drawing/2010/main" Requires="a14">
            <p:sp>
              <p:nvSpPr>
                <p:cNvPr id="788" name="Object 38"/>
                <p:cNvSpPr txBox="1"/>
                <p:nvPr/>
              </p:nvSpPr>
              <p:spPr>
                <a:xfrm>
                  <a:off x="2484360" y="2709720"/>
                  <a:ext cx="1007640" cy="398520"/>
                </a:xfrm>
                <a:prstGeom prst="rect">
                  <a:avLst/>
                </a:prstGeom>
              </p:spPr>
              <p:txBody>
                <a:bodyPr/>
                <a:p>
                  <a14:m>
                    <m:oMath xmlns:m="http://schemas.openxmlformats.org/officeDocument/2006/math">
                      <m:sSub>
                        <m:e>
                          <m:r>
                            <m:t xml:space="preserve">T</m:t>
                          </m:r>
                        </m:e>
                        <m:sub>
                          <m:r>
                            <m:t xml:space="preserve">2</m:t>
                          </m:r>
                        </m:sub>
                      </m:sSub>
                      <m:r>
                        <m:t xml:space="preserve">&gt;</m:t>
                      </m:r>
                      <m:sSub>
                        <m:e>
                          <m:r>
                            <m:t xml:space="preserve">αT</m:t>
                          </m:r>
                        </m:e>
                        <m:sub>
                          <m:r>
                            <m:t xml:space="preserve">1</m:t>
                          </m:r>
                        </m:sub>
                      </m:sSub>
                    </m:oMath>
                  </a14:m>
                </a:p>
              </p:txBody>
            </p:sp>
          </mc:Choice>
          <mc:Fallback>
            <p:sp>
              <p:nvSpPr>
                <p:cNvPr id="788" name="Object 38"/>
                <p:cNvSpPr txBox="1"/>
                <p:nvPr/>
              </p:nvSpPr>
              <p:spPr>
                <a:xfrm>
                  <a:off x="2484360" y="2709720"/>
                  <a:ext cx="1007640" cy="398520"/>
                </a:xfrm>
                <a:prstGeom prst="rect">
                  <a:avLst/>
                </a:prstGeom>
                <a:blipFill>
                  <a:blip r:embed="rId3"/>
                  <a:stretch>
                    <a:fillRect/>
                  </a:stretch>
                </a:blipFill>
              </p:spPr>
            </p:sp>
          </mc:Fallback>
        </mc:AlternateContent>
        <p:sp>
          <p:nvSpPr>
            <p:cNvPr id="789" name="Text Box 40"/>
            <p:cNvSpPr/>
            <p:nvPr/>
          </p:nvSpPr>
          <p:spPr>
            <a:xfrm>
              <a:off x="395280" y="2637000"/>
              <a:ext cx="79200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其中</a:t>
              </a:r>
              <a:endParaRPr lang="en-US" sz="2000" b="0" u="none" strike="noStrike">
                <a:solidFill>
                  <a:srgbClr val="000000"/>
                </a:solidFill>
                <a:effectLst/>
                <a:uFillTx/>
                <a:latin typeface="Times New Roman"/>
              </a:endParaRPr>
            </a:p>
          </p:txBody>
        </p:sp>
      </p:grpSp>
      <p:grpSp>
        <p:nvGrpSpPr>
          <p:cNvPr id="790" name="Group 44"/>
          <p:cNvGrpSpPr/>
          <p:nvPr/>
        </p:nvGrpSpPr>
        <p:grpSpPr>
          <a:xfrm>
            <a:off x="3851280" y="1628640"/>
            <a:ext cx="4811760" cy="4289400"/>
            <a:chOff x="3851280" y="1628640"/>
            <a:chExt cx="4811760" cy="4289400"/>
          </a:xfrm>
        </p:grpSpPr>
        <p:sp>
          <p:nvSpPr>
            <p:cNvPr id="791" name="AutoShape 43"/>
            <p:cNvSpPr/>
            <p:nvPr/>
          </p:nvSpPr>
          <p:spPr>
            <a:xfrm>
              <a:off x="3851280" y="1628640"/>
              <a:ext cx="4811760" cy="4271760"/>
            </a:xfrm>
            <a:prstGeom prst="rect">
              <a:avLst/>
            </a:prstGeom>
            <a:solidFill>
              <a:srgbClr val="CCFFCC"/>
            </a:solidFill>
            <a:ln w="0">
              <a:no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2" name="Line 45"/>
            <p:cNvSpPr/>
            <p:nvPr/>
          </p:nvSpPr>
          <p:spPr>
            <a:xfrm>
              <a:off x="4054320" y="2531880"/>
              <a:ext cx="4286520" cy="0"/>
            </a:xfrm>
            <a:prstGeom prst="line">
              <a:avLst/>
            </a:prstGeom>
            <a:ln cap="rnd" w="176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3" name="Freeform 46"/>
            <p:cNvSpPr/>
            <p:nvPr/>
          </p:nvSpPr>
          <p:spPr>
            <a:xfrm>
              <a:off x="8302680" y="2452320"/>
              <a:ext cx="156960" cy="160560"/>
            </a:xfrm>
            <a:custGeom>
              <a:avLst/>
              <a:gdLst>
                <a:gd name="GluePoint1X" fmla="*/ 51 w 138"/>
                <a:gd name="GluePoint1Y" fmla="*/ 27 h 138"/>
                <a:gd name="GluePoint2X" fmla="*/ 0 w 138"/>
                <a:gd name="GluePoint2Y" fmla="*/ 54 h 138"/>
                <a:gd name="GluePoint3X" fmla="*/ 0 w 138"/>
                <a:gd name="GluePoint3Y" fmla="*/ 0 h 138"/>
                <a:gd name="GluePoint4X" fmla="*/ 0 w 138"/>
                <a:gd name="GluePoint4Y" fmla="*/ 0 h 138"/>
                <a:gd name="GluePoint5X" fmla="*/ 51 w 138"/>
                <a:gd name="GluePoint5Y" fmla="*/ 27 h 13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8" h="138">
                  <a:moveTo>
                    <a:pt x="138" y="69"/>
                  </a:moveTo>
                  <a:lnTo>
                    <a:pt x="0" y="138"/>
                  </a:lnTo>
                  <a:cubicBezTo>
                    <a:pt x="22" y="94"/>
                    <a:pt x="22" y="43"/>
                    <a:pt x="0" y="0"/>
                  </a:cubicBezTo>
                  <a:lnTo>
                    <a:pt x="138" y="69"/>
                  </a:lnTo>
                  <a:close/>
                </a:path>
              </a:pathLst>
            </a:custGeom>
            <a:solidFill>
              <a:srgbClr val="000000"/>
            </a:solidFill>
            <a:ln w="0">
              <a:solidFill>
                <a:srgbClr val="000000"/>
              </a:solid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4" name="Line 47"/>
            <p:cNvSpPr/>
            <p:nvPr/>
          </p:nvSpPr>
          <p:spPr>
            <a:xfrm flipV="1">
              <a:off x="4468680" y="1955160"/>
              <a:ext cx="0" cy="1552680"/>
            </a:xfrm>
            <a:prstGeom prst="line">
              <a:avLst/>
            </a:prstGeom>
            <a:ln cap="rnd" w="176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5" name="Freeform 48"/>
            <p:cNvSpPr/>
            <p:nvPr/>
          </p:nvSpPr>
          <p:spPr>
            <a:xfrm>
              <a:off x="4389480" y="1834920"/>
              <a:ext cx="156960" cy="158760"/>
            </a:xfrm>
            <a:custGeom>
              <a:avLst/>
              <a:gdLst>
                <a:gd name="GluePoint1X" fmla="*/ 26 w 138"/>
                <a:gd name="GluePoint1Y" fmla="*/ 0 h 138"/>
                <a:gd name="GluePoint2X" fmla="*/ 51 w 138"/>
                <a:gd name="GluePoint2Y" fmla="*/ 52 h 138"/>
                <a:gd name="GluePoint3X" fmla="*/ 0 w 138"/>
                <a:gd name="GluePoint3Y" fmla="*/ 52 h 138"/>
                <a:gd name="GluePoint4X" fmla="*/ 0 w 138"/>
                <a:gd name="GluePoint4Y" fmla="*/ 52 h 138"/>
                <a:gd name="GluePoint5X" fmla="*/ 26 w 138"/>
                <a:gd name="GluePoint5Y" fmla="*/ 0 h 13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8" h="138">
                  <a:moveTo>
                    <a:pt x="69" y="0"/>
                  </a:moveTo>
                  <a:lnTo>
                    <a:pt x="138" y="138"/>
                  </a:lnTo>
                  <a:cubicBezTo>
                    <a:pt x="94" y="117"/>
                    <a:pt x="43" y="117"/>
                    <a:pt x="0" y="138"/>
                  </a:cubicBezTo>
                  <a:lnTo>
                    <a:pt x="69" y="0"/>
                  </a:lnTo>
                  <a:close/>
                </a:path>
              </a:pathLst>
            </a:custGeom>
            <a:solidFill>
              <a:srgbClr val="000000"/>
            </a:solidFill>
            <a:ln w="0">
              <a:solidFill>
                <a:srgbClr val="000000"/>
              </a:solid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796" name="Rectangle 49"/>
            <p:cNvSpPr/>
            <p:nvPr/>
          </p:nvSpPr>
          <p:spPr>
            <a:xfrm>
              <a:off x="4244760" y="1848960"/>
              <a:ext cx="13464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Times New Roman"/>
                </a:rPr>
                <a:t>L</a:t>
              </a:r>
              <a:endParaRPr lang="en-US" sz="1900" b="0" u="none" strike="noStrike">
                <a:solidFill>
                  <a:srgbClr val="000000"/>
                </a:solidFill>
                <a:effectLst/>
                <a:uFillTx/>
                <a:latin typeface="Times New Roman"/>
              </a:endParaRPr>
            </a:p>
          </p:txBody>
        </p:sp>
        <p:sp>
          <p:nvSpPr>
            <p:cNvPr id="797" name="Rectangle 50"/>
            <p:cNvSpPr/>
            <p:nvPr/>
          </p:nvSpPr>
          <p:spPr>
            <a:xfrm>
              <a:off x="8359560" y="2927160"/>
              <a:ext cx="157680" cy="2746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Symbol"/>
                  <a:ea typeface="Symbol"/>
                </a:rPr>
                <a:t></a:t>
              </a:r>
              <a:endParaRPr lang="en-US" sz="1800" b="0" u="none" strike="noStrike">
                <a:solidFill>
                  <a:srgbClr val="000000"/>
                </a:solidFill>
                <a:effectLst/>
                <a:uFillTx/>
                <a:latin typeface="Times New Roman"/>
              </a:endParaRPr>
            </a:p>
          </p:txBody>
        </p:sp>
        <p:sp>
          <p:nvSpPr>
            <p:cNvPr id="798" name="Rectangle 51"/>
            <p:cNvSpPr/>
            <p:nvPr/>
          </p:nvSpPr>
          <p:spPr>
            <a:xfrm>
              <a:off x="4289040" y="2531880"/>
              <a:ext cx="115200" cy="2746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imes New Roman"/>
                </a:rPr>
                <a:t>0</a:t>
              </a:r>
              <a:endParaRPr lang="en-US" sz="1800" b="0" u="none" strike="noStrike">
                <a:solidFill>
                  <a:srgbClr val="000000"/>
                </a:solidFill>
                <a:effectLst/>
                <a:uFillTx/>
                <a:latin typeface="Times New Roman"/>
              </a:endParaRPr>
            </a:p>
          </p:txBody>
        </p:sp>
        <p:sp>
          <p:nvSpPr>
            <p:cNvPr id="799" name="Line 52"/>
            <p:cNvSpPr/>
            <p:nvPr/>
          </p:nvSpPr>
          <p:spPr>
            <a:xfrm>
              <a:off x="4325760" y="4328640"/>
              <a:ext cx="4015080" cy="0"/>
            </a:xfrm>
            <a:prstGeom prst="line">
              <a:avLst/>
            </a:prstGeom>
            <a:ln cap="rnd" w="176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0" name="Freeform 53"/>
            <p:cNvSpPr/>
            <p:nvPr/>
          </p:nvSpPr>
          <p:spPr>
            <a:xfrm>
              <a:off x="8302680" y="4249440"/>
              <a:ext cx="156960" cy="158760"/>
            </a:xfrm>
            <a:custGeom>
              <a:avLst/>
              <a:gdLst>
                <a:gd name="GluePoint1X" fmla="*/ 51 w 138"/>
                <a:gd name="GluePoint1Y" fmla="*/ 26 h 138"/>
                <a:gd name="GluePoint2X" fmla="*/ 0 w 138"/>
                <a:gd name="GluePoint2Y" fmla="*/ 52 h 138"/>
                <a:gd name="GluePoint3X" fmla="*/ 0 w 138"/>
                <a:gd name="GluePoint3Y" fmla="*/ 0 h 138"/>
                <a:gd name="GluePoint4X" fmla="*/ 51 w 138"/>
                <a:gd name="GluePoint4Y" fmla="*/ 26 h 138"/>
              </a:gdLst>
              <a:ahLst/>
              <a:cxnLst>
                <a:cxn ang="0">
                  <a:pos x="GluePoint1X" y="GluePoint1Y"/>
                </a:cxn>
                <a:cxn ang="0">
                  <a:pos x="GluePoint2X" y="GluePoint2Y"/>
                </a:cxn>
                <a:cxn ang="0">
                  <a:pos x="GluePoint3X" y="GluePoint3Y"/>
                </a:cxn>
                <a:cxn ang="0">
                  <a:pos x="GluePoint4X" y="GluePoint4Y"/>
                </a:cxn>
              </a:cxnLst>
              <a:rect l="l" t="t" r="r" b="b"/>
              <a:pathLst>
                <a:path w="138" h="138">
                  <a:moveTo>
                    <a:pt x="138" y="69"/>
                  </a:moveTo>
                  <a:lnTo>
                    <a:pt x="0" y="138"/>
                  </a:lnTo>
                  <a:cubicBezTo>
                    <a:pt x="22" y="95"/>
                    <a:pt x="22" y="44"/>
                    <a:pt x="0" y="0"/>
                  </a:cubicBezTo>
                  <a:lnTo>
                    <a:pt x="138" y="69"/>
                  </a:lnTo>
                  <a:close/>
                </a:path>
              </a:pathLst>
            </a:custGeom>
            <a:solidFill>
              <a:srgbClr val="000000"/>
            </a:solidFill>
            <a:ln w="0">
              <a:solidFill>
                <a:srgbClr val="000000"/>
              </a:solid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1" name="Line 54"/>
            <p:cNvSpPr/>
            <p:nvPr/>
          </p:nvSpPr>
          <p:spPr>
            <a:xfrm flipV="1">
              <a:off x="4468680" y="3768120"/>
              <a:ext cx="0" cy="1692360"/>
            </a:xfrm>
            <a:prstGeom prst="line">
              <a:avLst/>
            </a:prstGeom>
            <a:ln cap="rnd" w="176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2" name="Freeform 55"/>
            <p:cNvSpPr/>
            <p:nvPr/>
          </p:nvSpPr>
          <p:spPr>
            <a:xfrm>
              <a:off x="4389480" y="3647880"/>
              <a:ext cx="156960" cy="160200"/>
            </a:xfrm>
            <a:custGeom>
              <a:avLst/>
              <a:gdLst>
                <a:gd name="GluePoint1X" fmla="*/ 26 w 138"/>
                <a:gd name="GluePoint1Y" fmla="*/ 0 h 139"/>
                <a:gd name="GluePoint2X" fmla="*/ 51 w 138"/>
                <a:gd name="GluePoint2Y" fmla="*/ 53 h 139"/>
                <a:gd name="GluePoint3X" fmla="*/ 0 w 138"/>
                <a:gd name="GluePoint3Y" fmla="*/ 53 h 139"/>
                <a:gd name="GluePoint4X" fmla="*/ 0 w 138"/>
                <a:gd name="GluePoint4Y" fmla="*/ 53 h 139"/>
                <a:gd name="GluePoint5X" fmla="*/ 26 w 138"/>
                <a:gd name="GluePoint5Y" fmla="*/ 0 h 13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8" h="139">
                  <a:moveTo>
                    <a:pt x="69" y="0"/>
                  </a:moveTo>
                  <a:lnTo>
                    <a:pt x="138" y="139"/>
                  </a:lnTo>
                  <a:cubicBezTo>
                    <a:pt x="94" y="117"/>
                    <a:pt x="43" y="117"/>
                    <a:pt x="0" y="139"/>
                  </a:cubicBezTo>
                  <a:lnTo>
                    <a:pt x="69" y="0"/>
                  </a:lnTo>
                  <a:close/>
                </a:path>
              </a:pathLst>
            </a:custGeom>
            <a:solidFill>
              <a:srgbClr val="000000"/>
            </a:solidFill>
            <a:ln w="0">
              <a:solidFill>
                <a:srgbClr val="000000"/>
              </a:solidFil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3" name="Rectangle 56"/>
            <p:cNvSpPr/>
            <p:nvPr/>
          </p:nvSpPr>
          <p:spPr>
            <a:xfrm>
              <a:off x="4217760" y="3485880"/>
              <a:ext cx="119880" cy="27468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i="1" u="none" strike="noStrike">
                  <a:solidFill>
                    <a:srgbClr val="000000"/>
                  </a:solidFill>
                  <a:effectLst/>
                  <a:uFillTx/>
                  <a:latin typeface="Symbol"/>
                  <a:ea typeface="Symbol"/>
                </a:rPr>
                <a:t></a:t>
              </a:r>
              <a:endParaRPr lang="en-US" sz="1800" b="0" u="none" strike="noStrike">
                <a:solidFill>
                  <a:srgbClr val="000000"/>
                </a:solidFill>
                <a:effectLst/>
                <a:uFillTx/>
                <a:latin typeface="Times New Roman"/>
              </a:endParaRPr>
            </a:p>
          </p:txBody>
        </p:sp>
        <p:sp>
          <p:nvSpPr>
            <p:cNvPr id="804" name="Rectangle 57"/>
            <p:cNvSpPr/>
            <p:nvPr/>
          </p:nvSpPr>
          <p:spPr>
            <a:xfrm>
              <a:off x="8359200" y="4309920"/>
              <a:ext cx="149040" cy="25956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700" b="0" i="1" u="none" strike="noStrike">
                  <a:solidFill>
                    <a:srgbClr val="000000"/>
                  </a:solidFill>
                  <a:effectLst/>
                  <a:uFillTx/>
                  <a:latin typeface="Symbol"/>
                  <a:ea typeface="Symbol"/>
                </a:rPr>
                <a:t></a:t>
              </a:r>
              <a:endParaRPr lang="en-US" sz="1700" b="0" u="none" strike="noStrike">
                <a:solidFill>
                  <a:srgbClr val="000000"/>
                </a:solidFill>
                <a:effectLst/>
                <a:uFillTx/>
                <a:latin typeface="Times New Roman"/>
              </a:endParaRPr>
            </a:p>
          </p:txBody>
        </p:sp>
        <p:grpSp>
          <p:nvGrpSpPr>
            <p:cNvPr id="805" name="Group 63"/>
            <p:cNvGrpSpPr/>
            <p:nvPr/>
          </p:nvGrpSpPr>
          <p:grpSpPr>
            <a:xfrm>
              <a:off x="4681440" y="1833120"/>
              <a:ext cx="389160" cy="658800"/>
              <a:chOff x="4681440" y="1833120"/>
              <a:chExt cx="389160" cy="658800"/>
            </a:xfrm>
          </p:grpSpPr>
          <p:sp>
            <p:nvSpPr>
              <p:cNvPr id="806" name="Line 58"/>
              <p:cNvSpPr/>
              <p:nvPr/>
            </p:nvSpPr>
            <p:spPr>
              <a:xfrm>
                <a:off x="4681440" y="2142720"/>
                <a:ext cx="389160" cy="0"/>
              </a:xfrm>
              <a:prstGeom prst="line">
                <a:avLst/>
              </a:prstGeom>
              <a:ln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07" name="Rectangle 59"/>
              <p:cNvSpPr/>
              <p:nvPr/>
            </p:nvSpPr>
            <p:spPr>
              <a:xfrm>
                <a:off x="4960440" y="2323800"/>
                <a:ext cx="70920" cy="1681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00000"/>
                    </a:solidFill>
                    <a:effectLst/>
                    <a:uFillTx/>
                    <a:latin typeface="Times New Roman"/>
                  </a:rPr>
                  <a:t>2</a:t>
                </a:r>
                <a:endParaRPr lang="en-US" sz="1100" b="0" u="none" strike="noStrike">
                  <a:solidFill>
                    <a:srgbClr val="000000"/>
                  </a:solidFill>
                  <a:effectLst/>
                  <a:uFillTx/>
                  <a:latin typeface="Times New Roman"/>
                </a:endParaRPr>
              </a:p>
            </p:txBody>
          </p:sp>
          <p:sp>
            <p:nvSpPr>
              <p:cNvPr id="808" name="Rectangle 60"/>
              <p:cNvSpPr/>
              <p:nvPr/>
            </p:nvSpPr>
            <p:spPr>
              <a:xfrm>
                <a:off x="4816440" y="1833120"/>
                <a:ext cx="12096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u="none" strike="noStrike">
                    <a:solidFill>
                      <a:srgbClr val="000000"/>
                    </a:solidFill>
                    <a:effectLst/>
                    <a:uFillTx/>
                    <a:latin typeface="Times New Roman"/>
                  </a:rPr>
                  <a:t>1</a:t>
                </a:r>
                <a:endParaRPr lang="en-US" sz="1900" b="0" u="none" strike="noStrike">
                  <a:solidFill>
                    <a:srgbClr val="000000"/>
                  </a:solidFill>
                  <a:effectLst/>
                  <a:uFillTx/>
                  <a:latin typeface="Times New Roman"/>
                </a:endParaRPr>
              </a:p>
            </p:txBody>
          </p:sp>
          <p:sp>
            <p:nvSpPr>
              <p:cNvPr id="809" name="Rectangle 61"/>
              <p:cNvSpPr/>
              <p:nvPr/>
            </p:nvSpPr>
            <p:spPr>
              <a:xfrm>
                <a:off x="4840200" y="2179440"/>
                <a:ext cx="13464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Times New Roman"/>
                  </a:rPr>
                  <a:t>T</a:t>
                </a:r>
                <a:endParaRPr lang="en-US" sz="1900" b="0" u="none" strike="noStrike">
                  <a:solidFill>
                    <a:srgbClr val="000000"/>
                  </a:solidFill>
                  <a:effectLst/>
                  <a:uFillTx/>
                  <a:latin typeface="Times New Roman"/>
                </a:endParaRPr>
              </a:p>
            </p:txBody>
          </p:sp>
          <p:sp>
            <p:nvSpPr>
              <p:cNvPr id="810" name="Rectangle 62"/>
              <p:cNvSpPr/>
              <p:nvPr/>
            </p:nvSpPr>
            <p:spPr>
              <a:xfrm>
                <a:off x="4704840" y="2152440"/>
                <a:ext cx="132840" cy="28980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Symbol"/>
                    <a:ea typeface="Symbol"/>
                  </a:rPr>
                  <a:t></a:t>
                </a:r>
                <a:endParaRPr lang="en-US" sz="1900" b="0" u="none" strike="noStrike">
                  <a:solidFill>
                    <a:srgbClr val="000000"/>
                  </a:solidFill>
                  <a:effectLst/>
                  <a:uFillTx/>
                  <a:latin typeface="Times New Roman"/>
                </a:endParaRPr>
              </a:p>
            </p:txBody>
          </p:sp>
        </p:grpSp>
        <p:grpSp>
          <p:nvGrpSpPr>
            <p:cNvPr id="811" name="Group 69"/>
            <p:cNvGrpSpPr/>
            <p:nvPr/>
          </p:nvGrpSpPr>
          <p:grpSpPr>
            <a:xfrm>
              <a:off x="6338880" y="1833120"/>
              <a:ext cx="357120" cy="658800"/>
              <a:chOff x="6338880" y="1833120"/>
              <a:chExt cx="357120" cy="658800"/>
            </a:xfrm>
          </p:grpSpPr>
          <p:sp>
            <p:nvSpPr>
              <p:cNvPr id="812" name="Line 64"/>
              <p:cNvSpPr/>
              <p:nvPr/>
            </p:nvSpPr>
            <p:spPr>
              <a:xfrm>
                <a:off x="6338880" y="2142720"/>
                <a:ext cx="357120" cy="0"/>
              </a:xfrm>
              <a:prstGeom prst="line">
                <a:avLst/>
              </a:prstGeom>
              <a:ln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13" name="Rectangle 65"/>
              <p:cNvSpPr/>
              <p:nvPr/>
            </p:nvSpPr>
            <p:spPr>
              <a:xfrm>
                <a:off x="6597360" y="2323800"/>
                <a:ext cx="70920" cy="1681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00000"/>
                    </a:solidFill>
                    <a:effectLst/>
                    <a:uFillTx/>
                    <a:latin typeface="Times New Roman"/>
                  </a:rPr>
                  <a:t>1</a:t>
                </a:r>
                <a:endParaRPr lang="en-US" sz="1100" b="0" u="none" strike="noStrike">
                  <a:solidFill>
                    <a:srgbClr val="000000"/>
                  </a:solidFill>
                  <a:effectLst/>
                  <a:uFillTx/>
                  <a:latin typeface="Times New Roman"/>
                </a:endParaRPr>
              </a:p>
            </p:txBody>
          </p:sp>
          <p:sp>
            <p:nvSpPr>
              <p:cNvPr id="814" name="Rectangle 66"/>
              <p:cNvSpPr/>
              <p:nvPr/>
            </p:nvSpPr>
            <p:spPr>
              <a:xfrm>
                <a:off x="6459480" y="1833120"/>
                <a:ext cx="12096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u="none" strike="noStrike">
                    <a:solidFill>
                      <a:srgbClr val="000000"/>
                    </a:solidFill>
                    <a:effectLst/>
                    <a:uFillTx/>
                    <a:latin typeface="Times New Roman"/>
                  </a:rPr>
                  <a:t>1</a:t>
                </a:r>
                <a:endParaRPr lang="en-US" sz="1900" b="0" u="none" strike="noStrike">
                  <a:solidFill>
                    <a:srgbClr val="000000"/>
                  </a:solidFill>
                  <a:effectLst/>
                  <a:uFillTx/>
                  <a:latin typeface="Times New Roman"/>
                </a:endParaRPr>
              </a:p>
            </p:txBody>
          </p:sp>
          <p:sp>
            <p:nvSpPr>
              <p:cNvPr id="815" name="Rectangle 67"/>
              <p:cNvSpPr/>
              <p:nvPr/>
            </p:nvSpPr>
            <p:spPr>
              <a:xfrm>
                <a:off x="6491160" y="2179440"/>
                <a:ext cx="13464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Times New Roman"/>
                  </a:rPr>
                  <a:t>T</a:t>
                </a:r>
                <a:endParaRPr lang="en-US" sz="1900" b="0" u="none" strike="noStrike">
                  <a:solidFill>
                    <a:srgbClr val="000000"/>
                  </a:solidFill>
                  <a:effectLst/>
                  <a:uFillTx/>
                  <a:latin typeface="Times New Roman"/>
                </a:endParaRPr>
              </a:p>
            </p:txBody>
          </p:sp>
          <p:sp>
            <p:nvSpPr>
              <p:cNvPr id="816" name="Rectangle 68"/>
              <p:cNvSpPr/>
              <p:nvPr/>
            </p:nvSpPr>
            <p:spPr>
              <a:xfrm>
                <a:off x="6340320" y="2152440"/>
                <a:ext cx="152640" cy="289800"/>
              </a:xfrm>
              <a:prstGeom prst="rect">
                <a:avLst/>
              </a:prstGeom>
              <a:noFill/>
              <a:ln w="0">
                <a:noFill/>
              </a:ln>
            </p:spPr>
            <p:style>
              <a:lnRef idx="0"/>
              <a:fillRef idx="0"/>
              <a:effectRef idx="0"/>
              <a:fontRef idx="minor"/>
            </p:style>
            <p:txBody>
              <a:bodyPr wrap="none" lIns="0" tIns="0" rIns="0" bIns="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Symbol"/>
                    <a:ea typeface="Symbol"/>
                  </a:rPr>
                  <a:t></a:t>
                </a:r>
                <a:endParaRPr lang="en-US" sz="1900" b="0" u="none" strike="noStrike">
                  <a:solidFill>
                    <a:srgbClr val="000000"/>
                  </a:solidFill>
                  <a:effectLst/>
                  <a:uFillTx/>
                  <a:latin typeface="Times New Roman"/>
                </a:endParaRPr>
              </a:p>
            </p:txBody>
          </p:sp>
        </p:grpSp>
        <p:grpSp>
          <p:nvGrpSpPr>
            <p:cNvPr id="817" name="Group 74"/>
            <p:cNvGrpSpPr/>
            <p:nvPr/>
          </p:nvGrpSpPr>
          <p:grpSpPr>
            <a:xfrm>
              <a:off x="5410080" y="1833120"/>
              <a:ext cx="230400" cy="658800"/>
              <a:chOff x="5410080" y="1833120"/>
              <a:chExt cx="230400" cy="658800"/>
            </a:xfrm>
          </p:grpSpPr>
          <p:sp>
            <p:nvSpPr>
              <p:cNvPr id="818" name="Line 70"/>
              <p:cNvSpPr/>
              <p:nvPr/>
            </p:nvSpPr>
            <p:spPr>
              <a:xfrm>
                <a:off x="5410080" y="2142720"/>
                <a:ext cx="230400" cy="0"/>
              </a:xfrm>
              <a:prstGeom prst="line">
                <a:avLst/>
              </a:prstGeom>
              <a:ln w="111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19" name="Rectangle 71"/>
              <p:cNvSpPr/>
              <p:nvPr/>
            </p:nvSpPr>
            <p:spPr>
              <a:xfrm>
                <a:off x="5532120" y="2323800"/>
                <a:ext cx="70920" cy="1681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00000"/>
                    </a:solidFill>
                    <a:effectLst/>
                    <a:uFillTx/>
                    <a:latin typeface="Times New Roman"/>
                  </a:rPr>
                  <a:t>2</a:t>
                </a:r>
                <a:endParaRPr lang="en-US" sz="1100" b="0" u="none" strike="noStrike">
                  <a:solidFill>
                    <a:srgbClr val="000000"/>
                  </a:solidFill>
                  <a:effectLst/>
                  <a:uFillTx/>
                  <a:latin typeface="Times New Roman"/>
                </a:endParaRPr>
              </a:p>
            </p:txBody>
          </p:sp>
          <p:sp>
            <p:nvSpPr>
              <p:cNvPr id="820" name="Rectangle 72"/>
              <p:cNvSpPr/>
              <p:nvPr/>
            </p:nvSpPr>
            <p:spPr>
              <a:xfrm>
                <a:off x="5465880" y="1833120"/>
                <a:ext cx="12096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u="none" strike="noStrike">
                    <a:solidFill>
                      <a:srgbClr val="000000"/>
                    </a:solidFill>
                    <a:effectLst/>
                    <a:uFillTx/>
                    <a:latin typeface="Times New Roman"/>
                  </a:rPr>
                  <a:t>1</a:t>
                </a:r>
                <a:endParaRPr lang="en-US" sz="1900" b="0" u="none" strike="noStrike">
                  <a:solidFill>
                    <a:srgbClr val="000000"/>
                  </a:solidFill>
                  <a:effectLst/>
                  <a:uFillTx/>
                  <a:latin typeface="Times New Roman"/>
                </a:endParaRPr>
              </a:p>
            </p:txBody>
          </p:sp>
          <p:sp>
            <p:nvSpPr>
              <p:cNvPr id="821" name="Rectangle 73"/>
              <p:cNvSpPr/>
              <p:nvPr/>
            </p:nvSpPr>
            <p:spPr>
              <a:xfrm>
                <a:off x="5414760" y="2177640"/>
                <a:ext cx="13464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Times New Roman"/>
                  </a:rPr>
                  <a:t>T</a:t>
                </a:r>
                <a:endParaRPr lang="en-US" sz="1900" b="0" u="none" strike="noStrike">
                  <a:solidFill>
                    <a:srgbClr val="000000"/>
                  </a:solidFill>
                  <a:effectLst/>
                  <a:uFillTx/>
                  <a:latin typeface="Times New Roman"/>
                </a:endParaRPr>
              </a:p>
            </p:txBody>
          </p:sp>
        </p:grpSp>
        <p:sp>
          <p:nvSpPr>
            <p:cNvPr id="822" name="Freeform 75"/>
            <p:cNvSpPr/>
            <p:nvPr/>
          </p:nvSpPr>
          <p:spPr>
            <a:xfrm>
              <a:off x="4808520" y="2531880"/>
              <a:ext cx="3097080" cy="696960"/>
            </a:xfrm>
            <a:custGeom>
              <a:avLst/>
              <a:gdLst>
                <a:gd name="GluePoint1X" fmla="*/ 0 w 1951"/>
                <a:gd name="GluePoint1Y" fmla="*/ 0 h 439"/>
                <a:gd name="GluePoint2X" fmla="*/ 433 w 1951"/>
                <a:gd name="GluePoint2Y" fmla="*/ 439 h 439"/>
                <a:gd name="GluePoint3X" fmla="*/ 1083 w 1951"/>
                <a:gd name="GluePoint3Y" fmla="*/ 439 h 439"/>
                <a:gd name="GluePoint4X" fmla="*/ 1604 w 1951"/>
                <a:gd name="GluePoint4Y" fmla="*/ 88 h 439"/>
                <a:gd name="GluePoint5X" fmla="*/ 1951 w 1951"/>
                <a:gd name="GluePoint5Y" fmla="*/ 88 h 43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951" h="439">
                  <a:moveTo>
                    <a:pt x="0" y="0"/>
                  </a:moveTo>
                  <a:lnTo>
                    <a:pt x="433" y="439"/>
                  </a:lnTo>
                  <a:lnTo>
                    <a:pt x="1083" y="439"/>
                  </a:lnTo>
                  <a:lnTo>
                    <a:pt x="1604" y="88"/>
                  </a:lnTo>
                  <a:lnTo>
                    <a:pt x="1951" y="88"/>
                  </a:lnTo>
                </a:path>
              </a:pathLst>
            </a:custGeom>
            <a:noFill/>
            <a:ln cap="rnd" w="3024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3" name="Freeform 76"/>
            <p:cNvSpPr/>
            <p:nvPr/>
          </p:nvSpPr>
          <p:spPr>
            <a:xfrm>
              <a:off x="5486400" y="2523960"/>
              <a:ext cx="19080" cy="714240"/>
            </a:xfrm>
            <a:custGeom>
              <a:avLst/>
              <a:gdLst>
                <a:gd name="GluePoint1X" fmla="*/ 0 w 16"/>
                <a:gd name="GluePoint1Y" fmla="*/ 234 h 620"/>
                <a:gd name="GluePoint2X" fmla="*/ 0 w 16"/>
                <a:gd name="GluePoint2Y" fmla="*/ 191 h 620"/>
                <a:gd name="GluePoint3X" fmla="*/ 4 w 16"/>
                <a:gd name="GluePoint3Y" fmla="*/ 188 h 620"/>
                <a:gd name="GluePoint4X" fmla="*/ 7 w 16"/>
                <a:gd name="GluePoint4Y" fmla="*/ 191 h 620"/>
                <a:gd name="GluePoint5X" fmla="*/ 7 w 16"/>
                <a:gd name="GluePoint5Y" fmla="*/ 234 h 620"/>
                <a:gd name="GluePoint6X" fmla="*/ 4 w 16"/>
                <a:gd name="GluePoint6Y" fmla="*/ 237 h 620"/>
                <a:gd name="GluePoint7X" fmla="*/ 0 w 16"/>
                <a:gd name="GluePoint7Y" fmla="*/ 234 h 620"/>
                <a:gd name="GluePoint8X" fmla="*/ 0 w 16"/>
                <a:gd name="GluePoint8Y" fmla="*/ 160 h 620"/>
                <a:gd name="GluePoint9X" fmla="*/ 0 w 16"/>
                <a:gd name="GluePoint9Y" fmla="*/ 118 h 620"/>
                <a:gd name="GluePoint10X" fmla="*/ 4 w 16"/>
                <a:gd name="GluePoint10Y" fmla="*/ 115 h 620"/>
                <a:gd name="GluePoint11X" fmla="*/ 7 w 16"/>
                <a:gd name="GluePoint11Y" fmla="*/ 118 h 620"/>
                <a:gd name="GluePoint12X" fmla="*/ 7 w 16"/>
                <a:gd name="GluePoint12Y" fmla="*/ 160 h 620"/>
                <a:gd name="GluePoint13X" fmla="*/ 4 w 16"/>
                <a:gd name="GluePoint13Y" fmla="*/ 164 h 620"/>
                <a:gd name="GluePoint14X" fmla="*/ 0 w 16"/>
                <a:gd name="GluePoint14Y" fmla="*/ 160 h 620"/>
                <a:gd name="GluePoint15X" fmla="*/ 0 w 16"/>
                <a:gd name="GluePoint15Y" fmla="*/ 87 h 620"/>
                <a:gd name="GluePoint16X" fmla="*/ 0 w 16"/>
                <a:gd name="GluePoint16Y" fmla="*/ 44 h 620"/>
                <a:gd name="GluePoint17X" fmla="*/ 4 w 16"/>
                <a:gd name="GluePoint17Y" fmla="*/ 41 h 620"/>
                <a:gd name="GluePoint18X" fmla="*/ 7 w 16"/>
                <a:gd name="GluePoint18Y" fmla="*/ 44 h 620"/>
                <a:gd name="GluePoint19X" fmla="*/ 7 w 16"/>
                <a:gd name="GluePoint19Y" fmla="*/ 87 h 620"/>
                <a:gd name="GluePoint20X" fmla="*/ 4 w 16"/>
                <a:gd name="GluePoint20Y" fmla="*/ 90 h 620"/>
                <a:gd name="GluePoint21X" fmla="*/ 0 w 16"/>
                <a:gd name="GluePoint21Y" fmla="*/ 87 h 620"/>
                <a:gd name="GluePoint22X" fmla="*/ 0 w 16"/>
                <a:gd name="GluePoint22Y" fmla="*/ 14 h 620"/>
                <a:gd name="GluePoint23X" fmla="*/ 0 w 16"/>
                <a:gd name="GluePoint23Y" fmla="*/ 3 h 620"/>
                <a:gd name="GluePoint24X" fmla="*/ 4 w 16"/>
                <a:gd name="GluePoint24Y" fmla="*/ 0 h 620"/>
                <a:gd name="GluePoint25X" fmla="*/ 7 w 16"/>
                <a:gd name="GluePoint25Y" fmla="*/ 3 h 620"/>
                <a:gd name="GluePoint26X" fmla="*/ 7 w 16"/>
                <a:gd name="GluePoint26Y" fmla="*/ 14 h 620"/>
                <a:gd name="GluePoint27X" fmla="*/ 4 w 16"/>
                <a:gd name="GluePoint27Y" fmla="*/ 17 h 620"/>
                <a:gd name="GluePoint28X" fmla="*/ 0 w 16"/>
                <a:gd name="GluePoint28Y" fmla="*/ 14 h 6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l" t="t" r="r" b="b"/>
              <a:pathLst>
                <a:path w="16" h="620">
                  <a:moveTo>
                    <a:pt x="0" y="612"/>
                  </a:moveTo>
                  <a:lnTo>
                    <a:pt x="0" y="500"/>
                  </a:lnTo>
                  <a:cubicBezTo>
                    <a:pt x="0" y="496"/>
                    <a:pt x="4" y="492"/>
                    <a:pt x="8" y="492"/>
                  </a:cubicBezTo>
                  <a:cubicBezTo>
                    <a:pt x="13" y="492"/>
                    <a:pt x="16" y="496"/>
                    <a:pt x="16" y="500"/>
                  </a:cubicBezTo>
                  <a:lnTo>
                    <a:pt x="16" y="612"/>
                  </a:lnTo>
                  <a:cubicBezTo>
                    <a:pt x="16" y="617"/>
                    <a:pt x="13" y="620"/>
                    <a:pt x="8" y="620"/>
                  </a:cubicBezTo>
                  <a:cubicBezTo>
                    <a:pt x="4" y="620"/>
                    <a:pt x="0" y="617"/>
                    <a:pt x="0" y="612"/>
                  </a:cubicBezTo>
                  <a:close/>
                  <a:moveTo>
                    <a:pt x="0" y="420"/>
                  </a:moveTo>
                  <a:lnTo>
                    <a:pt x="0" y="308"/>
                  </a:lnTo>
                  <a:cubicBezTo>
                    <a:pt x="0" y="304"/>
                    <a:pt x="4" y="300"/>
                    <a:pt x="8" y="300"/>
                  </a:cubicBezTo>
                  <a:cubicBezTo>
                    <a:pt x="13" y="300"/>
                    <a:pt x="16" y="304"/>
                    <a:pt x="16" y="308"/>
                  </a:cubicBezTo>
                  <a:lnTo>
                    <a:pt x="16" y="420"/>
                  </a:lnTo>
                  <a:cubicBezTo>
                    <a:pt x="16" y="425"/>
                    <a:pt x="13" y="428"/>
                    <a:pt x="8" y="428"/>
                  </a:cubicBezTo>
                  <a:cubicBezTo>
                    <a:pt x="4" y="428"/>
                    <a:pt x="0" y="425"/>
                    <a:pt x="0" y="420"/>
                  </a:cubicBezTo>
                  <a:close/>
                  <a:moveTo>
                    <a:pt x="0" y="228"/>
                  </a:moveTo>
                  <a:lnTo>
                    <a:pt x="0" y="116"/>
                  </a:lnTo>
                  <a:cubicBezTo>
                    <a:pt x="0" y="112"/>
                    <a:pt x="4" y="108"/>
                    <a:pt x="8" y="108"/>
                  </a:cubicBezTo>
                  <a:cubicBezTo>
                    <a:pt x="13" y="108"/>
                    <a:pt x="16" y="112"/>
                    <a:pt x="16" y="116"/>
                  </a:cubicBezTo>
                  <a:lnTo>
                    <a:pt x="16" y="228"/>
                  </a:lnTo>
                  <a:cubicBezTo>
                    <a:pt x="16" y="233"/>
                    <a:pt x="13" y="236"/>
                    <a:pt x="8" y="236"/>
                  </a:cubicBezTo>
                  <a:cubicBezTo>
                    <a:pt x="4" y="236"/>
                    <a:pt x="0" y="233"/>
                    <a:pt x="0" y="228"/>
                  </a:cubicBezTo>
                  <a:close/>
                  <a:moveTo>
                    <a:pt x="0" y="36"/>
                  </a:moveTo>
                  <a:lnTo>
                    <a:pt x="0" y="8"/>
                  </a:lnTo>
                  <a:cubicBezTo>
                    <a:pt x="0" y="3"/>
                    <a:pt x="4" y="0"/>
                    <a:pt x="8" y="0"/>
                  </a:cubicBezTo>
                  <a:cubicBezTo>
                    <a:pt x="13" y="0"/>
                    <a:pt x="16" y="3"/>
                    <a:pt x="16" y="8"/>
                  </a:cubicBezTo>
                  <a:lnTo>
                    <a:pt x="16" y="36"/>
                  </a:lnTo>
                  <a:cubicBezTo>
                    <a:pt x="16" y="41"/>
                    <a:pt x="13" y="44"/>
                    <a:pt x="8" y="44"/>
                  </a:cubicBezTo>
                  <a:cubicBezTo>
                    <a:pt x="4" y="44"/>
                    <a:pt x="0" y="41"/>
                    <a:pt x="0" y="36"/>
                  </a:cubicBezTo>
                  <a:close/>
                </a:path>
              </a:pathLst>
            </a:custGeom>
            <a:solidFill>
              <a:srgbClr val="000000"/>
            </a:solidFill>
            <a:ln w="17640">
              <a:solidFill>
                <a:srgbClr val="000000"/>
              </a:solidFill>
              <a:beve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4" name="Freeform 77"/>
            <p:cNvSpPr/>
            <p:nvPr/>
          </p:nvSpPr>
          <p:spPr>
            <a:xfrm>
              <a:off x="6519960" y="2523960"/>
              <a:ext cx="17280" cy="714240"/>
            </a:xfrm>
            <a:custGeom>
              <a:avLst/>
              <a:gdLst>
                <a:gd name="GluePoint1X" fmla="*/ 0 w 16"/>
                <a:gd name="GluePoint1Y" fmla="*/ 234 h 620"/>
                <a:gd name="GluePoint2X" fmla="*/ 0 w 16"/>
                <a:gd name="GluePoint2Y" fmla="*/ 191 h 620"/>
                <a:gd name="GluePoint3X" fmla="*/ 3 w 16"/>
                <a:gd name="GluePoint3Y" fmla="*/ 188 h 620"/>
                <a:gd name="GluePoint4X" fmla="*/ 6 w 16"/>
                <a:gd name="GluePoint4Y" fmla="*/ 191 h 620"/>
                <a:gd name="GluePoint5X" fmla="*/ 6 w 16"/>
                <a:gd name="GluePoint5Y" fmla="*/ 234 h 620"/>
                <a:gd name="GluePoint6X" fmla="*/ 3 w 16"/>
                <a:gd name="GluePoint6Y" fmla="*/ 237 h 620"/>
                <a:gd name="GluePoint7X" fmla="*/ 0 w 16"/>
                <a:gd name="GluePoint7Y" fmla="*/ 234 h 620"/>
                <a:gd name="GluePoint8X" fmla="*/ 0 w 16"/>
                <a:gd name="GluePoint8Y" fmla="*/ 160 h 620"/>
                <a:gd name="GluePoint9X" fmla="*/ 0 w 16"/>
                <a:gd name="GluePoint9Y" fmla="*/ 118 h 620"/>
                <a:gd name="GluePoint10X" fmla="*/ 3 w 16"/>
                <a:gd name="GluePoint10Y" fmla="*/ 115 h 620"/>
                <a:gd name="GluePoint11X" fmla="*/ 6 w 16"/>
                <a:gd name="GluePoint11Y" fmla="*/ 118 h 620"/>
                <a:gd name="GluePoint12X" fmla="*/ 6 w 16"/>
                <a:gd name="GluePoint12Y" fmla="*/ 160 h 620"/>
                <a:gd name="GluePoint13X" fmla="*/ 3 w 16"/>
                <a:gd name="GluePoint13Y" fmla="*/ 164 h 620"/>
                <a:gd name="GluePoint14X" fmla="*/ 0 w 16"/>
                <a:gd name="GluePoint14Y" fmla="*/ 160 h 620"/>
                <a:gd name="GluePoint15X" fmla="*/ 0 w 16"/>
                <a:gd name="GluePoint15Y" fmla="*/ 87 h 620"/>
                <a:gd name="GluePoint16X" fmla="*/ 0 w 16"/>
                <a:gd name="GluePoint16Y" fmla="*/ 44 h 620"/>
                <a:gd name="GluePoint17X" fmla="*/ 3 w 16"/>
                <a:gd name="GluePoint17Y" fmla="*/ 41 h 620"/>
                <a:gd name="GluePoint18X" fmla="*/ 6 w 16"/>
                <a:gd name="GluePoint18Y" fmla="*/ 44 h 620"/>
                <a:gd name="GluePoint19X" fmla="*/ 6 w 16"/>
                <a:gd name="GluePoint19Y" fmla="*/ 87 h 620"/>
                <a:gd name="GluePoint20X" fmla="*/ 3 w 16"/>
                <a:gd name="GluePoint20Y" fmla="*/ 90 h 620"/>
                <a:gd name="GluePoint21X" fmla="*/ 0 w 16"/>
                <a:gd name="GluePoint21Y" fmla="*/ 87 h 620"/>
                <a:gd name="GluePoint22X" fmla="*/ 0 w 16"/>
                <a:gd name="GluePoint22Y" fmla="*/ 14 h 620"/>
                <a:gd name="GluePoint23X" fmla="*/ 0 w 16"/>
                <a:gd name="GluePoint23Y" fmla="*/ 3 h 620"/>
                <a:gd name="GluePoint24X" fmla="*/ 3 w 16"/>
                <a:gd name="GluePoint24Y" fmla="*/ 0 h 620"/>
                <a:gd name="GluePoint25X" fmla="*/ 6 w 16"/>
                <a:gd name="GluePoint25Y" fmla="*/ 3 h 620"/>
                <a:gd name="GluePoint26X" fmla="*/ 6 w 16"/>
                <a:gd name="GluePoint26Y" fmla="*/ 14 h 620"/>
                <a:gd name="GluePoint27X" fmla="*/ 3 w 16"/>
                <a:gd name="GluePoint27Y" fmla="*/ 17 h 620"/>
                <a:gd name="GluePoint28X" fmla="*/ 0 w 16"/>
                <a:gd name="GluePoint28Y" fmla="*/ 14 h 6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l" t="t" r="r" b="b"/>
              <a:pathLst>
                <a:path w="16" h="620">
                  <a:moveTo>
                    <a:pt x="0" y="612"/>
                  </a:moveTo>
                  <a:lnTo>
                    <a:pt x="0" y="500"/>
                  </a:lnTo>
                  <a:cubicBezTo>
                    <a:pt x="0" y="496"/>
                    <a:pt x="4" y="492"/>
                    <a:pt x="8" y="492"/>
                  </a:cubicBezTo>
                  <a:cubicBezTo>
                    <a:pt x="13" y="492"/>
                    <a:pt x="16" y="496"/>
                    <a:pt x="16" y="500"/>
                  </a:cubicBezTo>
                  <a:lnTo>
                    <a:pt x="16" y="612"/>
                  </a:lnTo>
                  <a:cubicBezTo>
                    <a:pt x="16" y="617"/>
                    <a:pt x="13" y="620"/>
                    <a:pt x="8" y="620"/>
                  </a:cubicBezTo>
                  <a:cubicBezTo>
                    <a:pt x="4" y="620"/>
                    <a:pt x="0" y="617"/>
                    <a:pt x="0" y="612"/>
                  </a:cubicBezTo>
                  <a:close/>
                  <a:moveTo>
                    <a:pt x="0" y="420"/>
                  </a:moveTo>
                  <a:lnTo>
                    <a:pt x="0" y="308"/>
                  </a:lnTo>
                  <a:cubicBezTo>
                    <a:pt x="0" y="304"/>
                    <a:pt x="4" y="300"/>
                    <a:pt x="8" y="300"/>
                  </a:cubicBezTo>
                  <a:cubicBezTo>
                    <a:pt x="13" y="300"/>
                    <a:pt x="16" y="304"/>
                    <a:pt x="16" y="308"/>
                  </a:cubicBezTo>
                  <a:lnTo>
                    <a:pt x="16" y="420"/>
                  </a:lnTo>
                  <a:cubicBezTo>
                    <a:pt x="16" y="425"/>
                    <a:pt x="13" y="428"/>
                    <a:pt x="8" y="428"/>
                  </a:cubicBezTo>
                  <a:cubicBezTo>
                    <a:pt x="4" y="428"/>
                    <a:pt x="0" y="425"/>
                    <a:pt x="0" y="420"/>
                  </a:cubicBezTo>
                  <a:close/>
                  <a:moveTo>
                    <a:pt x="0" y="228"/>
                  </a:moveTo>
                  <a:lnTo>
                    <a:pt x="0" y="116"/>
                  </a:lnTo>
                  <a:cubicBezTo>
                    <a:pt x="0" y="112"/>
                    <a:pt x="4" y="108"/>
                    <a:pt x="8" y="108"/>
                  </a:cubicBezTo>
                  <a:cubicBezTo>
                    <a:pt x="13" y="108"/>
                    <a:pt x="16" y="112"/>
                    <a:pt x="16" y="116"/>
                  </a:cubicBezTo>
                  <a:lnTo>
                    <a:pt x="16" y="228"/>
                  </a:lnTo>
                  <a:cubicBezTo>
                    <a:pt x="16" y="233"/>
                    <a:pt x="13" y="236"/>
                    <a:pt x="8" y="236"/>
                  </a:cubicBezTo>
                  <a:cubicBezTo>
                    <a:pt x="4" y="236"/>
                    <a:pt x="0" y="233"/>
                    <a:pt x="0" y="228"/>
                  </a:cubicBezTo>
                  <a:close/>
                  <a:moveTo>
                    <a:pt x="0" y="36"/>
                  </a:moveTo>
                  <a:lnTo>
                    <a:pt x="0" y="8"/>
                  </a:lnTo>
                  <a:cubicBezTo>
                    <a:pt x="0" y="3"/>
                    <a:pt x="4" y="0"/>
                    <a:pt x="8" y="0"/>
                  </a:cubicBezTo>
                  <a:cubicBezTo>
                    <a:pt x="13" y="0"/>
                    <a:pt x="16" y="3"/>
                    <a:pt x="16" y="8"/>
                  </a:cubicBezTo>
                  <a:lnTo>
                    <a:pt x="16" y="36"/>
                  </a:lnTo>
                  <a:cubicBezTo>
                    <a:pt x="16" y="41"/>
                    <a:pt x="13" y="44"/>
                    <a:pt x="8" y="44"/>
                  </a:cubicBezTo>
                  <a:cubicBezTo>
                    <a:pt x="4" y="44"/>
                    <a:pt x="0" y="41"/>
                    <a:pt x="0" y="36"/>
                  </a:cubicBezTo>
                  <a:close/>
                </a:path>
              </a:pathLst>
            </a:custGeom>
            <a:solidFill>
              <a:srgbClr val="000000"/>
            </a:solidFill>
            <a:ln w="17640">
              <a:solidFill>
                <a:srgbClr val="000000"/>
              </a:solidFill>
              <a:beve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825" name="Group 82"/>
            <p:cNvGrpSpPr/>
            <p:nvPr/>
          </p:nvGrpSpPr>
          <p:grpSpPr>
            <a:xfrm>
              <a:off x="7267680" y="1833120"/>
              <a:ext cx="210960" cy="658800"/>
              <a:chOff x="7267680" y="1833120"/>
              <a:chExt cx="210960" cy="658800"/>
            </a:xfrm>
          </p:grpSpPr>
          <p:sp>
            <p:nvSpPr>
              <p:cNvPr id="826" name="Line 78"/>
              <p:cNvSpPr/>
              <p:nvPr/>
            </p:nvSpPr>
            <p:spPr>
              <a:xfrm>
                <a:off x="7267680" y="2142720"/>
                <a:ext cx="210960" cy="0"/>
              </a:xfrm>
              <a:prstGeom prst="line">
                <a:avLst/>
              </a:prstGeom>
              <a:ln w="1260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27" name="Rectangle 79"/>
              <p:cNvSpPr/>
              <p:nvPr/>
            </p:nvSpPr>
            <p:spPr>
              <a:xfrm>
                <a:off x="7380000" y="2323800"/>
                <a:ext cx="70920" cy="1681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00000"/>
                    </a:solidFill>
                    <a:effectLst/>
                    <a:uFillTx/>
                    <a:latin typeface="Times New Roman"/>
                  </a:rPr>
                  <a:t>1</a:t>
                </a:r>
                <a:endParaRPr lang="en-US" sz="1100" b="0" u="none" strike="noStrike">
                  <a:solidFill>
                    <a:srgbClr val="000000"/>
                  </a:solidFill>
                  <a:effectLst/>
                  <a:uFillTx/>
                  <a:latin typeface="Times New Roman"/>
                </a:endParaRPr>
              </a:p>
            </p:txBody>
          </p:sp>
          <p:sp>
            <p:nvSpPr>
              <p:cNvPr id="828" name="Rectangle 80"/>
              <p:cNvSpPr/>
              <p:nvPr/>
            </p:nvSpPr>
            <p:spPr>
              <a:xfrm>
                <a:off x="7313400" y="1833120"/>
                <a:ext cx="12096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u="none" strike="noStrike">
                    <a:solidFill>
                      <a:srgbClr val="000000"/>
                    </a:solidFill>
                    <a:effectLst/>
                    <a:uFillTx/>
                    <a:latin typeface="Times New Roman"/>
                  </a:rPr>
                  <a:t>1</a:t>
                </a:r>
                <a:endParaRPr lang="en-US" sz="1900" b="0" u="none" strike="noStrike">
                  <a:solidFill>
                    <a:srgbClr val="000000"/>
                  </a:solidFill>
                  <a:effectLst/>
                  <a:uFillTx/>
                  <a:latin typeface="Times New Roman"/>
                </a:endParaRPr>
              </a:p>
            </p:txBody>
          </p:sp>
          <p:sp>
            <p:nvSpPr>
              <p:cNvPr id="829" name="Rectangle 81"/>
              <p:cNvSpPr/>
              <p:nvPr/>
            </p:nvSpPr>
            <p:spPr>
              <a:xfrm>
                <a:off x="7272360" y="2179440"/>
                <a:ext cx="134640" cy="28980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i="1" u="none" strike="noStrike">
                    <a:solidFill>
                      <a:srgbClr val="000000"/>
                    </a:solidFill>
                    <a:effectLst/>
                    <a:uFillTx/>
                    <a:latin typeface="Times New Roman"/>
                  </a:rPr>
                  <a:t>T</a:t>
                </a:r>
                <a:endParaRPr lang="en-US" sz="1900" b="0" u="none" strike="noStrike">
                  <a:solidFill>
                    <a:srgbClr val="000000"/>
                  </a:solidFill>
                  <a:effectLst/>
                  <a:uFillTx/>
                  <a:latin typeface="Times New Roman"/>
                </a:endParaRPr>
              </a:p>
            </p:txBody>
          </p:sp>
        </p:grpSp>
        <p:sp>
          <p:nvSpPr>
            <p:cNvPr id="830" name="Freeform 83"/>
            <p:cNvSpPr/>
            <p:nvPr/>
          </p:nvSpPr>
          <p:spPr>
            <a:xfrm>
              <a:off x="7345440" y="2533320"/>
              <a:ext cx="19080" cy="147600"/>
            </a:xfrm>
            <a:custGeom>
              <a:avLst/>
              <a:gdLst>
                <a:gd name="GluePoint1X" fmla="*/ 0 w 16"/>
                <a:gd name="GluePoint1Y" fmla="*/ 46 h 128"/>
                <a:gd name="GluePoint2X" fmla="*/ 0 w 16"/>
                <a:gd name="GluePoint2Y" fmla="*/ 3 h 128"/>
                <a:gd name="GluePoint3X" fmla="*/ 4 w 16"/>
                <a:gd name="GluePoint3Y" fmla="*/ 0 h 128"/>
                <a:gd name="GluePoint4X" fmla="*/ 7 w 16"/>
                <a:gd name="GluePoint4Y" fmla="*/ 3 h 128"/>
                <a:gd name="GluePoint5X" fmla="*/ 7 w 16"/>
                <a:gd name="GluePoint5Y" fmla="*/ 46 h 128"/>
                <a:gd name="GluePoint6X" fmla="*/ 4 w 16"/>
                <a:gd name="GluePoint6Y" fmla="*/ 49 h 128"/>
                <a:gd name="GluePoint7X" fmla="*/ 0 w 16"/>
                <a:gd name="GluePoint7Y" fmla="*/ 46 h 1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6" h="128">
                  <a:moveTo>
                    <a:pt x="0" y="120"/>
                  </a:moveTo>
                  <a:lnTo>
                    <a:pt x="0" y="8"/>
                  </a:lnTo>
                  <a:cubicBezTo>
                    <a:pt x="0" y="3"/>
                    <a:pt x="4" y="0"/>
                    <a:pt x="8" y="0"/>
                  </a:cubicBezTo>
                  <a:cubicBezTo>
                    <a:pt x="12" y="0"/>
                    <a:pt x="16" y="3"/>
                    <a:pt x="16" y="8"/>
                  </a:cubicBezTo>
                  <a:lnTo>
                    <a:pt x="16" y="120"/>
                  </a:lnTo>
                  <a:cubicBezTo>
                    <a:pt x="16" y="124"/>
                    <a:pt x="12" y="128"/>
                    <a:pt x="8" y="128"/>
                  </a:cubicBezTo>
                  <a:cubicBezTo>
                    <a:pt x="4" y="128"/>
                    <a:pt x="0" y="124"/>
                    <a:pt x="0" y="120"/>
                  </a:cubicBezTo>
                  <a:close/>
                </a:path>
              </a:pathLst>
            </a:custGeom>
            <a:solidFill>
              <a:srgbClr val="000000"/>
            </a:solidFill>
            <a:ln w="17640">
              <a:solidFill>
                <a:srgbClr val="000000"/>
              </a:solidFill>
              <a:bevel/>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1" name="Freeform 84"/>
            <p:cNvSpPr/>
            <p:nvPr/>
          </p:nvSpPr>
          <p:spPr>
            <a:xfrm>
              <a:off x="4587840" y="4019400"/>
              <a:ext cx="2975040" cy="658800"/>
            </a:xfrm>
            <a:custGeom>
              <a:avLst/>
              <a:gdLst>
                <a:gd name="GluePoint1X" fmla="*/ 0 w 1874"/>
                <a:gd name="GluePoint1Y" fmla="*/ 228 h 415"/>
                <a:gd name="GluePoint2X" fmla="*/ 207 w 1874"/>
                <a:gd name="GluePoint2Y" fmla="*/ 285 h 415"/>
                <a:gd name="GluePoint3X" fmla="*/ 470 w 1874"/>
                <a:gd name="GluePoint3Y" fmla="*/ 398 h 415"/>
                <a:gd name="GluePoint4X" fmla="*/ 1334 w 1874"/>
                <a:gd name="GluePoint4Y" fmla="*/ 8 h 415"/>
                <a:gd name="GluePoint5X" fmla="*/ 1628 w 1874"/>
                <a:gd name="GluePoint5Y" fmla="*/ 144 h 415"/>
                <a:gd name="GluePoint6X" fmla="*/ 1874 w 1874"/>
                <a:gd name="GluePoint6Y" fmla="*/ 183 h 4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874" h="415">
                  <a:moveTo>
                    <a:pt x="0" y="228"/>
                  </a:moveTo>
                  <a:cubicBezTo>
                    <a:pt x="35" y="237"/>
                    <a:pt x="83" y="234"/>
                    <a:pt x="207" y="285"/>
                  </a:cubicBezTo>
                  <a:cubicBezTo>
                    <a:pt x="331" y="335"/>
                    <a:pt x="341" y="380"/>
                    <a:pt x="470" y="398"/>
                  </a:cubicBezTo>
                  <a:cubicBezTo>
                    <a:pt x="600" y="415"/>
                    <a:pt x="1213" y="0"/>
                    <a:pt x="1334" y="8"/>
                  </a:cubicBezTo>
                  <a:cubicBezTo>
                    <a:pt x="1455" y="16"/>
                    <a:pt x="1501" y="107"/>
                    <a:pt x="1628" y="144"/>
                  </a:cubicBezTo>
                  <a:cubicBezTo>
                    <a:pt x="1755" y="181"/>
                    <a:pt x="1823" y="175"/>
                    <a:pt x="1874" y="183"/>
                  </a:cubicBezTo>
                </a:path>
              </a:pathLst>
            </a:custGeom>
            <a:noFill/>
            <a:ln w="2232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2" name="Line 85"/>
            <p:cNvSpPr/>
            <p:nvPr/>
          </p:nvSpPr>
          <p:spPr>
            <a:xfrm>
              <a:off x="4464000" y="3927240"/>
              <a:ext cx="3165480" cy="0"/>
            </a:xfrm>
            <a:prstGeom prst="line">
              <a:avLst/>
            </a:prstGeom>
            <a:ln cap="rnd" w="302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3" name="Line 86"/>
            <p:cNvSpPr/>
            <p:nvPr/>
          </p:nvSpPr>
          <p:spPr>
            <a:xfrm>
              <a:off x="4468680" y="4763880"/>
              <a:ext cx="3160800" cy="0"/>
            </a:xfrm>
            <a:prstGeom prst="line">
              <a:avLst/>
            </a:prstGeom>
            <a:ln cap="rnd" w="3024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34" name="Rectangle 87"/>
            <p:cNvSpPr/>
            <p:nvPr/>
          </p:nvSpPr>
          <p:spPr>
            <a:xfrm>
              <a:off x="4160880" y="3806640"/>
              <a:ext cx="20340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90</a:t>
              </a:r>
              <a:endParaRPr lang="en-US" sz="1600" b="0" u="none" strike="noStrike">
                <a:solidFill>
                  <a:srgbClr val="000000"/>
                </a:solidFill>
                <a:effectLst/>
                <a:uFillTx/>
                <a:latin typeface="Times New Roman"/>
              </a:endParaRPr>
            </a:p>
          </p:txBody>
        </p:sp>
        <p:sp>
          <p:nvSpPr>
            <p:cNvPr id="835" name="Rectangle 88"/>
            <p:cNvSpPr/>
            <p:nvPr/>
          </p:nvSpPr>
          <p:spPr>
            <a:xfrm>
              <a:off x="4403880" y="3806640"/>
              <a:ext cx="8172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a:t>
              </a:r>
              <a:endParaRPr lang="en-US" sz="1600" b="0" u="none" strike="noStrike">
                <a:solidFill>
                  <a:srgbClr val="000000"/>
                </a:solidFill>
                <a:effectLst/>
                <a:uFillTx/>
                <a:latin typeface="Times New Roman"/>
              </a:endParaRPr>
            </a:p>
          </p:txBody>
        </p:sp>
        <p:sp>
          <p:nvSpPr>
            <p:cNvPr id="836" name="Rectangle 89"/>
            <p:cNvSpPr/>
            <p:nvPr/>
          </p:nvSpPr>
          <p:spPr>
            <a:xfrm>
              <a:off x="4087800" y="4673160"/>
              <a:ext cx="6804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a:t>
              </a:r>
              <a:endParaRPr lang="en-US" sz="1600" b="0" u="none" strike="noStrike">
                <a:solidFill>
                  <a:srgbClr val="000000"/>
                </a:solidFill>
                <a:effectLst/>
                <a:uFillTx/>
                <a:latin typeface="Times New Roman"/>
              </a:endParaRPr>
            </a:p>
          </p:txBody>
        </p:sp>
        <p:sp>
          <p:nvSpPr>
            <p:cNvPr id="837" name="Rectangle 90"/>
            <p:cNvSpPr/>
            <p:nvPr/>
          </p:nvSpPr>
          <p:spPr>
            <a:xfrm>
              <a:off x="4160880" y="4673160"/>
              <a:ext cx="20340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90</a:t>
              </a:r>
              <a:endParaRPr lang="en-US" sz="1600" b="0" u="none" strike="noStrike">
                <a:solidFill>
                  <a:srgbClr val="000000"/>
                </a:solidFill>
                <a:effectLst/>
                <a:uFillTx/>
                <a:latin typeface="Times New Roman"/>
              </a:endParaRPr>
            </a:p>
          </p:txBody>
        </p:sp>
        <p:sp>
          <p:nvSpPr>
            <p:cNvPr id="838" name="Rectangle 91"/>
            <p:cNvSpPr/>
            <p:nvPr/>
          </p:nvSpPr>
          <p:spPr>
            <a:xfrm>
              <a:off x="4403880" y="4673160"/>
              <a:ext cx="8172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a:t>
              </a:r>
              <a:endParaRPr lang="en-US" sz="1600" b="0" u="none" strike="noStrike">
                <a:solidFill>
                  <a:srgbClr val="000000"/>
                </a:solidFill>
                <a:effectLst/>
                <a:uFillTx/>
                <a:latin typeface="Times New Roman"/>
              </a:endParaRPr>
            </a:p>
          </p:txBody>
        </p:sp>
        <p:sp>
          <p:nvSpPr>
            <p:cNvPr id="839" name="Rectangle 92"/>
            <p:cNvSpPr/>
            <p:nvPr/>
          </p:nvSpPr>
          <p:spPr>
            <a:xfrm>
              <a:off x="4142880" y="4285800"/>
              <a:ext cx="10224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0</a:t>
              </a:r>
              <a:endParaRPr lang="en-US" sz="1600" b="0" u="none" strike="noStrike">
                <a:solidFill>
                  <a:srgbClr val="000000"/>
                </a:solidFill>
                <a:effectLst/>
                <a:uFillTx/>
                <a:latin typeface="Times New Roman"/>
              </a:endParaRPr>
            </a:p>
          </p:txBody>
        </p:sp>
        <p:sp>
          <p:nvSpPr>
            <p:cNvPr id="840" name="Rectangle 93"/>
            <p:cNvSpPr/>
            <p:nvPr/>
          </p:nvSpPr>
          <p:spPr>
            <a:xfrm>
              <a:off x="4294440" y="4285800"/>
              <a:ext cx="81720" cy="24408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imes New Roman"/>
                </a:rPr>
                <a:t>°</a:t>
              </a:r>
              <a:endParaRPr lang="en-US" sz="1600" b="0" u="none" strike="noStrike">
                <a:solidFill>
                  <a:srgbClr val="000000"/>
                </a:solidFill>
                <a:effectLst/>
                <a:uFillTx/>
                <a:latin typeface="Times New Roman"/>
              </a:endParaRPr>
            </a:p>
          </p:txBody>
        </p:sp>
        <p:sp>
          <p:nvSpPr>
            <p:cNvPr id="841" name="Rectangle 94"/>
            <p:cNvSpPr/>
            <p:nvPr/>
          </p:nvSpPr>
          <p:spPr>
            <a:xfrm>
              <a:off x="5035680" y="5613120"/>
              <a:ext cx="1440" cy="3049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42" name="Rectangle 95"/>
            <p:cNvSpPr/>
            <p:nvPr/>
          </p:nvSpPr>
          <p:spPr>
            <a:xfrm>
              <a:off x="5472000" y="5613120"/>
              <a:ext cx="1800" cy="3049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43" name="Rectangle 96"/>
            <p:cNvSpPr/>
            <p:nvPr/>
          </p:nvSpPr>
          <p:spPr>
            <a:xfrm>
              <a:off x="5691240" y="5613120"/>
              <a:ext cx="1440" cy="304920"/>
            </a:xfrm>
            <a:prstGeom prst="rect">
              <a:avLst/>
            </a:prstGeom>
            <a:noFill/>
            <a:ln w="0">
              <a:noFill/>
            </a:ln>
          </p:spPr>
          <p:style>
            <a:lnRef idx="0"/>
            <a:fillRef idx="0"/>
            <a:effectRef idx="0"/>
            <a:fontRef idx="minor"/>
          </p:style>
          <p:txBody>
            <a:bodyPr wrap="none" lIns="0" tIns="0" rIns="0" bIns="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844" name="Rectangle 98"/>
          <p:cNvSpPr/>
          <p:nvPr/>
        </p:nvSpPr>
        <p:spPr>
          <a:xfrm>
            <a:off x="611280" y="3047040"/>
            <a:ext cx="2808360" cy="3294360"/>
          </a:xfrm>
          <a:prstGeom prst="rect">
            <a:avLst/>
          </a:prstGeom>
          <a:solidFill>
            <a:srgbClr val="FFCCCC"/>
          </a:solidFill>
          <a:ln w="9360">
            <a:solidFill>
              <a:srgbClr val="000000"/>
            </a:solidFill>
            <a:miter/>
          </a:ln>
        </p:spPr>
        <p:style>
          <a:lnRef idx="0"/>
          <a:fillRef idx="0"/>
          <a:effectRef idx="0"/>
          <a:fontRef idx="minor"/>
        </p:style>
        <p:txBody>
          <a:bodyPr lIns="90000" tIns="46800" rIns="90000" bIns="46800" anchor="ctr">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imes New Roman"/>
              </a:rPr>
              <a:t>   </a:t>
            </a:r>
            <a:r>
              <a:rPr lang="zh-CN" sz="2400" b="1" u="none" strike="noStrike">
                <a:solidFill>
                  <a:srgbClr val="000000"/>
                </a:solidFill>
                <a:effectLst/>
                <a:uFillTx/>
                <a:latin typeface="Times New Roman"/>
              </a:rPr>
              <a:t>这种校正方法包含了滞后校正与超前校正二者的优点，即校正后的系统响应速度快，超调量较小，抑制高频噪声的性能也较好。</a:t>
            </a:r>
            <a:endParaRPr lang="en-US" sz="2400" b="0" u="none" strike="noStrike">
              <a:solidFill>
                <a:srgbClr val="000000"/>
              </a:solidFill>
              <a:effectLst/>
              <a:uFillTx/>
              <a:latin typeface="Times New Roman"/>
            </a:endParaRPr>
          </a:p>
        </p:txBody>
      </p:sp>
    </p:spTree>
  </p:cSld>
  <p:transition>
    <p:random/>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45" name="Group 22"/>
          <p:cNvGrpSpPr/>
          <p:nvPr/>
        </p:nvGrpSpPr>
        <p:grpSpPr>
          <a:xfrm>
            <a:off x="1042920" y="476280"/>
            <a:ext cx="7489440" cy="1236600"/>
            <a:chOff x="1042920" y="476280"/>
            <a:chExt cx="7489440" cy="1236600"/>
          </a:xfrm>
        </p:grpSpPr>
        <p:sp>
          <p:nvSpPr>
            <p:cNvPr id="846" name="Rectangle 14"/>
            <p:cNvSpPr/>
            <p:nvPr/>
          </p:nvSpPr>
          <p:spPr>
            <a:xfrm>
              <a:off x="2160360" y="476280"/>
              <a:ext cx="6372000" cy="1236600"/>
            </a:xfrm>
            <a:prstGeom prst="rect">
              <a:avLst/>
            </a:prstGeom>
            <a:noFill/>
            <a:ln w="0">
              <a:noFill/>
            </a:ln>
          </p:spPr>
          <p:style>
            <a:lnRef idx="0"/>
            <a:fillRef idx="0"/>
            <a:effectRef idx="0"/>
            <a:fontRef idx="minor"/>
          </p:style>
          <p:txBody>
            <a:bodyPr lIns="90000" tIns="46800" rIns="90000" bIns="46800" anchor="t">
              <a:spAutoFit/>
            </a:bodyPr>
            <a:p>
              <a:pPr>
                <a:lnSpc>
                  <a:spcPct val="12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对于图所示系统。要求设计一串联校正装置，使满足如下的性能指标：                    ，                 ，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847" name="Object 15"/>
                <p:cNvSpPr txBox="1"/>
                <p:nvPr/>
              </p:nvSpPr>
              <p:spPr>
                <a:xfrm>
                  <a:off x="4021200" y="981000"/>
                  <a:ext cx="1288080" cy="403200"/>
                </a:xfrm>
                <a:prstGeom prst="rect">
                  <a:avLst/>
                </a:prstGeom>
              </p:spPr>
              <p:txBody>
                <a:bodyPr/>
                <a:p>
                  <a14:m>
                    <m:oMath xmlns:m="http://schemas.openxmlformats.org/officeDocument/2006/math">
                      <m:sSub>
                        <m:e>
                          <m:r>
                            <m:t xml:space="preserve">K</m:t>
                          </m:r>
                        </m:e>
                        <m:sub>
                          <m:r>
                            <m:t xml:space="preserve">v</m:t>
                          </m:r>
                        </m:sub>
                      </m:sSub>
                      <m:r>
                        <m:t xml:space="preserve">≥</m:t>
                      </m:r>
                      <m:r>
                        <m:rPr>
                          <m:lit/>
                          <m:nor/>
                        </m:rPr>
                        <m:t xml:space="preserve">100</m:t>
                      </m:r>
                      <m:sSup>
                        <m:e>
                          <m:r>
                            <m:t xml:space="preserve">s</m:t>
                          </m:r>
                        </m:e>
                        <m:sup>
                          <m:r>
                            <m:t xml:space="preserve">−</m:t>
                          </m:r>
                          <m:r>
                            <m:t xml:space="preserve">1</m:t>
                          </m:r>
                        </m:sup>
                      </m:sSup>
                    </m:oMath>
                  </a14:m>
                </a:p>
              </p:txBody>
            </p:sp>
          </mc:Choice>
          <mc:Fallback>
            <p:sp>
              <p:nvSpPr>
                <p:cNvPr id="847" name="Object 15"/>
                <p:cNvSpPr txBox="1"/>
                <p:nvPr/>
              </p:nvSpPr>
              <p:spPr>
                <a:xfrm>
                  <a:off x="4021200" y="981000"/>
                  <a:ext cx="1288080" cy="403200"/>
                </a:xfrm>
                <a:prstGeom prst="rect">
                  <a:avLst/>
                </a:prstGeom>
                <a:blipFill>
                  <a:blip r:embed="rId1"/>
                  <a:stretch>
                    <a:fillRect/>
                  </a:stretch>
                </a:blipFill>
              </p:spPr>
            </p:sp>
          </mc:Fallback>
        </mc:AlternateContent>
        <mc:AlternateContent>
          <mc:Choice xmlns:a14="http://schemas.microsoft.com/office/drawing/2010/main" Requires="a14">
            <p:sp>
              <p:nvSpPr>
                <p:cNvPr id="848" name="Object 16"/>
                <p:cNvSpPr txBox="1"/>
                <p:nvPr/>
              </p:nvSpPr>
              <p:spPr>
                <a:xfrm>
                  <a:off x="7101000" y="981000"/>
                  <a:ext cx="787320" cy="365040"/>
                </a:xfrm>
                <a:prstGeom prst="rect">
                  <a:avLst/>
                </a:prstGeom>
              </p:spPr>
              <p:txBody>
                <a:bodyPr/>
                <a:p>
                  <a14:m>
                    <m:oMath xmlns:m="http://schemas.openxmlformats.org/officeDocument/2006/math">
                      <m:r>
                        <m:t xml:space="preserve">γ</m:t>
                      </m:r>
                      <m:r>
                        <m:t xml:space="preserve">≥</m:t>
                      </m:r>
                      <m:sSup>
                        <m:e>
                          <m:r>
                            <m:rPr>
                              <m:lit/>
                              <m:nor/>
                            </m:rPr>
                            <m:t xml:space="preserve">40</m:t>
                          </m:r>
                        </m:e>
                        <m:sup>
                          <m:r>
                            <m:t xml:space="preserve">∘</m:t>
                          </m:r>
                        </m:sup>
                      </m:sSup>
                    </m:oMath>
                  </a14:m>
                </a:p>
              </p:txBody>
            </p:sp>
          </mc:Choice>
          <mc:Fallback>
            <p:sp>
              <p:nvSpPr>
                <p:cNvPr id="848" name="Object 16"/>
                <p:cNvSpPr txBox="1"/>
                <p:nvPr/>
              </p:nvSpPr>
              <p:spPr>
                <a:xfrm>
                  <a:off x="7101000" y="981000"/>
                  <a:ext cx="787320" cy="365040"/>
                </a:xfrm>
                <a:prstGeom prst="rect">
                  <a:avLst/>
                </a:prstGeom>
                <a:blipFill>
                  <a:blip r:embed="rId2"/>
                  <a:stretch>
                    <a:fillRect/>
                  </a:stretch>
                </a:blipFill>
              </p:spPr>
            </p:sp>
          </mc:Fallback>
        </mc:AlternateContent>
        <mc:AlternateContent>
          <mc:Choice xmlns:a14="http://schemas.microsoft.com/office/drawing/2010/main" Requires="a14">
            <p:sp>
              <p:nvSpPr>
                <p:cNvPr id="849" name="Object 17"/>
                <p:cNvSpPr txBox="1"/>
                <p:nvPr/>
              </p:nvSpPr>
              <p:spPr>
                <a:xfrm>
                  <a:off x="5618880" y="981000"/>
                  <a:ext cx="1205640" cy="43488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20</m:t>
                      </m:r>
                      <m:sSup>
                        <m:e>
                          <m:r>
                            <m:t xml:space="preserve">s</m:t>
                          </m:r>
                        </m:e>
                        <m:sup>
                          <m:r>
                            <m:t xml:space="preserve">−</m:t>
                          </m:r>
                          <m:r>
                            <m:t xml:space="preserve">1</m:t>
                          </m:r>
                        </m:sup>
                      </m:sSup>
                    </m:oMath>
                  </a14:m>
                </a:p>
              </p:txBody>
            </p:sp>
          </mc:Choice>
          <mc:Fallback>
            <p:sp>
              <p:nvSpPr>
                <p:cNvPr id="849" name="Object 17"/>
                <p:cNvSpPr txBox="1"/>
                <p:nvPr/>
              </p:nvSpPr>
              <p:spPr>
                <a:xfrm>
                  <a:off x="5618880" y="981000"/>
                  <a:ext cx="1205640" cy="434880"/>
                </a:xfrm>
                <a:prstGeom prst="rect">
                  <a:avLst/>
                </a:prstGeom>
                <a:blipFill>
                  <a:blip r:embed="rId3"/>
                  <a:stretch>
                    <a:fillRect/>
                  </a:stretch>
                </a:blipFill>
              </p:spPr>
            </p:sp>
          </mc:Fallback>
        </mc:AlternateContent>
        <p:grpSp>
          <p:nvGrpSpPr>
            <p:cNvPr id="850" name="Text Box 20"/>
            <p:cNvGrpSpPr/>
            <p:nvPr/>
          </p:nvGrpSpPr>
          <p:grpSpPr>
            <a:xfrm>
              <a:off x="1042920" y="523800"/>
              <a:ext cx="1152000" cy="728640"/>
              <a:chOff x="1042920" y="523800"/>
              <a:chExt cx="1152000" cy="728640"/>
            </a:xfrm>
          </p:grpSpPr>
          <p:pic>
            <p:nvPicPr>
              <p:cNvPr id="851" name="Text Box 20"/>
              <p:cNvPicPr/>
              <p:nvPr/>
            </p:nvPicPr>
            <p:blipFill>
              <a:blip r:embed="rId4"/>
              <a:stretch/>
            </p:blipFill>
            <p:spPr>
              <a:xfrm>
                <a:off x="1042920" y="523800"/>
                <a:ext cx="1152000" cy="590400"/>
              </a:xfrm>
              <a:prstGeom prst="rect">
                <a:avLst/>
              </a:prstGeom>
              <a:noFill/>
              <a:ln w="0">
                <a:noFill/>
              </a:ln>
            </p:spPr>
          </p:pic>
          <p:sp>
            <p:nvSpPr>
              <p:cNvPr id="852" name=""/>
              <p:cNvSpPr/>
              <p:nvPr/>
            </p:nvSpPr>
            <p:spPr>
              <a:xfrm>
                <a:off x="1085760" y="548640"/>
                <a:ext cx="107388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BD2309"/>
                    </a:solidFill>
                    <a:effectLst/>
                    <a:uFillTx/>
                    <a:latin typeface="Times New Roman"/>
                  </a:rPr>
                  <a:t>例</a:t>
                </a:r>
                <a:r>
                  <a:rPr lang="en-US" sz="2000" b="1" u="none" strike="noStrike">
                    <a:solidFill>
                      <a:srgbClr val="BD2309"/>
                    </a:solidFill>
                    <a:effectLst/>
                    <a:uFillTx/>
                    <a:latin typeface="Times New Roman"/>
                  </a:rPr>
                  <a:t>6</a:t>
                </a:r>
                <a:r>
                  <a:rPr lang="zh-CN" sz="2000" b="1" u="none" strike="noStrike">
                    <a:solidFill>
                      <a:srgbClr val="BD2309"/>
                    </a:solidFill>
                    <a:effectLst/>
                    <a:uFillTx/>
                    <a:latin typeface="Times New Roman"/>
                  </a:rPr>
                  <a:t>－</a:t>
                </a:r>
                <a:r>
                  <a:rPr lang="en-US" sz="2000" b="1" u="none" strike="noStrike">
                    <a:solidFill>
                      <a:srgbClr val="BD2309"/>
                    </a:solidFill>
                    <a:effectLst/>
                    <a:uFillTx/>
                    <a:latin typeface="Times New Roman"/>
                  </a:rPr>
                  <a:t>3</a:t>
                </a:r>
                <a:endParaRPr lang="en-US" sz="2000" b="0" u="none" strike="noStrike">
                  <a:solidFill>
                    <a:srgbClr val="000000"/>
                  </a:solidFill>
                  <a:effectLst/>
                  <a:uFillTx/>
                  <a:latin typeface="Times New Roman"/>
                </a:endParaRPr>
              </a:p>
            </p:txBody>
          </p:sp>
        </p:grpSp>
      </p:grpSp>
      <p:graphicFrame>
        <p:nvGraphicFramePr>
          <p:cNvPr id="853" name="Object 23"/>
          <p:cNvGraphicFramePr/>
          <p:nvPr/>
        </p:nvGraphicFramePr>
        <p:xfrm>
          <a:off x="179280" y="1341360"/>
          <a:ext cx="3959280" cy="1195560"/>
        </p:xfrm>
        <a:graphic>
          <a:graphicData uri="http://schemas.openxmlformats.org/presentationml/2006/ole">
            <p:oleObj r:id="rId5" spid="">
              <p:embed/>
              <p:pic>
                <p:nvPicPr>
                  <p:cNvPr id="854" name="Object 23"/>
                  <p:cNvPicPr/>
                  <p:nvPr/>
                </p:nvPicPr>
                <p:blipFill>
                  <a:blip r:embed="rId6"/>
                  <a:stretch/>
                </p:blipFill>
                <p:spPr>
                  <a:xfrm>
                    <a:off x="179280" y="1341360"/>
                    <a:ext cx="3959280" cy="1195560"/>
                  </a:xfrm>
                  <a:prstGeom prst="rect">
                    <a:avLst/>
                  </a:prstGeom>
                  <a:solidFill>
                    <a:srgbClr val="CCFFCC"/>
                  </a:solidFill>
                  <a:ln w="0">
                    <a:noFill/>
                  </a:ln>
                </p:spPr>
              </p:pic>
            </p:oleObj>
          </a:graphicData>
        </a:graphic>
      </p:graphicFrame>
      <p:grpSp>
        <p:nvGrpSpPr>
          <p:cNvPr id="855" name="Group 64"/>
          <p:cNvGrpSpPr/>
          <p:nvPr/>
        </p:nvGrpSpPr>
        <p:grpSpPr>
          <a:xfrm>
            <a:off x="179280" y="2565360"/>
            <a:ext cx="4175280" cy="1313640"/>
            <a:chOff x="179280" y="2565360"/>
            <a:chExt cx="4175280" cy="1313640"/>
          </a:xfrm>
        </p:grpSpPr>
        <p:sp>
          <p:nvSpPr>
            <p:cNvPr id="856" name="Rectangle 25"/>
            <p:cNvSpPr/>
            <p:nvPr/>
          </p:nvSpPr>
          <p:spPr>
            <a:xfrm>
              <a:off x="179280" y="2565360"/>
              <a:ext cx="417528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1</a:t>
              </a:r>
              <a:r>
                <a:rPr lang="zh-CN" sz="2000" b="1" u="none" strike="noStrike">
                  <a:solidFill>
                    <a:srgbClr val="000000"/>
                  </a:solidFill>
                  <a:effectLst/>
                  <a:uFillTx/>
                  <a:latin typeface="Times New Roman"/>
                </a:rPr>
                <a:t>）为了满足静态指标要求，首先令                        ，并画出               时系统固有部分的对数幅频特性和相频特性图。</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857" name="Object 26"/>
                <p:cNvSpPr txBox="1"/>
                <p:nvPr/>
              </p:nvSpPr>
              <p:spPr>
                <a:xfrm>
                  <a:off x="539640" y="2925720"/>
                  <a:ext cx="1657440" cy="404640"/>
                </a:xfrm>
                <a:prstGeom prst="rect">
                  <a:avLst/>
                </a:prstGeom>
              </p:spPr>
              <p:txBody>
                <a:bodyPr/>
                <a:p>
                  <a14:m>
                    <m:oMath xmlns:m="http://schemas.openxmlformats.org/officeDocument/2006/math">
                      <m:r>
                        <m:t xml:space="preserve">K</m:t>
                      </m:r>
                      <m:r>
                        <m:t xml:space="preserve">=</m:t>
                      </m:r>
                      <m:sSub>
                        <m:e>
                          <m:r>
                            <m:t xml:space="preserve">K</m:t>
                          </m:r>
                        </m:e>
                        <m:sub>
                          <m:r>
                            <m:t xml:space="preserve">v</m:t>
                          </m:r>
                        </m:sub>
                      </m:sSub>
                      <m:r>
                        <m:t xml:space="preserve">=</m:t>
                      </m:r>
                      <m:r>
                        <m:rPr>
                          <m:lit/>
                          <m:nor/>
                        </m:rPr>
                        <m:t xml:space="preserve">100</m:t>
                      </m:r>
                      <m:sSup>
                        <m:e>
                          <m:r>
                            <m:t xml:space="preserve">s</m:t>
                          </m:r>
                        </m:e>
                        <m:sup>
                          <m:r>
                            <m:t xml:space="preserve">−</m:t>
                          </m:r>
                          <m:r>
                            <m:t xml:space="preserve">1</m:t>
                          </m:r>
                        </m:sup>
                      </m:sSup>
                    </m:oMath>
                  </a14:m>
                </a:p>
              </p:txBody>
            </p:sp>
          </mc:Choice>
          <mc:Fallback>
            <p:sp>
              <p:nvSpPr>
                <p:cNvPr id="857" name="Object 26"/>
                <p:cNvSpPr txBox="1"/>
                <p:nvPr/>
              </p:nvSpPr>
              <p:spPr>
                <a:xfrm>
                  <a:off x="539640" y="2925720"/>
                  <a:ext cx="1657440" cy="404640"/>
                </a:xfrm>
                <a:prstGeom prst="rect">
                  <a:avLst/>
                </a:prstGeom>
                <a:blipFill>
                  <a:blip r:embed="rId7"/>
                  <a:stretch>
                    <a:fillRect/>
                  </a:stretch>
                </a:blipFill>
              </p:spPr>
            </p:sp>
          </mc:Fallback>
        </mc:AlternateContent>
        <mc:AlternateContent>
          <mc:Choice xmlns:a14="http://schemas.microsoft.com/office/drawing/2010/main" Requires="a14">
            <p:sp>
              <p:nvSpPr>
                <p:cNvPr id="858" name="Object 27"/>
                <p:cNvSpPr txBox="1"/>
                <p:nvPr/>
              </p:nvSpPr>
              <p:spPr>
                <a:xfrm>
                  <a:off x="3203640" y="2925720"/>
                  <a:ext cx="1079280" cy="318960"/>
                </a:xfrm>
                <a:prstGeom prst="rect">
                  <a:avLst/>
                </a:prstGeom>
              </p:spPr>
              <p:txBody>
                <a:bodyPr/>
                <a:p>
                  <a14:m>
                    <m:oMath xmlns:m="http://schemas.openxmlformats.org/officeDocument/2006/math">
                      <m:r>
                        <m:t xml:space="preserve">K</m:t>
                      </m:r>
                      <m:r>
                        <m:t xml:space="preserve">=</m:t>
                      </m:r>
                      <m:r>
                        <m:rPr>
                          <m:lit/>
                          <m:nor/>
                        </m:rPr>
                        <m:t xml:space="preserve">100</m:t>
                      </m:r>
                      <m:sSup>
                        <m:e>
                          <m:r>
                            <m:t xml:space="preserve">s</m:t>
                          </m:r>
                        </m:e>
                        <m:sup>
                          <m:r>
                            <m:t xml:space="preserve">−</m:t>
                          </m:r>
                          <m:r>
                            <m:t xml:space="preserve">1</m:t>
                          </m:r>
                        </m:sup>
                      </m:sSup>
                    </m:oMath>
                  </a14:m>
                </a:p>
              </p:txBody>
            </p:sp>
          </mc:Choice>
          <mc:Fallback>
            <p:sp>
              <p:nvSpPr>
                <p:cNvPr id="858" name="Object 27"/>
                <p:cNvSpPr txBox="1"/>
                <p:nvPr/>
              </p:nvSpPr>
              <p:spPr>
                <a:xfrm>
                  <a:off x="3203640" y="2925720"/>
                  <a:ext cx="1079280" cy="318960"/>
                </a:xfrm>
                <a:prstGeom prst="rect">
                  <a:avLst/>
                </a:prstGeom>
                <a:blipFill>
                  <a:blip r:embed="rId8"/>
                  <a:stretch>
                    <a:fillRect/>
                  </a:stretch>
                </a:blipFill>
              </p:spPr>
            </p:sp>
          </mc:Fallback>
        </mc:AlternateContent>
      </p:grpSp>
      <p:sp>
        <p:nvSpPr>
          <p:cNvPr id="859" name="Rectangle 29"/>
          <p:cNvSpPr/>
          <p:nvPr/>
        </p:nvSpPr>
        <p:spPr>
          <a:xfrm>
            <a:off x="4427640" y="1557360"/>
            <a:ext cx="4502160" cy="3816360"/>
          </a:xfrm>
          <a:prstGeom prst="rect">
            <a:avLst/>
          </a:prstGeom>
          <a:solidFill>
            <a:srgbClr val="CCFFCC"/>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60" name="Rectangle 31"/>
          <p:cNvSpPr/>
          <p:nvPr/>
        </p:nvSpPr>
        <p:spPr>
          <a:xfrm>
            <a:off x="4857840" y="1849320"/>
            <a:ext cx="3665520" cy="326412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61" name="Line 32"/>
          <p:cNvSpPr/>
          <p:nvPr/>
        </p:nvSpPr>
        <p:spPr>
          <a:xfrm>
            <a:off x="4857840" y="3394080"/>
            <a:ext cx="36655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2" name="Line 33"/>
          <p:cNvSpPr/>
          <p:nvPr/>
        </p:nvSpPr>
        <p:spPr>
          <a:xfrm>
            <a:off x="4857840" y="2879640"/>
            <a:ext cx="36655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3" name="Line 34"/>
          <p:cNvSpPr/>
          <p:nvPr/>
        </p:nvSpPr>
        <p:spPr>
          <a:xfrm>
            <a:off x="4857840" y="2363760"/>
            <a:ext cx="36655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4" name="Line 35"/>
          <p:cNvSpPr/>
          <p:nvPr/>
        </p:nvSpPr>
        <p:spPr>
          <a:xfrm>
            <a:off x="4857840" y="3967200"/>
            <a:ext cx="36655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5" name="Line 36"/>
          <p:cNvSpPr/>
          <p:nvPr/>
        </p:nvSpPr>
        <p:spPr>
          <a:xfrm>
            <a:off x="4857840" y="4538520"/>
            <a:ext cx="366552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6" name="Line 37"/>
          <p:cNvSpPr/>
          <p:nvPr/>
        </p:nvSpPr>
        <p:spPr>
          <a:xfrm>
            <a:off x="6610320" y="1849320"/>
            <a:ext cx="0" cy="326412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7" name="Line 38"/>
          <p:cNvSpPr/>
          <p:nvPr/>
        </p:nvSpPr>
        <p:spPr>
          <a:xfrm>
            <a:off x="7567560" y="1849320"/>
            <a:ext cx="0" cy="326412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68" name="Line 39"/>
          <p:cNvSpPr/>
          <p:nvPr/>
        </p:nvSpPr>
        <p:spPr>
          <a:xfrm>
            <a:off x="5707080" y="1849320"/>
            <a:ext cx="0" cy="326412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869" name="Object 40"/>
              <p:cNvSpPr txBox="1"/>
              <p:nvPr/>
            </p:nvSpPr>
            <p:spPr>
              <a:xfrm>
                <a:off x="4643280" y="1557360"/>
                <a:ext cx="650880" cy="266760"/>
              </a:xfrm>
              <a:prstGeom prst="rect">
                <a:avLst/>
              </a:prstGeom>
            </p:spPr>
            <p:txBody>
              <a:bodyPr/>
              <a:p>
                <a14:m>
                  <m:oMath xmlns:m="http://schemas.openxmlformats.org/officeDocument/2006/math">
                    <m:r>
                      <m:t xml:space="preserve">L</m:t>
                    </m:r>
                    <m:r>
                      <m:t xml:space="preserve">(</m:t>
                    </m:r>
                    <m:r>
                      <m:t xml:space="preserve">ω</m:t>
                    </m:r>
                    <m:r>
                      <m:t xml:space="preserve">)</m:t>
                    </m:r>
                    <m:r>
                      <m:rPr>
                        <m:lit/>
                        <m:nor/>
                      </m:rPr>
                      <m:t xml:space="preserve">dB</m:t>
                    </m:r>
                  </m:oMath>
                </a14:m>
              </a:p>
            </p:txBody>
          </p:sp>
        </mc:Choice>
        <mc:Fallback>
          <p:sp>
            <p:nvSpPr>
              <p:cNvPr id="869" name="Object 40"/>
              <p:cNvSpPr txBox="1"/>
              <p:nvPr/>
            </p:nvSpPr>
            <p:spPr>
              <a:xfrm>
                <a:off x="4643280" y="1557360"/>
                <a:ext cx="650880" cy="266760"/>
              </a:xfrm>
              <a:prstGeom prst="rect">
                <a:avLst/>
              </a:prstGeom>
              <a:blipFill>
                <a:blip r:embed="rId9"/>
                <a:stretch>
                  <a:fillRect/>
                </a:stretch>
              </a:blipFill>
            </p:spPr>
          </p:sp>
        </mc:Fallback>
      </mc:AlternateContent>
      <mc:AlternateContent>
        <mc:Choice xmlns:a14="http://schemas.microsoft.com/office/drawing/2010/main" Requires="a14">
          <p:sp>
            <p:nvSpPr>
              <p:cNvPr id="870" name="Object 41"/>
              <p:cNvSpPr txBox="1"/>
              <p:nvPr/>
            </p:nvSpPr>
            <p:spPr>
              <a:xfrm>
                <a:off x="8317080" y="1557360"/>
                <a:ext cx="457200" cy="279360"/>
              </a:xfrm>
              <a:prstGeom prst="rect">
                <a:avLst/>
              </a:prstGeom>
            </p:spPr>
            <p:txBody>
              <a:bodyPr/>
              <a:p>
                <a14:m>
                  <m:oMath xmlns:m="http://schemas.openxmlformats.org/officeDocument/2006/math">
                    <m:r>
                      <m:t xml:space="preserve">ϕ</m:t>
                    </m:r>
                    <m:r>
                      <m:t xml:space="preserve">(</m:t>
                    </m:r>
                    <m:r>
                      <m:t xml:space="preserve">ω</m:t>
                    </m:r>
                    <m:r>
                      <m:t xml:space="preserve">)</m:t>
                    </m:r>
                  </m:oMath>
                </a14:m>
              </a:p>
            </p:txBody>
          </p:sp>
        </mc:Choice>
        <mc:Fallback>
          <p:sp>
            <p:nvSpPr>
              <p:cNvPr id="870" name="Object 41"/>
              <p:cNvSpPr txBox="1"/>
              <p:nvPr/>
            </p:nvSpPr>
            <p:spPr>
              <a:xfrm>
                <a:off x="8317080" y="1557360"/>
                <a:ext cx="457200" cy="279360"/>
              </a:xfrm>
              <a:prstGeom prst="rect">
                <a:avLst/>
              </a:prstGeom>
              <a:blipFill>
                <a:blip r:embed="rId10"/>
                <a:stretch>
                  <a:fillRect/>
                </a:stretch>
              </a:blipFill>
            </p:spPr>
          </p:sp>
        </mc:Fallback>
      </mc:AlternateContent>
      <p:sp>
        <p:nvSpPr>
          <p:cNvPr id="871" name="Text Box 42"/>
          <p:cNvSpPr/>
          <p:nvPr/>
        </p:nvSpPr>
        <p:spPr>
          <a:xfrm>
            <a:off x="4805280" y="3394080"/>
            <a:ext cx="425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0.1</a:t>
            </a:r>
            <a:endParaRPr lang="en-US" sz="2000" b="0" u="none" strike="noStrike">
              <a:solidFill>
                <a:srgbClr val="000000"/>
              </a:solidFill>
              <a:effectLst/>
              <a:uFillTx/>
              <a:latin typeface="Times New Roman"/>
            </a:endParaRPr>
          </a:p>
        </p:txBody>
      </p:sp>
      <p:sp>
        <p:nvSpPr>
          <p:cNvPr id="872" name="Text Box 43"/>
          <p:cNvSpPr/>
          <p:nvPr/>
        </p:nvSpPr>
        <p:spPr>
          <a:xfrm>
            <a:off x="4592520" y="2763720"/>
            <a:ext cx="317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873" name="Text Box 44"/>
          <p:cNvSpPr/>
          <p:nvPr/>
        </p:nvSpPr>
        <p:spPr>
          <a:xfrm>
            <a:off x="4592520" y="2247840"/>
            <a:ext cx="317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874" name="Text Box 45"/>
          <p:cNvSpPr/>
          <p:nvPr/>
        </p:nvSpPr>
        <p:spPr>
          <a:xfrm>
            <a:off x="4486320" y="4425840"/>
            <a:ext cx="423720" cy="99216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875" name="Text Box 46"/>
          <p:cNvSpPr/>
          <p:nvPr/>
        </p:nvSpPr>
        <p:spPr>
          <a:xfrm>
            <a:off x="4486320" y="3852720"/>
            <a:ext cx="5173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876" name="Text Box 47"/>
          <p:cNvSpPr/>
          <p:nvPr/>
        </p:nvSpPr>
        <p:spPr>
          <a:xfrm>
            <a:off x="8470800" y="4425840"/>
            <a:ext cx="636840" cy="99216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877" name="Object 48"/>
              <p:cNvSpPr txBox="1"/>
              <p:nvPr/>
            </p:nvSpPr>
            <p:spPr>
              <a:xfrm>
                <a:off x="8604360" y="3270240"/>
                <a:ext cx="244440" cy="243000"/>
              </a:xfrm>
              <a:prstGeom prst="rect">
                <a:avLst/>
              </a:prstGeom>
            </p:spPr>
            <p:txBody>
              <a:bodyPr/>
              <a:p>
                <a14:m>
                  <m:oMath xmlns:m="http://schemas.openxmlformats.org/officeDocument/2006/math">
                    <m:r>
                      <m:t xml:space="preserve">ω</m:t>
                    </m:r>
                  </m:oMath>
                </a14:m>
              </a:p>
            </p:txBody>
          </p:sp>
        </mc:Choice>
        <mc:Fallback>
          <p:sp>
            <p:nvSpPr>
              <p:cNvPr id="877" name="Object 48"/>
              <p:cNvSpPr txBox="1"/>
              <p:nvPr/>
            </p:nvSpPr>
            <p:spPr>
              <a:xfrm>
                <a:off x="8604360" y="3270240"/>
                <a:ext cx="244440" cy="243000"/>
              </a:xfrm>
              <a:prstGeom prst="rect">
                <a:avLst/>
              </a:prstGeom>
              <a:blipFill>
                <a:blip r:embed="rId11"/>
                <a:stretch>
                  <a:fillRect/>
                </a:stretch>
              </a:blipFill>
            </p:spPr>
          </p:sp>
        </mc:Fallback>
      </mc:AlternateContent>
      <p:sp>
        <p:nvSpPr>
          <p:cNvPr id="878" name="Text Box 49"/>
          <p:cNvSpPr/>
          <p:nvPr/>
        </p:nvSpPr>
        <p:spPr>
          <a:xfrm>
            <a:off x="8470800" y="3852720"/>
            <a:ext cx="63684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879" name="Text Box 50"/>
          <p:cNvSpPr/>
          <p:nvPr/>
        </p:nvSpPr>
        <p:spPr>
          <a:xfrm>
            <a:off x="8470800" y="2247840"/>
            <a:ext cx="370080" cy="129708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880" name="Text Box 51"/>
          <p:cNvSpPr/>
          <p:nvPr/>
        </p:nvSpPr>
        <p:spPr>
          <a:xfrm>
            <a:off x="8523360" y="2763720"/>
            <a:ext cx="371520" cy="99216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881" name="Text Box 52"/>
          <p:cNvSpPr/>
          <p:nvPr/>
        </p:nvSpPr>
        <p:spPr>
          <a:xfrm>
            <a:off x="5708520" y="3394080"/>
            <a:ext cx="42408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a:t>
            </a:r>
            <a:endParaRPr lang="en-US" sz="2000" b="0" u="none" strike="noStrike">
              <a:solidFill>
                <a:srgbClr val="000000"/>
              </a:solidFill>
              <a:effectLst/>
              <a:uFillTx/>
              <a:latin typeface="Times New Roman"/>
            </a:endParaRPr>
          </a:p>
        </p:txBody>
      </p:sp>
      <p:sp>
        <p:nvSpPr>
          <p:cNvPr id="882" name="Text Box 53"/>
          <p:cNvSpPr/>
          <p:nvPr/>
        </p:nvSpPr>
        <p:spPr>
          <a:xfrm>
            <a:off x="6610320" y="3394080"/>
            <a:ext cx="53352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a:t>
            </a:r>
            <a:endParaRPr lang="en-US" sz="2000" b="0" u="none" strike="noStrike">
              <a:solidFill>
                <a:srgbClr val="000000"/>
              </a:solidFill>
              <a:effectLst/>
              <a:uFillTx/>
              <a:latin typeface="Times New Roman"/>
            </a:endParaRPr>
          </a:p>
        </p:txBody>
      </p:sp>
      <p:sp>
        <p:nvSpPr>
          <p:cNvPr id="883" name="Text Box 54"/>
          <p:cNvSpPr/>
          <p:nvPr/>
        </p:nvSpPr>
        <p:spPr>
          <a:xfrm>
            <a:off x="7513560" y="3394080"/>
            <a:ext cx="371520" cy="99216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100</a:t>
            </a:r>
            <a:endParaRPr lang="en-US" sz="2000" b="0" u="none" strike="noStrike">
              <a:solidFill>
                <a:srgbClr val="000000"/>
              </a:solidFill>
              <a:effectLst/>
              <a:uFillTx/>
              <a:latin typeface="Times New Roman"/>
            </a:endParaRPr>
          </a:p>
        </p:txBody>
      </p:sp>
      <p:grpSp>
        <p:nvGrpSpPr>
          <p:cNvPr id="884" name="Group 55"/>
          <p:cNvGrpSpPr/>
          <p:nvPr/>
        </p:nvGrpSpPr>
        <p:grpSpPr>
          <a:xfrm>
            <a:off x="4859280" y="1868400"/>
            <a:ext cx="3752640" cy="3188880"/>
            <a:chOff x="4859280" y="1868400"/>
            <a:chExt cx="3752640" cy="3188880"/>
          </a:xfrm>
        </p:grpSpPr>
        <p:sp>
          <p:nvSpPr>
            <p:cNvPr id="885" name="Line 56"/>
            <p:cNvSpPr/>
            <p:nvPr/>
          </p:nvSpPr>
          <p:spPr>
            <a:xfrm>
              <a:off x="4859280" y="1868400"/>
              <a:ext cx="1776240" cy="99972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6" name="Line 57"/>
            <p:cNvSpPr/>
            <p:nvPr/>
          </p:nvSpPr>
          <p:spPr>
            <a:xfrm>
              <a:off x="6635520" y="2868120"/>
              <a:ext cx="948240" cy="112608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7" name="Line 58"/>
            <p:cNvSpPr/>
            <p:nvPr/>
          </p:nvSpPr>
          <p:spPr>
            <a:xfrm>
              <a:off x="7583760" y="3994200"/>
              <a:ext cx="474120" cy="106308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888" name="Text Box 59"/>
            <p:cNvSpPr/>
            <p:nvPr/>
          </p:nvSpPr>
          <p:spPr>
            <a:xfrm>
              <a:off x="5689800" y="2117880"/>
              <a:ext cx="1183320" cy="3970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889" name="Object 60"/>
                <p:cNvSpPr txBox="1"/>
                <p:nvPr/>
              </p:nvSpPr>
              <p:spPr>
                <a:xfrm>
                  <a:off x="5688720" y="2055600"/>
                  <a:ext cx="790200" cy="189000"/>
                </a:xfrm>
                <a:prstGeom prst="rect">
                  <a:avLst/>
                </a:prstGeom>
              </p:spPr>
              <p:txBody>
                <a:bodyPr/>
                <a:p>
                  <a14:m>
                    <m:oMath xmlns:m="http://schemas.openxmlformats.org/officeDocument/2006/math">
                      <m:r>
                        <m:t xml:space="preserve">−</m:t>
                      </m:r>
                      <m:r>
                        <m:rPr>
                          <m:lit/>
                          <m:nor/>
                        </m:rPr>
                        <m:t xml:space="preserve">20</m:t>
                      </m:r>
                      <m:f>
                        <m:fPr>
                          <m:type m:val="lin"/>
                        </m:fPr>
                        <m:num>
                          <m:r>
                            <m:rPr>
                              <m:lit/>
                              <m:nor/>
                            </m:rPr>
                            <m:t xml:space="preserve">dB</m:t>
                          </m:r>
                        </m:num>
                        <m:den>
                          <m:r>
                            <m:rPr>
                              <m:lit/>
                              <m:nor/>
                            </m:rPr>
                            <m:t xml:space="preserve">dec</m:t>
                          </m:r>
                        </m:den>
                      </m:f>
                    </m:oMath>
                  </a14:m>
                </a:p>
              </p:txBody>
            </p:sp>
          </mc:Choice>
          <mc:Fallback>
            <p:sp>
              <p:nvSpPr>
                <p:cNvPr id="889" name="Object 60"/>
                <p:cNvSpPr txBox="1"/>
                <p:nvPr/>
              </p:nvSpPr>
              <p:spPr>
                <a:xfrm>
                  <a:off x="5688720" y="2055600"/>
                  <a:ext cx="790200" cy="189000"/>
                </a:xfrm>
                <a:prstGeom prst="rect">
                  <a:avLst/>
                </a:prstGeom>
                <a:blipFill>
                  <a:blip r:embed="rId12"/>
                  <a:stretch>
                    <a:fillRect/>
                  </a:stretch>
                </a:blipFill>
              </p:spPr>
            </p:sp>
          </mc:Fallback>
        </mc:AlternateContent>
        <mc:AlternateContent>
          <mc:Choice xmlns:a14="http://schemas.microsoft.com/office/drawing/2010/main" Requires="a14">
            <p:sp>
              <p:nvSpPr>
                <p:cNvPr id="890" name="Object 61"/>
                <p:cNvSpPr txBox="1"/>
                <p:nvPr/>
              </p:nvSpPr>
              <p:spPr>
                <a:xfrm>
                  <a:off x="6873120" y="2931480"/>
                  <a:ext cx="790200" cy="188640"/>
                </a:xfrm>
                <a:prstGeom prst="rect">
                  <a:avLst/>
                </a:prstGeom>
              </p:spPr>
              <p:txBody>
                <a:bodyPr/>
                <a:p>
                  <a14:m>
                    <m:oMath xmlns:m="http://schemas.openxmlformats.org/officeDocument/2006/math">
                      <m:r>
                        <m:t xml:space="preserve">−</m:t>
                      </m:r>
                      <m:r>
                        <m:rPr>
                          <m:lit/>
                          <m:nor/>
                        </m:rPr>
                        <m:t xml:space="preserve">40</m:t>
                      </m:r>
                      <m:f>
                        <m:fPr>
                          <m:type m:val="lin"/>
                        </m:fPr>
                        <m:num>
                          <m:r>
                            <m:rPr>
                              <m:lit/>
                              <m:nor/>
                            </m:rPr>
                            <m:t xml:space="preserve">dB</m:t>
                          </m:r>
                        </m:num>
                        <m:den>
                          <m:r>
                            <m:rPr>
                              <m:lit/>
                              <m:nor/>
                            </m:rPr>
                            <m:t xml:space="preserve">dec</m:t>
                          </m:r>
                        </m:den>
                      </m:f>
                    </m:oMath>
                  </a14:m>
                </a:p>
              </p:txBody>
            </p:sp>
          </mc:Choice>
          <mc:Fallback>
            <p:sp>
              <p:nvSpPr>
                <p:cNvPr id="890" name="Object 61"/>
                <p:cNvSpPr txBox="1"/>
                <p:nvPr/>
              </p:nvSpPr>
              <p:spPr>
                <a:xfrm>
                  <a:off x="6873120" y="2931480"/>
                  <a:ext cx="790200" cy="188640"/>
                </a:xfrm>
                <a:prstGeom prst="rect">
                  <a:avLst/>
                </a:prstGeom>
                <a:blipFill>
                  <a:blip r:embed="rId13"/>
                  <a:stretch>
                    <a:fillRect/>
                  </a:stretch>
                </a:blipFill>
              </p:spPr>
            </p:sp>
          </mc:Fallback>
        </mc:AlternateContent>
        <mc:AlternateContent>
          <mc:Choice xmlns:a14="http://schemas.microsoft.com/office/drawing/2010/main" Requires="a14">
            <p:sp>
              <p:nvSpPr>
                <p:cNvPr id="891" name="Object 62"/>
                <p:cNvSpPr txBox="1"/>
                <p:nvPr/>
              </p:nvSpPr>
              <p:spPr>
                <a:xfrm>
                  <a:off x="7821720" y="4307400"/>
                  <a:ext cx="790200" cy="189000"/>
                </a:xfrm>
                <a:prstGeom prst="rect">
                  <a:avLst/>
                </a:prstGeom>
              </p:spPr>
              <p:txBody>
                <a:bodyPr/>
                <a:p>
                  <a14:m>
                    <m:oMath xmlns:m="http://schemas.openxmlformats.org/officeDocument/2006/math">
                      <m:r>
                        <m:t xml:space="preserve">−</m:t>
                      </m:r>
                      <m:r>
                        <m:rPr>
                          <m:lit/>
                          <m:nor/>
                        </m:rPr>
                        <m:t xml:space="preserve">60</m:t>
                      </m:r>
                      <m:f>
                        <m:fPr>
                          <m:type m:val="lin"/>
                        </m:fPr>
                        <m:num>
                          <m:r>
                            <m:rPr>
                              <m:lit/>
                              <m:nor/>
                            </m:rPr>
                            <m:t xml:space="preserve">dB</m:t>
                          </m:r>
                        </m:num>
                        <m:den>
                          <m:r>
                            <m:rPr>
                              <m:lit/>
                              <m:nor/>
                            </m:rPr>
                            <m:t xml:space="preserve">dec</m:t>
                          </m:r>
                        </m:den>
                      </m:f>
                    </m:oMath>
                  </a14:m>
                </a:p>
              </p:txBody>
            </p:sp>
          </mc:Choice>
          <mc:Fallback>
            <p:sp>
              <p:nvSpPr>
                <p:cNvPr id="891" name="Object 62"/>
                <p:cNvSpPr txBox="1"/>
                <p:nvPr/>
              </p:nvSpPr>
              <p:spPr>
                <a:xfrm>
                  <a:off x="7821720" y="4307400"/>
                  <a:ext cx="790200" cy="189000"/>
                </a:xfrm>
                <a:prstGeom prst="rect">
                  <a:avLst/>
                </a:prstGeom>
                <a:blipFill>
                  <a:blip r:embed="rId14"/>
                  <a:stretch>
                    <a:fillRect/>
                  </a:stretch>
                </a:blipFill>
              </p:spPr>
            </p:sp>
          </mc:Fallback>
        </mc:AlternateContent>
        <p:sp>
          <p:nvSpPr>
            <p:cNvPr id="892" name="Freeform 63"/>
            <p:cNvSpPr/>
            <p:nvPr/>
          </p:nvSpPr>
          <p:spPr>
            <a:xfrm>
              <a:off x="5628600" y="3994200"/>
              <a:ext cx="2665800" cy="1001160"/>
            </a:xfrm>
            <a:custGeom>
              <a:avLst/>
              <a:gdLst>
                <a:gd name="GluePoint1X" fmla="*/ 0 w 2041"/>
                <a:gd name="GluePoint1Y" fmla="*/ 0 h 726"/>
                <a:gd name="GluePoint2X" fmla="*/ 272 w 2041"/>
                <a:gd name="GluePoint2Y" fmla="*/ 45 h 726"/>
                <a:gd name="GluePoint3X" fmla="*/ 590 w 2041"/>
                <a:gd name="GluePoint3Y" fmla="*/ 136 h 726"/>
                <a:gd name="GluePoint4X" fmla="*/ 953 w 2041"/>
                <a:gd name="GluePoint4Y" fmla="*/ 318 h 726"/>
                <a:gd name="GluePoint5X" fmla="*/ 1270 w 2041"/>
                <a:gd name="GluePoint5Y" fmla="*/ 499 h 726"/>
                <a:gd name="GluePoint6X" fmla="*/ 1724 w 2041"/>
                <a:gd name="GluePoint6Y" fmla="*/ 681 h 726"/>
                <a:gd name="GluePoint7X" fmla="*/ 2041 w 2041"/>
                <a:gd name="GluePoint7Y" fmla="*/ 726 h 7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041" h="726">
                  <a:moveTo>
                    <a:pt x="0" y="0"/>
                  </a:moveTo>
                  <a:cubicBezTo>
                    <a:pt x="87" y="11"/>
                    <a:pt x="174" y="22"/>
                    <a:pt x="272" y="45"/>
                  </a:cubicBezTo>
                  <a:cubicBezTo>
                    <a:pt x="370" y="68"/>
                    <a:pt x="476" y="90"/>
                    <a:pt x="590" y="136"/>
                  </a:cubicBezTo>
                  <a:cubicBezTo>
                    <a:pt x="704" y="182"/>
                    <a:pt x="840" y="258"/>
                    <a:pt x="953" y="318"/>
                  </a:cubicBezTo>
                  <a:cubicBezTo>
                    <a:pt x="1066" y="378"/>
                    <a:pt x="1142" y="439"/>
                    <a:pt x="1270" y="499"/>
                  </a:cubicBezTo>
                  <a:cubicBezTo>
                    <a:pt x="1398" y="559"/>
                    <a:pt x="1596" y="643"/>
                    <a:pt x="1724" y="681"/>
                  </a:cubicBezTo>
                  <a:cubicBezTo>
                    <a:pt x="1852" y="719"/>
                    <a:pt x="1988" y="719"/>
                    <a:pt x="2041" y="726"/>
                  </a:cubicBezTo>
                </a:path>
              </a:pathLst>
            </a:custGeom>
            <a:noFill/>
            <a:ln w="255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893" name="Group 70"/>
          <p:cNvGrpSpPr/>
          <p:nvPr/>
        </p:nvGrpSpPr>
        <p:grpSpPr>
          <a:xfrm>
            <a:off x="250920" y="3933720"/>
            <a:ext cx="3887640" cy="1923480"/>
            <a:chOff x="250920" y="3933720"/>
            <a:chExt cx="3887640" cy="1923480"/>
          </a:xfrm>
        </p:grpSpPr>
        <p:sp>
          <p:nvSpPr>
            <p:cNvPr id="894" name="Rectangle 66"/>
            <p:cNvSpPr/>
            <p:nvPr/>
          </p:nvSpPr>
          <p:spPr>
            <a:xfrm>
              <a:off x="250920" y="3933720"/>
              <a:ext cx="3887640" cy="19234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由图求得，在               处系统固有部分的幅频特性的斜率为</a:t>
              </a:r>
              <a:r>
                <a:rPr lang="en-US" sz="2000" b="1" u="none" strike="noStrike">
                  <a:solidFill>
                    <a:srgbClr val="000000"/>
                  </a:solidFill>
                  <a:effectLst/>
                  <a:uFillTx/>
                  <a:latin typeface="Times New Roman"/>
                </a:rPr>
                <a:t>-40</a:t>
              </a:r>
              <a:r>
                <a:rPr lang="zh-CN" sz="2000" b="1" u="none" strike="noStrike">
                  <a:solidFill>
                    <a:srgbClr val="000000"/>
                  </a:solidFill>
                  <a:effectLst/>
                  <a:uFillTx/>
                  <a:latin typeface="Times New Roman"/>
                </a:rPr>
                <a:t>，相角为</a:t>
              </a:r>
              <a:r>
                <a:rPr lang="en-US" sz="2000" b="1" u="none" strike="noStrike">
                  <a:solidFill>
                    <a:srgbClr val="000000"/>
                  </a:solidFill>
                  <a:effectLst/>
                  <a:uFillTx/>
                  <a:latin typeface="Times New Roman"/>
                </a:rPr>
                <a:t>-165°</a:t>
              </a:r>
              <a:r>
                <a:rPr lang="zh-CN" sz="2000" b="1" u="none" strike="noStrike">
                  <a:solidFill>
                    <a:srgbClr val="000000"/>
                  </a:solidFill>
                  <a:effectLst/>
                  <a:uFillTx/>
                  <a:latin typeface="Times New Roman"/>
                </a:rPr>
                <a:t>。为了保证</a:t>
              </a:r>
              <a:r>
                <a:rPr lang="en-US" sz="2000" b="1" u="none" strike="noStrike">
                  <a:solidFill>
                    <a:srgbClr val="000000"/>
                  </a:solidFill>
                  <a:effectLst/>
                  <a:uFillTx/>
                  <a:latin typeface="Times New Roman"/>
                </a:rPr>
                <a:t>40°</a:t>
              </a:r>
              <a:r>
                <a:rPr lang="zh-CN" sz="2000" b="1" u="none" strike="noStrike">
                  <a:solidFill>
                    <a:srgbClr val="000000"/>
                  </a:solidFill>
                  <a:effectLst/>
                  <a:uFillTx/>
                  <a:latin typeface="Times New Roman"/>
                </a:rPr>
                <a:t>相位稳定裕量，必须增加至少</a:t>
              </a:r>
              <a:r>
                <a:rPr lang="en-US" sz="2000" b="1" u="none" strike="noStrike">
                  <a:solidFill>
                    <a:srgbClr val="000000"/>
                  </a:solidFill>
                  <a:effectLst/>
                  <a:uFillTx/>
                  <a:latin typeface="Times New Roman"/>
                </a:rPr>
                <a:t>25°</a:t>
              </a:r>
              <a:r>
                <a:rPr lang="zh-CN" sz="2000" b="1" u="none" strike="noStrike">
                  <a:solidFill>
                    <a:srgbClr val="000000"/>
                  </a:solidFill>
                  <a:effectLst/>
                  <a:uFillTx/>
                  <a:latin typeface="Times New Roman"/>
                </a:rPr>
                <a:t>的超前角，所以需要加超前校正。</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895" name="Object 69"/>
                <p:cNvSpPr txBox="1"/>
                <p:nvPr/>
              </p:nvSpPr>
              <p:spPr>
                <a:xfrm>
                  <a:off x="1906560" y="3933720"/>
                  <a:ext cx="1079640" cy="38736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20</m:t>
                      </m:r>
                      <m:sSup>
                        <m:e>
                          <m:r>
                            <m:t xml:space="preserve">s</m:t>
                          </m:r>
                        </m:e>
                        <m:sup>
                          <m:r>
                            <m:t xml:space="preserve">−</m:t>
                          </m:r>
                          <m:r>
                            <m:t xml:space="preserve">1</m:t>
                          </m:r>
                        </m:sup>
                      </m:sSup>
                    </m:oMath>
                  </a14:m>
                </a:p>
              </p:txBody>
            </p:sp>
          </mc:Choice>
          <mc:Fallback>
            <p:sp>
              <p:nvSpPr>
                <p:cNvPr id="895" name="Object 69"/>
                <p:cNvSpPr txBox="1"/>
                <p:nvPr/>
              </p:nvSpPr>
              <p:spPr>
                <a:xfrm>
                  <a:off x="1906560" y="3933720"/>
                  <a:ext cx="1079640" cy="387360"/>
                </a:xfrm>
                <a:prstGeom prst="rect">
                  <a:avLst/>
                </a:prstGeom>
                <a:blipFill>
                  <a:blip r:embed="rId15"/>
                  <a:stretch>
                    <a:fillRect/>
                  </a:stretch>
                </a:blipFill>
              </p:spPr>
            </p:sp>
          </mc:Fallback>
        </mc:AlternateContent>
      </p:grpSp>
      <p:grpSp>
        <p:nvGrpSpPr>
          <p:cNvPr id="896" name="Group 73"/>
          <p:cNvGrpSpPr/>
          <p:nvPr/>
        </p:nvGrpSpPr>
        <p:grpSpPr>
          <a:xfrm>
            <a:off x="395280" y="5661000"/>
            <a:ext cx="8074080" cy="1008720"/>
            <a:chOff x="395280" y="5661000"/>
            <a:chExt cx="8074080" cy="1008720"/>
          </a:xfrm>
        </p:grpSpPr>
        <mc:AlternateContent>
          <mc:Choice xmlns:a14="http://schemas.microsoft.com/office/drawing/2010/main" Requires="a14">
            <p:sp>
              <p:nvSpPr>
                <p:cNvPr id="897" name="Object 68"/>
                <p:cNvSpPr txBox="1"/>
                <p:nvPr/>
              </p:nvSpPr>
              <p:spPr>
                <a:xfrm>
                  <a:off x="2771640" y="5661000"/>
                  <a:ext cx="1079640" cy="38736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20</m:t>
                      </m:r>
                      <m:sSup>
                        <m:e>
                          <m:r>
                            <m:t xml:space="preserve">s</m:t>
                          </m:r>
                        </m:e>
                        <m:sup>
                          <m:r>
                            <m:t xml:space="preserve">−</m:t>
                          </m:r>
                          <m:r>
                            <m:t xml:space="preserve">1</m:t>
                          </m:r>
                        </m:sup>
                      </m:sSup>
                    </m:oMath>
                  </a14:m>
                </a:p>
              </p:txBody>
            </p:sp>
          </mc:Choice>
          <mc:Fallback>
            <p:sp>
              <p:nvSpPr>
                <p:cNvPr id="897" name="Object 68"/>
                <p:cNvSpPr txBox="1"/>
                <p:nvPr/>
              </p:nvSpPr>
              <p:spPr>
                <a:xfrm>
                  <a:off x="2771640" y="5661000"/>
                  <a:ext cx="1079640" cy="387360"/>
                </a:xfrm>
                <a:prstGeom prst="rect">
                  <a:avLst/>
                </a:prstGeom>
                <a:blipFill>
                  <a:blip r:embed="rId16"/>
                  <a:stretch>
                    <a:fillRect/>
                  </a:stretch>
                </a:blipFill>
              </p:spPr>
            </p:sp>
          </mc:Fallback>
        </mc:AlternateContent>
        <p:sp>
          <p:nvSpPr>
            <p:cNvPr id="898" name="Rectangle 71"/>
            <p:cNvSpPr/>
            <p:nvPr/>
          </p:nvSpPr>
          <p:spPr>
            <a:xfrm>
              <a:off x="395280" y="5661000"/>
              <a:ext cx="807408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另外，从图看出，选                就要将中频段的开环增益降低</a:t>
              </a:r>
              <a:r>
                <a:rPr lang="en-US" sz="2000" b="1" u="none" strike="noStrike">
                  <a:solidFill>
                    <a:srgbClr val="000000"/>
                  </a:solidFill>
                  <a:effectLst/>
                  <a:uFillTx/>
                  <a:latin typeface="Times New Roman"/>
                </a:rPr>
                <a:t>8dB</a:t>
              </a:r>
              <a:r>
                <a:rPr lang="zh-CN" sz="2000" b="1" u="none" strike="noStrike">
                  <a:solidFill>
                    <a:srgbClr val="000000"/>
                  </a:solidFill>
                  <a:effectLst/>
                  <a:uFillTx/>
                  <a:latin typeface="Times New Roman"/>
                </a:rPr>
                <a:t>。但低频段的增益是根据静态指标确定的，不能降低。因此可知还需要引进滞后校正。</a:t>
              </a:r>
              <a:endParaRPr lang="en-US" sz="2000" b="0" u="none" strike="noStrike">
                <a:solidFill>
                  <a:srgbClr val="000000"/>
                </a:solidFill>
                <a:effectLst/>
                <a:uFillTx/>
                <a:latin typeface="Times New Roman"/>
              </a:endParaRPr>
            </a:p>
          </p:txBody>
        </p:sp>
      </p:grpSp>
      <p:sp>
        <p:nvSpPr>
          <p:cNvPr id="899" name="Line 72"/>
          <p:cNvSpPr/>
          <p:nvPr/>
        </p:nvSpPr>
        <p:spPr>
          <a:xfrm>
            <a:off x="6877080" y="3141720"/>
            <a:ext cx="0" cy="1392120"/>
          </a:xfrm>
          <a:prstGeom prst="line">
            <a:avLst/>
          </a:prstGeom>
          <a:ln w="19080">
            <a:solidFill>
              <a:srgbClr val="FF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Tree>
  </p:cSld>
  <p:transition>
    <p:random/>
  </p:transition>
  <p:timing>
    <p:tnLst>
      <p:par>
        <p:cTn id="975" dur="indefinite" restart="never" nodeType="tmRoot">
          <p:childTnLst>
            <p:seq>
              <p:cTn id="976" dur="indefinite" nodeType="mainSeq">
                <p:childTnLst>
                  <p:par>
                    <p:cTn id="977" fill="hold" nodeType="clickEffect">
                      <p:stCondLst>
                        <p:cond delay="indefinite"/>
                      </p:stCondLst>
                      <p:childTnLst>
                        <p:par>
                          <p:cTn id="978" fill="hold" nodeType="withEffect">
                            <p:stCondLst>
                              <p:cond delay="0"/>
                            </p:stCondLst>
                            <p:childTnLst>
                              <p:par>
                                <p:cTn id="979" presetID="3" presetClass="entr" fill="hold" nodeType="clickEffect" presetSubtype="10">
                                  <p:stCondLst>
                                    <p:cond delay="0"/>
                                  </p:stCondLst>
                                  <p:childTnLst>
                                    <p:set>
                                      <p:cBhvr>
                                        <p:cTn id="980" dur="1" fill="hold">
                                          <p:stCondLst>
                                            <p:cond delay="0"/>
                                          </p:stCondLst>
                                        </p:cTn>
                                        <p:tgtEl>
                                          <p:spTgt spid="855"/>
                                        </p:tgtEl>
                                        <p:attrNameLst>
                                          <p:attrName>style.visibility</p:attrName>
                                        </p:attrNameLst>
                                      </p:cBhvr>
                                      <p:to>
                                        <p:strVal val="visible"/>
                                      </p:to>
                                    </p:set>
                                    <p:animEffect transition="in" filter="blinds(horizontal)">
                                      <p:cBhvr additive="repl">
                                        <p:cTn id="981" dur="500"/>
                                        <p:tgtEl>
                                          <p:spTgt spid="855"/>
                                        </p:tgtEl>
                                      </p:cBhvr>
                                    </p:animEffect>
                                  </p:childTnLst>
                                </p:cTn>
                              </p:par>
                            </p:childTnLst>
                          </p:cTn>
                        </p:par>
                      </p:childTnLst>
                    </p:cTn>
                  </p:par>
                  <p:par>
                    <p:cTn id="982" fill="hold" nodeType="clickEffect">
                      <p:stCondLst>
                        <p:cond delay="indefinite"/>
                      </p:stCondLst>
                      <p:childTnLst>
                        <p:par>
                          <p:cTn id="983" fill="hold" nodeType="withEffect">
                            <p:stCondLst>
                              <p:cond delay="0"/>
                            </p:stCondLst>
                            <p:childTnLst>
                              <p:par>
                                <p:cTn id="984" presetID="3" presetClass="entr" fill="hold" nodeType="clickEffect" presetSubtype="10">
                                  <p:stCondLst>
                                    <p:cond delay="0"/>
                                  </p:stCondLst>
                                  <p:childTnLst>
                                    <p:set>
                                      <p:cBhvr>
                                        <p:cTn id="985" dur="1" fill="hold">
                                          <p:stCondLst>
                                            <p:cond delay="0"/>
                                          </p:stCondLst>
                                        </p:cTn>
                                        <p:tgtEl>
                                          <p:spTgt spid="884"/>
                                        </p:tgtEl>
                                        <p:attrNameLst>
                                          <p:attrName>style.visibility</p:attrName>
                                        </p:attrNameLst>
                                      </p:cBhvr>
                                      <p:to>
                                        <p:strVal val="visible"/>
                                      </p:to>
                                    </p:set>
                                    <p:animEffect transition="in" filter="blinds(horizontal)">
                                      <p:cBhvr additive="repl">
                                        <p:cTn id="986" dur="500"/>
                                        <p:tgtEl>
                                          <p:spTgt spid="884"/>
                                        </p:tgtEl>
                                      </p:cBhvr>
                                    </p:animEffect>
                                  </p:childTnLst>
                                </p:cTn>
                              </p:par>
                            </p:childTnLst>
                          </p:cTn>
                        </p:par>
                      </p:childTnLst>
                    </p:cTn>
                  </p:par>
                  <p:par>
                    <p:cTn id="987" fill="hold" nodeType="clickEffect">
                      <p:stCondLst>
                        <p:cond delay="indefinite"/>
                      </p:stCondLst>
                      <p:childTnLst>
                        <p:par>
                          <p:cTn id="988" fill="hold" nodeType="withEffect">
                            <p:stCondLst>
                              <p:cond delay="0"/>
                            </p:stCondLst>
                            <p:childTnLst>
                              <p:par>
                                <p:cTn id="989" presetID="22" presetClass="entr" fill="hold" nodeType="clickEffect" presetSubtype="4">
                                  <p:stCondLst>
                                    <p:cond delay="0"/>
                                  </p:stCondLst>
                                  <p:childTnLst>
                                    <p:set>
                                      <p:cBhvr>
                                        <p:cTn id="990" dur="1" fill="hold">
                                          <p:stCondLst>
                                            <p:cond delay="0"/>
                                          </p:stCondLst>
                                        </p:cTn>
                                        <p:tgtEl>
                                          <p:spTgt spid="899"/>
                                        </p:tgtEl>
                                        <p:attrNameLst>
                                          <p:attrName>style.visibility</p:attrName>
                                        </p:attrNameLst>
                                      </p:cBhvr>
                                      <p:to>
                                        <p:strVal val="visible"/>
                                      </p:to>
                                    </p:set>
                                    <p:animEffect transition="in" filter="wipe(down)">
                                      <p:cBhvr additive="repl">
                                        <p:cTn id="991" dur="500"/>
                                        <p:tgtEl>
                                          <p:spTgt spid="899"/>
                                        </p:tgtEl>
                                      </p:cBhvr>
                                    </p:animEffect>
                                  </p:childTnLst>
                                </p:cTn>
                              </p:par>
                            </p:childTnLst>
                          </p:cTn>
                        </p:par>
                      </p:childTnLst>
                    </p:cTn>
                  </p:par>
                  <p:par>
                    <p:cTn id="992" fill="hold" nodeType="clickEffect">
                      <p:stCondLst>
                        <p:cond delay="indefinite"/>
                      </p:stCondLst>
                      <p:childTnLst>
                        <p:par>
                          <p:cTn id="993" fill="hold" nodeType="withEffect">
                            <p:stCondLst>
                              <p:cond delay="0"/>
                            </p:stCondLst>
                            <p:childTnLst>
                              <p:par>
                                <p:cTn id="994" presetID="3" presetClass="entr" fill="hold" nodeType="clickEffect" presetSubtype="10">
                                  <p:stCondLst>
                                    <p:cond delay="0"/>
                                  </p:stCondLst>
                                  <p:childTnLst>
                                    <p:set>
                                      <p:cBhvr>
                                        <p:cTn id="995" dur="1" fill="hold">
                                          <p:stCondLst>
                                            <p:cond delay="0"/>
                                          </p:stCondLst>
                                        </p:cTn>
                                        <p:tgtEl>
                                          <p:spTgt spid="893"/>
                                        </p:tgtEl>
                                        <p:attrNameLst>
                                          <p:attrName>style.visibility</p:attrName>
                                        </p:attrNameLst>
                                      </p:cBhvr>
                                      <p:to>
                                        <p:strVal val="visible"/>
                                      </p:to>
                                    </p:set>
                                    <p:animEffect transition="in" filter="blinds(horizontal)">
                                      <p:cBhvr additive="repl">
                                        <p:cTn id="996" dur="500"/>
                                        <p:tgtEl>
                                          <p:spTgt spid="893"/>
                                        </p:tgtEl>
                                      </p:cBhvr>
                                    </p:animEffect>
                                  </p:childTnLst>
                                </p:cTn>
                              </p:par>
                            </p:childTnLst>
                          </p:cTn>
                        </p:par>
                      </p:childTnLst>
                    </p:cTn>
                  </p:par>
                  <p:par>
                    <p:cTn id="997" fill="hold" nodeType="clickEffect">
                      <p:stCondLst>
                        <p:cond delay="indefinite"/>
                      </p:stCondLst>
                      <p:childTnLst>
                        <p:par>
                          <p:cTn id="998" fill="hold" nodeType="withEffect">
                            <p:stCondLst>
                              <p:cond delay="0"/>
                            </p:stCondLst>
                            <p:childTnLst>
                              <p:par>
                                <p:cTn id="999" presetID="3" presetClass="entr" fill="hold" nodeType="clickEffect" presetSubtype="10">
                                  <p:stCondLst>
                                    <p:cond delay="0"/>
                                  </p:stCondLst>
                                  <p:childTnLst>
                                    <p:set>
                                      <p:cBhvr>
                                        <p:cTn id="1000" dur="1" fill="hold">
                                          <p:stCondLst>
                                            <p:cond delay="0"/>
                                          </p:stCondLst>
                                        </p:cTn>
                                        <p:tgtEl>
                                          <p:spTgt spid="896"/>
                                        </p:tgtEl>
                                        <p:attrNameLst>
                                          <p:attrName>style.visibility</p:attrName>
                                        </p:attrNameLst>
                                      </p:cBhvr>
                                      <p:to>
                                        <p:strVal val="visible"/>
                                      </p:to>
                                    </p:set>
                                    <p:animEffect transition="in" filter="blinds(horizontal)">
                                      <p:cBhvr additive="repl">
                                        <p:cTn id="1001" dur="500"/>
                                        <p:tgtEl>
                                          <p:spTgt spid="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00" name="Group 42"/>
          <p:cNvGrpSpPr/>
          <p:nvPr/>
        </p:nvGrpSpPr>
        <p:grpSpPr>
          <a:xfrm>
            <a:off x="3492360" y="1989000"/>
            <a:ext cx="5688000" cy="4392720"/>
            <a:chOff x="3492360" y="1989000"/>
            <a:chExt cx="5688000" cy="4392720"/>
          </a:xfrm>
        </p:grpSpPr>
        <p:sp>
          <p:nvSpPr>
            <p:cNvPr id="901" name="Rectangle 29"/>
            <p:cNvSpPr/>
            <p:nvPr/>
          </p:nvSpPr>
          <p:spPr>
            <a:xfrm>
              <a:off x="3492360" y="1989000"/>
              <a:ext cx="5472360" cy="4392720"/>
            </a:xfrm>
            <a:prstGeom prst="rect">
              <a:avLst/>
            </a:prstGeom>
            <a:solidFill>
              <a:srgbClr val="CCFFCC"/>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02" name="Rectangle 5"/>
            <p:cNvSpPr/>
            <p:nvPr/>
          </p:nvSpPr>
          <p:spPr>
            <a:xfrm>
              <a:off x="4014720" y="2324160"/>
              <a:ext cx="4454640" cy="37576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03" name="Line 6"/>
            <p:cNvSpPr/>
            <p:nvPr/>
          </p:nvSpPr>
          <p:spPr>
            <a:xfrm>
              <a:off x="4014720" y="4103640"/>
              <a:ext cx="4454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4" name="Line 7"/>
            <p:cNvSpPr/>
            <p:nvPr/>
          </p:nvSpPr>
          <p:spPr>
            <a:xfrm>
              <a:off x="4014720" y="35114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5" name="Line 8"/>
            <p:cNvSpPr/>
            <p:nvPr/>
          </p:nvSpPr>
          <p:spPr>
            <a:xfrm>
              <a:off x="4014720" y="291780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6" name="Line 9"/>
            <p:cNvSpPr/>
            <p:nvPr/>
          </p:nvSpPr>
          <p:spPr>
            <a:xfrm>
              <a:off x="4014720" y="47642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7" name="Line 10"/>
            <p:cNvSpPr/>
            <p:nvPr/>
          </p:nvSpPr>
          <p:spPr>
            <a:xfrm>
              <a:off x="4014720" y="54230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8" name="Line 11"/>
            <p:cNvSpPr/>
            <p:nvPr/>
          </p:nvSpPr>
          <p:spPr>
            <a:xfrm>
              <a:off x="6145200" y="23241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09" name="Line 12"/>
            <p:cNvSpPr/>
            <p:nvPr/>
          </p:nvSpPr>
          <p:spPr>
            <a:xfrm>
              <a:off x="7308720" y="23241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10" name="Line 13"/>
            <p:cNvSpPr/>
            <p:nvPr/>
          </p:nvSpPr>
          <p:spPr>
            <a:xfrm>
              <a:off x="5048280" y="23241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911" name="Object 14"/>
                <p:cNvSpPr txBox="1"/>
                <p:nvPr/>
              </p:nvSpPr>
              <p:spPr>
                <a:xfrm>
                  <a:off x="3851280" y="2060640"/>
                  <a:ext cx="641520" cy="249120"/>
                </a:xfrm>
                <a:prstGeom prst="rect">
                  <a:avLst/>
                </a:prstGeom>
              </p:spPr>
              <p:txBody>
                <a:bodyPr/>
                <a:p>
                  <a14:m>
                    <m:oMath xmlns:m="http://schemas.openxmlformats.org/officeDocument/2006/math">
                      <m:r>
                        <m:t xml:space="preserve">L</m:t>
                      </m:r>
                      <m:r>
                        <m:t xml:space="preserve">(</m:t>
                      </m:r>
                      <m:r>
                        <m:t xml:space="preserve">ω</m:t>
                      </m:r>
                      <m:r>
                        <m:t xml:space="preserve">)</m:t>
                      </m:r>
                      <m:r>
                        <m:rPr>
                          <m:lit/>
                          <m:nor/>
                        </m:rPr>
                        <m:t xml:space="preserve">dB</m:t>
                      </m:r>
                    </m:oMath>
                  </a14:m>
                </a:p>
              </p:txBody>
            </p:sp>
          </mc:Choice>
          <mc:Fallback>
            <p:sp>
              <p:nvSpPr>
                <p:cNvPr id="911" name="Object 14"/>
                <p:cNvSpPr txBox="1"/>
                <p:nvPr/>
              </p:nvSpPr>
              <p:spPr>
                <a:xfrm>
                  <a:off x="3851280" y="2060640"/>
                  <a:ext cx="641520" cy="249120"/>
                </a:xfrm>
                <a:prstGeom prst="rect">
                  <a:avLst/>
                </a:prstGeom>
                <a:blipFill>
                  <a:blip r:embed="rId1"/>
                  <a:stretch>
                    <a:fillRect/>
                  </a:stretch>
                </a:blipFill>
              </p:spPr>
            </p:sp>
          </mc:Fallback>
        </mc:AlternateContent>
        <mc:AlternateContent>
          <mc:Choice xmlns:a14="http://schemas.microsoft.com/office/drawing/2010/main" Requires="a14">
            <p:sp>
              <p:nvSpPr>
                <p:cNvPr id="912" name="Object 15"/>
                <p:cNvSpPr txBox="1"/>
                <p:nvPr/>
              </p:nvSpPr>
              <p:spPr>
                <a:xfrm>
                  <a:off x="8172360" y="1989000"/>
                  <a:ext cx="493920" cy="287640"/>
                </a:xfrm>
                <a:prstGeom prst="rect">
                  <a:avLst/>
                </a:prstGeom>
              </p:spPr>
              <p:txBody>
                <a:bodyPr/>
                <a:p>
                  <a14:m>
                    <m:oMath xmlns:m="http://schemas.openxmlformats.org/officeDocument/2006/math">
                      <m:r>
                        <m:t xml:space="preserve">ϕ</m:t>
                      </m:r>
                      <m:r>
                        <m:t xml:space="preserve">(</m:t>
                      </m:r>
                      <m:r>
                        <m:t xml:space="preserve">ω</m:t>
                      </m:r>
                      <m:r>
                        <m:t xml:space="preserve">)</m:t>
                      </m:r>
                    </m:oMath>
                  </a14:m>
                </a:p>
              </p:txBody>
            </p:sp>
          </mc:Choice>
          <mc:Fallback>
            <p:sp>
              <p:nvSpPr>
                <p:cNvPr id="912" name="Object 15"/>
                <p:cNvSpPr txBox="1"/>
                <p:nvPr/>
              </p:nvSpPr>
              <p:spPr>
                <a:xfrm>
                  <a:off x="8172360" y="1989000"/>
                  <a:ext cx="493920" cy="287640"/>
                </a:xfrm>
                <a:prstGeom prst="rect">
                  <a:avLst/>
                </a:prstGeom>
                <a:blipFill>
                  <a:blip r:embed="rId2"/>
                  <a:stretch>
                    <a:fillRect/>
                  </a:stretch>
                </a:blipFill>
              </p:spPr>
            </p:sp>
          </mc:Fallback>
        </mc:AlternateContent>
        <p:sp>
          <p:nvSpPr>
            <p:cNvPr id="913" name="Text Box 16"/>
            <p:cNvSpPr/>
            <p:nvPr/>
          </p:nvSpPr>
          <p:spPr>
            <a:xfrm>
              <a:off x="3951360" y="4103640"/>
              <a:ext cx="51732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0.1</a:t>
              </a:r>
              <a:endParaRPr lang="en-US" sz="2000" b="0" u="none" strike="noStrike">
                <a:solidFill>
                  <a:srgbClr val="000000"/>
                </a:solidFill>
                <a:effectLst/>
                <a:uFillTx/>
                <a:latin typeface="Times New Roman"/>
              </a:endParaRPr>
            </a:p>
          </p:txBody>
        </p:sp>
        <p:sp>
          <p:nvSpPr>
            <p:cNvPr id="914" name="Text Box 17"/>
            <p:cNvSpPr/>
            <p:nvPr/>
          </p:nvSpPr>
          <p:spPr>
            <a:xfrm>
              <a:off x="3692520" y="3379680"/>
              <a:ext cx="38736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915" name="Text Box 18"/>
            <p:cNvSpPr/>
            <p:nvPr/>
          </p:nvSpPr>
          <p:spPr>
            <a:xfrm>
              <a:off x="3692520" y="2784600"/>
              <a:ext cx="38736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916" name="Text Box 19"/>
            <p:cNvSpPr/>
            <p:nvPr/>
          </p:nvSpPr>
          <p:spPr>
            <a:xfrm>
              <a:off x="3564000" y="5291280"/>
              <a:ext cx="51588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917" name="Text Box 20"/>
            <p:cNvSpPr/>
            <p:nvPr/>
          </p:nvSpPr>
          <p:spPr>
            <a:xfrm>
              <a:off x="3564000" y="463068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918" name="Text Box 21"/>
            <p:cNvSpPr/>
            <p:nvPr/>
          </p:nvSpPr>
          <p:spPr>
            <a:xfrm>
              <a:off x="8405640" y="5291280"/>
              <a:ext cx="7747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19" name="Object 22"/>
                <p:cNvSpPr txBox="1"/>
                <p:nvPr/>
              </p:nvSpPr>
              <p:spPr>
                <a:xfrm>
                  <a:off x="8532720" y="3933720"/>
                  <a:ext cx="285840" cy="265320"/>
                </a:xfrm>
                <a:prstGeom prst="rect">
                  <a:avLst/>
                </a:prstGeom>
              </p:spPr>
              <p:txBody>
                <a:bodyPr/>
                <a:p>
                  <a14:m>
                    <m:oMath xmlns:m="http://schemas.openxmlformats.org/officeDocument/2006/math">
                      <m:r>
                        <m:t xml:space="preserve">ω</m:t>
                      </m:r>
                    </m:oMath>
                  </a14:m>
                </a:p>
              </p:txBody>
            </p:sp>
          </mc:Choice>
          <mc:Fallback>
            <p:sp>
              <p:nvSpPr>
                <p:cNvPr id="919" name="Object 22"/>
                <p:cNvSpPr txBox="1"/>
                <p:nvPr/>
              </p:nvSpPr>
              <p:spPr>
                <a:xfrm>
                  <a:off x="8532720" y="3933720"/>
                  <a:ext cx="285840" cy="265320"/>
                </a:xfrm>
                <a:prstGeom prst="rect">
                  <a:avLst/>
                </a:prstGeom>
                <a:blipFill>
                  <a:blip r:embed="rId3"/>
                  <a:stretch>
                    <a:fillRect/>
                  </a:stretch>
                </a:blipFill>
              </p:spPr>
            </p:sp>
          </mc:Fallback>
        </mc:AlternateContent>
        <p:sp>
          <p:nvSpPr>
            <p:cNvPr id="920" name="Text Box 23"/>
            <p:cNvSpPr/>
            <p:nvPr/>
          </p:nvSpPr>
          <p:spPr>
            <a:xfrm>
              <a:off x="8405640" y="4630680"/>
              <a:ext cx="7747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921" name="Text Box 24"/>
            <p:cNvSpPr/>
            <p:nvPr/>
          </p:nvSpPr>
          <p:spPr>
            <a:xfrm>
              <a:off x="8405640" y="2784600"/>
              <a:ext cx="45108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922" name="Text Box 25"/>
            <p:cNvSpPr/>
            <p:nvPr/>
          </p:nvSpPr>
          <p:spPr>
            <a:xfrm>
              <a:off x="8469360" y="337968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923" name="Text Box 26"/>
            <p:cNvSpPr/>
            <p:nvPr/>
          </p:nvSpPr>
          <p:spPr>
            <a:xfrm>
              <a:off x="5049720" y="4103640"/>
              <a:ext cx="51588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a:t>
              </a:r>
              <a:endParaRPr lang="en-US" sz="2000" b="0" u="none" strike="noStrike">
                <a:solidFill>
                  <a:srgbClr val="000000"/>
                </a:solidFill>
                <a:effectLst/>
                <a:uFillTx/>
                <a:latin typeface="Times New Roman"/>
              </a:endParaRPr>
            </a:p>
          </p:txBody>
        </p:sp>
        <p:sp>
          <p:nvSpPr>
            <p:cNvPr id="924" name="Text Box 27"/>
            <p:cNvSpPr/>
            <p:nvPr/>
          </p:nvSpPr>
          <p:spPr>
            <a:xfrm>
              <a:off x="6145200" y="4103640"/>
              <a:ext cx="64764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a:t>
              </a:r>
              <a:endParaRPr lang="en-US" sz="2000" b="0" u="none" strike="noStrike">
                <a:solidFill>
                  <a:srgbClr val="000000"/>
                </a:solidFill>
                <a:effectLst/>
                <a:uFillTx/>
                <a:latin typeface="Times New Roman"/>
              </a:endParaRPr>
            </a:p>
          </p:txBody>
        </p:sp>
        <p:sp>
          <p:nvSpPr>
            <p:cNvPr id="925" name="Text Box 28"/>
            <p:cNvSpPr/>
            <p:nvPr/>
          </p:nvSpPr>
          <p:spPr>
            <a:xfrm>
              <a:off x="7242120" y="410364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100</a:t>
              </a:r>
              <a:endParaRPr lang="en-US" sz="2000" b="0" u="none" strike="noStrike">
                <a:solidFill>
                  <a:srgbClr val="000000"/>
                </a:solidFill>
                <a:effectLst/>
                <a:uFillTx/>
                <a:latin typeface="Times New Roman"/>
              </a:endParaRPr>
            </a:p>
          </p:txBody>
        </p:sp>
      </p:grpSp>
      <p:sp>
        <p:nvSpPr>
          <p:cNvPr id="926" name="Rectangle 43"/>
          <p:cNvSpPr/>
          <p:nvPr/>
        </p:nvSpPr>
        <p:spPr>
          <a:xfrm>
            <a:off x="763200" y="260280"/>
            <a:ext cx="2216880" cy="398880"/>
          </a:xfrm>
          <a:prstGeom prst="rect">
            <a:avLst/>
          </a:prstGeom>
          <a:solidFill>
            <a:srgbClr val="FFCCCC"/>
          </a:solid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先综合超前校正：</a:t>
            </a:r>
            <a:endParaRPr lang="en-US" sz="2000" b="0" u="none" strike="noStrike">
              <a:solidFill>
                <a:srgbClr val="000000"/>
              </a:solidFill>
              <a:effectLst/>
              <a:uFillTx/>
              <a:latin typeface="Times New Roman"/>
            </a:endParaRPr>
          </a:p>
        </p:txBody>
      </p:sp>
      <p:sp>
        <p:nvSpPr>
          <p:cNvPr id="927" name="Rectangle 44"/>
          <p:cNvSpPr/>
          <p:nvPr/>
        </p:nvSpPr>
        <p:spPr>
          <a:xfrm>
            <a:off x="684360" y="836640"/>
            <a:ext cx="799308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考虑到滞后校正会产生</a:t>
            </a:r>
            <a:r>
              <a:rPr lang="en-US" sz="2000" b="1" u="none" strike="noStrike">
                <a:solidFill>
                  <a:srgbClr val="000000"/>
                </a:solidFill>
                <a:effectLst/>
                <a:uFillTx/>
                <a:latin typeface="Times New Roman"/>
              </a:rPr>
              <a:t>5°</a:t>
            </a: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12°</a:t>
            </a:r>
            <a:r>
              <a:rPr lang="zh-CN" sz="2000" b="1" u="none" strike="noStrike">
                <a:solidFill>
                  <a:srgbClr val="000000"/>
                </a:solidFill>
                <a:effectLst/>
                <a:uFillTx/>
                <a:latin typeface="Times New Roman"/>
              </a:rPr>
              <a:t>的相角滞后量，所以在确定超前校正所应提供的超前角时，应计入这一因素。这样，超前校正在              点应当提供的超前角是</a:t>
            </a:r>
            <a:r>
              <a:rPr lang="en-US" sz="2000" b="1" u="none" strike="noStrike">
                <a:solidFill>
                  <a:srgbClr val="000000"/>
                </a:solidFill>
                <a:effectLst/>
                <a:uFillTx/>
                <a:latin typeface="Times New Roman"/>
              </a:rPr>
              <a:t>30°</a:t>
            </a:r>
            <a:r>
              <a:rPr lang="zh-CN" sz="2000" b="1" u="none" strike="noStrike">
                <a:solidFill>
                  <a:srgbClr val="000000"/>
                </a:solidFill>
                <a:effectLst/>
                <a:uFillTx/>
                <a:latin typeface="Times New Roman"/>
              </a:rPr>
              <a:t>～</a:t>
            </a:r>
            <a:r>
              <a:rPr lang="en-US" sz="2000" b="1" u="none" strike="noStrike">
                <a:solidFill>
                  <a:srgbClr val="000000"/>
                </a:solidFill>
                <a:effectLst/>
                <a:uFillTx/>
                <a:latin typeface="Times New Roman"/>
              </a:rPr>
              <a:t>37°</a:t>
            </a:r>
            <a:r>
              <a:rPr lang="zh-CN" sz="2000" b="1" u="none" strike="noStrike">
                <a:solidFill>
                  <a:srgbClr val="000000"/>
                </a:solidFill>
                <a:effectLst/>
                <a:uFillTx/>
                <a:latin typeface="Times New Roman"/>
              </a:rPr>
              <a:t>。我们试选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28" name="Object 45"/>
              <p:cNvSpPr txBox="1"/>
              <p:nvPr/>
            </p:nvSpPr>
            <p:spPr>
              <a:xfrm>
                <a:off x="6031080" y="1484280"/>
                <a:ext cx="826920" cy="365040"/>
              </a:xfrm>
              <a:prstGeom prst="rect">
                <a:avLst/>
              </a:prstGeom>
            </p:spPr>
            <p:txBody>
              <a:bodyPr/>
              <a:p>
                <a14:m>
                  <m:oMath xmlns:m="http://schemas.openxmlformats.org/officeDocument/2006/math">
                    <m:sSub>
                      <m:e>
                        <m:r>
                          <m:t xml:space="preserve">θ</m:t>
                        </m:r>
                      </m:e>
                      <m:sub>
                        <m:r>
                          <m:t xml:space="preserve">m</m:t>
                        </m:r>
                      </m:sub>
                    </m:sSub>
                    <m:r>
                      <m:t xml:space="preserve">=</m:t>
                    </m:r>
                    <m:sSup>
                      <m:e>
                        <m:r>
                          <m:rPr>
                            <m:lit/>
                            <m:nor/>
                          </m:rPr>
                          <m:t xml:space="preserve">40</m:t>
                        </m:r>
                      </m:e>
                      <m:sup>
                        <m:r>
                          <m:t xml:space="preserve">∘</m:t>
                        </m:r>
                      </m:sup>
                    </m:sSup>
                  </m:oMath>
                </a14:m>
              </a:p>
            </p:txBody>
          </p:sp>
        </mc:Choice>
        <mc:Fallback>
          <p:sp>
            <p:nvSpPr>
              <p:cNvPr id="928" name="Object 45"/>
              <p:cNvSpPr txBox="1"/>
              <p:nvPr/>
            </p:nvSpPr>
            <p:spPr>
              <a:xfrm>
                <a:off x="6031080" y="1484280"/>
                <a:ext cx="826920" cy="365040"/>
              </a:xfrm>
              <a:prstGeom prst="rect">
                <a:avLst/>
              </a:prstGeom>
              <a:blipFill>
                <a:blip r:embed="rId4"/>
                <a:stretch>
                  <a:fillRect/>
                </a:stretch>
              </a:blipFill>
            </p:spPr>
          </p:sp>
        </mc:Fallback>
      </mc:AlternateContent>
      <mc:AlternateContent>
        <mc:Choice xmlns:a14="http://schemas.microsoft.com/office/drawing/2010/main" Requires="a14">
          <p:sp>
            <p:nvSpPr>
              <p:cNvPr id="929" name="Object 48"/>
              <p:cNvSpPr txBox="1"/>
              <p:nvPr/>
            </p:nvSpPr>
            <p:spPr>
              <a:xfrm>
                <a:off x="7669080" y="1123920"/>
                <a:ext cx="1258920" cy="43344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20</m:t>
                    </m:r>
                    <m:sSup>
                      <m:e>
                        <m:r>
                          <m:t xml:space="preserve">s</m:t>
                        </m:r>
                      </m:e>
                      <m:sup>
                        <m:r>
                          <m:t xml:space="preserve">−</m:t>
                        </m:r>
                        <m:r>
                          <m:t xml:space="preserve">1</m:t>
                        </m:r>
                      </m:sup>
                    </m:sSup>
                  </m:oMath>
                </a14:m>
              </a:p>
            </p:txBody>
          </p:sp>
        </mc:Choice>
        <mc:Fallback>
          <p:sp>
            <p:nvSpPr>
              <p:cNvPr id="929" name="Object 48"/>
              <p:cNvSpPr txBox="1"/>
              <p:nvPr/>
            </p:nvSpPr>
            <p:spPr>
              <a:xfrm>
                <a:off x="7669080" y="1123920"/>
                <a:ext cx="1258920" cy="433440"/>
              </a:xfrm>
              <a:prstGeom prst="rect">
                <a:avLst/>
              </a:prstGeom>
              <a:blipFill>
                <a:blip r:embed="rId5"/>
                <a:stretch>
                  <a:fillRect/>
                </a:stretch>
              </a:blipFill>
            </p:spPr>
          </p:sp>
        </mc:Fallback>
      </mc:AlternateContent>
      <p:sp>
        <p:nvSpPr>
          <p:cNvPr id="930" name="Line 62"/>
          <p:cNvSpPr/>
          <p:nvPr/>
        </p:nvSpPr>
        <p:spPr>
          <a:xfrm>
            <a:off x="3851280" y="2349360"/>
            <a:ext cx="2268360" cy="114948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31" name="Line 63"/>
          <p:cNvSpPr/>
          <p:nvPr/>
        </p:nvSpPr>
        <p:spPr>
          <a:xfrm>
            <a:off x="6119640" y="3500280"/>
            <a:ext cx="1209960" cy="129708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32" name="Line 64"/>
          <p:cNvSpPr/>
          <p:nvPr/>
        </p:nvSpPr>
        <p:spPr>
          <a:xfrm>
            <a:off x="7329600" y="4799160"/>
            <a:ext cx="604800" cy="122220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933" name="Object 65"/>
              <p:cNvSpPr txBox="1"/>
              <p:nvPr/>
            </p:nvSpPr>
            <p:spPr>
              <a:xfrm>
                <a:off x="4908600" y="2505240"/>
                <a:ext cx="1106280" cy="237960"/>
              </a:xfrm>
              <a:prstGeom prst="rect">
                <a:avLst/>
              </a:prstGeom>
            </p:spPr>
            <p:txBody>
              <a:bodyPr/>
              <a:p>
                <a14:m>
                  <m:oMath xmlns:m="http://schemas.openxmlformats.org/officeDocument/2006/math">
                    <m:r>
                      <m:t xml:space="preserve">−</m:t>
                    </m:r>
                    <m:r>
                      <m:rPr>
                        <m:lit/>
                        <m:nor/>
                      </m:rPr>
                      <m:t xml:space="preserve">20</m:t>
                    </m:r>
                    <m:f>
                      <m:fPr>
                        <m:type m:val="lin"/>
                      </m:fPr>
                      <m:num>
                        <m:r>
                          <m:rPr>
                            <m:lit/>
                            <m:nor/>
                          </m:rPr>
                          <m:t xml:space="preserve">dB</m:t>
                        </m:r>
                      </m:num>
                      <m:den>
                        <m:r>
                          <m:rPr>
                            <m:lit/>
                            <m:nor/>
                          </m:rPr>
                          <m:t xml:space="preserve">dec</m:t>
                        </m:r>
                      </m:den>
                    </m:f>
                  </m:oMath>
                </a14:m>
              </a:p>
            </p:txBody>
          </p:sp>
        </mc:Choice>
        <mc:Fallback>
          <p:sp>
            <p:nvSpPr>
              <p:cNvPr id="933" name="Object 65"/>
              <p:cNvSpPr txBox="1"/>
              <p:nvPr/>
            </p:nvSpPr>
            <p:spPr>
              <a:xfrm>
                <a:off x="4908600" y="2505240"/>
                <a:ext cx="1106280" cy="237960"/>
              </a:xfrm>
              <a:prstGeom prst="rect">
                <a:avLst/>
              </a:prstGeom>
              <a:blipFill>
                <a:blip r:embed="rId6"/>
                <a:stretch>
                  <a:fillRect/>
                </a:stretch>
              </a:blipFill>
            </p:spPr>
          </p:sp>
        </mc:Fallback>
      </mc:AlternateContent>
      <mc:AlternateContent>
        <mc:Choice xmlns:a14="http://schemas.microsoft.com/office/drawing/2010/main" Requires="a14">
          <p:sp>
            <p:nvSpPr>
              <p:cNvPr id="934" name="Object 66"/>
              <p:cNvSpPr txBox="1"/>
              <p:nvPr/>
            </p:nvSpPr>
            <p:spPr>
              <a:xfrm>
                <a:off x="6421320" y="3573360"/>
                <a:ext cx="828720" cy="238320"/>
              </a:xfrm>
              <a:prstGeom prst="rect">
                <a:avLst/>
              </a:prstGeom>
            </p:spPr>
            <p:txBody>
              <a:bodyPr/>
              <a:p>
                <a14:m>
                  <m:oMath xmlns:m="http://schemas.openxmlformats.org/officeDocument/2006/math">
                    <m:r>
                      <m:t xml:space="preserve">−</m:t>
                    </m:r>
                    <m:r>
                      <m:rPr>
                        <m:lit/>
                        <m:nor/>
                      </m:rPr>
                      <m:t xml:space="preserve">40</m:t>
                    </m:r>
                    <m:f>
                      <m:fPr>
                        <m:type m:val="lin"/>
                      </m:fPr>
                      <m:num>
                        <m:r>
                          <m:rPr>
                            <m:lit/>
                            <m:nor/>
                          </m:rPr>
                          <m:t xml:space="preserve">dB</m:t>
                        </m:r>
                      </m:num>
                      <m:den>
                        <m:r>
                          <m:rPr>
                            <m:lit/>
                            <m:nor/>
                          </m:rPr>
                          <m:t xml:space="preserve">dec</m:t>
                        </m:r>
                      </m:den>
                    </m:f>
                  </m:oMath>
                </a14:m>
              </a:p>
            </p:txBody>
          </p:sp>
        </mc:Choice>
        <mc:Fallback>
          <p:sp>
            <p:nvSpPr>
              <p:cNvPr id="934" name="Object 66"/>
              <p:cNvSpPr txBox="1"/>
              <p:nvPr/>
            </p:nvSpPr>
            <p:spPr>
              <a:xfrm>
                <a:off x="6421320" y="3573360"/>
                <a:ext cx="828720" cy="238320"/>
              </a:xfrm>
              <a:prstGeom prst="rect">
                <a:avLst/>
              </a:prstGeom>
              <a:blipFill>
                <a:blip r:embed="rId7"/>
                <a:stretch>
                  <a:fillRect/>
                </a:stretch>
              </a:blipFill>
            </p:spPr>
          </p:sp>
        </mc:Fallback>
      </mc:AlternateContent>
      <mc:AlternateContent>
        <mc:Choice xmlns:a14="http://schemas.microsoft.com/office/drawing/2010/main" Requires="a14">
          <p:sp>
            <p:nvSpPr>
              <p:cNvPr id="935" name="Object 67"/>
              <p:cNvSpPr txBox="1"/>
              <p:nvPr/>
            </p:nvSpPr>
            <p:spPr>
              <a:xfrm>
                <a:off x="7632720" y="5157720"/>
                <a:ext cx="826920" cy="238320"/>
              </a:xfrm>
              <a:prstGeom prst="rect">
                <a:avLst/>
              </a:prstGeom>
            </p:spPr>
            <p:txBody>
              <a:bodyPr/>
              <a:p>
                <a14:m>
                  <m:oMath xmlns:m="http://schemas.openxmlformats.org/officeDocument/2006/math">
                    <m:r>
                      <m:t xml:space="preserve">−</m:t>
                    </m:r>
                    <m:r>
                      <m:rPr>
                        <m:lit/>
                        <m:nor/>
                      </m:rPr>
                      <m:t xml:space="preserve">60</m:t>
                    </m:r>
                    <m:f>
                      <m:fPr>
                        <m:type m:val="lin"/>
                      </m:fPr>
                      <m:num>
                        <m:r>
                          <m:rPr>
                            <m:lit/>
                            <m:nor/>
                          </m:rPr>
                          <m:t xml:space="preserve">dB</m:t>
                        </m:r>
                      </m:num>
                      <m:den>
                        <m:r>
                          <m:rPr>
                            <m:lit/>
                            <m:nor/>
                          </m:rPr>
                          <m:t xml:space="preserve">dec</m:t>
                        </m:r>
                      </m:den>
                    </m:f>
                  </m:oMath>
                </a14:m>
              </a:p>
            </p:txBody>
          </p:sp>
        </mc:Choice>
        <mc:Fallback>
          <p:sp>
            <p:nvSpPr>
              <p:cNvPr id="935" name="Object 67"/>
              <p:cNvSpPr txBox="1"/>
              <p:nvPr/>
            </p:nvSpPr>
            <p:spPr>
              <a:xfrm>
                <a:off x="7632720" y="5157720"/>
                <a:ext cx="826920" cy="238320"/>
              </a:xfrm>
              <a:prstGeom prst="rect">
                <a:avLst/>
              </a:prstGeom>
              <a:blipFill>
                <a:blip r:embed="rId8"/>
                <a:stretch>
                  <a:fillRect/>
                </a:stretch>
              </a:blipFill>
            </p:spPr>
          </p:sp>
        </mc:Fallback>
      </mc:AlternateContent>
      <p:sp>
        <p:nvSpPr>
          <p:cNvPr id="936" name="Freeform 68"/>
          <p:cNvSpPr/>
          <p:nvPr/>
        </p:nvSpPr>
        <p:spPr>
          <a:xfrm>
            <a:off x="4832280" y="4799160"/>
            <a:ext cx="3405240" cy="1150920"/>
          </a:xfrm>
          <a:custGeom>
            <a:avLst/>
            <a:gdLst>
              <a:gd name="GluePoint1X" fmla="*/ 0 w 2041"/>
              <a:gd name="GluePoint1Y" fmla="*/ 0 h 726"/>
              <a:gd name="GluePoint2X" fmla="*/ 2147483647 w 2041"/>
              <a:gd name="GluePoint2Y" fmla="*/ 2147483647 h 726"/>
              <a:gd name="GluePoint3X" fmla="*/ 2147483647 w 2041"/>
              <a:gd name="GluePoint3Y" fmla="*/ 2147483647 h 726"/>
              <a:gd name="GluePoint4X" fmla="*/ 2147483647 w 2041"/>
              <a:gd name="GluePoint4Y" fmla="*/ 2147483647 h 726"/>
              <a:gd name="GluePoint5X" fmla="*/ 2147483647 w 2041"/>
              <a:gd name="GluePoint5Y" fmla="*/ 2147483647 h 726"/>
              <a:gd name="GluePoint6X" fmla="*/ 2147483647 w 2041"/>
              <a:gd name="GluePoint6Y" fmla="*/ 2147483647 h 726"/>
              <a:gd name="GluePoint7X" fmla="*/ 2147483647 w 2041"/>
              <a:gd name="GluePoint7Y" fmla="*/ 2147483647 h 7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041" h="726">
                <a:moveTo>
                  <a:pt x="0" y="0"/>
                </a:moveTo>
                <a:cubicBezTo>
                  <a:pt x="87" y="11"/>
                  <a:pt x="174" y="22"/>
                  <a:pt x="272" y="45"/>
                </a:cubicBezTo>
                <a:cubicBezTo>
                  <a:pt x="370" y="68"/>
                  <a:pt x="476" y="90"/>
                  <a:pt x="590" y="136"/>
                </a:cubicBezTo>
                <a:cubicBezTo>
                  <a:pt x="704" y="182"/>
                  <a:pt x="840" y="258"/>
                  <a:pt x="953" y="318"/>
                </a:cubicBezTo>
                <a:cubicBezTo>
                  <a:pt x="1066" y="378"/>
                  <a:pt x="1142" y="439"/>
                  <a:pt x="1270" y="499"/>
                </a:cubicBezTo>
                <a:cubicBezTo>
                  <a:pt x="1398" y="559"/>
                  <a:pt x="1596" y="643"/>
                  <a:pt x="1724" y="681"/>
                </a:cubicBezTo>
                <a:cubicBezTo>
                  <a:pt x="1852" y="719"/>
                  <a:pt x="1988" y="719"/>
                  <a:pt x="2041" y="726"/>
                </a:cubicBezTo>
              </a:path>
            </a:pathLst>
          </a:custGeom>
          <a:noFill/>
          <a:ln w="255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937" name="Group 77"/>
          <p:cNvGrpSpPr/>
          <p:nvPr/>
        </p:nvGrpSpPr>
        <p:grpSpPr>
          <a:xfrm>
            <a:off x="611280" y="1989000"/>
            <a:ext cx="2349360" cy="365400"/>
            <a:chOff x="611280" y="1989000"/>
            <a:chExt cx="2349360" cy="365400"/>
          </a:xfrm>
        </p:grpSpPr>
        <mc:AlternateContent>
          <mc:Choice xmlns:a14="http://schemas.microsoft.com/office/drawing/2010/main" Requires="a14">
            <p:sp>
              <p:nvSpPr>
                <p:cNvPr id="938" name="Object 69"/>
                <p:cNvSpPr txBox="1"/>
                <p:nvPr/>
              </p:nvSpPr>
              <p:spPr>
                <a:xfrm>
                  <a:off x="2124000" y="2060640"/>
                  <a:ext cx="836640" cy="291960"/>
                </a:xfrm>
                <a:prstGeom prst="rect">
                  <a:avLst/>
                </a:prstGeom>
              </p:spPr>
              <p:txBody>
                <a:bodyPr/>
                <a:p>
                  <a14:m>
                    <m:oMath xmlns:m="http://schemas.openxmlformats.org/officeDocument/2006/math">
                      <m:r>
                        <m:t xml:space="preserve">α</m:t>
                      </m:r>
                      <m:r>
                        <m:t xml:space="preserve">=</m:t>
                      </m:r>
                      <m:r>
                        <m:t xml:space="preserve">4</m:t>
                      </m:r>
                      <m:r>
                        <m:rPr>
                          <m:lit/>
                          <m:nor/>
                        </m:rPr>
                        <m:t xml:space="preserve">.</m:t>
                      </m:r>
                      <m:r>
                        <m:t xml:space="preserve">6</m:t>
                      </m:r>
                    </m:oMath>
                  </a14:m>
                </a:p>
              </p:txBody>
            </p:sp>
          </mc:Choice>
          <mc:Fallback>
            <p:sp>
              <p:nvSpPr>
                <p:cNvPr id="938" name="Object 69"/>
                <p:cNvSpPr txBox="1"/>
                <p:nvPr/>
              </p:nvSpPr>
              <p:spPr>
                <a:xfrm>
                  <a:off x="2124000" y="2060640"/>
                  <a:ext cx="836640" cy="291960"/>
                </a:xfrm>
                <a:prstGeom prst="rect">
                  <a:avLst/>
                </a:prstGeom>
                <a:blipFill>
                  <a:blip r:embed="rId9"/>
                  <a:stretch>
                    <a:fillRect/>
                  </a:stretch>
                </a:blipFill>
              </p:spPr>
            </p:sp>
          </mc:Fallback>
        </mc:AlternateContent>
        <mc:AlternateContent>
          <mc:Choice xmlns:a14="http://schemas.microsoft.com/office/drawing/2010/main" Requires="a14">
            <p:sp>
              <p:nvSpPr>
                <p:cNvPr id="939" name="Object 75"/>
                <p:cNvSpPr txBox="1"/>
                <p:nvPr/>
              </p:nvSpPr>
              <p:spPr>
                <a:xfrm>
                  <a:off x="611280" y="1989000"/>
                  <a:ext cx="826920" cy="365400"/>
                </a:xfrm>
                <a:prstGeom prst="rect">
                  <a:avLst/>
                </a:prstGeom>
              </p:spPr>
              <p:txBody>
                <a:bodyPr/>
                <a:p>
                  <a14:m>
                    <m:oMath xmlns:m="http://schemas.openxmlformats.org/officeDocument/2006/math">
                      <m:sSub>
                        <m:e>
                          <m:r>
                            <m:t xml:space="preserve">θ</m:t>
                          </m:r>
                        </m:e>
                        <m:sub>
                          <m:r>
                            <m:t xml:space="preserve">m</m:t>
                          </m:r>
                        </m:sub>
                      </m:sSub>
                      <m:r>
                        <m:t xml:space="preserve">=</m:t>
                      </m:r>
                      <m:sSup>
                        <m:e>
                          <m:r>
                            <m:rPr>
                              <m:lit/>
                              <m:nor/>
                            </m:rPr>
                            <m:t xml:space="preserve">40</m:t>
                          </m:r>
                        </m:e>
                        <m:sup>
                          <m:r>
                            <m:t xml:space="preserve">∘</m:t>
                          </m:r>
                        </m:sup>
                      </m:sSup>
                    </m:oMath>
                  </a14:m>
                </a:p>
              </p:txBody>
            </p:sp>
          </mc:Choice>
          <mc:Fallback>
            <p:sp>
              <p:nvSpPr>
                <p:cNvPr id="939" name="Object 75"/>
                <p:cNvSpPr txBox="1"/>
                <p:nvPr/>
              </p:nvSpPr>
              <p:spPr>
                <a:xfrm>
                  <a:off x="611280" y="1989000"/>
                  <a:ext cx="826920" cy="365400"/>
                </a:xfrm>
                <a:prstGeom prst="rect">
                  <a:avLst/>
                </a:prstGeom>
                <a:blipFill>
                  <a:blip r:embed="rId10"/>
                  <a:stretch>
                    <a:fillRect/>
                  </a:stretch>
                </a:blipFill>
              </p:spPr>
            </p:sp>
          </mc:Fallback>
        </mc:AlternateContent>
        <p:sp>
          <p:nvSpPr>
            <p:cNvPr id="940" name="AutoShape 76"/>
            <p:cNvSpPr/>
            <p:nvPr/>
          </p:nvSpPr>
          <p:spPr>
            <a:xfrm>
              <a:off x="1619280" y="2133720"/>
              <a:ext cx="360360" cy="142920"/>
            </a:xfrm>
            <a:prstGeom prst="rightArrow">
              <a:avLst>
                <a:gd name="adj1" fmla="val 50000"/>
                <a:gd name="adj2" fmla="val 63035"/>
              </a:avLst>
            </a:prstGeom>
            <a:solidFill>
              <a:srgbClr val="800000"/>
            </a:solidFill>
            <a:ln w="0">
              <a:noFill/>
            </a:ln>
          </p:spPr>
          <p:style>
            <a:lnRef idx="0"/>
            <a:fillRef idx="0"/>
            <a:effectRef idx="0"/>
            <a:fontRef idx="minor"/>
          </p:style>
          <p:txBody>
            <a:bodyPr wrap="none" lIns="90000" tIns="24840" rIns="90000" bIns="248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941" name="Group 87"/>
          <p:cNvGrpSpPr/>
          <p:nvPr/>
        </p:nvGrpSpPr>
        <p:grpSpPr>
          <a:xfrm>
            <a:off x="385920" y="2438280"/>
            <a:ext cx="2633400" cy="1656360"/>
            <a:chOff x="385920" y="2438280"/>
            <a:chExt cx="2633400" cy="1656360"/>
          </a:xfrm>
        </p:grpSpPr>
        <p:sp>
          <p:nvSpPr>
            <p:cNvPr id="942" name="Rectangle 78"/>
            <p:cNvSpPr/>
            <p:nvPr/>
          </p:nvSpPr>
          <p:spPr>
            <a:xfrm>
              <a:off x="385920" y="3085920"/>
              <a:ext cx="263340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求得超前校正的两个转折频率分别为</a:t>
              </a:r>
              <a:r>
                <a:rPr lang="en-US" sz="2000" b="0" u="none" strike="noStrike">
                  <a:solidFill>
                    <a:srgbClr val="000000"/>
                  </a:solidFill>
                  <a:effectLst/>
                  <a:uFillTx/>
                  <a:latin typeface="Times New Roman"/>
                </a:rPr>
                <a:t>9.3s</a:t>
              </a:r>
              <a:r>
                <a:rPr lang="en-US" sz="2000" b="0" u="none" strike="noStrike" baseline="30000">
                  <a:solidFill>
                    <a:srgbClr val="000000"/>
                  </a:solidFill>
                  <a:effectLst/>
                  <a:uFillTx/>
                  <a:latin typeface="Times New Roman"/>
                </a:rPr>
                <a:t>-1</a:t>
              </a:r>
              <a:r>
                <a:rPr lang="zh-CN" sz="2000" b="0" u="none" strike="noStrike">
                  <a:solidFill>
                    <a:srgbClr val="000000"/>
                  </a:solidFill>
                  <a:effectLst/>
                  <a:uFillTx/>
                  <a:latin typeface="Times New Roman"/>
                </a:rPr>
                <a:t>和</a:t>
              </a:r>
              <a:r>
                <a:rPr lang="en-US" sz="2000" b="0" u="none" strike="noStrike">
                  <a:solidFill>
                    <a:srgbClr val="000000"/>
                  </a:solidFill>
                  <a:effectLst/>
                  <a:uFillTx/>
                  <a:latin typeface="Times New Roman"/>
                </a:rPr>
                <a:t>43s</a:t>
              </a:r>
              <a:r>
                <a:rPr lang="en-US" sz="2000" b="0" u="none" strike="noStrike" baseline="30000">
                  <a:solidFill>
                    <a:srgbClr val="000000"/>
                  </a:solidFill>
                  <a:effectLst/>
                  <a:uFillTx/>
                  <a:latin typeface="Times New Roman"/>
                </a:rPr>
                <a:t>-1</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43" name="Object 85"/>
                <p:cNvSpPr txBox="1"/>
                <p:nvPr/>
              </p:nvSpPr>
              <p:spPr>
                <a:xfrm>
                  <a:off x="1033560" y="2438280"/>
                  <a:ext cx="1517760" cy="633240"/>
                </a:xfrm>
                <a:prstGeom prst="rect">
                  <a:avLst/>
                </a:prstGeom>
              </p:spPr>
              <p:txBody>
                <a:bodyPr/>
                <a:p>
                  <a14:m>
                    <m:oMath xmlns:m="http://schemas.openxmlformats.org/officeDocument/2006/math">
                      <m:sSub>
                        <m:e>
                          <m:r>
                            <m:t xml:space="preserve">ω</m:t>
                          </m:r>
                        </m:e>
                        <m:sub>
                          <m:r>
                            <m:t xml:space="preserve">m</m:t>
                          </m:r>
                        </m:sub>
                      </m:sSub>
                      <m:r>
                        <m:t xml:space="preserve">=</m:t>
                      </m:r>
                      <m:f>
                        <m:num>
                          <m:r>
                            <m:t xml:space="preserve">1</m:t>
                          </m:r>
                        </m:num>
                        <m:den>
                          <m:rad>
                            <m:radPr>
                              <m:degHide m:val="1"/>
                            </m:radPr>
                            <m:deg/>
                            <m:e>
                              <m:r>
                                <m:t xml:space="preserve">α</m:t>
                              </m:r>
                            </m:e>
                          </m:rad>
                          <m:r>
                            <m:t xml:space="preserve">T</m:t>
                          </m:r>
                        </m:den>
                      </m:f>
                      <m:r>
                        <m:t xml:space="preserve">=</m:t>
                      </m:r>
                      <m:sSub>
                        <m:e>
                          <m:r>
                            <m:t xml:space="preserve">ω</m:t>
                          </m:r>
                        </m:e>
                        <m:sub>
                          <m:r>
                            <m:t xml:space="preserve">c</m:t>
                          </m:r>
                        </m:sub>
                      </m:sSub>
                    </m:oMath>
                  </a14:m>
                </a:p>
              </p:txBody>
            </p:sp>
          </mc:Choice>
          <mc:Fallback>
            <p:sp>
              <p:nvSpPr>
                <p:cNvPr id="943" name="Object 85"/>
                <p:cNvSpPr txBox="1"/>
                <p:nvPr/>
              </p:nvSpPr>
              <p:spPr>
                <a:xfrm>
                  <a:off x="1033560" y="2438280"/>
                  <a:ext cx="1517760" cy="633240"/>
                </a:xfrm>
                <a:prstGeom prst="rect">
                  <a:avLst/>
                </a:prstGeom>
                <a:blipFill>
                  <a:blip r:embed="rId11"/>
                  <a:stretch>
                    <a:fillRect/>
                  </a:stretch>
                </a:blipFill>
              </p:spPr>
            </p:sp>
          </mc:Fallback>
        </mc:AlternateContent>
        <p:sp>
          <p:nvSpPr>
            <p:cNvPr id="944" name="Text Box 86"/>
            <p:cNvSpPr/>
            <p:nvPr/>
          </p:nvSpPr>
          <p:spPr>
            <a:xfrm>
              <a:off x="530280" y="2509560"/>
              <a:ext cx="647640" cy="39888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2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由</a:t>
              </a:r>
              <a:endParaRPr lang="en-US" sz="2000" b="0" u="none" strike="noStrike">
                <a:solidFill>
                  <a:srgbClr val="000000"/>
                </a:solidFill>
                <a:effectLst/>
                <a:uFillTx/>
                <a:latin typeface="Times New Roman"/>
              </a:endParaRPr>
            </a:p>
          </p:txBody>
        </p:sp>
      </p:grpSp>
      <p:grpSp>
        <p:nvGrpSpPr>
          <p:cNvPr id="945" name="Group 99"/>
          <p:cNvGrpSpPr/>
          <p:nvPr/>
        </p:nvGrpSpPr>
        <p:grpSpPr>
          <a:xfrm>
            <a:off x="324000" y="4076640"/>
            <a:ext cx="3095640" cy="1618560"/>
            <a:chOff x="324000" y="4076640"/>
            <a:chExt cx="3095640" cy="1618560"/>
          </a:xfrm>
        </p:grpSpPr>
        <p:sp>
          <p:nvSpPr>
            <p:cNvPr id="946" name="Rectangle 88"/>
            <p:cNvSpPr/>
            <p:nvPr/>
          </p:nvSpPr>
          <p:spPr>
            <a:xfrm>
              <a:off x="324000" y="4076640"/>
              <a:ext cx="3095640" cy="161856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Times New Roman"/>
                </a:rPr>
                <a:t>考虑到对象本身在           点有一个极点，我们使校正装置的零点与它重合，  超前校正的传递函数为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47" name="Object 89"/>
                <p:cNvSpPr txBox="1"/>
                <p:nvPr/>
              </p:nvSpPr>
              <p:spPr>
                <a:xfrm>
                  <a:off x="2484360" y="4149720"/>
                  <a:ext cx="673200" cy="270000"/>
                </a:xfrm>
                <a:prstGeom prst="rect">
                  <a:avLst/>
                </a:prstGeom>
              </p:spPr>
              <p:txBody>
                <a:bodyPr/>
                <a:p>
                  <a14:m>
                    <m:oMath xmlns:m="http://schemas.openxmlformats.org/officeDocument/2006/math">
                      <m:r>
                        <m:t xml:space="preserve">ω</m:t>
                      </m:r>
                      <m:r>
                        <m:t xml:space="preserve">=</m:t>
                      </m:r>
                      <m:r>
                        <m:rPr>
                          <m:lit/>
                          <m:nor/>
                        </m:rPr>
                        <m:t xml:space="preserve">10</m:t>
                      </m:r>
                    </m:oMath>
                  </a14:m>
                </a:p>
              </p:txBody>
            </p:sp>
          </mc:Choice>
          <mc:Fallback>
            <p:sp>
              <p:nvSpPr>
                <p:cNvPr id="947" name="Object 89"/>
                <p:cNvSpPr txBox="1"/>
                <p:nvPr/>
              </p:nvSpPr>
              <p:spPr>
                <a:xfrm>
                  <a:off x="2484360" y="4149720"/>
                  <a:ext cx="673200" cy="270000"/>
                </a:xfrm>
                <a:prstGeom prst="rect">
                  <a:avLst/>
                </a:prstGeom>
                <a:blipFill>
                  <a:blip r:embed="rId12"/>
                  <a:stretch>
                    <a:fillRect/>
                  </a:stretch>
                </a:blipFill>
              </p:spPr>
            </p:sp>
          </mc:Fallback>
        </mc:AlternateContent>
      </p:grpSp>
      <mc:AlternateContent>
        <mc:Choice xmlns:a14="http://schemas.microsoft.com/office/drawing/2010/main" Requires="a14">
          <p:sp>
            <p:nvSpPr>
              <p:cNvPr id="948" name="Object 93"/>
              <p:cNvSpPr txBox="1"/>
              <p:nvPr/>
            </p:nvSpPr>
            <p:spPr>
              <a:xfrm>
                <a:off x="582480" y="5475240"/>
                <a:ext cx="1751040" cy="595440"/>
              </a:xfrm>
              <a:prstGeom prst="rect">
                <a:avLst/>
              </a:prstGeom>
            </p:spPr>
            <p:txBody>
              <a:bodyPr/>
              <a:p>
                <a14:m>
                  <m:oMath xmlns:m="http://schemas.openxmlformats.org/officeDocument/2006/math">
                    <m:sSub>
                      <m:e>
                        <m:r>
                          <m:t xml:space="preserve">G</m:t>
                        </m:r>
                      </m:e>
                      <m:sub>
                        <m:r>
                          <m:t xml:space="preserve">c</m:t>
                        </m:r>
                      </m:sub>
                    </m:sSub>
                    <m:r>
                      <m:t xml:space="preserve">(</m:t>
                    </m:r>
                    <m:r>
                      <m:t xml:space="preserve">s</m:t>
                    </m:r>
                    <m:r>
                      <m:t xml:space="preserve">)</m:t>
                    </m:r>
                    <m:r>
                      <m:t xml:space="preserve">=</m:t>
                    </m:r>
                    <m:f>
                      <m:num>
                        <m:r>
                          <m:t xml:space="preserve">0</m:t>
                        </m:r>
                        <m:r>
                          <m:rPr>
                            <m:lit/>
                            <m:nor/>
                          </m:rPr>
                          <m:t xml:space="preserve">.</m:t>
                        </m:r>
                        <m:r>
                          <m:t xml:space="preserve">1</m:t>
                        </m:r>
                        <m:r>
                          <m:t xml:space="preserve">s</m:t>
                        </m:r>
                        <m:r>
                          <m:t xml:space="preserve">+</m:t>
                        </m:r>
                        <m:r>
                          <m:t xml:space="preserve">1</m:t>
                        </m:r>
                      </m:num>
                      <m:den>
                        <m:r>
                          <m:t xml:space="preserve">0</m:t>
                        </m:r>
                        <m:r>
                          <m:rPr>
                            <m:lit/>
                            <m:nor/>
                          </m:rPr>
                          <m:t xml:space="preserve">.</m:t>
                        </m:r>
                        <m:r>
                          <m:rPr>
                            <m:lit/>
                            <m:nor/>
                          </m:rPr>
                          <m:t xml:space="preserve">022</m:t>
                        </m:r>
                        <m:r>
                          <m:t xml:space="preserve">s</m:t>
                        </m:r>
                        <m:r>
                          <m:t xml:space="preserve">+</m:t>
                        </m:r>
                        <m:r>
                          <m:t xml:space="preserve">1</m:t>
                        </m:r>
                      </m:den>
                    </m:f>
                  </m:oMath>
                </a14:m>
              </a:p>
            </p:txBody>
          </p:sp>
        </mc:Choice>
        <mc:Fallback>
          <p:sp>
            <p:nvSpPr>
              <p:cNvPr id="948" name="Object 93"/>
              <p:cNvSpPr txBox="1"/>
              <p:nvPr/>
            </p:nvSpPr>
            <p:spPr>
              <a:xfrm>
                <a:off x="582480" y="5475240"/>
                <a:ext cx="1751040" cy="595440"/>
              </a:xfrm>
              <a:prstGeom prst="rect">
                <a:avLst/>
              </a:prstGeom>
              <a:blipFill>
                <a:blip r:embed="rId13"/>
                <a:stretch>
                  <a:fillRect/>
                </a:stretch>
              </a:blipFill>
            </p:spPr>
          </p:sp>
        </mc:Fallback>
      </mc:AlternateContent>
      <p:grpSp>
        <p:nvGrpSpPr>
          <p:cNvPr id="949" name="Group 98"/>
          <p:cNvGrpSpPr/>
          <p:nvPr/>
        </p:nvGrpSpPr>
        <p:grpSpPr>
          <a:xfrm>
            <a:off x="5381640" y="3742920"/>
            <a:ext cx="2160720" cy="390960"/>
            <a:chOff x="5381640" y="3742920"/>
            <a:chExt cx="2160720" cy="390960"/>
          </a:xfrm>
        </p:grpSpPr>
        <p:sp>
          <p:nvSpPr>
            <p:cNvPr id="950" name="Line 94"/>
            <p:cNvSpPr/>
            <p:nvPr/>
          </p:nvSpPr>
          <p:spPr>
            <a:xfrm flipV="1">
              <a:off x="6146640" y="3742920"/>
              <a:ext cx="648000" cy="360360"/>
            </a:xfrm>
            <a:prstGeom prst="line">
              <a:avLst/>
            </a:prstGeom>
            <a:ln w="25560">
              <a:solidFill>
                <a:srgbClr val="00CC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1" name="Line 95"/>
            <p:cNvSpPr/>
            <p:nvPr/>
          </p:nvSpPr>
          <p:spPr>
            <a:xfrm>
              <a:off x="5381640" y="4103640"/>
              <a:ext cx="765000" cy="0"/>
            </a:xfrm>
            <a:prstGeom prst="line">
              <a:avLst/>
            </a:prstGeom>
            <a:ln w="25560">
              <a:solidFill>
                <a:srgbClr val="00CC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2" name="Line 96"/>
            <p:cNvSpPr/>
            <p:nvPr/>
          </p:nvSpPr>
          <p:spPr>
            <a:xfrm>
              <a:off x="6777000" y="3743280"/>
              <a:ext cx="765360" cy="0"/>
            </a:xfrm>
            <a:prstGeom prst="line">
              <a:avLst/>
            </a:prstGeom>
            <a:ln w="25560">
              <a:solidFill>
                <a:srgbClr val="00CC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3" name="Freeform 97"/>
            <p:cNvSpPr/>
            <p:nvPr/>
          </p:nvSpPr>
          <p:spPr>
            <a:xfrm>
              <a:off x="5427720" y="3878280"/>
              <a:ext cx="1935000" cy="255600"/>
            </a:xfrm>
            <a:custGeom>
              <a:avLst/>
              <a:gdLst>
                <a:gd name="GluePoint1X" fmla="*/ 0 w 1304"/>
                <a:gd name="GluePoint1Y" fmla="*/ 142 h 161"/>
                <a:gd name="GluePoint2X" fmla="*/ 324 w 1304"/>
                <a:gd name="GluePoint2Y" fmla="*/ 114 h 161"/>
                <a:gd name="GluePoint3X" fmla="*/ 509 w 1304"/>
                <a:gd name="GluePoint3Y" fmla="*/ 28 h 161"/>
                <a:gd name="GluePoint4X" fmla="*/ 602 w 1304"/>
                <a:gd name="GluePoint4Y" fmla="*/ 0 h 161"/>
                <a:gd name="GluePoint5X" fmla="*/ 695 w 1304"/>
                <a:gd name="GluePoint5Y" fmla="*/ 28 h 161"/>
                <a:gd name="GluePoint6X" fmla="*/ 857 w 1304"/>
                <a:gd name="GluePoint6Y" fmla="*/ 142 h 161"/>
                <a:gd name="GluePoint7X" fmla="*/ 1066 w 1304"/>
                <a:gd name="GluePoint7Y" fmla="*/ 142 h 1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304" h="161">
                  <a:moveTo>
                    <a:pt x="0" y="142"/>
                  </a:moveTo>
                  <a:cubicBezTo>
                    <a:pt x="146" y="137"/>
                    <a:pt x="293" y="133"/>
                    <a:pt x="397" y="114"/>
                  </a:cubicBezTo>
                  <a:cubicBezTo>
                    <a:pt x="501" y="95"/>
                    <a:pt x="566" y="47"/>
                    <a:pt x="623" y="28"/>
                  </a:cubicBezTo>
                  <a:cubicBezTo>
                    <a:pt x="680" y="9"/>
                    <a:pt x="699" y="0"/>
                    <a:pt x="737" y="0"/>
                  </a:cubicBezTo>
                  <a:cubicBezTo>
                    <a:pt x="775" y="0"/>
                    <a:pt x="798" y="4"/>
                    <a:pt x="850" y="28"/>
                  </a:cubicBezTo>
                  <a:cubicBezTo>
                    <a:pt x="902" y="52"/>
                    <a:pt x="973" y="123"/>
                    <a:pt x="1049" y="142"/>
                  </a:cubicBezTo>
                  <a:cubicBezTo>
                    <a:pt x="1125" y="161"/>
                    <a:pt x="1262" y="142"/>
                    <a:pt x="1304" y="142"/>
                  </a:cubicBezTo>
                </a:path>
              </a:pathLst>
            </a:custGeom>
            <a:noFill/>
            <a:ln w="25560">
              <a:solidFill>
                <a:srgbClr val="00CCFF"/>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954" name="Line 106"/>
          <p:cNvSpPr/>
          <p:nvPr/>
        </p:nvSpPr>
        <p:spPr>
          <a:xfrm>
            <a:off x="6372360" y="3608280"/>
            <a:ext cx="0" cy="1800360"/>
          </a:xfrm>
          <a:prstGeom prst="line">
            <a:avLst/>
          </a:prstGeom>
          <a:ln w="19080">
            <a:solidFill>
              <a:srgbClr val="FF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955" name="Group 116"/>
          <p:cNvGrpSpPr/>
          <p:nvPr/>
        </p:nvGrpSpPr>
        <p:grpSpPr>
          <a:xfrm>
            <a:off x="4842000" y="3498840"/>
            <a:ext cx="3405240" cy="2451240"/>
            <a:chOff x="4842000" y="3498840"/>
            <a:chExt cx="3405240" cy="2451240"/>
          </a:xfrm>
        </p:grpSpPr>
        <p:grpSp>
          <p:nvGrpSpPr>
            <p:cNvPr id="956" name="Group 105"/>
            <p:cNvGrpSpPr/>
            <p:nvPr/>
          </p:nvGrpSpPr>
          <p:grpSpPr>
            <a:xfrm>
              <a:off x="6145200" y="3498840"/>
              <a:ext cx="1757520" cy="2044800"/>
              <a:chOff x="6145200" y="3498840"/>
              <a:chExt cx="1757520" cy="2044800"/>
            </a:xfrm>
          </p:grpSpPr>
          <p:sp>
            <p:nvSpPr>
              <p:cNvPr id="957" name="Line 100"/>
              <p:cNvSpPr/>
              <p:nvPr/>
            </p:nvSpPr>
            <p:spPr>
              <a:xfrm>
                <a:off x="6145200" y="3498840"/>
                <a:ext cx="657360" cy="353880"/>
              </a:xfrm>
              <a:prstGeom prst="line">
                <a:avLst/>
              </a:prstGeom>
              <a:ln w="28440">
                <a:solidFill>
                  <a:srgbClr val="CC00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8" name="Line 103"/>
              <p:cNvSpPr/>
              <p:nvPr/>
            </p:nvSpPr>
            <p:spPr>
              <a:xfrm>
                <a:off x="6777000" y="3833640"/>
                <a:ext cx="539640" cy="540000"/>
              </a:xfrm>
              <a:prstGeom prst="line">
                <a:avLst/>
              </a:prstGeom>
              <a:ln w="28440">
                <a:solidFill>
                  <a:srgbClr val="CC00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59" name="Line 104"/>
              <p:cNvSpPr/>
              <p:nvPr/>
            </p:nvSpPr>
            <p:spPr>
              <a:xfrm>
                <a:off x="7316640" y="4373640"/>
                <a:ext cx="586080" cy="1170000"/>
              </a:xfrm>
              <a:prstGeom prst="line">
                <a:avLst/>
              </a:prstGeom>
              <a:ln w="28440">
                <a:solidFill>
                  <a:srgbClr val="CC00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960" name="Freeform 115"/>
            <p:cNvSpPr/>
            <p:nvPr/>
          </p:nvSpPr>
          <p:spPr>
            <a:xfrm>
              <a:off x="4842000" y="4799160"/>
              <a:ext cx="3405240" cy="1150920"/>
            </a:xfrm>
            <a:custGeom>
              <a:avLst/>
              <a:gdLst>
                <a:gd name="GluePoint1X" fmla="*/ 0 w 2145"/>
                <a:gd name="GluePoint1Y" fmla="*/ 0 h 725"/>
                <a:gd name="GluePoint2X" fmla="*/ 286 w 2145"/>
                <a:gd name="GluePoint2Y" fmla="*/ 45 h 725"/>
                <a:gd name="GluePoint3X" fmla="*/ 558 w 2145"/>
                <a:gd name="GluePoint3Y" fmla="*/ 89 h 725"/>
                <a:gd name="GluePoint4X" fmla="*/ 966 w 2145"/>
                <a:gd name="GluePoint4Y" fmla="*/ 145 h 725"/>
                <a:gd name="GluePoint5X" fmla="*/ 1358 w 2145"/>
                <a:gd name="GluePoint5Y" fmla="*/ 489 h 725"/>
                <a:gd name="GluePoint6X" fmla="*/ 1812 w 2145"/>
                <a:gd name="GluePoint6Y" fmla="*/ 680 h 725"/>
                <a:gd name="GluePoint7X" fmla="*/ 2145 w 2145"/>
                <a:gd name="GluePoint7Y" fmla="*/ 725 h 72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145" h="725">
                  <a:moveTo>
                    <a:pt x="0" y="0"/>
                  </a:moveTo>
                  <a:cubicBezTo>
                    <a:pt x="91" y="11"/>
                    <a:pt x="193" y="30"/>
                    <a:pt x="286" y="45"/>
                  </a:cubicBezTo>
                  <a:cubicBezTo>
                    <a:pt x="379" y="60"/>
                    <a:pt x="445" y="72"/>
                    <a:pt x="558" y="89"/>
                  </a:cubicBezTo>
                  <a:cubicBezTo>
                    <a:pt x="671" y="106"/>
                    <a:pt x="833" y="78"/>
                    <a:pt x="966" y="145"/>
                  </a:cubicBezTo>
                  <a:cubicBezTo>
                    <a:pt x="1099" y="212"/>
                    <a:pt x="1217" y="400"/>
                    <a:pt x="1358" y="489"/>
                  </a:cubicBezTo>
                  <a:cubicBezTo>
                    <a:pt x="1499" y="578"/>
                    <a:pt x="1681" y="641"/>
                    <a:pt x="1812" y="680"/>
                  </a:cubicBezTo>
                  <a:cubicBezTo>
                    <a:pt x="1943" y="719"/>
                    <a:pt x="2089" y="718"/>
                    <a:pt x="2145" y="725"/>
                  </a:cubicBezTo>
                </a:path>
              </a:pathLst>
            </a:custGeom>
            <a:noFill/>
            <a:ln w="28440">
              <a:solidFill>
                <a:srgbClr val="CC0099"/>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p:transition>
    <p:random/>
  </p:transition>
  <p:timing>
    <p:tnLst>
      <p:par>
        <p:cTn id="1002" dur="indefinite" restart="never" nodeType="tmRoot">
          <p:childTnLst>
            <p:seq>
              <p:cTn id="1003" dur="indefinite" nodeType="mainSeq">
                <p:childTnLst>
                  <p:par>
                    <p:cTn id="1004" fill="hold" nodeType="clickEffect">
                      <p:stCondLst>
                        <p:cond delay="indefinite"/>
                      </p:stCondLst>
                      <p:childTnLst>
                        <p:par>
                          <p:cTn id="1005" fill="hold" nodeType="withEffect">
                            <p:stCondLst>
                              <p:cond delay="0"/>
                            </p:stCondLst>
                            <p:childTnLst>
                              <p:par>
                                <p:cTn id="1006" presetID="3" presetClass="entr" fill="hold" nodeType="clickEffect" presetSubtype="10">
                                  <p:stCondLst>
                                    <p:cond delay="0"/>
                                  </p:stCondLst>
                                  <p:childTnLst>
                                    <p:set>
                                      <p:cBhvr>
                                        <p:cTn id="1007" dur="1" fill="hold">
                                          <p:stCondLst>
                                            <p:cond delay="0"/>
                                          </p:stCondLst>
                                        </p:cTn>
                                        <p:tgtEl>
                                          <p:spTgt spid="927"/>
                                        </p:tgtEl>
                                        <p:attrNameLst>
                                          <p:attrName>style.visibility</p:attrName>
                                        </p:attrNameLst>
                                      </p:cBhvr>
                                      <p:to>
                                        <p:strVal val="visible"/>
                                      </p:to>
                                    </p:set>
                                    <p:animEffect transition="in" filter="blinds(horizontal)">
                                      <p:cBhvr additive="repl">
                                        <p:cTn id="1008" dur="500"/>
                                        <p:tgtEl>
                                          <p:spTgt spid="927"/>
                                        </p:tgtEl>
                                      </p:cBhvr>
                                    </p:animEffect>
                                  </p:childTnLst>
                                </p:cTn>
                              </p:par>
                            </p:childTnLst>
                          </p:cTn>
                        </p:par>
                      </p:childTnLst>
                    </p:cTn>
                  </p:par>
                  <p:par>
                    <p:cTn id="1009" fill="hold" nodeType="clickEffect">
                      <p:stCondLst>
                        <p:cond delay="indefinite"/>
                      </p:stCondLst>
                      <p:childTnLst>
                        <p:par>
                          <p:cTn id="1010" fill="hold" nodeType="withEffect">
                            <p:stCondLst>
                              <p:cond delay="0"/>
                            </p:stCondLst>
                            <p:childTnLst>
                              <p:par>
                                <p:cTn id="1011" presetID="22" presetClass="entr" fill="hold" nodeType="clickEffect" presetSubtype="4">
                                  <p:stCondLst>
                                    <p:cond delay="0"/>
                                  </p:stCondLst>
                                  <p:childTnLst>
                                    <p:set>
                                      <p:cBhvr>
                                        <p:cTn id="1012" dur="1" fill="hold">
                                          <p:stCondLst>
                                            <p:cond delay="0"/>
                                          </p:stCondLst>
                                        </p:cTn>
                                        <p:tgtEl>
                                          <p:spTgt spid="937"/>
                                        </p:tgtEl>
                                        <p:attrNameLst>
                                          <p:attrName>style.visibility</p:attrName>
                                        </p:attrNameLst>
                                      </p:cBhvr>
                                      <p:to>
                                        <p:strVal val="visible"/>
                                      </p:to>
                                    </p:set>
                                    <p:animEffect transition="in" filter="wipe(down)">
                                      <p:cBhvr additive="repl">
                                        <p:cTn id="1013" dur="500"/>
                                        <p:tgtEl>
                                          <p:spTgt spid="937"/>
                                        </p:tgtEl>
                                      </p:cBhvr>
                                    </p:animEffect>
                                  </p:childTnLst>
                                </p:cTn>
                              </p:par>
                            </p:childTnLst>
                          </p:cTn>
                        </p:par>
                      </p:childTnLst>
                    </p:cTn>
                  </p:par>
                  <p:par>
                    <p:cTn id="1014" fill="hold" nodeType="clickEffect">
                      <p:stCondLst>
                        <p:cond delay="indefinite"/>
                      </p:stCondLst>
                      <p:childTnLst>
                        <p:par>
                          <p:cTn id="1015" fill="hold" nodeType="withEffect">
                            <p:stCondLst>
                              <p:cond delay="0"/>
                            </p:stCondLst>
                            <p:childTnLst>
                              <p:par>
                                <p:cTn id="1016" presetID="3" presetClass="entr" fill="hold" nodeType="clickEffect" presetSubtype="10">
                                  <p:stCondLst>
                                    <p:cond delay="0"/>
                                  </p:stCondLst>
                                  <p:childTnLst>
                                    <p:set>
                                      <p:cBhvr>
                                        <p:cTn id="1017" dur="1" fill="hold">
                                          <p:stCondLst>
                                            <p:cond delay="0"/>
                                          </p:stCondLst>
                                        </p:cTn>
                                        <p:tgtEl>
                                          <p:spTgt spid="941"/>
                                        </p:tgtEl>
                                        <p:attrNameLst>
                                          <p:attrName>style.visibility</p:attrName>
                                        </p:attrNameLst>
                                      </p:cBhvr>
                                      <p:to>
                                        <p:strVal val="visible"/>
                                      </p:to>
                                    </p:set>
                                    <p:animEffect transition="in" filter="blinds(horizontal)">
                                      <p:cBhvr additive="repl">
                                        <p:cTn id="1018" dur="500"/>
                                        <p:tgtEl>
                                          <p:spTgt spid="941"/>
                                        </p:tgtEl>
                                      </p:cBhvr>
                                    </p:animEffect>
                                  </p:childTnLst>
                                </p:cTn>
                              </p:par>
                            </p:childTnLst>
                          </p:cTn>
                        </p:par>
                      </p:childTnLst>
                    </p:cTn>
                  </p:par>
                  <p:par>
                    <p:cTn id="1019" fill="hold" nodeType="clickEffect">
                      <p:stCondLst>
                        <p:cond delay="indefinite"/>
                      </p:stCondLst>
                      <p:childTnLst>
                        <p:par>
                          <p:cTn id="1020" fill="hold" nodeType="withEffect">
                            <p:stCondLst>
                              <p:cond delay="0"/>
                            </p:stCondLst>
                            <p:childTnLst>
                              <p:par>
                                <p:cTn id="1021" presetID="3" presetClass="entr" fill="hold" nodeType="clickEffect" presetSubtype="10">
                                  <p:stCondLst>
                                    <p:cond delay="0"/>
                                  </p:stCondLst>
                                  <p:childTnLst>
                                    <p:set>
                                      <p:cBhvr>
                                        <p:cTn id="1022" dur="1" fill="hold">
                                          <p:stCondLst>
                                            <p:cond delay="0"/>
                                          </p:stCondLst>
                                        </p:cTn>
                                        <p:tgtEl>
                                          <p:spTgt spid="945"/>
                                        </p:tgtEl>
                                        <p:attrNameLst>
                                          <p:attrName>style.visibility</p:attrName>
                                        </p:attrNameLst>
                                      </p:cBhvr>
                                      <p:to>
                                        <p:strVal val="visible"/>
                                      </p:to>
                                    </p:set>
                                    <p:animEffect transition="in" filter="blinds(horizontal)">
                                      <p:cBhvr additive="repl">
                                        <p:cTn id="1023" dur="500"/>
                                        <p:tgtEl>
                                          <p:spTgt spid="945"/>
                                        </p:tgtEl>
                                      </p:cBhvr>
                                    </p:animEffect>
                                  </p:childTnLst>
                                </p:cTn>
                              </p:par>
                            </p:childTnLst>
                          </p:cTn>
                        </p:par>
                        <p:par>
                          <p:cTn id="1024" fill="hold" nodeType="afterEffect">
                            <p:stCondLst>
                              <p:cond delay="500"/>
                            </p:stCondLst>
                            <p:childTnLst>
                              <p:par>
                                <p:cTn id="1025" presetID="3" presetClass="entr" fill="hold" nodeType="afterEffect" presetSubtype="10">
                                  <p:stCondLst>
                                    <p:cond delay="0"/>
                                  </p:stCondLst>
                                  <p:childTnLst>
                                    <p:set>
                                      <p:cBhvr>
                                        <p:cTn id="1026" dur="1" fill="hold">
                                          <p:stCondLst>
                                            <p:cond delay="0"/>
                                          </p:stCondLst>
                                        </p:cTn>
                                        <p:tgtEl>
                                          <p:spTgt spid="948"/>
                                        </p:tgtEl>
                                        <p:attrNameLst>
                                          <p:attrName>style.visibility</p:attrName>
                                        </p:attrNameLst>
                                      </p:cBhvr>
                                      <p:to>
                                        <p:strVal val="visible"/>
                                      </p:to>
                                    </p:set>
                                    <p:animEffect transition="in" filter="blinds(horizontal)">
                                      <p:cBhvr additive="repl">
                                        <p:cTn id="1027" dur="500"/>
                                        <p:tgtEl>
                                          <p:spTgt spid="948"/>
                                        </p:tgtEl>
                                      </p:cBhvr>
                                    </p:animEffect>
                                  </p:childTnLst>
                                </p:cTn>
                              </p:par>
                            </p:childTnLst>
                          </p:cTn>
                        </p:par>
                      </p:childTnLst>
                    </p:cTn>
                  </p:par>
                  <p:par>
                    <p:cTn id="1028" fill="hold" nodeType="clickEffect">
                      <p:stCondLst>
                        <p:cond delay="indefinite"/>
                      </p:stCondLst>
                      <p:childTnLst>
                        <p:par>
                          <p:cTn id="1029" fill="hold" nodeType="withEffect">
                            <p:stCondLst>
                              <p:cond delay="0"/>
                            </p:stCondLst>
                            <p:childTnLst>
                              <p:par>
                                <p:cTn id="1030" presetID="22" presetClass="entr" fill="hold" nodeType="clickEffect" presetSubtype="8">
                                  <p:stCondLst>
                                    <p:cond delay="0"/>
                                  </p:stCondLst>
                                  <p:childTnLst>
                                    <p:set>
                                      <p:cBhvr>
                                        <p:cTn id="1031" dur="1" fill="hold">
                                          <p:stCondLst>
                                            <p:cond delay="0"/>
                                          </p:stCondLst>
                                        </p:cTn>
                                        <p:tgtEl>
                                          <p:spTgt spid="949"/>
                                        </p:tgtEl>
                                        <p:attrNameLst>
                                          <p:attrName>style.visibility</p:attrName>
                                        </p:attrNameLst>
                                      </p:cBhvr>
                                      <p:to>
                                        <p:strVal val="visible"/>
                                      </p:to>
                                    </p:set>
                                    <p:animEffect transition="in" filter="wipe(left)">
                                      <p:cBhvr additive="repl">
                                        <p:cTn id="1032" dur="500"/>
                                        <p:tgtEl>
                                          <p:spTgt spid="949"/>
                                        </p:tgtEl>
                                      </p:cBhvr>
                                    </p:animEffect>
                                  </p:childTnLst>
                                </p:cTn>
                              </p:par>
                            </p:childTnLst>
                          </p:cTn>
                        </p:par>
                      </p:childTnLst>
                    </p:cTn>
                  </p:par>
                  <p:par>
                    <p:cTn id="1033" fill="hold" nodeType="clickEffect">
                      <p:stCondLst>
                        <p:cond delay="indefinite"/>
                      </p:stCondLst>
                      <p:childTnLst>
                        <p:par>
                          <p:cTn id="1034" fill="hold" nodeType="withEffect">
                            <p:stCondLst>
                              <p:cond delay="0"/>
                            </p:stCondLst>
                            <p:childTnLst>
                              <p:par>
                                <p:cTn id="1035" presetID="22" presetClass="entr" fill="hold" nodeType="clickEffect" presetSubtype="8">
                                  <p:stCondLst>
                                    <p:cond delay="0"/>
                                  </p:stCondLst>
                                  <p:childTnLst>
                                    <p:set>
                                      <p:cBhvr>
                                        <p:cTn id="1036" dur="1" fill="hold">
                                          <p:stCondLst>
                                            <p:cond delay="0"/>
                                          </p:stCondLst>
                                        </p:cTn>
                                        <p:tgtEl>
                                          <p:spTgt spid="955"/>
                                        </p:tgtEl>
                                        <p:attrNameLst>
                                          <p:attrName>style.visibility</p:attrName>
                                        </p:attrNameLst>
                                      </p:cBhvr>
                                      <p:to>
                                        <p:strVal val="visible"/>
                                      </p:to>
                                    </p:set>
                                    <p:animEffect transition="in" filter="wipe(left)">
                                      <p:cBhvr additive="repl">
                                        <p:cTn id="1037" dur="500"/>
                                        <p:tgtEl>
                                          <p:spTgt spid="9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61" name="Group 192"/>
          <p:cNvGrpSpPr/>
          <p:nvPr/>
        </p:nvGrpSpPr>
        <p:grpSpPr>
          <a:xfrm>
            <a:off x="3492360" y="1989000"/>
            <a:ext cx="5688000" cy="4392720"/>
            <a:chOff x="3492360" y="1989000"/>
            <a:chExt cx="5688000" cy="4392720"/>
          </a:xfrm>
        </p:grpSpPr>
        <p:grpSp>
          <p:nvGrpSpPr>
            <p:cNvPr id="962" name="Group 147"/>
            <p:cNvGrpSpPr/>
            <p:nvPr/>
          </p:nvGrpSpPr>
          <p:grpSpPr>
            <a:xfrm>
              <a:off x="3492360" y="1989000"/>
              <a:ext cx="5688000" cy="4392720"/>
              <a:chOff x="3492360" y="1989000"/>
              <a:chExt cx="5688000" cy="4392720"/>
            </a:xfrm>
          </p:grpSpPr>
          <p:sp>
            <p:nvSpPr>
              <p:cNvPr id="963" name="Rectangle 148"/>
              <p:cNvSpPr/>
              <p:nvPr/>
            </p:nvSpPr>
            <p:spPr>
              <a:xfrm>
                <a:off x="3492360" y="1989000"/>
                <a:ext cx="5472360" cy="4392720"/>
              </a:xfrm>
              <a:prstGeom prst="rect">
                <a:avLst/>
              </a:prstGeom>
              <a:solidFill>
                <a:srgbClr val="CCFFCC"/>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64" name="Rectangle 149"/>
              <p:cNvSpPr/>
              <p:nvPr/>
            </p:nvSpPr>
            <p:spPr>
              <a:xfrm>
                <a:off x="4014720" y="2324160"/>
                <a:ext cx="4454640" cy="37576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65" name="Line 150"/>
              <p:cNvSpPr/>
              <p:nvPr/>
            </p:nvSpPr>
            <p:spPr>
              <a:xfrm>
                <a:off x="4014720" y="4103640"/>
                <a:ext cx="4454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6" name="Line 151"/>
              <p:cNvSpPr/>
              <p:nvPr/>
            </p:nvSpPr>
            <p:spPr>
              <a:xfrm>
                <a:off x="4014720" y="35114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7" name="Line 152"/>
              <p:cNvSpPr/>
              <p:nvPr/>
            </p:nvSpPr>
            <p:spPr>
              <a:xfrm>
                <a:off x="4014720" y="291780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8" name="Line 153"/>
              <p:cNvSpPr/>
              <p:nvPr/>
            </p:nvSpPr>
            <p:spPr>
              <a:xfrm>
                <a:off x="4014720" y="47642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69" name="Line 154"/>
              <p:cNvSpPr/>
              <p:nvPr/>
            </p:nvSpPr>
            <p:spPr>
              <a:xfrm>
                <a:off x="4014720" y="54230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0" name="Line 155"/>
              <p:cNvSpPr/>
              <p:nvPr/>
            </p:nvSpPr>
            <p:spPr>
              <a:xfrm>
                <a:off x="6145200" y="23241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1" name="Line 156"/>
              <p:cNvSpPr/>
              <p:nvPr/>
            </p:nvSpPr>
            <p:spPr>
              <a:xfrm>
                <a:off x="7308720" y="23241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72" name="Line 157"/>
              <p:cNvSpPr/>
              <p:nvPr/>
            </p:nvSpPr>
            <p:spPr>
              <a:xfrm>
                <a:off x="5048280" y="23241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973" name="Object 158"/>
                  <p:cNvSpPr txBox="1"/>
                  <p:nvPr/>
                </p:nvSpPr>
                <p:spPr>
                  <a:xfrm>
                    <a:off x="3851280" y="2060640"/>
                    <a:ext cx="641520" cy="249120"/>
                  </a:xfrm>
                  <a:prstGeom prst="rect">
                    <a:avLst/>
                  </a:prstGeom>
                </p:spPr>
                <p:txBody>
                  <a:bodyPr/>
                  <a:p>
                    <a14:m>
                      <m:oMath xmlns:m="http://schemas.openxmlformats.org/officeDocument/2006/math">
                        <m:r>
                          <m:t xml:space="preserve">L</m:t>
                        </m:r>
                        <m:r>
                          <m:t xml:space="preserve">(</m:t>
                        </m:r>
                        <m:r>
                          <m:t xml:space="preserve">ω</m:t>
                        </m:r>
                        <m:r>
                          <m:t xml:space="preserve">)</m:t>
                        </m:r>
                        <m:r>
                          <m:rPr>
                            <m:lit/>
                            <m:nor/>
                          </m:rPr>
                          <m:t xml:space="preserve">dB</m:t>
                        </m:r>
                      </m:oMath>
                    </a14:m>
                  </a:p>
                </p:txBody>
              </p:sp>
            </mc:Choice>
            <mc:Fallback>
              <p:sp>
                <p:nvSpPr>
                  <p:cNvPr id="973" name="Object 158"/>
                  <p:cNvSpPr txBox="1"/>
                  <p:nvPr/>
                </p:nvSpPr>
                <p:spPr>
                  <a:xfrm>
                    <a:off x="3851280" y="2060640"/>
                    <a:ext cx="641520" cy="249120"/>
                  </a:xfrm>
                  <a:prstGeom prst="rect">
                    <a:avLst/>
                  </a:prstGeom>
                  <a:blipFill>
                    <a:blip r:embed="rId1"/>
                    <a:stretch>
                      <a:fillRect/>
                    </a:stretch>
                  </a:blipFill>
                </p:spPr>
              </p:sp>
            </mc:Fallback>
          </mc:AlternateContent>
          <mc:AlternateContent>
            <mc:Choice xmlns:a14="http://schemas.microsoft.com/office/drawing/2010/main" Requires="a14">
              <p:sp>
                <p:nvSpPr>
                  <p:cNvPr id="974" name="Object 159"/>
                  <p:cNvSpPr txBox="1"/>
                  <p:nvPr/>
                </p:nvSpPr>
                <p:spPr>
                  <a:xfrm>
                    <a:off x="8172360" y="1989000"/>
                    <a:ext cx="493920" cy="287640"/>
                  </a:xfrm>
                  <a:prstGeom prst="rect">
                    <a:avLst/>
                  </a:prstGeom>
                </p:spPr>
                <p:txBody>
                  <a:bodyPr/>
                  <a:p>
                    <a14:m>
                      <m:oMath xmlns:m="http://schemas.openxmlformats.org/officeDocument/2006/math">
                        <m:r>
                          <m:t xml:space="preserve">ϕ</m:t>
                        </m:r>
                        <m:r>
                          <m:t xml:space="preserve">(</m:t>
                        </m:r>
                        <m:r>
                          <m:t xml:space="preserve">ω</m:t>
                        </m:r>
                        <m:r>
                          <m:t xml:space="preserve">)</m:t>
                        </m:r>
                      </m:oMath>
                    </a14:m>
                  </a:p>
                </p:txBody>
              </p:sp>
            </mc:Choice>
            <mc:Fallback>
              <p:sp>
                <p:nvSpPr>
                  <p:cNvPr id="974" name="Object 159"/>
                  <p:cNvSpPr txBox="1"/>
                  <p:nvPr/>
                </p:nvSpPr>
                <p:spPr>
                  <a:xfrm>
                    <a:off x="8172360" y="1989000"/>
                    <a:ext cx="493920" cy="287640"/>
                  </a:xfrm>
                  <a:prstGeom prst="rect">
                    <a:avLst/>
                  </a:prstGeom>
                  <a:blipFill>
                    <a:blip r:embed="rId2"/>
                    <a:stretch>
                      <a:fillRect/>
                    </a:stretch>
                  </a:blipFill>
                </p:spPr>
              </p:sp>
            </mc:Fallback>
          </mc:AlternateContent>
          <p:sp>
            <p:nvSpPr>
              <p:cNvPr id="975" name="Text Box 160"/>
              <p:cNvSpPr/>
              <p:nvPr/>
            </p:nvSpPr>
            <p:spPr>
              <a:xfrm>
                <a:off x="3951360" y="4103640"/>
                <a:ext cx="51732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0.1</a:t>
                </a:r>
                <a:endParaRPr lang="en-US" sz="2000" b="0" u="none" strike="noStrike">
                  <a:solidFill>
                    <a:srgbClr val="000000"/>
                  </a:solidFill>
                  <a:effectLst/>
                  <a:uFillTx/>
                  <a:latin typeface="Times New Roman"/>
                </a:endParaRPr>
              </a:p>
            </p:txBody>
          </p:sp>
          <p:sp>
            <p:nvSpPr>
              <p:cNvPr id="976" name="Text Box 161"/>
              <p:cNvSpPr/>
              <p:nvPr/>
            </p:nvSpPr>
            <p:spPr>
              <a:xfrm>
                <a:off x="3692520" y="3379680"/>
                <a:ext cx="38736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977" name="Text Box 162"/>
              <p:cNvSpPr/>
              <p:nvPr/>
            </p:nvSpPr>
            <p:spPr>
              <a:xfrm>
                <a:off x="3692520" y="2784600"/>
                <a:ext cx="38736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978" name="Text Box 163"/>
              <p:cNvSpPr/>
              <p:nvPr/>
            </p:nvSpPr>
            <p:spPr>
              <a:xfrm>
                <a:off x="3564000" y="5291280"/>
                <a:ext cx="51588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979" name="Text Box 164"/>
              <p:cNvSpPr/>
              <p:nvPr/>
            </p:nvSpPr>
            <p:spPr>
              <a:xfrm>
                <a:off x="3564000" y="463068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980" name="Text Box 165"/>
              <p:cNvSpPr/>
              <p:nvPr/>
            </p:nvSpPr>
            <p:spPr>
              <a:xfrm>
                <a:off x="8405640" y="5291280"/>
                <a:ext cx="7747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981" name="Object 166"/>
                  <p:cNvSpPr txBox="1"/>
                  <p:nvPr/>
                </p:nvSpPr>
                <p:spPr>
                  <a:xfrm>
                    <a:off x="8532720" y="3933720"/>
                    <a:ext cx="285840" cy="265320"/>
                  </a:xfrm>
                  <a:prstGeom prst="rect">
                    <a:avLst/>
                  </a:prstGeom>
                </p:spPr>
                <p:txBody>
                  <a:bodyPr/>
                  <a:p>
                    <a14:m>
                      <m:oMath xmlns:m="http://schemas.openxmlformats.org/officeDocument/2006/math">
                        <m:r>
                          <m:t xml:space="preserve">ω</m:t>
                        </m:r>
                      </m:oMath>
                    </a14:m>
                  </a:p>
                </p:txBody>
              </p:sp>
            </mc:Choice>
            <mc:Fallback>
              <p:sp>
                <p:nvSpPr>
                  <p:cNvPr id="981" name="Object 166"/>
                  <p:cNvSpPr txBox="1"/>
                  <p:nvPr/>
                </p:nvSpPr>
                <p:spPr>
                  <a:xfrm>
                    <a:off x="8532720" y="3933720"/>
                    <a:ext cx="285840" cy="265320"/>
                  </a:xfrm>
                  <a:prstGeom prst="rect">
                    <a:avLst/>
                  </a:prstGeom>
                  <a:blipFill>
                    <a:blip r:embed="rId3"/>
                    <a:stretch>
                      <a:fillRect/>
                    </a:stretch>
                  </a:blipFill>
                </p:spPr>
              </p:sp>
            </mc:Fallback>
          </mc:AlternateContent>
          <p:sp>
            <p:nvSpPr>
              <p:cNvPr id="982" name="Text Box 167"/>
              <p:cNvSpPr/>
              <p:nvPr/>
            </p:nvSpPr>
            <p:spPr>
              <a:xfrm>
                <a:off x="8405640" y="4630680"/>
                <a:ext cx="7747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983" name="Text Box 168"/>
              <p:cNvSpPr/>
              <p:nvPr/>
            </p:nvSpPr>
            <p:spPr>
              <a:xfrm>
                <a:off x="8405640" y="2784600"/>
                <a:ext cx="45108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984" name="Text Box 169"/>
              <p:cNvSpPr/>
              <p:nvPr/>
            </p:nvSpPr>
            <p:spPr>
              <a:xfrm>
                <a:off x="8469360" y="337968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985" name="Text Box 170"/>
              <p:cNvSpPr/>
              <p:nvPr/>
            </p:nvSpPr>
            <p:spPr>
              <a:xfrm>
                <a:off x="5049720" y="4103640"/>
                <a:ext cx="51588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a:t>
                </a:r>
                <a:endParaRPr lang="en-US" sz="2000" b="0" u="none" strike="noStrike">
                  <a:solidFill>
                    <a:srgbClr val="000000"/>
                  </a:solidFill>
                  <a:effectLst/>
                  <a:uFillTx/>
                  <a:latin typeface="Times New Roman"/>
                </a:endParaRPr>
              </a:p>
            </p:txBody>
          </p:sp>
          <p:sp>
            <p:nvSpPr>
              <p:cNvPr id="986" name="Text Box 171"/>
              <p:cNvSpPr/>
              <p:nvPr/>
            </p:nvSpPr>
            <p:spPr>
              <a:xfrm>
                <a:off x="6145200" y="4103640"/>
                <a:ext cx="64764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a:t>
                </a:r>
                <a:endParaRPr lang="en-US" sz="2000" b="0" u="none" strike="noStrike">
                  <a:solidFill>
                    <a:srgbClr val="000000"/>
                  </a:solidFill>
                  <a:effectLst/>
                  <a:uFillTx/>
                  <a:latin typeface="Times New Roman"/>
                </a:endParaRPr>
              </a:p>
            </p:txBody>
          </p:sp>
          <p:sp>
            <p:nvSpPr>
              <p:cNvPr id="987" name="Text Box 172"/>
              <p:cNvSpPr/>
              <p:nvPr/>
            </p:nvSpPr>
            <p:spPr>
              <a:xfrm>
                <a:off x="7242120" y="410364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100</a:t>
                </a:r>
                <a:endParaRPr lang="en-US" sz="2000" b="0" u="none" strike="noStrike">
                  <a:solidFill>
                    <a:srgbClr val="000000"/>
                  </a:solidFill>
                  <a:effectLst/>
                  <a:uFillTx/>
                  <a:latin typeface="Times New Roman"/>
                </a:endParaRPr>
              </a:p>
            </p:txBody>
          </p:sp>
        </p:grpSp>
        <p:sp>
          <p:nvSpPr>
            <p:cNvPr id="988" name="Line 173"/>
            <p:cNvSpPr/>
            <p:nvPr/>
          </p:nvSpPr>
          <p:spPr>
            <a:xfrm>
              <a:off x="3851280" y="2349360"/>
              <a:ext cx="2268360" cy="114948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89" name="Line 174"/>
            <p:cNvSpPr/>
            <p:nvPr/>
          </p:nvSpPr>
          <p:spPr>
            <a:xfrm>
              <a:off x="6119640" y="3500280"/>
              <a:ext cx="1209960" cy="129708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0" name="Line 175"/>
            <p:cNvSpPr/>
            <p:nvPr/>
          </p:nvSpPr>
          <p:spPr>
            <a:xfrm>
              <a:off x="7329600" y="4799160"/>
              <a:ext cx="604800" cy="122220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991" name="Object 176"/>
                <p:cNvSpPr txBox="1"/>
                <p:nvPr/>
              </p:nvSpPr>
              <p:spPr>
                <a:xfrm>
                  <a:off x="4908600" y="2505240"/>
                  <a:ext cx="1106280" cy="237960"/>
                </a:xfrm>
                <a:prstGeom prst="rect">
                  <a:avLst/>
                </a:prstGeom>
              </p:spPr>
              <p:txBody>
                <a:bodyPr/>
                <a:p>
                  <a14:m>
                    <m:oMath xmlns:m="http://schemas.openxmlformats.org/officeDocument/2006/math">
                      <m:r>
                        <m:t xml:space="preserve">−</m:t>
                      </m:r>
                      <m:r>
                        <m:rPr>
                          <m:lit/>
                          <m:nor/>
                        </m:rPr>
                        <m:t xml:space="preserve">20</m:t>
                      </m:r>
                      <m:f>
                        <m:fPr>
                          <m:type m:val="lin"/>
                        </m:fPr>
                        <m:num>
                          <m:r>
                            <m:rPr>
                              <m:lit/>
                              <m:nor/>
                            </m:rPr>
                            <m:t xml:space="preserve">dB</m:t>
                          </m:r>
                        </m:num>
                        <m:den>
                          <m:r>
                            <m:rPr>
                              <m:lit/>
                              <m:nor/>
                            </m:rPr>
                            <m:t xml:space="preserve">dec</m:t>
                          </m:r>
                        </m:den>
                      </m:f>
                    </m:oMath>
                  </a14:m>
                </a:p>
              </p:txBody>
            </p:sp>
          </mc:Choice>
          <mc:Fallback>
            <p:sp>
              <p:nvSpPr>
                <p:cNvPr id="991" name="Object 176"/>
                <p:cNvSpPr txBox="1"/>
                <p:nvPr/>
              </p:nvSpPr>
              <p:spPr>
                <a:xfrm>
                  <a:off x="4908600" y="2505240"/>
                  <a:ext cx="1106280" cy="237960"/>
                </a:xfrm>
                <a:prstGeom prst="rect">
                  <a:avLst/>
                </a:prstGeom>
                <a:blipFill>
                  <a:blip r:embed="rId4"/>
                  <a:stretch>
                    <a:fillRect/>
                  </a:stretch>
                </a:blipFill>
              </p:spPr>
            </p:sp>
          </mc:Fallback>
        </mc:AlternateContent>
        <mc:AlternateContent>
          <mc:Choice xmlns:a14="http://schemas.microsoft.com/office/drawing/2010/main" Requires="a14">
            <p:sp>
              <p:nvSpPr>
                <p:cNvPr id="992" name="Object 177"/>
                <p:cNvSpPr txBox="1"/>
                <p:nvPr/>
              </p:nvSpPr>
              <p:spPr>
                <a:xfrm>
                  <a:off x="6421320" y="3573360"/>
                  <a:ext cx="828720" cy="238320"/>
                </a:xfrm>
                <a:prstGeom prst="rect">
                  <a:avLst/>
                </a:prstGeom>
              </p:spPr>
              <p:txBody>
                <a:bodyPr/>
                <a:p>
                  <a14:m>
                    <m:oMath xmlns:m="http://schemas.openxmlformats.org/officeDocument/2006/math">
                      <m:r>
                        <m:t xml:space="preserve">−</m:t>
                      </m:r>
                      <m:r>
                        <m:rPr>
                          <m:lit/>
                          <m:nor/>
                        </m:rPr>
                        <m:t xml:space="preserve">40</m:t>
                      </m:r>
                      <m:f>
                        <m:fPr>
                          <m:type m:val="lin"/>
                        </m:fPr>
                        <m:num>
                          <m:r>
                            <m:rPr>
                              <m:lit/>
                              <m:nor/>
                            </m:rPr>
                            <m:t xml:space="preserve">dB</m:t>
                          </m:r>
                        </m:num>
                        <m:den>
                          <m:r>
                            <m:rPr>
                              <m:lit/>
                              <m:nor/>
                            </m:rPr>
                            <m:t xml:space="preserve">dec</m:t>
                          </m:r>
                        </m:den>
                      </m:f>
                    </m:oMath>
                  </a14:m>
                </a:p>
              </p:txBody>
            </p:sp>
          </mc:Choice>
          <mc:Fallback>
            <p:sp>
              <p:nvSpPr>
                <p:cNvPr id="992" name="Object 177"/>
                <p:cNvSpPr txBox="1"/>
                <p:nvPr/>
              </p:nvSpPr>
              <p:spPr>
                <a:xfrm>
                  <a:off x="6421320" y="3573360"/>
                  <a:ext cx="828720" cy="238320"/>
                </a:xfrm>
                <a:prstGeom prst="rect">
                  <a:avLst/>
                </a:prstGeom>
                <a:blipFill>
                  <a:blip r:embed="rId5"/>
                  <a:stretch>
                    <a:fillRect/>
                  </a:stretch>
                </a:blipFill>
              </p:spPr>
            </p:sp>
          </mc:Fallback>
        </mc:AlternateContent>
        <mc:AlternateContent>
          <mc:Choice xmlns:a14="http://schemas.microsoft.com/office/drawing/2010/main" Requires="a14">
            <p:sp>
              <p:nvSpPr>
                <p:cNvPr id="993" name="Object 178"/>
                <p:cNvSpPr txBox="1"/>
                <p:nvPr/>
              </p:nvSpPr>
              <p:spPr>
                <a:xfrm>
                  <a:off x="7632720" y="5157720"/>
                  <a:ext cx="826920" cy="238320"/>
                </a:xfrm>
                <a:prstGeom prst="rect">
                  <a:avLst/>
                </a:prstGeom>
              </p:spPr>
              <p:txBody>
                <a:bodyPr/>
                <a:p>
                  <a14:m>
                    <m:oMath xmlns:m="http://schemas.openxmlformats.org/officeDocument/2006/math">
                      <m:r>
                        <m:t xml:space="preserve">−</m:t>
                      </m:r>
                      <m:r>
                        <m:rPr>
                          <m:lit/>
                          <m:nor/>
                        </m:rPr>
                        <m:t xml:space="preserve">60</m:t>
                      </m:r>
                      <m:f>
                        <m:fPr>
                          <m:type m:val="lin"/>
                        </m:fPr>
                        <m:num>
                          <m:r>
                            <m:rPr>
                              <m:lit/>
                              <m:nor/>
                            </m:rPr>
                            <m:t xml:space="preserve">dB</m:t>
                          </m:r>
                        </m:num>
                        <m:den>
                          <m:r>
                            <m:rPr>
                              <m:lit/>
                              <m:nor/>
                            </m:rPr>
                            <m:t xml:space="preserve">dec</m:t>
                          </m:r>
                        </m:den>
                      </m:f>
                    </m:oMath>
                  </a14:m>
                </a:p>
              </p:txBody>
            </p:sp>
          </mc:Choice>
          <mc:Fallback>
            <p:sp>
              <p:nvSpPr>
                <p:cNvPr id="993" name="Object 178"/>
                <p:cNvSpPr txBox="1"/>
                <p:nvPr/>
              </p:nvSpPr>
              <p:spPr>
                <a:xfrm>
                  <a:off x="7632720" y="5157720"/>
                  <a:ext cx="826920" cy="238320"/>
                </a:xfrm>
                <a:prstGeom prst="rect">
                  <a:avLst/>
                </a:prstGeom>
                <a:blipFill>
                  <a:blip r:embed="rId6"/>
                  <a:stretch>
                    <a:fillRect/>
                  </a:stretch>
                </a:blipFill>
              </p:spPr>
            </p:sp>
          </mc:Fallback>
        </mc:AlternateContent>
        <p:sp>
          <p:nvSpPr>
            <p:cNvPr id="994" name="Freeform 179"/>
            <p:cNvSpPr/>
            <p:nvPr/>
          </p:nvSpPr>
          <p:spPr>
            <a:xfrm>
              <a:off x="4832280" y="4799160"/>
              <a:ext cx="3405240" cy="1150920"/>
            </a:xfrm>
            <a:custGeom>
              <a:avLst/>
              <a:gdLst>
                <a:gd name="GluePoint1X" fmla="*/ 0 w 2041"/>
                <a:gd name="GluePoint1Y" fmla="*/ 0 h 726"/>
                <a:gd name="GluePoint2X" fmla="*/ 316 w 2041"/>
                <a:gd name="GluePoint2Y" fmla="*/ 45 h 726"/>
                <a:gd name="GluePoint3X" fmla="*/ 685 w 2041"/>
                <a:gd name="GluePoint3Y" fmla="*/ 136 h 726"/>
                <a:gd name="GluePoint4X" fmla="*/ 1107 w 2041"/>
                <a:gd name="GluePoint4Y" fmla="*/ 318 h 726"/>
                <a:gd name="GluePoint5X" fmla="*/ 1474 w 2041"/>
                <a:gd name="GluePoint5Y" fmla="*/ 496 h 726"/>
                <a:gd name="GluePoint6X" fmla="*/ 2001 w 2041"/>
                <a:gd name="GluePoint6Y" fmla="*/ 678 h 726"/>
                <a:gd name="GluePoint7X" fmla="*/ 2369 w 2041"/>
                <a:gd name="GluePoint7Y" fmla="*/ 723 h 7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041" h="726">
                  <a:moveTo>
                    <a:pt x="0" y="0"/>
                  </a:moveTo>
                  <a:cubicBezTo>
                    <a:pt x="87" y="11"/>
                    <a:pt x="174" y="22"/>
                    <a:pt x="272" y="45"/>
                  </a:cubicBezTo>
                  <a:cubicBezTo>
                    <a:pt x="370" y="68"/>
                    <a:pt x="476" y="90"/>
                    <a:pt x="590" y="136"/>
                  </a:cubicBezTo>
                  <a:cubicBezTo>
                    <a:pt x="704" y="182"/>
                    <a:pt x="840" y="258"/>
                    <a:pt x="953" y="318"/>
                  </a:cubicBezTo>
                  <a:cubicBezTo>
                    <a:pt x="1066" y="378"/>
                    <a:pt x="1142" y="439"/>
                    <a:pt x="1270" y="499"/>
                  </a:cubicBezTo>
                  <a:cubicBezTo>
                    <a:pt x="1398" y="559"/>
                    <a:pt x="1596" y="643"/>
                    <a:pt x="1724" y="681"/>
                  </a:cubicBezTo>
                  <a:cubicBezTo>
                    <a:pt x="1852" y="719"/>
                    <a:pt x="1988" y="719"/>
                    <a:pt x="2041" y="726"/>
                  </a:cubicBezTo>
                </a:path>
              </a:pathLst>
            </a:custGeom>
            <a:noFill/>
            <a:ln w="255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995" name="Group 180"/>
            <p:cNvGrpSpPr/>
            <p:nvPr/>
          </p:nvGrpSpPr>
          <p:grpSpPr>
            <a:xfrm>
              <a:off x="5381640" y="3742920"/>
              <a:ext cx="2160720" cy="390960"/>
              <a:chOff x="5381640" y="3742920"/>
              <a:chExt cx="2160720" cy="390960"/>
            </a:xfrm>
          </p:grpSpPr>
          <p:sp>
            <p:nvSpPr>
              <p:cNvPr id="996" name="Line 181"/>
              <p:cNvSpPr/>
              <p:nvPr/>
            </p:nvSpPr>
            <p:spPr>
              <a:xfrm flipV="1">
                <a:off x="6146640" y="3742920"/>
                <a:ext cx="648000" cy="360360"/>
              </a:xfrm>
              <a:prstGeom prst="line">
                <a:avLst/>
              </a:prstGeom>
              <a:ln w="25560">
                <a:solidFill>
                  <a:srgbClr val="00CC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7" name="Line 182"/>
              <p:cNvSpPr/>
              <p:nvPr/>
            </p:nvSpPr>
            <p:spPr>
              <a:xfrm>
                <a:off x="5381640" y="4103640"/>
                <a:ext cx="765000" cy="0"/>
              </a:xfrm>
              <a:prstGeom prst="line">
                <a:avLst/>
              </a:prstGeom>
              <a:ln w="25560">
                <a:solidFill>
                  <a:srgbClr val="00CC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8" name="Line 183"/>
              <p:cNvSpPr/>
              <p:nvPr/>
            </p:nvSpPr>
            <p:spPr>
              <a:xfrm>
                <a:off x="6777000" y="3743280"/>
                <a:ext cx="765360" cy="0"/>
              </a:xfrm>
              <a:prstGeom prst="line">
                <a:avLst/>
              </a:prstGeom>
              <a:ln w="25560">
                <a:solidFill>
                  <a:srgbClr val="00CC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999" name="Freeform 184"/>
              <p:cNvSpPr/>
              <p:nvPr/>
            </p:nvSpPr>
            <p:spPr>
              <a:xfrm>
                <a:off x="5427720" y="3878280"/>
                <a:ext cx="1935000" cy="255600"/>
              </a:xfrm>
              <a:custGeom>
                <a:avLst/>
                <a:gdLst>
                  <a:gd name="GluePoint1X" fmla="*/ 0 w 1304"/>
                  <a:gd name="GluePoint1Y" fmla="*/ 142 h 161"/>
                  <a:gd name="GluePoint2X" fmla="*/ 324 w 1304"/>
                  <a:gd name="GluePoint2Y" fmla="*/ 114 h 161"/>
                  <a:gd name="GluePoint3X" fmla="*/ 509 w 1304"/>
                  <a:gd name="GluePoint3Y" fmla="*/ 28 h 161"/>
                  <a:gd name="GluePoint4X" fmla="*/ 602 w 1304"/>
                  <a:gd name="GluePoint4Y" fmla="*/ 0 h 161"/>
                  <a:gd name="GluePoint5X" fmla="*/ 695 w 1304"/>
                  <a:gd name="GluePoint5Y" fmla="*/ 28 h 161"/>
                  <a:gd name="GluePoint6X" fmla="*/ 857 w 1304"/>
                  <a:gd name="GluePoint6Y" fmla="*/ 142 h 161"/>
                  <a:gd name="GluePoint7X" fmla="*/ 1066 w 1304"/>
                  <a:gd name="GluePoint7Y" fmla="*/ 142 h 1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304" h="161">
                    <a:moveTo>
                      <a:pt x="0" y="142"/>
                    </a:moveTo>
                    <a:cubicBezTo>
                      <a:pt x="146" y="137"/>
                      <a:pt x="293" y="133"/>
                      <a:pt x="397" y="114"/>
                    </a:cubicBezTo>
                    <a:cubicBezTo>
                      <a:pt x="501" y="95"/>
                      <a:pt x="566" y="47"/>
                      <a:pt x="623" y="28"/>
                    </a:cubicBezTo>
                    <a:cubicBezTo>
                      <a:pt x="680" y="9"/>
                      <a:pt x="699" y="0"/>
                      <a:pt x="737" y="0"/>
                    </a:cubicBezTo>
                    <a:cubicBezTo>
                      <a:pt x="775" y="0"/>
                      <a:pt x="798" y="4"/>
                      <a:pt x="850" y="28"/>
                    </a:cubicBezTo>
                    <a:cubicBezTo>
                      <a:pt x="902" y="52"/>
                      <a:pt x="973" y="123"/>
                      <a:pt x="1049" y="142"/>
                    </a:cubicBezTo>
                    <a:cubicBezTo>
                      <a:pt x="1125" y="161"/>
                      <a:pt x="1262" y="142"/>
                      <a:pt x="1304" y="142"/>
                    </a:cubicBezTo>
                  </a:path>
                </a:pathLst>
              </a:custGeom>
              <a:noFill/>
              <a:ln w="25560">
                <a:solidFill>
                  <a:srgbClr val="00CCFF"/>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000" name="Line 185"/>
            <p:cNvSpPr/>
            <p:nvPr/>
          </p:nvSpPr>
          <p:spPr>
            <a:xfrm>
              <a:off x="6372360" y="3608280"/>
              <a:ext cx="0" cy="1800360"/>
            </a:xfrm>
            <a:prstGeom prst="line">
              <a:avLst/>
            </a:prstGeom>
            <a:ln w="19080">
              <a:solidFill>
                <a:srgbClr val="FF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nvGrpSpPr>
            <p:cNvPr id="1001" name="Group 186"/>
            <p:cNvGrpSpPr/>
            <p:nvPr/>
          </p:nvGrpSpPr>
          <p:grpSpPr>
            <a:xfrm>
              <a:off x="4842000" y="3498840"/>
              <a:ext cx="3405240" cy="2451240"/>
              <a:chOff x="4842000" y="3498840"/>
              <a:chExt cx="3405240" cy="2451240"/>
            </a:xfrm>
          </p:grpSpPr>
          <p:grpSp>
            <p:nvGrpSpPr>
              <p:cNvPr id="1002" name="Group 187"/>
              <p:cNvGrpSpPr/>
              <p:nvPr/>
            </p:nvGrpSpPr>
            <p:grpSpPr>
              <a:xfrm>
                <a:off x="6145200" y="3498840"/>
                <a:ext cx="1757520" cy="2044800"/>
                <a:chOff x="6145200" y="3498840"/>
                <a:chExt cx="1757520" cy="2044800"/>
              </a:xfrm>
            </p:grpSpPr>
            <p:sp>
              <p:nvSpPr>
                <p:cNvPr id="1003" name="Line 188"/>
                <p:cNvSpPr/>
                <p:nvPr/>
              </p:nvSpPr>
              <p:spPr>
                <a:xfrm>
                  <a:off x="6145200" y="3498840"/>
                  <a:ext cx="657360" cy="353880"/>
                </a:xfrm>
                <a:prstGeom prst="line">
                  <a:avLst/>
                </a:prstGeom>
                <a:ln w="28440">
                  <a:solidFill>
                    <a:srgbClr val="CC00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4" name="Line 189"/>
                <p:cNvSpPr/>
                <p:nvPr/>
              </p:nvSpPr>
              <p:spPr>
                <a:xfrm>
                  <a:off x="6777000" y="3833640"/>
                  <a:ext cx="539640" cy="540000"/>
                </a:xfrm>
                <a:prstGeom prst="line">
                  <a:avLst/>
                </a:prstGeom>
                <a:ln w="28440">
                  <a:solidFill>
                    <a:srgbClr val="CC00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05" name="Line 190"/>
                <p:cNvSpPr/>
                <p:nvPr/>
              </p:nvSpPr>
              <p:spPr>
                <a:xfrm>
                  <a:off x="7316640" y="4373640"/>
                  <a:ext cx="586080" cy="1170000"/>
                </a:xfrm>
                <a:prstGeom prst="line">
                  <a:avLst/>
                </a:prstGeom>
                <a:ln w="28440">
                  <a:solidFill>
                    <a:srgbClr val="CC00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
            <p:nvSpPr>
              <p:cNvPr id="1006" name="Freeform 191"/>
              <p:cNvSpPr/>
              <p:nvPr/>
            </p:nvSpPr>
            <p:spPr>
              <a:xfrm>
                <a:off x="4842000" y="4799160"/>
                <a:ext cx="3405240" cy="1150920"/>
              </a:xfrm>
              <a:custGeom>
                <a:avLst/>
                <a:gdLst>
                  <a:gd name="GluePoint1X" fmla="*/ 0 w 2145"/>
                  <a:gd name="GluePoint1Y" fmla="*/ 0 h 725"/>
                  <a:gd name="GluePoint2X" fmla="*/ 286 w 2145"/>
                  <a:gd name="GluePoint2Y" fmla="*/ 45 h 725"/>
                  <a:gd name="GluePoint3X" fmla="*/ 558 w 2145"/>
                  <a:gd name="GluePoint3Y" fmla="*/ 89 h 725"/>
                  <a:gd name="GluePoint4X" fmla="*/ 966 w 2145"/>
                  <a:gd name="GluePoint4Y" fmla="*/ 145 h 725"/>
                  <a:gd name="GluePoint5X" fmla="*/ 1358 w 2145"/>
                  <a:gd name="GluePoint5Y" fmla="*/ 489 h 725"/>
                  <a:gd name="GluePoint6X" fmla="*/ 1812 w 2145"/>
                  <a:gd name="GluePoint6Y" fmla="*/ 680 h 725"/>
                  <a:gd name="GluePoint7X" fmla="*/ 2145 w 2145"/>
                  <a:gd name="GluePoint7Y" fmla="*/ 725 h 72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145" h="725">
                    <a:moveTo>
                      <a:pt x="0" y="0"/>
                    </a:moveTo>
                    <a:cubicBezTo>
                      <a:pt x="91" y="11"/>
                      <a:pt x="193" y="30"/>
                      <a:pt x="286" y="45"/>
                    </a:cubicBezTo>
                    <a:cubicBezTo>
                      <a:pt x="379" y="60"/>
                      <a:pt x="445" y="72"/>
                      <a:pt x="558" y="89"/>
                    </a:cubicBezTo>
                    <a:cubicBezTo>
                      <a:pt x="671" y="106"/>
                      <a:pt x="833" y="78"/>
                      <a:pt x="966" y="145"/>
                    </a:cubicBezTo>
                    <a:cubicBezTo>
                      <a:pt x="1099" y="212"/>
                      <a:pt x="1217" y="400"/>
                      <a:pt x="1358" y="489"/>
                    </a:cubicBezTo>
                    <a:cubicBezTo>
                      <a:pt x="1499" y="578"/>
                      <a:pt x="1681" y="641"/>
                      <a:pt x="1812" y="680"/>
                    </a:cubicBezTo>
                    <a:cubicBezTo>
                      <a:pt x="1943" y="719"/>
                      <a:pt x="2089" y="718"/>
                      <a:pt x="2145" y="725"/>
                    </a:cubicBezTo>
                  </a:path>
                </a:pathLst>
              </a:custGeom>
              <a:noFill/>
              <a:ln w="28440">
                <a:solidFill>
                  <a:srgbClr val="CC0099"/>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grpSp>
        <p:nvGrpSpPr>
          <p:cNvPr id="1007" name="Group 193"/>
          <p:cNvGrpSpPr/>
          <p:nvPr/>
        </p:nvGrpSpPr>
        <p:grpSpPr>
          <a:xfrm>
            <a:off x="3481560" y="1976400"/>
            <a:ext cx="5688000" cy="4392720"/>
            <a:chOff x="3481560" y="1976400"/>
            <a:chExt cx="5688000" cy="4392720"/>
          </a:xfrm>
        </p:grpSpPr>
        <p:grpSp>
          <p:nvGrpSpPr>
            <p:cNvPr id="1008" name="Group 31"/>
            <p:cNvGrpSpPr/>
            <p:nvPr/>
          </p:nvGrpSpPr>
          <p:grpSpPr>
            <a:xfrm>
              <a:off x="3481560" y="1976400"/>
              <a:ext cx="5688000" cy="4392720"/>
              <a:chOff x="3481560" y="1976400"/>
              <a:chExt cx="5688000" cy="4392720"/>
            </a:xfrm>
          </p:grpSpPr>
          <p:sp>
            <p:nvSpPr>
              <p:cNvPr id="1009" name="Rectangle 32"/>
              <p:cNvSpPr/>
              <p:nvPr/>
            </p:nvSpPr>
            <p:spPr>
              <a:xfrm>
                <a:off x="3481560" y="1976400"/>
                <a:ext cx="5472360" cy="4392720"/>
              </a:xfrm>
              <a:prstGeom prst="rect">
                <a:avLst/>
              </a:prstGeom>
              <a:solidFill>
                <a:srgbClr val="CCFFCC"/>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10" name="Rectangle 33"/>
              <p:cNvSpPr/>
              <p:nvPr/>
            </p:nvSpPr>
            <p:spPr>
              <a:xfrm>
                <a:off x="4003920" y="2311560"/>
                <a:ext cx="4454640" cy="37576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11" name="Line 34"/>
              <p:cNvSpPr/>
              <p:nvPr/>
            </p:nvSpPr>
            <p:spPr>
              <a:xfrm>
                <a:off x="4003920" y="4091040"/>
                <a:ext cx="4454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2" name="Line 35"/>
              <p:cNvSpPr/>
              <p:nvPr/>
            </p:nvSpPr>
            <p:spPr>
              <a:xfrm>
                <a:off x="4003920" y="34988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3" name="Line 36"/>
              <p:cNvSpPr/>
              <p:nvPr/>
            </p:nvSpPr>
            <p:spPr>
              <a:xfrm>
                <a:off x="4003920" y="290520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4" name="Line 37"/>
              <p:cNvSpPr/>
              <p:nvPr/>
            </p:nvSpPr>
            <p:spPr>
              <a:xfrm>
                <a:off x="4003920" y="47516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5" name="Line 38"/>
              <p:cNvSpPr/>
              <p:nvPr/>
            </p:nvSpPr>
            <p:spPr>
              <a:xfrm>
                <a:off x="4003920" y="5410440"/>
                <a:ext cx="4454640" cy="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6" name="Line 39"/>
              <p:cNvSpPr/>
              <p:nvPr/>
            </p:nvSpPr>
            <p:spPr>
              <a:xfrm>
                <a:off x="6134400" y="23115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7" name="Line 40"/>
              <p:cNvSpPr/>
              <p:nvPr/>
            </p:nvSpPr>
            <p:spPr>
              <a:xfrm>
                <a:off x="7297920" y="23115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18" name="Line 41"/>
              <p:cNvSpPr/>
              <p:nvPr/>
            </p:nvSpPr>
            <p:spPr>
              <a:xfrm>
                <a:off x="5037480" y="2311560"/>
                <a:ext cx="0" cy="3757680"/>
              </a:xfrm>
              <a:prstGeom prst="line">
                <a:avLst/>
              </a:prstGeom>
              <a:ln w="9360">
                <a:solidFill>
                  <a:srgbClr val="000000"/>
                </a:solidFill>
                <a:prstDash val="dashDot"/>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1019" name="Object 42"/>
                  <p:cNvSpPr txBox="1"/>
                  <p:nvPr/>
                </p:nvSpPr>
                <p:spPr>
                  <a:xfrm>
                    <a:off x="3840480" y="2048040"/>
                    <a:ext cx="641520" cy="249120"/>
                  </a:xfrm>
                  <a:prstGeom prst="rect">
                    <a:avLst/>
                  </a:prstGeom>
                </p:spPr>
                <p:txBody>
                  <a:bodyPr/>
                  <a:p>
                    <a14:m>
                      <m:oMath xmlns:m="http://schemas.openxmlformats.org/officeDocument/2006/math">
                        <m:r>
                          <m:t xml:space="preserve">L</m:t>
                        </m:r>
                        <m:r>
                          <m:t xml:space="preserve">(</m:t>
                        </m:r>
                        <m:r>
                          <m:t xml:space="preserve">ω</m:t>
                        </m:r>
                        <m:r>
                          <m:t xml:space="preserve">)</m:t>
                        </m:r>
                        <m:r>
                          <m:rPr>
                            <m:lit/>
                            <m:nor/>
                          </m:rPr>
                          <m:t xml:space="preserve">dB</m:t>
                        </m:r>
                      </m:oMath>
                    </a14:m>
                  </a:p>
                </p:txBody>
              </p:sp>
            </mc:Choice>
            <mc:Fallback>
              <p:sp>
                <p:nvSpPr>
                  <p:cNvPr id="1019" name="Object 42"/>
                  <p:cNvSpPr txBox="1"/>
                  <p:nvPr/>
                </p:nvSpPr>
                <p:spPr>
                  <a:xfrm>
                    <a:off x="3840480" y="2048040"/>
                    <a:ext cx="641520" cy="249120"/>
                  </a:xfrm>
                  <a:prstGeom prst="rect">
                    <a:avLst/>
                  </a:prstGeom>
                  <a:blipFill>
                    <a:blip r:embed="rId7"/>
                    <a:stretch>
                      <a:fillRect/>
                    </a:stretch>
                  </a:blipFill>
                </p:spPr>
              </p:sp>
            </mc:Fallback>
          </mc:AlternateContent>
          <mc:AlternateContent>
            <mc:Choice xmlns:a14="http://schemas.microsoft.com/office/drawing/2010/main" Requires="a14">
              <p:sp>
                <p:nvSpPr>
                  <p:cNvPr id="1020" name="Object 43"/>
                  <p:cNvSpPr txBox="1"/>
                  <p:nvPr/>
                </p:nvSpPr>
                <p:spPr>
                  <a:xfrm>
                    <a:off x="8161560" y="1976400"/>
                    <a:ext cx="493920" cy="287640"/>
                  </a:xfrm>
                  <a:prstGeom prst="rect">
                    <a:avLst/>
                  </a:prstGeom>
                </p:spPr>
                <p:txBody>
                  <a:bodyPr/>
                  <a:p>
                    <a14:m>
                      <m:oMath xmlns:m="http://schemas.openxmlformats.org/officeDocument/2006/math">
                        <m:r>
                          <m:t xml:space="preserve">ϕ</m:t>
                        </m:r>
                        <m:r>
                          <m:t xml:space="preserve">(</m:t>
                        </m:r>
                        <m:r>
                          <m:t xml:space="preserve">ω</m:t>
                        </m:r>
                        <m:r>
                          <m:t xml:space="preserve">)</m:t>
                        </m:r>
                      </m:oMath>
                    </a14:m>
                  </a:p>
                </p:txBody>
              </p:sp>
            </mc:Choice>
            <mc:Fallback>
              <p:sp>
                <p:nvSpPr>
                  <p:cNvPr id="1020" name="Object 43"/>
                  <p:cNvSpPr txBox="1"/>
                  <p:nvPr/>
                </p:nvSpPr>
                <p:spPr>
                  <a:xfrm>
                    <a:off x="8161560" y="1976400"/>
                    <a:ext cx="493920" cy="287640"/>
                  </a:xfrm>
                  <a:prstGeom prst="rect">
                    <a:avLst/>
                  </a:prstGeom>
                  <a:blipFill>
                    <a:blip r:embed="rId8"/>
                    <a:stretch>
                      <a:fillRect/>
                    </a:stretch>
                  </a:blipFill>
                </p:spPr>
              </p:sp>
            </mc:Fallback>
          </mc:AlternateContent>
          <p:sp>
            <p:nvSpPr>
              <p:cNvPr id="1021" name="Text Box 44"/>
              <p:cNvSpPr/>
              <p:nvPr/>
            </p:nvSpPr>
            <p:spPr>
              <a:xfrm>
                <a:off x="3940560" y="4091040"/>
                <a:ext cx="51732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0.1</a:t>
                </a:r>
                <a:endParaRPr lang="en-US" sz="2000" b="0" u="none" strike="noStrike">
                  <a:solidFill>
                    <a:srgbClr val="000000"/>
                  </a:solidFill>
                  <a:effectLst/>
                  <a:uFillTx/>
                  <a:latin typeface="Times New Roman"/>
                </a:endParaRPr>
              </a:p>
            </p:txBody>
          </p:sp>
          <p:sp>
            <p:nvSpPr>
              <p:cNvPr id="1022" name="Text Box 45"/>
              <p:cNvSpPr/>
              <p:nvPr/>
            </p:nvSpPr>
            <p:spPr>
              <a:xfrm>
                <a:off x="3681720" y="3367080"/>
                <a:ext cx="38736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1023" name="Text Box 46"/>
              <p:cNvSpPr/>
              <p:nvPr/>
            </p:nvSpPr>
            <p:spPr>
              <a:xfrm>
                <a:off x="3681720" y="2772000"/>
                <a:ext cx="38736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1024" name="Text Box 47"/>
              <p:cNvSpPr/>
              <p:nvPr/>
            </p:nvSpPr>
            <p:spPr>
              <a:xfrm>
                <a:off x="3553200" y="5278680"/>
                <a:ext cx="51588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40</a:t>
                </a:r>
                <a:endParaRPr lang="en-US" sz="2000" b="0" u="none" strike="noStrike">
                  <a:solidFill>
                    <a:srgbClr val="000000"/>
                  </a:solidFill>
                  <a:effectLst/>
                  <a:uFillTx/>
                  <a:latin typeface="Times New Roman"/>
                </a:endParaRPr>
              </a:p>
            </p:txBody>
          </p:sp>
          <p:sp>
            <p:nvSpPr>
              <p:cNvPr id="1025" name="Text Box 48"/>
              <p:cNvSpPr/>
              <p:nvPr/>
            </p:nvSpPr>
            <p:spPr>
              <a:xfrm>
                <a:off x="3553200" y="461808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20</a:t>
                </a:r>
                <a:endParaRPr lang="en-US" sz="2000" b="0" u="none" strike="noStrike">
                  <a:solidFill>
                    <a:srgbClr val="000000"/>
                  </a:solidFill>
                  <a:effectLst/>
                  <a:uFillTx/>
                  <a:latin typeface="Times New Roman"/>
                </a:endParaRPr>
              </a:p>
            </p:txBody>
          </p:sp>
          <p:sp>
            <p:nvSpPr>
              <p:cNvPr id="1026" name="Text Box 49"/>
              <p:cNvSpPr/>
              <p:nvPr/>
            </p:nvSpPr>
            <p:spPr>
              <a:xfrm>
                <a:off x="8394840" y="5278680"/>
                <a:ext cx="7747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1027" name="Object 50"/>
                  <p:cNvSpPr txBox="1"/>
                  <p:nvPr/>
                </p:nvSpPr>
                <p:spPr>
                  <a:xfrm>
                    <a:off x="8521920" y="3921120"/>
                    <a:ext cx="285840" cy="265320"/>
                  </a:xfrm>
                  <a:prstGeom prst="rect">
                    <a:avLst/>
                  </a:prstGeom>
                </p:spPr>
                <p:txBody>
                  <a:bodyPr/>
                  <a:p>
                    <a14:m>
                      <m:oMath xmlns:m="http://schemas.openxmlformats.org/officeDocument/2006/math">
                        <m:r>
                          <m:t xml:space="preserve">ω</m:t>
                        </m:r>
                      </m:oMath>
                    </a14:m>
                  </a:p>
                </p:txBody>
              </p:sp>
            </mc:Choice>
            <mc:Fallback>
              <p:sp>
                <p:nvSpPr>
                  <p:cNvPr id="1027" name="Object 50"/>
                  <p:cNvSpPr txBox="1"/>
                  <p:nvPr/>
                </p:nvSpPr>
                <p:spPr>
                  <a:xfrm>
                    <a:off x="8521920" y="3921120"/>
                    <a:ext cx="285840" cy="265320"/>
                  </a:xfrm>
                  <a:prstGeom prst="rect">
                    <a:avLst/>
                  </a:prstGeom>
                  <a:blipFill>
                    <a:blip r:embed="rId9"/>
                    <a:stretch>
                      <a:fillRect/>
                    </a:stretch>
                  </a:blipFill>
                </p:spPr>
              </p:sp>
            </mc:Fallback>
          </mc:AlternateContent>
          <p:sp>
            <p:nvSpPr>
              <p:cNvPr id="1028" name="Text Box 51"/>
              <p:cNvSpPr/>
              <p:nvPr/>
            </p:nvSpPr>
            <p:spPr>
              <a:xfrm>
                <a:off x="8394840" y="4618080"/>
                <a:ext cx="7747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1029" name="Text Box 52"/>
              <p:cNvSpPr/>
              <p:nvPr/>
            </p:nvSpPr>
            <p:spPr>
              <a:xfrm>
                <a:off x="8394840" y="2772000"/>
                <a:ext cx="45108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180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1030" name="Text Box 53"/>
              <p:cNvSpPr/>
              <p:nvPr/>
            </p:nvSpPr>
            <p:spPr>
              <a:xfrm>
                <a:off x="8458560" y="336708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90</a:t>
                </a:r>
                <a:r>
                  <a:rPr lang="en-US" sz="2000" b="0" u="none" strike="noStrike" baseline="30000">
                    <a:solidFill>
                      <a:srgbClr val="000000"/>
                    </a:solidFill>
                    <a:effectLst/>
                    <a:uFillTx/>
                    <a:latin typeface="Arial"/>
                  </a:rPr>
                  <a:t>0</a:t>
                </a:r>
                <a:endParaRPr lang="en-US" sz="2000" b="0" u="none" strike="noStrike">
                  <a:solidFill>
                    <a:srgbClr val="000000"/>
                  </a:solidFill>
                  <a:effectLst/>
                  <a:uFillTx/>
                  <a:latin typeface="Times New Roman"/>
                </a:endParaRPr>
              </a:p>
            </p:txBody>
          </p:sp>
          <p:sp>
            <p:nvSpPr>
              <p:cNvPr id="1031" name="Text Box 54"/>
              <p:cNvSpPr/>
              <p:nvPr/>
            </p:nvSpPr>
            <p:spPr>
              <a:xfrm>
                <a:off x="5038920" y="4091040"/>
                <a:ext cx="51588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a:t>
                </a:r>
                <a:endParaRPr lang="en-US" sz="2000" b="0" u="none" strike="noStrike">
                  <a:solidFill>
                    <a:srgbClr val="000000"/>
                  </a:solidFill>
                  <a:effectLst/>
                  <a:uFillTx/>
                  <a:latin typeface="Times New Roman"/>
                </a:endParaRPr>
              </a:p>
            </p:txBody>
          </p:sp>
          <p:sp>
            <p:nvSpPr>
              <p:cNvPr id="1032" name="Text Box 55"/>
              <p:cNvSpPr/>
              <p:nvPr/>
            </p:nvSpPr>
            <p:spPr>
              <a:xfrm>
                <a:off x="6134400" y="4091040"/>
                <a:ext cx="647640" cy="38232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a:t>
                </a:r>
                <a:endParaRPr lang="en-US" sz="2000" b="0" u="none" strike="noStrike">
                  <a:solidFill>
                    <a:srgbClr val="000000"/>
                  </a:solidFill>
                  <a:effectLst/>
                  <a:uFillTx/>
                  <a:latin typeface="Times New Roman"/>
                </a:endParaRPr>
              </a:p>
            </p:txBody>
          </p:sp>
          <p:sp>
            <p:nvSpPr>
              <p:cNvPr id="1033" name="Text Box 56"/>
              <p:cNvSpPr/>
              <p:nvPr/>
            </p:nvSpPr>
            <p:spPr>
              <a:xfrm>
                <a:off x="7231320" y="4091040"/>
                <a:ext cx="452520" cy="687240"/>
              </a:xfrm>
              <a:prstGeom prst="rect">
                <a:avLst/>
              </a:prstGeom>
              <a:noFill/>
              <a:ln w="0">
                <a:noFill/>
              </a:ln>
            </p:spPr>
            <p:style>
              <a:lnRef idx="0"/>
              <a:fillRef idx="0"/>
              <a:effectRef idx="0"/>
              <a:fontRef idx="minor"/>
            </p:style>
            <p:txBody>
              <a:bodyPr lIns="76680" tIns="38520" rIns="76680" bIns="38520" anchor="t">
                <a:spAutoFit/>
              </a:bodyPr>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rPr>
                  <a:t>100</a:t>
                </a:r>
                <a:endParaRPr lang="en-US" sz="2000" b="0" u="none" strike="noStrike">
                  <a:solidFill>
                    <a:srgbClr val="000000"/>
                  </a:solidFill>
                  <a:effectLst/>
                  <a:uFillTx/>
                  <a:latin typeface="Times New Roman"/>
                </a:endParaRPr>
              </a:p>
            </p:txBody>
          </p:sp>
        </p:grpSp>
        <p:grpSp>
          <p:nvGrpSpPr>
            <p:cNvPr id="1034" name="Group 57"/>
            <p:cNvGrpSpPr/>
            <p:nvPr/>
          </p:nvGrpSpPr>
          <p:grpSpPr>
            <a:xfrm>
              <a:off x="3897360" y="2349360"/>
              <a:ext cx="4608360" cy="3671640"/>
              <a:chOff x="3897360" y="2349360"/>
              <a:chExt cx="4608360" cy="3671640"/>
            </a:xfrm>
          </p:grpSpPr>
          <p:sp>
            <p:nvSpPr>
              <p:cNvPr id="1035" name="Line 58"/>
              <p:cNvSpPr/>
              <p:nvPr/>
            </p:nvSpPr>
            <p:spPr>
              <a:xfrm>
                <a:off x="3897360" y="2349360"/>
                <a:ext cx="2268000" cy="114876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6" name="Line 59"/>
              <p:cNvSpPr/>
              <p:nvPr/>
            </p:nvSpPr>
            <p:spPr>
              <a:xfrm>
                <a:off x="6165360" y="3499920"/>
                <a:ext cx="1209600" cy="129780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37" name="Line 60"/>
              <p:cNvSpPr/>
              <p:nvPr/>
            </p:nvSpPr>
            <p:spPr>
              <a:xfrm>
                <a:off x="7374960" y="4799160"/>
                <a:ext cx="605520" cy="1221840"/>
              </a:xfrm>
              <a:prstGeom prst="line">
                <a:avLst/>
              </a:prstGeom>
              <a:ln w="255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1038" name="Object 61"/>
                  <p:cNvSpPr txBox="1"/>
                  <p:nvPr/>
                </p:nvSpPr>
                <p:spPr>
                  <a:xfrm>
                    <a:off x="4955040" y="2504520"/>
                    <a:ext cx="1105200" cy="238320"/>
                  </a:xfrm>
                  <a:prstGeom prst="rect">
                    <a:avLst/>
                  </a:prstGeom>
                </p:spPr>
                <p:txBody>
                  <a:bodyPr/>
                  <a:p>
                    <a14:m>
                      <m:oMath xmlns:m="http://schemas.openxmlformats.org/officeDocument/2006/math">
                        <m:r>
                          <m:t xml:space="preserve">−</m:t>
                        </m:r>
                        <m:r>
                          <m:rPr>
                            <m:lit/>
                            <m:nor/>
                          </m:rPr>
                          <m:t xml:space="preserve">20</m:t>
                        </m:r>
                        <m:f>
                          <m:fPr>
                            <m:type m:val="lin"/>
                          </m:fPr>
                          <m:num>
                            <m:r>
                              <m:rPr>
                                <m:lit/>
                                <m:nor/>
                              </m:rPr>
                              <m:t xml:space="preserve">dB</m:t>
                            </m:r>
                          </m:num>
                          <m:den>
                            <m:r>
                              <m:rPr>
                                <m:lit/>
                                <m:nor/>
                              </m:rPr>
                              <m:t xml:space="preserve">dec</m:t>
                            </m:r>
                          </m:den>
                        </m:f>
                      </m:oMath>
                    </a14:m>
                  </a:p>
                </p:txBody>
              </p:sp>
            </mc:Choice>
            <mc:Fallback>
              <p:sp>
                <p:nvSpPr>
                  <p:cNvPr id="1038" name="Object 61"/>
                  <p:cNvSpPr txBox="1"/>
                  <p:nvPr/>
                </p:nvSpPr>
                <p:spPr>
                  <a:xfrm>
                    <a:off x="4955040" y="2504520"/>
                    <a:ext cx="1105200" cy="238320"/>
                  </a:xfrm>
                  <a:prstGeom prst="rect">
                    <a:avLst/>
                  </a:prstGeom>
                  <a:blipFill>
                    <a:blip r:embed="rId10"/>
                    <a:stretch>
                      <a:fillRect/>
                    </a:stretch>
                  </a:blipFill>
                </p:spPr>
              </p:sp>
            </mc:Fallback>
          </mc:AlternateContent>
          <mc:AlternateContent>
            <mc:Choice xmlns:a14="http://schemas.microsoft.com/office/drawing/2010/main" Requires="a14">
              <p:sp>
                <p:nvSpPr>
                  <p:cNvPr id="1039" name="Object 62"/>
                  <p:cNvSpPr txBox="1"/>
                  <p:nvPr/>
                </p:nvSpPr>
                <p:spPr>
                  <a:xfrm>
                    <a:off x="6467040" y="3572640"/>
                    <a:ext cx="828720" cy="238320"/>
                  </a:xfrm>
                  <a:prstGeom prst="rect">
                    <a:avLst/>
                  </a:prstGeom>
                </p:spPr>
                <p:txBody>
                  <a:bodyPr/>
                  <a:p>
                    <a14:m>
                      <m:oMath xmlns:m="http://schemas.openxmlformats.org/officeDocument/2006/math">
                        <m:r>
                          <m:t xml:space="preserve">−</m:t>
                        </m:r>
                        <m:r>
                          <m:rPr>
                            <m:lit/>
                            <m:nor/>
                          </m:rPr>
                          <m:t xml:space="preserve">40</m:t>
                        </m:r>
                        <m:f>
                          <m:fPr>
                            <m:type m:val="lin"/>
                          </m:fPr>
                          <m:num>
                            <m:r>
                              <m:rPr>
                                <m:lit/>
                                <m:nor/>
                              </m:rPr>
                              <m:t xml:space="preserve">dB</m:t>
                            </m:r>
                          </m:num>
                          <m:den>
                            <m:r>
                              <m:rPr>
                                <m:lit/>
                                <m:nor/>
                              </m:rPr>
                              <m:t xml:space="preserve">dec</m:t>
                            </m:r>
                          </m:den>
                        </m:f>
                      </m:oMath>
                    </a14:m>
                  </a:p>
                </p:txBody>
              </p:sp>
            </mc:Choice>
            <mc:Fallback>
              <p:sp>
                <p:nvSpPr>
                  <p:cNvPr id="1039" name="Object 62"/>
                  <p:cNvSpPr txBox="1"/>
                  <p:nvPr/>
                </p:nvSpPr>
                <p:spPr>
                  <a:xfrm>
                    <a:off x="6467040" y="3572640"/>
                    <a:ext cx="828720" cy="238320"/>
                  </a:xfrm>
                  <a:prstGeom prst="rect">
                    <a:avLst/>
                  </a:prstGeom>
                  <a:blipFill>
                    <a:blip r:embed="rId11"/>
                    <a:stretch>
                      <a:fillRect/>
                    </a:stretch>
                  </a:blipFill>
                </p:spPr>
              </p:sp>
            </mc:Fallback>
          </mc:AlternateContent>
          <mc:AlternateContent>
            <mc:Choice xmlns:a14="http://schemas.microsoft.com/office/drawing/2010/main" Requires="a14">
              <p:sp>
                <p:nvSpPr>
                  <p:cNvPr id="1040" name="Object 63"/>
                  <p:cNvSpPr txBox="1"/>
                  <p:nvPr/>
                </p:nvSpPr>
                <p:spPr>
                  <a:xfrm>
                    <a:off x="7678800" y="5157360"/>
                    <a:ext cx="826920" cy="238320"/>
                  </a:xfrm>
                  <a:prstGeom prst="rect">
                    <a:avLst/>
                  </a:prstGeom>
                </p:spPr>
                <p:txBody>
                  <a:bodyPr/>
                  <a:p>
                    <a14:m>
                      <m:oMath xmlns:m="http://schemas.openxmlformats.org/officeDocument/2006/math">
                        <m:r>
                          <m:t xml:space="preserve">−</m:t>
                        </m:r>
                        <m:r>
                          <m:rPr>
                            <m:lit/>
                            <m:nor/>
                          </m:rPr>
                          <m:t xml:space="preserve">60</m:t>
                        </m:r>
                        <m:f>
                          <m:fPr>
                            <m:type m:val="lin"/>
                          </m:fPr>
                          <m:num>
                            <m:r>
                              <m:rPr>
                                <m:lit/>
                                <m:nor/>
                              </m:rPr>
                              <m:t xml:space="preserve">dB</m:t>
                            </m:r>
                          </m:num>
                          <m:den>
                            <m:r>
                              <m:rPr>
                                <m:lit/>
                                <m:nor/>
                              </m:rPr>
                              <m:t xml:space="preserve">dec</m:t>
                            </m:r>
                          </m:den>
                        </m:f>
                      </m:oMath>
                    </a14:m>
                  </a:p>
                </p:txBody>
              </p:sp>
            </mc:Choice>
            <mc:Fallback>
              <p:sp>
                <p:nvSpPr>
                  <p:cNvPr id="1040" name="Object 63"/>
                  <p:cNvSpPr txBox="1"/>
                  <p:nvPr/>
                </p:nvSpPr>
                <p:spPr>
                  <a:xfrm>
                    <a:off x="7678800" y="5157360"/>
                    <a:ext cx="826920" cy="238320"/>
                  </a:xfrm>
                  <a:prstGeom prst="rect">
                    <a:avLst/>
                  </a:prstGeom>
                  <a:blipFill>
                    <a:blip r:embed="rId12"/>
                    <a:stretch>
                      <a:fillRect/>
                    </a:stretch>
                  </a:blipFill>
                </p:spPr>
              </p:sp>
            </mc:Fallback>
          </mc:AlternateContent>
          <p:sp>
            <p:nvSpPr>
              <p:cNvPr id="1041" name="Freeform 64"/>
              <p:cNvSpPr/>
              <p:nvPr/>
            </p:nvSpPr>
            <p:spPr>
              <a:xfrm>
                <a:off x="4879080" y="4799160"/>
                <a:ext cx="3404160" cy="1150920"/>
              </a:xfrm>
              <a:custGeom>
                <a:avLst/>
                <a:gdLst>
                  <a:gd name="GluePoint1X" fmla="*/ 0 w 2041"/>
                  <a:gd name="GluePoint1Y" fmla="*/ 0 h 726"/>
                  <a:gd name="GluePoint2X" fmla="*/ 2794 w 2041"/>
                  <a:gd name="GluePoint2Y" fmla="*/ 463 h 726"/>
                  <a:gd name="GluePoint3X" fmla="*/ 6067 w 2041"/>
                  <a:gd name="GluePoint3Y" fmla="*/ 1398 h 726"/>
                  <a:gd name="GluePoint4X" fmla="*/ 9796 w 2041"/>
                  <a:gd name="GluePoint4Y" fmla="*/ 3265 h 726"/>
                  <a:gd name="GluePoint5X" fmla="*/ 13060 w 2041"/>
                  <a:gd name="GluePoint5Y" fmla="*/ 5125 h 726"/>
                  <a:gd name="GluePoint6X" fmla="*/ 17726 w 2041"/>
                  <a:gd name="GluePoint6Y" fmla="*/ 6992 h 726"/>
                  <a:gd name="GluePoint7X" fmla="*/ 20983 w 2041"/>
                  <a:gd name="GluePoint7Y" fmla="*/ 7455 h 7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041" h="726">
                    <a:moveTo>
                      <a:pt x="0" y="0"/>
                    </a:moveTo>
                    <a:cubicBezTo>
                      <a:pt x="87" y="11"/>
                      <a:pt x="174" y="22"/>
                      <a:pt x="272" y="45"/>
                    </a:cubicBezTo>
                    <a:cubicBezTo>
                      <a:pt x="370" y="68"/>
                      <a:pt x="476" y="90"/>
                      <a:pt x="590" y="136"/>
                    </a:cubicBezTo>
                    <a:cubicBezTo>
                      <a:pt x="704" y="182"/>
                      <a:pt x="840" y="258"/>
                      <a:pt x="953" y="318"/>
                    </a:cubicBezTo>
                    <a:cubicBezTo>
                      <a:pt x="1066" y="378"/>
                      <a:pt x="1142" y="439"/>
                      <a:pt x="1270" y="499"/>
                    </a:cubicBezTo>
                    <a:cubicBezTo>
                      <a:pt x="1398" y="559"/>
                      <a:pt x="1596" y="643"/>
                      <a:pt x="1724" y="681"/>
                    </a:cubicBezTo>
                    <a:cubicBezTo>
                      <a:pt x="1852" y="719"/>
                      <a:pt x="1988" y="719"/>
                      <a:pt x="2041" y="726"/>
                    </a:cubicBezTo>
                  </a:path>
                </a:pathLst>
              </a:custGeom>
              <a:noFill/>
              <a:ln w="25560">
                <a:solidFill>
                  <a:srgbClr val="0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sp>
        <p:nvSpPr>
          <p:cNvPr id="1042" name="Rectangle 70"/>
          <p:cNvSpPr/>
          <p:nvPr/>
        </p:nvSpPr>
        <p:spPr>
          <a:xfrm>
            <a:off x="537840" y="414360"/>
            <a:ext cx="2216880" cy="398880"/>
          </a:xfrm>
          <a:prstGeom prst="rect">
            <a:avLst/>
          </a:prstGeom>
          <a:solidFill>
            <a:srgbClr val="FFCCCC"/>
          </a:solid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滞后校正的综合：</a:t>
            </a:r>
            <a:endParaRPr lang="en-US" sz="2000" b="0" u="none" strike="noStrike">
              <a:solidFill>
                <a:srgbClr val="000000"/>
              </a:solidFill>
              <a:effectLst/>
              <a:uFillTx/>
              <a:latin typeface="Times New Roman"/>
            </a:endParaRPr>
          </a:p>
        </p:txBody>
      </p:sp>
      <p:grpSp>
        <p:nvGrpSpPr>
          <p:cNvPr id="1043" name="Group 78"/>
          <p:cNvGrpSpPr/>
          <p:nvPr/>
        </p:nvGrpSpPr>
        <p:grpSpPr>
          <a:xfrm>
            <a:off x="792000" y="863640"/>
            <a:ext cx="7831440" cy="1357920"/>
            <a:chOff x="792000" y="863640"/>
            <a:chExt cx="7831440" cy="1357920"/>
          </a:xfrm>
        </p:grpSpPr>
        <p:sp>
          <p:nvSpPr>
            <p:cNvPr id="1044" name="Rectangle 71"/>
            <p:cNvSpPr/>
            <p:nvPr/>
          </p:nvSpPr>
          <p:spPr>
            <a:xfrm>
              <a:off x="792000" y="907920"/>
              <a:ext cx="7831440" cy="131364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根据系统的故有部分及超前校正部分的频率特性，在                 处有                  ，             ，                         。为了将      保持在      ，还需要靠滞后校正来把中频段增益减少</a:t>
              </a:r>
              <a:r>
                <a:rPr lang="en-US" sz="2000" b="1" u="none" strike="noStrike">
                  <a:solidFill>
                    <a:srgbClr val="000000"/>
                  </a:solidFill>
                  <a:effectLst/>
                  <a:uFillTx/>
                  <a:latin typeface="Times New Roman"/>
                </a:rPr>
                <a:t>14dB</a:t>
              </a:r>
              <a:r>
                <a:rPr lang="zh-CN" sz="2000" b="1" u="none" strike="noStrike">
                  <a:solidFill>
                    <a:srgbClr val="000000"/>
                  </a:solidFill>
                  <a:effectLst/>
                  <a:uFillTx/>
                  <a:latin typeface="Times New Roman"/>
                </a:rPr>
                <a:t>。</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1045" name="Object 72"/>
                <p:cNvSpPr txBox="1"/>
                <p:nvPr/>
              </p:nvSpPr>
              <p:spPr>
                <a:xfrm>
                  <a:off x="6732720" y="863640"/>
                  <a:ext cx="1261800" cy="436680"/>
                </a:xfrm>
                <a:prstGeom prst="rect">
                  <a:avLst/>
                </a:prstGeom>
              </p:spPr>
              <p:txBody>
                <a:bodyPr/>
                <a:p>
                  <a14:m>
                    <m:oMath xmlns:m="http://schemas.openxmlformats.org/officeDocument/2006/math">
                      <m:sSub>
                        <m:e>
                          <m:r>
                            <m:t xml:space="preserve">ω</m:t>
                          </m:r>
                        </m:e>
                        <m:sub>
                          <m:r>
                            <m:t xml:space="preserve">c</m:t>
                          </m:r>
                        </m:sub>
                      </m:sSub>
                      <m:r>
                        <m:t xml:space="preserve">=</m:t>
                      </m:r>
                      <m:r>
                        <m:rPr>
                          <m:lit/>
                          <m:nor/>
                        </m:rPr>
                        <m:t xml:space="preserve">20</m:t>
                      </m:r>
                      <m:sSup>
                        <m:e>
                          <m:r>
                            <m:t xml:space="preserve">s</m:t>
                          </m:r>
                        </m:e>
                        <m:sup>
                          <m:r>
                            <m:t xml:space="preserve">−</m:t>
                          </m:r>
                          <m:r>
                            <m:t xml:space="preserve">1</m:t>
                          </m:r>
                        </m:sup>
                      </m:sSup>
                    </m:oMath>
                  </a14:m>
                </a:p>
              </p:txBody>
            </p:sp>
          </mc:Choice>
          <mc:Fallback>
            <p:sp>
              <p:nvSpPr>
                <p:cNvPr id="1045" name="Object 72"/>
                <p:cNvSpPr txBox="1"/>
                <p:nvPr/>
              </p:nvSpPr>
              <p:spPr>
                <a:xfrm>
                  <a:off x="6732720" y="863640"/>
                  <a:ext cx="1261800" cy="436680"/>
                </a:xfrm>
                <a:prstGeom prst="rect">
                  <a:avLst/>
                </a:prstGeom>
                <a:blipFill>
                  <a:blip r:embed="rId13"/>
                  <a:stretch>
                    <a:fillRect/>
                  </a:stretch>
                </a:blipFill>
              </p:spPr>
            </p:sp>
          </mc:Fallback>
        </mc:AlternateContent>
        <mc:AlternateContent>
          <mc:Choice xmlns:a14="http://schemas.microsoft.com/office/drawing/2010/main" Requires="a14">
            <p:sp>
              <p:nvSpPr>
                <p:cNvPr id="1046" name="Object 73"/>
                <p:cNvSpPr txBox="1"/>
                <p:nvPr/>
              </p:nvSpPr>
              <p:spPr>
                <a:xfrm>
                  <a:off x="1197000" y="1224000"/>
                  <a:ext cx="1035000" cy="401760"/>
                </a:xfrm>
                <a:prstGeom prst="rect">
                  <a:avLst/>
                </a:prstGeom>
              </p:spPr>
              <p:txBody>
                <a:bodyPr/>
                <a:p>
                  <a14:m>
                    <m:oMath xmlns:m="http://schemas.openxmlformats.org/officeDocument/2006/math">
                      <m:sSub>
                        <m:e>
                          <m:r>
                            <m:t xml:space="preserve">L</m:t>
                          </m:r>
                        </m:e>
                        <m:sub>
                          <m:r>
                            <m:t xml:space="preserve">g</m:t>
                          </m:r>
                        </m:sub>
                      </m:sSub>
                      <m:r>
                        <m:t xml:space="preserve">=</m:t>
                      </m:r>
                      <m:r>
                        <m:t xml:space="preserve">8</m:t>
                      </m:r>
                      <m:r>
                        <m:rPr>
                          <m:lit/>
                          <m:nor/>
                        </m:rPr>
                        <m:t xml:space="preserve">dB</m:t>
                      </m:r>
                    </m:oMath>
                  </a14:m>
                </a:p>
              </p:txBody>
            </p:sp>
          </mc:Choice>
          <mc:Fallback>
            <p:sp>
              <p:nvSpPr>
                <p:cNvPr id="1046" name="Object 73"/>
                <p:cNvSpPr txBox="1"/>
                <p:nvPr/>
              </p:nvSpPr>
              <p:spPr>
                <a:xfrm>
                  <a:off x="1197000" y="1224000"/>
                  <a:ext cx="1035000" cy="401760"/>
                </a:xfrm>
                <a:prstGeom prst="rect">
                  <a:avLst/>
                </a:prstGeom>
                <a:blipFill>
                  <a:blip r:embed="rId14"/>
                  <a:stretch>
                    <a:fillRect/>
                  </a:stretch>
                </a:blipFill>
              </p:spPr>
            </p:sp>
          </mc:Fallback>
        </mc:AlternateContent>
        <mc:AlternateContent>
          <mc:Choice xmlns:a14="http://schemas.microsoft.com/office/drawing/2010/main" Requires="a14">
            <p:sp>
              <p:nvSpPr>
                <p:cNvPr id="1047" name="Object 74"/>
                <p:cNvSpPr txBox="1"/>
                <p:nvPr/>
              </p:nvSpPr>
              <p:spPr>
                <a:xfrm>
                  <a:off x="2546280" y="1224000"/>
                  <a:ext cx="990720" cy="371520"/>
                </a:xfrm>
                <a:prstGeom prst="rect">
                  <a:avLst/>
                </a:prstGeom>
              </p:spPr>
              <p:txBody>
                <a:bodyPr/>
                <a:p>
                  <a14:m>
                    <m:oMath xmlns:m="http://schemas.openxmlformats.org/officeDocument/2006/math">
                      <m:sSub>
                        <m:e>
                          <m:r>
                            <m:t xml:space="preserve">L</m:t>
                          </m:r>
                        </m:e>
                        <m:sub>
                          <m:r>
                            <m:t xml:space="preserve">c</m:t>
                          </m:r>
                        </m:sub>
                      </m:sSub>
                      <m:r>
                        <m:t xml:space="preserve">=</m:t>
                      </m:r>
                      <m:r>
                        <m:t xml:space="preserve">6</m:t>
                      </m:r>
                      <m:r>
                        <m:rPr>
                          <m:lit/>
                          <m:nor/>
                        </m:rPr>
                        <m:t xml:space="preserve">dB</m:t>
                      </m:r>
                    </m:oMath>
                  </a14:m>
                </a:p>
              </p:txBody>
            </p:sp>
          </mc:Choice>
          <mc:Fallback>
            <p:sp>
              <p:nvSpPr>
                <p:cNvPr id="1047" name="Object 74"/>
                <p:cNvSpPr txBox="1"/>
                <p:nvPr/>
              </p:nvSpPr>
              <p:spPr>
                <a:xfrm>
                  <a:off x="2546280" y="1224000"/>
                  <a:ext cx="990720" cy="371520"/>
                </a:xfrm>
                <a:prstGeom prst="rect">
                  <a:avLst/>
                </a:prstGeom>
                <a:blipFill>
                  <a:blip r:embed="rId15"/>
                  <a:stretch>
                    <a:fillRect/>
                  </a:stretch>
                </a:blipFill>
              </p:spPr>
            </p:sp>
          </mc:Fallback>
        </mc:AlternateContent>
        <mc:AlternateContent>
          <mc:Choice xmlns:a14="http://schemas.microsoft.com/office/drawing/2010/main" Requires="a14">
            <p:sp>
              <p:nvSpPr>
                <p:cNvPr id="1048" name="Object 75"/>
                <p:cNvSpPr txBox="1"/>
                <p:nvPr/>
              </p:nvSpPr>
              <p:spPr>
                <a:xfrm>
                  <a:off x="3851280" y="1224000"/>
                  <a:ext cx="1665360" cy="406440"/>
                </a:xfrm>
                <a:prstGeom prst="rect">
                  <a:avLst/>
                </a:prstGeom>
              </p:spPr>
              <p:txBody>
                <a:bodyPr/>
                <a:p>
                  <a14:m>
                    <m:oMath xmlns:m="http://schemas.openxmlformats.org/officeDocument/2006/math">
                      <m:sSub>
                        <m:e>
                          <m:r>
                            <m:t xml:space="preserve">L</m:t>
                          </m:r>
                        </m:e>
                        <m:sub>
                          <m:r>
                            <m:t xml:space="preserve">g</m:t>
                          </m:r>
                        </m:sub>
                      </m:sSub>
                      <m:r>
                        <m:t xml:space="preserve">+</m:t>
                      </m:r>
                      <m:sSub>
                        <m:e>
                          <m:r>
                            <m:t xml:space="preserve">L</m:t>
                          </m:r>
                        </m:e>
                        <m:sub>
                          <m:r>
                            <m:t xml:space="preserve">c</m:t>
                          </m:r>
                        </m:sub>
                      </m:sSub>
                      <m:r>
                        <m:t xml:space="preserve">=</m:t>
                      </m:r>
                      <m:r>
                        <m:rPr>
                          <m:lit/>
                          <m:nor/>
                        </m:rPr>
                        <m:t xml:space="preserve">14</m:t>
                      </m:r>
                      <m:r>
                        <m:rPr>
                          <m:lit/>
                          <m:nor/>
                        </m:rPr>
                        <m:t xml:space="preserve">dB</m:t>
                      </m:r>
                    </m:oMath>
                  </a14:m>
                </a:p>
              </p:txBody>
            </p:sp>
          </mc:Choice>
          <mc:Fallback>
            <p:sp>
              <p:nvSpPr>
                <p:cNvPr id="1048" name="Object 75"/>
                <p:cNvSpPr txBox="1"/>
                <p:nvPr/>
              </p:nvSpPr>
              <p:spPr>
                <a:xfrm>
                  <a:off x="3851280" y="1224000"/>
                  <a:ext cx="1665360" cy="406440"/>
                </a:xfrm>
                <a:prstGeom prst="rect">
                  <a:avLst/>
                </a:prstGeom>
                <a:blipFill>
                  <a:blip r:embed="rId16"/>
                  <a:stretch>
                    <a:fillRect/>
                  </a:stretch>
                </a:blipFill>
              </p:spPr>
            </p:sp>
          </mc:Fallback>
        </mc:AlternateContent>
        <mc:AlternateContent>
          <mc:Choice xmlns:a14="http://schemas.microsoft.com/office/drawing/2010/main" Requires="a14">
            <p:sp>
              <p:nvSpPr>
                <p:cNvPr id="1049" name="Object 76"/>
                <p:cNvSpPr txBox="1"/>
                <p:nvPr/>
              </p:nvSpPr>
              <p:spPr>
                <a:xfrm>
                  <a:off x="6327720" y="1203480"/>
                  <a:ext cx="345960" cy="41436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1049" name="Object 76"/>
                <p:cNvSpPr txBox="1"/>
                <p:nvPr/>
              </p:nvSpPr>
              <p:spPr>
                <a:xfrm>
                  <a:off x="6327720" y="1203480"/>
                  <a:ext cx="345960" cy="414360"/>
                </a:xfrm>
                <a:prstGeom prst="rect">
                  <a:avLst/>
                </a:prstGeom>
                <a:blipFill>
                  <a:blip r:embed="rId17"/>
                  <a:stretch>
                    <a:fillRect/>
                  </a:stretch>
                </a:blipFill>
              </p:spPr>
            </p:sp>
          </mc:Fallback>
        </mc:AlternateContent>
        <mc:AlternateContent>
          <mc:Choice xmlns:a14="http://schemas.microsoft.com/office/drawing/2010/main" Requires="a14">
            <p:sp>
              <p:nvSpPr>
                <p:cNvPr id="1050" name="Object 77"/>
                <p:cNvSpPr txBox="1"/>
                <p:nvPr/>
              </p:nvSpPr>
              <p:spPr>
                <a:xfrm>
                  <a:off x="7410600" y="1249200"/>
                  <a:ext cx="583920" cy="322560"/>
                </a:xfrm>
                <a:prstGeom prst="rect">
                  <a:avLst/>
                </a:prstGeom>
              </p:spPr>
              <p:txBody>
                <a:bodyPr/>
                <a:p>
                  <a14:m>
                    <m:oMath xmlns:m="http://schemas.openxmlformats.org/officeDocument/2006/math">
                      <m:r>
                        <m:rPr>
                          <m:lit/>
                          <m:nor/>
                        </m:rPr>
                        <m:t xml:space="preserve">20</m:t>
                      </m:r>
                      <m:sSup>
                        <m:e>
                          <m:r>
                            <m:t xml:space="preserve">s</m:t>
                          </m:r>
                        </m:e>
                        <m:sup>
                          <m:r>
                            <m:t xml:space="preserve">−</m:t>
                          </m:r>
                          <m:r>
                            <m:t xml:space="preserve">1</m:t>
                          </m:r>
                        </m:sup>
                      </m:sSup>
                    </m:oMath>
                  </a14:m>
                </a:p>
              </p:txBody>
            </p:sp>
          </mc:Choice>
          <mc:Fallback>
            <p:sp>
              <p:nvSpPr>
                <p:cNvPr id="1050" name="Object 77"/>
                <p:cNvSpPr txBox="1"/>
                <p:nvPr/>
              </p:nvSpPr>
              <p:spPr>
                <a:xfrm>
                  <a:off x="7410600" y="1249200"/>
                  <a:ext cx="583920" cy="322560"/>
                </a:xfrm>
                <a:prstGeom prst="rect">
                  <a:avLst/>
                </a:prstGeom>
                <a:blipFill>
                  <a:blip r:embed="rId18"/>
                  <a:stretch>
                    <a:fillRect/>
                  </a:stretch>
                </a:blipFill>
              </p:spPr>
            </p:sp>
          </mc:Fallback>
        </mc:AlternateContent>
      </p:grpSp>
      <mc:AlternateContent>
        <mc:Choice xmlns:a14="http://schemas.microsoft.com/office/drawing/2010/main" Requires="a14">
          <p:sp>
            <p:nvSpPr>
              <p:cNvPr id="1051" name="Object 79"/>
              <p:cNvSpPr txBox="1"/>
              <p:nvPr/>
            </p:nvSpPr>
            <p:spPr>
              <a:xfrm>
                <a:off x="385920" y="1989000"/>
                <a:ext cx="1618920" cy="351000"/>
              </a:xfrm>
              <a:prstGeom prst="rect">
                <a:avLst/>
              </a:prstGeom>
            </p:spPr>
            <p:txBody>
              <a:bodyPr/>
              <a:p>
                <a14:m>
                  <m:oMath xmlns:m="http://schemas.openxmlformats.org/officeDocument/2006/math">
                    <m:r>
                      <m:rPr>
                        <m:lit/>
                        <m:nor/>
                      </m:rPr>
                      <m:t xml:space="preserve">20</m:t>
                    </m:r>
                    <m:r>
                      <m:rPr>
                        <m:lit/>
                        <m:nor/>
                      </m:rPr>
                      <m:t xml:space="preserve">lg</m:t>
                    </m:r>
                    <m:r>
                      <m:t xml:space="preserve">β</m:t>
                    </m:r>
                    <m:r>
                      <m:t xml:space="preserve">=</m:t>
                    </m:r>
                    <m:r>
                      <m:rPr>
                        <m:lit/>
                        <m:nor/>
                      </m:rPr>
                      <m:t xml:space="preserve">14</m:t>
                    </m:r>
                    <m:r>
                      <m:rPr>
                        <m:lit/>
                        <m:nor/>
                      </m:rPr>
                      <m:t xml:space="preserve">dB</m:t>
                    </m:r>
                  </m:oMath>
                </a14:m>
              </a:p>
            </p:txBody>
          </p:sp>
        </mc:Choice>
        <mc:Fallback>
          <p:sp>
            <p:nvSpPr>
              <p:cNvPr id="1051" name="Object 79"/>
              <p:cNvSpPr txBox="1"/>
              <p:nvPr/>
            </p:nvSpPr>
            <p:spPr>
              <a:xfrm>
                <a:off x="385920" y="1989000"/>
                <a:ext cx="1618920" cy="351000"/>
              </a:xfrm>
              <a:prstGeom prst="rect">
                <a:avLst/>
              </a:prstGeom>
              <a:blipFill>
                <a:blip r:embed="rId19"/>
                <a:stretch>
                  <a:fillRect/>
                </a:stretch>
              </a:blipFill>
            </p:spPr>
          </p:sp>
        </mc:Fallback>
      </mc:AlternateContent>
      <mc:AlternateContent>
        <mc:Choice xmlns:a14="http://schemas.microsoft.com/office/drawing/2010/main" Requires="a14">
          <p:sp>
            <p:nvSpPr>
              <p:cNvPr id="1052" name="Object 80"/>
              <p:cNvSpPr txBox="1"/>
              <p:nvPr/>
            </p:nvSpPr>
            <p:spPr>
              <a:xfrm>
                <a:off x="2502000" y="1943280"/>
                <a:ext cx="761760" cy="406080"/>
              </a:xfrm>
              <a:prstGeom prst="rect">
                <a:avLst/>
              </a:prstGeom>
            </p:spPr>
            <p:txBody>
              <a:bodyPr/>
              <a:p>
                <a14:m>
                  <m:oMath xmlns:m="http://schemas.openxmlformats.org/officeDocument/2006/math">
                    <m:r>
                      <m:t xml:space="preserve">β</m:t>
                    </m:r>
                    <m:r>
                      <m:t xml:space="preserve">=</m:t>
                    </m:r>
                    <m:r>
                      <m:t xml:space="preserve">5</m:t>
                    </m:r>
                  </m:oMath>
                </a14:m>
              </a:p>
            </p:txBody>
          </p:sp>
        </mc:Choice>
        <mc:Fallback>
          <p:sp>
            <p:nvSpPr>
              <p:cNvPr id="1052" name="Object 80"/>
              <p:cNvSpPr txBox="1"/>
              <p:nvPr/>
            </p:nvSpPr>
            <p:spPr>
              <a:xfrm>
                <a:off x="2502000" y="1943280"/>
                <a:ext cx="761760" cy="406080"/>
              </a:xfrm>
              <a:prstGeom prst="rect">
                <a:avLst/>
              </a:prstGeom>
              <a:blipFill>
                <a:blip r:embed="rId20"/>
                <a:stretch>
                  <a:fillRect/>
                </a:stretch>
              </a:blipFill>
            </p:spPr>
          </p:sp>
        </mc:Fallback>
      </mc:AlternateContent>
      <mc:AlternateContent>
        <mc:Choice xmlns:a14="http://schemas.microsoft.com/office/drawing/2010/main" Requires="a14">
          <p:sp>
            <p:nvSpPr>
              <p:cNvPr id="1053" name="Object 81"/>
              <p:cNvSpPr txBox="1"/>
              <p:nvPr/>
            </p:nvSpPr>
            <p:spPr>
              <a:xfrm>
                <a:off x="611280" y="2438280"/>
                <a:ext cx="2108160" cy="457200"/>
              </a:xfrm>
              <a:prstGeom prst="rect">
                <a:avLst/>
              </a:prstGeom>
            </p:spPr>
            <p:txBody>
              <a:bodyPr/>
              <a:p>
                <a14:m>
                  <m:oMath xmlns:m="http://schemas.openxmlformats.org/officeDocument/2006/math">
                    <m:f>
                      <m:fPr>
                        <m:type m:val="lin"/>
                      </m:fPr>
                      <m:num>
                        <m:r>
                          <m:t xml:space="preserve">1</m:t>
                        </m:r>
                      </m:num>
                      <m:den>
                        <m:sSub>
                          <m:e>
                            <m:r>
                              <m:t xml:space="preserve">T</m:t>
                            </m:r>
                          </m:e>
                          <m:sub>
                            <m:r>
                              <m:t xml:space="preserve">2</m:t>
                            </m:r>
                          </m:sub>
                        </m:sSub>
                      </m:den>
                    </m:f>
                    <m:r>
                      <m:t xml:space="preserve">=</m:t>
                    </m:r>
                    <m:f>
                      <m:fPr>
                        <m:type m:val="lin"/>
                      </m:fPr>
                      <m:num>
                        <m:sSub>
                          <m:e>
                            <m:r>
                              <m:t xml:space="preserve">ω</m:t>
                            </m:r>
                          </m:e>
                          <m:sub>
                            <m:r>
                              <m:t xml:space="preserve">c</m:t>
                            </m:r>
                          </m:sub>
                        </m:sSub>
                      </m:num>
                      <m:den>
                        <m:r>
                          <m:t xml:space="preserve">5</m:t>
                        </m:r>
                      </m:den>
                    </m:f>
                    <m:r>
                      <m:t xml:space="preserve">=</m:t>
                    </m:r>
                    <m:r>
                      <m:t xml:space="preserve">4</m:t>
                    </m:r>
                  </m:oMath>
                </a14:m>
              </a:p>
            </p:txBody>
          </p:sp>
        </mc:Choice>
        <mc:Fallback>
          <p:sp>
            <p:nvSpPr>
              <p:cNvPr id="1053" name="Object 81"/>
              <p:cNvSpPr txBox="1"/>
              <p:nvPr/>
            </p:nvSpPr>
            <p:spPr>
              <a:xfrm>
                <a:off x="611280" y="2438280"/>
                <a:ext cx="2108160" cy="457200"/>
              </a:xfrm>
              <a:prstGeom prst="rect">
                <a:avLst/>
              </a:prstGeom>
              <a:blipFill>
                <a:blip r:embed="rId21"/>
                <a:stretch>
                  <a:fillRect/>
                </a:stretch>
              </a:blipFill>
            </p:spPr>
          </p:sp>
        </mc:Fallback>
      </mc:AlternateContent>
      <mc:AlternateContent>
        <mc:Choice xmlns:a14="http://schemas.microsoft.com/office/drawing/2010/main" Requires="a14">
          <p:sp>
            <p:nvSpPr>
              <p:cNvPr id="1054" name="Object 82"/>
              <p:cNvSpPr txBox="1"/>
              <p:nvPr/>
            </p:nvSpPr>
            <p:spPr>
              <a:xfrm>
                <a:off x="566640" y="2979720"/>
                <a:ext cx="1548000" cy="431640"/>
              </a:xfrm>
              <a:prstGeom prst="rect">
                <a:avLst/>
              </a:prstGeom>
            </p:spPr>
            <p:txBody>
              <a:bodyPr/>
              <a:p>
                <a14:m>
                  <m:oMath xmlns:m="http://schemas.openxmlformats.org/officeDocument/2006/math">
                    <m:f>
                      <m:fPr>
                        <m:type m:val="lin"/>
                      </m:fPr>
                      <m:num>
                        <m:r>
                          <m:t xml:space="preserve">1</m:t>
                        </m:r>
                      </m:num>
                      <m:den>
                        <m:sSub>
                          <m:e>
                            <m:r>
                              <m:t xml:space="preserve">βT</m:t>
                            </m:r>
                          </m:e>
                          <m:sub>
                            <m:r>
                              <m:t xml:space="preserve">2</m:t>
                            </m:r>
                          </m:sub>
                        </m:sSub>
                      </m:den>
                    </m:f>
                    <m:r>
                      <m:t xml:space="preserve">=</m:t>
                    </m:r>
                    <m:r>
                      <m:t xml:space="preserve">0</m:t>
                    </m:r>
                    <m:r>
                      <m:rPr>
                        <m:lit/>
                        <m:nor/>
                      </m:rPr>
                      <m:t xml:space="preserve">.</m:t>
                    </m:r>
                    <m:r>
                      <m:t xml:space="preserve">8</m:t>
                    </m:r>
                  </m:oMath>
                </a14:m>
              </a:p>
            </p:txBody>
          </p:sp>
        </mc:Choice>
        <mc:Fallback>
          <p:sp>
            <p:nvSpPr>
              <p:cNvPr id="1054" name="Object 82"/>
              <p:cNvSpPr txBox="1"/>
              <p:nvPr/>
            </p:nvSpPr>
            <p:spPr>
              <a:xfrm>
                <a:off x="566640" y="2979720"/>
                <a:ext cx="1548000" cy="431640"/>
              </a:xfrm>
              <a:prstGeom prst="rect">
                <a:avLst/>
              </a:prstGeom>
              <a:blipFill>
                <a:blip r:embed="rId22"/>
                <a:stretch>
                  <a:fillRect/>
                </a:stretch>
              </a:blipFill>
            </p:spPr>
          </p:sp>
        </mc:Fallback>
      </mc:AlternateContent>
      <mc:AlternateContent>
        <mc:Choice xmlns:a14="http://schemas.microsoft.com/office/drawing/2010/main" Requires="a14">
          <p:sp>
            <p:nvSpPr>
              <p:cNvPr id="1055" name="Object 83"/>
              <p:cNvSpPr txBox="1"/>
              <p:nvPr/>
            </p:nvSpPr>
            <p:spPr>
              <a:xfrm>
                <a:off x="657360" y="3608280"/>
                <a:ext cx="2311200" cy="787680"/>
              </a:xfrm>
              <a:prstGeom prst="rect">
                <a:avLst/>
              </a:prstGeom>
            </p:spPr>
            <p:txBody>
              <a:bodyPr/>
              <a:p>
                <a14:m>
                  <m:oMath xmlns:m="http://schemas.openxmlformats.org/officeDocument/2006/math">
                    <m:sSub>
                      <m:e>
                        <m:r>
                          <m:t xml:space="preserve">G</m:t>
                        </m:r>
                      </m:e>
                      <m:sub>
                        <m:r>
                          <m:t xml:space="preserve">c</m:t>
                        </m:r>
                        <m:r>
                          <m:t xml:space="preserve">2</m:t>
                        </m:r>
                      </m:sub>
                    </m:sSub>
                    <m:r>
                      <m:t xml:space="preserve">(</m:t>
                    </m:r>
                    <m:r>
                      <m:t xml:space="preserve">s</m:t>
                    </m:r>
                    <m:r>
                      <m:t xml:space="preserve">)</m:t>
                    </m:r>
                    <m:r>
                      <m:t xml:space="preserve">=</m:t>
                    </m:r>
                    <m:f>
                      <m:num>
                        <m:r>
                          <m:t xml:space="preserve">0</m:t>
                        </m:r>
                        <m:r>
                          <m:rPr>
                            <m:lit/>
                            <m:nor/>
                          </m:rPr>
                          <m:t xml:space="preserve">.</m:t>
                        </m:r>
                        <m:r>
                          <m:rPr>
                            <m:lit/>
                            <m:nor/>
                          </m:rPr>
                          <m:t xml:space="preserve">25</m:t>
                        </m:r>
                        <m:r>
                          <m:t xml:space="preserve">s</m:t>
                        </m:r>
                        <m:r>
                          <m:t xml:space="preserve">+</m:t>
                        </m:r>
                        <m:r>
                          <m:t xml:space="preserve">1</m:t>
                        </m:r>
                      </m:num>
                      <m:den>
                        <m:r>
                          <m:t xml:space="preserve">1</m:t>
                        </m:r>
                        <m:r>
                          <m:rPr>
                            <m:lit/>
                            <m:nor/>
                          </m:rPr>
                          <m:t xml:space="preserve">.</m:t>
                        </m:r>
                        <m:r>
                          <m:rPr>
                            <m:lit/>
                            <m:nor/>
                          </m:rPr>
                          <m:t xml:space="preserve">25</m:t>
                        </m:r>
                        <m:r>
                          <m:t xml:space="preserve">s</m:t>
                        </m:r>
                        <m:r>
                          <m:t xml:space="preserve">+</m:t>
                        </m:r>
                        <m:r>
                          <m:t xml:space="preserve">1</m:t>
                        </m:r>
                      </m:den>
                    </m:f>
                  </m:oMath>
                </a14:m>
              </a:p>
            </p:txBody>
          </p:sp>
        </mc:Choice>
        <mc:Fallback>
          <p:sp>
            <p:nvSpPr>
              <p:cNvPr id="1055" name="Object 83"/>
              <p:cNvSpPr txBox="1"/>
              <p:nvPr/>
            </p:nvSpPr>
            <p:spPr>
              <a:xfrm>
                <a:off x="657360" y="3608280"/>
                <a:ext cx="2311200" cy="787680"/>
              </a:xfrm>
              <a:prstGeom prst="rect">
                <a:avLst/>
              </a:prstGeom>
              <a:blipFill>
                <a:blip r:embed="rId23"/>
                <a:stretch>
                  <a:fillRect/>
                </a:stretch>
              </a:blipFill>
            </p:spPr>
          </p:sp>
        </mc:Fallback>
      </mc:AlternateContent>
      <p:sp>
        <p:nvSpPr>
          <p:cNvPr id="1056" name="AutoShape 85"/>
          <p:cNvSpPr/>
          <p:nvPr/>
        </p:nvSpPr>
        <p:spPr>
          <a:xfrm>
            <a:off x="2141640" y="2079720"/>
            <a:ext cx="269640" cy="135000"/>
          </a:xfrm>
          <a:prstGeom prst="rightArrow">
            <a:avLst>
              <a:gd name="adj1" fmla="val 50000"/>
              <a:gd name="adj2" fmla="val 49933"/>
            </a:avLst>
          </a:prstGeom>
          <a:solidFill>
            <a:srgbClr val="800000"/>
          </a:solidFill>
          <a:ln w="0">
            <a:noFill/>
          </a:ln>
        </p:spPr>
        <p:style>
          <a:lnRef idx="0"/>
          <a:fillRef idx="0"/>
          <a:effectRef idx="0"/>
          <a:fontRef idx="minor"/>
        </p:style>
        <p:txBody>
          <a:bodyPr wrap="none" lIns="90000" tIns="20880" rIns="90000" bIns="2088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57" name="AutoShape 86"/>
          <p:cNvSpPr/>
          <p:nvPr/>
        </p:nvSpPr>
        <p:spPr>
          <a:xfrm>
            <a:off x="1557360" y="3384720"/>
            <a:ext cx="179280" cy="358560"/>
          </a:xfrm>
          <a:prstGeom prst="downArrow">
            <a:avLst>
              <a:gd name="adj1" fmla="val 50000"/>
              <a:gd name="adj2" fmla="val 50000"/>
            </a:avLst>
          </a:prstGeom>
          <a:solidFill>
            <a:srgbClr val="800000"/>
          </a:solidFill>
          <a:ln w="0">
            <a:noFill/>
          </a:ln>
        </p:spPr>
        <p:style>
          <a:lnRef idx="0"/>
          <a:fillRef idx="0"/>
          <a:effectRef idx="0"/>
          <a:fontRef idx="minor"/>
        </p:style>
        <p:txBody>
          <a:bodyPr wrap="none" lIns="46800" tIns="90000" rIns="46800" bIns="90000" anchor="ctr" anchorCtr="1" vert="eaVe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1058" name="Group 93"/>
          <p:cNvGrpSpPr/>
          <p:nvPr/>
        </p:nvGrpSpPr>
        <p:grpSpPr>
          <a:xfrm>
            <a:off x="4211640" y="3878280"/>
            <a:ext cx="3059280" cy="630360"/>
            <a:chOff x="4211640" y="3878280"/>
            <a:chExt cx="3059280" cy="630360"/>
          </a:xfrm>
        </p:grpSpPr>
        <p:sp>
          <p:nvSpPr>
            <p:cNvPr id="1059" name="Line 87"/>
            <p:cNvSpPr/>
            <p:nvPr/>
          </p:nvSpPr>
          <p:spPr>
            <a:xfrm>
              <a:off x="4211640" y="4103640"/>
              <a:ext cx="404640" cy="0"/>
            </a:xfrm>
            <a:prstGeom prst="line">
              <a:avLst/>
            </a:prstGeom>
            <a:ln w="25560">
              <a:solidFill>
                <a:srgbClr val="3366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60" name="Line 88"/>
            <p:cNvSpPr/>
            <p:nvPr/>
          </p:nvSpPr>
          <p:spPr>
            <a:xfrm>
              <a:off x="4616280" y="4103640"/>
              <a:ext cx="811440" cy="405000"/>
            </a:xfrm>
            <a:prstGeom prst="line">
              <a:avLst/>
            </a:prstGeom>
            <a:ln w="25560">
              <a:solidFill>
                <a:srgbClr val="3366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61" name="Line 89"/>
            <p:cNvSpPr/>
            <p:nvPr/>
          </p:nvSpPr>
          <p:spPr>
            <a:xfrm>
              <a:off x="5381640" y="4508640"/>
              <a:ext cx="719280" cy="0"/>
            </a:xfrm>
            <a:prstGeom prst="line">
              <a:avLst/>
            </a:prstGeom>
            <a:ln w="25560">
              <a:solidFill>
                <a:srgbClr val="3366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62" name="Line 90"/>
            <p:cNvSpPr/>
            <p:nvPr/>
          </p:nvSpPr>
          <p:spPr>
            <a:xfrm flipV="1">
              <a:off x="6102360" y="4194000"/>
              <a:ext cx="450720" cy="314640"/>
            </a:xfrm>
            <a:prstGeom prst="line">
              <a:avLst/>
            </a:prstGeom>
            <a:ln w="25560">
              <a:solidFill>
                <a:srgbClr val="3366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63" name="Line 91"/>
            <p:cNvSpPr/>
            <p:nvPr/>
          </p:nvSpPr>
          <p:spPr>
            <a:xfrm>
              <a:off x="6551640" y="4194000"/>
              <a:ext cx="719280" cy="0"/>
            </a:xfrm>
            <a:prstGeom prst="line">
              <a:avLst/>
            </a:prstGeom>
            <a:ln w="25560">
              <a:solidFill>
                <a:srgbClr val="3366FF"/>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64" name="Freeform 92"/>
            <p:cNvSpPr/>
            <p:nvPr/>
          </p:nvSpPr>
          <p:spPr>
            <a:xfrm>
              <a:off x="4302000" y="3878280"/>
              <a:ext cx="2683080" cy="495360"/>
            </a:xfrm>
            <a:custGeom>
              <a:avLst/>
              <a:gdLst>
                <a:gd name="GluePoint1X" fmla="*/ 0 w 1690"/>
                <a:gd name="GluePoint1Y" fmla="*/ 129 h 345"/>
                <a:gd name="GluePoint2X" fmla="*/ 146 w 1690"/>
                <a:gd name="GluePoint2Y" fmla="*/ 143 h 345"/>
                <a:gd name="GluePoint3X" fmla="*/ 258 w 1690"/>
                <a:gd name="GluePoint3Y" fmla="*/ 178 h 345"/>
                <a:gd name="GluePoint4X" fmla="*/ 378 w 1690"/>
                <a:gd name="GluePoint4Y" fmla="*/ 232 h 345"/>
                <a:gd name="GluePoint5X" fmla="*/ 482 w 1690"/>
                <a:gd name="GluePoint5Y" fmla="*/ 255 h 345"/>
                <a:gd name="GluePoint6X" fmla="*/ 624 w 1690"/>
                <a:gd name="GluePoint6Y" fmla="*/ 234 h 345"/>
                <a:gd name="GluePoint7X" fmla="*/ 810 w 1690"/>
                <a:gd name="GluePoint7Y" fmla="*/ 160 h 345"/>
                <a:gd name="GluePoint8X" fmla="*/ 954 w 1690"/>
                <a:gd name="GluePoint8Y" fmla="*/ 83 h 345"/>
                <a:gd name="GluePoint9X" fmla="*/ 1122 w 1690"/>
                <a:gd name="GluePoint9Y" fmla="*/ 13 h 345"/>
                <a:gd name="GluePoint10X" fmla="*/ 1242 w 1690"/>
                <a:gd name="GluePoint10Y" fmla="*/ 6 h 345"/>
                <a:gd name="GluePoint11X" fmla="*/ 1330 w 1690"/>
                <a:gd name="GluePoint11Y" fmla="*/ 24 h 345"/>
                <a:gd name="GluePoint12X" fmla="*/ 1402 w 1690"/>
                <a:gd name="GluePoint12Y" fmla="*/ 60 h 345"/>
                <a:gd name="GluePoint13X" fmla="*/ 1522 w 1690"/>
                <a:gd name="GluePoint13Y" fmla="*/ 83 h 345"/>
                <a:gd name="GluePoint14X" fmla="*/ 1690 w 1690"/>
                <a:gd name="GluePoint14Y" fmla="*/ 96 h 3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l" t="t" r="r" b="b"/>
              <a:pathLst>
                <a:path w="1690" h="345">
                  <a:moveTo>
                    <a:pt x="0" y="175"/>
                  </a:moveTo>
                  <a:cubicBezTo>
                    <a:pt x="24" y="178"/>
                    <a:pt x="103" y="182"/>
                    <a:pt x="146" y="193"/>
                  </a:cubicBezTo>
                  <a:cubicBezTo>
                    <a:pt x="189" y="204"/>
                    <a:pt x="219" y="221"/>
                    <a:pt x="258" y="241"/>
                  </a:cubicBezTo>
                  <a:cubicBezTo>
                    <a:pt x="297" y="261"/>
                    <a:pt x="341" y="296"/>
                    <a:pt x="378" y="313"/>
                  </a:cubicBezTo>
                  <a:cubicBezTo>
                    <a:pt x="415" y="330"/>
                    <a:pt x="441" y="345"/>
                    <a:pt x="482" y="345"/>
                  </a:cubicBezTo>
                  <a:cubicBezTo>
                    <a:pt x="523" y="345"/>
                    <a:pt x="569" y="337"/>
                    <a:pt x="624" y="316"/>
                  </a:cubicBezTo>
                  <a:cubicBezTo>
                    <a:pt x="679" y="295"/>
                    <a:pt x="755" y="251"/>
                    <a:pt x="810" y="217"/>
                  </a:cubicBezTo>
                  <a:cubicBezTo>
                    <a:pt x="865" y="183"/>
                    <a:pt x="902" y="146"/>
                    <a:pt x="954" y="113"/>
                  </a:cubicBezTo>
                  <a:cubicBezTo>
                    <a:pt x="1006" y="80"/>
                    <a:pt x="1074" y="34"/>
                    <a:pt x="1122" y="17"/>
                  </a:cubicBezTo>
                  <a:cubicBezTo>
                    <a:pt x="1170" y="0"/>
                    <a:pt x="1207" y="6"/>
                    <a:pt x="1242" y="9"/>
                  </a:cubicBezTo>
                  <a:cubicBezTo>
                    <a:pt x="1277" y="12"/>
                    <a:pt x="1303" y="21"/>
                    <a:pt x="1330" y="33"/>
                  </a:cubicBezTo>
                  <a:cubicBezTo>
                    <a:pt x="1357" y="45"/>
                    <a:pt x="1370" y="68"/>
                    <a:pt x="1402" y="81"/>
                  </a:cubicBezTo>
                  <a:cubicBezTo>
                    <a:pt x="1434" y="94"/>
                    <a:pt x="1474" y="105"/>
                    <a:pt x="1522" y="113"/>
                  </a:cubicBezTo>
                  <a:cubicBezTo>
                    <a:pt x="1570" y="121"/>
                    <a:pt x="1655" y="126"/>
                    <a:pt x="1690" y="129"/>
                  </a:cubicBezTo>
                </a:path>
              </a:pathLst>
            </a:custGeom>
            <a:noFill/>
            <a:ln w="25560">
              <a:solidFill>
                <a:srgbClr val="3366FF"/>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grpSp>
        <p:nvGrpSpPr>
          <p:cNvPr id="1065" name="Group 194"/>
          <p:cNvGrpSpPr/>
          <p:nvPr/>
        </p:nvGrpSpPr>
        <p:grpSpPr>
          <a:xfrm>
            <a:off x="250920" y="4734000"/>
            <a:ext cx="3085920" cy="1439640"/>
            <a:chOff x="250920" y="4734000"/>
            <a:chExt cx="3085920" cy="1439640"/>
          </a:xfrm>
        </p:grpSpPr>
        <p:sp>
          <p:nvSpPr>
            <p:cNvPr id="1066" name="Rectangle 95"/>
            <p:cNvSpPr/>
            <p:nvPr/>
          </p:nvSpPr>
          <p:spPr>
            <a:xfrm>
              <a:off x="250920" y="4734000"/>
              <a:ext cx="3060720" cy="1439640"/>
            </a:xfrm>
            <a:prstGeom prst="rect">
              <a:avLst/>
            </a:prstGeom>
            <a:solidFill>
              <a:srgbClr val="FFCCCC"/>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mc:AlternateContent>
          <mc:Choice xmlns:a14="http://schemas.microsoft.com/office/drawing/2010/main" Requires="a14">
            <p:sp>
              <p:nvSpPr>
                <p:cNvPr id="1067" name="Object 94"/>
                <p:cNvSpPr txBox="1"/>
                <p:nvPr/>
              </p:nvSpPr>
              <p:spPr>
                <a:xfrm>
                  <a:off x="341280" y="4824360"/>
                  <a:ext cx="2995560" cy="1320840"/>
                </a:xfrm>
                <a:prstGeom prst="rect">
                  <a:avLst/>
                </a:prstGeom>
              </p:spPr>
              <p:txBody>
                <a:bodyPr/>
                <a:p>
                  <a14:m>
                    <m:oMath xmlns:m="http://schemas.openxmlformats.org/officeDocument/2006/math">
                      <m:eqArr>
                        <m:e>
                          <m:sSub>
                            <m:e>
                              <m:r>
                                <m:t xml:space="preserve">G</m:t>
                              </m:r>
                            </m:e>
                            <m:sub>
                              <m:r>
                                <m:t xml:space="preserve">c</m:t>
                              </m:r>
                            </m:sub>
                          </m:sSub>
                          <m:r>
                            <m:t xml:space="preserve">(</m:t>
                          </m:r>
                          <m:r>
                            <m:t xml:space="preserve">s</m:t>
                          </m:r>
                          <m:r>
                            <m:t xml:space="preserve">)</m:t>
                          </m:r>
                          <m:r>
                            <m:t xml:space="preserve">=</m:t>
                          </m:r>
                          <m:sSub>
                            <m:e>
                              <m:r>
                                <m:t xml:space="preserve">G</m:t>
                              </m:r>
                            </m:e>
                            <m:sub>
                              <m:r>
                                <m:t xml:space="preserve">c</m:t>
                              </m:r>
                              <m:r>
                                <m:t xml:space="preserve">1</m:t>
                              </m:r>
                            </m:sub>
                          </m:sSub>
                          <m:r>
                            <m:t xml:space="preserve">(</m:t>
                          </m:r>
                          <m:r>
                            <m:t xml:space="preserve">s</m:t>
                          </m:r>
                          <m:r>
                            <m:t xml:space="preserve">)</m:t>
                          </m:r>
                          <m:sSub>
                            <m:e>
                              <m:r>
                                <m:t xml:space="preserve">G</m:t>
                              </m:r>
                            </m:e>
                            <m:sub>
                              <m:r>
                                <m:t xml:space="preserve">c</m:t>
                              </m:r>
                              <m:r>
                                <m:t xml:space="preserve">2</m:t>
                              </m:r>
                            </m:sub>
                          </m:sSub>
                          <m:r>
                            <m:t xml:space="preserve">(</m:t>
                          </m:r>
                          <m:r>
                            <m:t xml:space="preserve">s</m:t>
                          </m:r>
                          <m:r>
                            <m:t xml:space="preserve">)</m:t>
                          </m:r>
                        </m:e>
                        <m:e>
                          <m:f>
                            <m:num>
                              <m:r>
                                <m:t xml:space="preserve">(</m:t>
                              </m:r>
                              <m:r>
                                <m:t xml:space="preserve">0</m:t>
                              </m:r>
                              <m:r>
                                <m:rPr>
                                  <m:lit/>
                                  <m:nor/>
                                </m:rPr>
                                <m:t xml:space="preserve">.</m:t>
                              </m:r>
                              <m:r>
                                <m:rPr>
                                  <m:lit/>
                                  <m:nor/>
                                </m:rPr>
                                <m:t xml:space="preserve">25</m:t>
                              </m:r>
                              <m:r>
                                <m:t xml:space="preserve">s</m:t>
                              </m:r>
                              <m:r>
                                <m:t xml:space="preserve">+</m:t>
                              </m:r>
                              <m:r>
                                <m:t xml:space="preserve">1</m:t>
                              </m:r>
                              <m:r>
                                <m:t xml:space="preserve">)</m:t>
                              </m:r>
                              <m:r>
                                <m:t xml:space="preserve">(</m:t>
                              </m:r>
                              <m:r>
                                <m:t xml:space="preserve">0</m:t>
                              </m:r>
                              <m:r>
                                <m:rPr>
                                  <m:lit/>
                                  <m:nor/>
                                </m:rPr>
                                <m:t xml:space="preserve">.</m:t>
                              </m:r>
                              <m:r>
                                <m:t xml:space="preserve">1</m:t>
                              </m:r>
                              <m:r>
                                <m:t xml:space="preserve">s</m:t>
                              </m:r>
                              <m:r>
                                <m:t xml:space="preserve">+</m:t>
                              </m:r>
                              <m:r>
                                <m:t xml:space="preserve">1</m:t>
                              </m:r>
                              <m:r>
                                <m:t xml:space="preserve">)</m:t>
                              </m:r>
                            </m:num>
                            <m:den>
                              <m:r>
                                <m:t xml:space="preserve">(</m:t>
                              </m:r>
                              <m:r>
                                <m:t xml:space="preserve">1</m:t>
                              </m:r>
                              <m:r>
                                <m:rPr>
                                  <m:lit/>
                                  <m:nor/>
                                </m:rPr>
                                <m:t xml:space="preserve">.</m:t>
                              </m:r>
                              <m:r>
                                <m:rPr>
                                  <m:lit/>
                                  <m:nor/>
                                </m:rPr>
                                <m:t xml:space="preserve">25</m:t>
                              </m:r>
                              <m:r>
                                <m:t xml:space="preserve">s</m:t>
                              </m:r>
                              <m:r>
                                <m:t xml:space="preserve">+</m:t>
                              </m:r>
                              <m:r>
                                <m:t xml:space="preserve">1</m:t>
                              </m:r>
                              <m:r>
                                <m:t xml:space="preserve">)</m:t>
                              </m:r>
                              <m:r>
                                <m:t xml:space="preserve">(</m:t>
                              </m:r>
                              <m:r>
                                <m:t xml:space="preserve">0</m:t>
                              </m:r>
                              <m:r>
                                <m:rPr>
                                  <m:lit/>
                                  <m:nor/>
                                </m:rPr>
                                <m:t xml:space="preserve">.</m:t>
                              </m:r>
                              <m:r>
                                <m:rPr>
                                  <m:lit/>
                                  <m:nor/>
                                </m:rPr>
                                <m:t xml:space="preserve">022</m:t>
                              </m:r>
                              <m:r>
                                <m:t xml:space="preserve">s</m:t>
                              </m:r>
                              <m:r>
                                <m:t xml:space="preserve">+</m:t>
                              </m:r>
                              <m:r>
                                <m:t xml:space="preserve">1</m:t>
                              </m:r>
                              <m:r>
                                <m:t xml:space="preserve">)</m:t>
                              </m:r>
                            </m:den>
                          </m:f>
                        </m:e>
                      </m:eqArr>
                    </m:oMath>
                  </a14:m>
                </a:p>
              </p:txBody>
            </p:sp>
          </mc:Choice>
          <mc:Fallback>
            <p:sp>
              <p:nvSpPr>
                <p:cNvPr id="1067" name="Object 94"/>
                <p:cNvSpPr txBox="1"/>
                <p:nvPr/>
              </p:nvSpPr>
              <p:spPr>
                <a:xfrm>
                  <a:off x="341280" y="4824360"/>
                  <a:ext cx="2995560" cy="1320840"/>
                </a:xfrm>
                <a:prstGeom prst="rect">
                  <a:avLst/>
                </a:prstGeom>
                <a:blipFill>
                  <a:blip r:embed="rId24"/>
                  <a:stretch>
                    <a:fillRect/>
                  </a:stretch>
                </a:blipFill>
              </p:spPr>
            </p:sp>
          </mc:Fallback>
        </mc:AlternateContent>
      </p:grpSp>
      <p:grpSp>
        <p:nvGrpSpPr>
          <p:cNvPr id="1068" name="Group 101"/>
          <p:cNvGrpSpPr/>
          <p:nvPr/>
        </p:nvGrpSpPr>
        <p:grpSpPr>
          <a:xfrm>
            <a:off x="4122720" y="2708280"/>
            <a:ext cx="3689280" cy="3241800"/>
            <a:chOff x="4122720" y="2708280"/>
            <a:chExt cx="3689280" cy="3241800"/>
          </a:xfrm>
        </p:grpSpPr>
        <p:sp>
          <p:nvSpPr>
            <p:cNvPr id="1069" name="Line 96"/>
            <p:cNvSpPr/>
            <p:nvPr/>
          </p:nvSpPr>
          <p:spPr>
            <a:xfrm>
              <a:off x="4616280" y="2708280"/>
              <a:ext cx="900360" cy="94464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70" name="Line 97"/>
            <p:cNvSpPr/>
            <p:nvPr/>
          </p:nvSpPr>
          <p:spPr>
            <a:xfrm>
              <a:off x="5516640" y="3654360"/>
              <a:ext cx="1214280" cy="67464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71" name="Line 98"/>
            <p:cNvSpPr/>
            <p:nvPr/>
          </p:nvSpPr>
          <p:spPr>
            <a:xfrm>
              <a:off x="6732720" y="4329000"/>
              <a:ext cx="630000" cy="63036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72" name="Line 99"/>
            <p:cNvSpPr/>
            <p:nvPr/>
          </p:nvSpPr>
          <p:spPr>
            <a:xfrm>
              <a:off x="7362720" y="4959360"/>
              <a:ext cx="449280" cy="990720"/>
            </a:xfrm>
            <a:prstGeom prst="line">
              <a:avLst/>
            </a:prstGeom>
            <a:ln w="25560">
              <a:solidFill>
                <a:srgbClr val="8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sp>
          <p:nvSpPr>
            <p:cNvPr id="1073" name="Freeform 100"/>
            <p:cNvSpPr/>
            <p:nvPr/>
          </p:nvSpPr>
          <p:spPr>
            <a:xfrm>
              <a:off x="4122720" y="4778280"/>
              <a:ext cx="3554280" cy="1081080"/>
            </a:xfrm>
            <a:custGeom>
              <a:avLst/>
              <a:gdLst>
                <a:gd name="GluePoint1X" fmla="*/ 0 w 2239"/>
                <a:gd name="GluePoint1Y" fmla="*/ 0 h 681"/>
                <a:gd name="GluePoint2X" fmla="*/ 255 w 2239"/>
                <a:gd name="GluePoint2Y" fmla="*/ 57 h 681"/>
                <a:gd name="GluePoint3X" fmla="*/ 475 w 2239"/>
                <a:gd name="GluePoint3Y" fmla="*/ 166 h 681"/>
                <a:gd name="GluePoint4X" fmla="*/ 627 w 2239"/>
                <a:gd name="GluePoint4Y" fmla="*/ 190 h 681"/>
                <a:gd name="GluePoint5X" fmla="*/ 795 w 2239"/>
                <a:gd name="GluePoint5Y" fmla="*/ 174 h 681"/>
                <a:gd name="GluePoint6X" fmla="*/ 931 w 2239"/>
                <a:gd name="GluePoint6Y" fmla="*/ 142 h 681"/>
                <a:gd name="GluePoint7X" fmla="*/ 1083 w 2239"/>
                <a:gd name="GluePoint7Y" fmla="*/ 94 h 681"/>
                <a:gd name="GluePoint8X" fmla="*/ 1247 w 2239"/>
                <a:gd name="GluePoint8Y" fmla="*/ 86 h 681"/>
                <a:gd name="GluePoint9X" fmla="*/ 1403 w 2239"/>
                <a:gd name="GluePoint9Y" fmla="*/ 110 h 681"/>
                <a:gd name="GluePoint10X" fmla="*/ 1579 w 2239"/>
                <a:gd name="GluePoint10Y" fmla="*/ 246 h 681"/>
                <a:gd name="GluePoint11X" fmla="*/ 1819 w 2239"/>
                <a:gd name="GluePoint11Y" fmla="*/ 470 h 681"/>
                <a:gd name="GluePoint12X" fmla="*/ 2051 w 2239"/>
                <a:gd name="GluePoint12Y" fmla="*/ 590 h 681"/>
                <a:gd name="GluePoint13X" fmla="*/ 2239 w 2239"/>
                <a:gd name="GluePoint13Y" fmla="*/ 681 h 6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2239" h="681">
                  <a:moveTo>
                    <a:pt x="0" y="0"/>
                  </a:moveTo>
                  <a:cubicBezTo>
                    <a:pt x="90" y="16"/>
                    <a:pt x="176" y="29"/>
                    <a:pt x="255" y="57"/>
                  </a:cubicBezTo>
                  <a:cubicBezTo>
                    <a:pt x="334" y="85"/>
                    <a:pt x="413" y="144"/>
                    <a:pt x="475" y="166"/>
                  </a:cubicBezTo>
                  <a:cubicBezTo>
                    <a:pt x="537" y="188"/>
                    <a:pt x="574" y="189"/>
                    <a:pt x="627" y="190"/>
                  </a:cubicBezTo>
                  <a:cubicBezTo>
                    <a:pt x="680" y="191"/>
                    <a:pt x="744" y="182"/>
                    <a:pt x="795" y="174"/>
                  </a:cubicBezTo>
                  <a:cubicBezTo>
                    <a:pt x="846" y="166"/>
                    <a:pt x="883" y="155"/>
                    <a:pt x="931" y="142"/>
                  </a:cubicBezTo>
                  <a:cubicBezTo>
                    <a:pt x="979" y="129"/>
                    <a:pt x="1030" y="103"/>
                    <a:pt x="1083" y="94"/>
                  </a:cubicBezTo>
                  <a:cubicBezTo>
                    <a:pt x="1136" y="85"/>
                    <a:pt x="1194" y="83"/>
                    <a:pt x="1247" y="86"/>
                  </a:cubicBezTo>
                  <a:cubicBezTo>
                    <a:pt x="1300" y="89"/>
                    <a:pt x="1348" y="83"/>
                    <a:pt x="1403" y="110"/>
                  </a:cubicBezTo>
                  <a:cubicBezTo>
                    <a:pt x="1458" y="137"/>
                    <a:pt x="1510" y="186"/>
                    <a:pt x="1579" y="246"/>
                  </a:cubicBezTo>
                  <a:cubicBezTo>
                    <a:pt x="1648" y="306"/>
                    <a:pt x="1740" y="413"/>
                    <a:pt x="1819" y="470"/>
                  </a:cubicBezTo>
                  <a:cubicBezTo>
                    <a:pt x="1898" y="527"/>
                    <a:pt x="1981" y="555"/>
                    <a:pt x="2051" y="590"/>
                  </a:cubicBezTo>
                  <a:cubicBezTo>
                    <a:pt x="2121" y="625"/>
                    <a:pt x="2200" y="662"/>
                    <a:pt x="2239" y="681"/>
                  </a:cubicBezTo>
                </a:path>
              </a:pathLst>
            </a:custGeom>
            <a:noFill/>
            <a:ln w="25560">
              <a:solidFill>
                <a:srgbClr val="800000"/>
              </a:solidFill>
              <a:roun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imes New Roman"/>
              </a:endParaRPr>
            </a:p>
          </p:txBody>
        </p:sp>
      </p:grpSp>
    </p:spTree>
  </p:cSld>
  <p:transition>
    <p:random/>
  </p:transition>
  <p:timing>
    <p:tnLst>
      <p:par>
        <p:cTn id="1038" dur="indefinite" restart="never" nodeType="tmRoot">
          <p:childTnLst>
            <p:seq>
              <p:cTn id="1039" dur="indefinite" nodeType="mainSeq">
                <p:childTnLst>
                  <p:par>
                    <p:cTn id="1040" fill="hold" nodeType="clickEffect">
                      <p:stCondLst>
                        <p:cond delay="indefinite"/>
                      </p:stCondLst>
                      <p:childTnLst>
                        <p:par>
                          <p:cTn id="1041" fill="hold" nodeType="withEffect">
                            <p:stCondLst>
                              <p:cond delay="0"/>
                            </p:stCondLst>
                            <p:childTnLst>
                              <p:par>
                                <p:cTn id="1042" presetID="3" presetClass="entr" fill="hold" nodeType="clickEffect" presetSubtype="10">
                                  <p:stCondLst>
                                    <p:cond delay="0"/>
                                  </p:stCondLst>
                                  <p:childTnLst>
                                    <p:set>
                                      <p:cBhvr>
                                        <p:cTn id="1043" dur="1" fill="hold">
                                          <p:stCondLst>
                                            <p:cond delay="0"/>
                                          </p:stCondLst>
                                        </p:cTn>
                                        <p:tgtEl>
                                          <p:spTgt spid="1043"/>
                                        </p:tgtEl>
                                        <p:attrNameLst>
                                          <p:attrName>style.visibility</p:attrName>
                                        </p:attrNameLst>
                                      </p:cBhvr>
                                      <p:to>
                                        <p:strVal val="visible"/>
                                      </p:to>
                                    </p:set>
                                    <p:animEffect transition="in" filter="blinds(horizontal)">
                                      <p:cBhvr additive="repl">
                                        <p:cTn id="1044" dur="500"/>
                                        <p:tgtEl>
                                          <p:spTgt spid="1043"/>
                                        </p:tgtEl>
                                      </p:cBhvr>
                                    </p:animEffect>
                                  </p:childTnLst>
                                </p:cTn>
                              </p:par>
                            </p:childTnLst>
                          </p:cTn>
                        </p:par>
                      </p:childTnLst>
                    </p:cTn>
                  </p:par>
                  <p:par>
                    <p:cTn id="1045" fill="hold" nodeType="clickEffect">
                      <p:stCondLst>
                        <p:cond delay="indefinite"/>
                      </p:stCondLst>
                      <p:childTnLst>
                        <p:par>
                          <p:cTn id="1046" fill="hold" nodeType="withEffect">
                            <p:stCondLst>
                              <p:cond delay="0"/>
                            </p:stCondLst>
                            <p:childTnLst>
                              <p:par>
                                <p:cTn id="1047" presetID="22" presetClass="entr" fill="hold" nodeType="clickEffect" presetSubtype="8">
                                  <p:stCondLst>
                                    <p:cond delay="0"/>
                                  </p:stCondLst>
                                  <p:childTnLst>
                                    <p:set>
                                      <p:cBhvr>
                                        <p:cTn id="1048" dur="1" fill="hold">
                                          <p:stCondLst>
                                            <p:cond delay="0"/>
                                          </p:stCondLst>
                                        </p:cTn>
                                        <p:tgtEl>
                                          <p:spTgt spid="1051"/>
                                        </p:tgtEl>
                                        <p:attrNameLst>
                                          <p:attrName>style.visibility</p:attrName>
                                        </p:attrNameLst>
                                      </p:cBhvr>
                                      <p:to>
                                        <p:strVal val="visible"/>
                                      </p:to>
                                    </p:set>
                                    <p:animEffect transition="in" filter="wipe(left)">
                                      <p:cBhvr additive="repl">
                                        <p:cTn id="1049" dur="500"/>
                                        <p:tgtEl>
                                          <p:spTgt spid="1051"/>
                                        </p:tgtEl>
                                      </p:cBhvr>
                                    </p:animEffect>
                                  </p:childTnLst>
                                </p:cTn>
                              </p:par>
                            </p:childTnLst>
                          </p:cTn>
                        </p:par>
                      </p:childTnLst>
                    </p:cTn>
                  </p:par>
                  <p:par>
                    <p:cTn id="1050" fill="hold" nodeType="clickEffect">
                      <p:stCondLst>
                        <p:cond delay="indefinite"/>
                      </p:stCondLst>
                      <p:childTnLst>
                        <p:par>
                          <p:cTn id="1051" fill="hold" nodeType="withEffect">
                            <p:stCondLst>
                              <p:cond delay="0"/>
                            </p:stCondLst>
                            <p:childTnLst>
                              <p:par>
                                <p:cTn id="1052" presetID="22" presetClass="entr" fill="hold" nodeType="clickEffect" presetSubtype="8">
                                  <p:stCondLst>
                                    <p:cond delay="0"/>
                                  </p:stCondLst>
                                  <p:childTnLst>
                                    <p:set>
                                      <p:cBhvr>
                                        <p:cTn id="1053" dur="1" fill="hold">
                                          <p:stCondLst>
                                            <p:cond delay="0"/>
                                          </p:stCondLst>
                                        </p:cTn>
                                        <p:tgtEl>
                                          <p:spTgt spid="1056"/>
                                        </p:tgtEl>
                                        <p:attrNameLst>
                                          <p:attrName>style.visibility</p:attrName>
                                        </p:attrNameLst>
                                      </p:cBhvr>
                                      <p:to>
                                        <p:strVal val="visible"/>
                                      </p:to>
                                    </p:set>
                                    <p:animEffect transition="in" filter="wipe(left)">
                                      <p:cBhvr additive="repl">
                                        <p:cTn id="1054" dur="500"/>
                                        <p:tgtEl>
                                          <p:spTgt spid="1056"/>
                                        </p:tgtEl>
                                      </p:cBhvr>
                                    </p:animEffect>
                                  </p:childTnLst>
                                </p:cTn>
                              </p:par>
                            </p:childTnLst>
                          </p:cTn>
                        </p:par>
                      </p:childTnLst>
                    </p:cTn>
                  </p:par>
                  <p:par>
                    <p:cTn id="1055" fill="hold" nodeType="clickEffect">
                      <p:stCondLst>
                        <p:cond delay="indefinite"/>
                      </p:stCondLst>
                      <p:childTnLst>
                        <p:par>
                          <p:cTn id="1056" fill="hold" nodeType="withEffect">
                            <p:stCondLst>
                              <p:cond delay="0"/>
                            </p:stCondLst>
                            <p:childTnLst>
                              <p:par>
                                <p:cTn id="1057" presetID="22" presetClass="entr" fill="hold" nodeType="clickEffect" presetSubtype="8">
                                  <p:stCondLst>
                                    <p:cond delay="0"/>
                                  </p:stCondLst>
                                  <p:childTnLst>
                                    <p:set>
                                      <p:cBhvr>
                                        <p:cTn id="1058" dur="1" fill="hold">
                                          <p:stCondLst>
                                            <p:cond delay="0"/>
                                          </p:stCondLst>
                                        </p:cTn>
                                        <p:tgtEl>
                                          <p:spTgt spid="1052"/>
                                        </p:tgtEl>
                                        <p:attrNameLst>
                                          <p:attrName>style.visibility</p:attrName>
                                        </p:attrNameLst>
                                      </p:cBhvr>
                                      <p:to>
                                        <p:strVal val="visible"/>
                                      </p:to>
                                    </p:set>
                                    <p:animEffect transition="in" filter="wipe(left)">
                                      <p:cBhvr additive="repl">
                                        <p:cTn id="1059" dur="500"/>
                                        <p:tgtEl>
                                          <p:spTgt spid="1052"/>
                                        </p:tgtEl>
                                      </p:cBhvr>
                                    </p:animEffect>
                                  </p:childTnLst>
                                </p:cTn>
                              </p:par>
                            </p:childTnLst>
                          </p:cTn>
                        </p:par>
                      </p:childTnLst>
                    </p:cTn>
                  </p:par>
                  <p:par>
                    <p:cTn id="1060" fill="hold" nodeType="clickEffect">
                      <p:stCondLst>
                        <p:cond delay="indefinite"/>
                      </p:stCondLst>
                      <p:childTnLst>
                        <p:par>
                          <p:cTn id="1061" fill="hold" nodeType="withEffect">
                            <p:stCondLst>
                              <p:cond delay="0"/>
                            </p:stCondLst>
                            <p:childTnLst>
                              <p:par>
                                <p:cTn id="1062" presetID="22" presetClass="entr" fill="hold" nodeType="clickEffect" presetSubtype="8">
                                  <p:stCondLst>
                                    <p:cond delay="0"/>
                                  </p:stCondLst>
                                  <p:childTnLst>
                                    <p:set>
                                      <p:cBhvr>
                                        <p:cTn id="1063" dur="1" fill="hold">
                                          <p:stCondLst>
                                            <p:cond delay="0"/>
                                          </p:stCondLst>
                                        </p:cTn>
                                        <p:tgtEl>
                                          <p:spTgt spid="1053"/>
                                        </p:tgtEl>
                                        <p:attrNameLst>
                                          <p:attrName>style.visibility</p:attrName>
                                        </p:attrNameLst>
                                      </p:cBhvr>
                                      <p:to>
                                        <p:strVal val="visible"/>
                                      </p:to>
                                    </p:set>
                                    <p:animEffect transition="in" filter="wipe(left)">
                                      <p:cBhvr additive="repl">
                                        <p:cTn id="1064" dur="500"/>
                                        <p:tgtEl>
                                          <p:spTgt spid="1053"/>
                                        </p:tgtEl>
                                      </p:cBhvr>
                                    </p:animEffect>
                                  </p:childTnLst>
                                </p:cTn>
                              </p:par>
                            </p:childTnLst>
                          </p:cTn>
                        </p:par>
                      </p:childTnLst>
                    </p:cTn>
                  </p:par>
                  <p:par>
                    <p:cTn id="1065" fill="hold" nodeType="clickEffect">
                      <p:stCondLst>
                        <p:cond delay="indefinite"/>
                      </p:stCondLst>
                      <p:childTnLst>
                        <p:par>
                          <p:cTn id="1066" fill="hold" nodeType="withEffect">
                            <p:stCondLst>
                              <p:cond delay="0"/>
                            </p:stCondLst>
                            <p:childTnLst>
                              <p:par>
                                <p:cTn id="1067" presetID="22" presetClass="entr" fill="hold" nodeType="clickEffect" presetSubtype="8">
                                  <p:stCondLst>
                                    <p:cond delay="0"/>
                                  </p:stCondLst>
                                  <p:childTnLst>
                                    <p:set>
                                      <p:cBhvr>
                                        <p:cTn id="1068" dur="1" fill="hold">
                                          <p:stCondLst>
                                            <p:cond delay="0"/>
                                          </p:stCondLst>
                                        </p:cTn>
                                        <p:tgtEl>
                                          <p:spTgt spid="1054"/>
                                        </p:tgtEl>
                                        <p:attrNameLst>
                                          <p:attrName>style.visibility</p:attrName>
                                        </p:attrNameLst>
                                      </p:cBhvr>
                                      <p:to>
                                        <p:strVal val="visible"/>
                                      </p:to>
                                    </p:set>
                                    <p:animEffect transition="in" filter="wipe(left)">
                                      <p:cBhvr additive="repl">
                                        <p:cTn id="1069" dur="500"/>
                                        <p:tgtEl>
                                          <p:spTgt spid="1054"/>
                                        </p:tgtEl>
                                      </p:cBhvr>
                                    </p:animEffect>
                                  </p:childTnLst>
                                </p:cTn>
                              </p:par>
                            </p:childTnLst>
                          </p:cTn>
                        </p:par>
                      </p:childTnLst>
                    </p:cTn>
                  </p:par>
                  <p:par>
                    <p:cTn id="1070" fill="hold" nodeType="clickEffect">
                      <p:stCondLst>
                        <p:cond delay="indefinite"/>
                      </p:stCondLst>
                      <p:childTnLst>
                        <p:par>
                          <p:cTn id="1071" fill="hold" nodeType="withEffect">
                            <p:stCondLst>
                              <p:cond delay="0"/>
                            </p:stCondLst>
                            <p:childTnLst>
                              <p:par>
                                <p:cTn id="1072" presetID="22" presetClass="entr" fill="hold" nodeType="clickEffect" presetSubtype="8">
                                  <p:stCondLst>
                                    <p:cond delay="0"/>
                                  </p:stCondLst>
                                  <p:childTnLst>
                                    <p:set>
                                      <p:cBhvr>
                                        <p:cTn id="1073" dur="1" fill="hold">
                                          <p:stCondLst>
                                            <p:cond delay="0"/>
                                          </p:stCondLst>
                                        </p:cTn>
                                        <p:tgtEl>
                                          <p:spTgt spid="1057"/>
                                        </p:tgtEl>
                                        <p:attrNameLst>
                                          <p:attrName>style.visibility</p:attrName>
                                        </p:attrNameLst>
                                      </p:cBhvr>
                                      <p:to>
                                        <p:strVal val="visible"/>
                                      </p:to>
                                    </p:set>
                                    <p:animEffect transition="in" filter="wipe(left)">
                                      <p:cBhvr additive="repl">
                                        <p:cTn id="1074" dur="500"/>
                                        <p:tgtEl>
                                          <p:spTgt spid="1057"/>
                                        </p:tgtEl>
                                      </p:cBhvr>
                                    </p:animEffect>
                                  </p:childTnLst>
                                </p:cTn>
                              </p:par>
                            </p:childTnLst>
                          </p:cTn>
                        </p:par>
                      </p:childTnLst>
                    </p:cTn>
                  </p:par>
                  <p:par>
                    <p:cTn id="1075" fill="hold" nodeType="clickEffect">
                      <p:stCondLst>
                        <p:cond delay="indefinite"/>
                      </p:stCondLst>
                      <p:childTnLst>
                        <p:par>
                          <p:cTn id="1076" fill="hold" nodeType="withEffect">
                            <p:stCondLst>
                              <p:cond delay="0"/>
                            </p:stCondLst>
                            <p:childTnLst>
                              <p:par>
                                <p:cTn id="1077" presetID="22" presetClass="entr" fill="hold" nodeType="clickEffect" presetSubtype="8">
                                  <p:stCondLst>
                                    <p:cond delay="0"/>
                                  </p:stCondLst>
                                  <p:childTnLst>
                                    <p:set>
                                      <p:cBhvr>
                                        <p:cTn id="1078" dur="1" fill="hold">
                                          <p:stCondLst>
                                            <p:cond delay="0"/>
                                          </p:stCondLst>
                                        </p:cTn>
                                        <p:tgtEl>
                                          <p:spTgt spid="1055"/>
                                        </p:tgtEl>
                                        <p:attrNameLst>
                                          <p:attrName>style.visibility</p:attrName>
                                        </p:attrNameLst>
                                      </p:cBhvr>
                                      <p:to>
                                        <p:strVal val="visible"/>
                                      </p:to>
                                    </p:set>
                                    <p:animEffect transition="in" filter="wipe(left)">
                                      <p:cBhvr additive="repl">
                                        <p:cTn id="1079" dur="500"/>
                                        <p:tgtEl>
                                          <p:spTgt spid="1055"/>
                                        </p:tgtEl>
                                      </p:cBhvr>
                                    </p:animEffect>
                                  </p:childTnLst>
                                </p:cTn>
                              </p:par>
                            </p:childTnLst>
                          </p:cTn>
                        </p:par>
                      </p:childTnLst>
                    </p:cTn>
                  </p:par>
                  <p:par>
                    <p:cTn id="1080" fill="hold" nodeType="clickEffect">
                      <p:stCondLst>
                        <p:cond delay="indefinite"/>
                      </p:stCondLst>
                      <p:childTnLst>
                        <p:par>
                          <p:cTn id="1081" fill="hold" nodeType="withEffect">
                            <p:stCondLst>
                              <p:cond delay="0"/>
                            </p:stCondLst>
                            <p:childTnLst>
                              <p:par>
                                <p:cTn id="1082" presetID="3" presetClass="entr" fill="hold" nodeType="clickEffect" presetSubtype="10">
                                  <p:stCondLst>
                                    <p:cond delay="0"/>
                                  </p:stCondLst>
                                  <p:childTnLst>
                                    <p:set>
                                      <p:cBhvr>
                                        <p:cTn id="1083" dur="1" fill="hold">
                                          <p:stCondLst>
                                            <p:cond delay="0"/>
                                          </p:stCondLst>
                                        </p:cTn>
                                        <p:tgtEl>
                                          <p:spTgt spid="1065"/>
                                        </p:tgtEl>
                                        <p:attrNameLst>
                                          <p:attrName>style.visibility</p:attrName>
                                        </p:attrNameLst>
                                      </p:cBhvr>
                                      <p:to>
                                        <p:strVal val="visible"/>
                                      </p:to>
                                    </p:set>
                                    <p:animEffect transition="in" filter="blinds(horizontal)">
                                      <p:cBhvr additive="repl">
                                        <p:cTn id="1084" dur="500"/>
                                        <p:tgtEl>
                                          <p:spTgt spid="1065"/>
                                        </p:tgtEl>
                                      </p:cBhvr>
                                    </p:animEffect>
                                  </p:childTnLst>
                                </p:cTn>
                              </p:par>
                            </p:childTnLst>
                          </p:cTn>
                        </p:par>
                      </p:childTnLst>
                    </p:cTn>
                  </p:par>
                  <p:par>
                    <p:cTn id="1085" fill="hold" nodeType="clickEffect">
                      <p:stCondLst>
                        <p:cond delay="indefinite"/>
                      </p:stCondLst>
                      <p:childTnLst>
                        <p:par>
                          <p:cTn id="1086" fill="hold" nodeType="withEffect">
                            <p:stCondLst>
                              <p:cond delay="0"/>
                            </p:stCondLst>
                            <p:childTnLst>
                              <p:par>
                                <p:cTn id="1087" presetID="22" presetClass="entr" fill="hold" nodeType="clickEffect" presetSubtype="8">
                                  <p:stCondLst>
                                    <p:cond delay="0"/>
                                  </p:stCondLst>
                                  <p:childTnLst>
                                    <p:set>
                                      <p:cBhvr>
                                        <p:cTn id="1088" dur="1" fill="hold">
                                          <p:stCondLst>
                                            <p:cond delay="0"/>
                                          </p:stCondLst>
                                        </p:cTn>
                                        <p:tgtEl>
                                          <p:spTgt spid="1007"/>
                                        </p:tgtEl>
                                        <p:attrNameLst>
                                          <p:attrName>style.visibility</p:attrName>
                                        </p:attrNameLst>
                                      </p:cBhvr>
                                      <p:to>
                                        <p:strVal val="visible"/>
                                      </p:to>
                                    </p:set>
                                    <p:animEffect transition="in" filter="wipe(left)">
                                      <p:cBhvr additive="repl">
                                        <p:cTn id="1089" dur="500"/>
                                        <p:tgtEl>
                                          <p:spTgt spid="1007"/>
                                        </p:tgtEl>
                                      </p:cBhvr>
                                    </p:animEffect>
                                  </p:childTnLst>
                                </p:cTn>
                              </p:par>
                            </p:childTnLst>
                          </p:cTn>
                        </p:par>
                      </p:childTnLst>
                    </p:cTn>
                  </p:par>
                  <p:par>
                    <p:cTn id="1090" fill="hold" nodeType="clickEffect">
                      <p:stCondLst>
                        <p:cond delay="indefinite"/>
                      </p:stCondLst>
                      <p:childTnLst>
                        <p:par>
                          <p:cTn id="1091" fill="hold" nodeType="withEffect">
                            <p:stCondLst>
                              <p:cond delay="0"/>
                            </p:stCondLst>
                            <p:childTnLst>
                              <p:par>
                                <p:cTn id="1092" presetID="22" presetClass="entr" fill="hold" nodeType="clickEffect" presetSubtype="8">
                                  <p:stCondLst>
                                    <p:cond delay="0"/>
                                  </p:stCondLst>
                                  <p:childTnLst>
                                    <p:set>
                                      <p:cBhvr>
                                        <p:cTn id="1093" dur="1" fill="hold">
                                          <p:stCondLst>
                                            <p:cond delay="0"/>
                                          </p:stCondLst>
                                        </p:cTn>
                                        <p:tgtEl>
                                          <p:spTgt spid="1058"/>
                                        </p:tgtEl>
                                        <p:attrNameLst>
                                          <p:attrName>style.visibility</p:attrName>
                                        </p:attrNameLst>
                                      </p:cBhvr>
                                      <p:to>
                                        <p:strVal val="visible"/>
                                      </p:to>
                                    </p:set>
                                    <p:animEffect transition="in" filter="wipe(left)">
                                      <p:cBhvr additive="repl">
                                        <p:cTn id="1094" dur="500"/>
                                        <p:tgtEl>
                                          <p:spTgt spid="1058"/>
                                        </p:tgtEl>
                                      </p:cBhvr>
                                    </p:animEffect>
                                  </p:childTnLst>
                                </p:cTn>
                              </p:par>
                            </p:childTnLst>
                          </p:cTn>
                        </p:par>
                      </p:childTnLst>
                    </p:cTn>
                  </p:par>
                  <p:par>
                    <p:cTn id="1095" fill="hold" nodeType="clickEffect">
                      <p:stCondLst>
                        <p:cond delay="indefinite"/>
                      </p:stCondLst>
                      <p:childTnLst>
                        <p:par>
                          <p:cTn id="1096" fill="hold" nodeType="withEffect">
                            <p:stCondLst>
                              <p:cond delay="0"/>
                            </p:stCondLst>
                            <p:childTnLst>
                              <p:par>
                                <p:cTn id="1097" presetID="22" presetClass="entr" fill="hold" nodeType="clickEffect" presetSubtype="8">
                                  <p:stCondLst>
                                    <p:cond delay="0"/>
                                  </p:stCondLst>
                                  <p:childTnLst>
                                    <p:set>
                                      <p:cBhvr>
                                        <p:cTn id="1098" dur="1" fill="hold">
                                          <p:stCondLst>
                                            <p:cond delay="0"/>
                                          </p:stCondLst>
                                        </p:cTn>
                                        <p:tgtEl>
                                          <p:spTgt spid="1068"/>
                                        </p:tgtEl>
                                        <p:attrNameLst>
                                          <p:attrName>style.visibility</p:attrName>
                                        </p:attrNameLst>
                                      </p:cBhvr>
                                      <p:to>
                                        <p:strVal val="visible"/>
                                      </p:to>
                                    </p:set>
                                    <p:animEffect transition="in" filter="wipe(left)">
                                      <p:cBhvr additive="repl">
                                        <p:cTn id="1099" dur="500"/>
                                        <p:tgtEl>
                                          <p:spTgt spid="10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 name="灯片编号占位符 2"/>
          <p:cNvSpPr/>
          <p:nvPr/>
        </p:nvSpPr>
        <p:spPr>
          <a:xfrm>
            <a:off x="193680" y="6249960"/>
            <a:ext cx="3786120" cy="36504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9BD570A-F19A-47FA-99C5-D6C74098BD81}" type="slidenum">
              <a:rPr lang="en-US" sz="1200" b="0" u="none" strike="noStrike">
                <a:solidFill>
                  <a:srgbClr val="000000"/>
                </a:solidFill>
                <a:effectLst/>
                <a:uFillTx/>
                <a:latin typeface="Arial Black"/>
              </a:rPr>
              <a:t>&lt;编号&gt;</a:t>
            </a:fld>
            <a:endParaRPr lang="en-US" sz="1200" b="0" u="none" strike="noStrike">
              <a:solidFill>
                <a:srgbClr val="000000"/>
              </a:solidFill>
              <a:effectLst/>
              <a:uFillTx/>
              <a:latin typeface="Times New Roman"/>
            </a:endParaRPr>
          </a:p>
        </p:txBody>
      </p:sp>
      <p:sp>
        <p:nvSpPr>
          <p:cNvPr id="1075" name="Rectangle 35"/>
          <p:cNvSpPr/>
          <p:nvPr/>
        </p:nvSpPr>
        <p:spPr>
          <a:xfrm>
            <a:off x="1062000" y="1270080"/>
            <a:ext cx="6345360" cy="39888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校正装置与系统固有部分串联以后的开还传递函数为 </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1076" name="Object 36"/>
              <p:cNvSpPr txBox="1"/>
              <p:nvPr/>
            </p:nvSpPr>
            <p:spPr>
              <a:xfrm>
                <a:off x="1557360" y="1809720"/>
                <a:ext cx="5850000" cy="708120"/>
              </a:xfrm>
              <a:prstGeom prst="rect">
                <a:avLst/>
              </a:prstGeom>
            </p:spPr>
            <p:txBody>
              <a:bodyPr/>
              <a:p>
                <a14:m>
                  <m:oMath xmlns:m="http://schemas.openxmlformats.org/officeDocument/2006/math">
                    <m:sSub>
                      <m:e>
                        <m:r>
                          <m:t xml:space="preserve">G</m:t>
                        </m:r>
                      </m:e>
                      <m:sub>
                        <m:r>
                          <m:t xml:space="preserve">0</m:t>
                        </m:r>
                      </m:sub>
                    </m:sSub>
                    <m:r>
                      <m:t xml:space="preserve">(</m:t>
                    </m:r>
                    <m:r>
                      <m:t xml:space="preserve">s</m:t>
                    </m:r>
                    <m:r>
                      <m:t xml:space="preserve">)</m:t>
                    </m:r>
                    <m:r>
                      <m:t xml:space="preserve">=</m:t>
                    </m:r>
                    <m:sSub>
                      <m:e>
                        <m:r>
                          <m:t xml:space="preserve">G</m:t>
                        </m:r>
                      </m:e>
                      <m:sub>
                        <m:r>
                          <m:t xml:space="preserve">c</m:t>
                        </m:r>
                      </m:sub>
                    </m:sSub>
                    <m:r>
                      <m:t xml:space="preserve">(</m:t>
                    </m:r>
                    <m:r>
                      <m:t xml:space="preserve">s</m:t>
                    </m:r>
                    <m:r>
                      <m:t xml:space="preserve">)</m:t>
                    </m:r>
                    <m:sSub>
                      <m:e>
                        <m:r>
                          <m:t xml:space="preserve">G</m:t>
                        </m:r>
                      </m:e>
                      <m:sub>
                        <m:r>
                          <m:t xml:space="preserve">g</m:t>
                        </m:r>
                      </m:sub>
                    </m:sSub>
                    <m:r>
                      <m:t xml:space="preserve">(</m:t>
                    </m:r>
                    <m:r>
                      <m:t xml:space="preserve">s</m:t>
                    </m:r>
                    <m:r>
                      <m:t xml:space="preserve">)</m:t>
                    </m:r>
                    <m:r>
                      <m:t xml:space="preserve">=</m:t>
                    </m:r>
                    <m:f>
                      <m:num>
                        <m:r>
                          <m:rPr>
                            <m:lit/>
                            <m:nor/>
                          </m:rPr>
                          <m:t xml:space="preserve">100</m:t>
                        </m:r>
                        <m:r>
                          <m:t xml:space="preserve">(</m:t>
                        </m:r>
                        <m:r>
                          <m:t xml:space="preserve">0</m:t>
                        </m:r>
                        <m:r>
                          <m:rPr>
                            <m:lit/>
                            <m:nor/>
                          </m:rPr>
                          <m:t xml:space="preserve">.</m:t>
                        </m:r>
                        <m:r>
                          <m:rPr>
                            <m:lit/>
                            <m:nor/>
                          </m:rPr>
                          <m:t xml:space="preserve">25</m:t>
                        </m:r>
                        <m:r>
                          <m:t xml:space="preserve">s</m:t>
                        </m:r>
                        <m:r>
                          <m:t xml:space="preserve">+</m:t>
                        </m:r>
                        <m:r>
                          <m:t xml:space="preserve">1</m:t>
                        </m:r>
                        <m:r>
                          <m:t xml:space="preserve">)</m:t>
                        </m:r>
                      </m:num>
                      <m:den>
                        <m:r>
                          <m:t xml:space="preserve">s</m:t>
                        </m:r>
                        <m:r>
                          <m:t xml:space="preserve">(</m:t>
                        </m:r>
                        <m:r>
                          <m:t xml:space="preserve">1</m:t>
                        </m:r>
                        <m:r>
                          <m:rPr>
                            <m:lit/>
                            <m:nor/>
                          </m:rPr>
                          <m:t xml:space="preserve">.</m:t>
                        </m:r>
                        <m:r>
                          <m:rPr>
                            <m:lit/>
                            <m:nor/>
                          </m:rPr>
                          <m:t xml:space="preserve">25</m:t>
                        </m:r>
                        <m:r>
                          <m:t xml:space="preserve">s</m:t>
                        </m:r>
                        <m:r>
                          <m:t xml:space="preserve">+</m:t>
                        </m:r>
                        <m:r>
                          <m:t xml:space="preserve">1</m:t>
                        </m:r>
                        <m:r>
                          <m:t xml:space="preserve">)</m:t>
                        </m:r>
                        <m:r>
                          <m:t xml:space="preserve">(</m:t>
                        </m:r>
                        <m:r>
                          <m:t xml:space="preserve">0</m:t>
                        </m:r>
                        <m:r>
                          <m:rPr>
                            <m:lit/>
                            <m:nor/>
                          </m:rPr>
                          <m:t xml:space="preserve">.</m:t>
                        </m:r>
                        <m:r>
                          <m:rPr>
                            <m:lit/>
                            <m:nor/>
                          </m:rPr>
                          <m:t xml:space="preserve">022</m:t>
                        </m:r>
                        <m:r>
                          <m:t xml:space="preserve">s</m:t>
                        </m:r>
                        <m:r>
                          <m:t xml:space="preserve">+</m:t>
                        </m:r>
                        <m:r>
                          <m:t xml:space="preserve">1</m:t>
                        </m:r>
                        <m:r>
                          <m:t xml:space="preserve">)</m:t>
                        </m:r>
                        <m:r>
                          <m:t xml:space="preserve">(</m:t>
                        </m:r>
                        <m:r>
                          <m:t xml:space="preserve">0</m:t>
                        </m:r>
                        <m:r>
                          <m:rPr>
                            <m:lit/>
                            <m:nor/>
                          </m:rPr>
                          <m:t xml:space="preserve">.</m:t>
                        </m:r>
                        <m:r>
                          <m:rPr>
                            <m:lit/>
                            <m:nor/>
                          </m:rPr>
                          <m:t xml:space="preserve">01</m:t>
                        </m:r>
                        <m:r>
                          <m:t xml:space="preserve">s</m:t>
                        </m:r>
                        <m:r>
                          <m:t xml:space="preserve">+</m:t>
                        </m:r>
                        <m:r>
                          <m:t xml:space="preserve">1</m:t>
                        </m:r>
                        <m:r>
                          <m:t xml:space="preserve">)</m:t>
                        </m:r>
                      </m:den>
                    </m:f>
                  </m:oMath>
                </a14:m>
              </a:p>
            </p:txBody>
          </p:sp>
        </mc:Choice>
        <mc:Fallback>
          <p:sp>
            <p:nvSpPr>
              <p:cNvPr id="1076" name="Object 36"/>
              <p:cNvSpPr txBox="1"/>
              <p:nvPr/>
            </p:nvSpPr>
            <p:spPr>
              <a:xfrm>
                <a:off x="1557360" y="1809720"/>
                <a:ext cx="5850000" cy="708120"/>
              </a:xfrm>
              <a:prstGeom prst="rect">
                <a:avLst/>
              </a:prstGeom>
              <a:blipFill>
                <a:blip r:embed="rId1"/>
                <a:stretch>
                  <a:fillRect/>
                </a:stretch>
              </a:blipFill>
            </p:spPr>
          </p:sp>
        </mc:Fallback>
      </mc:AlternateContent>
      <mc:AlternateContent>
        <mc:Choice xmlns:a14="http://schemas.microsoft.com/office/drawing/2010/main" Requires="a14">
          <p:sp>
            <p:nvSpPr>
              <p:cNvPr id="1077" name="Object 39"/>
              <p:cNvSpPr txBox="1"/>
              <p:nvPr/>
            </p:nvSpPr>
            <p:spPr>
              <a:xfrm>
                <a:off x="1646280" y="2664000"/>
                <a:ext cx="1979640" cy="482400"/>
              </a:xfrm>
              <a:prstGeom prst="rect">
                <a:avLst/>
              </a:prstGeom>
            </p:spPr>
            <p:txBody>
              <a:bodyPr/>
              <a:p>
                <a14:m>
                  <m:oMath xmlns:m="http://schemas.openxmlformats.org/officeDocument/2006/math">
                    <m:sSub>
                      <m:e>
                        <m:r>
                          <m:t xml:space="preserve">θ</m:t>
                        </m:r>
                      </m:e>
                      <m:sub>
                        <m:r>
                          <m:t xml:space="preserve">0</m:t>
                        </m:r>
                      </m:sub>
                    </m:sSub>
                    <m:r>
                      <m:t xml:space="preserve">(</m:t>
                    </m:r>
                    <m:sSub>
                      <m:e>
                        <m:r>
                          <m:t xml:space="preserve">ω</m:t>
                        </m:r>
                      </m:e>
                      <m:sub>
                        <m:r>
                          <m:t xml:space="preserve">c</m:t>
                        </m:r>
                      </m:sub>
                    </m:sSub>
                    <m:r>
                      <m:t xml:space="preserve">)</m:t>
                    </m:r>
                    <m:r>
                      <m:t xml:space="preserve">=</m:t>
                    </m:r>
                    <m:r>
                      <m:t xml:space="preserve">−</m:t>
                    </m:r>
                    <m:sSup>
                      <m:e>
                        <m:r>
                          <m:rPr>
                            <m:lit/>
                            <m:nor/>
                          </m:rPr>
                          <m:t xml:space="preserve">134</m:t>
                        </m:r>
                      </m:e>
                      <m:sup>
                        <m:r>
                          <m:t xml:space="preserve">∘</m:t>
                        </m:r>
                      </m:sup>
                    </m:sSup>
                  </m:oMath>
                </a14:m>
              </a:p>
            </p:txBody>
          </p:sp>
        </mc:Choice>
        <mc:Fallback>
          <p:sp>
            <p:nvSpPr>
              <p:cNvPr id="1077" name="Object 39"/>
              <p:cNvSpPr txBox="1"/>
              <p:nvPr/>
            </p:nvSpPr>
            <p:spPr>
              <a:xfrm>
                <a:off x="1646280" y="2664000"/>
                <a:ext cx="1979640" cy="482400"/>
              </a:xfrm>
              <a:prstGeom prst="rect">
                <a:avLst/>
              </a:prstGeom>
              <a:blipFill>
                <a:blip r:embed="rId2"/>
                <a:stretch>
                  <a:fillRect/>
                </a:stretch>
              </a:blipFill>
            </p:spPr>
          </p:sp>
        </mc:Fallback>
      </mc:AlternateContent>
      <p:sp>
        <p:nvSpPr>
          <p:cNvPr id="1078" name="Rectangle 43"/>
          <p:cNvSpPr/>
          <p:nvPr/>
        </p:nvSpPr>
        <p:spPr>
          <a:xfrm>
            <a:off x="0" y="3147840"/>
            <a:ext cx="184320" cy="400320"/>
          </a:xfrm>
          <a:prstGeom prst="rect">
            <a:avLst/>
          </a:prstGeom>
          <a:noFill/>
          <a:ln w="0">
            <a:noFill/>
          </a:ln>
        </p:spPr>
        <p:style>
          <a:lnRef idx="0"/>
          <a:fillRef idx="0"/>
          <a:effectRef idx="0"/>
          <a:fontRef idx="minor"/>
        </p:style>
        <p:txBody>
          <a:bodyPr wrap="none"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79" name="Rectangle 46"/>
          <p:cNvSpPr/>
          <p:nvPr/>
        </p:nvSpPr>
        <p:spPr>
          <a:xfrm>
            <a:off x="-117360" y="2664000"/>
            <a:ext cx="931212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经校核                              ，系统具有</a:t>
            </a:r>
            <a:r>
              <a:rPr lang="en-US" sz="2000" b="1" u="none" strike="noStrike">
                <a:solidFill>
                  <a:srgbClr val="000000"/>
                </a:solidFill>
                <a:effectLst/>
                <a:uFillTx/>
                <a:latin typeface="Times New Roman"/>
              </a:rPr>
              <a:t>46°</a:t>
            </a:r>
            <a:r>
              <a:rPr lang="zh-CN" sz="2000" b="1" u="none" strike="noStrike">
                <a:solidFill>
                  <a:srgbClr val="000000"/>
                </a:solidFill>
                <a:effectLst/>
                <a:uFillTx/>
                <a:latin typeface="Times New Roman"/>
              </a:rPr>
              <a:t>的相位裕度，满足要求。</a:t>
            </a:r>
            <a:endParaRPr lang="en-US" sz="2000" b="0" u="none" strike="noStrike">
              <a:solidFill>
                <a:srgbClr val="000000"/>
              </a:solidFill>
              <a:effectLst/>
              <a:uFillTx/>
              <a:latin typeface="Times New Roman"/>
            </a:endParaRPr>
          </a:p>
        </p:txBody>
      </p:sp>
    </p:spTree>
  </p:cSld>
  <p:transition>
    <p:random/>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80" name="Group 39"/>
          <p:cNvGrpSpPr/>
          <p:nvPr/>
        </p:nvGrpSpPr>
        <p:grpSpPr>
          <a:xfrm>
            <a:off x="385920" y="4194000"/>
            <a:ext cx="8145360" cy="703800"/>
            <a:chOff x="385920" y="4194000"/>
            <a:chExt cx="8145360" cy="703800"/>
          </a:xfrm>
        </p:grpSpPr>
        <mc:AlternateContent>
          <mc:Choice xmlns:a14="http://schemas.microsoft.com/office/drawing/2010/main" Requires="a14">
            <p:sp>
              <p:nvSpPr>
                <p:cNvPr id="1081" name="Object 33"/>
                <p:cNvSpPr txBox="1"/>
                <p:nvPr/>
              </p:nvSpPr>
              <p:spPr>
                <a:xfrm>
                  <a:off x="1195560" y="4194000"/>
                  <a:ext cx="2966760" cy="417600"/>
                </a:xfrm>
                <a:prstGeom prst="rect">
                  <a:avLst/>
                </a:prstGeom>
              </p:spPr>
              <p:txBody>
                <a:bodyPr/>
                <a:p>
                  <a14:m>
                    <m:oMath xmlns:m="http://schemas.openxmlformats.org/officeDocument/2006/math">
                      <m:r>
                        <m:rPr>
                          <m:lit/>
                          <m:nor/>
                        </m:rPr>
                        <m:t xml:space="preserve">20</m:t>
                      </m:r>
                      <m:r>
                        <m:rPr>
                          <m:lit/>
                          <m:nor/>
                        </m:rPr>
                        <m:t xml:space="preserve">lg</m:t>
                      </m:r>
                      <m:r>
                        <m:t xml:space="preserve">β</m:t>
                      </m:r>
                      <m:r>
                        <m:t xml:space="preserve">=</m:t>
                      </m:r>
                      <m:sSub>
                        <m:e>
                          <m:r>
                            <m:t xml:space="preserve">L</m:t>
                          </m:r>
                        </m:e>
                        <m:sub>
                          <m:r>
                            <m:t xml:space="preserve">g</m:t>
                          </m:r>
                        </m:sub>
                      </m:sSub>
                      <m:r>
                        <m:t xml:space="preserve">(</m:t>
                      </m:r>
                      <m:sSub>
                        <m:e>
                          <m:r>
                            <m:t xml:space="preserve">ω</m:t>
                          </m:r>
                        </m:e>
                        <m:sub>
                          <m:r>
                            <m:t xml:space="preserve">c</m:t>
                          </m:r>
                        </m:sub>
                      </m:sSub>
                      <m:r>
                        <m:t xml:space="preserve">)</m:t>
                      </m:r>
                      <m:r>
                        <m:t xml:space="preserve">+</m:t>
                      </m:r>
                      <m:sSub>
                        <m:e>
                          <m:r>
                            <m:t xml:space="preserve">L</m:t>
                          </m:r>
                        </m:e>
                        <m:sub>
                          <m:r>
                            <m:t xml:space="preserve">c</m:t>
                          </m:r>
                        </m:sub>
                      </m:sSub>
                      <m:r>
                        <m:t xml:space="preserve">(</m:t>
                      </m:r>
                      <m:sSub>
                        <m:e>
                          <m:r>
                            <m:t xml:space="preserve">ω</m:t>
                          </m:r>
                        </m:e>
                        <m:sub>
                          <m:r>
                            <m:t xml:space="preserve">c</m:t>
                          </m:r>
                        </m:sub>
                      </m:sSub>
                      <m:r>
                        <m:t xml:space="preserve">)</m:t>
                      </m:r>
                    </m:oMath>
                  </a14:m>
                </a:p>
              </p:txBody>
            </p:sp>
          </mc:Choice>
          <mc:Fallback>
            <p:sp>
              <p:nvSpPr>
                <p:cNvPr id="1081" name="Object 33"/>
                <p:cNvSpPr txBox="1"/>
                <p:nvPr/>
              </p:nvSpPr>
              <p:spPr>
                <a:xfrm>
                  <a:off x="1195560" y="4194000"/>
                  <a:ext cx="2966760" cy="417600"/>
                </a:xfrm>
                <a:prstGeom prst="rect">
                  <a:avLst/>
                </a:prstGeom>
                <a:blipFill>
                  <a:blip r:embed="rId1"/>
                  <a:stretch>
                    <a:fillRect/>
                  </a:stretch>
                </a:blipFill>
              </p:spPr>
            </p:sp>
          </mc:Fallback>
        </mc:AlternateContent>
        <mc:AlternateContent>
          <mc:Choice xmlns:a14="http://schemas.microsoft.com/office/drawing/2010/main" Requires="a14">
            <p:sp>
              <p:nvSpPr>
                <p:cNvPr id="1082" name="Object 34"/>
                <p:cNvSpPr txBox="1"/>
                <p:nvPr/>
              </p:nvSpPr>
              <p:spPr>
                <a:xfrm>
                  <a:off x="7270920" y="4238640"/>
                  <a:ext cx="249120" cy="317520"/>
                </a:xfrm>
                <a:prstGeom prst="rect">
                  <a:avLst/>
                </a:prstGeom>
              </p:spPr>
              <p:txBody>
                <a:bodyPr/>
                <a:p>
                  <a14:m>
                    <m:oMath xmlns:m="http://schemas.openxmlformats.org/officeDocument/2006/math">
                      <m:r>
                        <m:t xml:space="preserve">β</m:t>
                      </m:r>
                    </m:oMath>
                  </a14:m>
                </a:p>
              </p:txBody>
            </p:sp>
          </mc:Choice>
          <mc:Fallback>
            <p:sp>
              <p:nvSpPr>
                <p:cNvPr id="1082" name="Object 34"/>
                <p:cNvSpPr txBox="1"/>
                <p:nvPr/>
              </p:nvSpPr>
              <p:spPr>
                <a:xfrm>
                  <a:off x="7270920" y="4238640"/>
                  <a:ext cx="249120" cy="317520"/>
                </a:xfrm>
                <a:prstGeom prst="rect">
                  <a:avLst/>
                </a:prstGeom>
                <a:blipFill>
                  <a:blip r:embed="rId2"/>
                  <a:stretch>
                    <a:fillRect/>
                  </a:stretch>
                </a:blipFill>
              </p:spPr>
            </p:sp>
          </mc:Fallback>
        </mc:AlternateContent>
        <p:sp>
          <p:nvSpPr>
            <p:cNvPr id="1083" name="Rectangle 37"/>
            <p:cNvSpPr/>
            <p:nvPr/>
          </p:nvSpPr>
          <p:spPr>
            <a:xfrm>
              <a:off x="385920" y="4194000"/>
              <a:ext cx="814536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4</a:t>
              </a:r>
              <a:r>
                <a:rPr lang="zh-CN" sz="2000" b="1" u="none" strike="noStrike">
                  <a:solidFill>
                    <a:srgbClr val="000000"/>
                  </a:solidFill>
                  <a:effectLst/>
                  <a:uFillTx/>
                  <a:latin typeface="Times New Roman"/>
                </a:rPr>
                <a:t>、令                                            ，求出滞后校正的校正强度     。按照综合滞后校正的步骤综合滞后校正部分。</a:t>
              </a:r>
              <a:r>
                <a:rPr lang="zh-CN" sz="2000" b="0" u="none" strike="noStrike">
                  <a:solidFill>
                    <a:srgbClr val="000000"/>
                  </a:solidFill>
                  <a:effectLst/>
                  <a:uFillTx/>
                  <a:latin typeface="Times New Roman"/>
                </a:rPr>
                <a:t> </a:t>
              </a:r>
              <a:endParaRPr lang="en-US" sz="2000" b="0" u="none" strike="noStrike">
                <a:solidFill>
                  <a:srgbClr val="000000"/>
                </a:solidFill>
                <a:effectLst/>
                <a:uFillTx/>
                <a:latin typeface="Times New Roman"/>
              </a:endParaRPr>
            </a:p>
          </p:txBody>
        </p:sp>
      </p:grpSp>
      <p:sp>
        <p:nvSpPr>
          <p:cNvPr id="1084" name="Rectangle 38"/>
          <p:cNvSpPr/>
          <p:nvPr/>
        </p:nvSpPr>
        <p:spPr>
          <a:xfrm>
            <a:off x="341280" y="5138640"/>
            <a:ext cx="847080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5</a:t>
            </a:r>
            <a:r>
              <a:rPr lang="zh-CN" sz="2000" b="1" u="none" strike="noStrike">
                <a:solidFill>
                  <a:srgbClr val="000000"/>
                </a:solidFill>
                <a:effectLst/>
                <a:uFillTx/>
                <a:latin typeface="Times New Roman"/>
              </a:rPr>
              <a:t>、将滞后校正与超前校正组合在一起，即构成滞后－超前校正，然后对其进行仿真检验其性能指标是否满足要求。</a:t>
            </a:r>
            <a:endParaRPr lang="en-US" sz="2000" b="0" u="none" strike="noStrike">
              <a:solidFill>
                <a:srgbClr val="000000"/>
              </a:solidFill>
              <a:effectLst/>
              <a:uFillTx/>
              <a:latin typeface="Times New Roman"/>
            </a:endParaRPr>
          </a:p>
        </p:txBody>
      </p:sp>
      <p:sp>
        <p:nvSpPr>
          <p:cNvPr id="1085" name="Rectangle 40"/>
          <p:cNvSpPr/>
          <p:nvPr/>
        </p:nvSpPr>
        <p:spPr>
          <a:xfrm>
            <a:off x="611280" y="779760"/>
            <a:ext cx="4591080" cy="398880"/>
          </a:xfrm>
          <a:prstGeom prst="rect">
            <a:avLst/>
          </a:prstGeom>
          <a:noFill/>
          <a:ln w="0">
            <a:noFill/>
          </a:ln>
        </p:spPr>
        <p:style>
          <a:lnRef idx="0"/>
          <a:fillRef idx="0"/>
          <a:effectRef idx="0"/>
          <a:fontRef idx="minor"/>
        </p:style>
        <p:txBody>
          <a:bodyPr lIns="90000" tIns="46800" rIns="90000" bIns="46800" anchor="ctr">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8080"/>
                </a:solidFill>
                <a:effectLst/>
                <a:uFillTx/>
                <a:latin typeface="Times New Roman"/>
              </a:rPr>
              <a:t>滞后</a:t>
            </a:r>
            <a:r>
              <a:rPr lang="en-US" sz="2000" b="1" u="none" strike="noStrike">
                <a:solidFill>
                  <a:srgbClr val="008080"/>
                </a:solidFill>
                <a:effectLst/>
                <a:uFillTx/>
                <a:latin typeface="Times New Roman"/>
              </a:rPr>
              <a:t>—</a:t>
            </a:r>
            <a:r>
              <a:rPr lang="zh-CN" sz="2000" b="1" u="none" strike="noStrike">
                <a:solidFill>
                  <a:srgbClr val="008080"/>
                </a:solidFill>
                <a:effectLst/>
                <a:uFillTx/>
                <a:latin typeface="Times New Roman"/>
              </a:rPr>
              <a:t>超前校正的综合步骤</a:t>
            </a:r>
            <a:r>
              <a:rPr lang="zh-CN" sz="2000" b="0" u="none" strike="noStrike">
                <a:solidFill>
                  <a:srgbClr val="008080"/>
                </a:solidFill>
                <a:effectLst/>
                <a:uFillTx/>
                <a:latin typeface="Times New Roman"/>
              </a:rPr>
              <a:t>：</a:t>
            </a:r>
            <a:endParaRPr lang="en-US" sz="2000" b="0" u="none" strike="noStrike">
              <a:solidFill>
                <a:srgbClr val="000000"/>
              </a:solidFill>
              <a:effectLst/>
              <a:uFillTx/>
              <a:latin typeface="Times New Roman"/>
            </a:endParaRPr>
          </a:p>
        </p:txBody>
      </p:sp>
      <p:grpSp>
        <p:nvGrpSpPr>
          <p:cNvPr id="1086" name="Group 41"/>
          <p:cNvGrpSpPr/>
          <p:nvPr/>
        </p:nvGrpSpPr>
        <p:grpSpPr>
          <a:xfrm>
            <a:off x="476280" y="1390680"/>
            <a:ext cx="8209080" cy="703800"/>
            <a:chOff x="476280" y="1390680"/>
            <a:chExt cx="8209080" cy="703800"/>
          </a:xfrm>
        </p:grpSpPr>
        <p:sp>
          <p:nvSpPr>
            <p:cNvPr id="1087" name="Rectangle 42"/>
            <p:cNvSpPr/>
            <p:nvPr/>
          </p:nvSpPr>
          <p:spPr>
            <a:xfrm>
              <a:off x="476280" y="1390680"/>
              <a:ext cx="8209080" cy="70380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1</a:t>
              </a:r>
              <a:r>
                <a:rPr lang="zh-CN" sz="2000" b="1" u="none" strike="noStrike">
                  <a:solidFill>
                    <a:srgbClr val="000000"/>
                  </a:solidFill>
                  <a:effectLst/>
                  <a:uFillTx/>
                  <a:latin typeface="Times New Roman"/>
                </a:rPr>
                <a:t>、根据静态指标要求确定开环比例系数      ，并按照所确定的     值画出系统固有部分的</a:t>
              </a:r>
              <a:r>
                <a:rPr lang="en-US" sz="2000" b="1" u="none" strike="noStrike">
                  <a:solidFill>
                    <a:srgbClr val="000000"/>
                  </a:solidFill>
                  <a:effectLst/>
                  <a:uFillTx/>
                  <a:latin typeface="Times New Roman"/>
                </a:rPr>
                <a:t>Bode</a:t>
              </a:r>
              <a:r>
                <a:rPr lang="zh-CN" sz="2000" b="1" u="none" strike="noStrike">
                  <a:solidFill>
                    <a:srgbClr val="000000"/>
                  </a:solidFill>
                  <a:effectLst/>
                  <a:uFillTx/>
                  <a:latin typeface="Times New Roman"/>
                </a:rPr>
                <a:t>图。</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1088" name="Object 43"/>
                <p:cNvSpPr txBox="1"/>
                <p:nvPr/>
              </p:nvSpPr>
              <p:spPr>
                <a:xfrm>
                  <a:off x="5067360" y="1434960"/>
                  <a:ext cx="269640" cy="270000"/>
                </a:xfrm>
                <a:prstGeom prst="rect">
                  <a:avLst/>
                </a:prstGeom>
              </p:spPr>
              <p:txBody>
                <a:bodyPr/>
                <a:p>
                  <a14:m>
                    <m:oMath xmlns:m="http://schemas.openxmlformats.org/officeDocument/2006/math">
                      <m:r>
                        <m:t xml:space="preserve">K</m:t>
                      </m:r>
                    </m:oMath>
                  </a14:m>
                </a:p>
              </p:txBody>
            </p:sp>
          </mc:Choice>
          <mc:Fallback>
            <p:sp>
              <p:nvSpPr>
                <p:cNvPr id="1088" name="Object 43"/>
                <p:cNvSpPr txBox="1"/>
                <p:nvPr/>
              </p:nvSpPr>
              <p:spPr>
                <a:xfrm>
                  <a:off x="5067360" y="1434960"/>
                  <a:ext cx="269640" cy="270000"/>
                </a:xfrm>
                <a:prstGeom prst="rect">
                  <a:avLst/>
                </a:prstGeom>
                <a:blipFill>
                  <a:blip r:embed="rId3"/>
                  <a:stretch>
                    <a:fillRect/>
                  </a:stretch>
                </a:blipFill>
              </p:spPr>
            </p:sp>
          </mc:Fallback>
        </mc:AlternateContent>
        <mc:AlternateContent>
          <mc:Choice xmlns:a14="http://schemas.microsoft.com/office/drawing/2010/main" Requires="a14">
            <p:sp>
              <p:nvSpPr>
                <p:cNvPr id="1089" name="Object 44"/>
                <p:cNvSpPr txBox="1"/>
                <p:nvPr/>
              </p:nvSpPr>
              <p:spPr>
                <a:xfrm>
                  <a:off x="7542360" y="1434960"/>
                  <a:ext cx="242640" cy="243000"/>
                </a:xfrm>
                <a:prstGeom prst="rect">
                  <a:avLst/>
                </a:prstGeom>
              </p:spPr>
              <p:txBody>
                <a:bodyPr/>
                <a:p>
                  <a14:m>
                    <m:oMath xmlns:m="http://schemas.openxmlformats.org/officeDocument/2006/math">
                      <m:r>
                        <m:t xml:space="preserve">K</m:t>
                      </m:r>
                    </m:oMath>
                  </a14:m>
                </a:p>
              </p:txBody>
            </p:sp>
          </mc:Choice>
          <mc:Fallback>
            <p:sp>
              <p:nvSpPr>
                <p:cNvPr id="1089" name="Object 44"/>
                <p:cNvSpPr txBox="1"/>
                <p:nvPr/>
              </p:nvSpPr>
              <p:spPr>
                <a:xfrm>
                  <a:off x="7542360" y="1434960"/>
                  <a:ext cx="242640" cy="243000"/>
                </a:xfrm>
                <a:prstGeom prst="rect">
                  <a:avLst/>
                </a:prstGeom>
                <a:blipFill>
                  <a:blip r:embed="rId4"/>
                  <a:stretch>
                    <a:fillRect/>
                  </a:stretch>
                </a:blipFill>
              </p:spPr>
            </p:sp>
          </mc:Fallback>
        </mc:AlternateContent>
      </p:grpSp>
      <p:sp>
        <p:nvSpPr>
          <p:cNvPr id="1090" name="Rectangle 45"/>
          <p:cNvSpPr/>
          <p:nvPr/>
        </p:nvSpPr>
        <p:spPr>
          <a:xfrm>
            <a:off x="476280" y="2200320"/>
            <a:ext cx="814536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2</a:t>
            </a:r>
            <a:r>
              <a:rPr lang="zh-CN" sz="2000" b="1" u="none" strike="noStrike">
                <a:solidFill>
                  <a:srgbClr val="000000"/>
                </a:solidFill>
                <a:effectLst/>
                <a:uFillTx/>
                <a:latin typeface="Times New Roman"/>
              </a:rPr>
              <a:t>、按系统性能要求确定      ，检查系统固有部分在 点处的相角，若其相角不满足系统相角稳定裕度的要求，应用超前校正。在计算其超前相位角时要考虑到滞后校正产生的</a:t>
            </a:r>
            <a:r>
              <a:rPr lang="en-US" sz="2000" b="1" u="none" strike="noStrike">
                <a:solidFill>
                  <a:srgbClr val="000000"/>
                </a:solidFill>
                <a:effectLst/>
                <a:uFillTx/>
                <a:latin typeface="Times New Roman"/>
              </a:rPr>
              <a:t>5°</a:t>
            </a:r>
            <a:r>
              <a:rPr lang="zh-CN" sz="2000" b="1" u="none" strike="noStrike">
                <a:solidFill>
                  <a:srgbClr val="000000"/>
                </a:solidFill>
                <a:effectLst/>
                <a:uFillTx/>
                <a:latin typeface="Times New Roman"/>
              </a:rPr>
              <a:t>一</a:t>
            </a:r>
            <a:r>
              <a:rPr lang="en-US" sz="2000" b="1" u="none" strike="noStrike">
                <a:solidFill>
                  <a:srgbClr val="000000"/>
                </a:solidFill>
                <a:effectLst/>
                <a:uFillTx/>
                <a:latin typeface="Times New Roman"/>
              </a:rPr>
              <a:t>12°</a:t>
            </a:r>
            <a:r>
              <a:rPr lang="zh-CN" sz="2000" b="1" u="none" strike="noStrike">
                <a:solidFill>
                  <a:srgbClr val="000000"/>
                </a:solidFill>
                <a:effectLst/>
                <a:uFillTx/>
                <a:latin typeface="Times New Roman"/>
              </a:rPr>
              <a:t>的相角滞后量。</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1091" name="Object 46"/>
              <p:cNvSpPr txBox="1"/>
              <p:nvPr/>
            </p:nvSpPr>
            <p:spPr>
              <a:xfrm>
                <a:off x="3267000" y="2200320"/>
                <a:ext cx="343080" cy="41112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1091" name="Object 46"/>
              <p:cNvSpPr txBox="1"/>
              <p:nvPr/>
            </p:nvSpPr>
            <p:spPr>
              <a:xfrm>
                <a:off x="3267000" y="2200320"/>
                <a:ext cx="343080" cy="411120"/>
              </a:xfrm>
              <a:prstGeom prst="rect">
                <a:avLst/>
              </a:prstGeom>
              <a:blipFill>
                <a:blip r:embed="rId5"/>
                <a:stretch>
                  <a:fillRect/>
                </a:stretch>
              </a:blipFill>
            </p:spPr>
          </p:sp>
        </mc:Fallback>
      </mc:AlternateContent>
      <p:grpSp>
        <p:nvGrpSpPr>
          <p:cNvPr id="1092" name="Group 47"/>
          <p:cNvGrpSpPr/>
          <p:nvPr/>
        </p:nvGrpSpPr>
        <p:grpSpPr>
          <a:xfrm>
            <a:off x="385920" y="3279600"/>
            <a:ext cx="8416800" cy="1008720"/>
            <a:chOff x="385920" y="3279600"/>
            <a:chExt cx="8416800" cy="1008720"/>
          </a:xfrm>
        </p:grpSpPr>
        <p:sp>
          <p:nvSpPr>
            <p:cNvPr id="1093" name="Rectangle 48"/>
            <p:cNvSpPr/>
            <p:nvPr/>
          </p:nvSpPr>
          <p:spPr>
            <a:xfrm>
              <a:off x="385920" y="3279600"/>
              <a:ext cx="8416800" cy="10087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imes New Roman"/>
                </a:rPr>
                <a:t>3</a:t>
              </a:r>
              <a:r>
                <a:rPr lang="zh-CN" sz="2000" b="1" u="none" strike="noStrike">
                  <a:solidFill>
                    <a:srgbClr val="000000"/>
                  </a:solidFill>
                  <a:effectLst/>
                  <a:uFillTx/>
                  <a:latin typeface="Times New Roman"/>
                </a:rPr>
                <a:t>、按照综合超前校正的步骤综合超前校正部分。</a:t>
              </a:r>
              <a:endParaRPr lang="en-US" sz="2000" b="0" u="none" strike="noStrike">
                <a:solidFill>
                  <a:srgbClr val="000000"/>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00000"/>
                  </a:solidFill>
                  <a:effectLst/>
                  <a:uFillTx/>
                  <a:latin typeface="Times New Roman"/>
                </a:rPr>
                <a:t> 注意：通常在     点上                       比</a:t>
              </a:r>
              <a:r>
                <a:rPr lang="en-US" sz="2000" b="1" u="none" strike="noStrike">
                  <a:solidFill>
                    <a:srgbClr val="000000"/>
                  </a:solidFill>
                  <a:effectLst/>
                  <a:uFillTx/>
                  <a:latin typeface="Times New Roman"/>
                </a:rPr>
                <a:t>0</a:t>
              </a:r>
              <a:r>
                <a:rPr lang="zh-CN" sz="2000" b="1" u="none" strike="noStrike">
                  <a:solidFill>
                    <a:srgbClr val="000000"/>
                  </a:solidFill>
                  <a:effectLst/>
                  <a:uFillTx/>
                  <a:latin typeface="Times New Roman"/>
                </a:rPr>
                <a:t>高出很多，所以要引入滞后校正。</a:t>
              </a:r>
              <a:endParaRPr lang="en-US" sz="2000" b="0" u="none" strike="noStrike">
                <a:solidFill>
                  <a:srgbClr val="000000"/>
                </a:solidFill>
                <a:effectLst/>
                <a:uFillTx/>
                <a:latin typeface="Times New Roman"/>
              </a:endParaRPr>
            </a:p>
          </p:txBody>
        </p:sp>
        <mc:AlternateContent>
          <mc:Choice xmlns:a14="http://schemas.microsoft.com/office/drawing/2010/main" Requires="a14">
            <p:sp>
              <p:nvSpPr>
                <p:cNvPr id="1094" name="Object 49"/>
                <p:cNvSpPr txBox="1"/>
                <p:nvPr/>
              </p:nvSpPr>
              <p:spPr>
                <a:xfrm>
                  <a:off x="2095560" y="3595680"/>
                  <a:ext cx="342720" cy="411120"/>
                </a:xfrm>
                <a:prstGeom prst="rect">
                  <a:avLst/>
                </a:prstGeom>
              </p:spPr>
              <p:txBody>
                <a:bodyPr/>
                <a:p>
                  <a14:m>
                    <m:oMath xmlns:m="http://schemas.openxmlformats.org/officeDocument/2006/math">
                      <m:sSub>
                        <m:e>
                          <m:r>
                            <m:t xml:space="preserve">ω</m:t>
                          </m:r>
                        </m:e>
                        <m:sub>
                          <m:r>
                            <m:t xml:space="preserve">c</m:t>
                          </m:r>
                        </m:sub>
                      </m:sSub>
                    </m:oMath>
                  </a14:m>
                </a:p>
              </p:txBody>
            </p:sp>
          </mc:Choice>
          <mc:Fallback>
            <p:sp>
              <p:nvSpPr>
                <p:cNvPr id="1094" name="Object 49"/>
                <p:cNvSpPr txBox="1"/>
                <p:nvPr/>
              </p:nvSpPr>
              <p:spPr>
                <a:xfrm>
                  <a:off x="2095560" y="3595680"/>
                  <a:ext cx="342720" cy="411120"/>
                </a:xfrm>
                <a:prstGeom prst="rect">
                  <a:avLst/>
                </a:prstGeom>
                <a:blipFill>
                  <a:blip r:embed="rId6"/>
                  <a:stretch>
                    <a:fillRect/>
                  </a:stretch>
                </a:blipFill>
              </p:spPr>
            </p:sp>
          </mc:Fallback>
        </mc:AlternateContent>
        <mc:AlternateContent>
          <mc:Choice xmlns:a14="http://schemas.microsoft.com/office/drawing/2010/main" Requires="a14">
            <p:sp>
              <p:nvSpPr>
                <p:cNvPr id="1095" name="Object 50"/>
                <p:cNvSpPr txBox="1"/>
                <p:nvPr/>
              </p:nvSpPr>
              <p:spPr>
                <a:xfrm>
                  <a:off x="2951280" y="3639960"/>
                  <a:ext cx="1576440" cy="360360"/>
                </a:xfrm>
                <a:prstGeom prst="rect">
                  <a:avLst/>
                </a:prstGeom>
              </p:spPr>
              <p:txBody>
                <a:bodyPr/>
                <a:p>
                  <a14:m>
                    <m:oMath xmlns:m="http://schemas.openxmlformats.org/officeDocument/2006/math">
                      <m:sSub>
                        <m:e>
                          <m:r>
                            <m:t xml:space="preserve">L</m:t>
                          </m:r>
                        </m:e>
                        <m:sub>
                          <m:r>
                            <m:t xml:space="preserve">g</m:t>
                          </m:r>
                        </m:sub>
                      </m:sSub>
                      <m:r>
                        <m:t xml:space="preserve">(</m:t>
                      </m:r>
                      <m:sSub>
                        <m:e>
                          <m:r>
                            <m:t xml:space="preserve">ω</m:t>
                          </m:r>
                        </m:e>
                        <m:sub>
                          <m:r>
                            <m:t xml:space="preserve">c</m:t>
                          </m:r>
                        </m:sub>
                      </m:sSub>
                      <m:r>
                        <m:t xml:space="preserve">)</m:t>
                      </m:r>
                      <m:r>
                        <m:t xml:space="preserve">+</m:t>
                      </m:r>
                      <m:sSub>
                        <m:e>
                          <m:r>
                            <m:t xml:space="preserve">L</m:t>
                          </m:r>
                        </m:e>
                        <m:sub>
                          <m:r>
                            <m:t xml:space="preserve">c</m:t>
                          </m:r>
                        </m:sub>
                      </m:sSub>
                      <m:r>
                        <m:t xml:space="preserve">(</m:t>
                      </m:r>
                      <m:sSub>
                        <m:e>
                          <m:r>
                            <m:t xml:space="preserve">ω</m:t>
                          </m:r>
                        </m:e>
                        <m:sub>
                          <m:r>
                            <m:t xml:space="preserve">c</m:t>
                          </m:r>
                        </m:sub>
                      </m:sSub>
                      <m:r>
                        <m:t xml:space="preserve">)</m:t>
                      </m:r>
                    </m:oMath>
                  </a14:m>
                </a:p>
              </p:txBody>
            </p:sp>
          </mc:Choice>
          <mc:Fallback>
            <p:sp>
              <p:nvSpPr>
                <p:cNvPr id="1095" name="Object 50"/>
                <p:cNvSpPr txBox="1"/>
                <p:nvPr/>
              </p:nvSpPr>
              <p:spPr>
                <a:xfrm>
                  <a:off x="2951280" y="3639960"/>
                  <a:ext cx="1576440" cy="360360"/>
                </a:xfrm>
                <a:prstGeom prst="rect">
                  <a:avLst/>
                </a:prstGeom>
                <a:blipFill>
                  <a:blip r:embed="rId7"/>
                  <a:stretch>
                    <a:fillRect/>
                  </a:stretch>
                </a:blipFill>
              </p:spPr>
            </p:sp>
          </mc:Fallback>
        </mc:AlternateContent>
      </p:grpSp>
    </p:spTree>
  </p:cSld>
  <p:transition>
    <p:random/>
  </p:transition>
  <p:timing>
    <p:tnLst>
      <p:par>
        <p:cTn id="1100" dur="indefinite" restart="never" nodeType="tmRoot">
          <p:childTnLst>
            <p:seq>
              <p:cTn id="1101" dur="indefinite" nodeType="mainSeq">
                <p:childTnLst>
                  <p:par>
                    <p:cTn id="1102" fill="hold" nodeType="clickEffect">
                      <p:stCondLst>
                        <p:cond delay="indefinite"/>
                      </p:stCondLst>
                      <p:childTnLst>
                        <p:par>
                          <p:cTn id="1103" fill="hold" nodeType="withEffect">
                            <p:stCondLst>
                              <p:cond delay="0"/>
                            </p:stCondLst>
                            <p:childTnLst>
                              <p:par>
                                <p:cTn id="1104" presetID="3" presetClass="entr" fill="hold" nodeType="clickEffect" presetSubtype="10">
                                  <p:stCondLst>
                                    <p:cond delay="0"/>
                                  </p:stCondLst>
                                  <p:childTnLst>
                                    <p:set>
                                      <p:cBhvr>
                                        <p:cTn id="1105" dur="1" fill="hold">
                                          <p:stCondLst>
                                            <p:cond delay="0"/>
                                          </p:stCondLst>
                                        </p:cTn>
                                        <p:tgtEl>
                                          <p:spTgt spid="1086"/>
                                        </p:tgtEl>
                                        <p:attrNameLst>
                                          <p:attrName>style.visibility</p:attrName>
                                        </p:attrNameLst>
                                      </p:cBhvr>
                                      <p:to>
                                        <p:strVal val="visible"/>
                                      </p:to>
                                    </p:set>
                                    <p:animEffect transition="in" filter="blinds(horizontal)">
                                      <p:cBhvr additive="repl">
                                        <p:cTn id="1106" dur="500"/>
                                        <p:tgtEl>
                                          <p:spTgt spid="1086"/>
                                        </p:tgtEl>
                                      </p:cBhvr>
                                    </p:animEffect>
                                  </p:childTnLst>
                                </p:cTn>
                              </p:par>
                            </p:childTnLst>
                          </p:cTn>
                        </p:par>
                      </p:childTnLst>
                    </p:cTn>
                  </p:par>
                  <p:par>
                    <p:cTn id="1107" fill="hold" nodeType="clickEffect">
                      <p:stCondLst>
                        <p:cond delay="indefinite"/>
                      </p:stCondLst>
                      <p:childTnLst>
                        <p:par>
                          <p:cTn id="1108" fill="hold" nodeType="withEffect">
                            <p:stCondLst>
                              <p:cond delay="0"/>
                            </p:stCondLst>
                            <p:childTnLst>
                              <p:par>
                                <p:cTn id="1109" presetID="3" presetClass="entr" fill="hold" nodeType="clickEffect" presetSubtype="10">
                                  <p:stCondLst>
                                    <p:cond delay="0"/>
                                  </p:stCondLst>
                                  <p:childTnLst>
                                    <p:set>
                                      <p:cBhvr>
                                        <p:cTn id="1110" dur="1" fill="hold">
                                          <p:stCondLst>
                                            <p:cond delay="0"/>
                                          </p:stCondLst>
                                        </p:cTn>
                                        <p:tgtEl>
                                          <p:spTgt spid="1090"/>
                                        </p:tgtEl>
                                        <p:attrNameLst>
                                          <p:attrName>style.visibility</p:attrName>
                                        </p:attrNameLst>
                                      </p:cBhvr>
                                      <p:to>
                                        <p:strVal val="visible"/>
                                      </p:to>
                                    </p:set>
                                    <p:animEffect transition="in" filter="blinds(horizontal)">
                                      <p:cBhvr additive="repl">
                                        <p:cTn id="1111" dur="500"/>
                                        <p:tgtEl>
                                          <p:spTgt spid="1090"/>
                                        </p:tgtEl>
                                      </p:cBhvr>
                                    </p:animEffect>
                                  </p:childTnLst>
                                </p:cTn>
                              </p:par>
                            </p:childTnLst>
                          </p:cTn>
                        </p:par>
                      </p:childTnLst>
                    </p:cTn>
                  </p:par>
                  <p:par>
                    <p:cTn id="1112" fill="hold" nodeType="clickEffect">
                      <p:stCondLst>
                        <p:cond delay="indefinite"/>
                      </p:stCondLst>
                      <p:childTnLst>
                        <p:par>
                          <p:cTn id="1113" fill="hold" nodeType="withEffect">
                            <p:stCondLst>
                              <p:cond delay="0"/>
                            </p:stCondLst>
                            <p:childTnLst>
                              <p:par>
                                <p:cTn id="1114" presetID="3" presetClass="entr" fill="hold" nodeType="clickEffect" presetSubtype="10">
                                  <p:stCondLst>
                                    <p:cond delay="0"/>
                                  </p:stCondLst>
                                  <p:childTnLst>
                                    <p:set>
                                      <p:cBhvr>
                                        <p:cTn id="1115" dur="1" fill="hold">
                                          <p:stCondLst>
                                            <p:cond delay="0"/>
                                          </p:stCondLst>
                                        </p:cTn>
                                        <p:tgtEl>
                                          <p:spTgt spid="1092"/>
                                        </p:tgtEl>
                                        <p:attrNameLst>
                                          <p:attrName>style.visibility</p:attrName>
                                        </p:attrNameLst>
                                      </p:cBhvr>
                                      <p:to>
                                        <p:strVal val="visible"/>
                                      </p:to>
                                    </p:set>
                                    <p:animEffect transition="in" filter="blinds(horizontal)">
                                      <p:cBhvr additive="repl">
                                        <p:cTn id="1116" dur="500"/>
                                        <p:tgtEl>
                                          <p:spTgt spid="1092"/>
                                        </p:tgtEl>
                                      </p:cBhvr>
                                    </p:animEffect>
                                  </p:childTnLst>
                                </p:cTn>
                              </p:par>
                            </p:childTnLst>
                          </p:cTn>
                        </p:par>
                      </p:childTnLst>
                    </p:cTn>
                  </p:par>
                  <p:par>
                    <p:cTn id="1117" fill="hold" nodeType="clickEffect">
                      <p:stCondLst>
                        <p:cond delay="indefinite"/>
                      </p:stCondLst>
                      <p:childTnLst>
                        <p:par>
                          <p:cTn id="1118" fill="hold" nodeType="withEffect">
                            <p:stCondLst>
                              <p:cond delay="0"/>
                            </p:stCondLst>
                            <p:childTnLst>
                              <p:par>
                                <p:cTn id="1119" presetID="3" presetClass="entr" fill="hold" nodeType="clickEffect" presetSubtype="10">
                                  <p:stCondLst>
                                    <p:cond delay="0"/>
                                  </p:stCondLst>
                                  <p:childTnLst>
                                    <p:set>
                                      <p:cBhvr>
                                        <p:cTn id="1120" dur="1" fill="hold">
                                          <p:stCondLst>
                                            <p:cond delay="0"/>
                                          </p:stCondLst>
                                        </p:cTn>
                                        <p:tgtEl>
                                          <p:spTgt spid="1080"/>
                                        </p:tgtEl>
                                        <p:attrNameLst>
                                          <p:attrName>style.visibility</p:attrName>
                                        </p:attrNameLst>
                                      </p:cBhvr>
                                      <p:to>
                                        <p:strVal val="visible"/>
                                      </p:to>
                                    </p:set>
                                    <p:animEffect transition="in" filter="blinds(horizontal)">
                                      <p:cBhvr additive="repl">
                                        <p:cTn id="1121" dur="500"/>
                                        <p:tgtEl>
                                          <p:spTgt spid="1080"/>
                                        </p:tgtEl>
                                      </p:cBhvr>
                                    </p:animEffect>
                                  </p:childTnLst>
                                </p:cTn>
                              </p:par>
                            </p:childTnLst>
                          </p:cTn>
                        </p:par>
                      </p:childTnLst>
                    </p:cTn>
                  </p:par>
                  <p:par>
                    <p:cTn id="1122" fill="hold" nodeType="clickEffect">
                      <p:stCondLst>
                        <p:cond delay="indefinite"/>
                      </p:stCondLst>
                      <p:childTnLst>
                        <p:par>
                          <p:cTn id="1123" fill="hold" nodeType="withEffect">
                            <p:stCondLst>
                              <p:cond delay="0"/>
                            </p:stCondLst>
                            <p:childTnLst>
                              <p:par>
                                <p:cTn id="1124" presetID="3" presetClass="entr" fill="hold" nodeType="clickEffect" presetSubtype="10">
                                  <p:stCondLst>
                                    <p:cond delay="0"/>
                                  </p:stCondLst>
                                  <p:childTnLst>
                                    <p:set>
                                      <p:cBhvr>
                                        <p:cTn id="1125" dur="1" fill="hold">
                                          <p:stCondLst>
                                            <p:cond delay="0"/>
                                          </p:stCondLst>
                                        </p:cTn>
                                        <p:tgtEl>
                                          <p:spTgt spid="1084"/>
                                        </p:tgtEl>
                                        <p:attrNameLst>
                                          <p:attrName>style.visibility</p:attrName>
                                        </p:attrNameLst>
                                      </p:cBhvr>
                                      <p:to>
                                        <p:strVal val="visible"/>
                                      </p:to>
                                    </p:set>
                                    <p:animEffect transition="in" filter="blinds(horizontal)">
                                      <p:cBhvr additive="repl">
                                        <p:cTn id="1126" dur="500"/>
                                        <p:tgtEl>
                                          <p:spTgt spid="1084"/>
                                        </p:tgtEl>
                                      </p:cBhvr>
                                    </p:animEffect>
                                  </p:childTnLst>
                                </p:cTn>
                              </p:par>
                            </p:childTnLst>
                          </p:cTn>
                        </p:par>
                      </p:childTnLst>
                    </p:cTn>
                  </p:par>
                  <p:par>
                    <p:cTn id="1127" fill="hold" nodeType="clickEffect">
                      <p:stCondLst>
                        <p:cond delay="indefinite"/>
                      </p:stCondLst>
                      <p:childTnLst>
                        <p:par>
                          <p:cTn id="1128" fill="hold" nodeType="withEffect">
                            <p:stCondLst>
                              <p:cond delay="0"/>
                            </p:stCondLst>
                            <p:childTnLst>
                              <p:par>
                                <p:cTn id="1129" presetID="3" presetClass="entr" fill="hold" nodeType="clickEffect" presetSubtype="10">
                                  <p:stCondLst>
                                    <p:cond delay="0"/>
                                  </p:stCondLst>
                                  <p:childTnLst>
                                    <p:set>
                                      <p:cBhvr>
                                        <p:cTn id="1130" dur="1" fill="hold">
                                          <p:stCondLst>
                                            <p:cond delay="0"/>
                                          </p:stCondLst>
                                        </p:cTn>
                                        <p:tgtEl>
                                          <p:spTgt spid="1091"/>
                                        </p:tgtEl>
                                        <p:attrNameLst>
                                          <p:attrName>style.visibility</p:attrName>
                                        </p:attrNameLst>
                                      </p:cBhvr>
                                      <p:to>
                                        <p:strVal val="visible"/>
                                      </p:to>
                                    </p:set>
                                    <p:animEffect transition="in" filter="blinds(horizontal)">
                                      <p:cBhvr additive="repl">
                                        <p:cTn id="1131" dur="500"/>
                                        <p:tgtEl>
                                          <p:spTgt spid="10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380</TotalTime>
  <Application>LibreOffice/26.2.1.2$Windows_X86_64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2004-09-25T06:50:55Z</dcterms:created>
  <dc:creator>hj</dc:creator>
  <dc:description/>
  <cp:keywords/>
  <dc:language>zh-CN</dc:language>
  <cp:lastModifiedBy>Lenovo</cp:lastModifiedBy>
  <dcterms:modified xsi:type="dcterms:W3CDTF">2020-02-03T11:47:39Z</dcterms:modified>
  <cp:revision>384</cp:revision>
  <dc:subject/>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2052-9.1.0.4636</vt:lpwstr>
  </property>
</Properties>
</file>