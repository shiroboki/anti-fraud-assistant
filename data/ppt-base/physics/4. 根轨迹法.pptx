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8.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59.emf" ContentType="image/x-emf"/>
  <Override PartName="/ppt/media/image26.emf" ContentType="image/x-emf"/>
  <Override PartName="/ppt/media/image70.emf" ContentType="image/x-emf"/>
  <Override PartName="/ppt/media/image43.emf" ContentType="image/x-emf"/>
  <Override PartName="/ppt/media/image7.emf" ContentType="image/x-emf"/>
  <Override PartName="/ppt/media/image46.emf" ContentType="image/x-emf"/>
  <Override PartName="/ppt/media/image2.emf" ContentType="image/x-emf"/>
  <Override PartName="/ppt/media/image57.emf" ContentType="image/x-emf"/>
  <Override PartName="/ppt/media/image45.emf" ContentType="image/x-emf"/>
  <Override PartName="/ppt/media/image18.emf" ContentType="image/x-emf"/>
  <Override PartName="/ppt/media/image1.emf" ContentType="image/x-emf"/>
  <Override PartName="/ppt/media/image47.emf" ContentType="image/x-emf"/>
  <Override PartName="/ppt/media/image3.emf" ContentType="image/x-emf"/>
  <Override PartName="/ppt/media/image40.emf" ContentType="image/x-emf"/>
  <Override PartName="/ppt/media/image4.emf" ContentType="image/x-emf"/>
  <Override PartName="/ppt/media/image71.emf" ContentType="image/x-emf"/>
  <Override PartName="/ppt/media/image41.emf" ContentType="image/x-emf"/>
  <Override PartName="/ppt/media/image5.emf" ContentType="image/x-emf"/>
  <Override PartName="/ppt/media/image72.emf" ContentType="image/x-emf"/>
  <Override PartName="/ppt/media/image42.emf" ContentType="image/x-emf"/>
  <Override PartName="/ppt/media/image6.emf" ContentType="image/x-emf"/>
  <Override PartName="/ppt/media/image28.emf" ContentType="image/x-emf"/>
  <Override PartName="/ppt/media/image75.emf" ContentType="image/x-emf"/>
  <Override PartName="/ppt/media/image10.emf" ContentType="image/x-emf"/>
  <Override PartName="/ppt/media/image9.emf" ContentType="image/x-emf"/>
  <Override PartName="/ppt/media/image11.emf" ContentType="image/x-emf"/>
  <Override PartName="/ppt/media/image12.emf" ContentType="image/x-emf"/>
  <Override PartName="/ppt/media/image13.emf" ContentType="image/x-emf"/>
  <Override PartName="/ppt/media/image49.emf" ContentType="image/x-emf"/>
  <Override PartName="/ppt/media/image14.emf" ContentType="image/x-emf"/>
  <Override PartName="/ppt/media/image48.emf" ContentType="image/x-emf"/>
  <Override PartName="/ppt/media/image15.emf" ContentType="image/x-emf"/>
  <Override PartName="/ppt/media/image16.emf" ContentType="image/x-emf"/>
  <Override PartName="/ppt/media/image17.emf" ContentType="image/x-emf"/>
  <Override PartName="/ppt/media/image44.emf" ContentType="image/x-emf"/>
  <Override PartName="/ppt/media/image19.emf" ContentType="image/x-emf"/>
  <Override PartName="/ppt/media/image20.emf" ContentType="image/x-emf"/>
  <Override PartName="/ppt/media/image21.emf" ContentType="image/x-emf"/>
  <Override PartName="/ppt/media/image22.emf" ContentType="image/x-emf"/>
  <Override PartName="/ppt/media/image23.emf" ContentType="image/x-emf"/>
  <Override PartName="/ppt/media/image24.emf" ContentType="image/x-emf"/>
  <Override PartName="/ppt/media/image33.emf" ContentType="image/x-emf"/>
  <Override PartName="/ppt/media/image53.emf" ContentType="image/x-emf"/>
  <Override PartName="/ppt/media/image37.wmf" ContentType="image/x-wmf"/>
  <Override PartName="/ppt/media/image27.emf" ContentType="image/x-emf"/>
  <Override PartName="/ppt/media/image29.emf" ContentType="image/x-emf"/>
  <Override PartName="/ppt/media/image30.emf" ContentType="image/x-emf"/>
  <Override PartName="/ppt/media/image31.emf" ContentType="image/x-emf"/>
  <Override PartName="/ppt/media/image32.emf" ContentType="image/x-emf"/>
  <Override PartName="/ppt/media/image34.emf" ContentType="image/x-emf"/>
  <Override PartName="/ppt/media/image35.emf" ContentType="image/x-emf"/>
  <Override PartName="/ppt/media/image36.emf" ContentType="image/x-emf"/>
  <Override PartName="/ppt/media/image38.emf" ContentType="image/x-emf"/>
  <Override PartName="/ppt/media/image39.emf" ContentType="image/x-emf"/>
  <Override PartName="/ppt/media/image50.emf" ContentType="image/x-emf"/>
  <Override PartName="/ppt/media/image51.emf" ContentType="image/x-emf"/>
  <Override PartName="/ppt/media/image52.emf" ContentType="image/x-emf"/>
  <Override PartName="/ppt/media/image54.emf" ContentType="image/x-emf"/>
  <Override PartName="/ppt/media/image55.emf" ContentType="image/x-emf"/>
  <Override PartName="/ppt/media/image56.emf" ContentType="image/x-emf"/>
  <Override PartName="/ppt/media/image60.emf" ContentType="image/x-emf"/>
  <Override PartName="/ppt/media/image61.emf" ContentType="image/x-emf"/>
  <Override PartName="/ppt/media/image62.emf" ContentType="image/x-emf"/>
  <Override PartName="/ppt/media/image63.emf" ContentType="image/x-emf"/>
  <Override PartName="/ppt/media/image64.emf" ContentType="image/x-emf"/>
  <Override PartName="/ppt/media/image66.emf" ContentType="image/x-emf"/>
  <Override PartName="/ppt/media/image67.emf" ContentType="image/x-emf"/>
  <Override PartName="/ppt/media/image68.emf" ContentType="image/x-emf"/>
  <Override PartName="/ppt/media/image74.emf" ContentType="image/x-emf"/>
  <Override PartName="/ppt/media/image76.emf" ContentType="image/x-emf"/>
  <Override PartName="/ppt/media/image77.emf" ContentType="image/x-emf"/>
  <Override PartName="/ppt/media/image78.emf" ContentType="image/x-emf"/>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
          <p:cNvSpPr/>
          <p:nvPr/>
        </p:nvSpPr>
        <p:spPr>
          <a:xfrm>
            <a:off x="0" y="0"/>
            <a:ext cx="6858000" cy="9144000"/>
          </a:xfrm>
          <a:prstGeom prst="rect">
            <a:avLst/>
          </a:prstGeom>
          <a:solidFill>
            <a:srgbClr val="FFFFFF"/>
          </a:solidFill>
          <a:ln w="0">
            <a:noFill/>
          </a:ln>
        </p:spPr>
        <p:txBody>
          <a:bodyPr lIns="90000" tIns="45000" rIns="90000" bIns="45000" anchor="ctr" anchorCtr="1">
            <a:noAutofit/>
          </a:bodyPr>
          <a:p>
            <a:endParaRPr lang="en-US" sz="2800" b="1" u="none" strike="noStrike">
              <a:solidFill>
                <a:srgbClr val="000000"/>
              </a:solidFill>
              <a:effectLst/>
              <a:uFillTx/>
              <a:latin typeface="Times New Roman"/>
            </a:endParaRPr>
          </a:p>
        </p:txBody>
      </p:sp>
      <p:sp>
        <p:nvSpPr>
          <p:cNvPr id="27" name="PlaceHolder 1"/>
          <p:cNvSpPr>
            <a:spLocks noGrp="1"/>
          </p:cNvSpPr>
          <p:nvPr>
            <p:ph type="hdr"/>
          </p:nvPr>
        </p:nvSpPr>
        <p:spPr>
          <a:xfrm>
            <a:off x="-360" y="0"/>
            <a:ext cx="2971800" cy="45720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8" name="PlaceHolder 2"/>
          <p:cNvSpPr>
            <a:spLocks noGrp="1"/>
          </p:cNvSpPr>
          <p:nvPr>
            <p:ph type="dt" idx="7"/>
          </p:nvPr>
        </p:nvSpPr>
        <p:spPr>
          <a:xfrm>
            <a:off x="3885840" y="0"/>
            <a:ext cx="2971800" cy="45720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9"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tIns="46800" rIns="90000" bIns="46800" anchor="t">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Candara"/>
              </a:rPr>
              <a:t>单击以移动幻灯片</a:t>
            </a:r>
            <a:endParaRPr lang="en-US" sz="4400" b="0" u="none" strike="noStrike">
              <a:solidFill>
                <a:srgbClr val="FFFFFF"/>
              </a:solidFill>
              <a:effectLst/>
              <a:uFillTx/>
              <a:latin typeface="Candara"/>
            </a:endParaRPr>
          </a:p>
        </p:txBody>
      </p:sp>
      <p:sp>
        <p:nvSpPr>
          <p:cNvPr id="30" name="PlaceHolder 4"/>
          <p:cNvSpPr>
            <a:spLocks noGrp="1"/>
          </p:cNvSpPr>
          <p:nvPr>
            <p:ph type="body"/>
          </p:nvPr>
        </p:nvSpPr>
        <p:spPr>
          <a:xfrm>
            <a:off x="914400" y="4343400"/>
            <a:ext cx="5029200" cy="4114800"/>
          </a:xfrm>
          <a:prstGeom prst="rect">
            <a:avLst/>
          </a:prstGeom>
          <a:noFill/>
          <a:ln w="0">
            <a:noFill/>
          </a:ln>
        </p:spPr>
        <p:txBody>
          <a:bodyPr lIns="90000" tIns="46800" rIns="90000" bIns="4680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Times New Roman"/>
              </a:rPr>
              <a:t>点击编辑备注格式</a:t>
            </a:r>
            <a:endParaRPr lang="en-US" sz="1200" b="0" u="none" strike="noStrike">
              <a:solidFill>
                <a:srgbClr val="000000"/>
              </a:solidFill>
              <a:effectLst/>
              <a:uFillTx/>
              <a:latin typeface="Times New Roman"/>
            </a:endParaRPr>
          </a:p>
        </p:txBody>
      </p:sp>
      <p:sp>
        <p:nvSpPr>
          <p:cNvPr id="31" name="PlaceHolder 5"/>
          <p:cNvSpPr>
            <a:spLocks noGrp="1"/>
          </p:cNvSpPr>
          <p:nvPr>
            <p:ph type="ftr" idx="8"/>
          </p:nvPr>
        </p:nvSpPr>
        <p:spPr>
          <a:xfrm>
            <a:off x="-360" y="8686800"/>
            <a:ext cx="2971800" cy="457200"/>
          </a:xfrm>
          <a:prstGeom prst="rect">
            <a:avLst/>
          </a:prstGeom>
          <a:noFill/>
          <a:ln w="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32" name="PlaceHolder 6"/>
          <p:cNvSpPr>
            <a:spLocks noGrp="1"/>
          </p:cNvSpPr>
          <p:nvPr>
            <p:ph type="sldNum" idx="9"/>
          </p:nvPr>
        </p:nvSpPr>
        <p:spPr>
          <a:xfrm>
            <a:off x="3885840" y="8686800"/>
            <a:ext cx="2971800" cy="45720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86C9952-50BF-4F43-A3D9-BE612F06DE77}" type="slidenum">
              <a:rPr lang="en-US" sz="1200" b="0" u="none" strike="noStrike">
                <a:solidFill>
                  <a:srgbClr val="000000"/>
                </a:solidFill>
                <a:effectLst/>
                <a:uFillTx/>
                <a:latin typeface="Times New Roman"/>
              </a:rPr>
              <a:t>&lt;编号&gt;</a:t>
            </a:fld>
            <a:endParaRPr lang="en-US" sz="1200" b="1"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924DB99-008D-4B38-8CA8-3CF04EE21D39}" type="slidenum">
              <a:rPr lang="en-US" sz="1200" b="0" u="none" strike="noStrike">
                <a:solidFill>
                  <a:srgbClr val="000000"/>
                </a:solidFill>
                <a:effectLst/>
                <a:uFillTx/>
                <a:latin typeface="Times New Roman"/>
              </a:rPr>
              <a:t>&lt;编号&gt;</a:t>
            </a:fld>
            <a:endParaRPr lang="en-US" sz="1200" b="1" u="none" strike="noStrike">
              <a:solidFill>
                <a:srgbClr val="000000"/>
              </a:solidFill>
              <a:effectLst/>
              <a:uFillTx/>
              <a:latin typeface="Times New Roman"/>
            </a:endParaRPr>
          </a:p>
        </p:txBody>
      </p:sp>
      <p:sp>
        <p:nvSpPr>
          <p:cNvPr id="1088" name="PlaceHolder 1"/>
          <p:cNvSpPr>
            <a:spLocks noGrp="1"/>
          </p:cNvSpPr>
          <p:nvPr>
            <p:ph type="sldImg"/>
          </p:nvPr>
        </p:nvSpPr>
        <p:spPr>
          <a:xfrm>
            <a:off x="1143000" y="685800"/>
            <a:ext cx="4572000" cy="3429000"/>
          </a:xfrm>
          <a:prstGeom prst="rect">
            <a:avLst/>
          </a:prstGeom>
          <a:ln w="0">
            <a:noFill/>
          </a:ln>
        </p:spPr>
      </p:sp>
      <p:sp>
        <p:nvSpPr>
          <p:cNvPr id="1089"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默认">
    <p:bg>
      <p:bgPr>
        <a:solidFill>
          <a:srgbClr val="FFFFFF"/>
        </a:solidFill>
      </p:bgPr>
    </p:bg>
    <p:spTree>
      <p:nvGrpSpPr>
        <p:cNvPr id="1" name=""/>
        <p:cNvGrpSpPr/>
        <p:nvPr/>
      </p:nvGrpSpPr>
      <p:grpSpPr>
        <a:xfrm>
          <a:off x="0" y="0"/>
          <a:ext cx="0" cy="0"/>
          <a:chOff x="0" y="0"/>
          <a:chExt cx="0" cy="0"/>
        </a:xfrm>
      </p:grpSpPr>
      <p:sp>
        <p:nvSpPr>
          <p:cNvPr id="2" name="Rounded Rectangle 13"/>
          <p:cNvSpPr/>
          <p:nvPr/>
        </p:nvSpPr>
        <p:spPr>
          <a:xfrm>
            <a:off x="228600" y="228600"/>
            <a:ext cx="8696160" cy="2468520"/>
          </a:xfrm>
          <a:prstGeom prst="roundRect">
            <a:avLst>
              <a:gd name="adj" fmla="val 3361"/>
            </a:avLst>
          </a:prstGeom>
          <a:gradFill rotWithShape="0">
            <a:gsLst>
              <a:gs pos="0">
                <a:srgbClr val="0293E0"/>
              </a:gs>
              <a:gs pos="100000">
                <a:srgbClr val="83D3FE"/>
              </a:gs>
            </a:gsLst>
            <a:lin ang="5400000"/>
          </a:gra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3" name="Group 15"/>
          <p:cNvGrpSpPr/>
          <p:nvPr/>
        </p:nvGrpSpPr>
        <p:grpSpPr>
          <a:xfrm>
            <a:off x="210960" y="1679400"/>
            <a:ext cx="8723520" cy="1330560"/>
            <a:chOff x="210960" y="1679400"/>
            <a:chExt cx="8723520" cy="1330560"/>
          </a:xfrm>
        </p:grpSpPr>
        <p:sp>
          <p:nvSpPr>
            <p:cNvPr id="4" name="Freeform 14"/>
            <p:cNvSpPr/>
            <p:nvPr/>
          </p:nvSpPr>
          <p:spPr>
            <a:xfrm>
              <a:off x="6046920" y="1824480"/>
              <a:ext cx="2876400" cy="714240"/>
            </a:xfrm>
            <a:custGeom>
              <a:avLst/>
              <a:gdLst>
                <a:gd name="GluePoint1X" fmla="*/ 4286250 w 2706"/>
                <a:gd name="GluePoint1Y" fmla="*/ 0 h 640"/>
                <a:gd name="GluePoint2X" fmla="*/ 4286250 w 2706"/>
                <a:gd name="GluePoint2Y" fmla="*/ 0 h 640"/>
                <a:gd name="GluePoint3X" fmla="*/ 4105275 w 2706"/>
                <a:gd name="GluePoint3Y" fmla="*/ 28575 h 640"/>
                <a:gd name="GluePoint4X" fmla="*/ 3921125 w 2706"/>
                <a:gd name="GluePoint4Y" fmla="*/ 60325 h 640"/>
                <a:gd name="GluePoint5X" fmla="*/ 3733800 w 2706"/>
                <a:gd name="GluePoint5Y" fmla="*/ 95250 h 640"/>
                <a:gd name="GluePoint6X" fmla="*/ 3540125 w 2706"/>
                <a:gd name="GluePoint6Y" fmla="*/ 130175 h 640"/>
                <a:gd name="GluePoint7X" fmla="*/ 3343275 w 2706"/>
                <a:gd name="GluePoint7Y" fmla="*/ 171450 h 640"/>
                <a:gd name="GluePoint8X" fmla="*/ 3140075 w 2706"/>
                <a:gd name="GluePoint8Y" fmla="*/ 212725 h 640"/>
                <a:gd name="GluePoint9X" fmla="*/ 2933700 w 2706"/>
                <a:gd name="GluePoint9Y" fmla="*/ 260350 h 640"/>
                <a:gd name="GluePoint10X" fmla="*/ 2720975 w 2706"/>
                <a:gd name="GluePoint10Y" fmla="*/ 307975 h 640"/>
                <a:gd name="GluePoint11X" fmla="*/ 2720975 w 2706"/>
                <a:gd name="GluePoint11Y" fmla="*/ 307975 h 640"/>
                <a:gd name="GluePoint12X" fmla="*/ 2336800 w 2706"/>
                <a:gd name="GluePoint12Y" fmla="*/ 400050 h 640"/>
                <a:gd name="GluePoint13X" fmla="*/ 1962150 w 2706"/>
                <a:gd name="GluePoint13Y" fmla="*/ 482600 h 640"/>
                <a:gd name="GluePoint14X" fmla="*/ 1603375 w 2706"/>
                <a:gd name="GluePoint14Y" fmla="*/ 558800 h 640"/>
                <a:gd name="GluePoint15X" fmla="*/ 1257300 w 2706"/>
                <a:gd name="GluePoint15Y" fmla="*/ 631825 h 640"/>
                <a:gd name="GluePoint16X" fmla="*/ 927100 w 2706"/>
                <a:gd name="GluePoint16Y" fmla="*/ 695325 h 640"/>
                <a:gd name="GluePoint17X" fmla="*/ 606425 w 2706"/>
                <a:gd name="GluePoint17Y" fmla="*/ 752475 h 640"/>
                <a:gd name="GluePoint18X" fmla="*/ 298450 w 2706"/>
                <a:gd name="GluePoint18Y" fmla="*/ 806450 h 640"/>
                <a:gd name="GluePoint19X" fmla="*/ 0 w 2706"/>
                <a:gd name="GluePoint19Y" fmla="*/ 854075 h 640"/>
                <a:gd name="GluePoint20X" fmla="*/ 0 w 2706"/>
                <a:gd name="GluePoint20Y" fmla="*/ 854075 h 640"/>
                <a:gd name="GluePoint21X" fmla="*/ 206375 w 2706"/>
                <a:gd name="GluePoint21Y" fmla="*/ 882650 h 640"/>
                <a:gd name="GluePoint22X" fmla="*/ 403225 w 2706"/>
                <a:gd name="GluePoint22Y" fmla="*/ 908050 h 640"/>
                <a:gd name="GluePoint23X" fmla="*/ 593725 w 2706"/>
                <a:gd name="GluePoint23Y" fmla="*/ 930275 h 640"/>
                <a:gd name="GluePoint24X" fmla="*/ 781050 w 2706"/>
                <a:gd name="GluePoint24Y" fmla="*/ 949325 h 640"/>
                <a:gd name="GluePoint25X" fmla="*/ 962025 w 2706"/>
                <a:gd name="GluePoint25Y" fmla="*/ 968375 h 640"/>
                <a:gd name="GluePoint26X" fmla="*/ 1136650 w 2706"/>
                <a:gd name="GluePoint26Y" fmla="*/ 981075 h 640"/>
                <a:gd name="GluePoint27X" fmla="*/ 1304925 w 2706"/>
                <a:gd name="GluePoint27Y" fmla="*/ 993775 h 640"/>
                <a:gd name="GluePoint28X" fmla="*/ 1470025 w 2706"/>
                <a:gd name="GluePoint28Y" fmla="*/ 1003300 h 640"/>
                <a:gd name="GluePoint29X" fmla="*/ 1631950 w 2706"/>
                <a:gd name="GluePoint29Y" fmla="*/ 1009650 h 640"/>
                <a:gd name="GluePoint30X" fmla="*/ 1787525 w 2706"/>
                <a:gd name="GluePoint30Y" fmla="*/ 1012825 h 640"/>
                <a:gd name="GluePoint31X" fmla="*/ 1936750 w 2706"/>
                <a:gd name="GluePoint31Y" fmla="*/ 1016000 h 640"/>
                <a:gd name="GluePoint32X" fmla="*/ 2082800 w 2706"/>
                <a:gd name="GluePoint32Y" fmla="*/ 1016000 h 640"/>
                <a:gd name="GluePoint33X" fmla="*/ 2225675 w 2706"/>
                <a:gd name="GluePoint33Y" fmla="*/ 1012825 h 640"/>
                <a:gd name="GluePoint34X" fmla="*/ 2365375 w 2706"/>
                <a:gd name="GluePoint34Y" fmla="*/ 1009650 h 640"/>
                <a:gd name="GluePoint35X" fmla="*/ 2498725 w 2706"/>
                <a:gd name="GluePoint35Y" fmla="*/ 1003300 h 640"/>
                <a:gd name="GluePoint36X" fmla="*/ 2628900 w 2706"/>
                <a:gd name="GluePoint36Y" fmla="*/ 993775 h 640"/>
                <a:gd name="GluePoint37X" fmla="*/ 2752725 w 2706"/>
                <a:gd name="GluePoint37Y" fmla="*/ 984250 h 640"/>
                <a:gd name="GluePoint38X" fmla="*/ 2876550 w 2706"/>
                <a:gd name="GluePoint38Y" fmla="*/ 971550 h 640"/>
                <a:gd name="GluePoint39X" fmla="*/ 2994025 w 2706"/>
                <a:gd name="GluePoint39Y" fmla="*/ 955675 h 640"/>
                <a:gd name="GluePoint40X" fmla="*/ 3111500 w 2706"/>
                <a:gd name="GluePoint40Y" fmla="*/ 939800 h 640"/>
                <a:gd name="GluePoint41X" fmla="*/ 3222625 w 2706"/>
                <a:gd name="GluePoint41Y" fmla="*/ 920750 h 640"/>
                <a:gd name="GluePoint42X" fmla="*/ 3333750 w 2706"/>
                <a:gd name="GluePoint42Y" fmla="*/ 901700 h 640"/>
                <a:gd name="GluePoint43X" fmla="*/ 3438525 w 2706"/>
                <a:gd name="GluePoint43Y" fmla="*/ 879475 h 640"/>
                <a:gd name="GluePoint44X" fmla="*/ 3543300 w 2706"/>
                <a:gd name="GluePoint44Y" fmla="*/ 857250 h 640"/>
                <a:gd name="GluePoint45X" fmla="*/ 3644900 w 2706"/>
                <a:gd name="GluePoint45Y" fmla="*/ 831850 h 640"/>
                <a:gd name="GluePoint46X" fmla="*/ 3743325 w 2706"/>
                <a:gd name="GluePoint46Y" fmla="*/ 806450 h 640"/>
                <a:gd name="GluePoint47X" fmla="*/ 3838575 w 2706"/>
                <a:gd name="GluePoint47Y" fmla="*/ 777875 h 640"/>
                <a:gd name="GluePoint48X" fmla="*/ 3933825 w 2706"/>
                <a:gd name="GluePoint48Y" fmla="*/ 749300 h 640"/>
                <a:gd name="GluePoint49X" fmla="*/ 4114800 w 2706"/>
                <a:gd name="GluePoint49Y" fmla="*/ 685800 h 640"/>
                <a:gd name="GluePoint50X" fmla="*/ 4289425 w 2706"/>
                <a:gd name="GluePoint50Y" fmla="*/ 619125 h 640"/>
                <a:gd name="GluePoint51X" fmla="*/ 4289425 w 2706"/>
                <a:gd name="GluePoint51Y" fmla="*/ 619125 h 640"/>
                <a:gd name="GluePoint52X" fmla="*/ 4295775 w 2706"/>
                <a:gd name="GluePoint52Y" fmla="*/ 615950 h 640"/>
                <a:gd name="GluePoint53X" fmla="*/ 4295775 w 2706"/>
                <a:gd name="GluePoint53Y" fmla="*/ 615950 h 640"/>
                <a:gd name="GluePoint54X" fmla="*/ 4295775 w 2706"/>
                <a:gd name="GluePoint54Y" fmla="*/ 0 h 640"/>
                <a:gd name="GluePoint55X" fmla="*/ 4295775 w 2706"/>
                <a:gd name="GluePoint55Y" fmla="*/ 0 h 640"/>
                <a:gd name="GluePoint56X" fmla="*/ 4286250 w 2706"/>
                <a:gd name="GluePoint56Y" fmla="*/ 0 h 640"/>
                <a:gd name="GluePoint57X" fmla="*/ 4286250 w 2706"/>
                <a:gd name="GluePoint57Y" fmla="*/ 0 h 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Lst>
              <a:rect l="l" t="t"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rgbClr val="C6E7FC">
                <a:alpha val="29000"/>
              </a:srgbClr>
            </a:solidFill>
            <a:ln w="0">
              <a:no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 name="Freeform 18"/>
            <p:cNvSpPr/>
            <p:nvPr/>
          </p:nvSpPr>
          <p:spPr>
            <a:xfrm>
              <a:off x="2618640" y="1695960"/>
              <a:ext cx="5544720" cy="850680"/>
            </a:xfrm>
            <a:custGeom>
              <a:avLst/>
              <a:gdLst>
                <a:gd name="GluePoint1X" fmla="*/ 8280401 w 5216"/>
                <a:gd name="GluePoint1Y" fmla="*/ 1133475 h 762"/>
                <a:gd name="GluePoint2X" fmla="*/ 7912101 w 5216"/>
                <a:gd name="GluePoint2Y" fmla="*/ 1089025 h 762"/>
                <a:gd name="GluePoint3X" fmla="*/ 7108826 w 5216"/>
                <a:gd name="GluePoint3Y" fmla="*/ 968375 h 762"/>
                <a:gd name="GluePoint4X" fmla="*/ 6213476 w 5216"/>
                <a:gd name="GluePoint4Y" fmla="*/ 806450 h 762"/>
                <a:gd name="GluePoint5X" fmla="*/ 5216526 w 5216"/>
                <a:gd name="GluePoint5Y" fmla="*/ 593725 h 762"/>
                <a:gd name="GluePoint6X" fmla="*/ 4676776 w 5216"/>
                <a:gd name="GluePoint6Y" fmla="*/ 469900 h 762"/>
                <a:gd name="GluePoint7X" fmla="*/ 4257676 w 5216"/>
                <a:gd name="GluePoint7Y" fmla="*/ 374650 h 762"/>
                <a:gd name="GluePoint8X" fmla="*/ 3857625 w 5216"/>
                <a:gd name="GluePoint8Y" fmla="*/ 292100 h 762"/>
                <a:gd name="GluePoint9X" fmla="*/ 3476625 w 5216"/>
                <a:gd name="GluePoint9Y" fmla="*/ 222250 h 762"/>
                <a:gd name="GluePoint10X" fmla="*/ 3111500 w 5216"/>
                <a:gd name="GluePoint10Y" fmla="*/ 161925 h 762"/>
                <a:gd name="GluePoint11X" fmla="*/ 2762250 w 5216"/>
                <a:gd name="GluePoint11Y" fmla="*/ 114300 h 762"/>
                <a:gd name="GluePoint12X" fmla="*/ 2117725 w 5216"/>
                <a:gd name="GluePoint12Y" fmla="*/ 44450 h 762"/>
                <a:gd name="GluePoint13X" fmla="*/ 1539875 w 5216"/>
                <a:gd name="GluePoint13Y" fmla="*/ 6350 h 762"/>
                <a:gd name="GluePoint14X" fmla="*/ 1022350 w 5216"/>
                <a:gd name="GluePoint14Y" fmla="*/ 0 h 762"/>
                <a:gd name="GluePoint15X" fmla="*/ 568325 w 5216"/>
                <a:gd name="GluePoint15Y" fmla="*/ 15875 h 762"/>
                <a:gd name="GluePoint16X" fmla="*/ 174625 w 5216"/>
                <a:gd name="GluePoint16Y" fmla="*/ 50800 h 762"/>
                <a:gd name="GluePoint17X" fmla="*/ 0 w 5216"/>
                <a:gd name="GluePoint17Y" fmla="*/ 76200 h 762"/>
                <a:gd name="GluePoint18X" fmla="*/ 498475 w 5216"/>
                <a:gd name="GluePoint18Y" fmla="*/ 136525 h 762"/>
                <a:gd name="GluePoint19X" fmla="*/ 1035050 w 5216"/>
                <a:gd name="GluePoint19Y" fmla="*/ 222250 h 762"/>
                <a:gd name="GluePoint20X" fmla="*/ 1609725 w 5216"/>
                <a:gd name="GluePoint20Y" fmla="*/ 333375 h 762"/>
                <a:gd name="GluePoint21X" fmla="*/ 2225675 w 5216"/>
                <a:gd name="GluePoint21Y" fmla="*/ 469900 h 762"/>
                <a:gd name="GluePoint22X" fmla="*/ 2787650 w 5216"/>
                <a:gd name="GluePoint22Y" fmla="*/ 600075 h 762"/>
                <a:gd name="GluePoint23X" fmla="*/ 3822700 w 5216"/>
                <a:gd name="GluePoint23Y" fmla="*/ 819150 h 762"/>
                <a:gd name="GluePoint24X" fmla="*/ 4298951 w 5216"/>
                <a:gd name="GluePoint24Y" fmla="*/ 908050 h 762"/>
                <a:gd name="GluePoint25X" fmla="*/ 4749801 w 5216"/>
                <a:gd name="GluePoint25Y" fmla="*/ 984250 h 762"/>
                <a:gd name="GluePoint26X" fmla="*/ 5175251 w 5216"/>
                <a:gd name="GluePoint26Y" fmla="*/ 1050925 h 762"/>
                <a:gd name="GluePoint27X" fmla="*/ 5575301 w 5216"/>
                <a:gd name="GluePoint27Y" fmla="*/ 1101725 h 762"/>
                <a:gd name="GluePoint28X" fmla="*/ 5953126 w 5216"/>
                <a:gd name="GluePoint28Y" fmla="*/ 1146175 h 762"/>
                <a:gd name="GluePoint29X" fmla="*/ 6308726 w 5216"/>
                <a:gd name="GluePoint29Y" fmla="*/ 1174750 h 762"/>
                <a:gd name="GluePoint30X" fmla="*/ 6642101 w 5216"/>
                <a:gd name="GluePoint30Y" fmla="*/ 1196975 h 762"/>
                <a:gd name="GluePoint31X" fmla="*/ 6959601 w 5216"/>
                <a:gd name="GluePoint31Y" fmla="*/ 1209675 h 762"/>
                <a:gd name="GluePoint32X" fmla="*/ 7254876 w 5216"/>
                <a:gd name="GluePoint32Y" fmla="*/ 1209675 h 762"/>
                <a:gd name="GluePoint33X" fmla="*/ 7534276 w 5216"/>
                <a:gd name="GluePoint33Y" fmla="*/ 1203325 h 762"/>
                <a:gd name="GluePoint34X" fmla="*/ 7797801 w 5216"/>
                <a:gd name="GluePoint34Y" fmla="*/ 1187450 h 762"/>
                <a:gd name="GluePoint35X" fmla="*/ 8045451 w 5216"/>
                <a:gd name="GluePoint35Y" fmla="*/ 1162050 h 762"/>
                <a:gd name="GluePoint36X" fmla="*/ 8280401 w 5216"/>
                <a:gd name="GluePoint36Y" fmla="*/ 1133475 h 7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rgbClr val="C6E7FC">
                <a:alpha val="40000"/>
              </a:srgbClr>
            </a:solidFill>
            <a:ln w="0">
              <a:no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 name="Freeform 22"/>
            <p:cNvSpPr/>
            <p:nvPr/>
          </p:nvSpPr>
          <p:spPr>
            <a:xfrm>
              <a:off x="2828160" y="1708200"/>
              <a:ext cx="5468040" cy="774720"/>
            </a:xfrm>
            <a:custGeom>
              <a:avLst/>
              <a:gdLst>
                <a:gd name="GluePoint1X" fmla="*/ 0 w 5144"/>
                <a:gd name="GluePoint1Y" fmla="*/ 111125 h 694"/>
                <a:gd name="GluePoint2X" fmla="*/ 0 w 5144"/>
                <a:gd name="GluePoint2Y" fmla="*/ 111125 h 694"/>
                <a:gd name="GluePoint3X" fmla="*/ 28575 w 5144"/>
                <a:gd name="GluePoint3Y" fmla="*/ 104775 h 694"/>
                <a:gd name="GluePoint4X" fmla="*/ 114300 w 5144"/>
                <a:gd name="GluePoint4Y" fmla="*/ 88900 h 694"/>
                <a:gd name="GluePoint5X" fmla="*/ 260350 w 5144"/>
                <a:gd name="GluePoint5Y" fmla="*/ 66675 h 694"/>
                <a:gd name="GluePoint6X" fmla="*/ 355600 w 5144"/>
                <a:gd name="GluePoint6Y" fmla="*/ 53975 h 694"/>
                <a:gd name="GluePoint7X" fmla="*/ 466725 w 5144"/>
                <a:gd name="GluePoint7Y" fmla="*/ 41275 h 694"/>
                <a:gd name="GluePoint8X" fmla="*/ 590550 w 5144"/>
                <a:gd name="GluePoint8Y" fmla="*/ 31750 h 694"/>
                <a:gd name="GluePoint9X" fmla="*/ 733425 w 5144"/>
                <a:gd name="GluePoint9Y" fmla="*/ 22225 h 694"/>
                <a:gd name="GluePoint10X" fmla="*/ 889000 w 5144"/>
                <a:gd name="GluePoint10Y" fmla="*/ 12700 h 694"/>
                <a:gd name="GluePoint11X" fmla="*/ 1063625 w 5144"/>
                <a:gd name="GluePoint11Y" fmla="*/ 6350 h 694"/>
                <a:gd name="GluePoint12X" fmla="*/ 1254125 w 5144"/>
                <a:gd name="GluePoint12Y" fmla="*/ 3175 h 694"/>
                <a:gd name="GluePoint13X" fmla="*/ 1460500 w 5144"/>
                <a:gd name="GluePoint13Y" fmla="*/ 0 h 694"/>
                <a:gd name="GluePoint14X" fmla="*/ 1682750 w 5144"/>
                <a:gd name="GluePoint14Y" fmla="*/ 3175 h 694"/>
                <a:gd name="GluePoint15X" fmla="*/ 1920875 w 5144"/>
                <a:gd name="GluePoint15Y" fmla="*/ 9525 h 694"/>
                <a:gd name="GluePoint16X" fmla="*/ 2178050 w 5144"/>
                <a:gd name="GluePoint16Y" fmla="*/ 22225 h 694"/>
                <a:gd name="GluePoint17X" fmla="*/ 2451100 w 5144"/>
                <a:gd name="GluePoint17Y" fmla="*/ 38100 h 694"/>
                <a:gd name="GluePoint18X" fmla="*/ 2740025 w 5144"/>
                <a:gd name="GluePoint18Y" fmla="*/ 63500 h 694"/>
                <a:gd name="GluePoint19X" fmla="*/ 3048000 w 5144"/>
                <a:gd name="GluePoint19Y" fmla="*/ 92075 h 694"/>
                <a:gd name="GluePoint20X" fmla="*/ 3375025 w 5144"/>
                <a:gd name="GluePoint20Y" fmla="*/ 127000 h 694"/>
                <a:gd name="GluePoint21X" fmla="*/ 3717925 w 5144"/>
                <a:gd name="GluePoint21Y" fmla="*/ 168275 h 694"/>
                <a:gd name="GluePoint22X" fmla="*/ 4079875 w 5144"/>
                <a:gd name="GluePoint22Y" fmla="*/ 219075 h 694"/>
                <a:gd name="GluePoint23X" fmla="*/ 4457700 w 5144"/>
                <a:gd name="GluePoint23Y" fmla="*/ 276225 h 694"/>
                <a:gd name="GluePoint24X" fmla="*/ 4854575 w 5144"/>
                <a:gd name="GluePoint24Y" fmla="*/ 342900 h 694"/>
                <a:gd name="GluePoint25X" fmla="*/ 5270500 w 5144"/>
                <a:gd name="GluePoint25Y" fmla="*/ 422275 h 694"/>
                <a:gd name="GluePoint26X" fmla="*/ 5705475 w 5144"/>
                <a:gd name="GluePoint26Y" fmla="*/ 508000 h 694"/>
                <a:gd name="GluePoint27X" fmla="*/ 6159500 w 5144"/>
                <a:gd name="GluePoint27Y" fmla="*/ 603250 h 694"/>
                <a:gd name="GluePoint28X" fmla="*/ 6632575 w 5144"/>
                <a:gd name="GluePoint28Y" fmla="*/ 711200 h 694"/>
                <a:gd name="GluePoint29X" fmla="*/ 7124700 w 5144"/>
                <a:gd name="GluePoint29Y" fmla="*/ 828675 h 694"/>
                <a:gd name="GluePoint30X" fmla="*/ 7635875 w 5144"/>
                <a:gd name="GluePoint30Y" fmla="*/ 958850 h 694"/>
                <a:gd name="GluePoint31X" fmla="*/ 8166100 w 5144"/>
                <a:gd name="GluePoint31Y" fmla="*/ 1101725 h 6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l" t="t"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0">
              <a:solidFill>
                <a:srgbClr val="FFFFFF"/>
              </a:solid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 name="Freeform 26"/>
            <p:cNvSpPr/>
            <p:nvPr/>
          </p:nvSpPr>
          <p:spPr>
            <a:xfrm>
              <a:off x="5608800" y="1694880"/>
              <a:ext cx="3308040" cy="651960"/>
            </a:xfrm>
            <a:custGeom>
              <a:avLst/>
              <a:gdLst>
                <a:gd name="GluePoint1X" fmla="*/ 0 w 3112"/>
                <a:gd name="GluePoint1Y" fmla="*/ 927100 h 584"/>
                <a:gd name="GluePoint2X" fmla="*/ 0 w 3112"/>
                <a:gd name="GluePoint2Y" fmla="*/ 927100 h 584"/>
                <a:gd name="GluePoint3X" fmla="*/ 142875 w 3112"/>
                <a:gd name="GluePoint3Y" fmla="*/ 889000 h 584"/>
                <a:gd name="GluePoint4X" fmla="*/ 533400 w 3112"/>
                <a:gd name="GluePoint4Y" fmla="*/ 790575 h 584"/>
                <a:gd name="GluePoint5X" fmla="*/ 803275 w 3112"/>
                <a:gd name="GluePoint5Y" fmla="*/ 723900 h 584"/>
                <a:gd name="GluePoint6X" fmla="*/ 1114425 w 3112"/>
                <a:gd name="GluePoint6Y" fmla="*/ 650875 h 584"/>
                <a:gd name="GluePoint7X" fmla="*/ 1460500 w 3112"/>
                <a:gd name="GluePoint7Y" fmla="*/ 571500 h 584"/>
                <a:gd name="GluePoint8X" fmla="*/ 1831975 w 3112"/>
                <a:gd name="GluePoint8Y" fmla="*/ 485775 h 584"/>
                <a:gd name="GluePoint9X" fmla="*/ 2225675 w 3112"/>
                <a:gd name="GluePoint9Y" fmla="*/ 403225 h 584"/>
                <a:gd name="GluePoint10X" fmla="*/ 2628900 w 3112"/>
                <a:gd name="GluePoint10Y" fmla="*/ 320675 h 584"/>
                <a:gd name="GluePoint11X" fmla="*/ 3041650 w 3112"/>
                <a:gd name="GluePoint11Y" fmla="*/ 244475 h 584"/>
                <a:gd name="GluePoint12X" fmla="*/ 3451225 w 3112"/>
                <a:gd name="GluePoint12Y" fmla="*/ 171450 h 584"/>
                <a:gd name="GluePoint13X" fmla="*/ 3654425 w 3112"/>
                <a:gd name="GluePoint13Y" fmla="*/ 139700 h 584"/>
                <a:gd name="GluePoint14X" fmla="*/ 3851275 w 3112"/>
                <a:gd name="GluePoint14Y" fmla="*/ 107950 h 584"/>
                <a:gd name="GluePoint15X" fmla="*/ 4048125 w 3112"/>
                <a:gd name="GluePoint15Y" fmla="*/ 82550 h 584"/>
                <a:gd name="GluePoint16X" fmla="*/ 4238625 w 3112"/>
                <a:gd name="GluePoint16Y" fmla="*/ 57150 h 584"/>
                <a:gd name="GluePoint17X" fmla="*/ 4425950 w 3112"/>
                <a:gd name="GluePoint17Y" fmla="*/ 38100 h 584"/>
                <a:gd name="GluePoint18X" fmla="*/ 4603750 w 3112"/>
                <a:gd name="GluePoint18Y" fmla="*/ 22225 h 584"/>
                <a:gd name="GluePoint19X" fmla="*/ 4775200 w 3112"/>
                <a:gd name="GluePoint19Y" fmla="*/ 9525 h 584"/>
                <a:gd name="GluePoint20X" fmla="*/ 4940300 w 3112"/>
                <a:gd name="GluePoint20Y" fmla="*/ 0 h 5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l" t="t"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0">
              <a:solidFill>
                <a:srgbClr val="FFFFFF"/>
              </a:solid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useBgFill="1">
          <p:nvSpPr>
            <p:cNvPr id="8" name="Freeform 10"/>
            <p:cNvSpPr/>
            <p:nvPr/>
          </p:nvSpPr>
          <p:spPr>
            <a:xfrm>
              <a:off x="210960" y="1679400"/>
              <a:ext cx="8723520" cy="1330560"/>
            </a:xfrm>
            <a:custGeom>
              <a:avLst/>
              <a:gdLst>
                <a:gd name="GluePoint1X" fmla="*/ 13021481 w 8196"/>
                <a:gd name="GluePoint1Y" fmla="*/ 812800 h 1192"/>
                <a:gd name="GluePoint2X" fmla="*/ 12779871 w 8196"/>
                <a:gd name="GluePoint2Y" fmla="*/ 904875 h 1192"/>
                <a:gd name="GluePoint3X" fmla="*/ 12522366 w 8196"/>
                <a:gd name="GluePoint3Y" fmla="*/ 984250 h 1192"/>
                <a:gd name="GluePoint4X" fmla="*/ 12248966 w 8196"/>
                <a:gd name="GluePoint4Y" fmla="*/ 1057275 h 1192"/>
                <a:gd name="GluePoint5X" fmla="*/ 11956492 w 8196"/>
                <a:gd name="GluePoint5Y" fmla="*/ 1114425 h 1192"/>
                <a:gd name="GluePoint6X" fmla="*/ 11638584 w 8196"/>
                <a:gd name="GluePoint6Y" fmla="*/ 1158875 h 1192"/>
                <a:gd name="GluePoint7X" fmla="*/ 11295245 w 8196"/>
                <a:gd name="GluePoint7Y" fmla="*/ 1190625 h 1192"/>
                <a:gd name="GluePoint8X" fmla="*/ 10923293 w 8196"/>
                <a:gd name="GluePoint8Y" fmla="*/ 1209675 h 1192"/>
                <a:gd name="GluePoint9X" fmla="*/ 10519551 w 8196"/>
                <a:gd name="GluePoint9Y" fmla="*/ 1206500 h 1192"/>
                <a:gd name="GluePoint10X" fmla="*/ 10080839 w 8196"/>
                <a:gd name="GluePoint10Y" fmla="*/ 1190625 h 1192"/>
                <a:gd name="GluePoint11X" fmla="*/ 9603978 w 8196"/>
                <a:gd name="GluePoint11Y" fmla="*/ 1152525 h 1192"/>
                <a:gd name="GluePoint12X" fmla="*/ 9085789 w 8196"/>
                <a:gd name="GluePoint12Y" fmla="*/ 1095375 h 1192"/>
                <a:gd name="GluePoint13X" fmla="*/ 8526272 w 8196"/>
                <a:gd name="GluePoint13Y" fmla="*/ 1019175 h 1192"/>
                <a:gd name="GluePoint14X" fmla="*/ 7919070 w 8196"/>
                <a:gd name="GluePoint14Y" fmla="*/ 917575 h 1192"/>
                <a:gd name="GluePoint15X" fmla="*/ 7261002 w 8196"/>
                <a:gd name="GluePoint15Y" fmla="*/ 793750 h 1192"/>
                <a:gd name="GluePoint16X" fmla="*/ 6552068 w 8196"/>
                <a:gd name="GluePoint16Y" fmla="*/ 644525 h 1192"/>
                <a:gd name="GluePoint17X" fmla="*/ 5785912 w 8196"/>
                <a:gd name="GluePoint17Y" fmla="*/ 469900 h 1192"/>
                <a:gd name="GluePoint18X" fmla="*/ 5398065 w 8196"/>
                <a:gd name="GluePoint18Y" fmla="*/ 381000 h 1192"/>
                <a:gd name="GluePoint19X" fmla="*/ 4663699 w 8196"/>
                <a:gd name="GluePoint19Y" fmla="*/ 234950 h 1192"/>
                <a:gd name="GluePoint20X" fmla="*/ 3992915 w 8196"/>
                <a:gd name="GluePoint20Y" fmla="*/ 130175 h 1192"/>
                <a:gd name="GluePoint21X" fmla="*/ 3379354 w 8196"/>
                <a:gd name="GluePoint21Y" fmla="*/ 57150 h 1192"/>
                <a:gd name="GluePoint22X" fmla="*/ 2823016 w 8196"/>
                <a:gd name="GluePoint22Y" fmla="*/ 15875 h 1192"/>
                <a:gd name="GluePoint23X" fmla="*/ 2323902 w 8196"/>
                <a:gd name="GluePoint23Y" fmla="*/ 0 h 1192"/>
                <a:gd name="GluePoint24X" fmla="*/ 1878832 w 8196"/>
                <a:gd name="GluePoint24Y" fmla="*/ 6350 h 1192"/>
                <a:gd name="GluePoint25X" fmla="*/ 1484627 w 8196"/>
                <a:gd name="GluePoint25Y" fmla="*/ 31750 h 1192"/>
                <a:gd name="GluePoint26X" fmla="*/ 1138108 w 8196"/>
                <a:gd name="GluePoint26Y" fmla="*/ 69850 h 1192"/>
                <a:gd name="GluePoint27X" fmla="*/ 842454 w 8196"/>
                <a:gd name="GluePoint27Y" fmla="*/ 117475 h 1192"/>
                <a:gd name="GluePoint28X" fmla="*/ 594487 w 8196"/>
                <a:gd name="GluePoint28Y" fmla="*/ 171450 h 1192"/>
                <a:gd name="GluePoint29X" fmla="*/ 394205 w 8196"/>
                <a:gd name="GluePoint29Y" fmla="*/ 228600 h 1192"/>
                <a:gd name="GluePoint30X" fmla="*/ 235251 w 8196"/>
                <a:gd name="GluePoint30Y" fmla="*/ 279400 h 1192"/>
                <a:gd name="GluePoint31X" fmla="*/ 76298 w 8196"/>
                <a:gd name="GluePoint31Y" fmla="*/ 342900 h 1192"/>
                <a:gd name="GluePoint32X" fmla="*/ 0 w 8196"/>
                <a:gd name="GluePoint32Y" fmla="*/ 381000 h 1192"/>
                <a:gd name="GluePoint33X" fmla="*/ 13021481 w 8196"/>
                <a:gd name="GluePoint33Y" fmla="*/ 1892300 h 1192"/>
                <a:gd name="GluePoint34X" fmla="*/ 13027839 w 8196"/>
                <a:gd name="GluePoint34Y" fmla="*/ 1882775 h 1192"/>
                <a:gd name="GluePoint35X" fmla="*/ 13027839 w 8196"/>
                <a:gd name="GluePoint35Y" fmla="*/ 809625 h 1192"/>
                <a:gd name="GluePoint36X" fmla="*/ 13021481 w 8196"/>
                <a:gd name="GluePoint36Y" fmla="*/ 812800 h 11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w="0">
              <a:no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9" name="PlaceHolder 1"/>
          <p:cNvSpPr>
            <a:spLocks noGrp="1"/>
          </p:cNvSpPr>
          <p:nvPr>
            <p:ph type="title"/>
          </p:nvPr>
        </p:nvSpPr>
        <p:spPr>
          <a:xfrm>
            <a:off x="457200" y="338040"/>
            <a:ext cx="8229600" cy="12528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4400" b="0" u="none" strike="noStrike">
                <a:solidFill>
                  <a:srgbClr val="FFFFFF"/>
                </a:solidFill>
                <a:effectLst/>
                <a:uFillTx/>
                <a:latin typeface="Candara"/>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Candara"/>
              </a:rPr>
              <a:t>单击以编辑标题文本格式</a:t>
            </a:r>
            <a:endParaRPr lang="en-US" sz="4400" b="0" u="none" strike="noStrike">
              <a:solidFill>
                <a:srgbClr val="FFFFFF"/>
              </a:solidFill>
              <a:effectLst/>
              <a:uFillTx/>
              <a:latin typeface="Candara"/>
            </a:endParaRPr>
          </a:p>
        </p:txBody>
      </p:sp>
      <p:sp>
        <p:nvSpPr>
          <p:cNvPr id="10" name="PlaceHolder 2"/>
          <p:cNvSpPr>
            <a:spLocks noGrp="1"/>
          </p:cNvSpPr>
          <p:nvPr>
            <p:ph type="dt" idx="1"/>
          </p:nvPr>
        </p:nvSpPr>
        <p:spPr>
          <a:xfrm>
            <a:off x="5163840" y="6249960"/>
            <a:ext cx="3786120" cy="36504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11" name="PlaceHolder 3"/>
          <p:cNvSpPr>
            <a:spLocks noGrp="1"/>
          </p:cNvSpPr>
          <p:nvPr>
            <p:ph type="ftr" idx="2"/>
          </p:nvPr>
        </p:nvSpPr>
        <p:spPr>
          <a:xfrm>
            <a:off x="193320" y="6249960"/>
            <a:ext cx="3786120" cy="36504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12" name="PlaceHolder 4"/>
          <p:cNvSpPr>
            <a:spLocks noGrp="1"/>
          </p:cNvSpPr>
          <p:nvPr>
            <p:ph type="sldNum" idx="3"/>
          </p:nvPr>
        </p:nvSpPr>
        <p:spPr>
          <a:xfrm>
            <a:off x="3990960" y="6249960"/>
            <a:ext cx="116208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000" b="1" u="none" strike="noStrike">
                <a:solidFill>
                  <a:srgbClr val="073E87"/>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DF8117B-C1F0-4EA7-8488-DAC1EFA4378E}" type="slidenum">
              <a:rPr lang="en-US" sz="1000" b="1" u="none" strike="noStrike">
                <a:solidFill>
                  <a:srgbClr val="073E87"/>
                </a:solidFill>
                <a:effectLst/>
                <a:uFillTx/>
                <a:latin typeface="Times New Roman"/>
              </a:rPr>
              <a:t>&lt;编号&gt;</a:t>
            </a:fld>
            <a:endParaRPr lang="en-US" sz="1000" b="1" u="none" strike="noStrike">
              <a:solidFill>
                <a:srgbClr val="000000"/>
              </a:solidFill>
              <a:effectLst/>
              <a:uFillTx/>
              <a:latin typeface="Times New Roman"/>
            </a:endParaRPr>
          </a:p>
        </p:txBody>
      </p:sp>
      <p:sp>
        <p:nvSpPr>
          <p:cNvPr id="13" name="PlaceHolder 5"/>
          <p:cNvSpPr>
            <a:spLocks noGrp="1"/>
          </p:cNvSpPr>
          <p:nvPr>
            <p:ph type="body"/>
          </p:nvPr>
        </p:nvSpPr>
        <p:spPr>
          <a:xfrm>
            <a:off x="871560" y="2674440"/>
            <a:ext cx="7408800" cy="3451320"/>
          </a:xfrm>
          <a:prstGeom prst="rect">
            <a:avLst/>
          </a:prstGeom>
          <a:noFill/>
          <a:ln w="0">
            <a:noFill/>
          </a:ln>
        </p:spPr>
        <p:txBody>
          <a:bodyPr lIns="90000" tIns="46800" rIns="90000" bIns="46800" anchor="t">
            <a:normAutofit/>
          </a:bodyPr>
          <a:lstStyle>
            <a:lvl1pPr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1pPr>
            <a:lvl2pPr lvl="1"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2pPr>
            <a:lvl3pPr lvl="2"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3pPr>
            <a:lvl4pPr lvl="3"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4pPr>
            <a:lvl5pPr lvl="4"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5pPr>
            <a:lvl6pPr lvl="5"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6pPr>
            <a:lvl7pPr lvl="6"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7pPr>
          </a:lstStyle>
          <a:p>
            <a:pPr marL="272880" indent="-27288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点击以编辑提纲文本格式</a:t>
            </a:r>
            <a:endParaRPr lang="en-US" sz="2400" b="0" u="none" strike="noStrike">
              <a:solidFill>
                <a:srgbClr val="073E87"/>
              </a:solidFill>
              <a:effectLst/>
              <a:uFillTx/>
              <a:latin typeface="Candara"/>
            </a:endParaRPr>
          </a:p>
          <a:p>
            <a:pPr marL="576360" lvl="1" indent="-27324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第二提纲级别</a:t>
            </a:r>
            <a:endParaRPr lang="en-US" sz="2400" b="0" u="none" strike="noStrike">
              <a:solidFill>
                <a:srgbClr val="073E87"/>
              </a:solidFill>
              <a:effectLst/>
              <a:uFillTx/>
              <a:latin typeface="Candara"/>
            </a:endParaRPr>
          </a:p>
          <a:p>
            <a:pPr marL="855720" lvl="2"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第三提纲级别</a:t>
            </a:r>
            <a:endParaRPr lang="en-US" sz="2400" b="0" u="none" strike="noStrike">
              <a:solidFill>
                <a:srgbClr val="073E87"/>
              </a:solidFill>
              <a:effectLst/>
              <a:uFillTx/>
              <a:latin typeface="Candara"/>
            </a:endParaRPr>
          </a:p>
          <a:p>
            <a:pPr marL="1143000" lvl="3"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第四提纲级别</a:t>
            </a:r>
            <a:endParaRPr lang="en-US" sz="2400" b="0" u="none" strike="noStrike">
              <a:solidFill>
                <a:srgbClr val="073E87"/>
              </a:solidFill>
              <a:effectLst/>
              <a:uFillTx/>
              <a:latin typeface="Candara"/>
            </a:endParaRPr>
          </a:p>
          <a:p>
            <a:pPr marL="1461960" lvl="4"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第五提纲级别</a:t>
            </a:r>
            <a:endParaRPr lang="en-US" sz="2400" b="0" u="none" strike="noStrike">
              <a:solidFill>
                <a:srgbClr val="073E87"/>
              </a:solidFill>
              <a:effectLst/>
              <a:uFillTx/>
              <a:latin typeface="Candara"/>
            </a:endParaRPr>
          </a:p>
          <a:p>
            <a:pPr marL="1461960" lvl="5" indent="-228600"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第六提纲级别</a:t>
            </a:r>
            <a:endParaRPr lang="en-US" sz="2400" b="0" u="none" strike="noStrike">
              <a:solidFill>
                <a:srgbClr val="073E87"/>
              </a:solidFill>
              <a:effectLst/>
              <a:uFillTx/>
              <a:latin typeface="Candara"/>
            </a:endParaRPr>
          </a:p>
          <a:p>
            <a:pPr marL="1461960" lvl="6" indent="-228600"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第七提纲级别</a:t>
            </a:r>
            <a:endParaRPr lang="en-US" sz="2400" b="0" u="none" strike="noStrike">
              <a:solidFill>
                <a:srgbClr val="073E87"/>
              </a:solidFill>
              <a:effectLst/>
              <a:uFillTx/>
              <a:latin typeface="Candara"/>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3">
    <p:bg>
      <p:bgPr>
        <a:solidFill>
          <a:srgbClr val="FFFFFF"/>
        </a:solidFill>
      </p:bgPr>
    </p:bg>
    <p:spTree>
      <p:nvGrpSpPr>
        <p:cNvPr id="1" name=""/>
        <p:cNvGrpSpPr/>
        <p:nvPr/>
      </p:nvGrpSpPr>
      <p:grpSpPr>
        <a:xfrm>
          <a:off x="0" y="0"/>
          <a:ext cx="0" cy="0"/>
          <a:chOff x="0" y="0"/>
          <a:chExt cx="0" cy="0"/>
        </a:xfrm>
      </p:grpSpPr>
      <p:sp>
        <p:nvSpPr>
          <p:cNvPr id="14" name="Rounded Rectangle 11"/>
          <p:cNvSpPr/>
          <p:nvPr/>
        </p:nvSpPr>
        <p:spPr>
          <a:xfrm>
            <a:off x="228600" y="228600"/>
            <a:ext cx="8696160" cy="1427040"/>
          </a:xfrm>
          <a:prstGeom prst="roundRect">
            <a:avLst>
              <a:gd name="adj" fmla="val 7134"/>
            </a:avLst>
          </a:prstGeom>
          <a:gradFill rotWithShape="0">
            <a:gsLst>
              <a:gs pos="0">
                <a:srgbClr val="0293E0"/>
              </a:gs>
              <a:gs pos="100000">
                <a:srgbClr val="83D3FE"/>
              </a:gs>
            </a:gsLst>
            <a:lin ang="5400000"/>
          </a:gra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15" name="Group 5"/>
          <p:cNvGrpSpPr/>
          <p:nvPr/>
        </p:nvGrpSpPr>
        <p:grpSpPr>
          <a:xfrm>
            <a:off x="210960" y="714240"/>
            <a:ext cx="8723520" cy="1330560"/>
            <a:chOff x="210960" y="714240"/>
            <a:chExt cx="8723520" cy="1330560"/>
          </a:xfrm>
        </p:grpSpPr>
        <p:sp>
          <p:nvSpPr>
            <p:cNvPr id="16" name="Freeform 14"/>
            <p:cNvSpPr/>
            <p:nvPr/>
          </p:nvSpPr>
          <p:spPr>
            <a:xfrm>
              <a:off x="6046920" y="859320"/>
              <a:ext cx="2876400" cy="714240"/>
            </a:xfrm>
            <a:custGeom>
              <a:avLst/>
              <a:gdLst>
                <a:gd name="GluePoint1X" fmla="*/ 4286250 w 2706"/>
                <a:gd name="GluePoint1Y" fmla="*/ 0 h 640"/>
                <a:gd name="GluePoint2X" fmla="*/ 4286250 w 2706"/>
                <a:gd name="GluePoint2Y" fmla="*/ 0 h 640"/>
                <a:gd name="GluePoint3X" fmla="*/ 4105275 w 2706"/>
                <a:gd name="GluePoint3Y" fmla="*/ 28575 h 640"/>
                <a:gd name="GluePoint4X" fmla="*/ 3921125 w 2706"/>
                <a:gd name="GluePoint4Y" fmla="*/ 60325 h 640"/>
                <a:gd name="GluePoint5X" fmla="*/ 3733800 w 2706"/>
                <a:gd name="GluePoint5Y" fmla="*/ 95250 h 640"/>
                <a:gd name="GluePoint6X" fmla="*/ 3540125 w 2706"/>
                <a:gd name="GluePoint6Y" fmla="*/ 130175 h 640"/>
                <a:gd name="GluePoint7X" fmla="*/ 3343275 w 2706"/>
                <a:gd name="GluePoint7Y" fmla="*/ 171450 h 640"/>
                <a:gd name="GluePoint8X" fmla="*/ 3140075 w 2706"/>
                <a:gd name="GluePoint8Y" fmla="*/ 212725 h 640"/>
                <a:gd name="GluePoint9X" fmla="*/ 2933700 w 2706"/>
                <a:gd name="GluePoint9Y" fmla="*/ 260350 h 640"/>
                <a:gd name="GluePoint10X" fmla="*/ 2720975 w 2706"/>
                <a:gd name="GluePoint10Y" fmla="*/ 307975 h 640"/>
                <a:gd name="GluePoint11X" fmla="*/ 2720975 w 2706"/>
                <a:gd name="GluePoint11Y" fmla="*/ 307975 h 640"/>
                <a:gd name="GluePoint12X" fmla="*/ 2336800 w 2706"/>
                <a:gd name="GluePoint12Y" fmla="*/ 400050 h 640"/>
                <a:gd name="GluePoint13X" fmla="*/ 1962150 w 2706"/>
                <a:gd name="GluePoint13Y" fmla="*/ 482600 h 640"/>
                <a:gd name="GluePoint14X" fmla="*/ 1603375 w 2706"/>
                <a:gd name="GluePoint14Y" fmla="*/ 558800 h 640"/>
                <a:gd name="GluePoint15X" fmla="*/ 1257300 w 2706"/>
                <a:gd name="GluePoint15Y" fmla="*/ 631825 h 640"/>
                <a:gd name="GluePoint16X" fmla="*/ 927100 w 2706"/>
                <a:gd name="GluePoint16Y" fmla="*/ 695325 h 640"/>
                <a:gd name="GluePoint17X" fmla="*/ 606425 w 2706"/>
                <a:gd name="GluePoint17Y" fmla="*/ 752475 h 640"/>
                <a:gd name="GluePoint18X" fmla="*/ 298450 w 2706"/>
                <a:gd name="GluePoint18Y" fmla="*/ 806450 h 640"/>
                <a:gd name="GluePoint19X" fmla="*/ 0 w 2706"/>
                <a:gd name="GluePoint19Y" fmla="*/ 854075 h 640"/>
                <a:gd name="GluePoint20X" fmla="*/ 0 w 2706"/>
                <a:gd name="GluePoint20Y" fmla="*/ 854075 h 640"/>
                <a:gd name="GluePoint21X" fmla="*/ 206375 w 2706"/>
                <a:gd name="GluePoint21Y" fmla="*/ 882650 h 640"/>
                <a:gd name="GluePoint22X" fmla="*/ 403225 w 2706"/>
                <a:gd name="GluePoint22Y" fmla="*/ 908050 h 640"/>
                <a:gd name="GluePoint23X" fmla="*/ 593725 w 2706"/>
                <a:gd name="GluePoint23Y" fmla="*/ 930275 h 640"/>
                <a:gd name="GluePoint24X" fmla="*/ 781050 w 2706"/>
                <a:gd name="GluePoint24Y" fmla="*/ 949325 h 640"/>
                <a:gd name="GluePoint25X" fmla="*/ 962025 w 2706"/>
                <a:gd name="GluePoint25Y" fmla="*/ 968375 h 640"/>
                <a:gd name="GluePoint26X" fmla="*/ 1136650 w 2706"/>
                <a:gd name="GluePoint26Y" fmla="*/ 981075 h 640"/>
                <a:gd name="GluePoint27X" fmla="*/ 1304925 w 2706"/>
                <a:gd name="GluePoint27Y" fmla="*/ 993775 h 640"/>
                <a:gd name="GluePoint28X" fmla="*/ 1470025 w 2706"/>
                <a:gd name="GluePoint28Y" fmla="*/ 1003300 h 640"/>
                <a:gd name="GluePoint29X" fmla="*/ 1631950 w 2706"/>
                <a:gd name="GluePoint29Y" fmla="*/ 1009650 h 640"/>
                <a:gd name="GluePoint30X" fmla="*/ 1787525 w 2706"/>
                <a:gd name="GluePoint30Y" fmla="*/ 1012825 h 640"/>
                <a:gd name="GluePoint31X" fmla="*/ 1936750 w 2706"/>
                <a:gd name="GluePoint31Y" fmla="*/ 1016000 h 640"/>
                <a:gd name="GluePoint32X" fmla="*/ 2082800 w 2706"/>
                <a:gd name="GluePoint32Y" fmla="*/ 1016000 h 640"/>
                <a:gd name="GluePoint33X" fmla="*/ 2225675 w 2706"/>
                <a:gd name="GluePoint33Y" fmla="*/ 1012825 h 640"/>
                <a:gd name="GluePoint34X" fmla="*/ 2365375 w 2706"/>
                <a:gd name="GluePoint34Y" fmla="*/ 1009650 h 640"/>
                <a:gd name="GluePoint35X" fmla="*/ 2498725 w 2706"/>
                <a:gd name="GluePoint35Y" fmla="*/ 1003300 h 640"/>
                <a:gd name="GluePoint36X" fmla="*/ 2628900 w 2706"/>
                <a:gd name="GluePoint36Y" fmla="*/ 993775 h 640"/>
                <a:gd name="GluePoint37X" fmla="*/ 2752725 w 2706"/>
                <a:gd name="GluePoint37Y" fmla="*/ 984250 h 640"/>
                <a:gd name="GluePoint38X" fmla="*/ 2876550 w 2706"/>
                <a:gd name="GluePoint38Y" fmla="*/ 971550 h 640"/>
                <a:gd name="GluePoint39X" fmla="*/ 2994025 w 2706"/>
                <a:gd name="GluePoint39Y" fmla="*/ 955675 h 640"/>
                <a:gd name="GluePoint40X" fmla="*/ 3111500 w 2706"/>
                <a:gd name="GluePoint40Y" fmla="*/ 939800 h 640"/>
                <a:gd name="GluePoint41X" fmla="*/ 3222625 w 2706"/>
                <a:gd name="GluePoint41Y" fmla="*/ 920750 h 640"/>
                <a:gd name="GluePoint42X" fmla="*/ 3333750 w 2706"/>
                <a:gd name="GluePoint42Y" fmla="*/ 901700 h 640"/>
                <a:gd name="GluePoint43X" fmla="*/ 3438525 w 2706"/>
                <a:gd name="GluePoint43Y" fmla="*/ 879475 h 640"/>
                <a:gd name="GluePoint44X" fmla="*/ 3543300 w 2706"/>
                <a:gd name="GluePoint44Y" fmla="*/ 857250 h 640"/>
                <a:gd name="GluePoint45X" fmla="*/ 3644900 w 2706"/>
                <a:gd name="GluePoint45Y" fmla="*/ 831850 h 640"/>
                <a:gd name="GluePoint46X" fmla="*/ 3743325 w 2706"/>
                <a:gd name="GluePoint46Y" fmla="*/ 806450 h 640"/>
                <a:gd name="GluePoint47X" fmla="*/ 3838575 w 2706"/>
                <a:gd name="GluePoint47Y" fmla="*/ 777875 h 640"/>
                <a:gd name="GluePoint48X" fmla="*/ 3933825 w 2706"/>
                <a:gd name="GluePoint48Y" fmla="*/ 749300 h 640"/>
                <a:gd name="GluePoint49X" fmla="*/ 4114800 w 2706"/>
                <a:gd name="GluePoint49Y" fmla="*/ 685800 h 640"/>
                <a:gd name="GluePoint50X" fmla="*/ 4289425 w 2706"/>
                <a:gd name="GluePoint50Y" fmla="*/ 619125 h 640"/>
                <a:gd name="GluePoint51X" fmla="*/ 4289425 w 2706"/>
                <a:gd name="GluePoint51Y" fmla="*/ 619125 h 640"/>
                <a:gd name="GluePoint52X" fmla="*/ 4295775 w 2706"/>
                <a:gd name="GluePoint52Y" fmla="*/ 615950 h 640"/>
                <a:gd name="GluePoint53X" fmla="*/ 4295775 w 2706"/>
                <a:gd name="GluePoint53Y" fmla="*/ 615950 h 640"/>
                <a:gd name="GluePoint54X" fmla="*/ 4295775 w 2706"/>
                <a:gd name="GluePoint54Y" fmla="*/ 0 h 640"/>
                <a:gd name="GluePoint55X" fmla="*/ 4295775 w 2706"/>
                <a:gd name="GluePoint55Y" fmla="*/ 0 h 640"/>
                <a:gd name="GluePoint56X" fmla="*/ 4286250 w 2706"/>
                <a:gd name="GluePoint56Y" fmla="*/ 0 h 640"/>
                <a:gd name="GluePoint57X" fmla="*/ 4286250 w 2706"/>
                <a:gd name="GluePoint57Y" fmla="*/ 0 h 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Lst>
              <a:rect l="l" t="t"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rgbClr val="C6E7FC">
                <a:alpha val="29000"/>
              </a:srgbClr>
            </a:solidFill>
            <a:ln w="0">
              <a:no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7" name="Freeform 18"/>
            <p:cNvSpPr/>
            <p:nvPr/>
          </p:nvSpPr>
          <p:spPr>
            <a:xfrm>
              <a:off x="2618640" y="730800"/>
              <a:ext cx="5544720" cy="850680"/>
            </a:xfrm>
            <a:custGeom>
              <a:avLst/>
              <a:gdLst>
                <a:gd name="GluePoint1X" fmla="*/ 8280401 w 5216"/>
                <a:gd name="GluePoint1Y" fmla="*/ 1133475 h 762"/>
                <a:gd name="GluePoint2X" fmla="*/ 7912101 w 5216"/>
                <a:gd name="GluePoint2Y" fmla="*/ 1089025 h 762"/>
                <a:gd name="GluePoint3X" fmla="*/ 7108826 w 5216"/>
                <a:gd name="GluePoint3Y" fmla="*/ 968375 h 762"/>
                <a:gd name="GluePoint4X" fmla="*/ 6213476 w 5216"/>
                <a:gd name="GluePoint4Y" fmla="*/ 806450 h 762"/>
                <a:gd name="GluePoint5X" fmla="*/ 5216526 w 5216"/>
                <a:gd name="GluePoint5Y" fmla="*/ 593725 h 762"/>
                <a:gd name="GluePoint6X" fmla="*/ 4676776 w 5216"/>
                <a:gd name="GluePoint6Y" fmla="*/ 469900 h 762"/>
                <a:gd name="GluePoint7X" fmla="*/ 4257676 w 5216"/>
                <a:gd name="GluePoint7Y" fmla="*/ 374650 h 762"/>
                <a:gd name="GluePoint8X" fmla="*/ 3857625 w 5216"/>
                <a:gd name="GluePoint8Y" fmla="*/ 292100 h 762"/>
                <a:gd name="GluePoint9X" fmla="*/ 3476625 w 5216"/>
                <a:gd name="GluePoint9Y" fmla="*/ 222250 h 762"/>
                <a:gd name="GluePoint10X" fmla="*/ 3111500 w 5216"/>
                <a:gd name="GluePoint10Y" fmla="*/ 161925 h 762"/>
                <a:gd name="GluePoint11X" fmla="*/ 2762250 w 5216"/>
                <a:gd name="GluePoint11Y" fmla="*/ 114300 h 762"/>
                <a:gd name="GluePoint12X" fmla="*/ 2117725 w 5216"/>
                <a:gd name="GluePoint12Y" fmla="*/ 44450 h 762"/>
                <a:gd name="GluePoint13X" fmla="*/ 1539875 w 5216"/>
                <a:gd name="GluePoint13Y" fmla="*/ 6350 h 762"/>
                <a:gd name="GluePoint14X" fmla="*/ 1022350 w 5216"/>
                <a:gd name="GluePoint14Y" fmla="*/ 0 h 762"/>
                <a:gd name="GluePoint15X" fmla="*/ 568325 w 5216"/>
                <a:gd name="GluePoint15Y" fmla="*/ 15875 h 762"/>
                <a:gd name="GluePoint16X" fmla="*/ 174625 w 5216"/>
                <a:gd name="GluePoint16Y" fmla="*/ 50800 h 762"/>
                <a:gd name="GluePoint17X" fmla="*/ 0 w 5216"/>
                <a:gd name="GluePoint17Y" fmla="*/ 76200 h 762"/>
                <a:gd name="GluePoint18X" fmla="*/ 498475 w 5216"/>
                <a:gd name="GluePoint18Y" fmla="*/ 136525 h 762"/>
                <a:gd name="GluePoint19X" fmla="*/ 1035050 w 5216"/>
                <a:gd name="GluePoint19Y" fmla="*/ 222250 h 762"/>
                <a:gd name="GluePoint20X" fmla="*/ 1609725 w 5216"/>
                <a:gd name="GluePoint20Y" fmla="*/ 333375 h 762"/>
                <a:gd name="GluePoint21X" fmla="*/ 2225675 w 5216"/>
                <a:gd name="GluePoint21Y" fmla="*/ 469900 h 762"/>
                <a:gd name="GluePoint22X" fmla="*/ 2787650 w 5216"/>
                <a:gd name="GluePoint22Y" fmla="*/ 600075 h 762"/>
                <a:gd name="GluePoint23X" fmla="*/ 3822700 w 5216"/>
                <a:gd name="GluePoint23Y" fmla="*/ 819150 h 762"/>
                <a:gd name="GluePoint24X" fmla="*/ 4298951 w 5216"/>
                <a:gd name="GluePoint24Y" fmla="*/ 908050 h 762"/>
                <a:gd name="GluePoint25X" fmla="*/ 4749801 w 5216"/>
                <a:gd name="GluePoint25Y" fmla="*/ 984250 h 762"/>
                <a:gd name="GluePoint26X" fmla="*/ 5175251 w 5216"/>
                <a:gd name="GluePoint26Y" fmla="*/ 1050925 h 762"/>
                <a:gd name="GluePoint27X" fmla="*/ 5575301 w 5216"/>
                <a:gd name="GluePoint27Y" fmla="*/ 1101725 h 762"/>
                <a:gd name="GluePoint28X" fmla="*/ 5953126 w 5216"/>
                <a:gd name="GluePoint28Y" fmla="*/ 1146175 h 762"/>
                <a:gd name="GluePoint29X" fmla="*/ 6308726 w 5216"/>
                <a:gd name="GluePoint29Y" fmla="*/ 1174750 h 762"/>
                <a:gd name="GluePoint30X" fmla="*/ 6642101 w 5216"/>
                <a:gd name="GluePoint30Y" fmla="*/ 1196975 h 762"/>
                <a:gd name="GluePoint31X" fmla="*/ 6959601 w 5216"/>
                <a:gd name="GluePoint31Y" fmla="*/ 1209675 h 762"/>
                <a:gd name="GluePoint32X" fmla="*/ 7254876 w 5216"/>
                <a:gd name="GluePoint32Y" fmla="*/ 1209675 h 762"/>
                <a:gd name="GluePoint33X" fmla="*/ 7534276 w 5216"/>
                <a:gd name="GluePoint33Y" fmla="*/ 1203325 h 762"/>
                <a:gd name="GluePoint34X" fmla="*/ 7797801 w 5216"/>
                <a:gd name="GluePoint34Y" fmla="*/ 1187450 h 762"/>
                <a:gd name="GluePoint35X" fmla="*/ 8045451 w 5216"/>
                <a:gd name="GluePoint35Y" fmla="*/ 1162050 h 762"/>
                <a:gd name="GluePoint36X" fmla="*/ 8280401 w 5216"/>
                <a:gd name="GluePoint36Y" fmla="*/ 1133475 h 7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rgbClr val="C6E7FC">
                <a:alpha val="40000"/>
              </a:srgbClr>
            </a:solidFill>
            <a:ln w="0">
              <a:no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8" name="Freeform 22"/>
            <p:cNvSpPr/>
            <p:nvPr/>
          </p:nvSpPr>
          <p:spPr>
            <a:xfrm>
              <a:off x="2828160" y="743040"/>
              <a:ext cx="5468040" cy="774720"/>
            </a:xfrm>
            <a:custGeom>
              <a:avLst/>
              <a:gdLst>
                <a:gd name="GluePoint1X" fmla="*/ 0 w 5144"/>
                <a:gd name="GluePoint1Y" fmla="*/ 111125 h 694"/>
                <a:gd name="GluePoint2X" fmla="*/ 0 w 5144"/>
                <a:gd name="GluePoint2Y" fmla="*/ 111125 h 694"/>
                <a:gd name="GluePoint3X" fmla="*/ 28575 w 5144"/>
                <a:gd name="GluePoint3Y" fmla="*/ 104775 h 694"/>
                <a:gd name="GluePoint4X" fmla="*/ 114300 w 5144"/>
                <a:gd name="GluePoint4Y" fmla="*/ 88900 h 694"/>
                <a:gd name="GluePoint5X" fmla="*/ 260350 w 5144"/>
                <a:gd name="GluePoint5Y" fmla="*/ 66675 h 694"/>
                <a:gd name="GluePoint6X" fmla="*/ 355600 w 5144"/>
                <a:gd name="GluePoint6Y" fmla="*/ 53975 h 694"/>
                <a:gd name="GluePoint7X" fmla="*/ 466725 w 5144"/>
                <a:gd name="GluePoint7Y" fmla="*/ 41275 h 694"/>
                <a:gd name="GluePoint8X" fmla="*/ 590550 w 5144"/>
                <a:gd name="GluePoint8Y" fmla="*/ 31750 h 694"/>
                <a:gd name="GluePoint9X" fmla="*/ 733425 w 5144"/>
                <a:gd name="GluePoint9Y" fmla="*/ 22225 h 694"/>
                <a:gd name="GluePoint10X" fmla="*/ 889000 w 5144"/>
                <a:gd name="GluePoint10Y" fmla="*/ 12700 h 694"/>
                <a:gd name="GluePoint11X" fmla="*/ 1063625 w 5144"/>
                <a:gd name="GluePoint11Y" fmla="*/ 6350 h 694"/>
                <a:gd name="GluePoint12X" fmla="*/ 1254125 w 5144"/>
                <a:gd name="GluePoint12Y" fmla="*/ 3175 h 694"/>
                <a:gd name="GluePoint13X" fmla="*/ 1460500 w 5144"/>
                <a:gd name="GluePoint13Y" fmla="*/ 0 h 694"/>
                <a:gd name="GluePoint14X" fmla="*/ 1682750 w 5144"/>
                <a:gd name="GluePoint14Y" fmla="*/ 3175 h 694"/>
                <a:gd name="GluePoint15X" fmla="*/ 1920875 w 5144"/>
                <a:gd name="GluePoint15Y" fmla="*/ 9525 h 694"/>
                <a:gd name="GluePoint16X" fmla="*/ 2178050 w 5144"/>
                <a:gd name="GluePoint16Y" fmla="*/ 22225 h 694"/>
                <a:gd name="GluePoint17X" fmla="*/ 2451100 w 5144"/>
                <a:gd name="GluePoint17Y" fmla="*/ 38100 h 694"/>
                <a:gd name="GluePoint18X" fmla="*/ 2740025 w 5144"/>
                <a:gd name="GluePoint18Y" fmla="*/ 63500 h 694"/>
                <a:gd name="GluePoint19X" fmla="*/ 3048000 w 5144"/>
                <a:gd name="GluePoint19Y" fmla="*/ 92075 h 694"/>
                <a:gd name="GluePoint20X" fmla="*/ 3375025 w 5144"/>
                <a:gd name="GluePoint20Y" fmla="*/ 127000 h 694"/>
                <a:gd name="GluePoint21X" fmla="*/ 3717925 w 5144"/>
                <a:gd name="GluePoint21Y" fmla="*/ 168275 h 694"/>
                <a:gd name="GluePoint22X" fmla="*/ 4079875 w 5144"/>
                <a:gd name="GluePoint22Y" fmla="*/ 219075 h 694"/>
                <a:gd name="GluePoint23X" fmla="*/ 4457700 w 5144"/>
                <a:gd name="GluePoint23Y" fmla="*/ 276225 h 694"/>
                <a:gd name="GluePoint24X" fmla="*/ 4854575 w 5144"/>
                <a:gd name="GluePoint24Y" fmla="*/ 342900 h 694"/>
                <a:gd name="GluePoint25X" fmla="*/ 5270500 w 5144"/>
                <a:gd name="GluePoint25Y" fmla="*/ 422275 h 694"/>
                <a:gd name="GluePoint26X" fmla="*/ 5705475 w 5144"/>
                <a:gd name="GluePoint26Y" fmla="*/ 508000 h 694"/>
                <a:gd name="GluePoint27X" fmla="*/ 6159500 w 5144"/>
                <a:gd name="GluePoint27Y" fmla="*/ 603250 h 694"/>
                <a:gd name="GluePoint28X" fmla="*/ 6632575 w 5144"/>
                <a:gd name="GluePoint28Y" fmla="*/ 711200 h 694"/>
                <a:gd name="GluePoint29X" fmla="*/ 7124700 w 5144"/>
                <a:gd name="GluePoint29Y" fmla="*/ 828675 h 694"/>
                <a:gd name="GluePoint30X" fmla="*/ 7635875 w 5144"/>
                <a:gd name="GluePoint30Y" fmla="*/ 958850 h 694"/>
                <a:gd name="GluePoint31X" fmla="*/ 8166100 w 5144"/>
                <a:gd name="GluePoint31Y" fmla="*/ 1101725 h 6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l" t="t"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0">
              <a:solidFill>
                <a:srgbClr val="FFFFFF"/>
              </a:solid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9" name="Freeform 26"/>
            <p:cNvSpPr/>
            <p:nvPr/>
          </p:nvSpPr>
          <p:spPr>
            <a:xfrm>
              <a:off x="5608800" y="729720"/>
              <a:ext cx="3308040" cy="651960"/>
            </a:xfrm>
            <a:custGeom>
              <a:avLst/>
              <a:gdLst>
                <a:gd name="GluePoint1X" fmla="*/ 0 w 3112"/>
                <a:gd name="GluePoint1Y" fmla="*/ 927100 h 584"/>
                <a:gd name="GluePoint2X" fmla="*/ 0 w 3112"/>
                <a:gd name="GluePoint2Y" fmla="*/ 927100 h 584"/>
                <a:gd name="GluePoint3X" fmla="*/ 142875 w 3112"/>
                <a:gd name="GluePoint3Y" fmla="*/ 889000 h 584"/>
                <a:gd name="GluePoint4X" fmla="*/ 533400 w 3112"/>
                <a:gd name="GluePoint4Y" fmla="*/ 790575 h 584"/>
                <a:gd name="GluePoint5X" fmla="*/ 803275 w 3112"/>
                <a:gd name="GluePoint5Y" fmla="*/ 723900 h 584"/>
                <a:gd name="GluePoint6X" fmla="*/ 1114425 w 3112"/>
                <a:gd name="GluePoint6Y" fmla="*/ 650875 h 584"/>
                <a:gd name="GluePoint7X" fmla="*/ 1460500 w 3112"/>
                <a:gd name="GluePoint7Y" fmla="*/ 571500 h 584"/>
                <a:gd name="GluePoint8X" fmla="*/ 1831975 w 3112"/>
                <a:gd name="GluePoint8Y" fmla="*/ 485775 h 584"/>
                <a:gd name="GluePoint9X" fmla="*/ 2225675 w 3112"/>
                <a:gd name="GluePoint9Y" fmla="*/ 403225 h 584"/>
                <a:gd name="GluePoint10X" fmla="*/ 2628900 w 3112"/>
                <a:gd name="GluePoint10Y" fmla="*/ 320675 h 584"/>
                <a:gd name="GluePoint11X" fmla="*/ 3041650 w 3112"/>
                <a:gd name="GluePoint11Y" fmla="*/ 244475 h 584"/>
                <a:gd name="GluePoint12X" fmla="*/ 3451225 w 3112"/>
                <a:gd name="GluePoint12Y" fmla="*/ 171450 h 584"/>
                <a:gd name="GluePoint13X" fmla="*/ 3654425 w 3112"/>
                <a:gd name="GluePoint13Y" fmla="*/ 139700 h 584"/>
                <a:gd name="GluePoint14X" fmla="*/ 3851275 w 3112"/>
                <a:gd name="GluePoint14Y" fmla="*/ 107950 h 584"/>
                <a:gd name="GluePoint15X" fmla="*/ 4048125 w 3112"/>
                <a:gd name="GluePoint15Y" fmla="*/ 82550 h 584"/>
                <a:gd name="GluePoint16X" fmla="*/ 4238625 w 3112"/>
                <a:gd name="GluePoint16Y" fmla="*/ 57150 h 584"/>
                <a:gd name="GluePoint17X" fmla="*/ 4425950 w 3112"/>
                <a:gd name="GluePoint17Y" fmla="*/ 38100 h 584"/>
                <a:gd name="GluePoint18X" fmla="*/ 4603750 w 3112"/>
                <a:gd name="GluePoint18Y" fmla="*/ 22225 h 584"/>
                <a:gd name="GluePoint19X" fmla="*/ 4775200 w 3112"/>
                <a:gd name="GluePoint19Y" fmla="*/ 9525 h 584"/>
                <a:gd name="GluePoint20X" fmla="*/ 4940300 w 3112"/>
                <a:gd name="GluePoint20Y" fmla="*/ 0 h 5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l" t="t"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0">
              <a:solidFill>
                <a:srgbClr val="FFFFFF"/>
              </a:solid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useBgFill="1">
          <p:nvSpPr>
            <p:cNvPr id="20" name="Freeform 10"/>
            <p:cNvSpPr/>
            <p:nvPr/>
          </p:nvSpPr>
          <p:spPr>
            <a:xfrm>
              <a:off x="210960" y="714240"/>
              <a:ext cx="8723520" cy="1330560"/>
            </a:xfrm>
            <a:custGeom>
              <a:avLst/>
              <a:gdLst>
                <a:gd name="GluePoint1X" fmla="*/ 13021481 w 8196"/>
                <a:gd name="GluePoint1Y" fmla="*/ 812800 h 1192"/>
                <a:gd name="GluePoint2X" fmla="*/ 12779871 w 8196"/>
                <a:gd name="GluePoint2Y" fmla="*/ 904875 h 1192"/>
                <a:gd name="GluePoint3X" fmla="*/ 12522366 w 8196"/>
                <a:gd name="GluePoint3Y" fmla="*/ 984250 h 1192"/>
                <a:gd name="GluePoint4X" fmla="*/ 12248966 w 8196"/>
                <a:gd name="GluePoint4Y" fmla="*/ 1057275 h 1192"/>
                <a:gd name="GluePoint5X" fmla="*/ 11956492 w 8196"/>
                <a:gd name="GluePoint5Y" fmla="*/ 1114425 h 1192"/>
                <a:gd name="GluePoint6X" fmla="*/ 11638584 w 8196"/>
                <a:gd name="GluePoint6Y" fmla="*/ 1158875 h 1192"/>
                <a:gd name="GluePoint7X" fmla="*/ 11295245 w 8196"/>
                <a:gd name="GluePoint7Y" fmla="*/ 1190625 h 1192"/>
                <a:gd name="GluePoint8X" fmla="*/ 10923293 w 8196"/>
                <a:gd name="GluePoint8Y" fmla="*/ 1209675 h 1192"/>
                <a:gd name="GluePoint9X" fmla="*/ 10519551 w 8196"/>
                <a:gd name="GluePoint9Y" fmla="*/ 1206500 h 1192"/>
                <a:gd name="GluePoint10X" fmla="*/ 10080839 w 8196"/>
                <a:gd name="GluePoint10Y" fmla="*/ 1190625 h 1192"/>
                <a:gd name="GluePoint11X" fmla="*/ 9603978 w 8196"/>
                <a:gd name="GluePoint11Y" fmla="*/ 1152525 h 1192"/>
                <a:gd name="GluePoint12X" fmla="*/ 9085789 w 8196"/>
                <a:gd name="GluePoint12Y" fmla="*/ 1095375 h 1192"/>
                <a:gd name="GluePoint13X" fmla="*/ 8526272 w 8196"/>
                <a:gd name="GluePoint13Y" fmla="*/ 1019175 h 1192"/>
                <a:gd name="GluePoint14X" fmla="*/ 7919070 w 8196"/>
                <a:gd name="GluePoint14Y" fmla="*/ 917575 h 1192"/>
                <a:gd name="GluePoint15X" fmla="*/ 7261002 w 8196"/>
                <a:gd name="GluePoint15Y" fmla="*/ 793750 h 1192"/>
                <a:gd name="GluePoint16X" fmla="*/ 6552068 w 8196"/>
                <a:gd name="GluePoint16Y" fmla="*/ 644525 h 1192"/>
                <a:gd name="GluePoint17X" fmla="*/ 5785912 w 8196"/>
                <a:gd name="GluePoint17Y" fmla="*/ 469900 h 1192"/>
                <a:gd name="GluePoint18X" fmla="*/ 5398065 w 8196"/>
                <a:gd name="GluePoint18Y" fmla="*/ 381000 h 1192"/>
                <a:gd name="GluePoint19X" fmla="*/ 4663699 w 8196"/>
                <a:gd name="GluePoint19Y" fmla="*/ 234950 h 1192"/>
                <a:gd name="GluePoint20X" fmla="*/ 3992915 w 8196"/>
                <a:gd name="GluePoint20Y" fmla="*/ 130175 h 1192"/>
                <a:gd name="GluePoint21X" fmla="*/ 3379354 w 8196"/>
                <a:gd name="GluePoint21Y" fmla="*/ 57150 h 1192"/>
                <a:gd name="GluePoint22X" fmla="*/ 2823016 w 8196"/>
                <a:gd name="GluePoint22Y" fmla="*/ 15875 h 1192"/>
                <a:gd name="GluePoint23X" fmla="*/ 2323902 w 8196"/>
                <a:gd name="GluePoint23Y" fmla="*/ 0 h 1192"/>
                <a:gd name="GluePoint24X" fmla="*/ 1878832 w 8196"/>
                <a:gd name="GluePoint24Y" fmla="*/ 6350 h 1192"/>
                <a:gd name="GluePoint25X" fmla="*/ 1484627 w 8196"/>
                <a:gd name="GluePoint25Y" fmla="*/ 31750 h 1192"/>
                <a:gd name="GluePoint26X" fmla="*/ 1138108 w 8196"/>
                <a:gd name="GluePoint26Y" fmla="*/ 69850 h 1192"/>
                <a:gd name="GluePoint27X" fmla="*/ 842454 w 8196"/>
                <a:gd name="GluePoint27Y" fmla="*/ 117475 h 1192"/>
                <a:gd name="GluePoint28X" fmla="*/ 594487 w 8196"/>
                <a:gd name="GluePoint28Y" fmla="*/ 171450 h 1192"/>
                <a:gd name="GluePoint29X" fmla="*/ 394205 w 8196"/>
                <a:gd name="GluePoint29Y" fmla="*/ 228600 h 1192"/>
                <a:gd name="GluePoint30X" fmla="*/ 235251 w 8196"/>
                <a:gd name="GluePoint30Y" fmla="*/ 279400 h 1192"/>
                <a:gd name="GluePoint31X" fmla="*/ 76298 w 8196"/>
                <a:gd name="GluePoint31Y" fmla="*/ 342900 h 1192"/>
                <a:gd name="GluePoint32X" fmla="*/ 0 w 8196"/>
                <a:gd name="GluePoint32Y" fmla="*/ 381000 h 1192"/>
                <a:gd name="GluePoint33X" fmla="*/ 13021481 w 8196"/>
                <a:gd name="GluePoint33Y" fmla="*/ 1892300 h 1192"/>
                <a:gd name="GluePoint34X" fmla="*/ 13027839 w 8196"/>
                <a:gd name="GluePoint34Y" fmla="*/ 1882775 h 1192"/>
                <a:gd name="GluePoint35X" fmla="*/ 13027839 w 8196"/>
                <a:gd name="GluePoint35Y" fmla="*/ 809625 h 1192"/>
                <a:gd name="GluePoint36X" fmla="*/ 13021481 w 8196"/>
                <a:gd name="GluePoint36Y" fmla="*/ 812800 h 11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w="0">
              <a:noFill/>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21" name="PlaceHolder 1"/>
          <p:cNvSpPr>
            <a:spLocks noGrp="1"/>
          </p:cNvSpPr>
          <p:nvPr>
            <p:ph type="title"/>
          </p:nvPr>
        </p:nvSpPr>
        <p:spPr>
          <a:xfrm>
            <a:off x="457200" y="338040"/>
            <a:ext cx="8229600" cy="12528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4400" b="0" u="none" strike="noStrike">
                <a:solidFill>
                  <a:srgbClr val="FFFFFF"/>
                </a:solidFill>
                <a:effectLst/>
                <a:uFillTx/>
                <a:latin typeface="Candara"/>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Candara"/>
              </a:rPr>
              <a:t>单击以编辑标题文本格式</a:t>
            </a:r>
            <a:endParaRPr lang="en-US" sz="4400" b="0" u="none" strike="noStrike">
              <a:solidFill>
                <a:srgbClr val="FFFFFF"/>
              </a:solidFill>
              <a:effectLst/>
              <a:uFillTx/>
              <a:latin typeface="Candara"/>
            </a:endParaRPr>
          </a:p>
        </p:txBody>
      </p:sp>
      <p:sp>
        <p:nvSpPr>
          <p:cNvPr id="22" name="PlaceHolder 2"/>
          <p:cNvSpPr>
            <a:spLocks noGrp="1"/>
          </p:cNvSpPr>
          <p:nvPr>
            <p:ph type="body"/>
          </p:nvPr>
        </p:nvSpPr>
        <p:spPr>
          <a:xfrm>
            <a:off x="871560" y="2674440"/>
            <a:ext cx="7408800" cy="3451320"/>
          </a:xfrm>
          <a:prstGeom prst="rect">
            <a:avLst/>
          </a:prstGeom>
          <a:noFill/>
          <a:ln w="0">
            <a:noFill/>
          </a:ln>
        </p:spPr>
        <p:txBody>
          <a:bodyPr lIns="90000" tIns="46800" rIns="90000" bIns="46800" anchor="t">
            <a:normAutofit/>
          </a:bodyPr>
          <a:lstStyle>
            <a:lvl1pPr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1pPr>
            <a:lvl2pPr lvl="1"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2pPr>
            <a:lvl3pPr lvl="2"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3pPr>
            <a:lvl4pPr lvl="3"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4pPr>
            <a:lvl5pPr lvl="4"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5pPr>
            <a:lvl6pPr lvl="5"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6pPr>
            <a:lvl7pPr lvl="6"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7pPr>
          </a:lstStyle>
          <a:p>
            <a:pPr marL="272880" indent="-27288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点击以编辑提纲文本格式</a:t>
            </a:r>
            <a:endParaRPr lang="en-US" sz="2400" b="0" u="none" strike="noStrike">
              <a:solidFill>
                <a:srgbClr val="073E87"/>
              </a:solidFill>
              <a:effectLst/>
              <a:uFillTx/>
              <a:latin typeface="Candara"/>
            </a:endParaRPr>
          </a:p>
          <a:p>
            <a:pPr marL="576360" lvl="1" indent="-27324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第二提纲级别</a:t>
            </a:r>
            <a:endParaRPr lang="en-US" sz="2400" b="0" u="none" strike="noStrike">
              <a:solidFill>
                <a:srgbClr val="073E87"/>
              </a:solidFill>
              <a:effectLst/>
              <a:uFillTx/>
              <a:latin typeface="Candara"/>
            </a:endParaRPr>
          </a:p>
          <a:p>
            <a:pPr marL="855720" lvl="2"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第三提纲级别</a:t>
            </a:r>
            <a:endParaRPr lang="en-US" sz="2400" b="0" u="none" strike="noStrike">
              <a:solidFill>
                <a:srgbClr val="073E87"/>
              </a:solidFill>
              <a:effectLst/>
              <a:uFillTx/>
              <a:latin typeface="Candara"/>
            </a:endParaRPr>
          </a:p>
          <a:p>
            <a:pPr marL="1143000" lvl="3"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第四提纲级别</a:t>
            </a:r>
            <a:endParaRPr lang="en-US" sz="2400" b="0" u="none" strike="noStrike">
              <a:solidFill>
                <a:srgbClr val="073E87"/>
              </a:solidFill>
              <a:effectLst/>
              <a:uFillTx/>
              <a:latin typeface="Candara"/>
            </a:endParaRPr>
          </a:p>
          <a:p>
            <a:pPr marL="1461960" lvl="4"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第五提纲级别</a:t>
            </a:r>
            <a:endParaRPr lang="en-US" sz="2400" b="0" u="none" strike="noStrike">
              <a:solidFill>
                <a:srgbClr val="073E87"/>
              </a:solidFill>
              <a:effectLst/>
              <a:uFillTx/>
              <a:latin typeface="Candara"/>
            </a:endParaRPr>
          </a:p>
          <a:p>
            <a:pPr marL="1461960" lvl="5" indent="-228600"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第六提纲级别</a:t>
            </a:r>
            <a:endParaRPr lang="en-US" sz="2400" b="0" u="none" strike="noStrike">
              <a:solidFill>
                <a:srgbClr val="073E87"/>
              </a:solidFill>
              <a:effectLst/>
              <a:uFillTx/>
              <a:latin typeface="Candara"/>
            </a:endParaRPr>
          </a:p>
          <a:p>
            <a:pPr marL="1461960" lvl="6" indent="-228600"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第七提纲级别</a:t>
            </a:r>
            <a:endParaRPr lang="en-US" sz="2400" b="0" u="none" strike="noStrike">
              <a:solidFill>
                <a:srgbClr val="073E87"/>
              </a:solidFill>
              <a:effectLst/>
              <a:uFillTx/>
              <a:latin typeface="Candara"/>
            </a:endParaRPr>
          </a:p>
        </p:txBody>
      </p:sp>
      <p:sp>
        <p:nvSpPr>
          <p:cNvPr id="23" name="PlaceHolder 3"/>
          <p:cNvSpPr>
            <a:spLocks noGrp="1"/>
          </p:cNvSpPr>
          <p:nvPr>
            <p:ph type="dt" idx="4"/>
          </p:nvPr>
        </p:nvSpPr>
        <p:spPr>
          <a:xfrm>
            <a:off x="5163840" y="6249960"/>
            <a:ext cx="3786120" cy="36504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4" name="PlaceHolder 4"/>
          <p:cNvSpPr>
            <a:spLocks noGrp="1"/>
          </p:cNvSpPr>
          <p:nvPr>
            <p:ph type="ftr" idx="5"/>
          </p:nvPr>
        </p:nvSpPr>
        <p:spPr>
          <a:xfrm>
            <a:off x="193320" y="6249960"/>
            <a:ext cx="3786120" cy="36504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5" name="PlaceHolder 5"/>
          <p:cNvSpPr>
            <a:spLocks noGrp="1"/>
          </p:cNvSpPr>
          <p:nvPr>
            <p:ph type="sldNum" idx="6"/>
          </p:nvPr>
        </p:nvSpPr>
        <p:spPr>
          <a:xfrm>
            <a:off x="3990960" y="6249960"/>
            <a:ext cx="116208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000" b="1" u="none" strike="noStrike">
                <a:solidFill>
                  <a:srgbClr val="073E87"/>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90F30E7-A925-4AD3-8654-ECE673EC4217}" type="slidenum">
              <a:rPr lang="en-US" sz="1000" b="1" u="none" strike="noStrike">
                <a:solidFill>
                  <a:srgbClr val="073E87"/>
                </a:solidFill>
                <a:effectLst/>
                <a:uFillTx/>
                <a:latin typeface="Times New Roman"/>
              </a:rPr>
              <a:t>&lt;编号&gt;</a:t>
            </a:fld>
            <a:endParaRPr lang="en-US" sz="1000" b="1"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emf"/><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emf"/><Relationship Id="rId2" Type="http://schemas.openxmlformats.org/officeDocument/2006/relationships/image" Target="../media/image4.emf"/><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5.emf"/><Relationship Id="rId2" Type="http://schemas.openxmlformats.org/officeDocument/2006/relationships/image" Target="../media/image6.emf"/><Relationship Id="rId3" Type="http://schemas.openxmlformats.org/officeDocument/2006/relationships/image" Target="../media/image7.emf"/><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9.emf"/><Relationship Id="rId2" Type="http://schemas.openxmlformats.org/officeDocument/2006/relationships/image" Target="../media/image10.emf"/><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1.emf"/><Relationship Id="rId2" Type="http://schemas.openxmlformats.org/officeDocument/2006/relationships/image" Target="../media/image12.emf"/><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3.emf"/><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4.emf"/><Relationship Id="rId2" Type="http://schemas.openxmlformats.org/officeDocument/2006/relationships/image" Target="../media/image13.emf"/><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9.emf"/><Relationship Id="rId2" Type="http://schemas.openxmlformats.org/officeDocument/2006/relationships/image" Target="../media/image15.emf"/><Relationship Id="rId3"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6.emf"/><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7.emf"/><Relationship Id="rId2" Type="http://schemas.openxmlformats.org/officeDocument/2006/relationships/image" Target="../media/image18.emf"/><Relationship Id="rId3"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9.emf"/><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20.emf"/><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21.emf"/><Relationship Id="rId2" Type="http://schemas.openxmlformats.org/officeDocument/2006/relationships/image" Target="../media/image19.emf"/><Relationship Id="rId3"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2.emf"/><Relationship Id="rId2" Type="http://schemas.openxmlformats.org/officeDocument/2006/relationships/image" Target="../media/image23.emf"/><Relationship Id="rId3" Type="http://schemas.openxmlformats.org/officeDocument/2006/relationships/image" Target="../media/image24.emf"/><Relationship Id="rId4" Type="http://schemas.openxmlformats.org/officeDocument/2006/relationships/image" Target="../media/image25.png"/><Relationship Id="rId5"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6.emf"/><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7.emf"/><Relationship Id="rId2" Type="http://schemas.openxmlformats.org/officeDocument/2006/relationships/image" Target="../media/image28.emf"/><Relationship Id="rId3" Type="http://schemas.openxmlformats.org/officeDocument/2006/relationships/image" Target="../media/image22.emf"/><Relationship Id="rId4"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9.emf"/><Relationship Id="rId2" Type="http://schemas.openxmlformats.org/officeDocument/2006/relationships/image" Target="../media/image30.emf"/><Relationship Id="rId3" Type="http://schemas.openxmlformats.org/officeDocument/2006/relationships/image" Target="../media/image31.emf"/><Relationship Id="rId4"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32.emf"/><Relationship Id="rId2" Type="http://schemas.openxmlformats.org/officeDocument/2006/relationships/image" Target="../media/image32.emf"/><Relationship Id="rId3" Type="http://schemas.openxmlformats.org/officeDocument/2006/relationships/image" Target="../media/image33.emf"/><Relationship Id="rId4" Type="http://schemas.openxmlformats.org/officeDocument/2006/relationships/image" Target="../media/image34.emf"/><Relationship Id="rId5" Type="http://schemas.openxmlformats.org/officeDocument/2006/relationships/image" Target="../media/image35.emf"/><Relationship Id="rId6" Type="http://schemas.openxmlformats.org/officeDocument/2006/relationships/image" Target="../media/image36.emf"/><Relationship Id="rId7"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37.wmf"/><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38.emf"/><Relationship Id="rId2" Type="http://schemas.openxmlformats.org/officeDocument/2006/relationships/image" Target="../media/image39.emf"/><Relationship Id="rId3" Type="http://schemas.openxmlformats.org/officeDocument/2006/relationships/image" Target="../media/image40.emf"/><Relationship Id="rId4" Type="http://schemas.openxmlformats.org/officeDocument/2006/relationships/image" Target="../media/image41.emf"/><Relationship Id="rId5"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42.emf"/><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43.emf"/><Relationship Id="rId2" Type="http://schemas.openxmlformats.org/officeDocument/2006/relationships/image" Target="../media/image43.emf"/><Relationship Id="rId3"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44.emf"/><Relationship Id="rId2" Type="http://schemas.openxmlformats.org/officeDocument/2006/relationships/image" Target="../media/image28.emf"/><Relationship Id="rId3"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45.emf"/><Relationship Id="rId2" Type="http://schemas.openxmlformats.org/officeDocument/2006/relationships/image" Target="../media/image46.emf"/><Relationship Id="rId3" Type="http://schemas.openxmlformats.org/officeDocument/2006/relationships/image" Target="../media/image47.emf"/><Relationship Id="rId4" Type="http://schemas.openxmlformats.org/officeDocument/2006/relationships/image" Target="../media/image48.emf"/><Relationship Id="rId5"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49.emf"/><Relationship Id="rId2" Type="http://schemas.openxmlformats.org/officeDocument/2006/relationships/image" Target="../media/image50.emf"/><Relationship Id="rId3"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46.emf"/><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51.emf"/><Relationship Id="rId2" Type="http://schemas.openxmlformats.org/officeDocument/2006/relationships/image" Target="../media/image52.emf"/><Relationship Id="rId3" Type="http://schemas.openxmlformats.org/officeDocument/2006/relationships/image" Target="../media/image53.emf"/><Relationship Id="rId4" Type="http://schemas.openxmlformats.org/officeDocument/2006/relationships/image" Target="../media/image54.emf"/><Relationship Id="rId5"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55.emf"/><Relationship Id="rId2" Type="http://schemas.openxmlformats.org/officeDocument/2006/relationships/image" Target="../media/image56.emf"/><Relationship Id="rId3" Type="http://schemas.openxmlformats.org/officeDocument/2006/relationships/image" Target="../media/image57.emf"/><Relationship Id="rId4" Type="http://schemas.openxmlformats.org/officeDocument/2006/relationships/image" Target="../media/image58.png"/><Relationship Id="rId5"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57.emf"/><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59.emf"/><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2.emf"/><Relationship Id="rId2" Type="http://schemas.openxmlformats.org/officeDocument/2006/relationships/image" Target="../media/image32.emf"/><Relationship Id="rId3" Type="http://schemas.openxmlformats.org/officeDocument/2006/relationships/image" Target="../media/image32.emf"/><Relationship Id="rId4" Type="http://schemas.openxmlformats.org/officeDocument/2006/relationships/image" Target="../media/image60.emf"/><Relationship Id="rId5" Type="http://schemas.openxmlformats.org/officeDocument/2006/relationships/image" Target="../media/image61.emf"/><Relationship Id="rId6" Type="http://schemas.openxmlformats.org/officeDocument/2006/relationships/image" Target="../media/image62.emf"/><Relationship Id="rId7" Type="http://schemas.openxmlformats.org/officeDocument/2006/relationships/image" Target="../media/image63.emf"/><Relationship Id="rId8" Type="http://schemas.openxmlformats.org/officeDocument/2006/relationships/image" Target="../media/image64.emf"/><Relationship Id="rId9"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59.emf"/><Relationship Id="rId3" Type="http://schemas.openxmlformats.org/officeDocument/2006/relationships/image" Target="../media/image9.emf"/><Relationship Id="rId4" Type="http://schemas.openxmlformats.org/officeDocument/2006/relationships/image" Target="../media/image66.emf"/><Relationship Id="rId5" Type="http://schemas.openxmlformats.org/officeDocument/2006/relationships/image" Target="../media/image67.emf"/><Relationship Id="rId6" Type="http://schemas.openxmlformats.org/officeDocument/2006/relationships/image" Target="../media/image68.emf"/><Relationship Id="rId7"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59.emf"/><Relationship Id="rId3" Type="http://schemas.openxmlformats.org/officeDocument/2006/relationships/image" Target="../media/image70.emf"/><Relationship Id="rId4" Type="http://schemas.openxmlformats.org/officeDocument/2006/relationships/image" Target="../media/image71.emf"/><Relationship Id="rId5" Type="http://schemas.openxmlformats.org/officeDocument/2006/relationships/image" Target="../media/image66.emf"/><Relationship Id="rId6" Type="http://schemas.openxmlformats.org/officeDocument/2006/relationships/image" Target="../media/image72.emf"/><Relationship Id="rId7"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image" Target="../media/image59.emf"/><Relationship Id="rId3" Type="http://schemas.openxmlformats.org/officeDocument/2006/relationships/image" Target="../media/image74.emf"/><Relationship Id="rId4" Type="http://schemas.openxmlformats.org/officeDocument/2006/relationships/image" Target="../media/image75.emf"/><Relationship Id="rId5" Type="http://schemas.openxmlformats.org/officeDocument/2006/relationships/image" Target="../media/image76.emf"/><Relationship Id="rId6" Type="http://schemas.openxmlformats.org/officeDocument/2006/relationships/image" Target="../media/image77.emf"/><Relationship Id="rId7" Type="http://schemas.openxmlformats.org/officeDocument/2006/relationships/image" Target="../media/image66.emf"/><Relationship Id="rId8" Type="http://schemas.openxmlformats.org/officeDocument/2006/relationships/image" Target="../media/image78.emf"/><Relationship Id="rId9" Type="http://schemas.openxmlformats.org/officeDocument/2006/relationships/image" Target="../media/image71.emf"/><Relationship Id="rId10" Type="http://schemas.openxmlformats.org/officeDocument/2006/relationships/image" Target="../media/image72.emf"/><Relationship Id="rId1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
          <p:cNvSpPr txBox="1"/>
          <p:nvPr/>
        </p:nvSpPr>
        <p:spPr>
          <a:xfrm>
            <a:off x="1117440" y="2247480"/>
            <a:ext cx="7772400" cy="4038840"/>
          </a:xfrm>
          <a:prstGeom prst="rect">
            <a:avLst/>
          </a:prstGeom>
          <a:noFill/>
          <a:ln w="0">
            <a:noFill/>
          </a:ln>
        </p:spPr>
        <p:txBody>
          <a:bodyPr anchor="t">
            <a:normAutofit/>
          </a:bodyPr>
          <a:p>
            <a:pPr marL="272880" indent="-272880">
              <a:lnSpc>
                <a:spcPct val="20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73E87"/>
                </a:solidFill>
                <a:effectLst/>
                <a:uFillTx/>
                <a:latin typeface="黑体"/>
                <a:ea typeface="黑体"/>
              </a:rPr>
              <a:t> </a:t>
            </a:r>
            <a:r>
              <a:rPr lang="en-US" sz="3200" b="1" u="none" strike="noStrike">
                <a:solidFill>
                  <a:srgbClr val="073E87"/>
                </a:solidFill>
                <a:effectLst/>
                <a:uFillTx/>
                <a:latin typeface="黑体"/>
                <a:ea typeface="黑体"/>
              </a:rPr>
              <a:t>4-1  </a:t>
            </a:r>
            <a:r>
              <a:rPr lang="zh-CN" sz="3200" b="1" u="none" strike="noStrike">
                <a:solidFill>
                  <a:srgbClr val="073E87"/>
                </a:solidFill>
                <a:effectLst/>
                <a:uFillTx/>
                <a:latin typeface="黑体"/>
                <a:ea typeface="黑体"/>
              </a:rPr>
              <a:t>根轨迹法的基本概念</a:t>
            </a:r>
            <a:endParaRPr lang="en-US" sz="3200" b="0" u="none" strike="noStrike">
              <a:solidFill>
                <a:srgbClr val="073E87"/>
              </a:solidFill>
              <a:effectLst/>
              <a:uFillTx/>
              <a:latin typeface="Candara"/>
            </a:endParaRPr>
          </a:p>
          <a:p>
            <a:pPr marL="272880" indent="-272880">
              <a:lnSpc>
                <a:spcPct val="20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073E87"/>
                </a:solidFill>
                <a:effectLst/>
                <a:uFillTx/>
                <a:latin typeface="黑体"/>
                <a:ea typeface="黑体"/>
              </a:rPr>
              <a:t> 4-2  </a:t>
            </a:r>
            <a:r>
              <a:rPr lang="zh-CN" sz="3200" b="1" u="none" strike="noStrike">
                <a:solidFill>
                  <a:srgbClr val="073E87"/>
                </a:solidFill>
                <a:effectLst/>
                <a:uFillTx/>
                <a:latin typeface="黑体"/>
                <a:ea typeface="黑体"/>
              </a:rPr>
              <a:t>绘制系统根轨迹的基本法则</a:t>
            </a:r>
            <a:endParaRPr lang="en-US" sz="3200" b="0" u="none" strike="noStrike">
              <a:solidFill>
                <a:srgbClr val="073E87"/>
              </a:solidFill>
              <a:effectLst/>
              <a:uFillTx/>
              <a:latin typeface="Candara"/>
            </a:endParaRPr>
          </a:p>
          <a:p>
            <a:pPr marL="272880" indent="-272880">
              <a:lnSpc>
                <a:spcPct val="20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73E87"/>
                </a:solidFill>
                <a:effectLst/>
                <a:uFillTx/>
                <a:latin typeface="黑体"/>
                <a:ea typeface="黑体"/>
              </a:rPr>
              <a:t>        </a:t>
            </a:r>
            <a:endParaRPr lang="en-US" sz="2400" b="0" u="none" strike="noStrike">
              <a:solidFill>
                <a:srgbClr val="073E87"/>
              </a:solidFill>
              <a:effectLst/>
              <a:uFillTx/>
              <a:latin typeface="Candara"/>
            </a:endParaRPr>
          </a:p>
        </p:txBody>
      </p:sp>
      <p:sp>
        <p:nvSpPr>
          <p:cNvPr id="34" name="PlaceHolder 1"/>
          <p:cNvSpPr>
            <a:spLocks noGrp="1"/>
          </p:cNvSpPr>
          <p:nvPr>
            <p:ph type="title"/>
          </p:nvPr>
        </p:nvSpPr>
        <p:spPr>
          <a:xfrm>
            <a:off x="588960" y="70920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1" u="none" strike="noStrike">
                <a:solidFill>
                  <a:srgbClr val="FF0000"/>
                </a:solidFill>
                <a:effectLst/>
                <a:uFillTx/>
                <a:latin typeface="Candara"/>
              </a:rPr>
              <a:t>第四章   根轨迹法</a:t>
            </a:r>
            <a:endParaRPr lang="en-US" sz="4400" b="0" u="none" strike="noStrike">
              <a:solidFill>
                <a:srgbClr val="FFFFFF"/>
              </a:solidFill>
              <a:effectLst/>
              <a:uFillTx/>
              <a:latin typeface="Candara"/>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5" presetClass="entr"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repl">
                                        <p:cTn id="7" dur="1000" fill="hold"/>
                                        <p:tgtEl>
                                          <p:spTgt spid="34"/>
                                        </p:tgtEl>
                                        <p:attrNameLst>
                                          <p:attrName>ppt_w</p:attrName>
                                        </p:attrNameLst>
                                      </p:cBhvr>
                                      <p:tavLst>
                                        <p:tav>
                                          <p:val>
                                            <p:fltVal val="0"/>
                                          </p:val>
                                        </p:tav>
                                        <p:tav tm="100000">
                                          <p:val>
                                            <p:strVal val="#ppt_w"/>
                                          </p:val>
                                        </p:tav>
                                      </p:tavLst>
                                    </p:anim>
                                    <p:anim calcmode="lin" valueType="num">
                                      <p:cBhvr additive="repl">
                                        <p:cTn id="8" dur="1000" fill="hold"/>
                                        <p:tgtEl>
                                          <p:spTgt spid="34"/>
                                        </p:tgtEl>
                                        <p:attrNameLst>
                                          <p:attrName>ppt_h</p:attrName>
                                        </p:attrNameLst>
                                      </p:cBhvr>
                                      <p:tavLst>
                                        <p:tav>
                                          <p:val>
                                            <p:fltVal val="0"/>
                                          </p:val>
                                        </p:tav>
                                        <p:tav tm="100000">
                                          <p:val>
                                            <p:strVal val="#ppt_h"/>
                                          </p:val>
                                        </p:tav>
                                      </p:tavLst>
                                    </p:anim>
                                    <p:anim calcmode="lin" valueType="num">
                                      <p:cBhvr additive="repl">
                                        <p:cTn id="9" dur="1000" fill="hold"/>
                                        <p:tgtEl>
                                          <p:spTgt spid="34"/>
                                        </p:tgtEl>
                                        <p:attrNameLst>
                                          <p:attrName>ppt_x</p:attrName>
                                        </p:attrNameLst>
                                      </p:cBhvr>
                                      <p:tavLst>
                                        <p:tav fmla="x+(cos(-2*pi*(1-$))*-x-sin(-2*pi*(1-$))*(1-y))*(1-$)">
                                          <p:val>
                                            <p:fltVal val="0"/>
                                          </p:val>
                                        </p:tav>
                                        <p:tav fmla="x+(cos(-2*pi*(1-$))*-x-sin(-2*pi*(1-$))*(1-y))*(1-$)" tm="100000">
                                          <p:val>
                                            <p:fltVal val="1"/>
                                          </p:val>
                                        </p:tav>
                                      </p:tavLst>
                                    </p:anim>
                                    <p:anim calcmode="lin" valueType="num">
                                      <p:cBhvr additive="repl">
                                        <p:cTn id="10" dur="1000" fill="hold"/>
                                        <p:tgtEl>
                                          <p:spTgt spid="34"/>
                                        </p:tgtEl>
                                        <p:attrNameLst>
                                          <p:attrName>ppt_y</p:attrName>
                                        </p:attrNameLst>
                                      </p:cBhvr>
                                      <p:tavLst>
                                        <p:tav fmla="y+(sin(-2*pi*(1-$))*-x+cos(-2*pi*(1-$))*(1-y))*(1-$)">
                                          <p:val>
                                            <p:fltVal val="0"/>
                                          </p:val>
                                        </p:tav>
                                        <p:tav fmla="y+(sin(-2*pi*(1-$))*-x+cos(-2*pi*(1-$))*(1-y))*(1-$)" tm="100000">
                                          <p:val>
                                            <p:fltVal val="1"/>
                                          </p:val>
                                        </p:tav>
                                      </p:tavLst>
                                    </p:anim>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3" presetClass="entr" fill="hold" nodeType="clickEffect" presetSubtype="10">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animEffect transition="in" filter="blinds(horizontal)">
                                      <p:cBhvr additive="repl">
                                        <p:cTn id="15" dur="500"/>
                                        <p:tgtEl>
                                          <p:spTgt spid="33">
                                            <p:txEl>
                                              <p:pRg st="0" end="0"/>
                                            </p:txEl>
                                          </p:spTgt>
                                        </p:tgtEl>
                                      </p:cBhvr>
                                    </p:animEffect>
                                  </p:childTnLst>
                                </p:cTn>
                              </p:par>
                            </p:childTnLst>
                          </p:cTn>
                        </p:par>
                      </p:childTnLst>
                    </p:cTn>
                  </p:par>
                  <p:par>
                    <p:cTn id="16" fill="hold" nodeType="clickEffect">
                      <p:stCondLst>
                        <p:cond delay="indefinite"/>
                      </p:stCondLst>
                      <p:childTnLst>
                        <p:par>
                          <p:cTn id="17" fill="hold" nodeType="withEffect">
                            <p:stCondLst>
                              <p:cond delay="0"/>
                            </p:stCondLst>
                            <p:childTnLst>
                              <p:par>
                                <p:cTn id="18" presetID="3" presetClass="entr" fill="hold" nodeType="clickEffect" presetSubtype="10">
                                  <p:stCondLst>
                                    <p:cond delay="0"/>
                                  </p:stCondLst>
                                  <p:childTnLst>
                                    <p:set>
                                      <p:cBhvr>
                                        <p:cTn id="19" dur="1" fill="hold">
                                          <p:stCondLst>
                                            <p:cond delay="0"/>
                                          </p:stCondLst>
                                        </p:cTn>
                                        <p:tgtEl>
                                          <p:spTgt spid="33">
                                            <p:txEl>
                                              <p:pRg st="1" end="1"/>
                                            </p:txEl>
                                          </p:spTgt>
                                        </p:tgtEl>
                                        <p:attrNameLst>
                                          <p:attrName>style.visibility</p:attrName>
                                        </p:attrNameLst>
                                      </p:cBhvr>
                                      <p:to>
                                        <p:strVal val="visible"/>
                                      </p:to>
                                    </p:set>
                                    <p:animEffect transition="in" filter="blinds(horizontal)">
                                      <p:cBhvr additive="repl">
                                        <p:cTn id="20" dur="500"/>
                                        <p:tgtEl>
                                          <p:spTgt spid="33">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237960" y="290520"/>
            <a:ext cx="7772400" cy="79992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FFFFFF"/>
                </a:solidFill>
                <a:effectLst/>
                <a:uFillTx/>
                <a:latin typeface="黑体"/>
                <a:ea typeface="黑体"/>
              </a:rPr>
              <a:t>4-1  </a:t>
            </a:r>
            <a:r>
              <a:rPr lang="zh-CN" sz="3200" b="1" u="none" strike="noStrike">
                <a:solidFill>
                  <a:srgbClr val="FFFFFF"/>
                </a:solidFill>
                <a:effectLst/>
                <a:uFillTx/>
                <a:latin typeface="黑体"/>
                <a:ea typeface="黑体"/>
              </a:rPr>
              <a:t>根轨迹法的基本概念</a:t>
            </a:r>
            <a:endParaRPr lang="en-US" sz="3200" b="0" u="none" strike="noStrike">
              <a:solidFill>
                <a:srgbClr val="FFFFFF"/>
              </a:solidFill>
              <a:effectLst/>
              <a:uFillTx/>
              <a:latin typeface="Candara"/>
            </a:endParaRPr>
          </a:p>
        </p:txBody>
      </p:sp>
      <mc:AlternateContent>
        <mc:Choice xmlns:a14="http://schemas.microsoft.com/office/drawing/2010/main" Requires="a14">
          <p:sp>
            <p:nvSpPr>
              <p:cNvPr id="36" name="Object 1028"/>
              <p:cNvSpPr txBox="1"/>
              <p:nvPr/>
            </p:nvSpPr>
            <p:spPr>
              <a:xfrm>
                <a:off x="885960" y="4300560"/>
                <a:ext cx="6019560" cy="866880"/>
              </a:xfrm>
              <a:prstGeom prst="rect">
                <a:avLst/>
              </a:prstGeom>
            </p:spPr>
            <p:txBody>
              <a:bodyPr/>
              <a:p>
                <a14:m>
                  <m:oMath xmlns:m="http://schemas.openxmlformats.org/officeDocument/2006/math">
                    <m:r>
                      <m:t xml:space="preserve">c</m:t>
                    </m:r>
                    <m:r>
                      <m:t xml:space="preserve">(</m:t>
                    </m:r>
                    <m:r>
                      <m:t xml:space="preserve">t</m:t>
                    </m:r>
                    <m:r>
                      <m:t xml:space="preserve">)</m:t>
                    </m:r>
                    <m:r>
                      <m:t xml:space="preserve">=</m:t>
                    </m:r>
                    <m:sSub>
                      <m:e>
                        <m:r>
                          <m:t xml:space="preserve">A</m:t>
                        </m:r>
                      </m:e>
                      <m:sub>
                        <m:r>
                          <m:t xml:space="preserve">0</m:t>
                        </m:r>
                      </m:sub>
                    </m:sSub>
                    <m:r>
                      <m:t xml:space="preserve">+</m:t>
                    </m:r>
                    <m:nary>
                      <m:naryPr>
                        <m:chr m:val="∑"/>
                      </m:naryPr>
                      <m:sub>
                        <m:r>
                          <m:t xml:space="preserve">i</m:t>
                        </m:r>
                        <m:r>
                          <m:t xml:space="preserve">=</m:t>
                        </m:r>
                        <m:r>
                          <m:t xml:space="preserve">1</m:t>
                        </m:r>
                      </m:sub>
                      <m:sup>
                        <m:r>
                          <m:t xml:space="preserve">q</m:t>
                        </m:r>
                      </m:sup>
                      <m:e>
                        <m:sSub>
                          <m:e>
                            <m:r>
                              <m:t xml:space="preserve">A</m:t>
                            </m:r>
                          </m:e>
                          <m:sub>
                            <m:r>
                              <m:t xml:space="preserve">i</m:t>
                            </m:r>
                          </m:sub>
                        </m:sSub>
                        <m:sSup>
                          <m:e>
                            <m:r>
                              <m:t xml:space="preserve">e</m:t>
                            </m:r>
                          </m:e>
                          <m:sup>
                            <m:r>
                              <m:t xml:space="preserve">−</m:t>
                            </m:r>
                            <m:sSub>
                              <m:e>
                                <m:r>
                                  <m:t xml:space="preserve">p</m:t>
                                </m:r>
                              </m:e>
                              <m:sub>
                                <m:r>
                                  <m:t xml:space="preserve">i</m:t>
                                </m:r>
                              </m:sub>
                            </m:sSub>
                            <m:r>
                              <m:t xml:space="preserve">t</m:t>
                            </m:r>
                          </m:sup>
                        </m:sSup>
                      </m:e>
                    </m:nary>
                    <m:r>
                      <m:t xml:space="preserve">+</m:t>
                    </m:r>
                    <m:nary>
                      <m:naryPr>
                        <m:chr m:val="∑"/>
                      </m:naryPr>
                      <m:sub>
                        <m:r>
                          <m:t xml:space="preserve">k</m:t>
                        </m:r>
                        <m:r>
                          <m:t xml:space="preserve">=</m:t>
                        </m:r>
                        <m:r>
                          <m:t xml:space="preserve">1</m:t>
                        </m:r>
                      </m:sub>
                      <m:sup>
                        <m:r>
                          <m:t xml:space="preserve">r</m:t>
                        </m:r>
                      </m:sup>
                      <m:e>
                        <m:sSub>
                          <m:e>
                            <m:r>
                              <m:t xml:space="preserve">B</m:t>
                            </m:r>
                          </m:e>
                          <m:sub>
                            <m:r>
                              <m:t xml:space="preserve">k</m:t>
                            </m:r>
                          </m:sub>
                        </m:sSub>
                        <m:sSup>
                          <m:e>
                            <m:r>
                              <m:t xml:space="preserve">e</m:t>
                            </m:r>
                          </m:e>
                          <m:sup>
                            <m:r>
                              <m:t xml:space="preserve">−</m:t>
                            </m:r>
                            <m:sSub>
                              <m:e>
                                <m:r>
                                  <m:t xml:space="preserve">ξ</m:t>
                                </m:r>
                              </m:e>
                              <m:sub>
                                <m:r>
                                  <m:t xml:space="preserve">k</m:t>
                                </m:r>
                              </m:sub>
                            </m:sSub>
                            <m:sSub>
                              <m:e>
                                <m:r>
                                  <m:t xml:space="preserve">ω</m:t>
                                </m:r>
                              </m:e>
                              <m:sub>
                                <m:r>
                                  <m:t xml:space="preserve">k</m:t>
                                </m:r>
                              </m:sub>
                            </m:sSub>
                            <m:r>
                              <m:t xml:space="preserve">t</m:t>
                            </m:r>
                          </m:sup>
                        </m:sSup>
                        <m:r>
                          <m:rPr>
                            <m:lit/>
                            <m:nor/>
                          </m:rPr>
                          <m:t xml:space="preserve">sin</m:t>
                        </m:r>
                        <m:r>
                          <m:t xml:space="preserve">(</m:t>
                        </m:r>
                        <m:sSub>
                          <m:e>
                            <m:r>
                              <m:t xml:space="preserve">ω</m:t>
                            </m:r>
                          </m:e>
                          <m:sub>
                            <m:r>
                              <m:rPr>
                                <m:lit/>
                                <m:nor/>
                              </m:rPr>
                              <m:t xml:space="preserve">dk</m:t>
                            </m:r>
                          </m:sub>
                        </m:sSub>
                        <m:r>
                          <m:t xml:space="preserve">t</m:t>
                        </m:r>
                        <m:r>
                          <m:t xml:space="preserve">+</m:t>
                        </m:r>
                        <m:sSub>
                          <m:e>
                            <m:r>
                              <m:t xml:space="preserve">β</m:t>
                            </m:r>
                          </m:e>
                          <m:sub>
                            <m:r>
                              <m:t xml:space="preserve">k</m:t>
                            </m:r>
                          </m:sub>
                        </m:sSub>
                        <m:r>
                          <m:t xml:space="preserve">)</m:t>
                        </m:r>
                      </m:e>
                    </m:nary>
                  </m:oMath>
                </a14:m>
              </a:p>
            </p:txBody>
          </p:sp>
        </mc:Choice>
        <mc:Fallback>
          <p:sp>
            <p:nvSpPr>
              <p:cNvPr id="36" name="Object 1028"/>
              <p:cNvSpPr txBox="1"/>
              <p:nvPr/>
            </p:nvSpPr>
            <p:spPr>
              <a:xfrm>
                <a:off x="885960" y="4300560"/>
                <a:ext cx="6019560" cy="866880"/>
              </a:xfrm>
              <a:prstGeom prst="rect">
                <a:avLst/>
              </a:prstGeom>
              <a:blipFill>
                <a:blip r:embed="rId1"/>
                <a:stretch>
                  <a:fillRect/>
                </a:stretch>
              </a:blipFill>
            </p:spPr>
          </p:sp>
        </mc:Fallback>
      </mc:AlternateContent>
      <mc:AlternateContent>
        <mc:Choice xmlns:a14="http://schemas.microsoft.com/office/drawing/2010/main" Requires="a14">
          <p:sp>
            <p:nvSpPr>
              <p:cNvPr id="37" name="Object 1030"/>
              <p:cNvSpPr txBox="1"/>
              <p:nvPr/>
            </p:nvSpPr>
            <p:spPr>
              <a:xfrm>
                <a:off x="846000" y="5081760"/>
                <a:ext cx="5295960" cy="1400040"/>
              </a:xfrm>
              <a:prstGeom prst="rect">
                <a:avLst/>
              </a:prstGeom>
            </p:spPr>
            <p:txBody>
              <a:bodyPr/>
              <a:p>
                <a14:m>
                  <m:oMath xmlns:m="http://schemas.openxmlformats.org/officeDocument/2006/math">
                    <m:r>
                      <m:t xml:space="preserve">Φ</m:t>
                    </m:r>
                    <m:r>
                      <m:t xml:space="preserve">(</m:t>
                    </m:r>
                    <m:r>
                      <m:t xml:space="preserve">s</m:t>
                    </m:r>
                    <m:r>
                      <m:t xml:space="preserve">)</m:t>
                    </m:r>
                    <m:r>
                      <m:t xml:space="preserve">=</m:t>
                    </m:r>
                    <m:f>
                      <m:num>
                        <m:r>
                          <m:t xml:space="preserve">C</m:t>
                        </m:r>
                        <m:r>
                          <m:t xml:space="preserve">(</m:t>
                        </m:r>
                        <m:r>
                          <m:t xml:space="preserve">s</m:t>
                        </m:r>
                        <m:r>
                          <m:t xml:space="preserve">)</m:t>
                        </m:r>
                      </m:num>
                      <m:den>
                        <m:r>
                          <m:t xml:space="preserve">R</m:t>
                        </m:r>
                        <m:r>
                          <m:t xml:space="preserve">(</m:t>
                        </m:r>
                        <m:r>
                          <m:t xml:space="preserve">s</m:t>
                        </m:r>
                        <m:r>
                          <m:t xml:space="preserve">)</m:t>
                        </m:r>
                      </m:den>
                    </m:f>
                    <m:r>
                      <m:t xml:space="preserve">=</m:t>
                    </m:r>
                    <m:f>
                      <m:num>
                        <m:sSub>
                          <m:e>
                            <m:r>
                              <m:t xml:space="preserve">b</m:t>
                            </m:r>
                          </m:e>
                          <m:sub>
                            <m:r>
                              <m:t xml:space="preserve">0</m:t>
                            </m:r>
                          </m:sub>
                        </m:sSub>
                      </m:num>
                      <m:den>
                        <m:sSub>
                          <m:e>
                            <m:r>
                              <m:t xml:space="preserve">a</m:t>
                            </m:r>
                          </m:e>
                          <m:sub>
                            <m:r>
                              <m:t xml:space="preserve">0</m:t>
                            </m:r>
                          </m:sub>
                        </m:sSub>
                      </m:den>
                    </m:f>
                    <m:r>
                      <m:t xml:space="preserve">×</m:t>
                    </m:r>
                    <m:f>
                      <m:num>
                        <m:nary>
                          <m:naryPr>
                            <m:chr m:val="∏"/>
                          </m:naryPr>
                          <m:sub>
                            <m:r>
                              <m:t xml:space="preserve">j</m:t>
                            </m:r>
                            <m:r>
                              <m:t xml:space="preserve">=</m:t>
                            </m:r>
                            <m:r>
                              <m:t xml:space="preserve">1</m:t>
                            </m:r>
                          </m:sub>
                          <m:sup>
                            <m:r>
                              <m:t xml:space="preserve">m</m:t>
                            </m:r>
                          </m:sup>
                          <m:e>
                            <m:r>
                              <m:t xml:space="preserve">(</m:t>
                            </m:r>
                            <m:r>
                              <m:t xml:space="preserve">s</m:t>
                            </m:r>
                            <m:r>
                              <m:t xml:space="preserve">+</m:t>
                            </m:r>
                            <m:sSub>
                              <m:e>
                                <m:r>
                                  <m:t xml:space="preserve">z</m:t>
                                </m:r>
                              </m:e>
                              <m:sub>
                                <m:r>
                                  <m:t xml:space="preserve">j</m:t>
                                </m:r>
                              </m:sub>
                            </m:sSub>
                            <m:r>
                              <m:t xml:space="preserve">)</m:t>
                            </m:r>
                          </m:e>
                        </m:nary>
                      </m:num>
                      <m:den>
                        <m:nary>
                          <m:naryPr>
                            <m:chr m:val="∏"/>
                          </m:naryPr>
                          <m:sub>
                            <m:r>
                              <m:t xml:space="preserve">i</m:t>
                            </m:r>
                            <m:r>
                              <m:t xml:space="preserve">=</m:t>
                            </m:r>
                            <m:r>
                              <m:t xml:space="preserve">1</m:t>
                            </m:r>
                          </m:sub>
                          <m:sup>
                            <m:r>
                              <m:t xml:space="preserve">q</m:t>
                            </m:r>
                          </m:sup>
                          <m:e>
                            <m:r>
                              <m:t xml:space="preserve">(</m:t>
                            </m:r>
                            <m:r>
                              <m:t xml:space="preserve">s</m:t>
                            </m:r>
                            <m:r>
                              <m:t xml:space="preserve">+</m:t>
                            </m:r>
                            <m:sSub>
                              <m:e>
                                <m:r>
                                  <m:t xml:space="preserve">p</m:t>
                                </m:r>
                              </m:e>
                              <m:sub>
                                <m:r>
                                  <m:t xml:space="preserve">i</m:t>
                                </m:r>
                              </m:sub>
                            </m:sSub>
                            <m:r>
                              <m:t xml:space="preserve">)</m:t>
                            </m:r>
                            <m:nary>
                              <m:naryPr>
                                <m:chr m:val="∏"/>
                              </m:naryPr>
                              <m:sub>
                                <m:r>
                                  <m:t xml:space="preserve">k</m:t>
                                </m:r>
                                <m:r>
                                  <m:t xml:space="preserve">=</m:t>
                                </m:r>
                                <m:r>
                                  <m:t xml:space="preserve">1</m:t>
                                </m:r>
                              </m:sub>
                              <m:sup>
                                <m:r>
                                  <m:t xml:space="preserve">r</m:t>
                                </m:r>
                              </m:sup>
                              <m:e>
                                <m:r>
                                  <m:t xml:space="preserve">(</m:t>
                                </m:r>
                                <m:sSup>
                                  <m:e>
                                    <m:r>
                                      <m:t xml:space="preserve">s</m:t>
                                    </m:r>
                                  </m:e>
                                  <m:sup>
                                    <m:r>
                                      <m:t xml:space="preserve">2</m:t>
                                    </m:r>
                                  </m:sup>
                                </m:sSup>
                                <m:r>
                                  <m:t xml:space="preserve">+</m:t>
                                </m:r>
                                <m:r>
                                  <m:t xml:space="preserve">2</m:t>
                                </m:r>
                                <m:sSub>
                                  <m:e>
                                    <m:r>
                                      <m:t xml:space="preserve">ξ</m:t>
                                    </m:r>
                                  </m:e>
                                  <m:sub>
                                    <m:r>
                                      <m:t xml:space="preserve">k</m:t>
                                    </m:r>
                                  </m:sub>
                                </m:sSub>
                                <m:sSub>
                                  <m:e>
                                    <m:r>
                                      <m:t xml:space="preserve">ω</m:t>
                                    </m:r>
                                  </m:e>
                                  <m:sub>
                                    <m:r>
                                      <m:t xml:space="preserve">k</m:t>
                                    </m:r>
                                  </m:sub>
                                </m:sSub>
                                <m:r>
                                  <m:t xml:space="preserve">s</m:t>
                                </m:r>
                                <m:r>
                                  <m:t xml:space="preserve">+</m:t>
                                </m:r>
                                <m:sSubSup>
                                  <m:e>
                                    <m:r>
                                      <m:t xml:space="preserve">ω</m:t>
                                    </m:r>
                                  </m:e>
                                  <m:sub>
                                    <m:r>
                                      <m:t xml:space="preserve">k</m:t>
                                    </m:r>
                                  </m:sub>
                                  <m:sup>
                                    <m:r>
                                      <m:t xml:space="preserve">2</m:t>
                                    </m:r>
                                  </m:sup>
                                </m:sSubSup>
                                <m:r>
                                  <m:t xml:space="preserve">)</m:t>
                                </m:r>
                              </m:e>
                            </m:nary>
                          </m:e>
                        </m:nary>
                      </m:den>
                    </m:f>
                  </m:oMath>
                </a14:m>
              </a:p>
            </p:txBody>
          </p:sp>
        </mc:Choice>
        <mc:Fallback>
          <p:sp>
            <p:nvSpPr>
              <p:cNvPr id="37" name="Object 1030"/>
              <p:cNvSpPr txBox="1"/>
              <p:nvPr/>
            </p:nvSpPr>
            <p:spPr>
              <a:xfrm>
                <a:off x="846000" y="5081760"/>
                <a:ext cx="5295960" cy="1400040"/>
              </a:xfrm>
              <a:prstGeom prst="rect">
                <a:avLst/>
              </a:prstGeom>
              <a:blipFill>
                <a:blip r:embed="rId2"/>
                <a:stretch>
                  <a:fillRect/>
                </a:stretch>
              </a:blipFill>
            </p:spPr>
          </p:sp>
        </mc:Fallback>
      </mc:AlternateContent>
      <p:sp>
        <p:nvSpPr>
          <p:cNvPr id="38" name="Rectangle 36"/>
          <p:cNvSpPr/>
          <p:nvPr/>
        </p:nvSpPr>
        <p:spPr>
          <a:xfrm>
            <a:off x="214200" y="952560"/>
            <a:ext cx="8667720" cy="3355920"/>
          </a:xfrm>
          <a:prstGeom prst="rect">
            <a:avLst/>
          </a:prstGeom>
          <a:noFill/>
          <a:ln w="0">
            <a:noFill/>
          </a:ln>
        </p:spPr>
        <p:style>
          <a:lnRef idx="0"/>
          <a:fillRef idx="0"/>
          <a:effectRef idx="0"/>
          <a:fontRef idx="minor"/>
        </p:style>
        <p:txBody>
          <a:bodyPr lIns="90000" tIns="46800" rIns="90000" bIns="46800" anchor="t">
            <a:spAutoFit/>
          </a:bodyPr>
          <a:p>
            <a:pPr>
              <a:lnSpc>
                <a:spcPct val="120000"/>
              </a:lnSpc>
              <a:spcBef>
                <a:spcPts val="2001"/>
              </a:spcBef>
              <a:spcAft>
                <a:spcPts val="2001"/>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FF0000"/>
                </a:solidFill>
                <a:effectLst/>
                <a:uFillTx/>
                <a:latin typeface="华文新魏"/>
                <a:ea typeface="华文新魏"/>
              </a:rPr>
              <a:t>4.1.1  </a:t>
            </a:r>
            <a:r>
              <a:rPr lang="zh-CN" sz="3200" b="1" u="none" strike="noStrike">
                <a:solidFill>
                  <a:srgbClr val="FF0000"/>
                </a:solidFill>
                <a:effectLst/>
                <a:uFillTx/>
                <a:latin typeface="华文新魏"/>
                <a:ea typeface="华文新魏"/>
              </a:rPr>
              <a:t>根轨迹</a:t>
            </a:r>
            <a:endParaRPr lang="en-US" sz="3200" b="1" u="none" strike="noStrike">
              <a:solidFill>
                <a:srgbClr val="000000"/>
              </a:solidFill>
              <a:effectLst/>
              <a:uFillTx/>
              <a:latin typeface="Times New Roman"/>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600" b="1" u="none" strike="noStrike">
                <a:solidFill>
                  <a:srgbClr val="000000"/>
                </a:solidFill>
                <a:effectLst/>
                <a:uFillTx/>
                <a:latin typeface="Times New Roman"/>
              </a:rPr>
              <a:t>反馈控制系统的性质取决于闭环传递函数。只要求解出闭环系统的特征根，系统响应的变化规律就知道了。但是对于</a:t>
            </a:r>
            <a:r>
              <a:rPr lang="en-US" sz="2600" b="1" u="none" strike="noStrike">
                <a:solidFill>
                  <a:srgbClr val="000000"/>
                </a:solidFill>
                <a:effectLst/>
                <a:uFillTx/>
                <a:latin typeface="Times New Roman"/>
              </a:rPr>
              <a:t>3</a:t>
            </a:r>
            <a:r>
              <a:rPr lang="zh-CN" sz="2600" b="1" u="none" strike="noStrike">
                <a:solidFill>
                  <a:srgbClr val="000000"/>
                </a:solidFill>
                <a:effectLst/>
                <a:uFillTx/>
                <a:latin typeface="Times New Roman"/>
              </a:rPr>
              <a:t>阶以上的系统求根比较困难。如果系统中有一个可变参数时，求根就更困难了。        </a:t>
            </a:r>
            <a:endParaRPr lang="en-US" sz="26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21" dur="indefinite" restart="never" nodeType="tmRoot">
          <p:childTnLst>
            <p:seq>
              <p:cTn id="22" dur="indefinite" nodeType="mainSeq">
                <p:childTnLst>
                  <p:par>
                    <p:cTn id="23" fill="hold" nodeType="clickEffect">
                      <p:stCondLst>
                        <p:cond delay="indefinite"/>
                      </p:stCondLst>
                      <p:childTnLst>
                        <p:par>
                          <p:cTn id="24" fill="hold" nodeType="withEffect">
                            <p:stCondLst>
                              <p:cond delay="0"/>
                            </p:stCondLst>
                            <p:childTnLst>
                              <p:par>
                                <p:cTn id="25" presetID="2" presetClass="entr" fill="hold" nodeType="clickEffect" presetSubtype="8">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p:val>
                                            <p:strVal val="0-#ppt_w/2"/>
                                          </p:val>
                                        </p:tav>
                                        <p:tav tm="100000">
                                          <p:val>
                                            <p:strVal val="#ppt_x"/>
                                          </p:val>
                                        </p:tav>
                                      </p:tavLst>
                                    </p:anim>
                                    <p:anim calcmode="lin" valueType="num">
                                      <p:cBhvr additive="base">
                                        <p:cTn id="28" dur="500" fill="hold"/>
                                        <p:tgtEl>
                                          <p:spTgt spid="35"/>
                                        </p:tgtEl>
                                        <p:attrNameLst>
                                          <p:attrName>ppt_y</p:attrName>
                                        </p:attrNameLst>
                                      </p:cBhvr>
                                      <p:tavLst>
                                        <p:tav>
                                          <p:val>
                                            <p:strVal val="#ppt_y"/>
                                          </p:val>
                                        </p:tav>
                                        <p:tav tm="100000">
                                          <p:val>
                                            <p:strVal val="#ppt_y"/>
                                          </p:val>
                                        </p:tav>
                                      </p:tavLst>
                                    </p:anim>
                                  </p:childTnLst>
                                </p:cTn>
                              </p:par>
                            </p:childTnLst>
                          </p:cTn>
                        </p:par>
                      </p:childTnLst>
                    </p:cTn>
                  </p:par>
                  <p:par>
                    <p:cTn id="29" fill="hold" nodeType="clickEffect">
                      <p:stCondLst>
                        <p:cond delay="indefinite"/>
                      </p:stCondLst>
                      <p:childTnLst>
                        <p:par>
                          <p:cTn id="30" fill="hold" nodeType="withEffect">
                            <p:stCondLst>
                              <p:cond delay="0"/>
                            </p:stCondLst>
                            <p:childTnLst>
                              <p:par>
                                <p:cTn id="31" presetID="18" presetClass="entr" fill="hold" nodeType="clickEffect" presetSubtype="6">
                                  <p:stCondLst>
                                    <p:cond delay="0"/>
                                  </p:stCondLst>
                                  <p:childTnLst>
                                    <p:set>
                                      <p:cBhvr>
                                        <p:cTn id="32" dur="1" fill="hold">
                                          <p:stCondLst>
                                            <p:cond delay="0"/>
                                          </p:stCondLst>
                                        </p:cTn>
                                        <p:tgtEl>
                                          <p:spTgt spid="38">
                                            <p:txEl>
                                              <p:pRg st="0" end="0"/>
                                            </p:txEl>
                                          </p:spTgt>
                                        </p:tgtEl>
                                        <p:attrNameLst>
                                          <p:attrName>style.visibility</p:attrName>
                                        </p:attrNameLst>
                                      </p:cBhvr>
                                      <p:to>
                                        <p:strVal val="visible"/>
                                      </p:to>
                                    </p:set>
                                    <p:animEffect transition="in" filter="strips(downRight)">
                                      <p:cBhvr additive="repl">
                                        <p:cTn id="33" dur="500"/>
                                        <p:tgtEl>
                                          <p:spTgt spid="38">
                                            <p:txEl>
                                              <p:pRg st="0" end="0"/>
                                            </p:txEl>
                                          </p:spTgt>
                                        </p:tgtEl>
                                      </p:cBhvr>
                                    </p:animEffect>
                                  </p:childTnLst>
                                </p:cTn>
                              </p:par>
                            </p:childTnLst>
                          </p:cTn>
                        </p:par>
                      </p:childTnLst>
                    </p:cTn>
                  </p:par>
                  <p:par>
                    <p:cTn id="34" fill="hold" nodeType="clickEffect">
                      <p:stCondLst>
                        <p:cond delay="indefinite"/>
                      </p:stCondLst>
                      <p:childTnLst>
                        <p:par>
                          <p:cTn id="35" fill="hold" nodeType="withEffect">
                            <p:stCondLst>
                              <p:cond delay="0"/>
                            </p:stCondLst>
                            <p:childTnLst>
                              <p:par>
                                <p:cTn id="36" presetID="18" presetClass="entr" fill="hold" nodeType="clickEffect" presetSubtype="6">
                                  <p:stCondLst>
                                    <p:cond delay="0"/>
                                  </p:stCondLst>
                                  <p:childTnLst>
                                    <p:set>
                                      <p:cBhvr>
                                        <p:cTn id="37" dur="1" fill="hold">
                                          <p:stCondLst>
                                            <p:cond delay="0"/>
                                          </p:stCondLst>
                                        </p:cTn>
                                        <p:tgtEl>
                                          <p:spTgt spid="38">
                                            <p:txEl>
                                              <p:pRg st="1" end="1"/>
                                            </p:txEl>
                                          </p:spTgt>
                                        </p:tgtEl>
                                        <p:attrNameLst>
                                          <p:attrName>style.visibility</p:attrName>
                                        </p:attrNameLst>
                                      </p:cBhvr>
                                      <p:to>
                                        <p:strVal val="visible"/>
                                      </p:to>
                                    </p:set>
                                    <p:animEffect transition="in" filter="strips(downRight)">
                                      <p:cBhvr additive="repl">
                                        <p:cTn id="38" dur="500"/>
                                        <p:tgtEl>
                                          <p:spTgt spid="3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Rectangle 7"/>
          <p:cNvSpPr/>
          <p:nvPr/>
        </p:nvSpPr>
        <p:spPr>
          <a:xfrm>
            <a:off x="352440" y="685800"/>
            <a:ext cx="8639280" cy="5217480"/>
          </a:xfrm>
          <a:prstGeom prst="rect">
            <a:avLst/>
          </a:prstGeom>
          <a:noFill/>
          <a:ln w="0">
            <a:noFill/>
          </a:ln>
        </p:spPr>
        <p:style>
          <a:lnRef idx="0"/>
          <a:fillRef idx="0"/>
          <a:effectRef idx="0"/>
          <a:fontRef idx="minor"/>
        </p:style>
        <p:txBody>
          <a:bodyPr lIns="90000" tIns="46800" rIns="90000" bIns="46800" anchor="t">
            <a:sp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1" u="none" strike="noStrike">
                <a:solidFill>
                  <a:srgbClr val="000000"/>
                </a:solidFill>
                <a:effectLst/>
                <a:uFillTx/>
                <a:latin typeface="Times New Roman"/>
              </a:rPr>
              <a:t>    </a:t>
            </a:r>
            <a:r>
              <a:rPr lang="en-US" sz="2800" b="1" u="none" strike="noStrike">
                <a:solidFill>
                  <a:srgbClr val="000000"/>
                </a:solidFill>
                <a:effectLst/>
                <a:uFillTx/>
                <a:latin typeface="Times New Roman"/>
              </a:rPr>
              <a:t>1948</a:t>
            </a:r>
            <a:r>
              <a:rPr lang="zh-CN" sz="2800" b="1" u="none" strike="noStrike">
                <a:solidFill>
                  <a:srgbClr val="000000"/>
                </a:solidFill>
                <a:effectLst/>
                <a:uFillTx/>
                <a:latin typeface="Times New Roman"/>
              </a:rPr>
              <a:t>年，</a:t>
            </a:r>
            <a:r>
              <a:rPr lang="zh-CN" sz="2800" b="1" u="none" strike="noStrike">
                <a:solidFill>
                  <a:srgbClr val="FF0000"/>
                </a:solidFill>
                <a:effectLst/>
                <a:uFillTx/>
                <a:latin typeface="Times New Roman"/>
              </a:rPr>
              <a:t>伊凡思</a:t>
            </a:r>
            <a:r>
              <a:rPr lang="zh-CN" sz="2800" b="1" u="none" strike="noStrike">
                <a:solidFill>
                  <a:srgbClr val="000000"/>
                </a:solidFill>
                <a:effectLst/>
                <a:uFillTx/>
                <a:latin typeface="Times New Roman"/>
              </a:rPr>
              <a:t>提出了一种确定系统闭环特征根的图解法</a:t>
            </a:r>
            <a:r>
              <a:rPr lang="en-US" sz="2800" b="1" u="none" strike="noStrike">
                <a:solidFill>
                  <a:srgbClr val="000000"/>
                </a:solidFill>
                <a:effectLst/>
                <a:uFillTx/>
                <a:latin typeface="Times New Roman"/>
              </a:rPr>
              <a:t>——</a:t>
            </a:r>
            <a:r>
              <a:rPr lang="zh-CN" sz="2800" b="1" u="none" strike="noStrike">
                <a:solidFill>
                  <a:srgbClr val="FF0000"/>
                </a:solidFill>
                <a:effectLst/>
                <a:uFillTx/>
                <a:latin typeface="Times New Roman"/>
              </a:rPr>
              <a:t>根轨迹法</a:t>
            </a:r>
            <a:r>
              <a:rPr lang="zh-CN" sz="2800" b="1" u="none" strike="noStrike">
                <a:solidFill>
                  <a:srgbClr val="000000"/>
                </a:solidFill>
                <a:effectLst/>
                <a:uFillTx/>
                <a:latin typeface="Times New Roman"/>
              </a:rPr>
              <a:t>。在已知</a:t>
            </a:r>
            <a:r>
              <a:rPr lang="zh-CN" sz="2800" b="1" u="none" strike="noStrike">
                <a:solidFill>
                  <a:srgbClr val="FF0000"/>
                </a:solidFill>
                <a:effectLst/>
                <a:uFillTx/>
                <a:latin typeface="Times New Roman"/>
              </a:rPr>
              <a:t>开环零极点</a:t>
            </a:r>
            <a:r>
              <a:rPr lang="zh-CN" sz="2800" b="1" u="none" strike="noStrike">
                <a:solidFill>
                  <a:srgbClr val="000000"/>
                </a:solidFill>
                <a:effectLst/>
                <a:uFillTx/>
                <a:latin typeface="Times New Roman"/>
              </a:rPr>
              <a:t>分布的基础上，当某些参数变化时，利用该图解法可以非常方便的确定闭环极点。</a:t>
            </a:r>
            <a:endParaRPr lang="en-US" sz="2800" b="1" u="none" strike="noStrike">
              <a:solidFill>
                <a:srgbClr val="000000"/>
              </a:solidFill>
              <a:effectLst/>
              <a:uFillTx/>
              <a:latin typeface="Times New Roman"/>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宋体"/>
              </a:rPr>
              <a:t>    </a:t>
            </a:r>
            <a:r>
              <a:rPr lang="zh-CN" sz="2800" b="1" u="none" strike="noStrike">
                <a:solidFill>
                  <a:srgbClr val="333399"/>
                </a:solidFill>
                <a:effectLst/>
                <a:uFillTx/>
                <a:latin typeface="宋体"/>
              </a:rPr>
              <a:t>定义：</a:t>
            </a:r>
            <a:r>
              <a:rPr lang="zh-CN" sz="2800" b="1" u="sng" strike="noStrike">
                <a:solidFill>
                  <a:srgbClr val="000000"/>
                </a:solidFill>
                <a:effectLst/>
                <a:uFillTx/>
                <a:latin typeface="宋体"/>
              </a:rPr>
              <a:t>当系统</a:t>
            </a:r>
            <a:r>
              <a:rPr lang="zh-CN" sz="2800" b="1" u="sng" strike="noStrike">
                <a:solidFill>
                  <a:srgbClr val="FF0000"/>
                </a:solidFill>
                <a:effectLst/>
                <a:uFillTx/>
                <a:latin typeface="宋体"/>
              </a:rPr>
              <a:t>开环</a:t>
            </a:r>
            <a:r>
              <a:rPr lang="zh-CN" sz="2800" b="1" u="sng" strike="noStrike">
                <a:solidFill>
                  <a:srgbClr val="000000"/>
                </a:solidFill>
                <a:effectLst/>
                <a:uFillTx/>
                <a:latin typeface="宋体"/>
              </a:rPr>
              <a:t>传递函数中某一参数从</a:t>
            </a:r>
            <a:r>
              <a:rPr lang="en-US" sz="2800" b="1" u="sng" strike="noStrike">
                <a:solidFill>
                  <a:srgbClr val="000000"/>
                </a:solidFill>
                <a:effectLst/>
                <a:uFillTx/>
                <a:latin typeface="Times New Roman"/>
              </a:rPr>
              <a:t>0</a:t>
            </a:r>
            <a:r>
              <a:rPr lang="en-US" sz="2800" b="1" u="sng" strike="noStrike">
                <a:solidFill>
                  <a:srgbClr val="000000"/>
                </a:solidFill>
                <a:effectLst/>
                <a:uFillTx/>
                <a:latin typeface="Symbol"/>
                <a:ea typeface="Symbol"/>
              </a:rPr>
              <a:t></a:t>
            </a:r>
            <a:r>
              <a:rPr lang="zh-CN" sz="2800" b="1" u="sng" strike="noStrike">
                <a:solidFill>
                  <a:srgbClr val="000000"/>
                </a:solidFill>
                <a:effectLst/>
                <a:uFillTx/>
                <a:latin typeface="宋体"/>
              </a:rPr>
              <a:t>时，闭环系统特征根在</a:t>
            </a:r>
            <a:r>
              <a:rPr lang="en-US" sz="2800" b="1" i="1" u="sng" strike="noStrike">
                <a:solidFill>
                  <a:srgbClr val="000000"/>
                </a:solidFill>
                <a:effectLst/>
                <a:uFillTx/>
                <a:latin typeface="Times New Roman"/>
              </a:rPr>
              <a:t>s </a:t>
            </a:r>
            <a:r>
              <a:rPr lang="zh-CN" sz="2800" b="1" u="sng" strike="noStrike">
                <a:solidFill>
                  <a:srgbClr val="000000"/>
                </a:solidFill>
                <a:effectLst/>
                <a:uFillTx/>
                <a:latin typeface="宋体"/>
              </a:rPr>
              <a:t>平面上的变化轨迹，就称作</a:t>
            </a:r>
            <a:r>
              <a:rPr lang="zh-CN" sz="2800" b="1" u="sng" strike="noStrike">
                <a:solidFill>
                  <a:srgbClr val="FF0000"/>
                </a:solidFill>
                <a:effectLst/>
                <a:uFillTx/>
                <a:latin typeface="宋体"/>
              </a:rPr>
              <a:t>系统根轨迹</a:t>
            </a:r>
            <a:r>
              <a:rPr lang="zh-CN" sz="2800" b="1" u="sng" strike="noStrike">
                <a:solidFill>
                  <a:srgbClr val="000000"/>
                </a:solidFill>
                <a:effectLst/>
                <a:uFillTx/>
                <a:latin typeface="宋体"/>
              </a:rPr>
              <a:t>。</a:t>
            </a:r>
            <a:r>
              <a:rPr lang="zh-CN" sz="2800" b="1" u="none" strike="noStrike">
                <a:solidFill>
                  <a:srgbClr val="000000"/>
                </a:solidFill>
                <a:effectLst/>
                <a:uFillTx/>
                <a:latin typeface="宋体"/>
              </a:rPr>
              <a:t>一般取</a:t>
            </a:r>
            <a:r>
              <a:rPr lang="zh-CN" sz="2800" b="1" u="none" strike="noStrike">
                <a:solidFill>
                  <a:srgbClr val="FF0000"/>
                </a:solidFill>
                <a:effectLst/>
                <a:uFillTx/>
                <a:latin typeface="宋体"/>
              </a:rPr>
              <a:t>开环传递系数</a:t>
            </a:r>
            <a:r>
              <a:rPr lang="zh-CN" sz="2800" b="1" u="none" strike="noStrike">
                <a:solidFill>
                  <a:srgbClr val="000000"/>
                </a:solidFill>
                <a:effectLst/>
                <a:uFillTx/>
                <a:latin typeface="宋体"/>
              </a:rPr>
              <a:t>（根轨迹增益</a:t>
            </a:r>
            <a:r>
              <a:rPr lang="en-US" sz="2800" b="1" u="none" strike="noStrike">
                <a:solidFill>
                  <a:srgbClr val="000000"/>
                </a:solidFill>
                <a:effectLst/>
                <a:uFillTx/>
                <a:latin typeface="宋体"/>
              </a:rPr>
              <a:t>Kg</a:t>
            </a:r>
            <a:r>
              <a:rPr lang="zh-CN" sz="2800" b="1" u="none" strike="noStrike">
                <a:solidFill>
                  <a:srgbClr val="000000"/>
                </a:solidFill>
                <a:effectLst/>
                <a:uFillTx/>
                <a:latin typeface="宋体"/>
              </a:rPr>
              <a:t>）作为可变参数。</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39" dur="indefinite" restart="never" nodeType="tmRoot">
          <p:childTnLst>
            <p:seq>
              <p:cTn id="40" dur="indefinite" nodeType="mainSeq">
                <p:childTnLst>
                  <p:par>
                    <p:cTn id="41" fill="hold" nodeType="clickEffect">
                      <p:stCondLst>
                        <p:cond delay="indefinite"/>
                      </p:stCondLst>
                      <p:childTnLst>
                        <p:par>
                          <p:cTn id="42" fill="hold" nodeType="withEffect">
                            <p:stCondLst>
                              <p:cond delay="0"/>
                            </p:stCondLst>
                            <p:childTnLst>
                              <p:par>
                                <p:cTn id="43" presetID="18" presetClass="entr" fill="hold" nodeType="clickEffect" presetSubtype="6">
                                  <p:stCondLst>
                                    <p:cond delay="0"/>
                                  </p:stCondLst>
                                  <p:childTnLst>
                                    <p:set>
                                      <p:cBhvr>
                                        <p:cTn id="44" dur="1" fill="hold">
                                          <p:stCondLst>
                                            <p:cond delay="0"/>
                                          </p:stCondLst>
                                        </p:cTn>
                                        <p:tgtEl>
                                          <p:spTgt spid="39">
                                            <p:txEl>
                                              <p:pRg st="0" end="0"/>
                                            </p:txEl>
                                          </p:spTgt>
                                        </p:tgtEl>
                                        <p:attrNameLst>
                                          <p:attrName>style.visibility</p:attrName>
                                        </p:attrNameLst>
                                      </p:cBhvr>
                                      <p:to>
                                        <p:strVal val="visible"/>
                                      </p:to>
                                    </p:set>
                                    <p:animEffect transition="in" filter="strips(downRight)">
                                      <p:cBhvr additive="repl">
                                        <p:cTn id="45" dur="500"/>
                                        <p:tgtEl>
                                          <p:spTgt spid="39">
                                            <p:txEl>
                                              <p:pRg st="0" end="0"/>
                                            </p:txEl>
                                          </p:spTgt>
                                        </p:tgtEl>
                                      </p:cBhvr>
                                    </p:animEffect>
                                  </p:childTnLst>
                                </p:cTn>
                              </p:par>
                            </p:childTnLst>
                          </p:cTn>
                        </p:par>
                      </p:childTnLst>
                    </p:cTn>
                  </p:par>
                  <p:par>
                    <p:cTn id="46" fill="hold" nodeType="clickEffect">
                      <p:stCondLst>
                        <p:cond delay="indefinite"/>
                      </p:stCondLst>
                      <p:childTnLst>
                        <p:par>
                          <p:cTn id="47" fill="hold" nodeType="withEffect">
                            <p:stCondLst>
                              <p:cond delay="0"/>
                            </p:stCondLst>
                            <p:childTnLst>
                              <p:par>
                                <p:cTn id="48" presetID="27" presetClass="entr" fill="hold" nodeType="clickEffect">
                                  <p:stCondLst>
                                    <p:cond delay="0"/>
                                  </p:stCondLst>
                                  <p:iterate type="lt">
                                    <p:tmAbs val="40"/>
                                  </p:iterate>
                                  <p:childTnLst>
                                    <p:set>
                                      <p:cBhvr>
                                        <p:cTn id="49" dur="1" fill="hold">
                                          <p:stCondLst>
                                            <p:cond delay="0"/>
                                          </p:stCondLst>
                                        </p:cTn>
                                        <p:tgtEl>
                                          <p:spTgt spid="39">
                                            <p:txEl>
                                              <p:pRg st="1" end="1"/>
                                            </p:txEl>
                                          </p:spTgt>
                                        </p:tgtEl>
                                        <p:attrNameLst>
                                          <p:attrName>style.visibility</p:attrName>
                                        </p:attrNameLst>
                                      </p:cBhvr>
                                      <p:to>
                                        <p:strVal val="visible"/>
                                      </p:to>
                                    </p:set>
                                    <p:anim calcmode="discrete" valueType="clr">
                                      <p:cBhvr additive="repl">
                                        <p:cTn id="50" dur="80"/>
                                        <p:tgtEl>
                                          <p:spTgt spid="39">
                                            <p:txEl>
                                              <p:pRg st="1" end="1"/>
                                            </p:txEl>
                                          </p:spTgt>
                                        </p:tgtEl>
                                        <p:attrNameLst>
                                          <p:attrName>style.color</p:attrName>
                                        </p:attrNameLst>
                                      </p:cBhvr>
                                      <p:tavLst>
                                        <p:tav>
                                          <p:val>
                                            <p:strVal val="rgb(-52,51,51)"/>
                                          </p:val>
                                        </p:tav>
                                        <p:tav tm="50000">
                                          <p:val>
                                            <p:strVal val="rgb(-1,-52,-52)"/>
                                          </p:val>
                                        </p:tav>
                                      </p:tavLst>
                                    </p:anim>
                                    <p:anim calcmode="discrete" valueType="clr">
                                      <p:cBhvr additive="repl">
                                        <p:cTn id="51" dur="80"/>
                                        <p:tgtEl>
                                          <p:spTgt spid="39">
                                            <p:txEl>
                                              <p:pRg st="1" end="1"/>
                                            </p:txEl>
                                          </p:spTgt>
                                        </p:tgtEl>
                                        <p:attrNameLst>
                                          <p:attrName>fillcolor</p:attrName>
                                        </p:attrNameLst>
                                      </p:cBhvr>
                                      <p:tavLst>
                                        <p:tav>
                                          <p:val>
                                            <p:strVal val="rgb(-52,51,51)"/>
                                          </p:val>
                                        </p:tav>
                                        <p:tav tm="50000">
                                          <p:val>
                                            <p:strVal val="rgb(-1,-52,-52)"/>
                                          </p:val>
                                        </p:tav>
                                      </p:tavLst>
                                    </p:anim>
                                    <p:set>
                                      <p:cBhvr>
                                        <p:cTn id="52" dur="80"/>
                                        <p:tgtEl>
                                          <p:spTgt spid="39">
                                            <p:txEl>
                                              <p:pRg st="1" end="1"/>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Text Box 291"/>
          <p:cNvSpPr/>
          <p:nvPr/>
        </p:nvSpPr>
        <p:spPr>
          <a:xfrm>
            <a:off x="65160" y="4711680"/>
            <a:ext cx="9093240" cy="170100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式中，</a:t>
            </a:r>
            <a:r>
              <a:rPr lang="en-US" sz="2800" b="1" i="1" u="none" strike="noStrike">
                <a:solidFill>
                  <a:srgbClr val="000000"/>
                </a:solidFill>
                <a:effectLst/>
                <a:uFillTx/>
                <a:latin typeface="Times New Roman"/>
              </a:rPr>
              <a:t>K</a:t>
            </a:r>
            <a:r>
              <a:rPr lang="zh-CN" sz="2800" b="1" u="none" strike="noStrike">
                <a:solidFill>
                  <a:srgbClr val="000000"/>
                </a:solidFill>
                <a:effectLst/>
                <a:uFillTx/>
                <a:latin typeface="Times New Roman"/>
              </a:rPr>
              <a:t>为系统的开环比例系数。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i="1" u="none" strike="noStrike">
                <a:solidFill>
                  <a:srgbClr val="000000"/>
                </a:solidFill>
                <a:effectLst/>
                <a:uFillTx/>
                <a:latin typeface="Times New Roman"/>
              </a:rPr>
              <a:t> </a:t>
            </a:r>
            <a:r>
              <a:rPr lang="en-US" sz="2800" b="1" u="none" strike="noStrike">
                <a:solidFill>
                  <a:srgbClr val="000000"/>
                </a:solidFill>
                <a:effectLst/>
                <a:uFillTx/>
                <a:latin typeface="Times New Roman"/>
              </a:rPr>
              <a:t>= 2</a:t>
            </a:r>
            <a:r>
              <a:rPr lang="en-US" sz="2800" b="1" i="1" u="none" strike="noStrike">
                <a:solidFill>
                  <a:srgbClr val="000000"/>
                </a:solidFill>
                <a:effectLst/>
                <a:uFillTx/>
                <a:latin typeface="Times New Roman"/>
              </a:rPr>
              <a:t>K </a:t>
            </a:r>
            <a:r>
              <a:rPr lang="zh-CN" sz="2800" b="1" u="none" strike="noStrike">
                <a:solidFill>
                  <a:srgbClr val="000000"/>
                </a:solidFill>
                <a:effectLst/>
                <a:uFillTx/>
                <a:latin typeface="Times New Roman"/>
              </a:rPr>
              <a:t>称为系统的开环</a:t>
            </a:r>
            <a:r>
              <a:rPr lang="zh-CN" sz="2800" b="1" u="none" strike="noStrike">
                <a:solidFill>
                  <a:srgbClr val="FF0000"/>
                </a:solidFill>
                <a:effectLst/>
                <a:uFillTx/>
                <a:latin typeface="Times New Roman"/>
              </a:rPr>
              <a:t>根轨迹增益</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系统的闭环传递函数为：</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41" name="Object 292"/>
              <p:cNvSpPr txBox="1"/>
              <p:nvPr/>
            </p:nvSpPr>
            <p:spPr>
              <a:xfrm>
                <a:off x="5332320" y="5638680"/>
                <a:ext cx="3094200" cy="1138320"/>
              </a:xfrm>
              <a:prstGeom prst="rect">
                <a:avLst/>
              </a:prstGeom>
            </p:spPr>
            <p:txBody>
              <a:bodyPr/>
              <a:p>
                <a14:m>
                  <m:oMath xmlns:m="http://schemas.openxmlformats.org/officeDocument/2006/math">
                    <m:r>
                      <m:t xml:space="preserve">Φ</m:t>
                    </m:r>
                    <m:r>
                      <m:t xml:space="preserve">(</m:t>
                    </m:r>
                    <m:r>
                      <m:t xml:space="preserve">s</m:t>
                    </m:r>
                    <m:r>
                      <m:t xml:space="preserve">)</m:t>
                    </m:r>
                    <m:r>
                      <m:t xml:space="preserve">=</m:t>
                    </m:r>
                    <m:f>
                      <m:num>
                        <m:sSub>
                          <m:e>
                            <m:r>
                              <m:t xml:space="preserve">K</m:t>
                            </m:r>
                          </m:e>
                          <m:sub>
                            <m:r>
                              <m:t xml:space="preserve">g</m:t>
                            </m:r>
                          </m:sub>
                        </m:sSub>
                      </m:num>
                      <m:den>
                        <m:sSup>
                          <m:e>
                            <m:r>
                              <m:t xml:space="preserve">s</m:t>
                            </m:r>
                          </m:e>
                          <m:sup>
                            <m:r>
                              <m:t xml:space="preserve">2</m:t>
                            </m:r>
                          </m:sup>
                        </m:sSup>
                        <m:r>
                          <m:t xml:space="preserve">+</m:t>
                        </m:r>
                        <m:r>
                          <m:t xml:space="preserve">2</m:t>
                        </m:r>
                        <m:r>
                          <m:t xml:space="preserve">s</m:t>
                        </m:r>
                        <m:r>
                          <m:t xml:space="preserve">+</m:t>
                        </m:r>
                        <m:sSub>
                          <m:e>
                            <m:r>
                              <m:t xml:space="preserve">K</m:t>
                            </m:r>
                          </m:e>
                          <m:sub>
                            <m:r>
                              <m:t xml:space="preserve">g</m:t>
                            </m:r>
                          </m:sub>
                        </m:sSub>
                      </m:den>
                    </m:f>
                  </m:oMath>
                </a14:m>
              </a:p>
            </p:txBody>
          </p:sp>
        </mc:Choice>
        <mc:Fallback>
          <p:sp>
            <p:nvSpPr>
              <p:cNvPr id="41" name="Object 292"/>
              <p:cNvSpPr txBox="1"/>
              <p:nvPr/>
            </p:nvSpPr>
            <p:spPr>
              <a:xfrm>
                <a:off x="5332320" y="5638680"/>
                <a:ext cx="3094200" cy="1138320"/>
              </a:xfrm>
              <a:prstGeom prst="rect">
                <a:avLst/>
              </a:prstGeom>
              <a:blipFill>
                <a:blip r:embed="rId1"/>
                <a:stretch>
                  <a:fillRect/>
                </a:stretch>
              </a:blipFill>
            </p:spPr>
          </p:sp>
        </mc:Fallback>
      </mc:AlternateContent>
      <mc:AlternateContent>
        <mc:Choice xmlns:a14="http://schemas.microsoft.com/office/drawing/2010/main" Requires="a14">
          <p:sp>
            <p:nvSpPr>
              <p:cNvPr id="42" name="Object 296"/>
              <p:cNvSpPr txBox="1"/>
              <p:nvPr/>
            </p:nvSpPr>
            <p:spPr>
              <a:xfrm>
                <a:off x="1828800" y="3733920"/>
                <a:ext cx="5506920" cy="1001520"/>
              </a:xfrm>
              <a:prstGeom prst="rect">
                <a:avLst/>
              </a:prstGeom>
            </p:spPr>
            <p:txBody>
              <a:bodyPr/>
              <a:p>
                <a14:m>
                  <m:oMath xmlns:m="http://schemas.openxmlformats.org/officeDocument/2006/math">
                    <m:r>
                      <m:t xml:space="preserve">G</m:t>
                    </m:r>
                    <m:d>
                      <m:dPr>
                        <m:begChr m:val="("/>
                        <m:endChr m:val=")"/>
                      </m:dPr>
                      <m:e>
                        <m:r>
                          <m:t xml:space="preserve">s</m:t>
                        </m:r>
                      </m:e>
                    </m:d>
                    <m:r>
                      <m:t xml:space="preserve">=</m:t>
                    </m:r>
                    <m:f>
                      <m:num>
                        <m:r>
                          <m:t xml:space="preserve">K</m:t>
                        </m:r>
                      </m:num>
                      <m:den>
                        <m:r>
                          <m:t xml:space="preserve">s</m:t>
                        </m:r>
                        <m:r>
                          <m:t xml:space="preserve">(</m:t>
                        </m:r>
                        <m:r>
                          <m:t xml:space="preserve">0</m:t>
                        </m:r>
                        <m:r>
                          <m:rPr>
                            <m:lit/>
                            <m:nor/>
                          </m:rPr>
                          <m:t xml:space="preserve">.</m:t>
                        </m:r>
                        <m:r>
                          <m:t xml:space="preserve">5</m:t>
                        </m:r>
                        <m:r>
                          <m:t xml:space="preserve">s</m:t>
                        </m:r>
                        <m:r>
                          <m:t xml:space="preserve">+</m:t>
                        </m:r>
                        <m:r>
                          <m:t xml:space="preserve">1</m:t>
                        </m:r>
                        <m:r>
                          <m:t xml:space="preserve">)</m:t>
                        </m:r>
                      </m:den>
                    </m:f>
                    <m:r>
                      <m:t xml:space="preserve">=</m:t>
                    </m:r>
                    <m:f>
                      <m:num>
                        <m:r>
                          <m:t xml:space="preserve">2</m:t>
                        </m:r>
                        <m:r>
                          <m:t xml:space="preserve">K</m:t>
                        </m:r>
                      </m:num>
                      <m:den>
                        <m:r>
                          <m:t xml:space="preserve">s</m:t>
                        </m:r>
                        <m:r>
                          <m:t xml:space="preserve">(</m:t>
                        </m:r>
                        <m:r>
                          <m:t xml:space="preserve">s</m:t>
                        </m:r>
                        <m:r>
                          <m:t xml:space="preserve">+</m:t>
                        </m:r>
                        <m:r>
                          <m:t xml:space="preserve">2</m:t>
                        </m:r>
                        <m:r>
                          <m:t xml:space="preserve">)</m:t>
                        </m:r>
                      </m:den>
                    </m:f>
                    <m:r>
                      <m:t xml:space="preserve">=</m:t>
                    </m:r>
                    <m:f>
                      <m:num>
                        <m:sSub>
                          <m:e>
                            <m:r>
                              <m:t xml:space="preserve">K</m:t>
                            </m:r>
                          </m:e>
                          <m:sub>
                            <m:r>
                              <m:t xml:space="preserve">g</m:t>
                            </m:r>
                          </m:sub>
                        </m:sSub>
                      </m:num>
                      <m:den>
                        <m:r>
                          <m:t xml:space="preserve">s</m:t>
                        </m:r>
                        <m:r>
                          <m:t xml:space="preserve">(</m:t>
                        </m:r>
                        <m:r>
                          <m:t xml:space="preserve">s</m:t>
                        </m:r>
                        <m:r>
                          <m:t xml:space="preserve">+</m:t>
                        </m:r>
                        <m:r>
                          <m:t xml:space="preserve">2</m:t>
                        </m:r>
                        <m:r>
                          <m:t xml:space="preserve">)</m:t>
                        </m:r>
                      </m:den>
                    </m:f>
                  </m:oMath>
                </a14:m>
              </a:p>
            </p:txBody>
          </p:sp>
        </mc:Choice>
        <mc:Fallback>
          <p:sp>
            <p:nvSpPr>
              <p:cNvPr id="42" name="Object 296"/>
              <p:cNvSpPr txBox="1"/>
              <p:nvPr/>
            </p:nvSpPr>
            <p:spPr>
              <a:xfrm>
                <a:off x="1828800" y="3733920"/>
                <a:ext cx="5506920" cy="1001520"/>
              </a:xfrm>
              <a:prstGeom prst="rect">
                <a:avLst/>
              </a:prstGeom>
              <a:blipFill>
                <a:blip r:embed="rId2"/>
                <a:stretch>
                  <a:fillRect/>
                </a:stretch>
              </a:blipFill>
            </p:spPr>
          </p:sp>
        </mc:Fallback>
      </mc:AlternateContent>
      <p:sp>
        <p:nvSpPr>
          <p:cNvPr id="43" name="Rectangle 297"/>
          <p:cNvSpPr/>
          <p:nvPr/>
        </p:nvSpPr>
        <p:spPr>
          <a:xfrm>
            <a:off x="166680" y="204840"/>
            <a:ext cx="8991720" cy="971640"/>
          </a:xfrm>
          <a:prstGeom prst="rect">
            <a:avLst/>
          </a:prstGeom>
          <a:noFill/>
          <a:ln w="0">
            <a:noFill/>
          </a:ln>
        </p:spPr>
        <p:style>
          <a:lnRef idx="0"/>
          <a:fillRef idx="0"/>
          <a:effectRef idx="0"/>
          <a:fontRef idx="minor"/>
        </p:style>
        <p:txBody>
          <a:bodyPr lIns="90000" tIns="46800" rIns="90000" bIns="46800" anchor="t">
            <a:spAutoFit/>
          </a:bodyPr>
          <a:p>
            <a:pPr>
              <a:lnSpc>
                <a:spcPct val="120000"/>
              </a:lnSpc>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rPr>
              <a:t>举例说明：已知系统的结构图，分析</a:t>
            </a:r>
            <a:r>
              <a:rPr lang="en-US" sz="2400" b="0" u="none" strike="noStrike">
                <a:solidFill>
                  <a:srgbClr val="000000"/>
                </a:solidFill>
                <a:effectLst/>
                <a:uFillTx/>
                <a:latin typeface="Times New Roman"/>
              </a:rPr>
              <a:t>0 &lt; </a:t>
            </a:r>
            <a:r>
              <a:rPr lang="en-US" sz="2400" b="0" i="1" u="none" strike="noStrike">
                <a:solidFill>
                  <a:srgbClr val="000000"/>
                </a:solidFill>
                <a:effectLst/>
                <a:uFillTx/>
                <a:latin typeface="Times New Roman"/>
              </a:rPr>
              <a:t>K </a:t>
            </a:r>
            <a:r>
              <a:rPr lang="en-US" sz="2400" b="0" u="none" strike="noStrike">
                <a:solidFill>
                  <a:srgbClr val="000000"/>
                </a:solidFill>
                <a:effectLst/>
                <a:uFillTx/>
                <a:latin typeface="Times New Roman"/>
              </a:rPr>
              <a:t>&lt; </a:t>
            </a:r>
            <a:r>
              <a:rPr lang="en-US" sz="2400" b="0" u="none" strike="noStrike">
                <a:solidFill>
                  <a:srgbClr val="000000"/>
                </a:solidFill>
                <a:effectLst/>
                <a:uFillTx/>
                <a:latin typeface="Symbol"/>
                <a:ea typeface="Symbol"/>
              </a:rPr>
              <a:t></a:t>
            </a:r>
            <a:r>
              <a:rPr lang="en-US" sz="2400" b="0" u="none" strike="noStrike">
                <a:solidFill>
                  <a:srgbClr val="000000"/>
                </a:solidFill>
                <a:effectLst/>
                <a:uFillTx/>
                <a:latin typeface="Times New Roman"/>
              </a:rPr>
              <a:t> </a:t>
            </a:r>
            <a:r>
              <a:rPr lang="zh-CN" sz="2400" b="0" u="none" strike="noStrike">
                <a:solidFill>
                  <a:srgbClr val="000000"/>
                </a:solidFill>
                <a:effectLst/>
                <a:uFillTx/>
                <a:latin typeface="Times New Roman"/>
              </a:rPr>
              <a:t>，闭环特征根在</a:t>
            </a:r>
            <a:r>
              <a:rPr lang="en-US" sz="2400" b="0" i="1" u="none" strike="noStrike">
                <a:solidFill>
                  <a:srgbClr val="000000"/>
                </a:solidFill>
                <a:effectLst/>
                <a:uFillTx/>
                <a:latin typeface="Times New Roman"/>
              </a:rPr>
              <a:t>s</a:t>
            </a:r>
            <a:r>
              <a:rPr lang="zh-CN" sz="2400" b="0" u="none" strike="noStrike">
                <a:solidFill>
                  <a:srgbClr val="000000"/>
                </a:solidFill>
                <a:effectLst/>
                <a:uFillTx/>
                <a:latin typeface="Times New Roman"/>
              </a:rPr>
              <a:t>平面上的移动路径及其特征。</a:t>
            </a:r>
            <a:endParaRPr lang="en-US" sz="2400" b="1" u="none" strike="noStrike">
              <a:solidFill>
                <a:srgbClr val="000000"/>
              </a:solidFill>
              <a:effectLst/>
              <a:uFillTx/>
              <a:latin typeface="Times New Roman"/>
            </a:endParaRPr>
          </a:p>
        </p:txBody>
      </p:sp>
      <p:grpSp>
        <p:nvGrpSpPr>
          <p:cNvPr id="44" name="Group 316"/>
          <p:cNvGrpSpPr/>
          <p:nvPr/>
        </p:nvGrpSpPr>
        <p:grpSpPr>
          <a:xfrm>
            <a:off x="1676520" y="1200240"/>
            <a:ext cx="5267160" cy="1828800"/>
            <a:chOff x="1676520" y="1200240"/>
            <a:chExt cx="5267160" cy="1828800"/>
          </a:xfrm>
        </p:grpSpPr>
        <p:sp>
          <p:nvSpPr>
            <p:cNvPr id="45" name="Rectangle 301"/>
            <p:cNvSpPr/>
            <p:nvPr/>
          </p:nvSpPr>
          <p:spPr>
            <a:xfrm>
              <a:off x="3962520" y="1200240"/>
              <a:ext cx="1697040" cy="929520"/>
            </a:xfrm>
            <a:prstGeom prst="rect">
              <a:avLst/>
            </a:prstGeom>
            <a:noFill/>
            <a:ln cap="sq" w="57240">
              <a:solidFill>
                <a:srgbClr val="000000"/>
              </a:solidFill>
              <a:miter/>
            </a:ln>
          </p:spPr>
          <p:style>
            <a:lnRef idx="0"/>
            <a:fillRef idx="0"/>
            <a:effectRef idx="0"/>
            <a:fontRef idx="minor"/>
          </p:style>
          <p:txBody>
            <a:bodyPr lIns="90000" tIns="10800" rIns="90000" bIns="46800" anchor="t">
              <a:spAutoFit/>
            </a:bodyPr>
            <a:p>
              <a:pPr algn="ct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K</a:t>
              </a:r>
              <a:endParaRPr lang="en-US" sz="2400" b="1" u="none" strike="noStrike">
                <a:solidFill>
                  <a:srgbClr val="000000"/>
                </a:solidFill>
                <a:effectLst/>
                <a:uFillTx/>
                <a:latin typeface="Times New Roman"/>
              </a:endParaRPr>
            </a:p>
            <a:p>
              <a:pPr algn="ct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(0.5</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46" name="Line 300"/>
            <p:cNvSpPr/>
            <p:nvPr/>
          </p:nvSpPr>
          <p:spPr>
            <a:xfrm>
              <a:off x="4098960" y="1730520"/>
              <a:ext cx="1463760" cy="0"/>
            </a:xfrm>
            <a:prstGeom prst="line">
              <a:avLst/>
            </a:prstGeom>
            <a:ln cap="sq"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7" name="Line 302"/>
            <p:cNvSpPr/>
            <p:nvPr/>
          </p:nvSpPr>
          <p:spPr>
            <a:xfrm>
              <a:off x="3327480" y="1730520"/>
              <a:ext cx="60948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8" name="Line 303"/>
            <p:cNvSpPr/>
            <p:nvPr/>
          </p:nvSpPr>
          <p:spPr>
            <a:xfrm>
              <a:off x="1701720" y="1735200"/>
              <a:ext cx="83988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9" name="Line 304"/>
            <p:cNvSpPr/>
            <p:nvPr/>
          </p:nvSpPr>
          <p:spPr>
            <a:xfrm>
              <a:off x="5703840" y="1733760"/>
              <a:ext cx="12398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0" name="Line 305"/>
            <p:cNvSpPr/>
            <p:nvPr/>
          </p:nvSpPr>
          <p:spPr>
            <a:xfrm>
              <a:off x="6324480" y="1733760"/>
              <a:ext cx="0" cy="129528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1" name="Line 306"/>
            <p:cNvSpPr/>
            <p:nvPr/>
          </p:nvSpPr>
          <p:spPr>
            <a:xfrm>
              <a:off x="2946240" y="3025800"/>
              <a:ext cx="3378240" cy="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2" name="Line 307"/>
            <p:cNvSpPr/>
            <p:nvPr/>
          </p:nvSpPr>
          <p:spPr>
            <a:xfrm>
              <a:off x="2946240" y="2079720"/>
              <a:ext cx="0" cy="946080"/>
            </a:xfrm>
            <a:prstGeom prst="line">
              <a:avLst/>
            </a:prstGeom>
            <a:ln cap="sq" w="57240">
              <a:solidFill>
                <a:srgbClr val="00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53" name="Group 308"/>
            <p:cNvGrpSpPr/>
            <p:nvPr/>
          </p:nvGrpSpPr>
          <p:grpSpPr>
            <a:xfrm>
              <a:off x="2565360" y="1349640"/>
              <a:ext cx="730080" cy="855000"/>
              <a:chOff x="2565360" y="1349640"/>
              <a:chExt cx="730080" cy="855000"/>
            </a:xfrm>
          </p:grpSpPr>
          <p:sp>
            <p:nvSpPr>
              <p:cNvPr id="54" name="Text Box 309"/>
              <p:cNvSpPr/>
              <p:nvPr/>
            </p:nvSpPr>
            <p:spPr>
              <a:xfrm>
                <a:off x="2641680" y="1562040"/>
                <a:ext cx="609480" cy="642600"/>
              </a:xfrm>
              <a:prstGeom prst="rect">
                <a:avLst/>
              </a:prstGeom>
              <a:noFill/>
              <a:ln w="0">
                <a:noFill/>
              </a:ln>
            </p:spPr>
            <p:style>
              <a:lnRef idx="0"/>
              <a:fillRef idx="0"/>
              <a:effectRef idx="0"/>
              <a:fontRef idx="minor"/>
            </p:style>
            <p:txBody>
              <a:bodyPr lIns="90000" tIns="46800" rIns="90000" bIns="46800" anchor="t">
                <a:spAutoFit/>
              </a:bodyPr>
              <a:p>
                <a:pPr>
                  <a:spcBef>
                    <a:spcPts val="22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000000"/>
                    </a:solidFill>
                    <a:effectLst/>
                    <a:uFillTx/>
                    <a:latin typeface="Times New Roman"/>
                  </a:rPr>
                  <a:t>﹣</a:t>
                </a:r>
                <a:endParaRPr lang="en-US" sz="3600" b="1" u="none" strike="noStrike">
                  <a:solidFill>
                    <a:srgbClr val="000000"/>
                  </a:solidFill>
                  <a:effectLst/>
                  <a:uFillTx/>
                  <a:latin typeface="Times New Roman"/>
                </a:endParaRPr>
              </a:p>
            </p:txBody>
          </p:sp>
          <p:sp>
            <p:nvSpPr>
              <p:cNvPr id="55" name="Oval 310"/>
              <p:cNvSpPr/>
              <p:nvPr/>
            </p:nvSpPr>
            <p:spPr>
              <a:xfrm>
                <a:off x="2565360" y="1349640"/>
                <a:ext cx="730080" cy="730080"/>
              </a:xfrm>
              <a:prstGeom prst="ellipse">
                <a:avLst/>
              </a:prstGeom>
              <a:noFill/>
              <a:ln cap="sq" w="5724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56" name="Line 311"/>
              <p:cNvSpPr/>
              <p:nvPr/>
            </p:nvSpPr>
            <p:spPr>
              <a:xfrm flipH="1">
                <a:off x="2717640" y="1501920"/>
                <a:ext cx="457200" cy="45684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7" name="Line 312"/>
              <p:cNvSpPr/>
              <p:nvPr/>
            </p:nvSpPr>
            <p:spPr>
              <a:xfrm>
                <a:off x="2717640" y="1501920"/>
                <a:ext cx="457200" cy="45684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8" name="Text Box 313"/>
              <p:cNvSpPr/>
              <p:nvPr/>
            </p:nvSpPr>
            <p:spPr>
              <a:xfrm>
                <a:off x="2641680" y="1501920"/>
                <a:ext cx="228600" cy="427320"/>
              </a:xfrm>
              <a:prstGeom prst="rect">
                <a:avLst/>
              </a:prstGeom>
              <a:noFill/>
              <a:ln w="0">
                <a:noFill/>
              </a:ln>
            </p:spPr>
            <p:style>
              <a:lnRef idx="0"/>
              <a:fillRef idx="0"/>
              <a:effectRef idx="0"/>
              <a:fontRef idx="minor"/>
            </p:style>
            <p:txBody>
              <a:bodyPr lIns="0" tIns="0" rIns="0" bIns="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p:grpSp>
        <p:sp>
          <p:nvSpPr>
            <p:cNvPr id="59" name="Text Box 314"/>
            <p:cNvSpPr/>
            <p:nvPr/>
          </p:nvSpPr>
          <p:spPr>
            <a:xfrm>
              <a:off x="1676520" y="1200240"/>
              <a:ext cx="655560" cy="82548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R</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60" name="Text Box 315"/>
            <p:cNvSpPr/>
            <p:nvPr/>
          </p:nvSpPr>
          <p:spPr>
            <a:xfrm>
              <a:off x="5935680" y="1216080"/>
              <a:ext cx="77616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C</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grpSp>
      <p:sp>
        <p:nvSpPr>
          <p:cNvPr id="61" name="Rectangle 317"/>
          <p:cNvSpPr/>
          <p:nvPr/>
        </p:nvSpPr>
        <p:spPr>
          <a:xfrm>
            <a:off x="41040" y="3222720"/>
            <a:ext cx="586188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解：系统的开环传递函数为</a:t>
            </a:r>
            <a:endParaRPr lang="en-US" sz="2800" b="1" u="none" strike="noStrike">
              <a:solidFill>
                <a:srgbClr val="000000"/>
              </a:solidFill>
              <a:effectLst/>
              <a:uFillTx/>
              <a:latin typeface="Times New Roman"/>
            </a:endParaRPr>
          </a:p>
        </p:txBody>
      </p:sp>
      <p:sp>
        <p:nvSpPr>
          <p:cNvPr id="62" name="AutoShape 320"/>
          <p:cNvSpPr/>
          <p:nvPr/>
        </p:nvSpPr>
        <p:spPr>
          <a:xfrm>
            <a:off x="7007400" y="2279520"/>
            <a:ext cx="1898640" cy="1449360"/>
          </a:xfrm>
          <a:prstGeom prst="cloudCallout">
            <a:avLst>
              <a:gd name="adj1" fmla="val -43750"/>
              <a:gd name="adj2" fmla="val 70000"/>
            </a:avLst>
          </a:prstGeom>
          <a:solidFill>
            <a:srgbClr val="31B6FD"/>
          </a:solidFill>
          <a:ln w="9360">
            <a:solidFill>
              <a:srgbClr val="000000"/>
            </a:solidFill>
            <a:miter/>
          </a:ln>
        </p:spPr>
        <p:style>
          <a:lnRef idx="0"/>
          <a:fillRef idx="0"/>
          <a:effectRef idx="0"/>
          <a:fontRef idx="minor"/>
        </p:style>
        <p:txBody>
          <a:bodyPr lIns="90000" tIns="46800" rIns="90000" bIns="46800" anchor="t">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FF0000"/>
                </a:solidFill>
                <a:effectLst/>
                <a:uFillTx/>
                <a:latin typeface="Times New Roman"/>
              </a:rPr>
              <a:t>一定要写成零极点表达式</a:t>
            </a:r>
            <a:endParaRPr lang="en-US" sz="20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53" dur="indefinite" restart="never" nodeType="tmRoot">
          <p:childTnLst>
            <p:seq>
              <p:cTn id="54" dur="indefinite" nodeType="mainSeq">
                <p:childTnLst>
                  <p:par>
                    <p:cTn id="55" fill="hold" nodeType="clickEffect">
                      <p:stCondLst>
                        <p:cond delay="indefinite"/>
                      </p:stCondLst>
                      <p:childTnLst>
                        <p:par>
                          <p:cTn id="56" fill="hold" nodeType="withEffect">
                            <p:stCondLst>
                              <p:cond delay="0"/>
                            </p:stCondLst>
                            <p:childTnLst>
                              <p:par>
                                <p:cTn id="57" presetID="3" presetClass="entr" fill="hold" nodeType="clickEffect" presetSubtype="10">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blinds(horizontal)">
                                      <p:cBhvr additive="repl">
                                        <p:cTn id="59" dur="500"/>
                                        <p:tgtEl>
                                          <p:spTgt spid="43"/>
                                        </p:tgtEl>
                                      </p:cBhvr>
                                    </p:animEffect>
                                  </p:childTnLst>
                                </p:cTn>
                              </p:par>
                            </p:childTnLst>
                          </p:cTn>
                        </p:par>
                      </p:childTnLst>
                    </p:cTn>
                  </p:par>
                  <p:par>
                    <p:cTn id="60" fill="hold" nodeType="clickEffect">
                      <p:stCondLst>
                        <p:cond delay="indefinite"/>
                      </p:stCondLst>
                      <p:childTnLst>
                        <p:par>
                          <p:cTn id="61" fill="hold" nodeType="withEffect">
                            <p:stCondLst>
                              <p:cond delay="0"/>
                            </p:stCondLst>
                            <p:childTnLst>
                              <p:par>
                                <p:cTn id="62" presetID="9" presetClass="entr" fill="hold" nodeType="click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dissolve">
                                      <p:cBhvr additive="repl">
                                        <p:cTn id="64" dur="500"/>
                                        <p:tgtEl>
                                          <p:spTgt spid="44"/>
                                        </p:tgtEl>
                                      </p:cBhvr>
                                    </p:animEffect>
                                  </p:childTnLst>
                                </p:cTn>
                              </p:par>
                            </p:childTnLst>
                          </p:cTn>
                        </p:par>
                      </p:childTnLst>
                    </p:cTn>
                  </p:par>
                  <p:par>
                    <p:cTn id="65" fill="hold" nodeType="clickEffect">
                      <p:stCondLst>
                        <p:cond delay="indefinite"/>
                      </p:stCondLst>
                      <p:childTnLst>
                        <p:par>
                          <p:cTn id="66" fill="hold" nodeType="withEffect">
                            <p:stCondLst>
                              <p:cond delay="0"/>
                            </p:stCondLst>
                            <p:childTnLst>
                              <p:par>
                                <p:cTn id="67" presetID="9" presetClass="entr" fill="hold" nodeType="click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dissolve">
                                      <p:cBhvr additive="repl">
                                        <p:cTn id="69" dur="500"/>
                                        <p:tgtEl>
                                          <p:spTgt spid="61"/>
                                        </p:tgtEl>
                                      </p:cBhvr>
                                    </p:animEffect>
                                  </p:childTnLst>
                                </p:cTn>
                              </p:par>
                            </p:childTnLst>
                          </p:cTn>
                        </p:par>
                      </p:childTnLst>
                    </p:cTn>
                  </p:par>
                  <p:par>
                    <p:cTn id="70" fill="hold" nodeType="clickEffect">
                      <p:stCondLst>
                        <p:cond delay="indefinite"/>
                      </p:stCondLst>
                      <p:childTnLst>
                        <p:par>
                          <p:cTn id="71" fill="hold" nodeType="withEffect">
                            <p:stCondLst>
                              <p:cond delay="0"/>
                            </p:stCondLst>
                            <p:childTnLst>
                              <p:par>
                                <p:cTn id="72" presetID="9" presetClass="entr" fill="hold"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dissolve">
                                      <p:cBhvr additive="repl">
                                        <p:cTn id="74" dur="500"/>
                                        <p:tgtEl>
                                          <p:spTgt spid="42"/>
                                        </p:tgtEl>
                                      </p:cBhvr>
                                    </p:animEffect>
                                  </p:childTnLst>
                                </p:cTn>
                              </p:par>
                            </p:childTnLst>
                          </p:cTn>
                        </p:par>
                      </p:childTnLst>
                    </p:cTn>
                  </p:par>
                  <p:par>
                    <p:cTn id="75" fill="hold" nodeType="clickEffect">
                      <p:stCondLst>
                        <p:cond delay="indefinite"/>
                      </p:stCondLst>
                      <p:childTnLst>
                        <p:par>
                          <p:cTn id="76" fill="hold" nodeType="withEffect">
                            <p:stCondLst>
                              <p:cond delay="0"/>
                            </p:stCondLst>
                            <p:childTnLst>
                              <p:par>
                                <p:cTn id="77" presetID="2" presetClass="entr" fill="hold" nodeType="clickEffect" presetSubtype="3">
                                  <p:stCondLst>
                                    <p:cond delay="0"/>
                                  </p:stCondLst>
                                  <p:childTnLst>
                                    <p:set>
                                      <p:cBhvr>
                                        <p:cTn id="78" dur="1" fill="hold">
                                          <p:stCondLst>
                                            <p:cond delay="0"/>
                                          </p:stCondLst>
                                        </p:cTn>
                                        <p:tgtEl>
                                          <p:spTgt spid="62"/>
                                        </p:tgtEl>
                                        <p:attrNameLst>
                                          <p:attrName>style.visibility</p:attrName>
                                        </p:attrNameLst>
                                      </p:cBhvr>
                                      <p:to>
                                        <p:strVal val="visible"/>
                                      </p:to>
                                    </p:set>
                                    <p:anim calcmode="lin" valueType="num">
                                      <p:cBhvr additive="base">
                                        <p:cTn id="79" dur="500" fill="hold"/>
                                        <p:tgtEl>
                                          <p:spTgt spid="62"/>
                                        </p:tgtEl>
                                        <p:attrNameLst>
                                          <p:attrName>ppt_x</p:attrName>
                                        </p:attrNameLst>
                                      </p:cBhvr>
                                      <p:tavLst>
                                        <p:tav>
                                          <p:val>
                                            <p:strVal val="1+#ppt_w/2"/>
                                          </p:val>
                                        </p:tav>
                                        <p:tav tm="100000">
                                          <p:val>
                                            <p:strVal val="#ppt_x"/>
                                          </p:val>
                                        </p:tav>
                                      </p:tavLst>
                                    </p:anim>
                                    <p:anim calcmode="lin" valueType="num">
                                      <p:cBhvr additive="base">
                                        <p:cTn id="80" dur="500" fill="hold"/>
                                        <p:tgtEl>
                                          <p:spTgt spid="62"/>
                                        </p:tgtEl>
                                        <p:attrNameLst>
                                          <p:attrName>ppt_y</p:attrName>
                                        </p:attrNameLst>
                                      </p:cBhvr>
                                      <p:tavLst>
                                        <p:tav>
                                          <p:val>
                                            <p:strVal val="0-#ppt_h/2"/>
                                          </p:val>
                                        </p:tav>
                                        <p:tav tm="100000">
                                          <p:val>
                                            <p:strVal val="#ppt_y"/>
                                          </p:val>
                                        </p:tav>
                                      </p:tavLst>
                                    </p:anim>
                                  </p:childTnLst>
                                </p:cTn>
                              </p:par>
                            </p:childTnLst>
                          </p:cTn>
                        </p:par>
                      </p:childTnLst>
                    </p:cTn>
                  </p:par>
                  <p:par>
                    <p:cTn id="81" fill="hold" nodeType="clickEffect">
                      <p:stCondLst>
                        <p:cond delay="indefinite"/>
                      </p:stCondLst>
                      <p:childTnLst>
                        <p:par>
                          <p:cTn id="82" fill="hold" nodeType="withEffect">
                            <p:stCondLst>
                              <p:cond delay="0"/>
                            </p:stCondLst>
                            <p:childTnLst>
                              <p:par>
                                <p:cTn id="83" presetID="4" presetClass="entr" fill="hold" nodeType="clickEffect" presetSubtype="16">
                                  <p:stCondLst>
                                    <p:cond delay="0"/>
                                  </p:stCondLst>
                                  <p:childTnLst>
                                    <p:set>
                                      <p:cBhvr>
                                        <p:cTn id="84" dur="1" fill="hold">
                                          <p:stCondLst>
                                            <p:cond delay="0"/>
                                          </p:stCondLst>
                                        </p:cTn>
                                        <p:tgtEl>
                                          <p:spTgt spid="40">
                                            <p:txEl>
                                              <p:pRg st="0" end="0"/>
                                            </p:txEl>
                                          </p:spTgt>
                                        </p:tgtEl>
                                        <p:attrNameLst>
                                          <p:attrName>style.visibility</p:attrName>
                                        </p:attrNameLst>
                                      </p:cBhvr>
                                      <p:to>
                                        <p:strVal val="visible"/>
                                      </p:to>
                                    </p:set>
                                    <p:animEffect transition="in" filter="box(in)">
                                      <p:cBhvr additive="repl">
                                        <p:cTn id="85" dur="500"/>
                                        <p:tgtEl>
                                          <p:spTgt spid="40">
                                            <p:txEl>
                                              <p:pRg st="0" end="0"/>
                                            </p:txEl>
                                          </p:spTgt>
                                        </p:tgtEl>
                                      </p:cBhvr>
                                    </p:animEffect>
                                  </p:childTnLst>
                                </p:cTn>
                              </p:par>
                            </p:childTnLst>
                          </p:cTn>
                        </p:par>
                      </p:childTnLst>
                    </p:cTn>
                  </p:par>
                  <p:par>
                    <p:cTn id="86" fill="hold" nodeType="clickEffect">
                      <p:stCondLst>
                        <p:cond delay="indefinite"/>
                      </p:stCondLst>
                      <p:childTnLst>
                        <p:par>
                          <p:cTn id="87" fill="hold" nodeType="withEffect">
                            <p:stCondLst>
                              <p:cond delay="0"/>
                            </p:stCondLst>
                            <p:childTnLst>
                              <p:par>
                                <p:cTn id="88" presetID="4" presetClass="entr" fill="hold" nodeType="clickEffect" presetSubtype="16">
                                  <p:stCondLst>
                                    <p:cond delay="0"/>
                                  </p:stCondLst>
                                  <p:childTnLst>
                                    <p:set>
                                      <p:cBhvr>
                                        <p:cTn id="89" dur="1" fill="hold">
                                          <p:stCondLst>
                                            <p:cond delay="0"/>
                                          </p:stCondLst>
                                        </p:cTn>
                                        <p:tgtEl>
                                          <p:spTgt spid="40">
                                            <p:txEl>
                                              <p:pRg st="1" end="1"/>
                                            </p:txEl>
                                          </p:spTgt>
                                        </p:tgtEl>
                                        <p:attrNameLst>
                                          <p:attrName>style.visibility</p:attrName>
                                        </p:attrNameLst>
                                      </p:cBhvr>
                                      <p:to>
                                        <p:strVal val="visible"/>
                                      </p:to>
                                    </p:set>
                                    <p:animEffect transition="in" filter="box(in)">
                                      <p:cBhvr additive="repl">
                                        <p:cTn id="90" dur="500"/>
                                        <p:tgtEl>
                                          <p:spTgt spid="40">
                                            <p:txEl>
                                              <p:pRg st="1" end="1"/>
                                            </p:txEl>
                                          </p:spTgt>
                                        </p:tgtEl>
                                      </p:cBhvr>
                                    </p:animEffect>
                                  </p:childTnLst>
                                </p:cTn>
                              </p:par>
                            </p:childTnLst>
                          </p:cTn>
                        </p:par>
                        <p:par>
                          <p:cTn id="91" fill="hold" nodeType="afterEffect">
                            <p:stCondLst>
                              <p:cond delay="500"/>
                            </p:stCondLst>
                            <p:childTnLst>
                              <p:par>
                                <p:cTn id="92" presetID="9" presetClass="entr" fill="hold" nodeType="after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dissolve">
                                      <p:cBhvr additive="repl">
                                        <p:cTn id="94" dur="500"/>
                                        <p:tgtEl>
                                          <p:spTgt spid="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Text Box 4"/>
          <p:cNvSpPr/>
          <p:nvPr/>
        </p:nvSpPr>
        <p:spPr>
          <a:xfrm>
            <a:off x="152280" y="152280"/>
            <a:ext cx="8382240" cy="10332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系统的闭环特征方程为</a:t>
            </a:r>
            <a:r>
              <a:rPr lang="zh-CN" sz="2800" b="0" u="none" strike="noStrike">
                <a:solidFill>
                  <a:srgbClr val="000000"/>
                </a:solidFill>
                <a:effectLst/>
                <a:uFillTx/>
                <a:latin typeface="Times New Roman"/>
              </a:rPr>
              <a:t>：   </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2 </a:t>
            </a:r>
            <a:r>
              <a:rPr lang="en-US" sz="2800" b="1" u="none" strike="noStrike">
                <a:solidFill>
                  <a:srgbClr val="000000"/>
                </a:solidFill>
                <a:effectLst/>
                <a:uFillTx/>
                <a:latin typeface="Times New Roman"/>
              </a:rPr>
              <a:t>+ 2</a:t>
            </a:r>
            <a:r>
              <a:rPr lang="en-US" sz="2800" b="1" i="1" u="none" strike="noStrike">
                <a:solidFill>
                  <a:srgbClr val="000000"/>
                </a:solidFill>
                <a:effectLst/>
                <a:uFillTx/>
                <a:latin typeface="Times New Roman"/>
              </a:rPr>
              <a:t>s </a:t>
            </a:r>
            <a:r>
              <a:rPr lang="en-US" sz="28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K</a:t>
            </a:r>
            <a:r>
              <a:rPr lang="en-US" sz="2000" b="1" i="1" u="none" strike="noStrike">
                <a:solidFill>
                  <a:srgbClr val="000000"/>
                </a:solidFill>
                <a:effectLst/>
                <a:uFillTx/>
                <a:latin typeface="Times New Roman"/>
              </a:rPr>
              <a:t>g</a:t>
            </a:r>
            <a:r>
              <a:rPr lang="en-US" sz="2800" b="1" i="1" u="none" strike="noStrike">
                <a:solidFill>
                  <a:srgbClr val="000000"/>
                </a:solidFill>
                <a:effectLst/>
                <a:uFillTx/>
                <a:latin typeface="Times New Roman"/>
              </a:rPr>
              <a:t> </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求得闭环特征根为：</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64" name="Object 5"/>
              <p:cNvSpPr txBox="1"/>
              <p:nvPr/>
            </p:nvSpPr>
            <p:spPr>
              <a:xfrm>
                <a:off x="873000" y="1306440"/>
                <a:ext cx="2857680" cy="696960"/>
              </a:xfrm>
              <a:prstGeom prst="rect">
                <a:avLst/>
              </a:prstGeom>
            </p:spPr>
            <p:txBody>
              <a:bodyPr/>
              <a:p>
                <a14:m>
                  <m:oMath xmlns:m="http://schemas.openxmlformats.org/officeDocument/2006/math">
                    <m:sSub>
                      <m:e>
                        <m:r>
                          <m:t xml:space="preserve">s</m:t>
                        </m:r>
                      </m:e>
                      <m:sub>
                        <m:r>
                          <m:t xml:space="preserve">1,2</m:t>
                        </m:r>
                      </m:sub>
                    </m:sSub>
                    <m:r>
                      <m:t xml:space="preserve">=</m:t>
                    </m:r>
                    <m:r>
                      <m:t xml:space="preserve">−</m:t>
                    </m:r>
                    <m:r>
                      <m:t xml:space="preserve">1</m:t>
                    </m:r>
                    <m:r>
                      <m:t xml:space="preserve">±</m:t>
                    </m:r>
                    <m:rad>
                      <m:radPr>
                        <m:degHide m:val="1"/>
                      </m:radPr>
                      <m:deg/>
                      <m:e>
                        <m:r>
                          <m:t xml:space="preserve">1</m:t>
                        </m:r>
                        <m:r>
                          <m:t xml:space="preserve">−</m:t>
                        </m:r>
                        <m:sSub>
                          <m:e>
                            <m:r>
                              <m:t xml:space="preserve">K</m:t>
                            </m:r>
                          </m:e>
                          <m:sub>
                            <m:r>
                              <m:t xml:space="preserve">g</m:t>
                            </m:r>
                          </m:sub>
                        </m:sSub>
                      </m:e>
                    </m:rad>
                  </m:oMath>
                </a14:m>
              </a:p>
            </p:txBody>
          </p:sp>
        </mc:Choice>
        <mc:Fallback>
          <p:sp>
            <p:nvSpPr>
              <p:cNvPr id="64" name="Object 5"/>
              <p:cNvSpPr txBox="1"/>
              <p:nvPr/>
            </p:nvSpPr>
            <p:spPr>
              <a:xfrm>
                <a:off x="873000" y="1306440"/>
                <a:ext cx="2857680" cy="696960"/>
              </a:xfrm>
              <a:prstGeom prst="rect">
                <a:avLst/>
              </a:prstGeom>
              <a:blipFill>
                <a:blip r:embed="rId1"/>
                <a:stretch>
                  <a:fillRect/>
                </a:stretch>
              </a:blipFill>
            </p:spPr>
          </p:sp>
        </mc:Fallback>
      </mc:AlternateContent>
      <p:sp>
        <p:nvSpPr>
          <p:cNvPr id="65" name="Text Box 44"/>
          <p:cNvSpPr/>
          <p:nvPr/>
        </p:nvSpPr>
        <p:spPr>
          <a:xfrm>
            <a:off x="98280" y="2008080"/>
            <a:ext cx="8874360" cy="111528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(1) </a:t>
            </a:r>
            <a:r>
              <a:rPr lang="en-US" sz="2800" b="1" i="1" u="none" strike="noStrike">
                <a:solidFill>
                  <a:srgbClr val="000000"/>
                </a:solidFill>
                <a:effectLst/>
                <a:uFillTx/>
                <a:latin typeface="Times New Roman"/>
              </a:rPr>
              <a:t>Kg</a:t>
            </a:r>
            <a:r>
              <a:rPr lang="en-US" sz="2800" b="1" u="none" strike="noStrike">
                <a:solidFill>
                  <a:srgbClr val="000000"/>
                </a:solidFill>
                <a:effectLst/>
                <a:uFillTx/>
                <a:latin typeface="Times New Roman"/>
              </a:rPr>
              <a:t>= 0</a:t>
            </a:r>
            <a:r>
              <a:rPr lang="zh-CN"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baseline="-25000">
                <a:solidFill>
                  <a:srgbClr val="000000"/>
                </a:solidFill>
                <a:effectLst/>
                <a:uFillTx/>
                <a:latin typeface="Times New Roman"/>
              </a:rPr>
              <a:t>1 </a:t>
            </a:r>
            <a:r>
              <a:rPr lang="en-US" sz="2800" b="1" u="none" strike="noStrike">
                <a:solidFill>
                  <a:srgbClr val="000000"/>
                </a:solidFill>
                <a:effectLst/>
                <a:uFillTx/>
                <a:latin typeface="Times New Roman"/>
              </a:rPr>
              <a:t>= 0,</a:t>
            </a:r>
            <a:r>
              <a:rPr lang="en-US" sz="2800" b="1" i="1" u="none" strike="noStrike">
                <a:solidFill>
                  <a:srgbClr val="000000"/>
                </a:solidFill>
                <a:effectLst/>
                <a:uFillTx/>
                <a:latin typeface="Times New Roman"/>
              </a:rPr>
              <a:t>s</a:t>
            </a:r>
            <a:r>
              <a:rPr lang="en-US" sz="2800" b="1" u="none" strike="noStrike" baseline="-25000">
                <a:solidFill>
                  <a:srgbClr val="000000"/>
                </a:solidFill>
                <a:effectLst/>
                <a:uFillTx/>
                <a:latin typeface="Times New Roman"/>
              </a:rPr>
              <a:t>2 </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a:t>
            </a:r>
            <a:r>
              <a:rPr lang="zh-CN" sz="2400" b="1" u="none" strike="noStrike">
                <a:solidFill>
                  <a:srgbClr val="000000"/>
                </a:solidFill>
                <a:effectLst/>
                <a:uFillTx/>
                <a:latin typeface="Times New Roman"/>
              </a:rPr>
              <a:t>是根迹的起点</a:t>
            </a:r>
            <a:r>
              <a:rPr lang="en-US" sz="2400" b="1" u="none" strike="noStrike">
                <a:solidFill>
                  <a:srgbClr val="000000"/>
                </a:solidFill>
                <a:effectLst/>
                <a:uFillTx/>
                <a:latin typeface="Times New Roman"/>
              </a:rPr>
              <a:t>(</a:t>
            </a:r>
            <a:r>
              <a:rPr lang="zh-CN" sz="2400" b="1" u="none" strike="noStrike">
                <a:solidFill>
                  <a:srgbClr val="FF0000"/>
                </a:solidFill>
                <a:effectLst/>
                <a:uFillTx/>
                <a:latin typeface="Times New Roman"/>
                <a:ea typeface="楷体_GB2312"/>
              </a:rPr>
              <a:t>开环极点</a:t>
            </a:r>
            <a:r>
              <a:rPr lang="en-US" sz="2400" b="1" u="none" strike="noStrike">
                <a:solidFill>
                  <a:srgbClr val="000000"/>
                </a:solidFill>
                <a:effectLst/>
                <a:uFillTx/>
                <a:latin typeface="Times New Roman"/>
              </a:rPr>
              <a:t>),</a:t>
            </a:r>
            <a:r>
              <a:rPr lang="zh-CN" sz="2400" b="1" u="none" strike="noStrike">
                <a:solidFill>
                  <a:srgbClr val="000000"/>
                </a:solidFill>
                <a:effectLst/>
                <a:uFillTx/>
                <a:latin typeface="Times New Roman"/>
              </a:rPr>
              <a:t>用“</a:t>
            </a:r>
            <a:r>
              <a:rPr lang="zh-CN" sz="2400" b="1" u="none" strike="noStrike">
                <a:solidFill>
                  <a:srgbClr val="000099"/>
                </a:solidFill>
                <a:effectLst/>
                <a:uFillTx/>
                <a:latin typeface="Symbol"/>
                <a:ea typeface="Symbol"/>
              </a:rPr>
              <a:t></a:t>
            </a:r>
            <a:r>
              <a:rPr lang="zh-CN" sz="2400" b="1" u="none" strike="noStrike">
                <a:solidFill>
                  <a:srgbClr val="000000"/>
                </a:solidFill>
                <a:effectLst/>
                <a:uFillTx/>
                <a:latin typeface="Times New Roman"/>
              </a:rPr>
              <a:t>”表示。</a:t>
            </a:r>
            <a:endParaRPr lang="en-US" sz="2400" b="1" u="none" strike="noStrike">
              <a:solidFill>
                <a:srgbClr val="000000"/>
              </a:solidFill>
              <a:effectLst/>
              <a:uFillTx/>
              <a:latin typeface="Times New Roman"/>
            </a:endParaRPr>
          </a:p>
        </p:txBody>
      </p:sp>
      <p:sp>
        <p:nvSpPr>
          <p:cNvPr id="66" name="Rectangle 62"/>
          <p:cNvSpPr/>
          <p:nvPr/>
        </p:nvSpPr>
        <p:spPr>
          <a:xfrm>
            <a:off x="5181480" y="4821120"/>
            <a:ext cx="68580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a:t>
            </a:r>
            <a:endParaRPr lang="en-US" sz="2800" b="1" u="none" strike="noStrike">
              <a:solidFill>
                <a:srgbClr val="000000"/>
              </a:solidFill>
              <a:effectLst/>
              <a:uFillTx/>
              <a:latin typeface="Times New Roman"/>
            </a:endParaRPr>
          </a:p>
        </p:txBody>
      </p:sp>
      <p:grpSp>
        <p:nvGrpSpPr>
          <p:cNvPr id="67" name="Group 101"/>
          <p:cNvGrpSpPr/>
          <p:nvPr/>
        </p:nvGrpSpPr>
        <p:grpSpPr>
          <a:xfrm>
            <a:off x="4876920" y="2535120"/>
            <a:ext cx="4209840" cy="4151160"/>
            <a:chOff x="4876920" y="2535120"/>
            <a:chExt cx="4209840" cy="4151160"/>
          </a:xfrm>
        </p:grpSpPr>
        <p:sp>
          <p:nvSpPr>
            <p:cNvPr id="68" name="Line 66"/>
            <p:cNvSpPr/>
            <p:nvPr/>
          </p:nvSpPr>
          <p:spPr>
            <a:xfrm flipV="1">
              <a:off x="7897680" y="2660400"/>
              <a:ext cx="0" cy="402588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9" name="Line 67"/>
            <p:cNvSpPr/>
            <p:nvPr/>
          </p:nvSpPr>
          <p:spPr>
            <a:xfrm>
              <a:off x="4876920" y="4782960"/>
              <a:ext cx="384336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0" name="Rectangle 68"/>
            <p:cNvSpPr/>
            <p:nvPr/>
          </p:nvSpPr>
          <p:spPr>
            <a:xfrm>
              <a:off x="7702920" y="253512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71" name="Rectangle 69"/>
            <p:cNvSpPr/>
            <p:nvPr/>
          </p:nvSpPr>
          <p:spPr>
            <a:xfrm>
              <a:off x="8569800" y="4525920"/>
              <a:ext cx="51696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72" name="Rectangle 70"/>
            <p:cNvSpPr/>
            <p:nvPr/>
          </p:nvSpPr>
          <p:spPr>
            <a:xfrm>
              <a:off x="7837560" y="48150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73" name="Group 54"/>
          <p:cNvGrpSpPr/>
          <p:nvPr/>
        </p:nvGrpSpPr>
        <p:grpSpPr>
          <a:xfrm>
            <a:off x="7753320" y="4645080"/>
            <a:ext cx="287280" cy="290520"/>
            <a:chOff x="7753320" y="4645080"/>
            <a:chExt cx="287280" cy="290520"/>
          </a:xfrm>
        </p:grpSpPr>
        <p:sp>
          <p:nvSpPr>
            <p:cNvPr id="74" name="Line 55"/>
            <p:cNvSpPr/>
            <p:nvPr/>
          </p:nvSpPr>
          <p:spPr>
            <a:xfrm>
              <a:off x="7756560" y="4653000"/>
              <a:ext cx="282600" cy="28260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5" name="Line 56"/>
            <p:cNvSpPr/>
            <p:nvPr/>
          </p:nvSpPr>
          <p:spPr>
            <a:xfrm flipH="1">
              <a:off x="7753320" y="4645080"/>
              <a:ext cx="287280" cy="28728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76" name="Rectangle 73"/>
          <p:cNvSpPr/>
          <p:nvPr/>
        </p:nvSpPr>
        <p:spPr>
          <a:xfrm>
            <a:off x="6780240" y="4722840"/>
            <a:ext cx="68580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77" name="Rectangle 74"/>
          <p:cNvSpPr/>
          <p:nvPr/>
        </p:nvSpPr>
        <p:spPr>
          <a:xfrm>
            <a:off x="98280" y="2684520"/>
            <a:ext cx="4550040" cy="344844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99"/>
                </a:solidFill>
                <a:effectLst/>
                <a:uFillTx/>
                <a:latin typeface="Times New Roman"/>
              </a:rPr>
              <a:t>(2) 0 &lt; </a:t>
            </a:r>
            <a:r>
              <a:rPr lang="en-US" sz="2800" b="1" i="1" u="none" strike="noStrike">
                <a:solidFill>
                  <a:srgbClr val="000099"/>
                </a:solidFill>
                <a:effectLst/>
                <a:uFillTx/>
                <a:latin typeface="Times New Roman"/>
              </a:rPr>
              <a:t>Kg</a:t>
            </a:r>
            <a:r>
              <a:rPr lang="en-US" sz="2800" b="1" u="none" strike="noStrike">
                <a:solidFill>
                  <a:srgbClr val="000099"/>
                </a:solidFill>
                <a:effectLst/>
                <a:uFillTx/>
                <a:latin typeface="Times New Roman"/>
              </a:rPr>
              <a:t>&lt; 1 </a:t>
            </a:r>
            <a:r>
              <a:rPr lang="zh-CN" sz="2800" b="1" u="none" strike="noStrike">
                <a:solidFill>
                  <a:srgbClr val="000099"/>
                </a:solidFill>
                <a:effectLst/>
                <a:uFillTx/>
                <a:latin typeface="Times New Roman"/>
              </a:rPr>
              <a:t>：</a:t>
            </a:r>
            <a:r>
              <a:rPr lang="en-US" sz="2800" b="1" i="1" u="none" strike="noStrike">
                <a:solidFill>
                  <a:srgbClr val="000099"/>
                </a:solidFill>
                <a:effectLst/>
                <a:uFillTx/>
                <a:latin typeface="Times New Roman"/>
              </a:rPr>
              <a:t>s</a:t>
            </a:r>
            <a:r>
              <a:rPr lang="en-US" sz="2800" b="1" u="none" strike="noStrike" baseline="-25000">
                <a:solidFill>
                  <a:srgbClr val="000099"/>
                </a:solidFill>
                <a:effectLst/>
                <a:uFillTx/>
                <a:latin typeface="Times New Roman"/>
              </a:rPr>
              <a:t>1 </a:t>
            </a:r>
            <a:r>
              <a:rPr lang="zh-CN" sz="2800" b="1" u="none" strike="noStrike">
                <a:solidFill>
                  <a:srgbClr val="000099"/>
                </a:solidFill>
                <a:effectLst/>
                <a:uFillTx/>
                <a:latin typeface="Times New Roman"/>
              </a:rPr>
              <a:t>，</a:t>
            </a:r>
            <a:r>
              <a:rPr lang="en-US" sz="2800" b="1" i="1" u="none" strike="noStrike">
                <a:solidFill>
                  <a:srgbClr val="000099"/>
                </a:solidFill>
                <a:effectLst/>
                <a:uFillTx/>
                <a:latin typeface="Times New Roman"/>
              </a:rPr>
              <a:t>s</a:t>
            </a:r>
            <a:r>
              <a:rPr lang="en-US" sz="2800" b="1" u="none" strike="noStrike" baseline="-25000">
                <a:solidFill>
                  <a:srgbClr val="000099"/>
                </a:solidFill>
                <a:effectLst/>
                <a:uFillTx/>
                <a:latin typeface="Times New Roman"/>
              </a:rPr>
              <a:t>2 </a:t>
            </a:r>
            <a:r>
              <a:rPr lang="zh-CN" sz="2800" b="1" u="none" strike="noStrike">
                <a:solidFill>
                  <a:srgbClr val="000099"/>
                </a:solidFill>
                <a:effectLst/>
                <a:uFillTx/>
                <a:latin typeface="Times New Roman"/>
              </a:rPr>
              <a:t>均是负实数。 </a:t>
            </a:r>
            <a:r>
              <a:rPr lang="en-US" sz="2400" b="1" i="1" u="none" strike="noStrike">
                <a:solidFill>
                  <a:srgbClr val="FF0000"/>
                </a:solidFill>
                <a:effectLst/>
                <a:uFillTx/>
                <a:latin typeface="Times New Roman"/>
              </a:rPr>
              <a:t>Kg</a:t>
            </a:r>
            <a:r>
              <a:rPr lang="en-US" sz="2800" b="1" i="1" u="none" strike="noStrike">
                <a:solidFill>
                  <a:srgbClr val="FF0000"/>
                </a:solidFill>
                <a:effectLst/>
                <a:uFillTx/>
                <a:latin typeface="Symbol"/>
                <a:ea typeface="Symbol"/>
              </a:rPr>
              <a:t></a:t>
            </a:r>
            <a:r>
              <a:rPr lang="en-US" sz="2800" b="1" i="1" u="none" strike="noStrike">
                <a:solidFill>
                  <a:srgbClr val="FF0000"/>
                </a:solidFill>
                <a:effectLst/>
                <a:uFillTx/>
                <a:latin typeface="Times New Roman"/>
              </a:rPr>
              <a:t> </a:t>
            </a:r>
            <a:r>
              <a:rPr lang="en-US" sz="2800" b="1" u="none" strike="noStrike">
                <a:solidFill>
                  <a:srgbClr val="FF0000"/>
                </a:solidFill>
                <a:effectLst/>
                <a:uFillTx/>
                <a:latin typeface="Symbol"/>
                <a:ea typeface="Symbol"/>
              </a:rPr>
              <a:t></a:t>
            </a:r>
            <a:r>
              <a:rPr lang="en-US" sz="2800" b="1" i="1" u="none" strike="noStrike">
                <a:solidFill>
                  <a:srgbClr val="FF0000"/>
                </a:solidFill>
                <a:effectLst/>
                <a:uFillTx/>
                <a:latin typeface="Times New Roman"/>
              </a:rPr>
              <a:t>s</a:t>
            </a:r>
            <a:r>
              <a:rPr lang="en-US" sz="2800" b="1" u="none" strike="noStrike" baseline="-25000">
                <a:solidFill>
                  <a:srgbClr val="FF0000"/>
                </a:solidFill>
                <a:effectLst/>
                <a:uFillTx/>
                <a:latin typeface="Times New Roman"/>
              </a:rPr>
              <a:t>1</a:t>
            </a:r>
            <a:r>
              <a:rPr lang="en-US" sz="2800" b="1" i="1" u="none" strike="noStrike">
                <a:solidFill>
                  <a:srgbClr val="FF0000"/>
                </a:solidFill>
                <a:effectLst/>
                <a:uFillTx/>
                <a:latin typeface="Symbol"/>
                <a:ea typeface="Symbol"/>
              </a:rPr>
              <a:t></a:t>
            </a:r>
            <a:r>
              <a:rPr lang="en-US" sz="2800" b="1" i="1" u="none" strike="noStrike">
                <a:solidFill>
                  <a:srgbClr val="FF0000"/>
                </a:solidFill>
                <a:effectLst/>
                <a:uFillTx/>
                <a:latin typeface="Times New Roman"/>
              </a:rPr>
              <a:t> </a:t>
            </a:r>
            <a:r>
              <a:rPr lang="zh-CN" sz="2800" b="1" u="none" strike="noStrike">
                <a:solidFill>
                  <a:srgbClr val="FF0000"/>
                </a:solidFill>
                <a:effectLst/>
                <a:uFillTx/>
                <a:latin typeface="Times New Roman"/>
              </a:rPr>
              <a:t>，</a:t>
            </a:r>
            <a:r>
              <a:rPr lang="en-US" sz="2800" b="1" i="1" u="none" strike="noStrike">
                <a:solidFill>
                  <a:srgbClr val="FF0000"/>
                </a:solidFill>
                <a:effectLst/>
                <a:uFillTx/>
                <a:latin typeface="Times New Roman"/>
              </a:rPr>
              <a:t>s</a:t>
            </a:r>
            <a:r>
              <a:rPr lang="en-US" sz="2800" b="1" u="none" strike="noStrike" baseline="-25000">
                <a:solidFill>
                  <a:srgbClr val="FF0000"/>
                </a:solidFill>
                <a:effectLst/>
                <a:uFillTx/>
                <a:latin typeface="Times New Roman"/>
              </a:rPr>
              <a:t>2 </a:t>
            </a:r>
            <a:r>
              <a:rPr lang="en-US" sz="2800" b="1" i="1" u="none" strike="noStrike">
                <a:solidFill>
                  <a:srgbClr val="FF0000"/>
                </a:solidFill>
                <a:effectLst/>
                <a:uFillTx/>
                <a:latin typeface="Symbol"/>
                <a:ea typeface="Symbol"/>
              </a:rPr>
              <a:t></a:t>
            </a:r>
            <a:r>
              <a:rPr lang="zh-CN" sz="2800" b="1" u="none" strike="noStrike">
                <a:solidFill>
                  <a:srgbClr val="FF0000"/>
                </a:solidFill>
                <a:effectLst/>
                <a:uFillTx/>
                <a:latin typeface="Times New Roman"/>
              </a:rPr>
              <a:t>。</a:t>
            </a:r>
            <a:r>
              <a:rPr lang="zh-CN" sz="2800" b="1" u="none" strike="noStrike">
                <a:solidFill>
                  <a:srgbClr val="000099"/>
                </a:solidFill>
                <a:effectLst/>
                <a:uFillTx/>
                <a:latin typeface="Times New Roman"/>
              </a:rPr>
              <a:t> </a:t>
            </a:r>
            <a:r>
              <a:rPr lang="en-US" sz="2800" b="1" i="1" u="none" strike="noStrike">
                <a:solidFill>
                  <a:srgbClr val="000099"/>
                </a:solidFill>
                <a:effectLst/>
                <a:uFillTx/>
                <a:latin typeface="Times New Roman"/>
              </a:rPr>
              <a:t>s</a:t>
            </a:r>
            <a:r>
              <a:rPr lang="en-US" sz="2800" b="1" u="none" strike="noStrike" baseline="-25000">
                <a:solidFill>
                  <a:srgbClr val="000099"/>
                </a:solidFill>
                <a:effectLst/>
                <a:uFillTx/>
                <a:latin typeface="Times New Roman"/>
              </a:rPr>
              <a:t>1</a:t>
            </a:r>
            <a:r>
              <a:rPr lang="zh-CN" sz="2800" b="1" u="none" strike="noStrike">
                <a:solidFill>
                  <a:srgbClr val="000099"/>
                </a:solidFill>
                <a:effectLst/>
                <a:uFillTx/>
                <a:latin typeface="Times New Roman"/>
              </a:rPr>
              <a:t>从坐标原点开始沿负实轴向左移动； </a:t>
            </a:r>
            <a:r>
              <a:rPr lang="en-US" sz="2800" b="1" i="1" u="none" strike="noStrike">
                <a:solidFill>
                  <a:srgbClr val="000099"/>
                </a:solidFill>
                <a:effectLst/>
                <a:uFillTx/>
                <a:latin typeface="Times New Roman"/>
              </a:rPr>
              <a:t>s</a:t>
            </a:r>
            <a:r>
              <a:rPr lang="en-US" sz="2800" b="1" u="none" strike="noStrike" baseline="-25000">
                <a:solidFill>
                  <a:srgbClr val="000099"/>
                </a:solidFill>
                <a:effectLst/>
                <a:uFillTx/>
                <a:latin typeface="Times New Roman"/>
              </a:rPr>
              <a:t>2</a:t>
            </a:r>
            <a:r>
              <a:rPr lang="zh-CN" sz="2800" b="1" u="none" strike="noStrike">
                <a:solidFill>
                  <a:srgbClr val="000099"/>
                </a:solidFill>
                <a:effectLst/>
                <a:uFillTx/>
                <a:latin typeface="Times New Roman"/>
              </a:rPr>
              <a:t>从（</a:t>
            </a:r>
            <a:r>
              <a:rPr lang="zh-CN" sz="2800" b="1" u="none" strike="noStrike">
                <a:solidFill>
                  <a:srgbClr val="000099"/>
                </a:solidFill>
                <a:effectLst/>
                <a:uFillTx/>
                <a:latin typeface="Symbol"/>
                <a:ea typeface="Symbol"/>
              </a:rPr>
              <a:t></a:t>
            </a:r>
            <a:r>
              <a:rPr lang="en-US" sz="2800" b="1" u="none" strike="noStrike">
                <a:solidFill>
                  <a:srgbClr val="000099"/>
                </a:solidFill>
                <a:effectLst/>
                <a:uFillTx/>
                <a:latin typeface="Times New Roman"/>
              </a:rPr>
              <a:t>2</a:t>
            </a:r>
            <a:r>
              <a:rPr lang="zh-CN" sz="2800" b="1" u="none" strike="noStrike">
                <a:solidFill>
                  <a:srgbClr val="000099"/>
                </a:solidFill>
                <a:effectLst/>
                <a:uFillTx/>
                <a:latin typeface="Times New Roman"/>
              </a:rPr>
              <a:t>，</a:t>
            </a:r>
            <a:r>
              <a:rPr lang="en-US" sz="2800" b="1" u="none" strike="noStrike">
                <a:solidFill>
                  <a:srgbClr val="000099"/>
                </a:solidFill>
                <a:effectLst/>
                <a:uFillTx/>
                <a:latin typeface="Times New Roman"/>
              </a:rPr>
              <a:t>j0</a:t>
            </a:r>
            <a:r>
              <a:rPr lang="zh-CN" sz="2800" b="1" u="none" strike="noStrike">
                <a:solidFill>
                  <a:srgbClr val="000099"/>
                </a:solidFill>
                <a:effectLst/>
                <a:uFillTx/>
                <a:latin typeface="Times New Roman"/>
              </a:rPr>
              <a:t>）点开始沿负实轴向右移动。</a:t>
            </a:r>
            <a:endParaRPr lang="en-US" sz="2800" b="1" u="none" strike="noStrike">
              <a:solidFill>
                <a:srgbClr val="000000"/>
              </a:solidFill>
              <a:effectLst/>
              <a:uFillTx/>
              <a:latin typeface="Times New Roman"/>
            </a:endParaRPr>
          </a:p>
        </p:txBody>
      </p:sp>
      <p:grpSp>
        <p:nvGrpSpPr>
          <p:cNvPr id="78" name="Group 106"/>
          <p:cNvGrpSpPr/>
          <p:nvPr/>
        </p:nvGrpSpPr>
        <p:grpSpPr>
          <a:xfrm>
            <a:off x="6781680" y="4782960"/>
            <a:ext cx="1067040" cy="0"/>
            <a:chOff x="6781680" y="4782960"/>
            <a:chExt cx="1067040" cy="0"/>
          </a:xfrm>
        </p:grpSpPr>
        <p:sp>
          <p:nvSpPr>
            <p:cNvPr id="79" name="Line 75"/>
            <p:cNvSpPr/>
            <p:nvPr/>
          </p:nvSpPr>
          <p:spPr>
            <a:xfrm flipH="1">
              <a:off x="6781680" y="4782960"/>
              <a:ext cx="1067040" cy="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0" name="Line 77"/>
            <p:cNvSpPr/>
            <p:nvPr/>
          </p:nvSpPr>
          <p:spPr>
            <a:xfrm>
              <a:off x="7170840" y="4782960"/>
              <a:ext cx="296640" cy="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81" name="Line 72"/>
          <p:cNvSpPr/>
          <p:nvPr/>
        </p:nvSpPr>
        <p:spPr>
          <a:xfrm>
            <a:off x="6781680" y="4630680"/>
            <a:ext cx="0" cy="152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82" name="Group 105"/>
          <p:cNvGrpSpPr/>
          <p:nvPr/>
        </p:nvGrpSpPr>
        <p:grpSpPr>
          <a:xfrm>
            <a:off x="5714640" y="4782960"/>
            <a:ext cx="1066680" cy="0"/>
            <a:chOff x="5714640" y="4782960"/>
            <a:chExt cx="1066680" cy="0"/>
          </a:xfrm>
        </p:grpSpPr>
        <p:sp>
          <p:nvSpPr>
            <p:cNvPr id="83" name="Line 76"/>
            <p:cNvSpPr/>
            <p:nvPr/>
          </p:nvSpPr>
          <p:spPr>
            <a:xfrm flipH="1">
              <a:off x="5714640" y="4782960"/>
              <a:ext cx="106668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4" name="Line 78"/>
            <p:cNvSpPr/>
            <p:nvPr/>
          </p:nvSpPr>
          <p:spPr>
            <a:xfrm>
              <a:off x="6012000" y="4782960"/>
              <a:ext cx="29664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85" name="Text Box 81"/>
          <p:cNvSpPr/>
          <p:nvPr/>
        </p:nvSpPr>
        <p:spPr>
          <a:xfrm>
            <a:off x="82440" y="5410080"/>
            <a:ext cx="5175360" cy="57960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(3)</a:t>
            </a:r>
            <a:r>
              <a:rPr lang="en-US" sz="2800" b="0" u="none" strike="noStrike">
                <a:solidFill>
                  <a:srgbClr val="000000"/>
                </a:solidFill>
                <a:effectLst/>
                <a:uFillTx/>
                <a:latin typeface="Times New Roman"/>
              </a:rPr>
              <a:t> </a:t>
            </a:r>
            <a:r>
              <a:rPr lang="en-US" sz="2800" b="1" i="1" u="none" strike="noStrike">
                <a:solidFill>
                  <a:srgbClr val="000000"/>
                </a:solidFill>
                <a:effectLst/>
                <a:uFillTx/>
                <a:latin typeface="Times New Roman"/>
              </a:rPr>
              <a:t>Kg</a:t>
            </a:r>
            <a:r>
              <a:rPr lang="en-US" sz="2800" b="1" u="none" strike="noStrike">
                <a:solidFill>
                  <a:srgbClr val="000000"/>
                </a:solidFill>
                <a:effectLst/>
                <a:uFillTx/>
                <a:latin typeface="Times New Roman"/>
              </a:rPr>
              <a:t>= 1</a:t>
            </a:r>
            <a:r>
              <a:rPr lang="zh-CN"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s</a:t>
            </a:r>
            <a:r>
              <a:rPr lang="en-US" sz="2800" b="1" u="none" strike="noStrike" baseline="-25000">
                <a:solidFill>
                  <a:srgbClr val="000000"/>
                </a:solidFill>
                <a:effectLst/>
                <a:uFillTx/>
                <a:latin typeface="Times New Roman"/>
              </a:rPr>
              <a:t>1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s</a:t>
            </a:r>
            <a:r>
              <a:rPr lang="en-US" sz="2800" b="1" u="none" strike="noStrike" baseline="-25000">
                <a:solidFill>
                  <a:srgbClr val="000000"/>
                </a:solidFill>
                <a:effectLst/>
                <a:uFillTx/>
                <a:latin typeface="Times New Roman"/>
              </a:rPr>
              <a:t>2 </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r>
              <a:rPr lang="zh-CN" sz="2800" b="1" u="none" strike="noStrike">
                <a:solidFill>
                  <a:srgbClr val="000000"/>
                </a:solidFill>
                <a:effectLst/>
                <a:uFillTx/>
                <a:latin typeface="Times New Roman"/>
              </a:rPr>
              <a:t>，重根。</a:t>
            </a:r>
            <a:endParaRPr lang="en-US" sz="2800" b="1" u="none" strike="noStrike">
              <a:solidFill>
                <a:srgbClr val="000000"/>
              </a:solidFill>
              <a:effectLst/>
              <a:uFillTx/>
              <a:latin typeface="Times New Roman"/>
            </a:endParaRPr>
          </a:p>
        </p:txBody>
      </p:sp>
      <p:sp>
        <p:nvSpPr>
          <p:cNvPr id="86" name="Rectangle 82"/>
          <p:cNvSpPr/>
          <p:nvPr/>
        </p:nvSpPr>
        <p:spPr>
          <a:xfrm>
            <a:off x="3940200" y="1165320"/>
            <a:ext cx="4118040" cy="109260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0000"/>
                </a:solidFill>
                <a:effectLst/>
                <a:uFillTx/>
                <a:latin typeface="Times New Roman"/>
                <a:ea typeface="楷体_GB2312"/>
              </a:rPr>
              <a:t>闭环特征根</a:t>
            </a:r>
            <a:r>
              <a:rPr lang="en-US" sz="2400" b="1" i="1" u="none" strike="noStrike">
                <a:solidFill>
                  <a:srgbClr val="FF0000"/>
                </a:solidFill>
                <a:effectLst/>
                <a:uFillTx/>
                <a:latin typeface="Times New Roman"/>
                <a:ea typeface="楷体_GB2312"/>
              </a:rPr>
              <a:t>s</a:t>
            </a:r>
            <a:r>
              <a:rPr lang="en-US" sz="2400" b="1" u="none" strike="noStrike" baseline="-25000">
                <a:solidFill>
                  <a:srgbClr val="FF0000"/>
                </a:solidFill>
                <a:effectLst/>
                <a:uFillTx/>
                <a:latin typeface="Times New Roman"/>
                <a:ea typeface="楷体_GB2312"/>
              </a:rPr>
              <a:t>1</a:t>
            </a:r>
            <a:r>
              <a:rPr lang="zh-CN" sz="2400" b="1" u="none" strike="noStrike">
                <a:solidFill>
                  <a:srgbClr val="FF0000"/>
                </a:solidFill>
                <a:effectLst/>
                <a:uFillTx/>
                <a:latin typeface="Times New Roman"/>
                <a:ea typeface="楷体_GB2312"/>
              </a:rPr>
              <a:t>，</a:t>
            </a:r>
            <a:r>
              <a:rPr lang="en-US" sz="2400" b="1" i="1" u="none" strike="noStrike">
                <a:solidFill>
                  <a:srgbClr val="FF0000"/>
                </a:solidFill>
                <a:effectLst/>
                <a:uFillTx/>
                <a:latin typeface="Times New Roman"/>
                <a:ea typeface="楷体_GB2312"/>
              </a:rPr>
              <a:t>s</a:t>
            </a:r>
            <a:r>
              <a:rPr lang="en-US" sz="2400" b="1" u="none" strike="noStrike" baseline="-25000">
                <a:solidFill>
                  <a:srgbClr val="FF0000"/>
                </a:solidFill>
                <a:effectLst/>
                <a:uFillTx/>
                <a:latin typeface="Times New Roman"/>
                <a:ea typeface="楷体_GB2312"/>
              </a:rPr>
              <a:t>2</a:t>
            </a:r>
            <a:r>
              <a:rPr lang="zh-CN" sz="2400" b="1" u="none" strike="noStrike">
                <a:solidFill>
                  <a:srgbClr val="FF0000"/>
                </a:solidFill>
                <a:effectLst/>
                <a:uFillTx/>
                <a:latin typeface="Times New Roman"/>
                <a:ea typeface="楷体_GB2312"/>
              </a:rPr>
              <a:t>是</a:t>
            </a:r>
            <a:r>
              <a:rPr lang="en-US" sz="2000" b="1" i="1" u="none" strike="noStrike">
                <a:solidFill>
                  <a:srgbClr val="FF0000"/>
                </a:solidFill>
                <a:effectLst/>
                <a:uFillTx/>
                <a:latin typeface="Times New Roman"/>
                <a:ea typeface="楷体_GB2312"/>
              </a:rPr>
              <a:t>Kg</a:t>
            </a:r>
            <a:r>
              <a:rPr lang="zh-CN" sz="2400" b="1" u="none" strike="noStrike">
                <a:solidFill>
                  <a:srgbClr val="FF0000"/>
                </a:solidFill>
                <a:effectLst/>
                <a:uFillTx/>
                <a:latin typeface="Times New Roman"/>
                <a:ea typeface="楷体_GB2312"/>
              </a:rPr>
              <a:t>函数，</a:t>
            </a:r>
            <a:r>
              <a:rPr lang="zh-CN" sz="2400" b="1" u="none" strike="noStrike" baseline="-25000">
                <a:solidFill>
                  <a:srgbClr val="FF0000"/>
                </a:solidFill>
                <a:effectLst/>
                <a:uFillTx/>
                <a:latin typeface="Times New Roman"/>
                <a:ea typeface="楷体_GB2312"/>
              </a:rPr>
              <a:t> </a:t>
            </a:r>
            <a:r>
              <a:rPr lang="zh-CN" sz="2400" b="1" u="none" strike="noStrike">
                <a:solidFill>
                  <a:srgbClr val="FF0000"/>
                </a:solidFill>
                <a:effectLst/>
                <a:uFillTx/>
                <a:latin typeface="Times New Roman"/>
                <a:ea typeface="楷体_GB2312"/>
              </a:rPr>
              <a:t>随着</a:t>
            </a:r>
            <a:r>
              <a:rPr lang="en-US" sz="2400" b="1" i="1" u="none" strike="noStrike">
                <a:solidFill>
                  <a:srgbClr val="FF0000"/>
                </a:solidFill>
                <a:effectLst/>
                <a:uFillTx/>
                <a:latin typeface="Times New Roman"/>
                <a:ea typeface="楷体_GB2312"/>
              </a:rPr>
              <a:t>Kg</a:t>
            </a:r>
            <a:r>
              <a:rPr lang="zh-CN" sz="2400" b="1" u="none" strike="noStrike">
                <a:solidFill>
                  <a:srgbClr val="FF0000"/>
                </a:solidFill>
                <a:effectLst/>
                <a:uFillTx/>
                <a:latin typeface="Times New Roman"/>
                <a:ea typeface="楷体_GB2312"/>
              </a:rPr>
              <a:t>的改变而变化。</a:t>
            </a:r>
            <a:endParaRPr lang="en-US" sz="2400" b="1" u="none" strike="noStrike">
              <a:solidFill>
                <a:srgbClr val="000000"/>
              </a:solidFill>
              <a:effectLst/>
              <a:uFillTx/>
              <a:latin typeface="Times New Roman"/>
            </a:endParaRPr>
          </a:p>
        </p:txBody>
      </p:sp>
      <p:sp>
        <p:nvSpPr>
          <p:cNvPr id="87" name="Text Box 83"/>
          <p:cNvSpPr/>
          <p:nvPr/>
        </p:nvSpPr>
        <p:spPr>
          <a:xfrm>
            <a:off x="82440" y="6102360"/>
            <a:ext cx="2602080" cy="52092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(4)</a:t>
            </a:r>
            <a:r>
              <a:rPr lang="en-US" sz="2800" b="0" u="none" strike="noStrike">
                <a:solidFill>
                  <a:srgbClr val="000000"/>
                </a:solidFill>
                <a:effectLst/>
                <a:uFillTx/>
                <a:latin typeface="Times New Roman"/>
              </a:rPr>
              <a:t> </a:t>
            </a:r>
            <a:r>
              <a:rPr lang="en-US" sz="2800" b="1" i="1" u="none" strike="noStrike">
                <a:solidFill>
                  <a:srgbClr val="000000"/>
                </a:solidFill>
                <a:effectLst/>
                <a:uFillTx/>
                <a:latin typeface="Times New Roman"/>
              </a:rPr>
              <a:t>Kg </a:t>
            </a:r>
            <a:r>
              <a:rPr lang="en-US" sz="2800" b="1" u="none" strike="noStrike">
                <a:solidFill>
                  <a:srgbClr val="000000"/>
                </a:solidFill>
                <a:effectLst/>
                <a:uFillTx/>
                <a:latin typeface="Times New Roman"/>
              </a:rPr>
              <a:t>&gt;1</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88" name="Object 84"/>
              <p:cNvSpPr txBox="1"/>
              <p:nvPr/>
            </p:nvSpPr>
            <p:spPr>
              <a:xfrm>
                <a:off x="1996920" y="5945040"/>
                <a:ext cx="3341880" cy="768600"/>
              </a:xfrm>
              <a:prstGeom prst="rect">
                <a:avLst/>
              </a:prstGeom>
            </p:spPr>
            <p:txBody>
              <a:bodyPr/>
              <a:p>
                <a14:m>
                  <m:oMath xmlns:m="http://schemas.openxmlformats.org/officeDocument/2006/math">
                    <m:sSub>
                      <m:e>
                        <m:r>
                          <m:t xml:space="preserve">s</m:t>
                        </m:r>
                      </m:e>
                      <m:sub>
                        <m:r>
                          <m:t xml:space="preserve">1,2</m:t>
                        </m:r>
                      </m:sub>
                    </m:sSub>
                    <m:r>
                      <m:t xml:space="preserve">=</m:t>
                    </m:r>
                    <m:r>
                      <m:t xml:space="preserve">−</m:t>
                    </m:r>
                    <m:r>
                      <m:t xml:space="preserve">1</m:t>
                    </m:r>
                    <m:r>
                      <m:t xml:space="preserve">±</m:t>
                    </m:r>
                    <m:r>
                      <m:t xml:space="preserve">j</m:t>
                    </m:r>
                    <m:rad>
                      <m:radPr>
                        <m:degHide m:val="1"/>
                      </m:radPr>
                      <m:deg/>
                      <m:e>
                        <m:sSub>
                          <m:e>
                            <m:r>
                              <m:t xml:space="preserve">K</m:t>
                            </m:r>
                          </m:e>
                          <m:sub>
                            <m:r>
                              <m:t xml:space="preserve">g</m:t>
                            </m:r>
                          </m:sub>
                        </m:sSub>
                        <m:r>
                          <m:t xml:space="preserve">−</m:t>
                        </m:r>
                        <m:r>
                          <m:t xml:space="preserve">1</m:t>
                        </m:r>
                      </m:e>
                    </m:rad>
                  </m:oMath>
                </a14:m>
              </a:p>
            </p:txBody>
          </p:sp>
        </mc:Choice>
        <mc:Fallback>
          <p:sp>
            <p:nvSpPr>
              <p:cNvPr id="88" name="Object 84"/>
              <p:cNvSpPr txBox="1"/>
              <p:nvPr/>
            </p:nvSpPr>
            <p:spPr>
              <a:xfrm>
                <a:off x="1996920" y="5945040"/>
                <a:ext cx="3341880" cy="768600"/>
              </a:xfrm>
              <a:prstGeom prst="rect">
                <a:avLst/>
              </a:prstGeom>
              <a:blipFill>
                <a:blip r:embed="rId2"/>
                <a:stretch>
                  <a:fillRect/>
                </a:stretch>
              </a:blipFill>
            </p:spPr>
          </p:sp>
        </mc:Fallback>
      </mc:AlternateContent>
      <p:sp>
        <p:nvSpPr>
          <p:cNvPr id="89" name="Rectangle 96"/>
          <p:cNvSpPr/>
          <p:nvPr/>
        </p:nvSpPr>
        <p:spPr>
          <a:xfrm>
            <a:off x="7932600" y="414036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90" name="Rectangle 97"/>
          <p:cNvSpPr/>
          <p:nvPr/>
        </p:nvSpPr>
        <p:spPr>
          <a:xfrm>
            <a:off x="5321160" y="414036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91" name="Rectangle 98"/>
          <p:cNvSpPr/>
          <p:nvPr/>
        </p:nvSpPr>
        <p:spPr>
          <a:xfrm>
            <a:off x="6796080" y="4195800"/>
            <a:ext cx="9604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92" name="Rectangle 99"/>
          <p:cNvSpPr/>
          <p:nvPr/>
        </p:nvSpPr>
        <p:spPr>
          <a:xfrm>
            <a:off x="6796080" y="2825640"/>
            <a:ext cx="11509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93" name="Rectangle 100"/>
          <p:cNvSpPr/>
          <p:nvPr/>
        </p:nvSpPr>
        <p:spPr>
          <a:xfrm>
            <a:off x="6796080" y="6229440"/>
            <a:ext cx="12142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94" name="Line 103"/>
          <p:cNvSpPr/>
          <p:nvPr/>
        </p:nvSpPr>
        <p:spPr>
          <a:xfrm>
            <a:off x="5624640" y="4597560"/>
            <a:ext cx="0" cy="1998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95" name="Group 95"/>
          <p:cNvGrpSpPr/>
          <p:nvPr/>
        </p:nvGrpSpPr>
        <p:grpSpPr>
          <a:xfrm>
            <a:off x="6792840" y="4762440"/>
            <a:ext cx="3240" cy="1903320"/>
            <a:chOff x="6792840" y="4762440"/>
            <a:chExt cx="3240" cy="1903320"/>
          </a:xfrm>
        </p:grpSpPr>
        <p:sp>
          <p:nvSpPr>
            <p:cNvPr id="96" name="Line 92"/>
            <p:cNvSpPr/>
            <p:nvPr/>
          </p:nvSpPr>
          <p:spPr>
            <a:xfrm>
              <a:off x="6792840" y="4762440"/>
              <a:ext cx="0" cy="190332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 name="Line 93"/>
            <p:cNvSpPr/>
            <p:nvPr/>
          </p:nvSpPr>
          <p:spPr>
            <a:xfrm flipV="1">
              <a:off x="6796080" y="5686200"/>
              <a:ext cx="0" cy="29844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98" name="Group 94"/>
          <p:cNvGrpSpPr/>
          <p:nvPr/>
        </p:nvGrpSpPr>
        <p:grpSpPr>
          <a:xfrm>
            <a:off x="6796080" y="2858760"/>
            <a:ext cx="0" cy="1903320"/>
            <a:chOff x="6796080" y="2858760"/>
            <a:chExt cx="0" cy="1903320"/>
          </a:xfrm>
        </p:grpSpPr>
        <p:sp>
          <p:nvSpPr>
            <p:cNvPr id="99" name="Line 88"/>
            <p:cNvSpPr/>
            <p:nvPr/>
          </p:nvSpPr>
          <p:spPr>
            <a:xfrm flipV="1">
              <a:off x="6796080" y="2858760"/>
              <a:ext cx="0" cy="190332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0" name="Line 89"/>
            <p:cNvSpPr/>
            <p:nvPr/>
          </p:nvSpPr>
          <p:spPr>
            <a:xfrm>
              <a:off x="6796080" y="3566520"/>
              <a:ext cx="0" cy="29844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01" name="Group 57"/>
          <p:cNvGrpSpPr/>
          <p:nvPr/>
        </p:nvGrpSpPr>
        <p:grpSpPr>
          <a:xfrm>
            <a:off x="5486400" y="4637160"/>
            <a:ext cx="287280" cy="290520"/>
            <a:chOff x="5486400" y="4637160"/>
            <a:chExt cx="287280" cy="290520"/>
          </a:xfrm>
        </p:grpSpPr>
        <p:sp>
          <p:nvSpPr>
            <p:cNvPr id="102" name="Line 58"/>
            <p:cNvSpPr/>
            <p:nvPr/>
          </p:nvSpPr>
          <p:spPr>
            <a:xfrm>
              <a:off x="5489640" y="46450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3" name="Line 59"/>
            <p:cNvSpPr/>
            <p:nvPr/>
          </p:nvSpPr>
          <p:spPr>
            <a:xfrm flipH="1">
              <a:off x="5486400" y="46371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04" name="Oval 104"/>
          <p:cNvSpPr/>
          <p:nvPr/>
        </p:nvSpPr>
        <p:spPr>
          <a:xfrm>
            <a:off x="6627960" y="4570560"/>
            <a:ext cx="304560" cy="30456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105" name="Object 113"/>
              <p:cNvSpPr txBox="1"/>
              <p:nvPr/>
            </p:nvSpPr>
            <p:spPr>
              <a:xfrm>
                <a:off x="7162920" y="453960"/>
                <a:ext cx="1741320" cy="812880"/>
              </a:xfrm>
              <a:prstGeom prst="rect">
                <a:avLst/>
              </a:prstGeom>
            </p:spPr>
            <p:txBody>
              <a:bodyPr/>
              <a:p>
                <a14:m>
                  <m:oMath xmlns:m="http://schemas.openxmlformats.org/officeDocument/2006/math">
                    <m:r>
                      <m:t xml:space="preserve">G</m:t>
                    </m:r>
                    <m:d>
                      <m:dPr>
                        <m:begChr m:val="("/>
                        <m:endChr m:val=")"/>
                      </m:dPr>
                      <m:e>
                        <m:r>
                          <m:t xml:space="preserve">s</m:t>
                        </m:r>
                      </m:e>
                    </m:d>
                    <m:r>
                      <m:t xml:space="preserve">=</m:t>
                    </m:r>
                    <m:f>
                      <m:num>
                        <m:sSub>
                          <m:e>
                            <m:r>
                              <m:t xml:space="preserve">K</m:t>
                            </m:r>
                          </m:e>
                          <m:sub>
                            <m:r>
                              <m:t xml:space="preserve">g</m:t>
                            </m:r>
                          </m:sub>
                        </m:sSub>
                      </m:num>
                      <m:den>
                        <m:r>
                          <m:t xml:space="preserve">s</m:t>
                        </m:r>
                        <m:r>
                          <m:t xml:space="preserve">(</m:t>
                        </m:r>
                        <m:r>
                          <m:t xml:space="preserve">s</m:t>
                        </m:r>
                        <m:r>
                          <m:t xml:space="preserve">+</m:t>
                        </m:r>
                        <m:r>
                          <m:t xml:space="preserve">2</m:t>
                        </m:r>
                        <m:r>
                          <m:t xml:space="preserve">)</m:t>
                        </m:r>
                      </m:den>
                    </m:f>
                  </m:oMath>
                </a14:m>
              </a:p>
            </p:txBody>
          </p:sp>
        </mc:Choice>
        <mc:Fallback>
          <p:sp>
            <p:nvSpPr>
              <p:cNvPr id="105" name="Object 113"/>
              <p:cNvSpPr txBox="1"/>
              <p:nvPr/>
            </p:nvSpPr>
            <p:spPr>
              <a:xfrm>
                <a:off x="7162920" y="453960"/>
                <a:ext cx="1741320" cy="812880"/>
              </a:xfrm>
              <a:prstGeom prst="rect">
                <a:avLst/>
              </a:prstGeom>
              <a:blipFill>
                <a:blip r:embed="rId3"/>
                <a:stretch>
                  <a:fillRect/>
                </a:stretch>
              </a:blipFill>
            </p:spPr>
          </p:sp>
        </mc:Fallback>
      </mc:AlternateContent>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nodeType="clickEffect">
                      <p:stCondLst>
                        <p:cond delay="indefinite"/>
                      </p:stCondLst>
                      <p:childTnLst>
                        <p:par>
                          <p:cTn id="98" fill="hold" nodeType="withEffect">
                            <p:stCondLst>
                              <p:cond delay="0"/>
                            </p:stCondLst>
                            <p:childTnLst>
                              <p:par>
                                <p:cTn id="99" presetID="2" presetClass="entr" fill="hold" nodeType="clickEffect" presetSubtype="8">
                                  <p:stCondLst>
                                    <p:cond delay="0"/>
                                  </p:stCondLst>
                                  <p:childTnLst>
                                    <p:set>
                                      <p:cBhvr>
                                        <p:cTn id="100" dur="1" fill="hold">
                                          <p:stCondLst>
                                            <p:cond delay="0"/>
                                          </p:stCondLst>
                                        </p:cTn>
                                        <p:tgtEl>
                                          <p:spTgt spid="63">
                                            <p:txEl>
                                              <p:pRg st="0" end="0"/>
                                            </p:txEl>
                                          </p:spTgt>
                                        </p:tgtEl>
                                        <p:attrNameLst>
                                          <p:attrName>style.visibility</p:attrName>
                                        </p:attrNameLst>
                                      </p:cBhvr>
                                      <p:to>
                                        <p:strVal val="visible"/>
                                      </p:to>
                                    </p:set>
                                    <p:anim calcmode="lin" valueType="num">
                                      <p:cBhvr additive="base">
                                        <p:cTn id="101" dur="500" fill="hold"/>
                                        <p:tgtEl>
                                          <p:spTgt spid="63">
                                            <p:txEl>
                                              <p:pRg st="0" end="0"/>
                                            </p:txEl>
                                          </p:spTgt>
                                        </p:tgtEl>
                                        <p:attrNameLst>
                                          <p:attrName>ppt_x</p:attrName>
                                        </p:attrNameLst>
                                      </p:cBhvr>
                                      <p:tavLst>
                                        <p:tav>
                                          <p:val>
                                            <p:strVal val="0-#ppt_w/2"/>
                                          </p:val>
                                        </p:tav>
                                        <p:tav tm="100000">
                                          <p:val>
                                            <p:strVal val="#ppt_x"/>
                                          </p:val>
                                        </p:tav>
                                      </p:tavLst>
                                    </p:anim>
                                    <p:anim calcmode="lin" valueType="num">
                                      <p:cBhvr additive="base">
                                        <p:cTn id="102" dur="500" fill="hold"/>
                                        <p:tgtEl>
                                          <p:spTgt spid="63">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03" fill="hold" nodeType="clickEffect">
                      <p:stCondLst>
                        <p:cond delay="indefinite"/>
                      </p:stCondLst>
                      <p:childTnLst>
                        <p:par>
                          <p:cTn id="104" fill="hold" nodeType="withEffect">
                            <p:stCondLst>
                              <p:cond delay="0"/>
                            </p:stCondLst>
                            <p:childTnLst>
                              <p:par>
                                <p:cTn id="105" presetID="2" presetClass="entr" fill="hold" nodeType="clickEffect" presetSubtype="8">
                                  <p:stCondLst>
                                    <p:cond delay="0"/>
                                  </p:stCondLst>
                                  <p:childTnLst>
                                    <p:set>
                                      <p:cBhvr>
                                        <p:cTn id="106" dur="1" fill="hold">
                                          <p:stCondLst>
                                            <p:cond delay="0"/>
                                          </p:stCondLst>
                                        </p:cTn>
                                        <p:tgtEl>
                                          <p:spTgt spid="63">
                                            <p:txEl>
                                              <p:pRg st="1" end="1"/>
                                            </p:txEl>
                                          </p:spTgt>
                                        </p:tgtEl>
                                        <p:attrNameLst>
                                          <p:attrName>style.visibility</p:attrName>
                                        </p:attrNameLst>
                                      </p:cBhvr>
                                      <p:to>
                                        <p:strVal val="visible"/>
                                      </p:to>
                                    </p:set>
                                    <p:anim calcmode="lin" valueType="num">
                                      <p:cBhvr additive="base">
                                        <p:cTn id="107" dur="500" fill="hold"/>
                                        <p:tgtEl>
                                          <p:spTgt spid="63">
                                            <p:txEl>
                                              <p:pRg st="1" end="1"/>
                                            </p:txEl>
                                          </p:spTgt>
                                        </p:tgtEl>
                                        <p:attrNameLst>
                                          <p:attrName>ppt_x</p:attrName>
                                        </p:attrNameLst>
                                      </p:cBhvr>
                                      <p:tavLst>
                                        <p:tav>
                                          <p:val>
                                            <p:strVal val="0-#ppt_w/2"/>
                                          </p:val>
                                        </p:tav>
                                        <p:tav tm="100000">
                                          <p:val>
                                            <p:strVal val="#ppt_x"/>
                                          </p:val>
                                        </p:tav>
                                      </p:tavLst>
                                    </p:anim>
                                    <p:anim calcmode="lin" valueType="num">
                                      <p:cBhvr additive="base">
                                        <p:cTn id="108" dur="500" fill="hold"/>
                                        <p:tgtEl>
                                          <p:spTgt spid="63">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109" fill="hold" nodeType="clickEffect">
                      <p:stCondLst>
                        <p:cond delay="indefinite"/>
                      </p:stCondLst>
                      <p:childTnLst>
                        <p:par>
                          <p:cTn id="110" fill="hold" nodeType="withEffect">
                            <p:stCondLst>
                              <p:cond delay="0"/>
                            </p:stCondLst>
                            <p:childTnLst>
                              <p:par>
                                <p:cTn id="111" presetID="9" presetClass="entr" fill="hold" nodeType="click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dissolve">
                                      <p:cBhvr additive="repl">
                                        <p:cTn id="113" dur="500"/>
                                        <p:tgtEl>
                                          <p:spTgt spid="64"/>
                                        </p:tgtEl>
                                      </p:cBhvr>
                                    </p:animEffect>
                                  </p:childTnLst>
                                </p:cTn>
                              </p:par>
                            </p:childTnLst>
                          </p:cTn>
                        </p:par>
                      </p:childTnLst>
                    </p:cTn>
                  </p:par>
                  <p:par>
                    <p:cTn id="114" fill="hold" nodeType="clickEffect">
                      <p:stCondLst>
                        <p:cond delay="indefinite"/>
                      </p:stCondLst>
                      <p:childTnLst>
                        <p:par>
                          <p:cTn id="115" fill="hold" nodeType="withEffect">
                            <p:stCondLst>
                              <p:cond delay="0"/>
                            </p:stCondLst>
                            <p:childTnLst>
                              <p:par>
                                <p:cTn id="116" presetID="26" presetClass="entr" fill="hold" nodeType="clickEffect">
                                  <p:stCondLst>
                                    <p:cond delay="0"/>
                                  </p:stCondLst>
                                  <p:childTnLst>
                                    <p:set>
                                      <p:cBhvr>
                                        <p:cTn id="117" dur="1" fill="hold">
                                          <p:stCondLst>
                                            <p:cond delay="0"/>
                                          </p:stCondLst>
                                        </p:cTn>
                                        <p:tgtEl>
                                          <p:spTgt spid="86"/>
                                        </p:tgtEl>
                                        <p:attrNameLst>
                                          <p:attrName>style.visibility</p:attrName>
                                        </p:attrNameLst>
                                      </p:cBhvr>
                                      <p:to>
                                        <p:strVal val="visible"/>
                                      </p:to>
                                    </p:set>
                                    <p:animEffect transition="in" filter="wipe(down)">
                                      <p:cBhvr additive="repl">
                                        <p:cTn id="118" dur="580">
                                          <p:stCondLst>
                                            <p:cond delay="0"/>
                                          </p:stCondLst>
                                        </p:cTn>
                                        <p:tgtEl>
                                          <p:spTgt spid="86"/>
                                        </p:tgtEl>
                                      </p:cBhvr>
                                    </p:animEffect>
                                    <p:anim calcmode="lin" valueType="num">
                                      <p:cBhvr additive="repl">
                                        <p:cTn id="119" dur="1822">
                                          <p:stCondLst>
                                            <p:cond delay="0"/>
                                          </p:stCondLst>
                                        </p:cTn>
                                        <p:tgtEl>
                                          <p:spTgt spid="86"/>
                                        </p:tgtEl>
                                        <p:attrNameLst>
                                          <p:attrName>ppt_x</p:attrName>
                                        </p:attrNameLst>
                                      </p:cBhvr>
                                      <p:tavLst>
                                        <p:tav>
                                          <p:val>
                                            <p:strVal val="#ppt_x-0.25"/>
                                          </p:val>
                                        </p:tav>
                                        <p:tav tm="100000">
                                          <p:val>
                                            <p:strVal val="#ppt_x"/>
                                          </p:val>
                                        </p:tav>
                                      </p:tavLst>
                                    </p:anim>
                                    <p:anim calcmode="lin" valueType="num">
                                      <p:cBhvr additive="repl">
                                        <p:cTn id="120" dur="664">
                                          <p:stCondLst>
                                            <p:cond delay="0"/>
                                          </p:stCondLst>
                                        </p:cTn>
                                        <p:tgtEl>
                                          <p:spTgt spid="86"/>
                                        </p:tgtEl>
                                        <p:attrNameLst>
                                          <p:attrName>ppt_y</p:attrName>
                                        </p:attrNameLst>
                                      </p:cBhvr>
                                      <p:tavLst>
                                        <p:tav fmla="y-sin(pi*$)/3">
                                          <p:val>
                                            <p:fltVal val="0.5"/>
                                          </p:val>
                                        </p:tav>
                                        <p:tav fmla="y-sin(pi*$)/3" tm="100000">
                                          <p:val>
                                            <p:fltVal val="1"/>
                                          </p:val>
                                        </p:tav>
                                      </p:tavLst>
                                    </p:anim>
                                    <p:anim calcmode="lin" valueType="num">
                                      <p:cBhvr additive="repl">
                                        <p:cTn id="121" dur="664">
                                          <p:stCondLst>
                                            <p:cond delay="664"/>
                                          </p:stCondLst>
                                        </p:cTn>
                                        <p:tgtEl>
                                          <p:spTgt spid="86"/>
                                        </p:tgtEl>
                                        <p:attrNameLst>
                                          <p:attrName>ppt_y</p:attrName>
                                        </p:attrNameLst>
                                      </p:cBhvr>
                                      <p:tavLst>
                                        <p:tav fmla="y-sin(pi*$)/9">
                                          <p:val>
                                            <p:fltVal val="0"/>
                                          </p:val>
                                        </p:tav>
                                        <p:tav fmla="y-sin(pi*$)/9" tm="100000">
                                          <p:val>
                                            <p:fltVal val="1"/>
                                          </p:val>
                                        </p:tav>
                                      </p:tavLst>
                                    </p:anim>
                                    <p:anim calcmode="lin" valueType="num">
                                      <p:cBhvr additive="repl">
                                        <p:cTn id="122" dur="332">
                                          <p:stCondLst>
                                            <p:cond delay="1324"/>
                                          </p:stCondLst>
                                        </p:cTn>
                                        <p:tgtEl>
                                          <p:spTgt spid="86"/>
                                        </p:tgtEl>
                                        <p:attrNameLst>
                                          <p:attrName>ppt_y</p:attrName>
                                        </p:attrNameLst>
                                      </p:cBhvr>
                                      <p:tavLst>
                                        <p:tav fmla="y-sin(pi*$)/27">
                                          <p:val>
                                            <p:fltVal val="0"/>
                                          </p:val>
                                        </p:tav>
                                        <p:tav fmla="y-sin(pi*$)/27" tm="100000">
                                          <p:val>
                                            <p:fltVal val="1"/>
                                          </p:val>
                                        </p:tav>
                                      </p:tavLst>
                                    </p:anim>
                                    <p:anim calcmode="lin" valueType="num">
                                      <p:cBhvr additive="repl">
                                        <p:cTn id="123" dur="164">
                                          <p:stCondLst>
                                            <p:cond delay="1656"/>
                                          </p:stCondLst>
                                        </p:cTn>
                                        <p:tgtEl>
                                          <p:spTgt spid="86"/>
                                        </p:tgtEl>
                                        <p:attrNameLst>
                                          <p:attrName>ppt_y</p:attrName>
                                        </p:attrNameLst>
                                      </p:cBhvr>
                                      <p:tavLst>
                                        <p:tav fmla="y-sin(pi*$)/81">
                                          <p:val>
                                            <p:fltVal val="0"/>
                                          </p:val>
                                        </p:tav>
                                        <p:tav fmla="y-sin(pi*$)/81" tm="100000">
                                          <p:val>
                                            <p:fltVal val="1"/>
                                          </p:val>
                                        </p:tav>
                                      </p:tavLst>
                                    </p:anim>
                                    <p:animScale>
                                      <p:cBhvr>
                                        <p:cTn id="124" dur="26" fill="hold">
                                          <p:stCondLst>
                                            <p:cond delay="650"/>
                                          </p:stCondLst>
                                        </p:cTn>
                                        <p:tgtEl>
                                          <p:spTgt spid="86"/>
                                        </p:tgtEl>
                                      </p:cBhvr>
                                      <p:to x="100000" y="60000"/>
                                    </p:animScale>
                                    <p:animScale>
                                      <p:cBhvr>
                                        <p:cTn id="125" dur="166" fill="hold">
                                          <p:stCondLst>
                                            <p:cond delay="676"/>
                                          </p:stCondLst>
                                        </p:cTn>
                                        <p:tgtEl>
                                          <p:spTgt spid="86"/>
                                        </p:tgtEl>
                                      </p:cBhvr>
                                      <p:to x="100000" y="100000"/>
                                    </p:animScale>
                                    <p:animScale>
                                      <p:cBhvr>
                                        <p:cTn id="126" dur="26" fill="hold">
                                          <p:stCondLst>
                                            <p:cond delay="1312"/>
                                          </p:stCondLst>
                                        </p:cTn>
                                        <p:tgtEl>
                                          <p:spTgt spid="86"/>
                                        </p:tgtEl>
                                      </p:cBhvr>
                                      <p:to x="100000" y="80000"/>
                                    </p:animScale>
                                    <p:animScale>
                                      <p:cBhvr>
                                        <p:cTn id="127" dur="166" fill="hold">
                                          <p:stCondLst>
                                            <p:cond delay="1338"/>
                                          </p:stCondLst>
                                        </p:cTn>
                                        <p:tgtEl>
                                          <p:spTgt spid="86"/>
                                        </p:tgtEl>
                                      </p:cBhvr>
                                      <p:to x="100000" y="100000"/>
                                    </p:animScale>
                                    <p:animScale>
                                      <p:cBhvr>
                                        <p:cTn id="128" dur="26" fill="hold">
                                          <p:stCondLst>
                                            <p:cond delay="1642"/>
                                          </p:stCondLst>
                                        </p:cTn>
                                        <p:tgtEl>
                                          <p:spTgt spid="86"/>
                                        </p:tgtEl>
                                      </p:cBhvr>
                                      <p:to x="100000" y="90000"/>
                                    </p:animScale>
                                    <p:animScale>
                                      <p:cBhvr>
                                        <p:cTn id="129" dur="166" fill="hold">
                                          <p:stCondLst>
                                            <p:cond delay="1668"/>
                                          </p:stCondLst>
                                        </p:cTn>
                                        <p:tgtEl>
                                          <p:spTgt spid="86"/>
                                        </p:tgtEl>
                                      </p:cBhvr>
                                      <p:to x="100000" y="100000"/>
                                    </p:animScale>
                                    <p:animScale>
                                      <p:cBhvr>
                                        <p:cTn id="130" dur="26" fill="hold">
                                          <p:stCondLst>
                                            <p:cond delay="1808"/>
                                          </p:stCondLst>
                                        </p:cTn>
                                        <p:tgtEl>
                                          <p:spTgt spid="86"/>
                                        </p:tgtEl>
                                      </p:cBhvr>
                                      <p:to x="100000" y="95000"/>
                                    </p:animScale>
                                    <p:animScale>
                                      <p:cBhvr>
                                        <p:cTn id="131" dur="166" fill="hold">
                                          <p:stCondLst>
                                            <p:cond delay="1834"/>
                                          </p:stCondLst>
                                        </p:cTn>
                                        <p:tgtEl>
                                          <p:spTgt spid="86"/>
                                        </p:tgtEl>
                                      </p:cBhvr>
                                      <p:to x="100000" y="100000"/>
                                    </p:animScale>
                                  </p:childTnLst>
                                </p:cTn>
                              </p:par>
                            </p:childTnLst>
                          </p:cTn>
                        </p:par>
                      </p:childTnLst>
                    </p:cTn>
                  </p:par>
                  <p:par>
                    <p:cTn id="132" fill="hold" nodeType="clickEffect">
                      <p:stCondLst>
                        <p:cond delay="indefinite"/>
                      </p:stCondLst>
                      <p:childTnLst>
                        <p:par>
                          <p:cTn id="133" fill="hold" nodeType="withEffect">
                            <p:stCondLst>
                              <p:cond delay="0"/>
                            </p:stCondLst>
                            <p:childTnLst>
                              <p:par>
                                <p:cTn id="134" presetID="3" presetClass="entr" fill="hold" nodeType="clickEffect" presetSubtype="10">
                                  <p:stCondLst>
                                    <p:cond delay="0"/>
                                  </p:stCondLst>
                                  <p:childTnLst>
                                    <p:set>
                                      <p:cBhvr>
                                        <p:cTn id="135" dur="1" fill="hold">
                                          <p:stCondLst>
                                            <p:cond delay="0"/>
                                          </p:stCondLst>
                                        </p:cTn>
                                        <p:tgtEl>
                                          <p:spTgt spid="65"/>
                                        </p:tgtEl>
                                        <p:attrNameLst>
                                          <p:attrName>style.visibility</p:attrName>
                                        </p:attrNameLst>
                                      </p:cBhvr>
                                      <p:to>
                                        <p:strVal val="visible"/>
                                      </p:to>
                                    </p:set>
                                    <p:animEffect transition="in" filter="blinds(horizontal)">
                                      <p:cBhvr additive="repl">
                                        <p:cTn id="136" dur="500"/>
                                        <p:tgtEl>
                                          <p:spTgt spid="65"/>
                                        </p:tgtEl>
                                      </p:cBhvr>
                                    </p:animEffect>
                                  </p:childTnLst>
                                </p:cTn>
                              </p:par>
                            </p:childTnLst>
                          </p:cTn>
                        </p:par>
                      </p:childTnLst>
                    </p:cTn>
                  </p:par>
                  <p:par>
                    <p:cTn id="137" fill="hold" nodeType="clickEffect">
                      <p:stCondLst>
                        <p:cond delay="indefinite"/>
                      </p:stCondLst>
                      <p:childTnLst>
                        <p:par>
                          <p:cTn id="138" fill="hold" nodeType="withEffect">
                            <p:stCondLst>
                              <p:cond delay="0"/>
                            </p:stCondLst>
                            <p:childTnLst>
                              <p:par>
                                <p:cTn id="139" presetID="9" presetClass="entr" fill="hold" nodeType="clickEffect">
                                  <p:stCondLst>
                                    <p:cond delay="0"/>
                                  </p:stCondLst>
                                  <p:childTnLst>
                                    <p:set>
                                      <p:cBhvr>
                                        <p:cTn id="140" dur="1" fill="hold">
                                          <p:stCondLst>
                                            <p:cond delay="0"/>
                                          </p:stCondLst>
                                        </p:cTn>
                                        <p:tgtEl>
                                          <p:spTgt spid="105"/>
                                        </p:tgtEl>
                                        <p:attrNameLst>
                                          <p:attrName>style.visibility</p:attrName>
                                        </p:attrNameLst>
                                      </p:cBhvr>
                                      <p:to>
                                        <p:strVal val="visible"/>
                                      </p:to>
                                    </p:set>
                                    <p:animEffect transition="in" filter="dissolve">
                                      <p:cBhvr additive="repl">
                                        <p:cTn id="141" dur="500"/>
                                        <p:tgtEl>
                                          <p:spTgt spid="105"/>
                                        </p:tgtEl>
                                      </p:cBhvr>
                                    </p:animEffect>
                                  </p:childTnLst>
                                </p:cTn>
                              </p:par>
                            </p:childTnLst>
                          </p:cTn>
                        </p:par>
                      </p:childTnLst>
                    </p:cTn>
                  </p:par>
                  <p:par>
                    <p:cTn id="142" fill="hold" nodeType="clickEffect">
                      <p:stCondLst>
                        <p:cond delay="indefinite"/>
                      </p:stCondLst>
                      <p:childTnLst>
                        <p:par>
                          <p:cTn id="143" fill="hold" nodeType="withEffect">
                            <p:stCondLst>
                              <p:cond delay="0"/>
                            </p:stCondLst>
                            <p:childTnLst>
                              <p:par>
                                <p:cTn id="144" presetID="9" presetClass="entr" fill="hold" nodeType="clickEffect">
                                  <p:stCondLst>
                                    <p:cond delay="0"/>
                                  </p:stCondLst>
                                  <p:childTnLst>
                                    <p:set>
                                      <p:cBhvr>
                                        <p:cTn id="145" dur="1" fill="hold">
                                          <p:stCondLst>
                                            <p:cond delay="0"/>
                                          </p:stCondLst>
                                        </p:cTn>
                                        <p:tgtEl>
                                          <p:spTgt spid="67"/>
                                        </p:tgtEl>
                                        <p:attrNameLst>
                                          <p:attrName>style.visibility</p:attrName>
                                        </p:attrNameLst>
                                      </p:cBhvr>
                                      <p:to>
                                        <p:strVal val="visible"/>
                                      </p:to>
                                    </p:set>
                                    <p:animEffect transition="in" filter="dissolve">
                                      <p:cBhvr additive="repl">
                                        <p:cTn id="146" dur="500"/>
                                        <p:tgtEl>
                                          <p:spTgt spid="67"/>
                                        </p:tgtEl>
                                      </p:cBhvr>
                                    </p:animEffect>
                                  </p:childTnLst>
                                </p:cTn>
                              </p:par>
                            </p:childTnLst>
                          </p:cTn>
                        </p:par>
                        <p:par>
                          <p:cTn id="147" fill="hold" nodeType="afterEffect">
                            <p:stCondLst>
                              <p:cond delay="500"/>
                            </p:stCondLst>
                            <p:childTnLst>
                              <p:par>
                                <p:cTn id="148" presetID="9" presetClass="entr" fill="hold" nodeType="afterEffect">
                                  <p:stCondLst>
                                    <p:cond delay="0"/>
                                  </p:stCondLst>
                                  <p:childTnLst>
                                    <p:set>
                                      <p:cBhvr>
                                        <p:cTn id="149" dur="1" fill="hold">
                                          <p:stCondLst>
                                            <p:cond delay="0"/>
                                          </p:stCondLst>
                                        </p:cTn>
                                        <p:tgtEl>
                                          <p:spTgt spid="81"/>
                                        </p:tgtEl>
                                        <p:attrNameLst>
                                          <p:attrName>style.visibility</p:attrName>
                                        </p:attrNameLst>
                                      </p:cBhvr>
                                      <p:to>
                                        <p:strVal val="visible"/>
                                      </p:to>
                                    </p:set>
                                    <p:animEffect transition="in" filter="dissolve">
                                      <p:cBhvr additive="repl">
                                        <p:cTn id="150" dur="500"/>
                                        <p:tgtEl>
                                          <p:spTgt spid="81"/>
                                        </p:tgtEl>
                                      </p:cBhvr>
                                    </p:animEffect>
                                  </p:childTnLst>
                                </p:cTn>
                              </p:par>
                            </p:childTnLst>
                          </p:cTn>
                        </p:par>
                        <p:par>
                          <p:cTn id="151" fill="hold" nodeType="afterEffect">
                            <p:stCondLst>
                              <p:cond delay="1000"/>
                            </p:stCondLst>
                            <p:childTnLst>
                              <p:par>
                                <p:cTn id="152" presetID="9" presetClass="entr" fill="hold" nodeType="afterEffect">
                                  <p:stCondLst>
                                    <p:cond delay="0"/>
                                  </p:stCondLst>
                                  <p:childTnLst>
                                    <p:set>
                                      <p:cBhvr>
                                        <p:cTn id="153" dur="1" fill="hold">
                                          <p:stCondLst>
                                            <p:cond delay="0"/>
                                          </p:stCondLst>
                                        </p:cTn>
                                        <p:tgtEl>
                                          <p:spTgt spid="76"/>
                                        </p:tgtEl>
                                        <p:attrNameLst>
                                          <p:attrName>style.visibility</p:attrName>
                                        </p:attrNameLst>
                                      </p:cBhvr>
                                      <p:to>
                                        <p:strVal val="visible"/>
                                      </p:to>
                                    </p:set>
                                    <p:animEffect transition="in" filter="dissolve">
                                      <p:cBhvr additive="repl">
                                        <p:cTn id="154" dur="500"/>
                                        <p:tgtEl>
                                          <p:spTgt spid="76"/>
                                        </p:tgtEl>
                                      </p:cBhvr>
                                    </p:animEffect>
                                  </p:childTnLst>
                                </p:cTn>
                              </p:par>
                            </p:childTnLst>
                          </p:cTn>
                        </p:par>
                        <p:par>
                          <p:cTn id="155" fill="hold" nodeType="afterEffect">
                            <p:stCondLst>
                              <p:cond delay="1500"/>
                            </p:stCondLst>
                            <p:childTnLst>
                              <p:par>
                                <p:cTn id="156" presetID="9" presetClass="entr" fill="hold" nodeType="afterEffect">
                                  <p:stCondLst>
                                    <p:cond delay="0"/>
                                  </p:stCondLst>
                                  <p:childTnLst>
                                    <p:set>
                                      <p:cBhvr>
                                        <p:cTn id="157" dur="1" fill="hold">
                                          <p:stCondLst>
                                            <p:cond delay="0"/>
                                          </p:stCondLst>
                                        </p:cTn>
                                        <p:tgtEl>
                                          <p:spTgt spid="94"/>
                                        </p:tgtEl>
                                        <p:attrNameLst>
                                          <p:attrName>style.visibility</p:attrName>
                                        </p:attrNameLst>
                                      </p:cBhvr>
                                      <p:to>
                                        <p:strVal val="visible"/>
                                      </p:to>
                                    </p:set>
                                    <p:animEffect transition="in" filter="dissolve">
                                      <p:cBhvr additive="repl">
                                        <p:cTn id="158" dur="500"/>
                                        <p:tgtEl>
                                          <p:spTgt spid="94"/>
                                        </p:tgtEl>
                                      </p:cBhvr>
                                    </p:animEffect>
                                  </p:childTnLst>
                                </p:cTn>
                              </p:par>
                            </p:childTnLst>
                          </p:cTn>
                        </p:par>
                        <p:par>
                          <p:cTn id="159" fill="hold" nodeType="afterEffect">
                            <p:stCondLst>
                              <p:cond delay="2000"/>
                            </p:stCondLst>
                            <p:childTnLst>
                              <p:par>
                                <p:cTn id="160" presetID="9" presetClass="entr" fill="hold" nodeType="afterEffect">
                                  <p:stCondLst>
                                    <p:cond delay="0"/>
                                  </p:stCondLst>
                                  <p:childTnLst>
                                    <p:set>
                                      <p:cBhvr>
                                        <p:cTn id="161" dur="1" fill="hold">
                                          <p:stCondLst>
                                            <p:cond delay="0"/>
                                          </p:stCondLst>
                                        </p:cTn>
                                        <p:tgtEl>
                                          <p:spTgt spid="66"/>
                                        </p:tgtEl>
                                        <p:attrNameLst>
                                          <p:attrName>style.visibility</p:attrName>
                                        </p:attrNameLst>
                                      </p:cBhvr>
                                      <p:to>
                                        <p:strVal val="visible"/>
                                      </p:to>
                                    </p:set>
                                    <p:animEffect transition="in" filter="dissolve">
                                      <p:cBhvr additive="repl">
                                        <p:cTn id="162" dur="500"/>
                                        <p:tgtEl>
                                          <p:spTgt spid="66"/>
                                        </p:tgtEl>
                                      </p:cBhvr>
                                    </p:animEffect>
                                  </p:childTnLst>
                                </p:cTn>
                              </p:par>
                            </p:childTnLst>
                          </p:cTn>
                        </p:par>
                      </p:childTnLst>
                    </p:cTn>
                  </p:par>
                  <p:par>
                    <p:cTn id="163" fill="hold" nodeType="clickEffect">
                      <p:stCondLst>
                        <p:cond delay="indefinite"/>
                      </p:stCondLst>
                      <p:childTnLst>
                        <p:par>
                          <p:cTn id="164" fill="hold" nodeType="withEffect">
                            <p:stCondLst>
                              <p:cond delay="0"/>
                            </p:stCondLst>
                            <p:childTnLst>
                              <p:par>
                                <p:cTn id="165" presetID="9" presetClass="entr" fill="hold" nodeType="clickEffect">
                                  <p:stCondLst>
                                    <p:cond delay="0"/>
                                  </p:stCondLst>
                                  <p:childTnLst>
                                    <p:set>
                                      <p:cBhvr>
                                        <p:cTn id="166" dur="1" fill="hold">
                                          <p:stCondLst>
                                            <p:cond delay="0"/>
                                          </p:stCondLst>
                                        </p:cTn>
                                        <p:tgtEl>
                                          <p:spTgt spid="73"/>
                                        </p:tgtEl>
                                        <p:attrNameLst>
                                          <p:attrName>style.visibility</p:attrName>
                                        </p:attrNameLst>
                                      </p:cBhvr>
                                      <p:to>
                                        <p:strVal val="visible"/>
                                      </p:to>
                                    </p:set>
                                    <p:animEffect transition="in" filter="dissolve">
                                      <p:cBhvr additive="repl">
                                        <p:cTn id="167" dur="500"/>
                                        <p:tgtEl>
                                          <p:spTgt spid="73"/>
                                        </p:tgtEl>
                                      </p:cBhvr>
                                    </p:animEffect>
                                  </p:childTnLst>
                                </p:cTn>
                              </p:par>
                            </p:childTnLst>
                          </p:cTn>
                        </p:par>
                        <p:par>
                          <p:cTn id="168" fill="hold" nodeType="afterEffect">
                            <p:stCondLst>
                              <p:cond delay="500"/>
                            </p:stCondLst>
                            <p:childTnLst>
                              <p:par>
                                <p:cTn id="169" presetID="9" presetClass="entr" fill="hold" nodeType="afterEffect">
                                  <p:stCondLst>
                                    <p:cond delay="0"/>
                                  </p:stCondLst>
                                  <p:childTnLst>
                                    <p:set>
                                      <p:cBhvr>
                                        <p:cTn id="170" dur="1" fill="hold">
                                          <p:stCondLst>
                                            <p:cond delay="0"/>
                                          </p:stCondLst>
                                        </p:cTn>
                                        <p:tgtEl>
                                          <p:spTgt spid="89"/>
                                        </p:tgtEl>
                                        <p:attrNameLst>
                                          <p:attrName>style.visibility</p:attrName>
                                        </p:attrNameLst>
                                      </p:cBhvr>
                                      <p:to>
                                        <p:strVal val="visible"/>
                                      </p:to>
                                    </p:set>
                                    <p:animEffect transition="in" filter="dissolve">
                                      <p:cBhvr additive="repl">
                                        <p:cTn id="171" dur="500"/>
                                        <p:tgtEl>
                                          <p:spTgt spid="89"/>
                                        </p:tgtEl>
                                      </p:cBhvr>
                                    </p:animEffect>
                                  </p:childTnLst>
                                </p:cTn>
                              </p:par>
                            </p:childTnLst>
                          </p:cTn>
                        </p:par>
                      </p:childTnLst>
                    </p:cTn>
                  </p:par>
                  <p:par>
                    <p:cTn id="172" fill="hold" nodeType="clickEffect">
                      <p:stCondLst>
                        <p:cond delay="indefinite"/>
                      </p:stCondLst>
                      <p:childTnLst>
                        <p:par>
                          <p:cTn id="173" fill="hold" nodeType="withEffect">
                            <p:stCondLst>
                              <p:cond delay="0"/>
                            </p:stCondLst>
                            <p:childTnLst>
                              <p:par>
                                <p:cTn id="174" presetID="9" presetClass="entr" fill="hold" nodeType="clickEffect">
                                  <p:stCondLst>
                                    <p:cond delay="0"/>
                                  </p:stCondLst>
                                  <p:childTnLst>
                                    <p:set>
                                      <p:cBhvr>
                                        <p:cTn id="175" dur="1" fill="hold">
                                          <p:stCondLst>
                                            <p:cond delay="0"/>
                                          </p:stCondLst>
                                        </p:cTn>
                                        <p:tgtEl>
                                          <p:spTgt spid="101"/>
                                        </p:tgtEl>
                                        <p:attrNameLst>
                                          <p:attrName>style.visibility</p:attrName>
                                        </p:attrNameLst>
                                      </p:cBhvr>
                                      <p:to>
                                        <p:strVal val="visible"/>
                                      </p:to>
                                    </p:set>
                                    <p:animEffect transition="in" filter="dissolve">
                                      <p:cBhvr additive="repl">
                                        <p:cTn id="176" dur="500"/>
                                        <p:tgtEl>
                                          <p:spTgt spid="101"/>
                                        </p:tgtEl>
                                      </p:cBhvr>
                                    </p:animEffect>
                                  </p:childTnLst>
                                </p:cTn>
                              </p:par>
                            </p:childTnLst>
                          </p:cTn>
                        </p:par>
                        <p:par>
                          <p:cTn id="177" fill="hold" nodeType="afterEffect">
                            <p:stCondLst>
                              <p:cond delay="500"/>
                            </p:stCondLst>
                            <p:childTnLst>
                              <p:par>
                                <p:cTn id="178" presetID="9" presetClass="entr" fill="hold" nodeType="afterEffect">
                                  <p:stCondLst>
                                    <p:cond delay="0"/>
                                  </p:stCondLst>
                                  <p:childTnLst>
                                    <p:set>
                                      <p:cBhvr>
                                        <p:cTn id="179" dur="1" fill="hold">
                                          <p:stCondLst>
                                            <p:cond delay="0"/>
                                          </p:stCondLst>
                                        </p:cTn>
                                        <p:tgtEl>
                                          <p:spTgt spid="90"/>
                                        </p:tgtEl>
                                        <p:attrNameLst>
                                          <p:attrName>style.visibility</p:attrName>
                                        </p:attrNameLst>
                                      </p:cBhvr>
                                      <p:to>
                                        <p:strVal val="visible"/>
                                      </p:to>
                                    </p:set>
                                    <p:animEffect transition="in" filter="dissolve">
                                      <p:cBhvr additive="repl">
                                        <p:cTn id="180" dur="500"/>
                                        <p:tgtEl>
                                          <p:spTgt spid="90"/>
                                        </p:tgtEl>
                                      </p:cBhvr>
                                    </p:animEffect>
                                  </p:childTnLst>
                                </p:cTn>
                              </p:par>
                            </p:childTnLst>
                          </p:cTn>
                        </p:par>
                      </p:childTnLst>
                    </p:cTn>
                  </p:par>
                  <p:par>
                    <p:cTn id="181" fill="hold" nodeType="clickEffect">
                      <p:stCondLst>
                        <p:cond delay="indefinite"/>
                      </p:stCondLst>
                      <p:childTnLst>
                        <p:par>
                          <p:cTn id="182" fill="hold" nodeType="withEffect">
                            <p:stCondLst>
                              <p:cond delay="0"/>
                            </p:stCondLst>
                            <p:childTnLst>
                              <p:par>
                                <p:cTn id="183" presetID="3" presetClass="entr" fill="hold" nodeType="clickEffect" presetSubtype="10">
                                  <p:stCondLst>
                                    <p:cond delay="0"/>
                                  </p:stCondLst>
                                  <p:childTnLst>
                                    <p:set>
                                      <p:cBhvr>
                                        <p:cTn id="184" dur="1" fill="hold">
                                          <p:stCondLst>
                                            <p:cond delay="0"/>
                                          </p:stCondLst>
                                        </p:cTn>
                                        <p:tgtEl>
                                          <p:spTgt spid="77"/>
                                        </p:tgtEl>
                                        <p:attrNameLst>
                                          <p:attrName>style.visibility</p:attrName>
                                        </p:attrNameLst>
                                      </p:cBhvr>
                                      <p:to>
                                        <p:strVal val="visible"/>
                                      </p:to>
                                    </p:set>
                                    <p:animEffect transition="in" filter="blinds(horizontal)">
                                      <p:cBhvr additive="repl">
                                        <p:cTn id="185" dur="500"/>
                                        <p:tgtEl>
                                          <p:spTgt spid="77"/>
                                        </p:tgtEl>
                                      </p:cBhvr>
                                    </p:animEffect>
                                  </p:childTnLst>
                                </p:cTn>
                              </p:par>
                            </p:childTnLst>
                          </p:cTn>
                        </p:par>
                      </p:childTnLst>
                    </p:cTn>
                  </p:par>
                  <p:par>
                    <p:cTn id="186" fill="hold" nodeType="clickEffect">
                      <p:stCondLst>
                        <p:cond delay="indefinite"/>
                      </p:stCondLst>
                      <p:childTnLst>
                        <p:par>
                          <p:cTn id="187" fill="hold" nodeType="withEffect">
                            <p:stCondLst>
                              <p:cond delay="0"/>
                            </p:stCondLst>
                            <p:childTnLst>
                              <p:par>
                                <p:cTn id="188" presetID="22" presetClass="entr" fill="hold" nodeType="clickEffect" presetSubtype="2">
                                  <p:stCondLst>
                                    <p:cond delay="0"/>
                                  </p:stCondLst>
                                  <p:childTnLst>
                                    <p:set>
                                      <p:cBhvr>
                                        <p:cTn id="189" dur="1" fill="hold">
                                          <p:stCondLst>
                                            <p:cond delay="0"/>
                                          </p:stCondLst>
                                        </p:cTn>
                                        <p:tgtEl>
                                          <p:spTgt spid="78"/>
                                        </p:tgtEl>
                                        <p:attrNameLst>
                                          <p:attrName>style.visibility</p:attrName>
                                        </p:attrNameLst>
                                      </p:cBhvr>
                                      <p:to>
                                        <p:strVal val="visible"/>
                                      </p:to>
                                    </p:set>
                                    <p:animEffect transition="in" filter="wipe(right)">
                                      <p:cBhvr additive="repl">
                                        <p:cTn id="190" dur="500"/>
                                        <p:tgtEl>
                                          <p:spTgt spid="78"/>
                                        </p:tgtEl>
                                      </p:cBhvr>
                                    </p:animEffect>
                                  </p:childTnLst>
                                </p:cTn>
                              </p:par>
                            </p:childTnLst>
                          </p:cTn>
                        </p:par>
                      </p:childTnLst>
                    </p:cTn>
                  </p:par>
                  <p:par>
                    <p:cTn id="191" fill="hold" nodeType="clickEffect">
                      <p:stCondLst>
                        <p:cond delay="indefinite"/>
                      </p:stCondLst>
                      <p:childTnLst>
                        <p:par>
                          <p:cTn id="192" fill="hold" nodeType="withEffect">
                            <p:stCondLst>
                              <p:cond delay="0"/>
                            </p:stCondLst>
                            <p:childTnLst>
                              <p:par>
                                <p:cTn id="193" presetID="22" presetClass="entr" fill="hold" nodeType="clickEffect" presetSubtype="8">
                                  <p:stCondLst>
                                    <p:cond delay="0"/>
                                  </p:stCondLst>
                                  <p:childTnLst>
                                    <p:set>
                                      <p:cBhvr>
                                        <p:cTn id="194" dur="1" fill="hold">
                                          <p:stCondLst>
                                            <p:cond delay="0"/>
                                          </p:stCondLst>
                                        </p:cTn>
                                        <p:tgtEl>
                                          <p:spTgt spid="82"/>
                                        </p:tgtEl>
                                        <p:attrNameLst>
                                          <p:attrName>style.visibility</p:attrName>
                                        </p:attrNameLst>
                                      </p:cBhvr>
                                      <p:to>
                                        <p:strVal val="visible"/>
                                      </p:to>
                                    </p:set>
                                    <p:animEffect transition="in" filter="wipe(left)">
                                      <p:cBhvr additive="repl">
                                        <p:cTn id="195" dur="500"/>
                                        <p:tgtEl>
                                          <p:spTgt spid="82"/>
                                        </p:tgtEl>
                                      </p:cBhvr>
                                    </p:animEffect>
                                  </p:childTnLst>
                                </p:cTn>
                              </p:par>
                            </p:childTnLst>
                          </p:cTn>
                        </p:par>
                      </p:childTnLst>
                    </p:cTn>
                  </p:par>
                  <p:par>
                    <p:cTn id="196" fill="hold" nodeType="clickEffect">
                      <p:stCondLst>
                        <p:cond delay="indefinite"/>
                      </p:stCondLst>
                      <p:childTnLst>
                        <p:par>
                          <p:cTn id="197" fill="hold" nodeType="withEffect">
                            <p:stCondLst>
                              <p:cond delay="0"/>
                            </p:stCondLst>
                            <p:childTnLst>
                              <p:par>
                                <p:cTn id="198" presetID="9" presetClass="entr" fill="hold" nodeType="clickEffect">
                                  <p:stCondLst>
                                    <p:cond delay="0"/>
                                  </p:stCondLst>
                                  <p:childTnLst>
                                    <p:set>
                                      <p:cBhvr>
                                        <p:cTn id="199" dur="1" fill="hold">
                                          <p:stCondLst>
                                            <p:cond delay="0"/>
                                          </p:stCondLst>
                                        </p:cTn>
                                        <p:tgtEl>
                                          <p:spTgt spid="85"/>
                                        </p:tgtEl>
                                        <p:attrNameLst>
                                          <p:attrName>style.visibility</p:attrName>
                                        </p:attrNameLst>
                                      </p:cBhvr>
                                      <p:to>
                                        <p:strVal val="visible"/>
                                      </p:to>
                                    </p:set>
                                    <p:animEffect transition="in" filter="dissolve">
                                      <p:cBhvr additive="repl">
                                        <p:cTn id="200" dur="500"/>
                                        <p:tgtEl>
                                          <p:spTgt spid="85"/>
                                        </p:tgtEl>
                                      </p:cBhvr>
                                    </p:animEffect>
                                  </p:childTnLst>
                                </p:cTn>
                              </p:par>
                            </p:childTnLst>
                          </p:cTn>
                        </p:par>
                      </p:childTnLst>
                    </p:cTn>
                  </p:par>
                  <p:par>
                    <p:cTn id="201" fill="hold" nodeType="clickEffect">
                      <p:stCondLst>
                        <p:cond delay="indefinite"/>
                      </p:stCondLst>
                      <p:childTnLst>
                        <p:par>
                          <p:cTn id="202" fill="hold" nodeType="withEffect">
                            <p:stCondLst>
                              <p:cond delay="0"/>
                            </p:stCondLst>
                            <p:childTnLst>
                              <p:par>
                                <p:cTn id="203" presetID="9" presetClass="entr" fill="hold" nodeType="clickEffect">
                                  <p:stCondLst>
                                    <p:cond delay="0"/>
                                  </p:stCondLst>
                                  <p:childTnLst>
                                    <p:set>
                                      <p:cBhvr>
                                        <p:cTn id="204" dur="1" fill="hold">
                                          <p:stCondLst>
                                            <p:cond delay="0"/>
                                          </p:stCondLst>
                                        </p:cTn>
                                        <p:tgtEl>
                                          <p:spTgt spid="91"/>
                                        </p:tgtEl>
                                        <p:attrNameLst>
                                          <p:attrName>style.visibility</p:attrName>
                                        </p:attrNameLst>
                                      </p:cBhvr>
                                      <p:to>
                                        <p:strVal val="visible"/>
                                      </p:to>
                                    </p:set>
                                    <p:animEffect transition="in" filter="dissolve">
                                      <p:cBhvr additive="repl">
                                        <p:cTn id="205" dur="500"/>
                                        <p:tgtEl>
                                          <p:spTgt spid="91"/>
                                        </p:tgtEl>
                                      </p:cBhvr>
                                    </p:animEffect>
                                  </p:childTnLst>
                                </p:cTn>
                              </p:par>
                            </p:childTnLst>
                          </p:cTn>
                        </p:par>
                        <p:par>
                          <p:cTn id="206" fill="hold" nodeType="afterEffect">
                            <p:stCondLst>
                              <p:cond delay="500"/>
                            </p:stCondLst>
                            <p:childTnLst>
                              <p:par>
                                <p:cTn id="207" presetID="9" presetClass="entr" fill="hold" nodeType="afterEffect">
                                  <p:stCondLst>
                                    <p:cond delay="0"/>
                                  </p:stCondLst>
                                  <p:childTnLst>
                                    <p:set>
                                      <p:cBhvr>
                                        <p:cTn id="208" dur="1" fill="hold">
                                          <p:stCondLst>
                                            <p:cond delay="0"/>
                                          </p:stCondLst>
                                        </p:cTn>
                                        <p:tgtEl>
                                          <p:spTgt spid="104"/>
                                        </p:tgtEl>
                                        <p:attrNameLst>
                                          <p:attrName>style.visibility</p:attrName>
                                        </p:attrNameLst>
                                      </p:cBhvr>
                                      <p:to>
                                        <p:strVal val="visible"/>
                                      </p:to>
                                    </p:set>
                                    <p:animEffect transition="in" filter="dissolve">
                                      <p:cBhvr additive="repl">
                                        <p:cTn id="209" dur="1000"/>
                                        <p:tgtEl>
                                          <p:spTgt spid="104"/>
                                        </p:tgtEl>
                                      </p:cBhvr>
                                    </p:animEffect>
                                  </p:childTnLst>
                                </p:cTn>
                              </p:par>
                            </p:childTnLst>
                          </p:cTn>
                        </p:par>
                      </p:childTnLst>
                    </p:cTn>
                  </p:par>
                  <p:par>
                    <p:cTn id="210" fill="hold" nodeType="clickEffect">
                      <p:stCondLst>
                        <p:cond delay="indefinite"/>
                      </p:stCondLst>
                      <p:childTnLst>
                        <p:par>
                          <p:cTn id="211" fill="hold" nodeType="withEffect">
                            <p:stCondLst>
                              <p:cond delay="0"/>
                            </p:stCondLst>
                            <p:childTnLst>
                              <p:par>
                                <p:cTn id="212" presetID="9" presetClass="entr" fill="hold" nodeType="clickEffect">
                                  <p:stCondLst>
                                    <p:cond delay="0"/>
                                  </p:stCondLst>
                                  <p:childTnLst>
                                    <p:set>
                                      <p:cBhvr>
                                        <p:cTn id="213" dur="1" fill="hold">
                                          <p:stCondLst>
                                            <p:cond delay="0"/>
                                          </p:stCondLst>
                                        </p:cTn>
                                        <p:tgtEl>
                                          <p:spTgt spid="87"/>
                                        </p:tgtEl>
                                        <p:attrNameLst>
                                          <p:attrName>style.visibility</p:attrName>
                                        </p:attrNameLst>
                                      </p:cBhvr>
                                      <p:to>
                                        <p:strVal val="visible"/>
                                      </p:to>
                                    </p:set>
                                    <p:animEffect transition="in" filter="dissolve">
                                      <p:cBhvr additive="repl">
                                        <p:cTn id="214" dur="500"/>
                                        <p:tgtEl>
                                          <p:spTgt spid="87"/>
                                        </p:tgtEl>
                                      </p:cBhvr>
                                    </p:animEffect>
                                  </p:childTnLst>
                                </p:cTn>
                              </p:par>
                              <p:set>
                                <p:cBhvr>
                                  <p:cTn id="215" dur="1" fill="hold">
                                    <p:stCondLst>
                                      <p:cond delay="0"/>
                                    </p:stCondLst>
                                  </p:cTn>
                                  <p:tgtEl>
                                    <p:spTgt spid="104"/>
                                  </p:tgtEl>
                                  <p:attrNameLst>
                                    <p:attrName>style.visibility</p:attrName>
                                  </p:attrNameLst>
                                </p:cBhvr>
                                <p:to>
                                  <p:strVal val="hidden"/>
                                </p:to>
                              </p:set>
                            </p:childTnLst>
                          </p:cTn>
                        </p:par>
                        <p:par>
                          <p:cTn id="216" fill="hold" nodeType="afterEffect">
                            <p:stCondLst>
                              <p:cond delay="500"/>
                            </p:stCondLst>
                            <p:childTnLst>
                              <p:par>
                                <p:cTn id="217" presetID="9" presetClass="entr" fill="hold" nodeType="afterEffect">
                                  <p:stCondLst>
                                    <p:cond delay="0"/>
                                  </p:stCondLst>
                                  <p:childTnLst>
                                    <p:set>
                                      <p:cBhvr>
                                        <p:cTn id="218" dur="1" fill="hold">
                                          <p:stCondLst>
                                            <p:cond delay="0"/>
                                          </p:stCondLst>
                                        </p:cTn>
                                        <p:tgtEl>
                                          <p:spTgt spid="88"/>
                                        </p:tgtEl>
                                        <p:attrNameLst>
                                          <p:attrName>style.visibility</p:attrName>
                                        </p:attrNameLst>
                                      </p:cBhvr>
                                      <p:to>
                                        <p:strVal val="visible"/>
                                      </p:to>
                                    </p:set>
                                    <p:animEffect transition="in" filter="dissolve">
                                      <p:cBhvr additive="repl">
                                        <p:cTn id="219" dur="500"/>
                                        <p:tgtEl>
                                          <p:spTgt spid="88"/>
                                        </p:tgtEl>
                                      </p:cBhvr>
                                    </p:animEffect>
                                  </p:childTnLst>
                                </p:cTn>
                              </p:par>
                            </p:childTnLst>
                          </p:cTn>
                        </p:par>
                      </p:childTnLst>
                    </p:cTn>
                  </p:par>
                  <p:par>
                    <p:cTn id="220" fill="hold" nodeType="clickEffect">
                      <p:stCondLst>
                        <p:cond delay="indefinite"/>
                      </p:stCondLst>
                      <p:childTnLst>
                        <p:par>
                          <p:cTn id="221" fill="hold" nodeType="withEffect">
                            <p:stCondLst>
                              <p:cond delay="0"/>
                            </p:stCondLst>
                            <p:childTnLst>
                              <p:par>
                                <p:cTn id="222" presetID="22" presetClass="entr" fill="hold" nodeType="clickEffect" presetSubtype="4">
                                  <p:stCondLst>
                                    <p:cond delay="0"/>
                                  </p:stCondLst>
                                  <p:childTnLst>
                                    <p:set>
                                      <p:cBhvr>
                                        <p:cTn id="223" dur="1" fill="hold">
                                          <p:stCondLst>
                                            <p:cond delay="0"/>
                                          </p:stCondLst>
                                        </p:cTn>
                                        <p:tgtEl>
                                          <p:spTgt spid="98"/>
                                        </p:tgtEl>
                                        <p:attrNameLst>
                                          <p:attrName>style.visibility</p:attrName>
                                        </p:attrNameLst>
                                      </p:cBhvr>
                                      <p:to>
                                        <p:strVal val="visible"/>
                                      </p:to>
                                    </p:set>
                                    <p:animEffect transition="in" filter="wipe(down)">
                                      <p:cBhvr additive="repl">
                                        <p:cTn id="224" dur="500"/>
                                        <p:tgtEl>
                                          <p:spTgt spid="98"/>
                                        </p:tgtEl>
                                      </p:cBhvr>
                                    </p:animEffect>
                                  </p:childTnLst>
                                </p:cTn>
                              </p:par>
                            </p:childTnLst>
                          </p:cTn>
                        </p:par>
                        <p:par>
                          <p:cTn id="225" fill="hold" nodeType="afterEffect">
                            <p:stCondLst>
                              <p:cond delay="500"/>
                            </p:stCondLst>
                            <p:childTnLst>
                              <p:par>
                                <p:cTn id="226" presetID="9" presetClass="entr" fill="hold" nodeType="afterEffect">
                                  <p:stCondLst>
                                    <p:cond delay="0"/>
                                  </p:stCondLst>
                                  <p:childTnLst>
                                    <p:set>
                                      <p:cBhvr>
                                        <p:cTn id="227" dur="1" fill="hold">
                                          <p:stCondLst>
                                            <p:cond delay="0"/>
                                          </p:stCondLst>
                                        </p:cTn>
                                        <p:tgtEl>
                                          <p:spTgt spid="92"/>
                                        </p:tgtEl>
                                        <p:attrNameLst>
                                          <p:attrName>style.visibility</p:attrName>
                                        </p:attrNameLst>
                                      </p:cBhvr>
                                      <p:to>
                                        <p:strVal val="visible"/>
                                      </p:to>
                                    </p:set>
                                    <p:animEffect transition="in" filter="dissolve">
                                      <p:cBhvr additive="repl">
                                        <p:cTn id="228" dur="500"/>
                                        <p:tgtEl>
                                          <p:spTgt spid="92"/>
                                        </p:tgtEl>
                                      </p:cBhvr>
                                    </p:animEffect>
                                  </p:childTnLst>
                                </p:cTn>
                              </p:par>
                            </p:childTnLst>
                          </p:cTn>
                        </p:par>
                      </p:childTnLst>
                    </p:cTn>
                  </p:par>
                  <p:par>
                    <p:cTn id="229" fill="hold" nodeType="clickEffect">
                      <p:stCondLst>
                        <p:cond delay="indefinite"/>
                      </p:stCondLst>
                      <p:childTnLst>
                        <p:par>
                          <p:cTn id="230" fill="hold" nodeType="withEffect">
                            <p:stCondLst>
                              <p:cond delay="0"/>
                            </p:stCondLst>
                            <p:childTnLst>
                              <p:par>
                                <p:cTn id="231" presetID="22" presetClass="entr" fill="hold" nodeType="clickEffect" presetSubtype="1">
                                  <p:stCondLst>
                                    <p:cond delay="0"/>
                                  </p:stCondLst>
                                  <p:childTnLst>
                                    <p:set>
                                      <p:cBhvr>
                                        <p:cTn id="232" dur="1" fill="hold">
                                          <p:stCondLst>
                                            <p:cond delay="0"/>
                                          </p:stCondLst>
                                        </p:cTn>
                                        <p:tgtEl>
                                          <p:spTgt spid="95"/>
                                        </p:tgtEl>
                                        <p:attrNameLst>
                                          <p:attrName>style.visibility</p:attrName>
                                        </p:attrNameLst>
                                      </p:cBhvr>
                                      <p:to>
                                        <p:strVal val="visible"/>
                                      </p:to>
                                    </p:set>
                                    <p:animEffect transition="in" filter="wipe(up)">
                                      <p:cBhvr additive="repl">
                                        <p:cTn id="233" dur="500"/>
                                        <p:tgtEl>
                                          <p:spTgt spid="95"/>
                                        </p:tgtEl>
                                      </p:cBhvr>
                                    </p:animEffect>
                                  </p:childTnLst>
                                </p:cTn>
                              </p:par>
                            </p:childTnLst>
                          </p:cTn>
                        </p:par>
                        <p:par>
                          <p:cTn id="234" fill="hold" nodeType="afterEffect">
                            <p:stCondLst>
                              <p:cond delay="500"/>
                            </p:stCondLst>
                            <p:childTnLst>
                              <p:par>
                                <p:cTn id="235" presetID="9" presetClass="entr" fill="hold" nodeType="afterEffect">
                                  <p:stCondLst>
                                    <p:cond delay="0"/>
                                  </p:stCondLst>
                                  <p:childTnLst>
                                    <p:set>
                                      <p:cBhvr>
                                        <p:cTn id="236" dur="1" fill="hold">
                                          <p:stCondLst>
                                            <p:cond delay="0"/>
                                          </p:stCondLst>
                                        </p:cTn>
                                        <p:tgtEl>
                                          <p:spTgt spid="93"/>
                                        </p:tgtEl>
                                        <p:attrNameLst>
                                          <p:attrName>style.visibility</p:attrName>
                                        </p:attrNameLst>
                                      </p:cBhvr>
                                      <p:to>
                                        <p:strVal val="visible"/>
                                      </p:to>
                                    </p:set>
                                    <p:animEffect transition="in" filter="dissolve">
                                      <p:cBhvr additive="repl">
                                        <p:cTn id="237" dur="5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 Box 2054"/>
          <p:cNvSpPr/>
          <p:nvPr/>
        </p:nvSpPr>
        <p:spPr>
          <a:xfrm>
            <a:off x="152280" y="152280"/>
            <a:ext cx="8793360" cy="294516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根据</a:t>
            </a:r>
            <a:r>
              <a:rPr lang="en-US" sz="2400" b="1" u="none" strike="noStrike">
                <a:solidFill>
                  <a:srgbClr val="000000"/>
                </a:solidFill>
                <a:effectLst/>
                <a:uFillTx/>
                <a:latin typeface="Times New Roman"/>
              </a:rPr>
              <a:t>2</a:t>
            </a:r>
            <a:r>
              <a:rPr lang="zh-CN" sz="2400" b="1" u="none" strike="noStrike">
                <a:solidFill>
                  <a:srgbClr val="000000"/>
                </a:solidFill>
                <a:effectLst/>
                <a:uFillTx/>
                <a:latin typeface="Times New Roman"/>
              </a:rPr>
              <a:t>阶系统根轨迹的特点，可以推得</a:t>
            </a:r>
            <a:r>
              <a:rPr lang="en-US" sz="2400" b="1" i="1" u="none" strike="noStrike">
                <a:solidFill>
                  <a:srgbClr val="000000"/>
                </a:solidFill>
                <a:effectLst/>
                <a:uFillTx/>
                <a:latin typeface="Times New Roman"/>
              </a:rPr>
              <a:t>n</a:t>
            </a:r>
            <a:r>
              <a:rPr lang="zh-CN" sz="2400" b="1" u="none" strike="noStrike">
                <a:solidFill>
                  <a:srgbClr val="000000"/>
                </a:solidFill>
                <a:effectLst/>
                <a:uFillTx/>
                <a:latin typeface="Times New Roman"/>
              </a:rPr>
              <a:t>阶系统，会有如下的结论：</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99"/>
                </a:solidFill>
                <a:effectLst/>
                <a:uFillTx/>
                <a:latin typeface="Times New Roman"/>
              </a:rPr>
              <a:t>（</a:t>
            </a:r>
            <a:r>
              <a:rPr lang="en-US" sz="2400" b="1" u="none" strike="noStrike">
                <a:solidFill>
                  <a:srgbClr val="000099"/>
                </a:solidFill>
                <a:effectLst/>
                <a:uFillTx/>
                <a:latin typeface="Times New Roman"/>
              </a:rPr>
              <a:t>1</a:t>
            </a:r>
            <a:r>
              <a:rPr lang="zh-CN" sz="2400" b="1" u="none" strike="noStrike">
                <a:solidFill>
                  <a:srgbClr val="000099"/>
                </a:solidFill>
                <a:effectLst/>
                <a:uFillTx/>
                <a:latin typeface="Times New Roman"/>
              </a:rPr>
              <a:t>）</a:t>
            </a:r>
            <a:r>
              <a:rPr lang="en-US" sz="2400" b="1" i="1" u="none" strike="noStrike">
                <a:solidFill>
                  <a:srgbClr val="000099"/>
                </a:solidFill>
                <a:effectLst/>
                <a:uFillTx/>
                <a:latin typeface="Times New Roman"/>
              </a:rPr>
              <a:t>n</a:t>
            </a:r>
            <a:r>
              <a:rPr lang="zh-CN" sz="2400" b="1" u="none" strike="noStrike">
                <a:solidFill>
                  <a:srgbClr val="000099"/>
                </a:solidFill>
                <a:effectLst/>
                <a:uFillTx/>
                <a:latin typeface="Times New Roman"/>
              </a:rPr>
              <a:t>阶系统有</a:t>
            </a:r>
            <a:r>
              <a:rPr lang="en-US" sz="2400" b="1" i="1" u="none" strike="noStrike">
                <a:solidFill>
                  <a:srgbClr val="000099"/>
                </a:solidFill>
                <a:effectLst/>
                <a:uFillTx/>
                <a:latin typeface="Times New Roman"/>
              </a:rPr>
              <a:t>n</a:t>
            </a:r>
            <a:r>
              <a:rPr lang="zh-CN" sz="2400" b="1" u="none" strike="noStrike">
                <a:solidFill>
                  <a:srgbClr val="000099"/>
                </a:solidFill>
                <a:effectLst/>
                <a:uFillTx/>
                <a:latin typeface="Times New Roman"/>
              </a:rPr>
              <a:t>个根，根轨迹有</a:t>
            </a:r>
            <a:r>
              <a:rPr lang="en-US" sz="2400" b="1" i="1" u="none" strike="noStrike">
                <a:solidFill>
                  <a:srgbClr val="000099"/>
                </a:solidFill>
                <a:effectLst/>
                <a:uFillTx/>
                <a:latin typeface="Times New Roman"/>
              </a:rPr>
              <a:t>n</a:t>
            </a:r>
            <a:r>
              <a:rPr lang="zh-CN" sz="2400" b="1" u="none" strike="noStrike">
                <a:solidFill>
                  <a:srgbClr val="000099"/>
                </a:solidFill>
                <a:effectLst/>
                <a:uFillTx/>
                <a:latin typeface="Times New Roman"/>
              </a:rPr>
              <a:t>条分支 ；</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99"/>
                </a:solidFill>
                <a:effectLst/>
                <a:uFillTx/>
                <a:latin typeface="Times New Roman"/>
              </a:rPr>
              <a:t>（</a:t>
            </a:r>
            <a:r>
              <a:rPr lang="en-US" sz="2400" b="1" u="none" strike="noStrike">
                <a:solidFill>
                  <a:srgbClr val="000099"/>
                </a:solidFill>
                <a:effectLst/>
                <a:uFillTx/>
                <a:latin typeface="Times New Roman"/>
              </a:rPr>
              <a:t>2</a:t>
            </a:r>
            <a:r>
              <a:rPr lang="zh-CN" sz="2400" b="1" u="none" strike="noStrike">
                <a:solidFill>
                  <a:srgbClr val="000099"/>
                </a:solidFill>
                <a:effectLst/>
                <a:uFillTx/>
                <a:latin typeface="Times New Roman"/>
              </a:rPr>
              <a:t>）每条分支的起点 </a:t>
            </a:r>
            <a:r>
              <a:rPr lang="en-US" sz="2400" b="1" u="none" strike="noStrike">
                <a:solidFill>
                  <a:srgbClr val="000099"/>
                </a:solidFill>
                <a:effectLst/>
                <a:uFillTx/>
                <a:latin typeface="Times New Roman"/>
              </a:rPr>
              <a:t>(</a:t>
            </a:r>
            <a:r>
              <a:rPr lang="en-US" sz="2400" b="1" i="1" u="none" strike="noStrike">
                <a:solidFill>
                  <a:srgbClr val="000099"/>
                </a:solidFill>
                <a:effectLst/>
                <a:uFillTx/>
                <a:latin typeface="Times New Roman"/>
              </a:rPr>
              <a:t>Kg</a:t>
            </a:r>
            <a:r>
              <a:rPr lang="en-US" sz="2400" b="1" u="none" strike="noStrike">
                <a:solidFill>
                  <a:srgbClr val="000099"/>
                </a:solidFill>
                <a:effectLst/>
                <a:uFillTx/>
                <a:latin typeface="Times New Roman"/>
              </a:rPr>
              <a:t>= 0)</a:t>
            </a:r>
            <a:r>
              <a:rPr lang="zh-CN" sz="2400" b="1" u="none" strike="noStrike">
                <a:solidFill>
                  <a:srgbClr val="000099"/>
                </a:solidFill>
                <a:effectLst/>
                <a:uFillTx/>
                <a:latin typeface="Times New Roman"/>
              </a:rPr>
              <a:t>位于开环极点处；</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99"/>
                </a:solidFill>
                <a:effectLst/>
                <a:uFillTx/>
                <a:latin typeface="Times New Roman"/>
              </a:rPr>
              <a:t>（</a:t>
            </a:r>
            <a:r>
              <a:rPr lang="en-US" sz="2400" b="1" u="none" strike="noStrike">
                <a:solidFill>
                  <a:srgbClr val="000099"/>
                </a:solidFill>
                <a:effectLst/>
                <a:uFillTx/>
                <a:latin typeface="Times New Roman"/>
              </a:rPr>
              <a:t>3</a:t>
            </a:r>
            <a:r>
              <a:rPr lang="zh-CN" sz="2400" b="1" u="none" strike="noStrike">
                <a:solidFill>
                  <a:srgbClr val="000099"/>
                </a:solidFill>
                <a:effectLst/>
                <a:uFillTx/>
                <a:latin typeface="Times New Roman"/>
              </a:rPr>
              <a:t>）各分支的终点</a:t>
            </a:r>
            <a:r>
              <a:rPr lang="en-US" sz="2400" b="1" u="none" strike="noStrike">
                <a:solidFill>
                  <a:srgbClr val="000099"/>
                </a:solidFill>
                <a:effectLst/>
                <a:uFillTx/>
                <a:latin typeface="Times New Roman"/>
              </a:rPr>
              <a:t>(</a:t>
            </a:r>
            <a:r>
              <a:rPr lang="en-US" sz="2400" b="1" i="1" u="none" strike="noStrike">
                <a:solidFill>
                  <a:srgbClr val="000099"/>
                </a:solidFill>
                <a:effectLst/>
                <a:uFillTx/>
                <a:latin typeface="Times New Roman"/>
              </a:rPr>
              <a:t>Kg </a:t>
            </a:r>
            <a:r>
              <a:rPr lang="en-US" sz="2400" b="1" u="none" strike="noStrike">
                <a:solidFill>
                  <a:srgbClr val="000099"/>
                </a:solidFill>
                <a:effectLst/>
                <a:uFillTx/>
                <a:latin typeface="Symbol"/>
                <a:ea typeface="Symbol"/>
              </a:rPr>
              <a:t></a:t>
            </a:r>
            <a:r>
              <a:rPr lang="en-US" sz="2400" b="1" u="none" strike="noStrike">
                <a:solidFill>
                  <a:srgbClr val="000099"/>
                </a:solidFill>
                <a:effectLst/>
                <a:uFillTx/>
                <a:latin typeface="Times New Roman"/>
              </a:rPr>
              <a:t>)</a:t>
            </a:r>
            <a:r>
              <a:rPr lang="zh-CN" sz="2400" b="1" u="none" strike="noStrike">
                <a:solidFill>
                  <a:srgbClr val="000099"/>
                </a:solidFill>
                <a:effectLst/>
                <a:uFillTx/>
                <a:latin typeface="Times New Roman"/>
              </a:rPr>
              <a:t>或为开环零点处或为无限点；</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99"/>
                </a:solidFill>
                <a:effectLst/>
                <a:uFillTx/>
                <a:latin typeface="Times New Roman"/>
              </a:rPr>
              <a:t>（</a:t>
            </a:r>
            <a:r>
              <a:rPr lang="en-US" sz="2400" b="1" u="none" strike="noStrike">
                <a:solidFill>
                  <a:srgbClr val="000099"/>
                </a:solidFill>
                <a:effectLst/>
                <a:uFillTx/>
                <a:latin typeface="Times New Roman"/>
              </a:rPr>
              <a:t>4</a:t>
            </a:r>
            <a:r>
              <a:rPr lang="zh-CN" sz="2400" b="1" u="none" strike="noStrike">
                <a:solidFill>
                  <a:srgbClr val="000099"/>
                </a:solidFill>
                <a:effectLst/>
                <a:uFillTx/>
                <a:latin typeface="Times New Roman"/>
              </a:rPr>
              <a:t>）重根点，称为分离点或汇合点。</a:t>
            </a:r>
            <a:endParaRPr lang="en-US" sz="2400" b="1" u="none" strike="noStrike">
              <a:solidFill>
                <a:srgbClr val="000000"/>
              </a:solidFill>
              <a:effectLst/>
              <a:uFillTx/>
              <a:latin typeface="Times New Roman"/>
            </a:endParaRPr>
          </a:p>
        </p:txBody>
      </p:sp>
      <p:grpSp>
        <p:nvGrpSpPr>
          <p:cNvPr id="107" name="Group 2093"/>
          <p:cNvGrpSpPr/>
          <p:nvPr/>
        </p:nvGrpSpPr>
        <p:grpSpPr>
          <a:xfrm>
            <a:off x="4802040" y="2479680"/>
            <a:ext cx="4209840" cy="4153680"/>
            <a:chOff x="4802040" y="2479680"/>
            <a:chExt cx="4209840" cy="4153680"/>
          </a:xfrm>
        </p:grpSpPr>
        <p:sp>
          <p:nvSpPr>
            <p:cNvPr id="108" name="Rectangle 2057"/>
            <p:cNvSpPr/>
            <p:nvPr/>
          </p:nvSpPr>
          <p:spPr>
            <a:xfrm>
              <a:off x="5106960" y="4765680"/>
              <a:ext cx="68580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a:t>
              </a:r>
              <a:endParaRPr lang="en-US" sz="2800" b="1" u="none" strike="noStrike">
                <a:solidFill>
                  <a:srgbClr val="000000"/>
                </a:solidFill>
                <a:effectLst/>
                <a:uFillTx/>
                <a:latin typeface="Times New Roman"/>
              </a:endParaRPr>
            </a:p>
          </p:txBody>
        </p:sp>
        <p:grpSp>
          <p:nvGrpSpPr>
            <p:cNvPr id="109" name="Group 2058"/>
            <p:cNvGrpSpPr/>
            <p:nvPr/>
          </p:nvGrpSpPr>
          <p:grpSpPr>
            <a:xfrm>
              <a:off x="4802040" y="2479680"/>
              <a:ext cx="4209840" cy="4150800"/>
              <a:chOff x="4802040" y="2479680"/>
              <a:chExt cx="4209840" cy="4150800"/>
            </a:xfrm>
          </p:grpSpPr>
          <p:sp>
            <p:nvSpPr>
              <p:cNvPr id="110" name="Line 2059"/>
              <p:cNvSpPr/>
              <p:nvPr/>
            </p:nvSpPr>
            <p:spPr>
              <a:xfrm flipV="1">
                <a:off x="7822800" y="2604960"/>
                <a:ext cx="0" cy="402552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11" name="Line 2060"/>
              <p:cNvSpPr/>
              <p:nvPr/>
            </p:nvSpPr>
            <p:spPr>
              <a:xfrm>
                <a:off x="4802040" y="4727160"/>
                <a:ext cx="384336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12" name="Rectangle 2061"/>
              <p:cNvSpPr/>
              <p:nvPr/>
            </p:nvSpPr>
            <p:spPr>
              <a:xfrm>
                <a:off x="7628040" y="247968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113" name="Rectangle 2062"/>
              <p:cNvSpPr/>
              <p:nvPr/>
            </p:nvSpPr>
            <p:spPr>
              <a:xfrm>
                <a:off x="8494920" y="4470120"/>
                <a:ext cx="51696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14" name="Rectangle 2063"/>
              <p:cNvSpPr/>
              <p:nvPr/>
            </p:nvSpPr>
            <p:spPr>
              <a:xfrm>
                <a:off x="7762680" y="47592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115" name="Group 2064"/>
            <p:cNvGrpSpPr/>
            <p:nvPr/>
          </p:nvGrpSpPr>
          <p:grpSpPr>
            <a:xfrm>
              <a:off x="7678800" y="4589640"/>
              <a:ext cx="287280" cy="289800"/>
              <a:chOff x="7678800" y="4589640"/>
              <a:chExt cx="287280" cy="289800"/>
            </a:xfrm>
          </p:grpSpPr>
          <p:sp>
            <p:nvSpPr>
              <p:cNvPr id="116" name="Line 2065"/>
              <p:cNvSpPr/>
              <p:nvPr/>
            </p:nvSpPr>
            <p:spPr>
              <a:xfrm>
                <a:off x="7682040" y="4597200"/>
                <a:ext cx="282600" cy="28224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17" name="Line 2066"/>
              <p:cNvSpPr/>
              <p:nvPr/>
            </p:nvSpPr>
            <p:spPr>
              <a:xfrm flipH="1">
                <a:off x="7678800" y="4589640"/>
                <a:ext cx="287280" cy="28692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18" name="Rectangle 2067"/>
            <p:cNvSpPr/>
            <p:nvPr/>
          </p:nvSpPr>
          <p:spPr>
            <a:xfrm>
              <a:off x="6705720" y="4667400"/>
              <a:ext cx="68580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endParaRPr lang="en-US" sz="2800" b="1" u="none" strike="noStrike">
                <a:solidFill>
                  <a:srgbClr val="000000"/>
                </a:solidFill>
                <a:effectLst/>
                <a:uFillTx/>
                <a:latin typeface="Times New Roman"/>
              </a:endParaRPr>
            </a:p>
          </p:txBody>
        </p:sp>
        <p:grpSp>
          <p:nvGrpSpPr>
            <p:cNvPr id="119" name="Group 2068"/>
            <p:cNvGrpSpPr/>
            <p:nvPr/>
          </p:nvGrpSpPr>
          <p:grpSpPr>
            <a:xfrm>
              <a:off x="6706800" y="4727520"/>
              <a:ext cx="1066680" cy="0"/>
              <a:chOff x="6706800" y="4727520"/>
              <a:chExt cx="1066680" cy="0"/>
            </a:xfrm>
          </p:grpSpPr>
          <p:sp>
            <p:nvSpPr>
              <p:cNvPr id="120" name="Line 2069"/>
              <p:cNvSpPr/>
              <p:nvPr/>
            </p:nvSpPr>
            <p:spPr>
              <a:xfrm flipH="1">
                <a:off x="6706800" y="4727520"/>
                <a:ext cx="1066680" cy="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21" name="Line 2070"/>
              <p:cNvSpPr/>
              <p:nvPr/>
            </p:nvSpPr>
            <p:spPr>
              <a:xfrm>
                <a:off x="7095960" y="4727520"/>
                <a:ext cx="296280" cy="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22" name="Line 2071"/>
            <p:cNvSpPr/>
            <p:nvPr/>
          </p:nvSpPr>
          <p:spPr>
            <a:xfrm>
              <a:off x="6707160" y="4575240"/>
              <a:ext cx="0" cy="152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123" name="Group 2072"/>
            <p:cNvGrpSpPr/>
            <p:nvPr/>
          </p:nvGrpSpPr>
          <p:grpSpPr>
            <a:xfrm>
              <a:off x="5640120" y="4727520"/>
              <a:ext cx="1066680" cy="0"/>
              <a:chOff x="5640120" y="4727520"/>
              <a:chExt cx="1066680" cy="0"/>
            </a:xfrm>
          </p:grpSpPr>
          <p:sp>
            <p:nvSpPr>
              <p:cNvPr id="124" name="Line 2073"/>
              <p:cNvSpPr/>
              <p:nvPr/>
            </p:nvSpPr>
            <p:spPr>
              <a:xfrm flipH="1">
                <a:off x="5640120" y="4727520"/>
                <a:ext cx="106668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25" name="Line 2074"/>
              <p:cNvSpPr/>
              <p:nvPr/>
            </p:nvSpPr>
            <p:spPr>
              <a:xfrm>
                <a:off x="5937480" y="4727520"/>
                <a:ext cx="29664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26" name="Rectangle 2075"/>
            <p:cNvSpPr/>
            <p:nvPr/>
          </p:nvSpPr>
          <p:spPr>
            <a:xfrm>
              <a:off x="7858080" y="408456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127" name="Rectangle 2076"/>
            <p:cNvSpPr/>
            <p:nvPr/>
          </p:nvSpPr>
          <p:spPr>
            <a:xfrm>
              <a:off x="5246640" y="408456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128" name="Rectangle 2077"/>
            <p:cNvSpPr/>
            <p:nvPr/>
          </p:nvSpPr>
          <p:spPr>
            <a:xfrm>
              <a:off x="6721560" y="4140360"/>
              <a:ext cx="9604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129" name="Rectangle 2078"/>
            <p:cNvSpPr/>
            <p:nvPr/>
          </p:nvSpPr>
          <p:spPr>
            <a:xfrm>
              <a:off x="6721560" y="2770200"/>
              <a:ext cx="11761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30" name="Rectangle 2079"/>
            <p:cNvSpPr/>
            <p:nvPr/>
          </p:nvSpPr>
          <p:spPr>
            <a:xfrm>
              <a:off x="6721560" y="6173640"/>
              <a:ext cx="123984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31" name="Line 2080"/>
            <p:cNvSpPr/>
            <p:nvPr/>
          </p:nvSpPr>
          <p:spPr>
            <a:xfrm>
              <a:off x="5549760" y="4541760"/>
              <a:ext cx="0" cy="200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132" name="Group 2081"/>
            <p:cNvGrpSpPr/>
            <p:nvPr/>
          </p:nvGrpSpPr>
          <p:grpSpPr>
            <a:xfrm>
              <a:off x="6718320" y="4707000"/>
              <a:ext cx="3240" cy="1903320"/>
              <a:chOff x="6718320" y="4707000"/>
              <a:chExt cx="3240" cy="1903320"/>
            </a:xfrm>
          </p:grpSpPr>
          <p:sp>
            <p:nvSpPr>
              <p:cNvPr id="133" name="Line 2082"/>
              <p:cNvSpPr/>
              <p:nvPr/>
            </p:nvSpPr>
            <p:spPr>
              <a:xfrm>
                <a:off x="6718320" y="4707000"/>
                <a:ext cx="0" cy="190332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34" name="Line 2083"/>
              <p:cNvSpPr/>
              <p:nvPr/>
            </p:nvSpPr>
            <p:spPr>
              <a:xfrm flipV="1">
                <a:off x="6721560" y="5632200"/>
                <a:ext cx="0" cy="29844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35" name="Group 2084"/>
            <p:cNvGrpSpPr/>
            <p:nvPr/>
          </p:nvGrpSpPr>
          <p:grpSpPr>
            <a:xfrm>
              <a:off x="6721560" y="2803320"/>
              <a:ext cx="0" cy="1903320"/>
              <a:chOff x="6721560" y="2803320"/>
              <a:chExt cx="0" cy="1903320"/>
            </a:xfrm>
          </p:grpSpPr>
          <p:sp>
            <p:nvSpPr>
              <p:cNvPr id="136" name="Line 2085"/>
              <p:cNvSpPr/>
              <p:nvPr/>
            </p:nvSpPr>
            <p:spPr>
              <a:xfrm flipV="1">
                <a:off x="6721560" y="2803320"/>
                <a:ext cx="0" cy="190332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37" name="Line 2086"/>
              <p:cNvSpPr/>
              <p:nvPr/>
            </p:nvSpPr>
            <p:spPr>
              <a:xfrm>
                <a:off x="6721560" y="3509640"/>
                <a:ext cx="0" cy="29844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38" name="Group 2087"/>
            <p:cNvGrpSpPr/>
            <p:nvPr/>
          </p:nvGrpSpPr>
          <p:grpSpPr>
            <a:xfrm>
              <a:off x="5411880" y="4581360"/>
              <a:ext cx="287280" cy="290520"/>
              <a:chOff x="5411880" y="4581360"/>
              <a:chExt cx="287280" cy="290520"/>
            </a:xfrm>
          </p:grpSpPr>
          <p:sp>
            <p:nvSpPr>
              <p:cNvPr id="139" name="Line 2088"/>
              <p:cNvSpPr/>
              <p:nvPr/>
            </p:nvSpPr>
            <p:spPr>
              <a:xfrm>
                <a:off x="5415120" y="45892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40" name="Line 2089"/>
              <p:cNvSpPr/>
              <p:nvPr/>
            </p:nvSpPr>
            <p:spPr>
              <a:xfrm flipH="1">
                <a:off x="5411880" y="45813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sp>
        <p:nvSpPr>
          <p:cNvPr id="141" name="Text Box 2090"/>
          <p:cNvSpPr/>
          <p:nvPr/>
        </p:nvSpPr>
        <p:spPr>
          <a:xfrm>
            <a:off x="152280" y="3052800"/>
            <a:ext cx="4559400" cy="397728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Times New Roman"/>
                <a:ea typeface="华文新魏"/>
              </a:rPr>
              <a:t>根轨迹与系统性能</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楷体_GB2312"/>
                <a:ea typeface="楷体_GB2312"/>
              </a:rPr>
              <a:t>1. </a:t>
            </a:r>
            <a:r>
              <a:rPr lang="zh-CN" sz="2800" b="1" u="none" strike="noStrike">
                <a:solidFill>
                  <a:srgbClr val="000000"/>
                </a:solidFill>
                <a:effectLst/>
                <a:uFillTx/>
                <a:latin typeface="楷体_GB2312"/>
                <a:ea typeface="楷体_GB2312"/>
              </a:rPr>
              <a:t>稳定性</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当</a:t>
            </a:r>
            <a:r>
              <a:rPr lang="en-US" sz="2800" b="1" i="1" u="none" strike="noStrike">
                <a:solidFill>
                  <a:srgbClr val="000000"/>
                </a:solidFill>
                <a:effectLst/>
                <a:uFillTx/>
                <a:latin typeface="Times New Roman"/>
              </a:rPr>
              <a:t>Kg</a:t>
            </a:r>
            <a:r>
              <a:rPr lang="zh-CN" sz="2800" b="1" u="none" strike="noStrike">
                <a:solidFill>
                  <a:srgbClr val="000000"/>
                </a:solidFill>
                <a:effectLst/>
                <a:uFillTx/>
                <a:latin typeface="Times New Roman"/>
              </a:rPr>
              <a:t>从</a:t>
            </a:r>
            <a:r>
              <a:rPr lang="en-US" sz="2800" b="1" u="none" strike="noStrike">
                <a:solidFill>
                  <a:srgbClr val="000000"/>
                </a:solidFill>
                <a:effectLst/>
                <a:uFillTx/>
                <a:latin typeface="Times New Roman"/>
              </a:rPr>
              <a:t>0 </a:t>
            </a:r>
            <a:r>
              <a:rPr lang="en-US" sz="2800" b="1" u="none" strike="noStrike">
                <a:solidFill>
                  <a:srgbClr val="000000"/>
                </a:solidFill>
                <a:effectLst/>
                <a:uFillTx/>
                <a:latin typeface="Symbol"/>
                <a:ea typeface="Symbol"/>
              </a:rPr>
              <a:t></a:t>
            </a:r>
            <a:r>
              <a:rPr lang="zh-CN" sz="2800" b="1" u="none" strike="noStrike">
                <a:solidFill>
                  <a:srgbClr val="000000"/>
                </a:solidFill>
                <a:effectLst/>
                <a:uFillTx/>
                <a:latin typeface="Times New Roman"/>
              </a:rPr>
              <a:t>时，图中的根轨迹不会越过虚轴进入</a:t>
            </a:r>
            <a:r>
              <a:rPr lang="en-US" sz="2800" b="1" i="1" u="none" strike="noStrike">
                <a:solidFill>
                  <a:srgbClr val="000000"/>
                </a:solidFill>
                <a:effectLst/>
                <a:uFillTx/>
                <a:latin typeface="Times New Roman"/>
              </a:rPr>
              <a:t>s</a:t>
            </a:r>
            <a:r>
              <a:rPr lang="zh-CN" sz="2800" b="1" u="none" strike="noStrike">
                <a:solidFill>
                  <a:srgbClr val="000000"/>
                </a:solidFill>
                <a:effectLst/>
                <a:uFillTx/>
                <a:latin typeface="Times New Roman"/>
              </a:rPr>
              <a:t>右半平面，因此二阶系统对所有的</a:t>
            </a:r>
            <a:r>
              <a:rPr lang="en-US" sz="2800" b="1" i="1" u="none" strike="noStrike">
                <a:solidFill>
                  <a:srgbClr val="000000"/>
                </a:solidFill>
                <a:effectLst/>
                <a:uFillTx/>
                <a:latin typeface="Times New Roman"/>
              </a:rPr>
              <a:t>Kg</a:t>
            </a:r>
            <a:r>
              <a:rPr lang="zh-CN" sz="2800" b="1" u="none" strike="noStrike">
                <a:solidFill>
                  <a:srgbClr val="000000"/>
                </a:solidFill>
                <a:effectLst/>
                <a:uFillTx/>
                <a:latin typeface="Times New Roman"/>
              </a:rPr>
              <a:t>值都是稳定的。</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238" dur="indefinite" restart="never" nodeType="tmRoot">
          <p:childTnLst>
            <p:seq>
              <p:cTn id="239" dur="indefinite" nodeType="mainSeq">
                <p:childTnLst>
                  <p:par>
                    <p:cTn id="240" fill="hold" nodeType="clickEffect">
                      <p:stCondLst>
                        <p:cond delay="indefinite"/>
                      </p:stCondLst>
                      <p:childTnLst>
                        <p:par>
                          <p:cTn id="241" fill="hold" nodeType="withEffect">
                            <p:stCondLst>
                              <p:cond delay="0"/>
                            </p:stCondLst>
                            <p:childTnLst>
                              <p:par>
                                <p:cTn id="242" presetID="4" presetClass="entr" fill="hold" nodeType="clickEffect" presetSubtype="16">
                                  <p:stCondLst>
                                    <p:cond delay="0"/>
                                  </p:stCondLst>
                                  <p:childTnLst>
                                    <p:set>
                                      <p:cBhvr>
                                        <p:cTn id="243" dur="1" fill="hold">
                                          <p:stCondLst>
                                            <p:cond delay="0"/>
                                          </p:stCondLst>
                                        </p:cTn>
                                        <p:tgtEl>
                                          <p:spTgt spid="106">
                                            <p:txEl>
                                              <p:pRg st="0" end="0"/>
                                            </p:txEl>
                                          </p:spTgt>
                                        </p:tgtEl>
                                        <p:attrNameLst>
                                          <p:attrName>style.visibility</p:attrName>
                                        </p:attrNameLst>
                                      </p:cBhvr>
                                      <p:to>
                                        <p:strVal val="visible"/>
                                      </p:to>
                                    </p:set>
                                    <p:animEffect transition="in" filter="box(in)">
                                      <p:cBhvr additive="repl">
                                        <p:cTn id="244" dur="500"/>
                                        <p:tgtEl>
                                          <p:spTgt spid="106">
                                            <p:txEl>
                                              <p:pRg st="0" end="0"/>
                                            </p:txEl>
                                          </p:spTgt>
                                        </p:tgtEl>
                                      </p:cBhvr>
                                    </p:animEffect>
                                  </p:childTnLst>
                                </p:cTn>
                              </p:par>
                            </p:childTnLst>
                          </p:cTn>
                        </p:par>
                      </p:childTnLst>
                    </p:cTn>
                  </p:par>
                  <p:par>
                    <p:cTn id="245" fill="hold" nodeType="clickEffect">
                      <p:stCondLst>
                        <p:cond delay="indefinite"/>
                      </p:stCondLst>
                      <p:childTnLst>
                        <p:par>
                          <p:cTn id="246" fill="hold" nodeType="withEffect">
                            <p:stCondLst>
                              <p:cond delay="0"/>
                            </p:stCondLst>
                            <p:childTnLst>
                              <p:par>
                                <p:cTn id="247" presetID="4" presetClass="entr" fill="hold" nodeType="clickEffect" presetSubtype="16">
                                  <p:stCondLst>
                                    <p:cond delay="0"/>
                                  </p:stCondLst>
                                  <p:childTnLst>
                                    <p:set>
                                      <p:cBhvr>
                                        <p:cTn id="248" dur="1" fill="hold">
                                          <p:stCondLst>
                                            <p:cond delay="0"/>
                                          </p:stCondLst>
                                        </p:cTn>
                                        <p:tgtEl>
                                          <p:spTgt spid="106">
                                            <p:txEl>
                                              <p:pRg st="1" end="1"/>
                                            </p:txEl>
                                          </p:spTgt>
                                        </p:tgtEl>
                                        <p:attrNameLst>
                                          <p:attrName>style.visibility</p:attrName>
                                        </p:attrNameLst>
                                      </p:cBhvr>
                                      <p:to>
                                        <p:strVal val="visible"/>
                                      </p:to>
                                    </p:set>
                                    <p:animEffect transition="in" filter="box(in)">
                                      <p:cBhvr additive="repl">
                                        <p:cTn id="249" dur="500"/>
                                        <p:tgtEl>
                                          <p:spTgt spid="106">
                                            <p:txEl>
                                              <p:pRg st="1" end="1"/>
                                            </p:txEl>
                                          </p:spTgt>
                                        </p:tgtEl>
                                      </p:cBhvr>
                                    </p:animEffect>
                                  </p:childTnLst>
                                </p:cTn>
                              </p:par>
                            </p:childTnLst>
                          </p:cTn>
                        </p:par>
                      </p:childTnLst>
                    </p:cTn>
                  </p:par>
                  <p:par>
                    <p:cTn id="250" fill="hold" nodeType="clickEffect">
                      <p:stCondLst>
                        <p:cond delay="indefinite"/>
                      </p:stCondLst>
                      <p:childTnLst>
                        <p:par>
                          <p:cTn id="251" fill="hold" nodeType="withEffect">
                            <p:stCondLst>
                              <p:cond delay="0"/>
                            </p:stCondLst>
                            <p:childTnLst>
                              <p:par>
                                <p:cTn id="252" presetID="4" presetClass="entr" fill="hold" nodeType="clickEffect" presetSubtype="16">
                                  <p:stCondLst>
                                    <p:cond delay="0"/>
                                  </p:stCondLst>
                                  <p:childTnLst>
                                    <p:set>
                                      <p:cBhvr>
                                        <p:cTn id="253" dur="1" fill="hold">
                                          <p:stCondLst>
                                            <p:cond delay="0"/>
                                          </p:stCondLst>
                                        </p:cTn>
                                        <p:tgtEl>
                                          <p:spTgt spid="106">
                                            <p:txEl>
                                              <p:pRg st="2" end="2"/>
                                            </p:txEl>
                                          </p:spTgt>
                                        </p:tgtEl>
                                        <p:attrNameLst>
                                          <p:attrName>style.visibility</p:attrName>
                                        </p:attrNameLst>
                                      </p:cBhvr>
                                      <p:to>
                                        <p:strVal val="visible"/>
                                      </p:to>
                                    </p:set>
                                    <p:animEffect transition="in" filter="box(in)">
                                      <p:cBhvr additive="repl">
                                        <p:cTn id="254" dur="500"/>
                                        <p:tgtEl>
                                          <p:spTgt spid="106">
                                            <p:txEl>
                                              <p:pRg st="2" end="2"/>
                                            </p:txEl>
                                          </p:spTgt>
                                        </p:tgtEl>
                                      </p:cBhvr>
                                    </p:animEffect>
                                  </p:childTnLst>
                                </p:cTn>
                              </p:par>
                            </p:childTnLst>
                          </p:cTn>
                        </p:par>
                      </p:childTnLst>
                    </p:cTn>
                  </p:par>
                  <p:par>
                    <p:cTn id="255" fill="hold" nodeType="clickEffect">
                      <p:stCondLst>
                        <p:cond delay="indefinite"/>
                      </p:stCondLst>
                      <p:childTnLst>
                        <p:par>
                          <p:cTn id="256" fill="hold" nodeType="withEffect">
                            <p:stCondLst>
                              <p:cond delay="0"/>
                            </p:stCondLst>
                            <p:childTnLst>
                              <p:par>
                                <p:cTn id="257" presetID="4" presetClass="entr" fill="hold" nodeType="clickEffect" presetSubtype="16">
                                  <p:stCondLst>
                                    <p:cond delay="0"/>
                                  </p:stCondLst>
                                  <p:childTnLst>
                                    <p:set>
                                      <p:cBhvr>
                                        <p:cTn id="258" dur="1" fill="hold">
                                          <p:stCondLst>
                                            <p:cond delay="0"/>
                                          </p:stCondLst>
                                        </p:cTn>
                                        <p:tgtEl>
                                          <p:spTgt spid="106">
                                            <p:txEl>
                                              <p:pRg st="3" end="3"/>
                                            </p:txEl>
                                          </p:spTgt>
                                        </p:tgtEl>
                                        <p:attrNameLst>
                                          <p:attrName>style.visibility</p:attrName>
                                        </p:attrNameLst>
                                      </p:cBhvr>
                                      <p:to>
                                        <p:strVal val="visible"/>
                                      </p:to>
                                    </p:set>
                                    <p:animEffect transition="in" filter="box(in)">
                                      <p:cBhvr additive="repl">
                                        <p:cTn id="259" dur="500"/>
                                        <p:tgtEl>
                                          <p:spTgt spid="106">
                                            <p:txEl>
                                              <p:pRg st="3" end="3"/>
                                            </p:txEl>
                                          </p:spTgt>
                                        </p:tgtEl>
                                      </p:cBhvr>
                                    </p:animEffect>
                                  </p:childTnLst>
                                </p:cTn>
                              </p:par>
                            </p:childTnLst>
                          </p:cTn>
                        </p:par>
                      </p:childTnLst>
                    </p:cTn>
                  </p:par>
                  <p:par>
                    <p:cTn id="260" fill="hold" nodeType="clickEffect">
                      <p:stCondLst>
                        <p:cond delay="indefinite"/>
                      </p:stCondLst>
                      <p:childTnLst>
                        <p:par>
                          <p:cTn id="261" fill="hold" nodeType="withEffect">
                            <p:stCondLst>
                              <p:cond delay="0"/>
                            </p:stCondLst>
                            <p:childTnLst>
                              <p:par>
                                <p:cTn id="262" presetID="4" presetClass="entr" fill="hold" nodeType="clickEffect" presetSubtype="16">
                                  <p:stCondLst>
                                    <p:cond delay="0"/>
                                  </p:stCondLst>
                                  <p:childTnLst>
                                    <p:set>
                                      <p:cBhvr>
                                        <p:cTn id="263" dur="1" fill="hold">
                                          <p:stCondLst>
                                            <p:cond delay="0"/>
                                          </p:stCondLst>
                                        </p:cTn>
                                        <p:tgtEl>
                                          <p:spTgt spid="106">
                                            <p:txEl>
                                              <p:pRg st="4" end="4"/>
                                            </p:txEl>
                                          </p:spTgt>
                                        </p:tgtEl>
                                        <p:attrNameLst>
                                          <p:attrName>style.visibility</p:attrName>
                                        </p:attrNameLst>
                                      </p:cBhvr>
                                      <p:to>
                                        <p:strVal val="visible"/>
                                      </p:to>
                                    </p:set>
                                    <p:animEffect transition="in" filter="box(in)">
                                      <p:cBhvr additive="repl">
                                        <p:cTn id="264" dur="500"/>
                                        <p:tgtEl>
                                          <p:spTgt spid="106">
                                            <p:txEl>
                                              <p:pRg st="4" end="4"/>
                                            </p:txEl>
                                          </p:spTgt>
                                        </p:tgtEl>
                                      </p:cBhvr>
                                    </p:animEffect>
                                  </p:childTnLst>
                                </p:cTn>
                              </p:par>
                            </p:childTnLst>
                          </p:cTn>
                        </p:par>
                      </p:childTnLst>
                    </p:cTn>
                  </p:par>
                  <p:par>
                    <p:cTn id="265" fill="hold" nodeType="clickEffect">
                      <p:stCondLst>
                        <p:cond delay="indefinite"/>
                      </p:stCondLst>
                      <p:childTnLst>
                        <p:par>
                          <p:cTn id="266" fill="hold" nodeType="withEffect">
                            <p:stCondLst>
                              <p:cond delay="0"/>
                            </p:stCondLst>
                            <p:childTnLst>
                              <p:par>
                                <p:cTn id="267" presetID="4" presetClass="entr" fill="hold" nodeType="clickEffect" presetSubtype="32">
                                  <p:stCondLst>
                                    <p:cond delay="0"/>
                                  </p:stCondLst>
                                  <p:childTnLst>
                                    <p:set>
                                      <p:cBhvr>
                                        <p:cTn id="268" dur="1" fill="hold">
                                          <p:stCondLst>
                                            <p:cond delay="0"/>
                                          </p:stCondLst>
                                        </p:cTn>
                                        <p:tgtEl>
                                          <p:spTgt spid="141">
                                            <p:txEl>
                                              <p:pRg st="0" end="0"/>
                                            </p:txEl>
                                          </p:spTgt>
                                        </p:tgtEl>
                                        <p:attrNameLst>
                                          <p:attrName>style.visibility</p:attrName>
                                        </p:attrNameLst>
                                      </p:cBhvr>
                                      <p:to>
                                        <p:strVal val="visible"/>
                                      </p:to>
                                    </p:set>
                                    <p:animEffect transition="in" filter="box(out)">
                                      <p:cBhvr additive="repl">
                                        <p:cTn id="269" dur="500"/>
                                        <p:tgtEl>
                                          <p:spTgt spid="141">
                                            <p:txEl>
                                              <p:pRg st="0" end="0"/>
                                            </p:txEl>
                                          </p:spTgt>
                                        </p:tgtEl>
                                      </p:cBhvr>
                                    </p:animEffect>
                                  </p:childTnLst>
                                </p:cTn>
                              </p:par>
                            </p:childTnLst>
                          </p:cTn>
                        </p:par>
                      </p:childTnLst>
                    </p:cTn>
                  </p:par>
                  <p:par>
                    <p:cTn id="270" fill="hold" nodeType="clickEffect">
                      <p:stCondLst>
                        <p:cond delay="indefinite"/>
                      </p:stCondLst>
                      <p:childTnLst>
                        <p:par>
                          <p:cTn id="271" fill="hold" nodeType="withEffect">
                            <p:stCondLst>
                              <p:cond delay="0"/>
                            </p:stCondLst>
                            <p:childTnLst>
                              <p:par>
                                <p:cTn id="272" presetID="4" presetClass="entr" fill="hold" nodeType="clickEffect" presetSubtype="32">
                                  <p:stCondLst>
                                    <p:cond delay="0"/>
                                  </p:stCondLst>
                                  <p:childTnLst>
                                    <p:set>
                                      <p:cBhvr>
                                        <p:cTn id="273" dur="1" fill="hold">
                                          <p:stCondLst>
                                            <p:cond delay="0"/>
                                          </p:stCondLst>
                                        </p:cTn>
                                        <p:tgtEl>
                                          <p:spTgt spid="141">
                                            <p:txEl>
                                              <p:pRg st="1" end="1"/>
                                            </p:txEl>
                                          </p:spTgt>
                                        </p:tgtEl>
                                        <p:attrNameLst>
                                          <p:attrName>style.visibility</p:attrName>
                                        </p:attrNameLst>
                                      </p:cBhvr>
                                      <p:to>
                                        <p:strVal val="visible"/>
                                      </p:to>
                                    </p:set>
                                    <p:animEffect transition="in" filter="box(out)">
                                      <p:cBhvr additive="repl">
                                        <p:cTn id="274" dur="500"/>
                                        <p:tgtEl>
                                          <p:spTgt spid="141">
                                            <p:txEl>
                                              <p:pRg st="1" end="1"/>
                                            </p:txEl>
                                          </p:spTgt>
                                        </p:tgtEl>
                                      </p:cBhvr>
                                    </p:animEffect>
                                  </p:childTnLst>
                                </p:cTn>
                              </p:par>
                            </p:childTnLst>
                          </p:cTn>
                        </p:par>
                      </p:childTnLst>
                    </p:cTn>
                  </p:par>
                  <p:par>
                    <p:cTn id="275" fill="hold" nodeType="clickEffect">
                      <p:stCondLst>
                        <p:cond delay="indefinite"/>
                      </p:stCondLst>
                      <p:childTnLst>
                        <p:par>
                          <p:cTn id="276" fill="hold" nodeType="withEffect">
                            <p:stCondLst>
                              <p:cond delay="0"/>
                            </p:stCondLst>
                            <p:childTnLst>
                              <p:par>
                                <p:cTn id="277" presetID="4" presetClass="entr" fill="hold" nodeType="clickEffect" presetSubtype="32">
                                  <p:stCondLst>
                                    <p:cond delay="0"/>
                                  </p:stCondLst>
                                  <p:childTnLst>
                                    <p:set>
                                      <p:cBhvr>
                                        <p:cTn id="278" dur="1" fill="hold">
                                          <p:stCondLst>
                                            <p:cond delay="0"/>
                                          </p:stCondLst>
                                        </p:cTn>
                                        <p:tgtEl>
                                          <p:spTgt spid="141">
                                            <p:txEl>
                                              <p:pRg st="2" end="2"/>
                                            </p:txEl>
                                          </p:spTgt>
                                        </p:tgtEl>
                                        <p:attrNameLst>
                                          <p:attrName>style.visibility</p:attrName>
                                        </p:attrNameLst>
                                      </p:cBhvr>
                                      <p:to>
                                        <p:strVal val="visible"/>
                                      </p:to>
                                    </p:set>
                                    <p:animEffect transition="in" filter="box(out)">
                                      <p:cBhvr additive="repl">
                                        <p:cTn id="279" dur="500"/>
                                        <p:tgtEl>
                                          <p:spTgt spid="14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Text Box 1063"/>
          <p:cNvSpPr/>
          <p:nvPr/>
        </p:nvSpPr>
        <p:spPr>
          <a:xfrm>
            <a:off x="55440" y="127080"/>
            <a:ext cx="4656240" cy="698868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如果高阶系统的根轨迹有可能进入</a:t>
            </a:r>
            <a:r>
              <a:rPr lang="en-US" sz="2800" b="1" i="1" u="none" strike="noStrike">
                <a:solidFill>
                  <a:srgbClr val="000000"/>
                </a:solidFill>
                <a:effectLst/>
                <a:uFillTx/>
                <a:latin typeface="Times New Roman"/>
              </a:rPr>
              <a:t>s </a:t>
            </a:r>
            <a:r>
              <a:rPr lang="zh-CN" sz="2800" b="1" u="none" strike="noStrike">
                <a:solidFill>
                  <a:srgbClr val="000000"/>
                </a:solidFill>
                <a:effectLst/>
                <a:uFillTx/>
                <a:latin typeface="Times New Roman"/>
              </a:rPr>
              <a:t>右半平面，此时根迹与虚轴交点处的</a:t>
            </a:r>
            <a:r>
              <a:rPr lang="en-US" sz="2800" b="1" i="1" u="none" strike="noStrike">
                <a:solidFill>
                  <a:srgbClr val="000000"/>
                </a:solidFill>
                <a:effectLst/>
                <a:uFillTx/>
                <a:latin typeface="Times New Roman"/>
              </a:rPr>
              <a:t>Kg </a:t>
            </a:r>
            <a:r>
              <a:rPr lang="zh-CN" sz="2800" b="1" u="none" strike="noStrike">
                <a:solidFill>
                  <a:srgbClr val="000000"/>
                </a:solidFill>
                <a:effectLst/>
                <a:uFillTx/>
                <a:latin typeface="Times New Roman"/>
              </a:rPr>
              <a:t>值，成为</a:t>
            </a:r>
            <a:r>
              <a:rPr lang="zh-CN" sz="2800" b="1" u="none" strike="noStrike">
                <a:solidFill>
                  <a:srgbClr val="FF0000"/>
                </a:solidFill>
                <a:effectLst/>
                <a:uFillTx/>
                <a:latin typeface="Times New Roman"/>
              </a:rPr>
              <a:t>临界开环增益</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FF0000"/>
                </a:solidFill>
                <a:effectLst/>
                <a:uFillTx/>
                <a:latin typeface="楷体_GB2312"/>
                <a:ea typeface="楷体_GB2312"/>
              </a:rPr>
              <a:t>2.</a:t>
            </a:r>
            <a:r>
              <a:rPr lang="zh-CN" sz="2800" b="1" u="none" strike="noStrike">
                <a:solidFill>
                  <a:srgbClr val="FF0000"/>
                </a:solidFill>
                <a:effectLst/>
                <a:uFillTx/>
                <a:latin typeface="楷体_GB2312"/>
                <a:ea typeface="楷体_GB2312"/>
              </a:rPr>
              <a:t>稳态性能</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rPr>
              <a:t>        </a:t>
            </a:r>
            <a:r>
              <a:rPr lang="zh-CN" sz="2700" b="1" u="none" strike="noStrike">
                <a:solidFill>
                  <a:srgbClr val="000000"/>
                </a:solidFill>
                <a:effectLst/>
                <a:uFillTx/>
                <a:latin typeface="Times New Roman"/>
              </a:rPr>
              <a:t>开环系统在坐标原点有一个极点，系统属于</a:t>
            </a:r>
            <a:r>
              <a:rPr lang="en-US" sz="2700" b="1" u="none" strike="noStrike">
                <a:solidFill>
                  <a:srgbClr val="FF0000"/>
                </a:solidFill>
                <a:effectLst/>
                <a:uFillTx/>
                <a:latin typeface="Times New Roman"/>
              </a:rPr>
              <a:t>1 </a:t>
            </a:r>
            <a:r>
              <a:rPr lang="zh-CN" sz="2700" b="1" u="none" strike="noStrike">
                <a:solidFill>
                  <a:srgbClr val="FF0000"/>
                </a:solidFill>
                <a:effectLst/>
                <a:uFillTx/>
                <a:latin typeface="Times New Roman"/>
              </a:rPr>
              <a:t>型</a:t>
            </a:r>
            <a:r>
              <a:rPr lang="zh-CN" sz="2700" b="1" u="none" strike="noStrike">
                <a:solidFill>
                  <a:srgbClr val="000000"/>
                </a:solidFill>
                <a:effectLst/>
                <a:uFillTx/>
                <a:latin typeface="Times New Roman"/>
              </a:rPr>
              <a:t>系统，因而根规迹上的</a:t>
            </a:r>
            <a:r>
              <a:rPr lang="en-US" sz="2700" b="1" i="1" u="none" strike="noStrike">
                <a:solidFill>
                  <a:srgbClr val="000099"/>
                </a:solidFill>
                <a:effectLst/>
                <a:uFillTx/>
                <a:latin typeface="Times New Roman"/>
              </a:rPr>
              <a:t>Kg </a:t>
            </a:r>
            <a:r>
              <a:rPr lang="zh-CN" sz="2700" b="1" u="none" strike="noStrike">
                <a:solidFill>
                  <a:srgbClr val="000000"/>
                </a:solidFill>
                <a:effectLst/>
                <a:uFillTx/>
                <a:latin typeface="Times New Roman"/>
              </a:rPr>
              <a:t>值就是静态速度误差系数</a:t>
            </a:r>
            <a:r>
              <a:rPr lang="en-US" sz="2700" b="1" i="1" u="none" strike="noStrike">
                <a:solidFill>
                  <a:srgbClr val="000099"/>
                </a:solidFill>
                <a:effectLst/>
                <a:uFillTx/>
                <a:latin typeface="Times New Roman"/>
              </a:rPr>
              <a:t>K</a:t>
            </a:r>
            <a:r>
              <a:rPr lang="en-US" sz="2700" b="1" i="1" u="none" strike="noStrike" baseline="-25000">
                <a:solidFill>
                  <a:srgbClr val="000099"/>
                </a:solidFill>
                <a:effectLst/>
                <a:uFillTx/>
                <a:latin typeface="Times New Roman"/>
              </a:rPr>
              <a:t>v</a:t>
            </a:r>
            <a:r>
              <a:rPr lang="zh-CN" sz="2700" b="1" u="none" strike="noStrike">
                <a:solidFill>
                  <a:srgbClr val="000000"/>
                </a:solidFill>
                <a:effectLst/>
                <a:uFillTx/>
                <a:latin typeface="Times New Roman"/>
              </a:rPr>
              <a:t>。如果</a:t>
            </a:r>
            <a:r>
              <a:rPr lang="zh-CN" sz="2800" b="1" u="none" strike="noStrike">
                <a:solidFill>
                  <a:srgbClr val="000000"/>
                </a:solidFill>
                <a:effectLst/>
                <a:uFillTx/>
                <a:latin typeface="Times New Roman"/>
              </a:rPr>
              <a:t>给定系统对</a:t>
            </a:r>
            <a:r>
              <a:rPr lang="en-US" sz="2800" b="1" i="1" u="none" strike="noStrike">
                <a:solidFill>
                  <a:srgbClr val="000000"/>
                </a:solidFill>
                <a:effectLst/>
                <a:uFillTx/>
                <a:latin typeface="Times New Roman"/>
              </a:rPr>
              <a:t>e</a:t>
            </a:r>
            <a:r>
              <a:rPr lang="en-US" sz="1800" b="1" i="1" u="none" strike="noStrike">
                <a:solidFill>
                  <a:srgbClr val="000000"/>
                </a:solidFill>
                <a:effectLst/>
                <a:uFillTx/>
                <a:latin typeface="Times New Roman"/>
              </a:rPr>
              <a:t>ss</a:t>
            </a:r>
            <a:r>
              <a:rPr lang="en-US" sz="2800" b="1" i="1" u="none" strike="noStrike">
                <a:solidFill>
                  <a:srgbClr val="000000"/>
                </a:solidFill>
                <a:effectLst/>
                <a:uFillTx/>
                <a:latin typeface="Times New Roman"/>
              </a:rPr>
              <a:t> </a:t>
            </a:r>
            <a:r>
              <a:rPr lang="zh-CN" sz="2800" b="1" u="none" strike="noStrike">
                <a:solidFill>
                  <a:srgbClr val="000000"/>
                </a:solidFill>
                <a:effectLst/>
                <a:uFillTx/>
                <a:latin typeface="Times New Roman"/>
              </a:rPr>
              <a:t>有要求，则对</a:t>
            </a:r>
            <a:r>
              <a:rPr lang="en-US" sz="2800" b="1" i="1" u="none" strike="noStrike">
                <a:solidFill>
                  <a:srgbClr val="000099"/>
                </a:solidFill>
                <a:effectLst/>
                <a:uFillTx/>
                <a:latin typeface="Times New Roman"/>
              </a:rPr>
              <a:t>Kg</a:t>
            </a:r>
            <a:r>
              <a:rPr lang="zh-CN" sz="2800" b="1" u="none" strike="noStrike">
                <a:solidFill>
                  <a:srgbClr val="000000"/>
                </a:solidFill>
                <a:effectLst/>
                <a:uFillTx/>
                <a:latin typeface="Times New Roman"/>
              </a:rPr>
              <a:t>有要求，由根迹图可以确定闭环极点位置的容许范围。</a:t>
            </a:r>
            <a:endParaRPr lang="en-US" sz="2800" b="1" u="none" strike="noStrike">
              <a:solidFill>
                <a:srgbClr val="000000"/>
              </a:solidFill>
              <a:effectLst/>
              <a:uFillTx/>
              <a:latin typeface="Times New Roman"/>
            </a:endParaRPr>
          </a:p>
        </p:txBody>
      </p:sp>
      <p:grpSp>
        <p:nvGrpSpPr>
          <p:cNvPr id="143" name="Group 1068"/>
          <p:cNvGrpSpPr/>
          <p:nvPr/>
        </p:nvGrpSpPr>
        <p:grpSpPr>
          <a:xfrm>
            <a:off x="4913280" y="2629080"/>
            <a:ext cx="4209840" cy="4153680"/>
            <a:chOff x="4913280" y="2629080"/>
            <a:chExt cx="4209840" cy="4153680"/>
          </a:xfrm>
        </p:grpSpPr>
        <p:sp>
          <p:nvSpPr>
            <p:cNvPr id="144" name="Rectangle 1069"/>
            <p:cNvSpPr/>
            <p:nvPr/>
          </p:nvSpPr>
          <p:spPr>
            <a:xfrm>
              <a:off x="5217840" y="4915080"/>
              <a:ext cx="6854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a:t>
              </a:r>
              <a:endParaRPr lang="en-US" sz="2800" b="1" u="none" strike="noStrike">
                <a:solidFill>
                  <a:srgbClr val="000000"/>
                </a:solidFill>
                <a:effectLst/>
                <a:uFillTx/>
                <a:latin typeface="Times New Roman"/>
              </a:endParaRPr>
            </a:p>
          </p:txBody>
        </p:sp>
        <p:grpSp>
          <p:nvGrpSpPr>
            <p:cNvPr id="145" name="Group 1070"/>
            <p:cNvGrpSpPr/>
            <p:nvPr/>
          </p:nvGrpSpPr>
          <p:grpSpPr>
            <a:xfrm>
              <a:off x="4913280" y="2629080"/>
              <a:ext cx="4209840" cy="4150800"/>
              <a:chOff x="4913280" y="2629080"/>
              <a:chExt cx="4209840" cy="4150800"/>
            </a:xfrm>
          </p:grpSpPr>
          <p:sp>
            <p:nvSpPr>
              <p:cNvPr id="146" name="Line 1071"/>
              <p:cNvSpPr/>
              <p:nvPr/>
            </p:nvSpPr>
            <p:spPr>
              <a:xfrm flipV="1">
                <a:off x="7934040" y="2754360"/>
                <a:ext cx="0" cy="402552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47" name="Line 1072"/>
              <p:cNvSpPr/>
              <p:nvPr/>
            </p:nvSpPr>
            <p:spPr>
              <a:xfrm>
                <a:off x="4913280" y="4876560"/>
                <a:ext cx="384336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48" name="Rectangle 1073"/>
              <p:cNvSpPr/>
              <p:nvPr/>
            </p:nvSpPr>
            <p:spPr>
              <a:xfrm>
                <a:off x="7739280" y="262908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149" name="Rectangle 1074"/>
              <p:cNvSpPr/>
              <p:nvPr/>
            </p:nvSpPr>
            <p:spPr>
              <a:xfrm>
                <a:off x="8606160" y="4619520"/>
                <a:ext cx="51696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50" name="Rectangle 1075"/>
              <p:cNvSpPr/>
              <p:nvPr/>
            </p:nvSpPr>
            <p:spPr>
              <a:xfrm>
                <a:off x="7873920" y="49086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151" name="Group 1076"/>
            <p:cNvGrpSpPr/>
            <p:nvPr/>
          </p:nvGrpSpPr>
          <p:grpSpPr>
            <a:xfrm>
              <a:off x="7789320" y="4739040"/>
              <a:ext cx="286920" cy="289800"/>
              <a:chOff x="7789320" y="4739040"/>
              <a:chExt cx="286920" cy="289800"/>
            </a:xfrm>
          </p:grpSpPr>
          <p:sp>
            <p:nvSpPr>
              <p:cNvPr id="152" name="Line 1077"/>
              <p:cNvSpPr/>
              <p:nvPr/>
            </p:nvSpPr>
            <p:spPr>
              <a:xfrm>
                <a:off x="7792560" y="4746600"/>
                <a:ext cx="282240" cy="28224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53" name="Line 1078"/>
              <p:cNvSpPr/>
              <p:nvPr/>
            </p:nvSpPr>
            <p:spPr>
              <a:xfrm flipH="1">
                <a:off x="7789320" y="4739040"/>
                <a:ext cx="286920" cy="28692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54" name="Rectangle 1079"/>
            <p:cNvSpPr/>
            <p:nvPr/>
          </p:nvSpPr>
          <p:spPr>
            <a:xfrm>
              <a:off x="6816600" y="4816800"/>
              <a:ext cx="6854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endParaRPr lang="en-US" sz="2800" b="1" u="none" strike="noStrike">
                <a:solidFill>
                  <a:srgbClr val="000000"/>
                </a:solidFill>
                <a:effectLst/>
                <a:uFillTx/>
                <a:latin typeface="Times New Roman"/>
              </a:endParaRPr>
            </a:p>
          </p:txBody>
        </p:sp>
        <p:grpSp>
          <p:nvGrpSpPr>
            <p:cNvPr id="155" name="Group 1080"/>
            <p:cNvGrpSpPr/>
            <p:nvPr/>
          </p:nvGrpSpPr>
          <p:grpSpPr>
            <a:xfrm>
              <a:off x="6818040" y="4876920"/>
              <a:ext cx="1066320" cy="0"/>
              <a:chOff x="6818040" y="4876920"/>
              <a:chExt cx="1066320" cy="0"/>
            </a:xfrm>
          </p:grpSpPr>
          <p:sp>
            <p:nvSpPr>
              <p:cNvPr id="156" name="Line 1081"/>
              <p:cNvSpPr/>
              <p:nvPr/>
            </p:nvSpPr>
            <p:spPr>
              <a:xfrm flipH="1">
                <a:off x="6818040" y="4876920"/>
                <a:ext cx="1066320" cy="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57" name="Line 1082"/>
              <p:cNvSpPr/>
              <p:nvPr/>
            </p:nvSpPr>
            <p:spPr>
              <a:xfrm>
                <a:off x="7206840" y="4876920"/>
                <a:ext cx="296280" cy="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58" name="Line 1083"/>
            <p:cNvSpPr/>
            <p:nvPr/>
          </p:nvSpPr>
          <p:spPr>
            <a:xfrm>
              <a:off x="6818040" y="4724640"/>
              <a:ext cx="0" cy="152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159" name="Group 1084"/>
            <p:cNvGrpSpPr/>
            <p:nvPr/>
          </p:nvGrpSpPr>
          <p:grpSpPr>
            <a:xfrm>
              <a:off x="5751360" y="4876920"/>
              <a:ext cx="1066320" cy="0"/>
              <a:chOff x="5751360" y="4876920"/>
              <a:chExt cx="1066320" cy="0"/>
            </a:xfrm>
          </p:grpSpPr>
          <p:sp>
            <p:nvSpPr>
              <p:cNvPr id="160" name="Line 1085"/>
              <p:cNvSpPr/>
              <p:nvPr/>
            </p:nvSpPr>
            <p:spPr>
              <a:xfrm flipH="1">
                <a:off x="5751360" y="4876920"/>
                <a:ext cx="106632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61" name="Line 1086"/>
              <p:cNvSpPr/>
              <p:nvPr/>
            </p:nvSpPr>
            <p:spPr>
              <a:xfrm>
                <a:off x="6048000" y="4876920"/>
                <a:ext cx="29628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62" name="Rectangle 1087"/>
            <p:cNvSpPr/>
            <p:nvPr/>
          </p:nvSpPr>
          <p:spPr>
            <a:xfrm>
              <a:off x="7968600" y="423396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163" name="Rectangle 1088"/>
            <p:cNvSpPr/>
            <p:nvPr/>
          </p:nvSpPr>
          <p:spPr>
            <a:xfrm>
              <a:off x="5357160" y="423396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164" name="Rectangle 1089"/>
            <p:cNvSpPr/>
            <p:nvPr/>
          </p:nvSpPr>
          <p:spPr>
            <a:xfrm>
              <a:off x="6832440" y="4289760"/>
              <a:ext cx="9601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165" name="Rectangle 1090"/>
            <p:cNvSpPr/>
            <p:nvPr/>
          </p:nvSpPr>
          <p:spPr>
            <a:xfrm>
              <a:off x="6832440" y="2919600"/>
              <a:ext cx="117576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66" name="Rectangle 1091"/>
            <p:cNvSpPr/>
            <p:nvPr/>
          </p:nvSpPr>
          <p:spPr>
            <a:xfrm>
              <a:off x="6832440" y="6323040"/>
              <a:ext cx="12394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67" name="Line 1092"/>
            <p:cNvSpPr/>
            <p:nvPr/>
          </p:nvSpPr>
          <p:spPr>
            <a:xfrm>
              <a:off x="5660640" y="4691160"/>
              <a:ext cx="0" cy="200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168" name="Group 1093"/>
            <p:cNvGrpSpPr/>
            <p:nvPr/>
          </p:nvGrpSpPr>
          <p:grpSpPr>
            <a:xfrm>
              <a:off x="6829200" y="4856400"/>
              <a:ext cx="2880" cy="1903320"/>
              <a:chOff x="6829200" y="4856400"/>
              <a:chExt cx="2880" cy="1903320"/>
            </a:xfrm>
          </p:grpSpPr>
          <p:sp>
            <p:nvSpPr>
              <p:cNvPr id="169" name="Line 1094"/>
              <p:cNvSpPr/>
              <p:nvPr/>
            </p:nvSpPr>
            <p:spPr>
              <a:xfrm>
                <a:off x="6829200" y="4856400"/>
                <a:ext cx="0" cy="190332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70" name="Line 1095"/>
              <p:cNvSpPr/>
              <p:nvPr/>
            </p:nvSpPr>
            <p:spPr>
              <a:xfrm flipV="1">
                <a:off x="6832080" y="5781600"/>
                <a:ext cx="0" cy="29844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71" name="Group 1096"/>
            <p:cNvGrpSpPr/>
            <p:nvPr/>
          </p:nvGrpSpPr>
          <p:grpSpPr>
            <a:xfrm>
              <a:off x="6832440" y="2952720"/>
              <a:ext cx="0" cy="1903320"/>
              <a:chOff x="6832440" y="2952720"/>
              <a:chExt cx="0" cy="1903320"/>
            </a:xfrm>
          </p:grpSpPr>
          <p:sp>
            <p:nvSpPr>
              <p:cNvPr id="172" name="Line 1097"/>
              <p:cNvSpPr/>
              <p:nvPr/>
            </p:nvSpPr>
            <p:spPr>
              <a:xfrm flipV="1">
                <a:off x="6832440" y="2952720"/>
                <a:ext cx="0" cy="190332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73" name="Line 1098"/>
              <p:cNvSpPr/>
              <p:nvPr/>
            </p:nvSpPr>
            <p:spPr>
              <a:xfrm>
                <a:off x="6832440" y="3659040"/>
                <a:ext cx="0" cy="29844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74" name="Group 1099"/>
            <p:cNvGrpSpPr/>
            <p:nvPr/>
          </p:nvGrpSpPr>
          <p:grpSpPr>
            <a:xfrm>
              <a:off x="5522400" y="4730760"/>
              <a:ext cx="286920" cy="290520"/>
              <a:chOff x="5522400" y="4730760"/>
              <a:chExt cx="286920" cy="290520"/>
            </a:xfrm>
          </p:grpSpPr>
          <p:sp>
            <p:nvSpPr>
              <p:cNvPr id="175" name="Line 1100"/>
              <p:cNvSpPr/>
              <p:nvPr/>
            </p:nvSpPr>
            <p:spPr>
              <a:xfrm>
                <a:off x="5525640" y="4738680"/>
                <a:ext cx="28224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76" name="Line 1101"/>
              <p:cNvSpPr/>
              <p:nvPr/>
            </p:nvSpPr>
            <p:spPr>
              <a:xfrm flipH="1">
                <a:off x="5522400" y="4730760"/>
                <a:ext cx="28692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pic>
        <p:nvPicPr>
          <p:cNvPr id="177" name="Picture 1143"/>
          <p:cNvPicPr/>
          <p:nvPr/>
        </p:nvPicPr>
        <p:blipFill>
          <a:blip r:embed="rId1"/>
          <a:stretch/>
        </p:blipFill>
        <p:spPr>
          <a:xfrm>
            <a:off x="4719600" y="274680"/>
            <a:ext cx="1892160" cy="2873160"/>
          </a:xfrm>
          <a:prstGeom prst="rect">
            <a:avLst/>
          </a:prstGeom>
          <a:noFill/>
          <a:ln w="0">
            <a:noFill/>
          </a:ln>
        </p:spPr>
      </p:pic>
    </p:spTree>
  </p:cSld>
  <mc:AlternateContent>
    <mc:Choice Requires="p14">
      <p:transition spd="slow" p14:dur="2000"/>
    </mc:Choice>
    <mc:Fallback>
      <p:transition spd="slow"/>
    </mc:Fallback>
  </mc:AlternateContent>
  <p:timing>
    <p:tnLst>
      <p:par>
        <p:cTn id="280" dur="indefinite" restart="never" nodeType="tmRoot">
          <p:childTnLst>
            <p:seq>
              <p:cTn id="281" dur="indefinite" nodeType="mainSeq">
                <p:childTnLst>
                  <p:par>
                    <p:cTn id="282" fill="hold" nodeType="clickEffect">
                      <p:stCondLst>
                        <p:cond delay="indefinite"/>
                      </p:stCondLst>
                      <p:childTnLst>
                        <p:par>
                          <p:cTn id="283" fill="hold" nodeType="withEffect">
                            <p:stCondLst>
                              <p:cond delay="0"/>
                            </p:stCondLst>
                            <p:childTnLst>
                              <p:par>
                                <p:cTn id="284" presetID="5" presetClass="entr" fill="hold" nodeType="clickEffect" presetSubtype="5">
                                  <p:stCondLst>
                                    <p:cond delay="0"/>
                                  </p:stCondLst>
                                  <p:childTnLst>
                                    <p:set>
                                      <p:cBhvr>
                                        <p:cTn id="285" dur="1" fill="hold">
                                          <p:stCondLst>
                                            <p:cond delay="0"/>
                                          </p:stCondLst>
                                        </p:cTn>
                                        <p:tgtEl>
                                          <p:spTgt spid="142">
                                            <p:txEl>
                                              <p:pRg st="0" end="0"/>
                                            </p:txEl>
                                          </p:spTgt>
                                        </p:tgtEl>
                                        <p:attrNameLst>
                                          <p:attrName>style.visibility</p:attrName>
                                        </p:attrNameLst>
                                      </p:cBhvr>
                                      <p:to>
                                        <p:strVal val="visible"/>
                                      </p:to>
                                    </p:set>
                                    <p:animEffect transition="in" filter="checkerboard(down)">
                                      <p:cBhvr additive="repl">
                                        <p:cTn id="286" dur="500"/>
                                        <p:tgtEl>
                                          <p:spTgt spid="142">
                                            <p:txEl>
                                              <p:pRg st="0" end="0"/>
                                            </p:txEl>
                                          </p:spTgt>
                                        </p:tgtEl>
                                      </p:cBhvr>
                                    </p:animEffect>
                                  </p:childTnLst>
                                </p:cTn>
                              </p:par>
                            </p:childTnLst>
                          </p:cTn>
                        </p:par>
                      </p:childTnLst>
                    </p:cTn>
                  </p:par>
                  <p:par>
                    <p:cTn id="287" fill="hold" nodeType="clickEffect">
                      <p:stCondLst>
                        <p:cond delay="indefinite"/>
                      </p:stCondLst>
                      <p:childTnLst>
                        <p:par>
                          <p:cTn id="288" fill="hold" nodeType="withEffect">
                            <p:stCondLst>
                              <p:cond delay="0"/>
                            </p:stCondLst>
                            <p:childTnLst>
                              <p:par>
                                <p:cTn id="289" presetID="5" presetClass="entr" fill="hold" nodeType="clickEffect" presetSubtype="5">
                                  <p:stCondLst>
                                    <p:cond delay="0"/>
                                  </p:stCondLst>
                                  <p:childTnLst>
                                    <p:set>
                                      <p:cBhvr>
                                        <p:cTn id="290" dur="1" fill="hold">
                                          <p:stCondLst>
                                            <p:cond delay="0"/>
                                          </p:stCondLst>
                                        </p:cTn>
                                        <p:tgtEl>
                                          <p:spTgt spid="142">
                                            <p:txEl>
                                              <p:pRg st="1" end="1"/>
                                            </p:txEl>
                                          </p:spTgt>
                                        </p:tgtEl>
                                        <p:attrNameLst>
                                          <p:attrName>style.visibility</p:attrName>
                                        </p:attrNameLst>
                                      </p:cBhvr>
                                      <p:to>
                                        <p:strVal val="visible"/>
                                      </p:to>
                                    </p:set>
                                    <p:animEffect transition="in" filter="checkerboard(down)">
                                      <p:cBhvr additive="repl">
                                        <p:cTn id="291" dur="500"/>
                                        <p:tgtEl>
                                          <p:spTgt spid="142">
                                            <p:txEl>
                                              <p:pRg st="1" end="1"/>
                                            </p:txEl>
                                          </p:spTgt>
                                        </p:tgtEl>
                                      </p:cBhvr>
                                    </p:animEffect>
                                  </p:childTnLst>
                                </p:cTn>
                              </p:par>
                            </p:childTnLst>
                          </p:cTn>
                        </p:par>
                      </p:childTnLst>
                    </p:cTn>
                  </p:par>
                  <p:par>
                    <p:cTn id="292" fill="hold" nodeType="clickEffect">
                      <p:stCondLst>
                        <p:cond delay="indefinite"/>
                      </p:stCondLst>
                      <p:childTnLst>
                        <p:par>
                          <p:cTn id="293" fill="hold" nodeType="withEffect">
                            <p:stCondLst>
                              <p:cond delay="0"/>
                            </p:stCondLst>
                            <p:childTnLst>
                              <p:par>
                                <p:cTn id="294" presetID="5" presetClass="entr" fill="hold" nodeType="clickEffect" presetSubtype="5">
                                  <p:stCondLst>
                                    <p:cond delay="0"/>
                                  </p:stCondLst>
                                  <p:childTnLst>
                                    <p:set>
                                      <p:cBhvr>
                                        <p:cTn id="295" dur="1" fill="hold">
                                          <p:stCondLst>
                                            <p:cond delay="0"/>
                                          </p:stCondLst>
                                        </p:cTn>
                                        <p:tgtEl>
                                          <p:spTgt spid="142">
                                            <p:txEl>
                                              <p:pRg st="2" end="2"/>
                                            </p:txEl>
                                          </p:spTgt>
                                        </p:tgtEl>
                                        <p:attrNameLst>
                                          <p:attrName>style.visibility</p:attrName>
                                        </p:attrNameLst>
                                      </p:cBhvr>
                                      <p:to>
                                        <p:strVal val="visible"/>
                                      </p:to>
                                    </p:set>
                                    <p:animEffect transition="in" filter="checkerboard(down)">
                                      <p:cBhvr additive="repl">
                                        <p:cTn id="296" dur="500"/>
                                        <p:tgtEl>
                                          <p:spTgt spid="14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8" name="Group 41"/>
          <p:cNvGrpSpPr/>
          <p:nvPr/>
        </p:nvGrpSpPr>
        <p:grpSpPr>
          <a:xfrm>
            <a:off x="4611600" y="2378160"/>
            <a:ext cx="4209840" cy="4153680"/>
            <a:chOff x="4611600" y="2378160"/>
            <a:chExt cx="4209840" cy="4153680"/>
          </a:xfrm>
        </p:grpSpPr>
        <p:sp>
          <p:nvSpPr>
            <p:cNvPr id="179" name="Rectangle 42"/>
            <p:cNvSpPr/>
            <p:nvPr/>
          </p:nvSpPr>
          <p:spPr>
            <a:xfrm>
              <a:off x="4916160" y="4664160"/>
              <a:ext cx="6854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a:t>
              </a:r>
              <a:endParaRPr lang="en-US" sz="2800" b="1" u="none" strike="noStrike">
                <a:solidFill>
                  <a:srgbClr val="000000"/>
                </a:solidFill>
                <a:effectLst/>
                <a:uFillTx/>
                <a:latin typeface="Times New Roman"/>
              </a:endParaRPr>
            </a:p>
          </p:txBody>
        </p:sp>
        <p:grpSp>
          <p:nvGrpSpPr>
            <p:cNvPr id="180" name="Group 43"/>
            <p:cNvGrpSpPr/>
            <p:nvPr/>
          </p:nvGrpSpPr>
          <p:grpSpPr>
            <a:xfrm>
              <a:off x="4611600" y="2378160"/>
              <a:ext cx="4209840" cy="4150800"/>
              <a:chOff x="4611600" y="2378160"/>
              <a:chExt cx="4209840" cy="4150800"/>
            </a:xfrm>
          </p:grpSpPr>
          <p:sp>
            <p:nvSpPr>
              <p:cNvPr id="181" name="Line 44"/>
              <p:cNvSpPr/>
              <p:nvPr/>
            </p:nvSpPr>
            <p:spPr>
              <a:xfrm flipV="1">
                <a:off x="7632360" y="2503440"/>
                <a:ext cx="0" cy="402552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82" name="Line 45"/>
              <p:cNvSpPr/>
              <p:nvPr/>
            </p:nvSpPr>
            <p:spPr>
              <a:xfrm>
                <a:off x="4611600" y="4625640"/>
                <a:ext cx="384336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83" name="Rectangle 46"/>
              <p:cNvSpPr/>
              <p:nvPr/>
            </p:nvSpPr>
            <p:spPr>
              <a:xfrm>
                <a:off x="7437600" y="237816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184" name="Rectangle 47"/>
              <p:cNvSpPr/>
              <p:nvPr/>
            </p:nvSpPr>
            <p:spPr>
              <a:xfrm>
                <a:off x="8304480" y="4368600"/>
                <a:ext cx="51696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85" name="Rectangle 48"/>
              <p:cNvSpPr/>
              <p:nvPr/>
            </p:nvSpPr>
            <p:spPr>
              <a:xfrm>
                <a:off x="7572240" y="465768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186" name="Group 49"/>
            <p:cNvGrpSpPr/>
            <p:nvPr/>
          </p:nvGrpSpPr>
          <p:grpSpPr>
            <a:xfrm>
              <a:off x="7487640" y="4488120"/>
              <a:ext cx="286920" cy="289800"/>
              <a:chOff x="7487640" y="4488120"/>
              <a:chExt cx="286920" cy="289800"/>
            </a:xfrm>
          </p:grpSpPr>
          <p:sp>
            <p:nvSpPr>
              <p:cNvPr id="187" name="Line 50"/>
              <p:cNvSpPr/>
              <p:nvPr/>
            </p:nvSpPr>
            <p:spPr>
              <a:xfrm>
                <a:off x="7490880" y="4495680"/>
                <a:ext cx="282240" cy="28224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88" name="Line 51"/>
              <p:cNvSpPr/>
              <p:nvPr/>
            </p:nvSpPr>
            <p:spPr>
              <a:xfrm flipH="1">
                <a:off x="7487640" y="4488120"/>
                <a:ext cx="286920" cy="28692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89" name="Rectangle 52"/>
            <p:cNvSpPr/>
            <p:nvPr/>
          </p:nvSpPr>
          <p:spPr>
            <a:xfrm>
              <a:off x="6514920" y="4565880"/>
              <a:ext cx="6854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endParaRPr lang="en-US" sz="2800" b="1" u="none" strike="noStrike">
                <a:solidFill>
                  <a:srgbClr val="000000"/>
                </a:solidFill>
                <a:effectLst/>
                <a:uFillTx/>
                <a:latin typeface="Times New Roman"/>
              </a:endParaRPr>
            </a:p>
          </p:txBody>
        </p:sp>
        <p:grpSp>
          <p:nvGrpSpPr>
            <p:cNvPr id="190" name="Group 53"/>
            <p:cNvGrpSpPr/>
            <p:nvPr/>
          </p:nvGrpSpPr>
          <p:grpSpPr>
            <a:xfrm>
              <a:off x="6516360" y="4626000"/>
              <a:ext cx="1066320" cy="0"/>
              <a:chOff x="6516360" y="4626000"/>
              <a:chExt cx="1066320" cy="0"/>
            </a:xfrm>
          </p:grpSpPr>
          <p:sp>
            <p:nvSpPr>
              <p:cNvPr id="191" name="Line 54"/>
              <p:cNvSpPr/>
              <p:nvPr/>
            </p:nvSpPr>
            <p:spPr>
              <a:xfrm flipH="1">
                <a:off x="6516360" y="4626000"/>
                <a:ext cx="1066320" cy="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92" name="Line 55"/>
              <p:cNvSpPr/>
              <p:nvPr/>
            </p:nvSpPr>
            <p:spPr>
              <a:xfrm>
                <a:off x="6905160" y="4626000"/>
                <a:ext cx="296280" cy="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93" name="Line 56"/>
            <p:cNvSpPr/>
            <p:nvPr/>
          </p:nvSpPr>
          <p:spPr>
            <a:xfrm>
              <a:off x="6516360" y="4473720"/>
              <a:ext cx="0" cy="152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194" name="Group 57"/>
            <p:cNvGrpSpPr/>
            <p:nvPr/>
          </p:nvGrpSpPr>
          <p:grpSpPr>
            <a:xfrm>
              <a:off x="5449680" y="4626000"/>
              <a:ext cx="1066320" cy="0"/>
              <a:chOff x="5449680" y="4626000"/>
              <a:chExt cx="1066320" cy="0"/>
            </a:xfrm>
          </p:grpSpPr>
          <p:sp>
            <p:nvSpPr>
              <p:cNvPr id="195" name="Line 58"/>
              <p:cNvSpPr/>
              <p:nvPr/>
            </p:nvSpPr>
            <p:spPr>
              <a:xfrm flipH="1">
                <a:off x="5449680" y="4626000"/>
                <a:ext cx="106632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96" name="Line 59"/>
              <p:cNvSpPr/>
              <p:nvPr/>
            </p:nvSpPr>
            <p:spPr>
              <a:xfrm>
                <a:off x="5746320" y="4626000"/>
                <a:ext cx="29628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97" name="Rectangle 60"/>
            <p:cNvSpPr/>
            <p:nvPr/>
          </p:nvSpPr>
          <p:spPr>
            <a:xfrm>
              <a:off x="7666920" y="398304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198" name="Rectangle 61"/>
            <p:cNvSpPr/>
            <p:nvPr/>
          </p:nvSpPr>
          <p:spPr>
            <a:xfrm>
              <a:off x="5055480" y="3983040"/>
              <a:ext cx="9385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199" name="Rectangle 62"/>
            <p:cNvSpPr/>
            <p:nvPr/>
          </p:nvSpPr>
          <p:spPr>
            <a:xfrm>
              <a:off x="6530760" y="4038840"/>
              <a:ext cx="9601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200" name="Rectangle 63"/>
            <p:cNvSpPr/>
            <p:nvPr/>
          </p:nvSpPr>
          <p:spPr>
            <a:xfrm>
              <a:off x="6530760" y="2668680"/>
              <a:ext cx="117576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201" name="Rectangle 64"/>
            <p:cNvSpPr/>
            <p:nvPr/>
          </p:nvSpPr>
          <p:spPr>
            <a:xfrm>
              <a:off x="6530760" y="6072120"/>
              <a:ext cx="12394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202" name="Line 65"/>
            <p:cNvSpPr/>
            <p:nvPr/>
          </p:nvSpPr>
          <p:spPr>
            <a:xfrm>
              <a:off x="5358960" y="4440240"/>
              <a:ext cx="0" cy="200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203" name="Group 66"/>
            <p:cNvGrpSpPr/>
            <p:nvPr/>
          </p:nvGrpSpPr>
          <p:grpSpPr>
            <a:xfrm>
              <a:off x="6527520" y="4605480"/>
              <a:ext cx="2880" cy="1903320"/>
              <a:chOff x="6527520" y="4605480"/>
              <a:chExt cx="2880" cy="1903320"/>
            </a:xfrm>
          </p:grpSpPr>
          <p:sp>
            <p:nvSpPr>
              <p:cNvPr id="204" name="Line 67"/>
              <p:cNvSpPr/>
              <p:nvPr/>
            </p:nvSpPr>
            <p:spPr>
              <a:xfrm>
                <a:off x="6527520" y="4605480"/>
                <a:ext cx="0" cy="190332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05" name="Line 68"/>
              <p:cNvSpPr/>
              <p:nvPr/>
            </p:nvSpPr>
            <p:spPr>
              <a:xfrm flipV="1">
                <a:off x="6530400" y="5530680"/>
                <a:ext cx="0" cy="29844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206" name="Group 69"/>
            <p:cNvGrpSpPr/>
            <p:nvPr/>
          </p:nvGrpSpPr>
          <p:grpSpPr>
            <a:xfrm>
              <a:off x="6530760" y="2701800"/>
              <a:ext cx="0" cy="1903320"/>
              <a:chOff x="6530760" y="2701800"/>
              <a:chExt cx="0" cy="1903320"/>
            </a:xfrm>
          </p:grpSpPr>
          <p:sp>
            <p:nvSpPr>
              <p:cNvPr id="207" name="Line 70"/>
              <p:cNvSpPr/>
              <p:nvPr/>
            </p:nvSpPr>
            <p:spPr>
              <a:xfrm flipV="1">
                <a:off x="6530760" y="2701800"/>
                <a:ext cx="0" cy="190332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08" name="Line 71"/>
              <p:cNvSpPr/>
              <p:nvPr/>
            </p:nvSpPr>
            <p:spPr>
              <a:xfrm>
                <a:off x="6530760" y="3408120"/>
                <a:ext cx="0" cy="29844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209" name="Group 72"/>
            <p:cNvGrpSpPr/>
            <p:nvPr/>
          </p:nvGrpSpPr>
          <p:grpSpPr>
            <a:xfrm>
              <a:off x="5220720" y="4479840"/>
              <a:ext cx="286920" cy="290520"/>
              <a:chOff x="5220720" y="4479840"/>
              <a:chExt cx="286920" cy="290520"/>
            </a:xfrm>
          </p:grpSpPr>
          <p:sp>
            <p:nvSpPr>
              <p:cNvPr id="210" name="Line 73"/>
              <p:cNvSpPr/>
              <p:nvPr/>
            </p:nvSpPr>
            <p:spPr>
              <a:xfrm>
                <a:off x="5223960" y="4487760"/>
                <a:ext cx="28224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11" name="Line 74"/>
              <p:cNvSpPr/>
              <p:nvPr/>
            </p:nvSpPr>
            <p:spPr>
              <a:xfrm flipH="1">
                <a:off x="5220720" y="4479840"/>
                <a:ext cx="28692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sp>
        <p:nvSpPr>
          <p:cNvPr id="212" name="Text Box 75"/>
          <p:cNvSpPr/>
          <p:nvPr/>
        </p:nvSpPr>
        <p:spPr>
          <a:xfrm>
            <a:off x="155520" y="179280"/>
            <a:ext cx="8891640" cy="214308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FF0000"/>
                </a:solidFill>
                <a:effectLst/>
                <a:uFillTx/>
                <a:latin typeface="楷体_GB2312"/>
                <a:ea typeface="楷体_GB2312"/>
              </a:rPr>
              <a:t>3. </a:t>
            </a:r>
            <a:r>
              <a:rPr lang="zh-CN" sz="2800" b="1" u="none" strike="noStrike">
                <a:solidFill>
                  <a:srgbClr val="FF0000"/>
                </a:solidFill>
                <a:effectLst/>
                <a:uFillTx/>
                <a:latin typeface="楷体_GB2312"/>
                <a:ea typeface="楷体_GB2312"/>
              </a:rPr>
              <a:t>动态性能</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由图可见，</a:t>
            </a:r>
            <a:r>
              <a:rPr lang="zh-CN" sz="2800" b="1" u="none" strike="noStrike">
                <a:solidFill>
                  <a:srgbClr val="FF0000"/>
                </a:solidFill>
                <a:effectLst/>
                <a:uFillTx/>
                <a:latin typeface="Times New Roman"/>
              </a:rPr>
              <a:t>当</a:t>
            </a:r>
            <a:r>
              <a:rPr lang="en-US" sz="2800" b="1" u="none" strike="noStrike">
                <a:solidFill>
                  <a:srgbClr val="FF0000"/>
                </a:solidFill>
                <a:effectLst/>
                <a:uFillTx/>
                <a:latin typeface="Times New Roman"/>
              </a:rPr>
              <a:t>0 &lt; </a:t>
            </a:r>
            <a:r>
              <a:rPr lang="en-US" sz="2800" b="1" i="1" u="none" strike="noStrike">
                <a:solidFill>
                  <a:srgbClr val="FF0000"/>
                </a:solidFill>
                <a:effectLst/>
                <a:uFillTx/>
                <a:latin typeface="Times New Roman"/>
              </a:rPr>
              <a:t>Kg</a:t>
            </a:r>
            <a:r>
              <a:rPr lang="en-US" sz="2800" b="1" u="none" strike="noStrike">
                <a:solidFill>
                  <a:srgbClr val="FF0000"/>
                </a:solidFill>
                <a:effectLst/>
                <a:uFillTx/>
                <a:latin typeface="Times New Roman"/>
              </a:rPr>
              <a:t>&lt; 1</a:t>
            </a:r>
            <a:r>
              <a:rPr lang="zh-CN" sz="2800" b="1" u="none" strike="noStrike">
                <a:solidFill>
                  <a:srgbClr val="FF0000"/>
                </a:solidFill>
                <a:effectLst/>
                <a:uFillTx/>
                <a:latin typeface="Times New Roman"/>
              </a:rPr>
              <a:t>时</a:t>
            </a:r>
            <a:r>
              <a:rPr lang="zh-CN" sz="2800" b="1" u="none" strike="noStrike">
                <a:solidFill>
                  <a:srgbClr val="000000"/>
                </a:solidFill>
                <a:effectLst/>
                <a:uFillTx/>
                <a:latin typeface="Times New Roman"/>
              </a:rPr>
              <a:t>，闭环极点均位于负实轴上，系统为</a:t>
            </a:r>
            <a:r>
              <a:rPr lang="zh-CN" sz="2800" b="1" u="none" strike="noStrike">
                <a:solidFill>
                  <a:srgbClr val="FF0000"/>
                </a:solidFill>
                <a:effectLst/>
                <a:uFillTx/>
                <a:latin typeface="Times New Roman"/>
              </a:rPr>
              <a:t>过阻尼</a:t>
            </a:r>
            <a:r>
              <a:rPr lang="zh-CN" sz="2800" b="1" u="none" strike="noStrike">
                <a:solidFill>
                  <a:srgbClr val="000000"/>
                </a:solidFill>
                <a:effectLst/>
                <a:uFillTx/>
                <a:latin typeface="Times New Roman"/>
              </a:rPr>
              <a:t>系统，单位阶跃响应为非周期过程。</a:t>
            </a:r>
            <a:endParaRPr lang="en-US" sz="2800" b="1" u="none" strike="noStrike">
              <a:solidFill>
                <a:srgbClr val="000000"/>
              </a:solidFill>
              <a:effectLst/>
              <a:uFillTx/>
              <a:latin typeface="Times New Roman"/>
            </a:endParaRPr>
          </a:p>
        </p:txBody>
      </p:sp>
      <p:sp>
        <p:nvSpPr>
          <p:cNvPr id="213" name="Text Box 76"/>
          <p:cNvSpPr/>
          <p:nvPr/>
        </p:nvSpPr>
        <p:spPr>
          <a:xfrm>
            <a:off x="155520" y="1809720"/>
            <a:ext cx="4151520" cy="470448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当 </a:t>
            </a:r>
            <a:r>
              <a:rPr lang="en-US" sz="2800" b="1" i="1" u="none" strike="noStrike">
                <a:solidFill>
                  <a:srgbClr val="FF0000"/>
                </a:solidFill>
                <a:effectLst/>
                <a:uFillTx/>
                <a:latin typeface="Times New Roman"/>
              </a:rPr>
              <a:t>Kg</a:t>
            </a:r>
            <a:r>
              <a:rPr lang="en-US" sz="2800" b="1" u="none" strike="noStrike">
                <a:solidFill>
                  <a:srgbClr val="FF0000"/>
                </a:solidFill>
                <a:effectLst/>
                <a:uFillTx/>
                <a:latin typeface="Times New Roman"/>
              </a:rPr>
              <a:t> = 1</a:t>
            </a:r>
            <a:r>
              <a:rPr lang="zh-CN" sz="2800" b="1" u="none" strike="noStrike">
                <a:solidFill>
                  <a:srgbClr val="000000"/>
                </a:solidFill>
                <a:effectLst/>
                <a:uFillTx/>
                <a:latin typeface="Times New Roman"/>
              </a:rPr>
              <a:t>时，闭环两个实极点重合，系统为</a:t>
            </a:r>
            <a:r>
              <a:rPr lang="zh-CN" sz="2800" b="1" u="none" strike="noStrike">
                <a:solidFill>
                  <a:srgbClr val="FF0000"/>
                </a:solidFill>
                <a:effectLst/>
                <a:uFillTx/>
                <a:latin typeface="Times New Roman"/>
              </a:rPr>
              <a:t>临界阻尼</a:t>
            </a:r>
            <a:r>
              <a:rPr lang="zh-CN" sz="2800" b="1" u="none" strike="noStrike">
                <a:solidFill>
                  <a:srgbClr val="000000"/>
                </a:solidFill>
                <a:effectLst/>
                <a:uFillTx/>
                <a:latin typeface="Times New Roman"/>
              </a:rPr>
              <a:t>系统，单位阶跃响应为非周期过程。</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当</a:t>
            </a:r>
            <a:r>
              <a:rPr lang="en-US" sz="2800" b="1" i="1" u="none" strike="noStrike">
                <a:solidFill>
                  <a:srgbClr val="FF0000"/>
                </a:solidFill>
                <a:effectLst/>
                <a:uFillTx/>
                <a:latin typeface="Times New Roman"/>
              </a:rPr>
              <a:t>Kg &gt; 1</a:t>
            </a:r>
            <a:r>
              <a:rPr lang="zh-CN" sz="2800" b="1" u="none" strike="noStrike">
                <a:solidFill>
                  <a:srgbClr val="000000"/>
                </a:solidFill>
                <a:effectLst/>
                <a:uFillTx/>
                <a:latin typeface="Times New Roman"/>
              </a:rPr>
              <a:t>时，闭环极点为一对共轭复数极点，系统为</a:t>
            </a:r>
            <a:r>
              <a:rPr lang="zh-CN" sz="2800" b="1" u="none" strike="noStrike">
                <a:solidFill>
                  <a:srgbClr val="FF0000"/>
                </a:solidFill>
                <a:effectLst/>
                <a:uFillTx/>
                <a:latin typeface="Times New Roman"/>
              </a:rPr>
              <a:t>欠阻尼</a:t>
            </a:r>
            <a:r>
              <a:rPr lang="zh-CN" sz="2800" b="1" u="none" strike="noStrike">
                <a:solidFill>
                  <a:srgbClr val="000000"/>
                </a:solidFill>
                <a:effectLst/>
                <a:uFillTx/>
                <a:latin typeface="Times New Roman"/>
              </a:rPr>
              <a:t>系统，单位阶跃响应为阻尼振荡过程。</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297" dur="indefinite" restart="never" nodeType="tmRoot">
          <p:childTnLst>
            <p:seq>
              <p:cTn id="298" dur="indefinite" nodeType="mainSeq">
                <p:childTnLst>
                  <p:par>
                    <p:cTn id="299" fill="hold" nodeType="clickEffect">
                      <p:stCondLst>
                        <p:cond delay="indefinite"/>
                      </p:stCondLst>
                      <p:childTnLst>
                        <p:par>
                          <p:cTn id="300" fill="hold" nodeType="withEffect">
                            <p:stCondLst>
                              <p:cond delay="0"/>
                            </p:stCondLst>
                            <p:childTnLst>
                              <p:par>
                                <p:cTn id="301" presetID="5" presetClass="entr" fill="hold" nodeType="clickEffect" presetSubtype="10">
                                  <p:stCondLst>
                                    <p:cond delay="0"/>
                                  </p:stCondLst>
                                  <p:childTnLst>
                                    <p:set>
                                      <p:cBhvr>
                                        <p:cTn id="302" dur="1" fill="hold">
                                          <p:stCondLst>
                                            <p:cond delay="0"/>
                                          </p:stCondLst>
                                        </p:cTn>
                                        <p:tgtEl>
                                          <p:spTgt spid="212">
                                            <p:txEl>
                                              <p:pRg st="0" end="0"/>
                                            </p:txEl>
                                          </p:spTgt>
                                        </p:tgtEl>
                                        <p:attrNameLst>
                                          <p:attrName>style.visibility</p:attrName>
                                        </p:attrNameLst>
                                      </p:cBhvr>
                                      <p:to>
                                        <p:strVal val="visible"/>
                                      </p:to>
                                    </p:set>
                                    <p:animEffect transition="in" filter="checkerboard(across)">
                                      <p:cBhvr additive="repl">
                                        <p:cTn id="303" dur="500"/>
                                        <p:tgtEl>
                                          <p:spTgt spid="212">
                                            <p:txEl>
                                              <p:pRg st="0" end="0"/>
                                            </p:txEl>
                                          </p:spTgt>
                                        </p:tgtEl>
                                      </p:cBhvr>
                                    </p:animEffect>
                                  </p:childTnLst>
                                </p:cTn>
                              </p:par>
                            </p:childTnLst>
                          </p:cTn>
                        </p:par>
                      </p:childTnLst>
                    </p:cTn>
                  </p:par>
                  <p:par>
                    <p:cTn id="304" fill="hold" nodeType="clickEffect">
                      <p:stCondLst>
                        <p:cond delay="indefinite"/>
                      </p:stCondLst>
                      <p:childTnLst>
                        <p:par>
                          <p:cTn id="305" fill="hold" nodeType="withEffect">
                            <p:stCondLst>
                              <p:cond delay="0"/>
                            </p:stCondLst>
                            <p:childTnLst>
                              <p:par>
                                <p:cTn id="306" presetID="5" presetClass="entr" fill="hold" nodeType="clickEffect" presetSubtype="10">
                                  <p:stCondLst>
                                    <p:cond delay="0"/>
                                  </p:stCondLst>
                                  <p:childTnLst>
                                    <p:set>
                                      <p:cBhvr>
                                        <p:cTn id="307" dur="1" fill="hold">
                                          <p:stCondLst>
                                            <p:cond delay="0"/>
                                          </p:stCondLst>
                                        </p:cTn>
                                        <p:tgtEl>
                                          <p:spTgt spid="212">
                                            <p:txEl>
                                              <p:pRg st="1" end="1"/>
                                            </p:txEl>
                                          </p:spTgt>
                                        </p:tgtEl>
                                        <p:attrNameLst>
                                          <p:attrName>style.visibility</p:attrName>
                                        </p:attrNameLst>
                                      </p:cBhvr>
                                      <p:to>
                                        <p:strVal val="visible"/>
                                      </p:to>
                                    </p:set>
                                    <p:animEffect transition="in" filter="checkerboard(across)">
                                      <p:cBhvr additive="repl">
                                        <p:cTn id="308" dur="500"/>
                                        <p:tgtEl>
                                          <p:spTgt spid="212">
                                            <p:txEl>
                                              <p:pRg st="1" end="1"/>
                                            </p:txEl>
                                          </p:spTgt>
                                        </p:tgtEl>
                                      </p:cBhvr>
                                    </p:animEffect>
                                  </p:childTnLst>
                                </p:cTn>
                              </p:par>
                            </p:childTnLst>
                          </p:cTn>
                        </p:par>
                      </p:childTnLst>
                    </p:cTn>
                  </p:par>
                  <p:par>
                    <p:cTn id="309" fill="hold" nodeType="clickEffect">
                      <p:stCondLst>
                        <p:cond delay="indefinite"/>
                      </p:stCondLst>
                      <p:childTnLst>
                        <p:par>
                          <p:cTn id="310" fill="hold" nodeType="withEffect">
                            <p:stCondLst>
                              <p:cond delay="0"/>
                            </p:stCondLst>
                            <p:childTnLst>
                              <p:par>
                                <p:cTn id="311" presetID="15" presetClass="entr" fill="hold" nodeType="clickEffect">
                                  <p:stCondLst>
                                    <p:cond delay="0"/>
                                  </p:stCondLst>
                                  <p:childTnLst>
                                    <p:set>
                                      <p:cBhvr>
                                        <p:cTn id="312" dur="1" fill="hold">
                                          <p:stCondLst>
                                            <p:cond delay="0"/>
                                          </p:stCondLst>
                                        </p:cTn>
                                        <p:tgtEl>
                                          <p:spTgt spid="213">
                                            <p:txEl>
                                              <p:pRg st="0" end="0"/>
                                            </p:txEl>
                                          </p:spTgt>
                                        </p:tgtEl>
                                        <p:attrNameLst>
                                          <p:attrName>style.visibility</p:attrName>
                                        </p:attrNameLst>
                                      </p:cBhvr>
                                      <p:to>
                                        <p:strVal val="visible"/>
                                      </p:to>
                                    </p:set>
                                    <p:anim calcmode="lin" valueType="num">
                                      <p:cBhvr additive="repl">
                                        <p:cTn id="313" dur="1000" fill="hold"/>
                                        <p:tgtEl>
                                          <p:spTgt spid="213">
                                            <p:txEl>
                                              <p:pRg st="0" end="0"/>
                                            </p:txEl>
                                          </p:spTgt>
                                        </p:tgtEl>
                                        <p:attrNameLst>
                                          <p:attrName>ppt_w</p:attrName>
                                        </p:attrNameLst>
                                      </p:cBhvr>
                                      <p:tavLst>
                                        <p:tav>
                                          <p:val>
                                            <p:fltVal val="0"/>
                                          </p:val>
                                        </p:tav>
                                        <p:tav tm="100000">
                                          <p:val>
                                            <p:strVal val="#ppt_w"/>
                                          </p:val>
                                        </p:tav>
                                      </p:tavLst>
                                    </p:anim>
                                    <p:anim calcmode="lin" valueType="num">
                                      <p:cBhvr additive="repl">
                                        <p:cTn id="314" dur="1000" fill="hold"/>
                                        <p:tgtEl>
                                          <p:spTgt spid="213">
                                            <p:txEl>
                                              <p:pRg st="0" end="0"/>
                                            </p:txEl>
                                          </p:spTgt>
                                        </p:tgtEl>
                                        <p:attrNameLst>
                                          <p:attrName>ppt_h</p:attrName>
                                        </p:attrNameLst>
                                      </p:cBhvr>
                                      <p:tavLst>
                                        <p:tav>
                                          <p:val>
                                            <p:fltVal val="0"/>
                                          </p:val>
                                        </p:tav>
                                        <p:tav tm="100000">
                                          <p:val>
                                            <p:strVal val="#ppt_h"/>
                                          </p:val>
                                        </p:tav>
                                      </p:tavLst>
                                    </p:anim>
                                    <p:anim calcmode="lin" valueType="num">
                                      <p:cBhvr additive="repl">
                                        <p:cTn id="315" dur="1000" fill="hold"/>
                                        <p:tgtEl>
                                          <p:spTgt spid="213">
                                            <p:txEl>
                                              <p:pRg st="0" end="0"/>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316" dur="1000" fill="hold"/>
                                        <p:tgtEl>
                                          <p:spTgt spid="213">
                                            <p:txEl>
                                              <p:pRg st="0" end="0"/>
                                            </p:txEl>
                                          </p:spTgt>
                                        </p:tgtEl>
                                        <p:attrNameLst>
                                          <p:attrName>ppt_y</p:attrName>
                                        </p:attrNameLst>
                                      </p:cBhvr>
                                      <p:tavLst>
                                        <p:tav fmla="y+(sin(-2*pi*(1-$))*-x+cos(-2*pi*(1-$))*(1-y))*(1-$)">
                                          <p:val>
                                            <p:fltVal val="0"/>
                                          </p:val>
                                        </p:tav>
                                        <p:tav fmla="y+(sin(-2*pi*(1-$))*-x+cos(-2*pi*(1-$))*(1-y))*(1-$)" tm="100000">
                                          <p:val>
                                            <p:fltVal val="1"/>
                                          </p:val>
                                        </p:tav>
                                      </p:tavLst>
                                    </p:anim>
                                  </p:childTnLst>
                                </p:cTn>
                              </p:par>
                            </p:childTnLst>
                          </p:cTn>
                        </p:par>
                      </p:childTnLst>
                    </p:cTn>
                  </p:par>
                  <p:par>
                    <p:cTn id="317" fill="hold" nodeType="clickEffect">
                      <p:stCondLst>
                        <p:cond delay="indefinite"/>
                      </p:stCondLst>
                      <p:childTnLst>
                        <p:par>
                          <p:cTn id="318" fill="hold" nodeType="withEffect">
                            <p:stCondLst>
                              <p:cond delay="0"/>
                            </p:stCondLst>
                            <p:childTnLst>
                              <p:par>
                                <p:cTn id="319" presetID="15" presetClass="entr" fill="hold" nodeType="clickEffect">
                                  <p:stCondLst>
                                    <p:cond delay="0"/>
                                  </p:stCondLst>
                                  <p:childTnLst>
                                    <p:set>
                                      <p:cBhvr>
                                        <p:cTn id="320" dur="1" fill="hold">
                                          <p:stCondLst>
                                            <p:cond delay="0"/>
                                          </p:stCondLst>
                                        </p:cTn>
                                        <p:tgtEl>
                                          <p:spTgt spid="213">
                                            <p:txEl>
                                              <p:pRg st="1" end="1"/>
                                            </p:txEl>
                                          </p:spTgt>
                                        </p:tgtEl>
                                        <p:attrNameLst>
                                          <p:attrName>style.visibility</p:attrName>
                                        </p:attrNameLst>
                                      </p:cBhvr>
                                      <p:to>
                                        <p:strVal val="visible"/>
                                      </p:to>
                                    </p:set>
                                    <p:anim calcmode="lin" valueType="num">
                                      <p:cBhvr additive="repl">
                                        <p:cTn id="321" dur="1000" fill="hold"/>
                                        <p:tgtEl>
                                          <p:spTgt spid="213">
                                            <p:txEl>
                                              <p:pRg st="1" end="1"/>
                                            </p:txEl>
                                          </p:spTgt>
                                        </p:tgtEl>
                                        <p:attrNameLst>
                                          <p:attrName>ppt_w</p:attrName>
                                        </p:attrNameLst>
                                      </p:cBhvr>
                                      <p:tavLst>
                                        <p:tav>
                                          <p:val>
                                            <p:fltVal val="0"/>
                                          </p:val>
                                        </p:tav>
                                        <p:tav tm="100000">
                                          <p:val>
                                            <p:strVal val="#ppt_w"/>
                                          </p:val>
                                        </p:tav>
                                      </p:tavLst>
                                    </p:anim>
                                    <p:anim calcmode="lin" valueType="num">
                                      <p:cBhvr additive="repl">
                                        <p:cTn id="322" dur="1000" fill="hold"/>
                                        <p:tgtEl>
                                          <p:spTgt spid="213">
                                            <p:txEl>
                                              <p:pRg st="1" end="1"/>
                                            </p:txEl>
                                          </p:spTgt>
                                        </p:tgtEl>
                                        <p:attrNameLst>
                                          <p:attrName>ppt_h</p:attrName>
                                        </p:attrNameLst>
                                      </p:cBhvr>
                                      <p:tavLst>
                                        <p:tav>
                                          <p:val>
                                            <p:fltVal val="0"/>
                                          </p:val>
                                        </p:tav>
                                        <p:tav tm="100000">
                                          <p:val>
                                            <p:strVal val="#ppt_h"/>
                                          </p:val>
                                        </p:tav>
                                      </p:tavLst>
                                    </p:anim>
                                    <p:anim calcmode="lin" valueType="num">
                                      <p:cBhvr additive="repl">
                                        <p:cTn id="323" dur="1000" fill="hold"/>
                                        <p:tgtEl>
                                          <p:spTgt spid="213">
                                            <p:txEl>
                                              <p:pRg st="1" end="1"/>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324" dur="1000" fill="hold"/>
                                        <p:tgtEl>
                                          <p:spTgt spid="213">
                                            <p:txEl>
                                              <p:pRg st="1" end="1"/>
                                            </p:txEl>
                                          </p:spTgt>
                                        </p:tgtEl>
                                        <p:attrNameLst>
                                          <p:attrName>ppt_y</p:attrName>
                                        </p:attrNameLst>
                                      </p:cBhvr>
                                      <p:tavLst>
                                        <p:tav fmla="y+(sin(-2*pi*(1-$))*-x+cos(-2*pi*(1-$))*(1-y))*(1-$)">
                                          <p:val>
                                            <p:fltVal val="0"/>
                                          </p:val>
                                        </p:tav>
                                        <p:tav fmla="y+(sin(-2*pi*(1-$))*-x+cos(-2*pi*(1-$))*(1-y))*(1-$)"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p:nvPr>
        </p:nvSpPr>
        <p:spPr>
          <a:xfrm>
            <a:off x="168120" y="154080"/>
            <a:ext cx="7925040" cy="1371600"/>
          </a:xfrm>
          <a:prstGeom prst="rect">
            <a:avLst/>
          </a:prstGeom>
          <a:noFill/>
          <a:ln w="0">
            <a:noFill/>
          </a:ln>
        </p:spPr>
        <p:txBody>
          <a:bodyPr lIns="91440" tIns="45720" rIns="91440" bIns="45720" anchor="t">
            <a:normAutofit/>
          </a:bodyPr>
          <a:p>
            <a:pPr marL="272880" indent="-272880" algn="l">
              <a:lnSpc>
                <a:spcPct val="12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FF0000"/>
                </a:solidFill>
                <a:effectLst/>
                <a:uFillTx/>
                <a:latin typeface="华文新魏"/>
                <a:ea typeface="华文新魏"/>
              </a:rPr>
              <a:t>4.1.2 </a:t>
            </a:r>
            <a:r>
              <a:rPr lang="zh-CN" sz="2800" b="1" u="none" strike="noStrike">
                <a:solidFill>
                  <a:srgbClr val="FF0000"/>
                </a:solidFill>
                <a:effectLst/>
                <a:uFillTx/>
                <a:latin typeface="华文新魏"/>
                <a:ea typeface="华文新魏"/>
              </a:rPr>
              <a:t>根轨迹方程</a:t>
            </a:r>
            <a:endParaRPr lang="en-US" sz="2800" b="0" u="none" strike="noStrike">
              <a:solidFill>
                <a:srgbClr val="073E87"/>
              </a:solidFill>
              <a:effectLst/>
              <a:uFillTx/>
              <a:latin typeface="Candara"/>
            </a:endParaRPr>
          </a:p>
          <a:p>
            <a:pPr marL="272880" indent="-272880" algn="l">
              <a:lnSpc>
                <a:spcPct val="120000"/>
              </a:lnSpc>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       </a:t>
            </a:r>
            <a:r>
              <a:rPr lang="zh-CN" sz="2400" b="1" u="none" strike="noStrike">
                <a:solidFill>
                  <a:srgbClr val="073E87"/>
                </a:solidFill>
                <a:effectLst/>
                <a:uFillTx/>
                <a:latin typeface="Candara"/>
              </a:rPr>
              <a:t>研究下图所示反馈控制系统的一般结构。</a:t>
            </a:r>
            <a:endParaRPr lang="en-US" sz="2400" b="0" u="none" strike="noStrike">
              <a:solidFill>
                <a:srgbClr val="073E87"/>
              </a:solidFill>
              <a:effectLst/>
              <a:uFillTx/>
              <a:latin typeface="Candara"/>
            </a:endParaRPr>
          </a:p>
        </p:txBody>
      </p:sp>
      <mc:AlternateContent>
        <mc:Choice xmlns:a14="http://schemas.microsoft.com/office/drawing/2010/main" Requires="a14">
          <p:sp>
            <p:nvSpPr>
              <p:cNvPr id="215" name="Object 4"/>
              <p:cNvSpPr txBox="1"/>
              <p:nvPr/>
            </p:nvSpPr>
            <p:spPr>
              <a:xfrm>
                <a:off x="2252520" y="5311800"/>
                <a:ext cx="4257720" cy="154620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sSub>
                      <m:e>
                        <m:r>
                          <m:t xml:space="preserve">K</m:t>
                        </m:r>
                      </m:e>
                      <m:sub>
                        <m:r>
                          <m:t xml:space="preserve">g</m:t>
                        </m:r>
                      </m:sub>
                    </m:sSub>
                    <m:f>
                      <m:num>
                        <m:r>
                          <m:t xml:space="preserve">M</m:t>
                        </m:r>
                        <m:r>
                          <m:t xml:space="preserve">(</m:t>
                        </m:r>
                        <m:r>
                          <m:t xml:space="preserve">s</m:t>
                        </m:r>
                        <m:r>
                          <m:t xml:space="preserve">)</m:t>
                        </m:r>
                      </m:num>
                      <m:den>
                        <m:r>
                          <m:t xml:space="preserve">N</m:t>
                        </m:r>
                        <m:r>
                          <m:t xml:space="preserve">(</m:t>
                        </m:r>
                        <m:r>
                          <m:t xml:space="preserve">s</m:t>
                        </m:r>
                        <m:r>
                          <m:t xml:space="preserve">)</m:t>
                        </m:r>
                      </m:den>
                    </m:f>
                    <m:r>
                      <m:t xml:space="preserve">=</m:t>
                    </m:r>
                    <m:f>
                      <m:num>
                        <m:sSub>
                          <m:e>
                            <m:r>
                              <m:t xml:space="preserve">K</m:t>
                            </m:r>
                          </m:e>
                          <m:sub>
                            <m:r>
                              <m:t xml:space="preserve">g</m:t>
                            </m:r>
                          </m:sub>
                        </m:sSub>
                        <m:nary>
                          <m:naryPr>
                            <m:chr m:val="∏"/>
                          </m:naryPr>
                          <m:sub>
                            <m:r>
                              <m:t xml:space="preserve">i</m:t>
                            </m:r>
                            <m:r>
                              <m:t xml:space="preserve">=</m:t>
                            </m:r>
                            <m:r>
                              <m:t xml:space="preserve">1</m:t>
                            </m:r>
                          </m:sub>
                          <m:sup>
                            <m:r>
                              <m:t xml:space="preserve">m</m:t>
                            </m:r>
                          </m:sup>
                          <m:e>
                            <m:r>
                              <m:t xml:space="preserve">(</m:t>
                            </m:r>
                            <m:r>
                              <m:t xml:space="preserve">s</m:t>
                            </m:r>
                            <m:r>
                              <m:t xml:space="preserve">−</m:t>
                            </m:r>
                            <m:sSub>
                              <m:e>
                                <m:r>
                                  <m:t xml:space="preserve">z</m:t>
                                </m:r>
                              </m:e>
                              <m:sub>
                                <m:r>
                                  <m:t xml:space="preserve">i</m:t>
                                </m:r>
                              </m:sub>
                            </m:sSub>
                            <m:r>
                              <m:t xml:space="preserve">)</m:t>
                            </m:r>
                          </m:e>
                        </m:nary>
                      </m:num>
                      <m:den>
                        <m:nary>
                          <m:naryPr>
                            <m:chr m:val="∏"/>
                          </m:naryPr>
                          <m:sub>
                            <m:r>
                              <m:t xml:space="preserve">j</m:t>
                            </m:r>
                            <m:r>
                              <m:t xml:space="preserve">=</m:t>
                            </m:r>
                            <m:r>
                              <m:t xml:space="preserve">1</m:t>
                            </m:r>
                          </m:sub>
                          <m:sup>
                            <m:r>
                              <m:t xml:space="preserve">n</m:t>
                            </m:r>
                          </m:sup>
                          <m:e>
                            <m:r>
                              <m:t xml:space="preserve">(</m:t>
                            </m:r>
                            <m:r>
                              <m:t xml:space="preserve">s</m:t>
                            </m:r>
                            <m:r>
                              <m:t xml:space="preserve">−</m:t>
                            </m:r>
                            <m:sSub>
                              <m:e>
                                <m:r>
                                  <m:t xml:space="preserve">p</m:t>
                                </m:r>
                              </m:e>
                              <m:sub>
                                <m:r>
                                  <m:t xml:space="preserve">j</m:t>
                                </m:r>
                              </m:sub>
                            </m:sSub>
                            <m:r>
                              <m:t xml:space="preserve">)</m:t>
                            </m:r>
                          </m:e>
                        </m:nary>
                      </m:den>
                    </m:f>
                  </m:oMath>
                </a14:m>
              </a:p>
            </p:txBody>
          </p:sp>
        </mc:Choice>
        <mc:Fallback>
          <p:sp>
            <p:nvSpPr>
              <p:cNvPr id="215" name="Object 4"/>
              <p:cNvSpPr txBox="1"/>
              <p:nvPr/>
            </p:nvSpPr>
            <p:spPr>
              <a:xfrm>
                <a:off x="2252520" y="5311800"/>
                <a:ext cx="4257720" cy="1546200"/>
              </a:xfrm>
              <a:prstGeom prst="rect">
                <a:avLst/>
              </a:prstGeom>
              <a:blipFill>
                <a:blip r:embed="rId1"/>
                <a:stretch>
                  <a:fillRect/>
                </a:stretch>
              </a:blipFill>
            </p:spPr>
          </p:sp>
        </mc:Fallback>
      </mc:AlternateContent>
      <mc:AlternateContent>
        <mc:Choice xmlns:a14="http://schemas.microsoft.com/office/drawing/2010/main" Requires="a14">
          <p:sp>
            <p:nvSpPr>
              <p:cNvPr id="216" name="Object 3"/>
              <p:cNvSpPr txBox="1"/>
              <p:nvPr/>
            </p:nvSpPr>
            <p:spPr>
              <a:xfrm>
                <a:off x="2136600" y="3422520"/>
                <a:ext cx="3956400" cy="946440"/>
              </a:xfrm>
              <a:prstGeom prst="rect">
                <a:avLst/>
              </a:prstGeom>
            </p:spPr>
            <p:txBody>
              <a:bodyPr/>
              <a:p>
                <a14:m>
                  <m:oMath xmlns:m="http://schemas.openxmlformats.org/officeDocument/2006/math">
                    <m:r>
                      <m:t xml:space="preserve">Φ</m:t>
                    </m:r>
                    <m:r>
                      <m:t xml:space="preserve">(</m:t>
                    </m:r>
                    <m:r>
                      <m:t xml:space="preserve">s</m:t>
                    </m:r>
                    <m:r>
                      <m:t xml:space="preserve">)</m:t>
                    </m:r>
                    <m:r>
                      <m:t xml:space="preserve">=</m:t>
                    </m:r>
                    <m:f>
                      <m:num>
                        <m:r>
                          <m:t xml:space="preserve">C</m:t>
                        </m:r>
                        <m:r>
                          <m:t xml:space="preserve">(</m:t>
                        </m:r>
                        <m:r>
                          <m:t xml:space="preserve">s</m:t>
                        </m:r>
                        <m:r>
                          <m:t xml:space="preserve">)</m:t>
                        </m:r>
                      </m:num>
                      <m:den>
                        <m:r>
                          <m:t xml:space="preserve">R</m:t>
                        </m:r>
                        <m:r>
                          <m:t xml:space="preserve">(</m:t>
                        </m:r>
                        <m:r>
                          <m:t xml:space="preserve">s</m:t>
                        </m:r>
                        <m:r>
                          <m:t xml:space="preserve">)</m:t>
                        </m:r>
                      </m:den>
                    </m:f>
                    <m:r>
                      <m:t xml:space="preserve">=</m:t>
                    </m:r>
                    <m:f>
                      <m:num>
                        <m:r>
                          <m:t xml:space="preserve">G</m:t>
                        </m:r>
                        <m:r>
                          <m:t xml:space="preserve">(</m:t>
                        </m:r>
                        <m:r>
                          <m:t xml:space="preserve">s</m:t>
                        </m:r>
                        <m:r>
                          <m:t xml:space="preserve">)</m:t>
                        </m:r>
                      </m:num>
                      <m:den>
                        <m:r>
                          <m:t xml:space="preserve">1</m:t>
                        </m:r>
                        <m:r>
                          <m:t xml:space="preserve">+</m:t>
                        </m:r>
                        <m:r>
                          <m:t xml:space="preserve">G</m:t>
                        </m:r>
                        <m:r>
                          <m:t xml:space="preserve">(</m:t>
                        </m:r>
                        <m:r>
                          <m:t xml:space="preserve">s</m:t>
                        </m:r>
                        <m:r>
                          <m:t xml:space="preserve">)</m:t>
                        </m:r>
                        <m:r>
                          <m:t xml:space="preserve">H</m:t>
                        </m:r>
                        <m:r>
                          <m:t xml:space="preserve">(</m:t>
                        </m:r>
                        <m:r>
                          <m:t xml:space="preserve">s</m:t>
                        </m:r>
                        <m:r>
                          <m:t xml:space="preserve">)</m:t>
                        </m:r>
                      </m:den>
                    </m:f>
                  </m:oMath>
                </a14:m>
              </a:p>
            </p:txBody>
          </p:sp>
        </mc:Choice>
        <mc:Fallback>
          <p:sp>
            <p:nvSpPr>
              <p:cNvPr id="216" name="Object 3"/>
              <p:cNvSpPr txBox="1"/>
              <p:nvPr/>
            </p:nvSpPr>
            <p:spPr>
              <a:xfrm>
                <a:off x="2136600" y="3422520"/>
                <a:ext cx="3956400" cy="946440"/>
              </a:xfrm>
              <a:prstGeom prst="rect">
                <a:avLst/>
              </a:prstGeom>
              <a:blipFill>
                <a:blip r:embed="rId2"/>
                <a:stretch>
                  <a:fillRect/>
                </a:stretch>
              </a:blipFill>
            </p:spPr>
          </p:sp>
        </mc:Fallback>
      </mc:AlternateContent>
      <p:sp>
        <p:nvSpPr>
          <p:cNvPr id="217" name="Text Box 10"/>
          <p:cNvSpPr/>
          <p:nvPr/>
        </p:nvSpPr>
        <p:spPr>
          <a:xfrm>
            <a:off x="101520" y="2965320"/>
            <a:ext cx="4114800" cy="52092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系统的闭环传递函数为</a:t>
            </a:r>
            <a:endParaRPr lang="en-US" sz="2800" b="1" u="none" strike="noStrike">
              <a:solidFill>
                <a:srgbClr val="000000"/>
              </a:solidFill>
              <a:effectLst/>
              <a:uFillTx/>
              <a:latin typeface="Times New Roman"/>
            </a:endParaRPr>
          </a:p>
        </p:txBody>
      </p:sp>
      <p:grpSp>
        <p:nvGrpSpPr>
          <p:cNvPr id="218" name="Group 34"/>
          <p:cNvGrpSpPr/>
          <p:nvPr/>
        </p:nvGrpSpPr>
        <p:grpSpPr>
          <a:xfrm>
            <a:off x="1817640" y="1177920"/>
            <a:ext cx="5216400" cy="2000880"/>
            <a:chOff x="1817640" y="1177920"/>
            <a:chExt cx="5216400" cy="2000880"/>
          </a:xfrm>
        </p:grpSpPr>
        <p:sp>
          <p:nvSpPr>
            <p:cNvPr id="219" name="Rectangle 14"/>
            <p:cNvSpPr/>
            <p:nvPr/>
          </p:nvSpPr>
          <p:spPr>
            <a:xfrm>
              <a:off x="4302000" y="1558440"/>
              <a:ext cx="1096920" cy="582120"/>
            </a:xfrm>
            <a:prstGeom prst="rect">
              <a:avLst/>
            </a:prstGeom>
            <a:noFill/>
            <a:ln cap="sq" w="57240">
              <a:solidFill>
                <a:srgbClr val="000000"/>
              </a:solidFill>
              <a:miter/>
            </a:ln>
          </p:spPr>
          <p:style>
            <a:lnRef idx="0"/>
            <a:fillRef idx="0"/>
            <a:effectRef idx="0"/>
            <a:fontRef idx="minor"/>
          </p:style>
          <p:txBody>
            <a:bodyPr lIns="108000" tIns="108000" rIns="108000" bIns="108000" anchor="ctr">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G</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220" name="Line 15"/>
            <p:cNvSpPr/>
            <p:nvPr/>
          </p:nvSpPr>
          <p:spPr>
            <a:xfrm>
              <a:off x="3682800" y="1812960"/>
              <a:ext cx="6494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1" name="Line 16"/>
            <p:cNvSpPr/>
            <p:nvPr/>
          </p:nvSpPr>
          <p:spPr>
            <a:xfrm>
              <a:off x="1817640" y="1808280"/>
              <a:ext cx="10490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2" name="Line 17"/>
            <p:cNvSpPr/>
            <p:nvPr/>
          </p:nvSpPr>
          <p:spPr>
            <a:xfrm>
              <a:off x="5460840" y="1812960"/>
              <a:ext cx="157320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3" name="Line 18"/>
            <p:cNvSpPr/>
            <p:nvPr/>
          </p:nvSpPr>
          <p:spPr>
            <a:xfrm>
              <a:off x="6384600" y="1851120"/>
              <a:ext cx="0" cy="101592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4" name="Line 19"/>
            <p:cNvSpPr/>
            <p:nvPr/>
          </p:nvSpPr>
          <p:spPr>
            <a:xfrm>
              <a:off x="3301920" y="2889360"/>
              <a:ext cx="996840" cy="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5" name="Line 20"/>
            <p:cNvSpPr/>
            <p:nvPr/>
          </p:nvSpPr>
          <p:spPr>
            <a:xfrm>
              <a:off x="3244680" y="2165400"/>
              <a:ext cx="0" cy="723960"/>
            </a:xfrm>
            <a:prstGeom prst="line">
              <a:avLst/>
            </a:prstGeom>
            <a:ln cap="sq" w="57240">
              <a:solidFill>
                <a:srgbClr val="00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6" name="Text Box 21"/>
            <p:cNvSpPr/>
            <p:nvPr/>
          </p:nvSpPr>
          <p:spPr>
            <a:xfrm>
              <a:off x="1879560" y="1235160"/>
              <a:ext cx="10825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R</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227" name="Text Box 22"/>
            <p:cNvSpPr/>
            <p:nvPr/>
          </p:nvSpPr>
          <p:spPr>
            <a:xfrm>
              <a:off x="5938560" y="1177920"/>
              <a:ext cx="7765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C</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228" name="Line 23"/>
            <p:cNvSpPr/>
            <p:nvPr/>
          </p:nvSpPr>
          <p:spPr>
            <a:xfrm>
              <a:off x="5440320" y="2871720"/>
              <a:ext cx="885600" cy="0"/>
            </a:xfrm>
            <a:prstGeom prst="line">
              <a:avLst/>
            </a:prstGeom>
            <a:ln cap="sq" w="57240">
              <a:solidFill>
                <a:srgbClr val="00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29" name="Text Box 25"/>
            <p:cNvSpPr/>
            <p:nvPr/>
          </p:nvSpPr>
          <p:spPr>
            <a:xfrm>
              <a:off x="3049200" y="1798560"/>
              <a:ext cx="60984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宋体"/>
                </a:rPr>
                <a:t>-</a:t>
              </a:r>
              <a:endParaRPr lang="en-US" sz="2000" b="1" u="none" strike="noStrike">
                <a:solidFill>
                  <a:srgbClr val="000000"/>
                </a:solidFill>
                <a:effectLst/>
                <a:uFillTx/>
                <a:latin typeface="Times New Roman"/>
              </a:endParaRPr>
            </a:p>
          </p:txBody>
        </p:sp>
        <p:sp>
          <p:nvSpPr>
            <p:cNvPr id="230" name="Oval 26"/>
            <p:cNvSpPr/>
            <p:nvPr/>
          </p:nvSpPr>
          <p:spPr>
            <a:xfrm>
              <a:off x="2896920" y="1442880"/>
              <a:ext cx="730440" cy="730440"/>
            </a:xfrm>
            <a:prstGeom prst="ellipse">
              <a:avLst/>
            </a:prstGeom>
            <a:noFill/>
            <a:ln cap="sq" w="5724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31" name="Line 27"/>
            <p:cNvSpPr/>
            <p:nvPr/>
          </p:nvSpPr>
          <p:spPr>
            <a:xfrm flipH="1">
              <a:off x="3049200" y="1595520"/>
              <a:ext cx="457200" cy="45720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32" name="Line 28"/>
            <p:cNvSpPr/>
            <p:nvPr/>
          </p:nvSpPr>
          <p:spPr>
            <a:xfrm>
              <a:off x="3049200" y="1595520"/>
              <a:ext cx="457200" cy="45720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33" name="Rectangle 30"/>
            <p:cNvSpPr/>
            <p:nvPr/>
          </p:nvSpPr>
          <p:spPr>
            <a:xfrm>
              <a:off x="4302000" y="2596680"/>
              <a:ext cx="1096920" cy="582120"/>
            </a:xfrm>
            <a:prstGeom prst="rect">
              <a:avLst/>
            </a:prstGeom>
            <a:noFill/>
            <a:ln cap="sq" w="57240">
              <a:solidFill>
                <a:srgbClr val="000000"/>
              </a:solidFill>
              <a:miter/>
            </a:ln>
          </p:spPr>
          <p:style>
            <a:lnRef idx="0"/>
            <a:fillRef idx="0"/>
            <a:effectRef idx="0"/>
            <a:fontRef idx="minor"/>
          </p:style>
          <p:txBody>
            <a:bodyPr lIns="108000" tIns="108000" rIns="108000" bIns="108000" anchor="ctr">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H</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grpSp>
      <p:sp>
        <p:nvSpPr>
          <p:cNvPr id="234" name="Text Box 31"/>
          <p:cNvSpPr/>
          <p:nvPr/>
        </p:nvSpPr>
        <p:spPr>
          <a:xfrm>
            <a:off x="60480" y="4194000"/>
            <a:ext cx="9083520" cy="54900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300" b="1" u="none" strike="noStrike">
                <a:solidFill>
                  <a:srgbClr val="000000"/>
                </a:solidFill>
                <a:effectLst/>
                <a:uFillTx/>
                <a:latin typeface="Times New Roman"/>
              </a:rPr>
              <a:t>该系统的闭环特征方程为</a:t>
            </a:r>
            <a:r>
              <a:rPr lang="en-US" sz="2300" b="1" u="none" strike="noStrike">
                <a:solidFill>
                  <a:srgbClr val="000000"/>
                </a:solidFill>
                <a:effectLst/>
                <a:uFillTx/>
                <a:latin typeface="Times New Roman"/>
              </a:rPr>
              <a:t>: </a:t>
            </a:r>
            <a:r>
              <a:rPr lang="en-US" sz="2300" b="1" i="1" u="none" strike="noStrike">
                <a:solidFill>
                  <a:srgbClr val="000000"/>
                </a:solidFill>
                <a:effectLst/>
                <a:uFillTx/>
                <a:latin typeface="Times New Roman"/>
              </a:rPr>
              <a:t>D</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 </a:t>
            </a:r>
            <a:r>
              <a:rPr lang="en-US" sz="2300" b="1" i="1" u="none" strike="noStrike">
                <a:solidFill>
                  <a:srgbClr val="000000"/>
                </a:solidFill>
                <a:effectLst/>
                <a:uFillTx/>
                <a:latin typeface="Times New Roman"/>
              </a:rPr>
              <a:t>= </a:t>
            </a:r>
            <a:r>
              <a:rPr lang="en-US" sz="2300" b="1" u="none" strike="noStrike">
                <a:solidFill>
                  <a:srgbClr val="000000"/>
                </a:solidFill>
                <a:effectLst/>
                <a:uFillTx/>
                <a:latin typeface="Times New Roman"/>
              </a:rPr>
              <a:t>1 </a:t>
            </a:r>
            <a:r>
              <a:rPr lang="en-US" sz="2300" b="1" u="none" strike="noStrike">
                <a:solidFill>
                  <a:srgbClr val="000000"/>
                </a:solidFill>
                <a:effectLst/>
                <a:uFillTx/>
                <a:latin typeface="宋体"/>
              </a:rPr>
              <a:t>+</a:t>
            </a:r>
            <a:r>
              <a:rPr lang="en-US" sz="2300" b="1" u="none" strike="noStrike">
                <a:solidFill>
                  <a:srgbClr val="000000"/>
                </a:solidFill>
                <a:effectLst/>
                <a:uFillTx/>
                <a:latin typeface="Times New Roman"/>
              </a:rPr>
              <a:t> </a:t>
            </a:r>
            <a:r>
              <a:rPr lang="en-US" sz="2300" b="1" i="1" u="none" strike="noStrike">
                <a:solidFill>
                  <a:srgbClr val="000000"/>
                </a:solidFill>
                <a:effectLst/>
                <a:uFillTx/>
                <a:latin typeface="Times New Roman"/>
              </a:rPr>
              <a:t>G</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H</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 = 0 </a:t>
            </a:r>
            <a:r>
              <a:rPr lang="zh-CN" sz="2300" b="1" u="none" strike="noStrike">
                <a:solidFill>
                  <a:srgbClr val="000000"/>
                </a:solidFill>
                <a:effectLst/>
                <a:uFillTx/>
                <a:latin typeface="Times New Roman"/>
              </a:rPr>
              <a:t>或 </a:t>
            </a:r>
            <a:r>
              <a:rPr lang="en-US" sz="2300" b="1" i="1" u="none" strike="noStrike">
                <a:solidFill>
                  <a:srgbClr val="000000"/>
                </a:solidFill>
                <a:effectLst/>
                <a:uFillTx/>
                <a:latin typeface="Times New Roman"/>
              </a:rPr>
              <a:t>G</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H</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 = </a:t>
            </a:r>
            <a:r>
              <a:rPr lang="en-US" sz="2300" b="1" u="none" strike="noStrike">
                <a:solidFill>
                  <a:srgbClr val="000000"/>
                </a:solidFill>
                <a:effectLst/>
                <a:uFillTx/>
                <a:latin typeface="宋体"/>
              </a:rPr>
              <a:t>-</a:t>
            </a:r>
            <a:r>
              <a:rPr lang="en-US" sz="2300" b="1" u="none" strike="noStrike">
                <a:solidFill>
                  <a:srgbClr val="000000"/>
                </a:solidFill>
                <a:effectLst/>
                <a:uFillTx/>
                <a:latin typeface="Times New Roman"/>
              </a:rPr>
              <a:t>1</a:t>
            </a:r>
            <a:endParaRPr lang="en-US" sz="2300" b="1" u="none" strike="noStrike">
              <a:solidFill>
                <a:srgbClr val="000000"/>
              </a:solidFill>
              <a:effectLst/>
              <a:uFillTx/>
              <a:latin typeface="Times New Roman"/>
            </a:endParaRPr>
          </a:p>
        </p:txBody>
      </p:sp>
      <p:sp>
        <p:nvSpPr>
          <p:cNvPr id="235" name="Rectangle 35"/>
          <p:cNvSpPr/>
          <p:nvPr/>
        </p:nvSpPr>
        <p:spPr>
          <a:xfrm>
            <a:off x="553320" y="4802040"/>
            <a:ext cx="691344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若将系统的开环传递函数</a:t>
            </a:r>
            <a:r>
              <a:rPr lang="en-US" sz="2400" b="1" i="1" u="none" strike="noStrike">
                <a:solidFill>
                  <a:srgbClr val="000000"/>
                </a:solidFill>
                <a:effectLst/>
                <a:uFillTx/>
                <a:latin typeface="Times New Roman"/>
              </a:rPr>
              <a:t>G</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H</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r>
              <a:rPr lang="zh-CN" sz="2400" b="1" u="none" strike="noStrike">
                <a:solidFill>
                  <a:srgbClr val="000000"/>
                </a:solidFill>
                <a:effectLst/>
                <a:uFillTx/>
                <a:latin typeface="Times New Roman"/>
              </a:rPr>
              <a:t>写成如下形式：</a:t>
            </a:r>
            <a:endParaRPr lang="en-US" sz="2400" b="1" u="none" strike="noStrike">
              <a:solidFill>
                <a:srgbClr val="000000"/>
              </a:solidFill>
              <a:effectLst/>
              <a:uFillTx/>
              <a:latin typeface="Times New Roman"/>
            </a:endParaRPr>
          </a:p>
        </p:txBody>
      </p:sp>
      <p:sp>
        <p:nvSpPr>
          <p:cNvPr id="236" name="AutoShape 2"/>
          <p:cNvSpPr/>
          <p:nvPr/>
        </p:nvSpPr>
        <p:spPr>
          <a:xfrm>
            <a:off x="7143840" y="4794120"/>
            <a:ext cx="1898640" cy="1449360"/>
          </a:xfrm>
          <a:prstGeom prst="cloudCallout">
            <a:avLst>
              <a:gd name="adj1" fmla="val -81273"/>
              <a:gd name="adj2" fmla="val 35652"/>
            </a:avLst>
          </a:prstGeom>
          <a:solidFill>
            <a:srgbClr val="31B6FD"/>
          </a:solidFill>
          <a:ln w="9360">
            <a:solidFill>
              <a:srgbClr val="000000"/>
            </a:solidFill>
            <a:miter/>
          </a:ln>
        </p:spPr>
        <p:style>
          <a:lnRef idx="0"/>
          <a:fillRef idx="0"/>
          <a:effectRef idx="0"/>
          <a:fontRef idx="minor"/>
        </p:style>
        <p:txBody>
          <a:bodyPr lIns="90000" tIns="46800" rIns="90000" bIns="46800" anchor="t">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FF0000"/>
                </a:solidFill>
                <a:effectLst/>
                <a:uFillTx/>
                <a:latin typeface="Times New Roman"/>
              </a:rPr>
              <a:t>一定要写成零极点表达式</a:t>
            </a:r>
            <a:endParaRPr lang="en-US" sz="20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325" dur="indefinite" restart="never" nodeType="tmRoot">
          <p:childTnLst>
            <p:seq>
              <p:cTn id="326" dur="indefinite" nodeType="mainSeq">
                <p:childTnLst>
                  <p:par>
                    <p:cTn id="327" fill="hold" nodeType="clickEffect">
                      <p:stCondLst>
                        <p:cond delay="indefinite"/>
                      </p:stCondLst>
                      <p:childTnLst>
                        <p:par>
                          <p:cTn id="328" fill="hold" nodeType="withEffect">
                            <p:stCondLst>
                              <p:cond delay="0"/>
                            </p:stCondLst>
                            <p:childTnLst>
                              <p:par>
                                <p:cTn id="329" presetID="2" presetClass="entr" fill="hold" nodeType="clickEffect" presetSubtype="8">
                                  <p:stCondLst>
                                    <p:cond delay="0"/>
                                  </p:stCondLst>
                                  <p:childTnLst>
                                    <p:set>
                                      <p:cBhvr>
                                        <p:cTn id="330" dur="1" fill="hold">
                                          <p:stCondLst>
                                            <p:cond delay="0"/>
                                          </p:stCondLst>
                                        </p:cTn>
                                        <p:tgtEl>
                                          <p:spTgt spid="214">
                                            <p:txEl>
                                              <p:pRg st="0" end="0"/>
                                            </p:txEl>
                                          </p:spTgt>
                                        </p:tgtEl>
                                        <p:attrNameLst>
                                          <p:attrName>style.visibility</p:attrName>
                                        </p:attrNameLst>
                                      </p:cBhvr>
                                      <p:to>
                                        <p:strVal val="visible"/>
                                      </p:to>
                                    </p:set>
                                    <p:anim calcmode="lin" valueType="num">
                                      <p:cBhvr additive="base">
                                        <p:cTn id="331" dur="500" fill="hold"/>
                                        <p:tgtEl>
                                          <p:spTgt spid="214">
                                            <p:txEl>
                                              <p:pRg st="0" end="0"/>
                                            </p:txEl>
                                          </p:spTgt>
                                        </p:tgtEl>
                                        <p:attrNameLst>
                                          <p:attrName>ppt_x</p:attrName>
                                        </p:attrNameLst>
                                      </p:cBhvr>
                                      <p:tavLst>
                                        <p:tav>
                                          <p:val>
                                            <p:strVal val="0-#ppt_w/2"/>
                                          </p:val>
                                        </p:tav>
                                        <p:tav tm="100000">
                                          <p:val>
                                            <p:strVal val="#ppt_x"/>
                                          </p:val>
                                        </p:tav>
                                      </p:tavLst>
                                    </p:anim>
                                    <p:anim calcmode="lin" valueType="num">
                                      <p:cBhvr additive="base">
                                        <p:cTn id="332" dur="500" fill="hold"/>
                                        <p:tgtEl>
                                          <p:spTgt spid="214">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333" fill="hold" nodeType="clickEffect">
                      <p:stCondLst>
                        <p:cond delay="indefinite"/>
                      </p:stCondLst>
                      <p:childTnLst>
                        <p:par>
                          <p:cTn id="334" fill="hold" nodeType="withEffect">
                            <p:stCondLst>
                              <p:cond delay="0"/>
                            </p:stCondLst>
                            <p:childTnLst>
                              <p:par>
                                <p:cTn id="335" presetID="2" presetClass="entr" fill="hold" nodeType="clickEffect" presetSubtype="8">
                                  <p:stCondLst>
                                    <p:cond delay="0"/>
                                  </p:stCondLst>
                                  <p:childTnLst>
                                    <p:set>
                                      <p:cBhvr>
                                        <p:cTn id="336" dur="1" fill="hold">
                                          <p:stCondLst>
                                            <p:cond delay="0"/>
                                          </p:stCondLst>
                                        </p:cTn>
                                        <p:tgtEl>
                                          <p:spTgt spid="214">
                                            <p:txEl>
                                              <p:pRg st="1" end="1"/>
                                            </p:txEl>
                                          </p:spTgt>
                                        </p:tgtEl>
                                        <p:attrNameLst>
                                          <p:attrName>style.visibility</p:attrName>
                                        </p:attrNameLst>
                                      </p:cBhvr>
                                      <p:to>
                                        <p:strVal val="visible"/>
                                      </p:to>
                                    </p:set>
                                    <p:anim calcmode="lin" valueType="num">
                                      <p:cBhvr additive="base">
                                        <p:cTn id="337" dur="500" fill="hold"/>
                                        <p:tgtEl>
                                          <p:spTgt spid="214">
                                            <p:txEl>
                                              <p:pRg st="1" end="1"/>
                                            </p:txEl>
                                          </p:spTgt>
                                        </p:tgtEl>
                                        <p:attrNameLst>
                                          <p:attrName>ppt_x</p:attrName>
                                        </p:attrNameLst>
                                      </p:cBhvr>
                                      <p:tavLst>
                                        <p:tav>
                                          <p:val>
                                            <p:strVal val="0-#ppt_w/2"/>
                                          </p:val>
                                        </p:tav>
                                        <p:tav tm="100000">
                                          <p:val>
                                            <p:strVal val="#ppt_x"/>
                                          </p:val>
                                        </p:tav>
                                      </p:tavLst>
                                    </p:anim>
                                    <p:anim calcmode="lin" valueType="num">
                                      <p:cBhvr additive="base">
                                        <p:cTn id="338" dur="500" fill="hold"/>
                                        <p:tgtEl>
                                          <p:spTgt spid="214">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339" fill="hold" nodeType="clickEffect">
                      <p:stCondLst>
                        <p:cond delay="indefinite"/>
                      </p:stCondLst>
                      <p:childTnLst>
                        <p:par>
                          <p:cTn id="340" fill="hold" nodeType="withEffect">
                            <p:stCondLst>
                              <p:cond delay="0"/>
                            </p:stCondLst>
                            <p:childTnLst>
                              <p:par>
                                <p:cTn id="341" presetID="6" presetClass="entr" fill="hold" nodeType="clickEffect" presetSubtype="16">
                                  <p:stCondLst>
                                    <p:cond delay="0"/>
                                  </p:stCondLst>
                                  <p:childTnLst>
                                    <p:set>
                                      <p:cBhvr>
                                        <p:cTn id="342" dur="1" fill="hold">
                                          <p:stCondLst>
                                            <p:cond delay="0"/>
                                          </p:stCondLst>
                                        </p:cTn>
                                        <p:tgtEl>
                                          <p:spTgt spid="218"/>
                                        </p:tgtEl>
                                        <p:attrNameLst>
                                          <p:attrName>style.visibility</p:attrName>
                                        </p:attrNameLst>
                                      </p:cBhvr>
                                      <p:to>
                                        <p:strVal val="visible"/>
                                      </p:to>
                                    </p:set>
                                    <p:animEffect transition="in" filter="circle(in)">
                                      <p:cBhvr additive="repl">
                                        <p:cTn id="343" dur="2000"/>
                                        <p:tgtEl>
                                          <p:spTgt spid="218"/>
                                        </p:tgtEl>
                                      </p:cBhvr>
                                    </p:animEffect>
                                  </p:childTnLst>
                                </p:cTn>
                              </p:par>
                            </p:childTnLst>
                          </p:cTn>
                        </p:par>
                      </p:childTnLst>
                    </p:cTn>
                  </p:par>
                  <p:par>
                    <p:cTn id="344" fill="hold" nodeType="clickEffect">
                      <p:stCondLst>
                        <p:cond delay="indefinite"/>
                      </p:stCondLst>
                      <p:childTnLst>
                        <p:par>
                          <p:cTn id="345" fill="hold" nodeType="withEffect">
                            <p:stCondLst>
                              <p:cond delay="0"/>
                            </p:stCondLst>
                            <p:childTnLst>
                              <p:par>
                                <p:cTn id="346" presetID="3" presetClass="entr" fill="hold" nodeType="clickEffect" presetSubtype="10">
                                  <p:stCondLst>
                                    <p:cond delay="0"/>
                                  </p:stCondLst>
                                  <p:childTnLst>
                                    <p:set>
                                      <p:cBhvr>
                                        <p:cTn id="347" dur="1" fill="hold">
                                          <p:stCondLst>
                                            <p:cond delay="0"/>
                                          </p:stCondLst>
                                        </p:cTn>
                                        <p:tgtEl>
                                          <p:spTgt spid="217"/>
                                        </p:tgtEl>
                                        <p:attrNameLst>
                                          <p:attrName>style.visibility</p:attrName>
                                        </p:attrNameLst>
                                      </p:cBhvr>
                                      <p:to>
                                        <p:strVal val="visible"/>
                                      </p:to>
                                    </p:set>
                                    <p:animEffect transition="in" filter="blinds(horizontal)">
                                      <p:cBhvr additive="repl">
                                        <p:cTn id="348" dur="500"/>
                                        <p:tgtEl>
                                          <p:spTgt spid="217"/>
                                        </p:tgtEl>
                                      </p:cBhvr>
                                    </p:animEffect>
                                  </p:childTnLst>
                                </p:cTn>
                              </p:par>
                            </p:childTnLst>
                          </p:cTn>
                        </p:par>
                      </p:childTnLst>
                    </p:cTn>
                  </p:par>
                  <p:par>
                    <p:cTn id="349" fill="hold" nodeType="clickEffect">
                      <p:stCondLst>
                        <p:cond delay="indefinite"/>
                      </p:stCondLst>
                      <p:childTnLst>
                        <p:par>
                          <p:cTn id="350" fill="hold" nodeType="withEffect">
                            <p:stCondLst>
                              <p:cond delay="0"/>
                            </p:stCondLst>
                            <p:childTnLst>
                              <p:par>
                                <p:cTn id="351" presetID="9" presetClass="entr" fill="hold" nodeType="clickEffect">
                                  <p:stCondLst>
                                    <p:cond delay="0"/>
                                  </p:stCondLst>
                                  <p:childTnLst>
                                    <p:set>
                                      <p:cBhvr>
                                        <p:cTn id="352" dur="1" fill="hold">
                                          <p:stCondLst>
                                            <p:cond delay="0"/>
                                          </p:stCondLst>
                                        </p:cTn>
                                        <p:tgtEl>
                                          <p:spTgt spid="216"/>
                                        </p:tgtEl>
                                        <p:attrNameLst>
                                          <p:attrName>style.visibility</p:attrName>
                                        </p:attrNameLst>
                                      </p:cBhvr>
                                      <p:to>
                                        <p:strVal val="visible"/>
                                      </p:to>
                                    </p:set>
                                    <p:animEffect transition="in" filter="dissolve">
                                      <p:cBhvr additive="repl">
                                        <p:cTn id="353" dur="500"/>
                                        <p:tgtEl>
                                          <p:spTgt spid="216"/>
                                        </p:tgtEl>
                                      </p:cBhvr>
                                    </p:animEffect>
                                  </p:childTnLst>
                                </p:cTn>
                              </p:par>
                            </p:childTnLst>
                          </p:cTn>
                        </p:par>
                      </p:childTnLst>
                    </p:cTn>
                  </p:par>
                  <p:par>
                    <p:cTn id="354" fill="hold" nodeType="clickEffect">
                      <p:stCondLst>
                        <p:cond delay="indefinite"/>
                      </p:stCondLst>
                      <p:childTnLst>
                        <p:par>
                          <p:cTn id="355" fill="hold" nodeType="withEffect">
                            <p:stCondLst>
                              <p:cond delay="0"/>
                            </p:stCondLst>
                            <p:childTnLst>
                              <p:par>
                                <p:cTn id="356" presetID="3" presetClass="entr" fill="hold" nodeType="clickEffect" presetSubtype="10">
                                  <p:stCondLst>
                                    <p:cond delay="0"/>
                                  </p:stCondLst>
                                  <p:childTnLst>
                                    <p:set>
                                      <p:cBhvr>
                                        <p:cTn id="357" dur="1" fill="hold">
                                          <p:stCondLst>
                                            <p:cond delay="0"/>
                                          </p:stCondLst>
                                        </p:cTn>
                                        <p:tgtEl>
                                          <p:spTgt spid="234">
                                            <p:txEl>
                                              <p:pRg st="0" end="0"/>
                                            </p:txEl>
                                          </p:spTgt>
                                        </p:tgtEl>
                                        <p:attrNameLst>
                                          <p:attrName>style.visibility</p:attrName>
                                        </p:attrNameLst>
                                      </p:cBhvr>
                                      <p:to>
                                        <p:strVal val="visible"/>
                                      </p:to>
                                    </p:set>
                                    <p:animEffect transition="in" filter="blinds(horizontal)">
                                      <p:cBhvr additive="repl">
                                        <p:cTn id="358" dur="500"/>
                                        <p:tgtEl>
                                          <p:spTgt spid="234">
                                            <p:txEl>
                                              <p:pRg st="0" end="0"/>
                                            </p:txEl>
                                          </p:spTgt>
                                        </p:tgtEl>
                                      </p:cBhvr>
                                    </p:animEffect>
                                  </p:childTnLst>
                                </p:cTn>
                              </p:par>
                            </p:childTnLst>
                          </p:cTn>
                        </p:par>
                      </p:childTnLst>
                    </p:cTn>
                  </p:par>
                  <p:par>
                    <p:cTn id="359" fill="hold" nodeType="clickEffect">
                      <p:stCondLst>
                        <p:cond delay="indefinite"/>
                      </p:stCondLst>
                      <p:childTnLst>
                        <p:par>
                          <p:cTn id="360" fill="hold" nodeType="withEffect">
                            <p:stCondLst>
                              <p:cond delay="0"/>
                            </p:stCondLst>
                            <p:childTnLst>
                              <p:par>
                                <p:cTn id="361" presetID="4" presetClass="entr" fill="hold" nodeType="clickEffect" presetSubtype="16">
                                  <p:stCondLst>
                                    <p:cond delay="0"/>
                                  </p:stCondLst>
                                  <p:childTnLst>
                                    <p:set>
                                      <p:cBhvr>
                                        <p:cTn id="362" dur="1" fill="hold">
                                          <p:stCondLst>
                                            <p:cond delay="0"/>
                                          </p:stCondLst>
                                        </p:cTn>
                                        <p:tgtEl>
                                          <p:spTgt spid="235"/>
                                        </p:tgtEl>
                                        <p:attrNameLst>
                                          <p:attrName>style.visibility</p:attrName>
                                        </p:attrNameLst>
                                      </p:cBhvr>
                                      <p:to>
                                        <p:strVal val="visible"/>
                                      </p:to>
                                    </p:set>
                                    <p:animEffect transition="in" filter="box(in)">
                                      <p:cBhvr additive="repl">
                                        <p:cTn id="363" dur="500"/>
                                        <p:tgtEl>
                                          <p:spTgt spid="235"/>
                                        </p:tgtEl>
                                      </p:cBhvr>
                                    </p:animEffect>
                                  </p:childTnLst>
                                </p:cTn>
                              </p:par>
                            </p:childTnLst>
                          </p:cTn>
                        </p:par>
                      </p:childTnLst>
                    </p:cTn>
                  </p:par>
                  <p:par>
                    <p:cTn id="364" fill="hold" nodeType="clickEffect">
                      <p:stCondLst>
                        <p:cond delay="indefinite"/>
                      </p:stCondLst>
                      <p:childTnLst>
                        <p:par>
                          <p:cTn id="365" fill="hold" nodeType="withEffect">
                            <p:stCondLst>
                              <p:cond delay="0"/>
                            </p:stCondLst>
                            <p:childTnLst>
                              <p:par>
                                <p:cTn id="366" presetID="9" presetClass="entr" fill="hold" nodeType="clickEffect">
                                  <p:stCondLst>
                                    <p:cond delay="0"/>
                                  </p:stCondLst>
                                  <p:childTnLst>
                                    <p:set>
                                      <p:cBhvr>
                                        <p:cTn id="367" dur="1" fill="hold">
                                          <p:stCondLst>
                                            <p:cond delay="0"/>
                                          </p:stCondLst>
                                        </p:cTn>
                                        <p:tgtEl>
                                          <p:spTgt spid="215"/>
                                        </p:tgtEl>
                                        <p:attrNameLst>
                                          <p:attrName>style.visibility</p:attrName>
                                        </p:attrNameLst>
                                      </p:cBhvr>
                                      <p:to>
                                        <p:strVal val="visible"/>
                                      </p:to>
                                    </p:set>
                                    <p:animEffect transition="in" filter="dissolve">
                                      <p:cBhvr additive="repl">
                                        <p:cTn id="368" dur="500"/>
                                        <p:tgtEl>
                                          <p:spTgt spid="215"/>
                                        </p:tgtEl>
                                      </p:cBhvr>
                                    </p:animEffect>
                                  </p:childTnLst>
                                </p:cTn>
                              </p:par>
                            </p:childTnLst>
                          </p:cTn>
                        </p:par>
                      </p:childTnLst>
                    </p:cTn>
                  </p:par>
                  <p:par>
                    <p:cTn id="369" fill="hold" nodeType="clickEffect">
                      <p:stCondLst>
                        <p:cond delay="indefinite"/>
                      </p:stCondLst>
                      <p:childTnLst>
                        <p:par>
                          <p:cTn id="370" fill="hold" nodeType="withEffect">
                            <p:stCondLst>
                              <p:cond delay="0"/>
                            </p:stCondLst>
                            <p:childTnLst>
                              <p:par>
                                <p:cTn id="371" presetID="2" presetClass="entr" fill="hold" nodeType="clickEffect" presetSubtype="3">
                                  <p:stCondLst>
                                    <p:cond delay="0"/>
                                  </p:stCondLst>
                                  <p:childTnLst>
                                    <p:set>
                                      <p:cBhvr>
                                        <p:cTn id="372" dur="1" fill="hold">
                                          <p:stCondLst>
                                            <p:cond delay="0"/>
                                          </p:stCondLst>
                                        </p:cTn>
                                        <p:tgtEl>
                                          <p:spTgt spid="236"/>
                                        </p:tgtEl>
                                        <p:attrNameLst>
                                          <p:attrName>style.visibility</p:attrName>
                                        </p:attrNameLst>
                                      </p:cBhvr>
                                      <p:to>
                                        <p:strVal val="visible"/>
                                      </p:to>
                                    </p:set>
                                    <p:anim calcmode="lin" valueType="num">
                                      <p:cBhvr additive="base">
                                        <p:cTn id="373" dur="500" fill="hold"/>
                                        <p:tgtEl>
                                          <p:spTgt spid="236"/>
                                        </p:tgtEl>
                                        <p:attrNameLst>
                                          <p:attrName>ppt_x</p:attrName>
                                        </p:attrNameLst>
                                      </p:cBhvr>
                                      <p:tavLst>
                                        <p:tav>
                                          <p:val>
                                            <p:strVal val="1+#ppt_w/2"/>
                                          </p:val>
                                        </p:tav>
                                        <p:tav tm="100000">
                                          <p:val>
                                            <p:strVal val="#ppt_x"/>
                                          </p:val>
                                        </p:tav>
                                      </p:tavLst>
                                    </p:anim>
                                    <p:anim calcmode="lin" valueType="num">
                                      <p:cBhvr additive="base">
                                        <p:cTn id="374" dur="500" fill="hold"/>
                                        <p:tgtEl>
                                          <p:spTgt spid="236"/>
                                        </p:tgtEl>
                                        <p:attrNameLst>
                                          <p:attrName>ppt_y</p:attrName>
                                        </p:attrNameLst>
                                      </p:cBhvr>
                                      <p:tavLst>
                                        <p:tav>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Rectangle 31"/>
          <p:cNvSpPr/>
          <p:nvPr/>
        </p:nvSpPr>
        <p:spPr>
          <a:xfrm>
            <a:off x="304920" y="193680"/>
            <a:ext cx="9036000" cy="110988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式中</a:t>
            </a:r>
            <a:r>
              <a:rPr lang="en-US" sz="2400" b="1" i="1" u="none" strike="noStrike">
                <a:solidFill>
                  <a:srgbClr val="FF0000"/>
                </a:solidFill>
                <a:effectLst/>
                <a:uFillTx/>
                <a:latin typeface="Times New Roman"/>
              </a:rPr>
              <a:t>K</a:t>
            </a:r>
            <a:r>
              <a:rPr lang="en-US" sz="2400" b="1" i="1" u="none" strike="noStrike" baseline="-25000">
                <a:solidFill>
                  <a:srgbClr val="FF0000"/>
                </a:solidFill>
                <a:effectLst/>
                <a:uFillTx/>
                <a:latin typeface="Times New Roman"/>
              </a:rPr>
              <a:t>g</a:t>
            </a:r>
            <a:r>
              <a:rPr lang="zh-CN" sz="2400" b="1" u="none" strike="noStrike">
                <a:solidFill>
                  <a:srgbClr val="FF0000"/>
                </a:solidFill>
                <a:effectLst/>
                <a:uFillTx/>
                <a:latin typeface="Times New Roman"/>
              </a:rPr>
              <a:t>为系统的根轨迹增益， </a:t>
            </a:r>
            <a:r>
              <a:rPr lang="en-US" sz="2400" b="1" i="1" u="none" strike="noStrike">
                <a:solidFill>
                  <a:srgbClr val="FF0000"/>
                </a:solidFill>
                <a:effectLst/>
                <a:uFillTx/>
                <a:latin typeface="Times New Roman"/>
              </a:rPr>
              <a:t>z</a:t>
            </a:r>
            <a:r>
              <a:rPr lang="en-US" sz="2400" b="1" i="1" u="none" strike="noStrike" baseline="-25000">
                <a:solidFill>
                  <a:srgbClr val="FF0000"/>
                </a:solidFill>
                <a:effectLst/>
                <a:uFillTx/>
                <a:latin typeface="Times New Roman"/>
              </a:rPr>
              <a:t>i </a:t>
            </a:r>
            <a:r>
              <a:rPr lang="zh-CN" sz="2400" b="1" u="none" strike="noStrike">
                <a:solidFill>
                  <a:srgbClr val="FF0000"/>
                </a:solidFill>
                <a:effectLst/>
                <a:uFillTx/>
                <a:latin typeface="Times New Roman"/>
              </a:rPr>
              <a:t>为系统的</a:t>
            </a:r>
            <a:r>
              <a:rPr lang="zh-CN" sz="2400" b="1" u="none" strike="noStrike">
                <a:solidFill>
                  <a:srgbClr val="000099"/>
                </a:solidFill>
                <a:effectLst/>
                <a:uFillTx/>
                <a:latin typeface="Times New Roman"/>
              </a:rPr>
              <a:t>开环</a:t>
            </a:r>
            <a:r>
              <a:rPr lang="zh-CN" sz="2400" b="1" u="none" strike="noStrike">
                <a:solidFill>
                  <a:srgbClr val="FF0000"/>
                </a:solidFill>
                <a:effectLst/>
                <a:uFillTx/>
                <a:latin typeface="Times New Roman"/>
              </a:rPr>
              <a:t>零点，</a:t>
            </a:r>
            <a:r>
              <a:rPr lang="en-US" sz="2400" b="1" i="1" u="none" strike="noStrike">
                <a:solidFill>
                  <a:srgbClr val="FF0000"/>
                </a:solidFill>
                <a:effectLst/>
                <a:uFillTx/>
                <a:latin typeface="Times New Roman"/>
              </a:rPr>
              <a:t>p</a:t>
            </a:r>
            <a:r>
              <a:rPr lang="en-US" sz="2400" b="1" i="1" u="none" strike="noStrike" baseline="-25000">
                <a:solidFill>
                  <a:srgbClr val="FF0000"/>
                </a:solidFill>
                <a:effectLst/>
                <a:uFillTx/>
                <a:latin typeface="Times New Roman"/>
              </a:rPr>
              <a:t>j</a:t>
            </a:r>
            <a:r>
              <a:rPr lang="zh-CN" sz="2400" b="1" u="none" strike="noStrike">
                <a:solidFill>
                  <a:srgbClr val="FF0000"/>
                </a:solidFill>
                <a:effectLst/>
                <a:uFillTx/>
                <a:latin typeface="Times New Roman"/>
              </a:rPr>
              <a:t>为系统的</a:t>
            </a:r>
            <a:r>
              <a:rPr lang="zh-CN" sz="2400" b="1" u="none" strike="noStrike">
                <a:solidFill>
                  <a:srgbClr val="000099"/>
                </a:solidFill>
                <a:effectLst/>
                <a:uFillTx/>
                <a:latin typeface="Times New Roman"/>
              </a:rPr>
              <a:t>开环</a:t>
            </a:r>
            <a:r>
              <a:rPr lang="zh-CN" sz="2400" b="1" u="none" strike="noStrike">
                <a:solidFill>
                  <a:srgbClr val="FF0000"/>
                </a:solidFill>
                <a:effectLst/>
                <a:uFillTx/>
                <a:latin typeface="Times New Roman"/>
              </a:rPr>
              <a:t>极点</a:t>
            </a:r>
            <a:r>
              <a:rPr lang="zh-CN" sz="2400" b="1" u="none" strike="noStrike">
                <a:solidFill>
                  <a:srgbClr val="000000"/>
                </a:solidFill>
                <a:effectLst/>
                <a:uFillTx/>
                <a:latin typeface="Times New Roman"/>
              </a:rPr>
              <a:t>。上述方程又可写为：</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238" name="Object 32"/>
              <p:cNvSpPr txBox="1"/>
              <p:nvPr/>
            </p:nvSpPr>
            <p:spPr>
              <a:xfrm>
                <a:off x="3184560" y="1244520"/>
                <a:ext cx="2660760" cy="1941480"/>
              </a:xfrm>
              <a:prstGeom prst="rect">
                <a:avLst/>
              </a:prstGeom>
            </p:spPr>
            <p:txBody>
              <a:bodyPr/>
              <a:p>
                <a14:m>
                  <m:oMath xmlns:m="http://schemas.openxmlformats.org/officeDocument/2006/math">
                    <m:f>
                      <m:num>
                        <m:sSub>
                          <m:e>
                            <m:r>
                              <m:t xml:space="preserve">K</m:t>
                            </m:r>
                          </m:e>
                          <m:sub>
                            <m:r>
                              <m:t xml:space="preserve">g</m:t>
                            </m:r>
                          </m:sub>
                        </m:sSub>
                        <m:nary>
                          <m:naryPr>
                            <m:chr m:val="∏"/>
                          </m:naryPr>
                          <m:sub>
                            <m:r>
                              <m:t xml:space="preserve">i</m:t>
                            </m:r>
                            <m:r>
                              <m:t xml:space="preserve">=</m:t>
                            </m:r>
                            <m:r>
                              <m:t xml:space="preserve">1</m:t>
                            </m:r>
                          </m:sub>
                          <m:sup>
                            <m:r>
                              <m:t xml:space="preserve">m</m:t>
                            </m:r>
                          </m:sup>
                          <m:e>
                            <m:r>
                              <m:t xml:space="preserve">(</m:t>
                            </m:r>
                            <m:r>
                              <m:t xml:space="preserve">s</m:t>
                            </m:r>
                            <m:r>
                              <m:t xml:space="preserve">−</m:t>
                            </m:r>
                            <m:sSub>
                              <m:e>
                                <m:r>
                                  <m:t xml:space="preserve">z</m:t>
                                </m:r>
                              </m:e>
                              <m:sub>
                                <m:r>
                                  <m:t xml:space="preserve">i</m:t>
                                </m:r>
                              </m:sub>
                            </m:sSub>
                            <m:r>
                              <m:t xml:space="preserve">)</m:t>
                            </m:r>
                          </m:e>
                        </m:nary>
                      </m:num>
                      <m:den>
                        <m:nary>
                          <m:naryPr>
                            <m:chr m:val="∏"/>
                          </m:naryPr>
                          <m:sub>
                            <m:r>
                              <m:t xml:space="preserve">j</m:t>
                            </m:r>
                            <m:r>
                              <m:t xml:space="preserve">=</m:t>
                            </m:r>
                            <m:r>
                              <m:t xml:space="preserve">1</m:t>
                            </m:r>
                          </m:sub>
                          <m:sup>
                            <m:r>
                              <m:t xml:space="preserve">n</m:t>
                            </m:r>
                          </m:sup>
                          <m:e>
                            <m:r>
                              <m:t xml:space="preserve">(</m:t>
                            </m:r>
                            <m:r>
                              <m:t xml:space="preserve">s</m:t>
                            </m:r>
                            <m:r>
                              <m:t xml:space="preserve">−</m:t>
                            </m:r>
                            <m:sSub>
                              <m:e>
                                <m:r>
                                  <m:t xml:space="preserve">p</m:t>
                                </m:r>
                              </m:e>
                              <m:sub>
                                <m:r>
                                  <m:t xml:space="preserve">j</m:t>
                                </m:r>
                              </m:sub>
                            </m:sSub>
                            <m:r>
                              <m:t xml:space="preserve">)</m:t>
                            </m:r>
                          </m:e>
                        </m:nary>
                      </m:den>
                    </m:f>
                    <m:r>
                      <m:t xml:space="preserve">=</m:t>
                    </m:r>
                    <m:r>
                      <m:t xml:space="preserve">−</m:t>
                    </m:r>
                    <m:r>
                      <m:t xml:space="preserve">1</m:t>
                    </m:r>
                  </m:oMath>
                </a14:m>
              </a:p>
            </p:txBody>
          </p:sp>
        </mc:Choice>
        <mc:Fallback>
          <p:sp>
            <p:nvSpPr>
              <p:cNvPr id="238" name="Object 32"/>
              <p:cNvSpPr txBox="1"/>
              <p:nvPr/>
            </p:nvSpPr>
            <p:spPr>
              <a:xfrm>
                <a:off x="3184560" y="1244520"/>
                <a:ext cx="2660760" cy="1941480"/>
              </a:xfrm>
              <a:prstGeom prst="rect">
                <a:avLst/>
              </a:prstGeom>
              <a:blipFill>
                <a:blip r:embed="rId1"/>
                <a:stretch>
                  <a:fillRect/>
                </a:stretch>
              </a:blipFill>
            </p:spPr>
          </p:sp>
        </mc:Fallback>
      </mc:AlternateContent>
      <p:sp>
        <p:nvSpPr>
          <p:cNvPr id="239" name="Rectangle 35"/>
          <p:cNvSpPr/>
          <p:nvPr/>
        </p:nvSpPr>
        <p:spPr>
          <a:xfrm>
            <a:off x="0" y="2629080"/>
            <a:ext cx="9029880" cy="244008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由于满足上式的任何</a:t>
            </a:r>
            <a:r>
              <a:rPr lang="en-US" sz="2400" b="1" u="none" strike="noStrike">
                <a:solidFill>
                  <a:srgbClr val="000000"/>
                </a:solidFill>
                <a:effectLst/>
                <a:uFillTx/>
                <a:latin typeface="Times New Roman"/>
              </a:rPr>
              <a:t>s</a:t>
            </a:r>
            <a:r>
              <a:rPr lang="zh-CN" sz="2400" b="1" u="none" strike="noStrike">
                <a:solidFill>
                  <a:srgbClr val="000000"/>
                </a:solidFill>
                <a:effectLst/>
                <a:uFillTx/>
                <a:latin typeface="Times New Roman"/>
              </a:rPr>
              <a:t>都是系统的闭环极点，所以当系统的结构参数，如</a:t>
            </a:r>
            <a:r>
              <a:rPr lang="en-US" sz="2400" b="1" i="1" u="none" strike="noStrike">
                <a:solidFill>
                  <a:srgbClr val="000000"/>
                </a:solidFill>
                <a:effectLst/>
                <a:uFillTx/>
                <a:latin typeface="Times New Roman"/>
              </a:rPr>
              <a:t>K</a:t>
            </a:r>
            <a:r>
              <a:rPr lang="en-US" sz="2000" b="1" i="1" u="none" strike="noStrike">
                <a:solidFill>
                  <a:srgbClr val="000000"/>
                </a:solidFill>
                <a:effectLst/>
                <a:uFillTx/>
                <a:latin typeface="Times New Roman"/>
              </a:rPr>
              <a:t>g</a:t>
            </a:r>
            <a:r>
              <a:rPr lang="zh-CN" sz="2400" b="1" u="none" strike="noStrike">
                <a:solidFill>
                  <a:srgbClr val="000000"/>
                </a:solidFill>
                <a:effectLst/>
                <a:uFillTx/>
                <a:latin typeface="Times New Roman"/>
              </a:rPr>
              <a:t>在某一范围内连续变化时，由上式制约的</a:t>
            </a:r>
            <a:r>
              <a:rPr lang="en-US" sz="2400" b="1" u="none" strike="noStrike">
                <a:solidFill>
                  <a:srgbClr val="000000"/>
                </a:solidFill>
                <a:effectLst/>
                <a:uFillTx/>
                <a:latin typeface="Times New Roman"/>
              </a:rPr>
              <a:t>s</a:t>
            </a:r>
            <a:r>
              <a:rPr lang="zh-CN" sz="2400" b="1" u="none" strike="noStrike">
                <a:solidFill>
                  <a:srgbClr val="000000"/>
                </a:solidFill>
                <a:effectLst/>
                <a:uFillTx/>
                <a:latin typeface="Times New Roman"/>
              </a:rPr>
              <a:t>在</a:t>
            </a:r>
            <a:r>
              <a:rPr lang="en-US" sz="2400" b="1" u="none" strike="noStrike">
                <a:solidFill>
                  <a:srgbClr val="000000"/>
                </a:solidFill>
                <a:effectLst/>
                <a:uFillTx/>
                <a:latin typeface="Times New Roman"/>
              </a:rPr>
              <a:t>s</a:t>
            </a:r>
            <a:r>
              <a:rPr lang="zh-CN" sz="2400" b="1" u="none" strike="noStrike">
                <a:solidFill>
                  <a:srgbClr val="000000"/>
                </a:solidFill>
                <a:effectLst/>
                <a:uFillTx/>
                <a:latin typeface="Times New Roman"/>
              </a:rPr>
              <a:t>平面上描画的轨迹就是系统的根轨迹。因此上式称之为系统的</a:t>
            </a:r>
            <a:r>
              <a:rPr lang="zh-CN" sz="2400" b="1" u="none" strike="noStrike">
                <a:solidFill>
                  <a:srgbClr val="FF0000"/>
                </a:solidFill>
                <a:effectLst/>
                <a:uFillTx/>
                <a:latin typeface="Times New Roman"/>
              </a:rPr>
              <a:t>根轨迹方程</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p:sp>
        <p:nvSpPr>
          <p:cNvPr id="240" name="Rectangle 37"/>
          <p:cNvSpPr/>
          <p:nvPr/>
        </p:nvSpPr>
        <p:spPr>
          <a:xfrm>
            <a:off x="304920" y="4703760"/>
            <a:ext cx="345276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根轨迹的幅值方程：</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241" name="Object 38"/>
              <p:cNvSpPr txBox="1"/>
              <p:nvPr/>
            </p:nvSpPr>
            <p:spPr>
              <a:xfrm>
                <a:off x="3537000" y="4861080"/>
                <a:ext cx="1515960" cy="1272960"/>
              </a:xfrm>
              <a:prstGeom prst="rect">
                <a:avLst/>
              </a:prstGeom>
            </p:spPr>
            <p:txBody>
              <a:bodyPr/>
              <a:p>
                <a14:m>
                  <m:oMath xmlns:m="http://schemas.openxmlformats.org/officeDocument/2006/math">
                    <m:f>
                      <m:num>
                        <m:sSub>
                          <m:e>
                            <m:r>
                              <m:t xml:space="preserve">K</m:t>
                            </m:r>
                          </m:e>
                          <m:sub>
                            <m:r>
                              <m:t xml:space="preserve">g</m:t>
                            </m:r>
                          </m:sub>
                        </m:sSub>
                        <m:nary>
                          <m:naryPr>
                            <m:chr m:val="∏"/>
                          </m:naryPr>
                          <m:sub>
                            <m:r>
                              <m:t xml:space="preserve">i</m:t>
                            </m:r>
                            <m:r>
                              <m:t xml:space="preserve">=</m:t>
                            </m:r>
                            <m:r>
                              <m:t xml:space="preserve">1</m:t>
                            </m:r>
                          </m:sub>
                          <m:sup>
                            <m:r>
                              <m:t xml:space="preserve">m</m:t>
                            </m:r>
                          </m:sup>
                          <m:e>
                            <m:d>
                              <m:dPr>
                                <m:begChr m:val="|"/>
                                <m:endChr m:val="|"/>
                              </m:dPr>
                              <m:e>
                                <m:r>
                                  <m:t xml:space="preserve">s</m:t>
                                </m:r>
                                <m:r>
                                  <m:t xml:space="preserve">−</m:t>
                                </m:r>
                                <m:sSub>
                                  <m:e>
                                    <m:r>
                                      <m:t xml:space="preserve">z</m:t>
                                    </m:r>
                                  </m:e>
                                  <m:sub>
                                    <m:r>
                                      <m:t xml:space="preserve">i</m:t>
                                    </m:r>
                                  </m:sub>
                                </m:sSub>
                              </m:e>
                            </m:d>
                          </m:e>
                        </m:nary>
                      </m:num>
                      <m:den>
                        <m:nary>
                          <m:naryPr>
                            <m:chr m:val="∏"/>
                          </m:naryPr>
                          <m:sub>
                            <m:r>
                              <m:t xml:space="preserve">j</m:t>
                            </m:r>
                            <m:r>
                              <m:t xml:space="preserve">=</m:t>
                            </m:r>
                            <m:r>
                              <m:t xml:space="preserve">1</m:t>
                            </m:r>
                          </m:sub>
                          <m:sup>
                            <m:r>
                              <m:t xml:space="preserve">n</m:t>
                            </m:r>
                          </m:sup>
                          <m:e>
                            <m:d>
                              <m:dPr>
                                <m:begChr m:val="|"/>
                                <m:endChr m:val="|"/>
                              </m:dPr>
                              <m:e>
                                <m:r>
                                  <m:t xml:space="preserve">s</m:t>
                                </m:r>
                                <m:r>
                                  <m:t xml:space="preserve">−</m:t>
                                </m:r>
                                <m:sSub>
                                  <m:e>
                                    <m:r>
                                      <m:t xml:space="preserve">p</m:t>
                                    </m:r>
                                  </m:e>
                                  <m:sub>
                                    <m:r>
                                      <m:t xml:space="preserve">j</m:t>
                                    </m:r>
                                  </m:sub>
                                </m:sSub>
                              </m:e>
                            </m:d>
                          </m:e>
                        </m:nary>
                      </m:den>
                    </m:f>
                    <m:r>
                      <m:t xml:space="preserve">=</m:t>
                    </m:r>
                    <m:r>
                      <m:t xml:space="preserve">1</m:t>
                    </m:r>
                  </m:oMath>
                </a14:m>
              </a:p>
            </p:txBody>
          </p:sp>
        </mc:Choice>
        <mc:Fallback>
          <p:sp>
            <p:nvSpPr>
              <p:cNvPr id="241" name="Object 38"/>
              <p:cNvSpPr txBox="1"/>
              <p:nvPr/>
            </p:nvSpPr>
            <p:spPr>
              <a:xfrm>
                <a:off x="3537000" y="4861080"/>
                <a:ext cx="1515960" cy="1272960"/>
              </a:xfrm>
              <a:prstGeom prst="rect">
                <a:avLst/>
              </a:prstGeom>
              <a:blipFill>
                <a:blip r:embed="rId2"/>
                <a:stretch>
                  <a:fillRect/>
                </a:stretch>
              </a:blipFill>
            </p:spPr>
          </p:sp>
        </mc:Fallback>
      </mc:AlternateContent>
    </p:spTree>
  </p:cSld>
  <mc:AlternateContent>
    <mc:Choice Requires="p14">
      <p:transition spd="slow" p14:dur="2000"/>
    </mc:Choice>
    <mc:Fallback>
      <p:transition spd="slow"/>
    </mc:Fallback>
  </mc:AlternateContent>
  <p:timing>
    <p:tnLst>
      <p:par>
        <p:cTn id="375" dur="indefinite" restart="never" nodeType="tmRoot">
          <p:childTnLst>
            <p:seq>
              <p:cTn id="376" dur="indefinite" nodeType="mainSeq">
                <p:childTnLst>
                  <p:par>
                    <p:cTn id="377" fill="hold" nodeType="clickEffect">
                      <p:stCondLst>
                        <p:cond delay="indefinite"/>
                      </p:stCondLst>
                      <p:childTnLst>
                        <p:par>
                          <p:cTn id="378" fill="hold" nodeType="withEffect">
                            <p:stCondLst>
                              <p:cond delay="0"/>
                            </p:stCondLst>
                            <p:childTnLst>
                              <p:par>
                                <p:cTn id="379" presetID="2" presetClass="entr" fill="hold" nodeType="clickEffect" presetSubtype="8">
                                  <p:stCondLst>
                                    <p:cond delay="0"/>
                                  </p:stCondLst>
                                  <p:childTnLst>
                                    <p:set>
                                      <p:cBhvr>
                                        <p:cTn id="380" dur="1" fill="hold">
                                          <p:stCondLst>
                                            <p:cond delay="0"/>
                                          </p:stCondLst>
                                        </p:cTn>
                                        <p:tgtEl>
                                          <p:spTgt spid="237"/>
                                        </p:tgtEl>
                                        <p:attrNameLst>
                                          <p:attrName>style.visibility</p:attrName>
                                        </p:attrNameLst>
                                      </p:cBhvr>
                                      <p:to>
                                        <p:strVal val="visible"/>
                                      </p:to>
                                    </p:set>
                                    <p:anim calcmode="lin" valueType="num">
                                      <p:cBhvr additive="base">
                                        <p:cTn id="381" dur="500" fill="hold"/>
                                        <p:tgtEl>
                                          <p:spTgt spid="237"/>
                                        </p:tgtEl>
                                        <p:attrNameLst>
                                          <p:attrName>ppt_x</p:attrName>
                                        </p:attrNameLst>
                                      </p:cBhvr>
                                      <p:tavLst>
                                        <p:tav>
                                          <p:val>
                                            <p:strVal val="0-#ppt_w/2"/>
                                          </p:val>
                                        </p:tav>
                                        <p:tav tm="100000">
                                          <p:val>
                                            <p:strVal val="#ppt_x"/>
                                          </p:val>
                                        </p:tav>
                                      </p:tavLst>
                                    </p:anim>
                                    <p:anim calcmode="lin" valueType="num">
                                      <p:cBhvr additive="base">
                                        <p:cTn id="382" dur="500" fill="hold"/>
                                        <p:tgtEl>
                                          <p:spTgt spid="237"/>
                                        </p:tgtEl>
                                        <p:attrNameLst>
                                          <p:attrName>ppt_y</p:attrName>
                                        </p:attrNameLst>
                                      </p:cBhvr>
                                      <p:tavLst>
                                        <p:tav>
                                          <p:val>
                                            <p:strVal val="#ppt_y"/>
                                          </p:val>
                                        </p:tav>
                                        <p:tav tm="100000">
                                          <p:val>
                                            <p:strVal val="#ppt_y"/>
                                          </p:val>
                                        </p:tav>
                                      </p:tavLst>
                                    </p:anim>
                                  </p:childTnLst>
                                </p:cTn>
                              </p:par>
                            </p:childTnLst>
                          </p:cTn>
                        </p:par>
                      </p:childTnLst>
                    </p:cTn>
                  </p:par>
                  <p:par>
                    <p:cTn id="383" fill="hold" nodeType="clickEffect">
                      <p:stCondLst>
                        <p:cond delay="indefinite"/>
                      </p:stCondLst>
                      <p:childTnLst>
                        <p:par>
                          <p:cTn id="384" fill="hold" nodeType="withEffect">
                            <p:stCondLst>
                              <p:cond delay="0"/>
                            </p:stCondLst>
                            <p:childTnLst>
                              <p:par>
                                <p:cTn id="385" presetID="9" presetClass="entr" fill="hold" nodeType="clickEffect">
                                  <p:stCondLst>
                                    <p:cond delay="0"/>
                                  </p:stCondLst>
                                  <p:childTnLst>
                                    <p:set>
                                      <p:cBhvr>
                                        <p:cTn id="386" dur="1" fill="hold">
                                          <p:stCondLst>
                                            <p:cond delay="0"/>
                                          </p:stCondLst>
                                        </p:cTn>
                                        <p:tgtEl>
                                          <p:spTgt spid="238"/>
                                        </p:tgtEl>
                                        <p:attrNameLst>
                                          <p:attrName>style.visibility</p:attrName>
                                        </p:attrNameLst>
                                      </p:cBhvr>
                                      <p:to>
                                        <p:strVal val="visible"/>
                                      </p:to>
                                    </p:set>
                                    <p:animEffect transition="in" filter="dissolve">
                                      <p:cBhvr additive="repl">
                                        <p:cTn id="387" dur="500"/>
                                        <p:tgtEl>
                                          <p:spTgt spid="238"/>
                                        </p:tgtEl>
                                      </p:cBhvr>
                                    </p:animEffect>
                                  </p:childTnLst>
                                </p:cTn>
                              </p:par>
                            </p:childTnLst>
                          </p:cTn>
                        </p:par>
                      </p:childTnLst>
                    </p:cTn>
                  </p:par>
                  <p:par>
                    <p:cTn id="388" fill="hold" nodeType="clickEffect">
                      <p:stCondLst>
                        <p:cond delay="indefinite"/>
                      </p:stCondLst>
                      <p:childTnLst>
                        <p:par>
                          <p:cTn id="389" fill="hold" nodeType="withEffect">
                            <p:stCondLst>
                              <p:cond delay="0"/>
                            </p:stCondLst>
                            <p:childTnLst>
                              <p:par>
                                <p:cTn id="390" presetID="27" presetClass="entr" fill="hold" nodeType="clickEffect">
                                  <p:stCondLst>
                                    <p:cond delay="0"/>
                                  </p:stCondLst>
                                  <p:iterate type="lt">
                                    <p:tmAbs val="40"/>
                                  </p:iterate>
                                  <p:childTnLst>
                                    <p:set>
                                      <p:cBhvr>
                                        <p:cTn id="391" dur="1" fill="hold">
                                          <p:stCondLst>
                                            <p:cond delay="0"/>
                                          </p:stCondLst>
                                        </p:cTn>
                                        <p:tgtEl>
                                          <p:spTgt spid="239"/>
                                        </p:tgtEl>
                                        <p:attrNameLst>
                                          <p:attrName>style.visibility</p:attrName>
                                        </p:attrNameLst>
                                      </p:cBhvr>
                                      <p:to>
                                        <p:strVal val="visible"/>
                                      </p:to>
                                    </p:set>
                                    <p:anim calcmode="discrete" valueType="clr">
                                      <p:cBhvr additive="repl">
                                        <p:cTn id="392" dur="80"/>
                                        <p:tgtEl>
                                          <p:spTgt spid="239"/>
                                        </p:tgtEl>
                                        <p:attrNameLst>
                                          <p:attrName>style.color</p:attrName>
                                        </p:attrNameLst>
                                      </p:cBhvr>
                                      <p:tavLst>
                                        <p:tav>
                                          <p:val>
                                            <p:strVal val="rgb(-52,51,51)"/>
                                          </p:val>
                                        </p:tav>
                                        <p:tav tm="50000">
                                          <p:val>
                                            <p:strVal val="rgb(-1,-52,-52)"/>
                                          </p:val>
                                        </p:tav>
                                      </p:tavLst>
                                    </p:anim>
                                    <p:anim calcmode="discrete" valueType="clr">
                                      <p:cBhvr additive="repl">
                                        <p:cTn id="393" dur="80"/>
                                        <p:tgtEl>
                                          <p:spTgt spid="239"/>
                                        </p:tgtEl>
                                        <p:attrNameLst>
                                          <p:attrName>fillcolor</p:attrName>
                                        </p:attrNameLst>
                                      </p:cBhvr>
                                      <p:tavLst>
                                        <p:tav>
                                          <p:val>
                                            <p:strVal val="rgb(-52,51,51)"/>
                                          </p:val>
                                        </p:tav>
                                        <p:tav tm="50000">
                                          <p:val>
                                            <p:strVal val="rgb(-1,-52,-52)"/>
                                          </p:val>
                                        </p:tav>
                                      </p:tavLst>
                                    </p:anim>
                                    <p:set>
                                      <p:cBhvr>
                                        <p:cTn id="394" dur="80"/>
                                        <p:tgtEl>
                                          <p:spTgt spid="239"/>
                                        </p:tgtEl>
                                        <p:attrNameLst>
                                          <p:attrName>fill.type</p:attrName>
                                        </p:attrNameLst>
                                      </p:cBhvr>
                                      <p:to>
                                        <p:strVal val="solid"/>
                                      </p:to>
                                    </p:set>
                                  </p:childTnLst>
                                </p:cTn>
                              </p:par>
                            </p:childTnLst>
                          </p:cTn>
                        </p:par>
                      </p:childTnLst>
                    </p:cTn>
                  </p:par>
                  <p:par>
                    <p:cTn id="395" fill="hold" nodeType="clickEffect">
                      <p:stCondLst>
                        <p:cond delay="indefinite"/>
                      </p:stCondLst>
                      <p:childTnLst>
                        <p:par>
                          <p:cTn id="396" fill="hold" nodeType="withEffect">
                            <p:stCondLst>
                              <p:cond delay="0"/>
                            </p:stCondLst>
                            <p:childTnLst>
                              <p:par>
                                <p:cTn id="397" presetID="2" presetClass="entr" fill="hold" nodeType="clickEffect" presetSubtype="8">
                                  <p:stCondLst>
                                    <p:cond delay="0"/>
                                  </p:stCondLst>
                                  <p:childTnLst>
                                    <p:set>
                                      <p:cBhvr>
                                        <p:cTn id="398" dur="1" fill="hold">
                                          <p:stCondLst>
                                            <p:cond delay="0"/>
                                          </p:stCondLst>
                                        </p:cTn>
                                        <p:tgtEl>
                                          <p:spTgt spid="240"/>
                                        </p:tgtEl>
                                        <p:attrNameLst>
                                          <p:attrName>style.visibility</p:attrName>
                                        </p:attrNameLst>
                                      </p:cBhvr>
                                      <p:to>
                                        <p:strVal val="visible"/>
                                      </p:to>
                                    </p:set>
                                    <p:anim calcmode="lin" valueType="num">
                                      <p:cBhvr additive="base">
                                        <p:cTn id="399" dur="500" fill="hold"/>
                                        <p:tgtEl>
                                          <p:spTgt spid="240"/>
                                        </p:tgtEl>
                                        <p:attrNameLst>
                                          <p:attrName>ppt_x</p:attrName>
                                        </p:attrNameLst>
                                      </p:cBhvr>
                                      <p:tavLst>
                                        <p:tav>
                                          <p:val>
                                            <p:strVal val="0-#ppt_w/2"/>
                                          </p:val>
                                        </p:tav>
                                        <p:tav tm="100000">
                                          <p:val>
                                            <p:strVal val="#ppt_x"/>
                                          </p:val>
                                        </p:tav>
                                      </p:tavLst>
                                    </p:anim>
                                    <p:anim calcmode="lin" valueType="num">
                                      <p:cBhvr additive="base">
                                        <p:cTn id="400" dur="500" fill="hold"/>
                                        <p:tgtEl>
                                          <p:spTgt spid="240"/>
                                        </p:tgtEl>
                                        <p:attrNameLst>
                                          <p:attrName>ppt_y</p:attrName>
                                        </p:attrNameLst>
                                      </p:cBhvr>
                                      <p:tavLst>
                                        <p:tav>
                                          <p:val>
                                            <p:strVal val="#ppt_y"/>
                                          </p:val>
                                        </p:tav>
                                        <p:tav tm="100000">
                                          <p:val>
                                            <p:strVal val="#ppt_y"/>
                                          </p:val>
                                        </p:tav>
                                      </p:tavLst>
                                    </p:anim>
                                  </p:childTnLst>
                                </p:cTn>
                              </p:par>
                            </p:childTnLst>
                          </p:cTn>
                        </p:par>
                      </p:childTnLst>
                    </p:cTn>
                  </p:par>
                  <p:par>
                    <p:cTn id="401" fill="hold" nodeType="clickEffect">
                      <p:stCondLst>
                        <p:cond delay="indefinite"/>
                      </p:stCondLst>
                      <p:childTnLst>
                        <p:par>
                          <p:cTn id="402" fill="hold" nodeType="withEffect">
                            <p:stCondLst>
                              <p:cond delay="0"/>
                            </p:stCondLst>
                            <p:childTnLst>
                              <p:par>
                                <p:cTn id="403" presetID="2" presetClass="entr" fill="hold" nodeType="clickEffect" presetSubtype="4">
                                  <p:stCondLst>
                                    <p:cond delay="0"/>
                                  </p:stCondLst>
                                  <p:childTnLst>
                                    <p:set>
                                      <p:cBhvr>
                                        <p:cTn id="404" dur="1" fill="hold">
                                          <p:stCondLst>
                                            <p:cond delay="0"/>
                                          </p:stCondLst>
                                        </p:cTn>
                                        <p:tgtEl>
                                          <p:spTgt spid="241"/>
                                        </p:tgtEl>
                                        <p:attrNameLst>
                                          <p:attrName>style.visibility</p:attrName>
                                        </p:attrNameLst>
                                      </p:cBhvr>
                                      <p:to>
                                        <p:strVal val="visible"/>
                                      </p:to>
                                    </p:set>
                                    <p:anim calcmode="lin" valueType="num">
                                      <p:cBhvr additive="base">
                                        <p:cTn id="405" dur="500" fill="hold"/>
                                        <p:tgtEl>
                                          <p:spTgt spid="241"/>
                                        </p:tgtEl>
                                        <p:attrNameLst>
                                          <p:attrName>ppt_x</p:attrName>
                                        </p:attrNameLst>
                                      </p:cBhvr>
                                      <p:tavLst>
                                        <p:tav>
                                          <p:val>
                                            <p:strVal val="#ppt_x"/>
                                          </p:val>
                                        </p:tav>
                                        <p:tav tm="100000">
                                          <p:val>
                                            <p:strVal val="#ppt_x"/>
                                          </p:val>
                                        </p:tav>
                                      </p:tavLst>
                                    </p:anim>
                                    <p:anim calcmode="lin" valueType="num">
                                      <p:cBhvr additive="base">
                                        <p:cTn id="406" dur="500" fill="hold"/>
                                        <p:tgtEl>
                                          <p:spTgt spid="241"/>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Text Box 4"/>
          <p:cNvSpPr/>
          <p:nvPr/>
        </p:nvSpPr>
        <p:spPr>
          <a:xfrm>
            <a:off x="446040" y="306360"/>
            <a:ext cx="51055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根轨迹的幅角方程：</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243" name="Object 5"/>
              <p:cNvSpPr txBox="1"/>
              <p:nvPr/>
            </p:nvSpPr>
            <p:spPr>
              <a:xfrm>
                <a:off x="1719360" y="1195560"/>
                <a:ext cx="6035400" cy="1134720"/>
              </a:xfrm>
              <a:prstGeom prst="rect">
                <a:avLst/>
              </a:prstGeom>
            </p:spPr>
            <p:txBody>
              <a:bodyPr/>
              <a:p>
                <a14:m>
                  <m:oMath xmlns:m="http://schemas.openxmlformats.org/officeDocument/2006/math">
                    <m:nary>
                      <m:naryPr>
                        <m:chr m:val="∑"/>
                      </m:naryPr>
                      <m:sub>
                        <m:r>
                          <m:t xml:space="preserve">i</m:t>
                        </m:r>
                        <m:r>
                          <m:t xml:space="preserve">=</m:t>
                        </m:r>
                        <m:r>
                          <m:t xml:space="preserve">1</m:t>
                        </m:r>
                      </m:sub>
                      <m:sup>
                        <m:r>
                          <m:t xml:space="preserve">m</m:t>
                        </m:r>
                      </m:sup>
                      <m:e>
                        <m:r>
                          <m:t xml:space="preserve">∠</m:t>
                        </m:r>
                        <m:r>
                          <m:t xml:space="preserve">(</m:t>
                        </m:r>
                        <m:r>
                          <m:t xml:space="preserve">s</m:t>
                        </m:r>
                        <m:r>
                          <m:t xml:space="preserve">−</m:t>
                        </m:r>
                        <m:sSub>
                          <m:e>
                            <m:r>
                              <m:t xml:space="preserve">z</m:t>
                            </m:r>
                          </m:e>
                          <m:sub>
                            <m:r>
                              <m:t xml:space="preserve">i</m:t>
                            </m:r>
                          </m:sub>
                        </m:sSub>
                        <m:r>
                          <m:t xml:space="preserve">)</m:t>
                        </m:r>
                      </m:e>
                    </m:nary>
                    <m:r>
                      <m:t xml:space="preserve">−</m:t>
                    </m:r>
                    <m:nary>
                      <m:naryPr>
                        <m:chr m:val="∑"/>
                      </m:naryPr>
                      <m:sub>
                        <m:r>
                          <m:t xml:space="preserve">j</m:t>
                        </m:r>
                        <m:r>
                          <m:t xml:space="preserve">=</m:t>
                        </m:r>
                        <m:r>
                          <m:t xml:space="preserve">1</m:t>
                        </m:r>
                      </m:sub>
                      <m:sup>
                        <m:r>
                          <m:t xml:space="preserve">n</m:t>
                        </m:r>
                      </m:sup>
                      <m:e>
                        <m:r>
                          <m:t xml:space="preserve">∠</m:t>
                        </m:r>
                        <m:r>
                          <m:t xml:space="preserve">(</m:t>
                        </m:r>
                        <m:r>
                          <m:t xml:space="preserve">s</m:t>
                        </m:r>
                        <m:r>
                          <m:t xml:space="preserve">−</m:t>
                        </m:r>
                        <m:sSub>
                          <m:e>
                            <m:r>
                              <m:t xml:space="preserve">p</m:t>
                            </m:r>
                          </m:e>
                          <m:sub>
                            <m:r>
                              <m:t xml:space="preserve">j</m:t>
                            </m:r>
                          </m:sub>
                        </m:sSub>
                        <m:r>
                          <m:t xml:space="preserve">)</m:t>
                        </m:r>
                      </m:e>
                    </m:nary>
                    <m:r>
                      <m:t xml:space="preserve">=</m:t>
                    </m:r>
                    <m:r>
                      <m:t xml:space="preserve">(</m:t>
                    </m:r>
                    <m:r>
                      <m:t xml:space="preserve">2</m:t>
                    </m:r>
                    <m:r>
                      <m:t xml:space="preserve">k</m:t>
                    </m:r>
                    <m:r>
                      <m:t xml:space="preserve">+</m:t>
                    </m:r>
                    <m:r>
                      <m:t xml:space="preserve">1</m:t>
                    </m:r>
                    <m:r>
                      <m:t xml:space="preserve">)</m:t>
                    </m:r>
                    <m:r>
                      <m:t xml:space="preserve">π</m:t>
                    </m:r>
                  </m:oMath>
                </a14:m>
              </a:p>
            </p:txBody>
          </p:sp>
        </mc:Choice>
        <mc:Fallback>
          <p:sp>
            <p:nvSpPr>
              <p:cNvPr id="243" name="Object 5"/>
              <p:cNvSpPr txBox="1"/>
              <p:nvPr/>
            </p:nvSpPr>
            <p:spPr>
              <a:xfrm>
                <a:off x="1719360" y="1195560"/>
                <a:ext cx="6035400" cy="1134720"/>
              </a:xfrm>
              <a:prstGeom prst="rect">
                <a:avLst/>
              </a:prstGeom>
              <a:blipFill>
                <a:blip r:embed="rId1"/>
                <a:stretch>
                  <a:fillRect/>
                </a:stretch>
              </a:blipFill>
            </p:spPr>
          </p:sp>
        </mc:Fallback>
      </mc:AlternateContent>
      <p:sp>
        <p:nvSpPr>
          <p:cNvPr id="244" name="Text Box 8"/>
          <p:cNvSpPr/>
          <p:nvPr/>
        </p:nvSpPr>
        <p:spPr>
          <a:xfrm>
            <a:off x="50760" y="2770200"/>
            <a:ext cx="9093240" cy="30067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式中，</a:t>
            </a:r>
            <a:r>
              <a:rPr lang="en-US" sz="2400" b="1" i="1" u="none" strike="noStrike">
                <a:solidFill>
                  <a:srgbClr val="000000"/>
                </a:solidFill>
                <a:effectLst/>
                <a:uFillTx/>
                <a:latin typeface="Times New Roman"/>
              </a:rPr>
              <a:t>k</a:t>
            </a:r>
            <a:r>
              <a:rPr lang="en-US" sz="2400" b="1" u="none" strike="noStrike">
                <a:solidFill>
                  <a:srgbClr val="000000"/>
                </a:solidFill>
                <a:effectLst/>
                <a:uFillTx/>
                <a:latin typeface="Times New Roman"/>
              </a:rPr>
              <a:t>=0</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ea typeface="Times New Roman"/>
              </a:rPr>
              <a:t>±1</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ea typeface="Times New Roman"/>
              </a:rPr>
              <a:t>±2</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ea typeface="Times New Roman"/>
              </a:rPr>
              <a:t>…</a:t>
            </a:r>
            <a:r>
              <a:rPr lang="zh-CN" sz="2400" b="1" u="none" strike="noStrike">
                <a:solidFill>
                  <a:srgbClr val="000000"/>
                </a:solidFill>
                <a:effectLst/>
                <a:uFillTx/>
                <a:latin typeface="Times New Roman"/>
              </a:rPr>
              <a:t>（全部整数）。</a:t>
            </a:r>
            <a:endParaRPr lang="en-US" sz="2400" b="1" u="none" strike="noStrike">
              <a:solidFill>
                <a:srgbClr val="000000"/>
              </a:solidFill>
              <a:effectLst/>
              <a:uFillTx/>
              <a:latin typeface="Times New Roman"/>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根据这两个条件，可完全确定</a:t>
            </a:r>
            <a:r>
              <a:rPr lang="en-US" sz="2400" b="1" i="1" u="none" strike="noStrike">
                <a:solidFill>
                  <a:srgbClr val="000000"/>
                </a:solidFill>
                <a:effectLst/>
                <a:uFillTx/>
                <a:latin typeface="Times New Roman"/>
              </a:rPr>
              <a:t>s</a:t>
            </a:r>
            <a:r>
              <a:rPr lang="zh-CN" sz="2400" b="1" u="none" strike="noStrike">
                <a:solidFill>
                  <a:srgbClr val="000000"/>
                </a:solidFill>
                <a:effectLst/>
                <a:uFillTx/>
                <a:latin typeface="Times New Roman"/>
              </a:rPr>
              <a:t>平面上根轨迹及根轨迹上任一点对应的</a:t>
            </a: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a:t>
            </a:r>
            <a:r>
              <a:rPr lang="zh-CN" sz="2400" b="1" u="none" strike="noStrike">
                <a:solidFill>
                  <a:srgbClr val="000000"/>
                </a:solidFill>
                <a:effectLst/>
                <a:uFillTx/>
                <a:latin typeface="Times New Roman"/>
              </a:rPr>
              <a:t>值。</a:t>
            </a:r>
            <a:r>
              <a:rPr lang="zh-CN" sz="2400" b="1" u="none" strike="noStrike">
                <a:solidFill>
                  <a:srgbClr val="990033"/>
                </a:solidFill>
                <a:effectLst/>
                <a:uFillTx/>
                <a:latin typeface="Times New Roman"/>
              </a:rPr>
              <a:t>幅角条件</a:t>
            </a:r>
            <a:r>
              <a:rPr lang="zh-CN" sz="2400" b="1" u="none" strike="noStrike">
                <a:solidFill>
                  <a:srgbClr val="000000"/>
                </a:solidFill>
                <a:effectLst/>
                <a:uFillTx/>
                <a:latin typeface="Times New Roman"/>
              </a:rPr>
              <a:t>是确定</a:t>
            </a:r>
            <a:r>
              <a:rPr lang="en-US" sz="2400" b="1" i="1" u="none" strike="noStrike">
                <a:solidFill>
                  <a:srgbClr val="000000"/>
                </a:solidFill>
                <a:effectLst/>
                <a:uFillTx/>
                <a:latin typeface="Times New Roman"/>
              </a:rPr>
              <a:t>s</a:t>
            </a:r>
            <a:r>
              <a:rPr lang="zh-CN" sz="2400" b="1" u="none" strike="noStrike">
                <a:solidFill>
                  <a:srgbClr val="000000"/>
                </a:solidFill>
                <a:effectLst/>
                <a:uFillTx/>
                <a:latin typeface="Times New Roman"/>
              </a:rPr>
              <a:t>平面上根轨迹的</a:t>
            </a:r>
            <a:r>
              <a:rPr lang="zh-CN" sz="2400" b="1" u="none" strike="noStrike">
                <a:solidFill>
                  <a:srgbClr val="990033"/>
                </a:solidFill>
                <a:effectLst/>
                <a:uFillTx/>
                <a:latin typeface="Times New Roman"/>
              </a:rPr>
              <a:t>充要条件</a:t>
            </a:r>
            <a:r>
              <a:rPr lang="zh-CN" sz="2400" b="1" u="none" strike="noStrike">
                <a:solidFill>
                  <a:srgbClr val="000000"/>
                </a:solidFill>
                <a:effectLst/>
                <a:uFillTx/>
                <a:latin typeface="Times New Roman"/>
              </a:rPr>
              <a:t>，因此，绘制根轨迹时，只需要使用幅角条件；而当需要确定根轨迹上各点的</a:t>
            </a: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a:t>
            </a:r>
            <a:r>
              <a:rPr lang="zh-CN" sz="2400" b="1" u="none" strike="noStrike">
                <a:solidFill>
                  <a:srgbClr val="000000"/>
                </a:solidFill>
                <a:effectLst/>
                <a:uFillTx/>
                <a:latin typeface="Times New Roman"/>
              </a:rPr>
              <a:t>值时，才使用幅值条件。</a:t>
            </a:r>
            <a:endParaRPr lang="en-US" sz="2400" b="1" u="none" strike="noStrike">
              <a:solidFill>
                <a:srgbClr val="000000"/>
              </a:solidFill>
              <a:effectLst/>
              <a:uFillTx/>
              <a:latin typeface="Times New Roman"/>
            </a:endParaRPr>
          </a:p>
        </p:txBody>
      </p:sp>
      <p:sp>
        <p:nvSpPr>
          <p:cNvPr id="245" name=""/>
          <p:cNvSpPr txBox="1"/>
          <p:nvPr/>
        </p:nvSpPr>
        <p:spPr>
          <a:xfrm>
            <a:off x="676440" y="2679480"/>
            <a:ext cx="3822480" cy="344628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
        <p:nvSpPr>
          <p:cNvPr id="246" name=""/>
          <p:cNvSpPr txBox="1"/>
          <p:nvPr/>
        </p:nvSpPr>
        <p:spPr>
          <a:xfrm>
            <a:off x="4645080" y="2679480"/>
            <a:ext cx="3822480" cy="344628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Tree>
  </p:cSld>
  <mc:AlternateContent>
    <mc:Choice Requires="p14">
      <p:transition spd="slow" p14:dur="2000"/>
    </mc:Choice>
    <mc:Fallback>
      <p:transition spd="slow"/>
    </mc:Fallback>
  </mc:AlternateContent>
  <p:timing>
    <p:tnLst>
      <p:par>
        <p:cTn id="407" dur="indefinite" restart="never" nodeType="tmRoot">
          <p:childTnLst>
            <p:seq>
              <p:cTn id="408" dur="indefinite" nodeType="mainSeq">
                <p:childTnLst>
                  <p:par>
                    <p:cTn id="409" fill="hold" nodeType="clickEffect">
                      <p:stCondLst>
                        <p:cond delay="indefinite"/>
                      </p:stCondLst>
                      <p:childTnLst>
                        <p:par>
                          <p:cTn id="410" fill="hold" nodeType="withEffect">
                            <p:stCondLst>
                              <p:cond delay="0"/>
                            </p:stCondLst>
                            <p:childTnLst>
                              <p:par>
                                <p:cTn id="411" presetID="2" presetClass="entr" fill="hold" nodeType="clickEffect" presetSubtype="8">
                                  <p:stCondLst>
                                    <p:cond delay="0"/>
                                  </p:stCondLst>
                                  <p:childTnLst>
                                    <p:set>
                                      <p:cBhvr>
                                        <p:cTn id="412" dur="1" fill="hold">
                                          <p:stCondLst>
                                            <p:cond delay="0"/>
                                          </p:stCondLst>
                                        </p:cTn>
                                        <p:tgtEl>
                                          <p:spTgt spid="242"/>
                                        </p:tgtEl>
                                        <p:attrNameLst>
                                          <p:attrName>style.visibility</p:attrName>
                                        </p:attrNameLst>
                                      </p:cBhvr>
                                      <p:to>
                                        <p:strVal val="visible"/>
                                      </p:to>
                                    </p:set>
                                    <p:anim calcmode="lin" valueType="num">
                                      <p:cBhvr additive="base">
                                        <p:cTn id="413" dur="500" fill="hold"/>
                                        <p:tgtEl>
                                          <p:spTgt spid="242"/>
                                        </p:tgtEl>
                                        <p:attrNameLst>
                                          <p:attrName>ppt_x</p:attrName>
                                        </p:attrNameLst>
                                      </p:cBhvr>
                                      <p:tavLst>
                                        <p:tav>
                                          <p:val>
                                            <p:strVal val="0-#ppt_w/2"/>
                                          </p:val>
                                        </p:tav>
                                        <p:tav tm="100000">
                                          <p:val>
                                            <p:strVal val="#ppt_x"/>
                                          </p:val>
                                        </p:tav>
                                      </p:tavLst>
                                    </p:anim>
                                    <p:anim calcmode="lin" valueType="num">
                                      <p:cBhvr additive="base">
                                        <p:cTn id="414" dur="500" fill="hold"/>
                                        <p:tgtEl>
                                          <p:spTgt spid="242"/>
                                        </p:tgtEl>
                                        <p:attrNameLst>
                                          <p:attrName>ppt_y</p:attrName>
                                        </p:attrNameLst>
                                      </p:cBhvr>
                                      <p:tavLst>
                                        <p:tav>
                                          <p:val>
                                            <p:strVal val="#ppt_y"/>
                                          </p:val>
                                        </p:tav>
                                        <p:tav tm="100000">
                                          <p:val>
                                            <p:strVal val="#ppt_y"/>
                                          </p:val>
                                        </p:tav>
                                      </p:tavLst>
                                    </p:anim>
                                  </p:childTnLst>
                                </p:cTn>
                              </p:par>
                            </p:childTnLst>
                          </p:cTn>
                        </p:par>
                      </p:childTnLst>
                    </p:cTn>
                  </p:par>
                  <p:par>
                    <p:cTn id="415" fill="hold" nodeType="clickEffect">
                      <p:stCondLst>
                        <p:cond delay="indefinite"/>
                      </p:stCondLst>
                      <p:childTnLst>
                        <p:par>
                          <p:cTn id="416" fill="hold" nodeType="withEffect">
                            <p:stCondLst>
                              <p:cond delay="0"/>
                            </p:stCondLst>
                            <p:childTnLst>
                              <p:par>
                                <p:cTn id="417" presetID="9" presetClass="entr" fill="hold" nodeType="clickEffect">
                                  <p:stCondLst>
                                    <p:cond delay="0"/>
                                  </p:stCondLst>
                                  <p:childTnLst>
                                    <p:set>
                                      <p:cBhvr>
                                        <p:cTn id="418" dur="1" fill="hold">
                                          <p:stCondLst>
                                            <p:cond delay="0"/>
                                          </p:stCondLst>
                                        </p:cTn>
                                        <p:tgtEl>
                                          <p:spTgt spid="243"/>
                                        </p:tgtEl>
                                        <p:attrNameLst>
                                          <p:attrName>style.visibility</p:attrName>
                                        </p:attrNameLst>
                                      </p:cBhvr>
                                      <p:to>
                                        <p:strVal val="visible"/>
                                      </p:to>
                                    </p:set>
                                    <p:animEffect transition="in" filter="dissolve">
                                      <p:cBhvr additive="repl">
                                        <p:cTn id="419" dur="500"/>
                                        <p:tgtEl>
                                          <p:spTgt spid="243"/>
                                        </p:tgtEl>
                                      </p:cBhvr>
                                    </p:animEffect>
                                  </p:childTnLst>
                                </p:cTn>
                              </p:par>
                            </p:childTnLst>
                          </p:cTn>
                        </p:par>
                      </p:childTnLst>
                    </p:cTn>
                  </p:par>
                  <p:par>
                    <p:cTn id="420" fill="hold" nodeType="clickEffect">
                      <p:stCondLst>
                        <p:cond delay="indefinite"/>
                      </p:stCondLst>
                      <p:childTnLst>
                        <p:par>
                          <p:cTn id="421" fill="hold" nodeType="withEffect">
                            <p:stCondLst>
                              <p:cond delay="0"/>
                            </p:stCondLst>
                            <p:childTnLst>
                              <p:par>
                                <p:cTn id="422" presetID="5" presetClass="entr" fill="hold" nodeType="clickEffect" presetSubtype="10">
                                  <p:stCondLst>
                                    <p:cond delay="0"/>
                                  </p:stCondLst>
                                  <p:childTnLst>
                                    <p:set>
                                      <p:cBhvr>
                                        <p:cTn id="423" dur="1" fill="hold">
                                          <p:stCondLst>
                                            <p:cond delay="0"/>
                                          </p:stCondLst>
                                        </p:cTn>
                                        <p:tgtEl>
                                          <p:spTgt spid="244">
                                            <p:txEl>
                                              <p:pRg st="0" end="0"/>
                                            </p:txEl>
                                          </p:spTgt>
                                        </p:tgtEl>
                                        <p:attrNameLst>
                                          <p:attrName>style.visibility</p:attrName>
                                        </p:attrNameLst>
                                      </p:cBhvr>
                                      <p:to>
                                        <p:strVal val="visible"/>
                                      </p:to>
                                    </p:set>
                                    <p:animEffect transition="in" filter="checkerboard(across)">
                                      <p:cBhvr additive="repl">
                                        <p:cTn id="424" dur="500"/>
                                        <p:tgtEl>
                                          <p:spTgt spid="244">
                                            <p:txEl>
                                              <p:pRg st="0" end="0"/>
                                            </p:txEl>
                                          </p:spTgt>
                                        </p:tgtEl>
                                      </p:cBhvr>
                                    </p:animEffect>
                                  </p:childTnLst>
                                </p:cTn>
                              </p:par>
                            </p:childTnLst>
                          </p:cTn>
                        </p:par>
                      </p:childTnLst>
                    </p:cTn>
                  </p:par>
                  <p:par>
                    <p:cTn id="425" fill="hold" nodeType="clickEffect">
                      <p:stCondLst>
                        <p:cond delay="indefinite"/>
                      </p:stCondLst>
                      <p:childTnLst>
                        <p:par>
                          <p:cTn id="426" fill="hold" nodeType="withEffect">
                            <p:stCondLst>
                              <p:cond delay="0"/>
                            </p:stCondLst>
                            <p:childTnLst>
                              <p:par>
                                <p:cTn id="427" presetID="5" presetClass="entr" fill="hold" nodeType="clickEffect" presetSubtype="10">
                                  <p:stCondLst>
                                    <p:cond delay="0"/>
                                  </p:stCondLst>
                                  <p:childTnLst>
                                    <p:set>
                                      <p:cBhvr>
                                        <p:cTn id="428" dur="1" fill="hold">
                                          <p:stCondLst>
                                            <p:cond delay="0"/>
                                          </p:stCondLst>
                                        </p:cTn>
                                        <p:tgtEl>
                                          <p:spTgt spid="244">
                                            <p:txEl>
                                              <p:pRg st="1" end="1"/>
                                            </p:txEl>
                                          </p:spTgt>
                                        </p:tgtEl>
                                        <p:attrNameLst>
                                          <p:attrName>style.visibility</p:attrName>
                                        </p:attrNameLst>
                                      </p:cBhvr>
                                      <p:to>
                                        <p:strVal val="visible"/>
                                      </p:to>
                                    </p:set>
                                    <p:animEffect transition="in" filter="checkerboard(across)">
                                      <p:cBhvr additive="repl">
                                        <p:cTn id="429" dur="500"/>
                                        <p:tgtEl>
                                          <p:spTgt spid="244">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Text Box 4"/>
          <p:cNvSpPr/>
          <p:nvPr/>
        </p:nvSpPr>
        <p:spPr>
          <a:xfrm>
            <a:off x="109440" y="185760"/>
            <a:ext cx="8910720" cy="214308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66"/>
                </a:solidFill>
                <a:effectLst/>
                <a:uFillTx/>
                <a:latin typeface="Times New Roman"/>
              </a:rPr>
              <a:t>下面看看怎样按上式表示的幅值条件和幅角条件绘制系统的闭环根轨迹图。</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已知负反馈系统开环零极点</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分布如图示。</a:t>
            </a:r>
            <a:endParaRPr lang="en-US" sz="2800" b="1" u="none" strike="noStrike">
              <a:solidFill>
                <a:srgbClr val="000000"/>
              </a:solidFill>
              <a:effectLst/>
              <a:uFillTx/>
              <a:latin typeface="Times New Roman"/>
            </a:endParaRPr>
          </a:p>
        </p:txBody>
      </p:sp>
      <p:grpSp>
        <p:nvGrpSpPr>
          <p:cNvPr id="248" name="Group 11"/>
          <p:cNvGrpSpPr/>
          <p:nvPr/>
        </p:nvGrpSpPr>
        <p:grpSpPr>
          <a:xfrm>
            <a:off x="5745240" y="1533600"/>
            <a:ext cx="287280" cy="290520"/>
            <a:chOff x="5745240" y="1533600"/>
            <a:chExt cx="287280" cy="290520"/>
          </a:xfrm>
        </p:grpSpPr>
        <p:sp>
          <p:nvSpPr>
            <p:cNvPr id="249" name="Line 12"/>
            <p:cNvSpPr/>
            <p:nvPr/>
          </p:nvSpPr>
          <p:spPr>
            <a:xfrm>
              <a:off x="5748480" y="15415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50" name="Line 13"/>
            <p:cNvSpPr/>
            <p:nvPr/>
          </p:nvSpPr>
          <p:spPr>
            <a:xfrm flipH="1">
              <a:off x="5745240" y="15336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251" name="Group 14"/>
          <p:cNvGrpSpPr/>
          <p:nvPr/>
        </p:nvGrpSpPr>
        <p:grpSpPr>
          <a:xfrm>
            <a:off x="5781600" y="3971880"/>
            <a:ext cx="287280" cy="290520"/>
            <a:chOff x="5781600" y="3971880"/>
            <a:chExt cx="287280" cy="290520"/>
          </a:xfrm>
        </p:grpSpPr>
        <p:sp>
          <p:nvSpPr>
            <p:cNvPr id="252" name="Line 15"/>
            <p:cNvSpPr/>
            <p:nvPr/>
          </p:nvSpPr>
          <p:spPr>
            <a:xfrm>
              <a:off x="5784840" y="397980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53" name="Line 16"/>
            <p:cNvSpPr/>
            <p:nvPr/>
          </p:nvSpPr>
          <p:spPr>
            <a:xfrm flipH="1">
              <a:off x="5781600" y="397188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254" name="Rectangle 18"/>
          <p:cNvSpPr/>
          <p:nvPr/>
        </p:nvSpPr>
        <p:spPr>
          <a:xfrm>
            <a:off x="5342040" y="1278000"/>
            <a:ext cx="482400" cy="597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255" name="Rectangle 19"/>
          <p:cNvSpPr/>
          <p:nvPr/>
        </p:nvSpPr>
        <p:spPr>
          <a:xfrm>
            <a:off x="5262480" y="3855960"/>
            <a:ext cx="482760" cy="597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grpSp>
        <p:nvGrpSpPr>
          <p:cNvPr id="256" name="Group 32"/>
          <p:cNvGrpSpPr/>
          <p:nvPr/>
        </p:nvGrpSpPr>
        <p:grpSpPr>
          <a:xfrm>
            <a:off x="4667400" y="590400"/>
            <a:ext cx="4389120" cy="3744720"/>
            <a:chOff x="4667400" y="590400"/>
            <a:chExt cx="4389120" cy="3744720"/>
          </a:xfrm>
        </p:grpSpPr>
        <p:sp>
          <p:nvSpPr>
            <p:cNvPr id="257" name="Line 23"/>
            <p:cNvSpPr/>
            <p:nvPr/>
          </p:nvSpPr>
          <p:spPr>
            <a:xfrm flipV="1">
              <a:off x="7851960" y="715320"/>
              <a:ext cx="0" cy="361980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58" name="Line 24"/>
            <p:cNvSpPr/>
            <p:nvPr/>
          </p:nvSpPr>
          <p:spPr>
            <a:xfrm>
              <a:off x="4667400" y="2838240"/>
              <a:ext cx="400680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59" name="Rectangle 25"/>
            <p:cNvSpPr/>
            <p:nvPr/>
          </p:nvSpPr>
          <p:spPr>
            <a:xfrm>
              <a:off x="7656840" y="590400"/>
              <a:ext cx="82800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260" name="Rectangle 26"/>
            <p:cNvSpPr/>
            <p:nvPr/>
          </p:nvSpPr>
          <p:spPr>
            <a:xfrm>
              <a:off x="8509320" y="2530440"/>
              <a:ext cx="547200" cy="5209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261" name="Rectangle 27"/>
            <p:cNvSpPr/>
            <p:nvPr/>
          </p:nvSpPr>
          <p:spPr>
            <a:xfrm>
              <a:off x="7791480" y="286992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262" name="Group 28"/>
          <p:cNvGrpSpPr/>
          <p:nvPr/>
        </p:nvGrpSpPr>
        <p:grpSpPr>
          <a:xfrm>
            <a:off x="7702560" y="2684520"/>
            <a:ext cx="287280" cy="290520"/>
            <a:chOff x="7702560" y="2684520"/>
            <a:chExt cx="287280" cy="290520"/>
          </a:xfrm>
        </p:grpSpPr>
        <p:sp>
          <p:nvSpPr>
            <p:cNvPr id="263" name="Line 29"/>
            <p:cNvSpPr/>
            <p:nvPr/>
          </p:nvSpPr>
          <p:spPr>
            <a:xfrm>
              <a:off x="7705800" y="269244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64" name="Line 30"/>
            <p:cNvSpPr/>
            <p:nvPr/>
          </p:nvSpPr>
          <p:spPr>
            <a:xfrm flipH="1">
              <a:off x="7702560" y="268452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265" name="Rectangle 33"/>
          <p:cNvSpPr/>
          <p:nvPr/>
        </p:nvSpPr>
        <p:spPr>
          <a:xfrm>
            <a:off x="7324200" y="2752560"/>
            <a:ext cx="46116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266" name="Rectangle 34"/>
          <p:cNvSpPr/>
          <p:nvPr/>
        </p:nvSpPr>
        <p:spPr>
          <a:xfrm>
            <a:off x="4469760" y="2752560"/>
            <a:ext cx="42192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z</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267" name="Oval 35"/>
          <p:cNvSpPr/>
          <p:nvPr/>
        </p:nvSpPr>
        <p:spPr>
          <a:xfrm>
            <a:off x="6742080" y="1898640"/>
            <a:ext cx="262080" cy="262080"/>
          </a:xfrm>
          <a:prstGeom prst="ellipse">
            <a:avLst/>
          </a:prstGeom>
          <a:solidFill>
            <a:srgbClr val="993300"/>
          </a:solidFill>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68" name="Rectangle 36"/>
          <p:cNvSpPr/>
          <p:nvPr/>
        </p:nvSpPr>
        <p:spPr>
          <a:xfrm>
            <a:off x="6925680" y="1420920"/>
            <a:ext cx="42192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269" name="Line 37"/>
          <p:cNvSpPr/>
          <p:nvPr/>
        </p:nvSpPr>
        <p:spPr>
          <a:xfrm flipH="1" flipV="1">
            <a:off x="6961320" y="2117520"/>
            <a:ext cx="900000" cy="69372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70" name="Line 38"/>
          <p:cNvSpPr/>
          <p:nvPr/>
        </p:nvSpPr>
        <p:spPr>
          <a:xfrm>
            <a:off x="5877000" y="1662120"/>
            <a:ext cx="822240" cy="29988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71" name="Line 39"/>
          <p:cNvSpPr/>
          <p:nvPr/>
        </p:nvSpPr>
        <p:spPr>
          <a:xfrm flipV="1">
            <a:off x="5915160" y="2171880"/>
            <a:ext cx="888840" cy="194616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72" name="Line 40"/>
          <p:cNvSpPr/>
          <p:nvPr/>
        </p:nvSpPr>
        <p:spPr>
          <a:xfrm flipV="1">
            <a:off x="5000760" y="2119320"/>
            <a:ext cx="1698480" cy="71928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useBgFill="1">
        <p:nvSpPr>
          <p:cNvPr id="273" name="Oval 31"/>
          <p:cNvSpPr/>
          <p:nvPr/>
        </p:nvSpPr>
        <p:spPr>
          <a:xfrm>
            <a:off x="4834080" y="2681280"/>
            <a:ext cx="32688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274" name="Freeform 41"/>
          <p:cNvSpPr/>
          <p:nvPr/>
        </p:nvSpPr>
        <p:spPr>
          <a:xfrm>
            <a:off x="7483320" y="2316240"/>
            <a:ext cx="939960" cy="522360"/>
          </a:xfrm>
          <a:custGeom>
            <a:avLst/>
            <a:gdLst>
              <a:gd name="GluePoint1X" fmla="*/ 0 w 592"/>
              <a:gd name="GluePoint1Y" fmla="*/ 106 h 329"/>
              <a:gd name="GluePoint2X" fmla="*/ 230 w 592"/>
              <a:gd name="GluePoint2Y" fmla="*/ 8 h 329"/>
              <a:gd name="GluePoint3X" fmla="*/ 403 w 592"/>
              <a:gd name="GluePoint3Y" fmla="*/ 57 h 329"/>
              <a:gd name="GluePoint4X" fmla="*/ 502 w 592"/>
              <a:gd name="GluePoint4Y" fmla="*/ 156 h 329"/>
              <a:gd name="GluePoint5X" fmla="*/ 551 w 592"/>
              <a:gd name="GluePoint5Y" fmla="*/ 296 h 329"/>
              <a:gd name="GluePoint6X" fmla="*/ 592 w 592"/>
              <a:gd name="GluePoint6Y" fmla="*/ 329 h 3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92" h="329">
                <a:moveTo>
                  <a:pt x="0" y="106"/>
                </a:moveTo>
                <a:cubicBezTo>
                  <a:pt x="40" y="90"/>
                  <a:pt x="163" y="16"/>
                  <a:pt x="230" y="8"/>
                </a:cubicBezTo>
                <a:cubicBezTo>
                  <a:pt x="297" y="0"/>
                  <a:pt x="358" y="32"/>
                  <a:pt x="403" y="57"/>
                </a:cubicBezTo>
                <a:cubicBezTo>
                  <a:pt x="448" y="82"/>
                  <a:pt x="477" y="116"/>
                  <a:pt x="502" y="156"/>
                </a:cubicBezTo>
                <a:cubicBezTo>
                  <a:pt x="527" y="196"/>
                  <a:pt x="536" y="267"/>
                  <a:pt x="551" y="296"/>
                </a:cubicBezTo>
                <a:cubicBezTo>
                  <a:pt x="566" y="325"/>
                  <a:pt x="584" y="322"/>
                  <a:pt x="592" y="329"/>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75" name="Rectangle 43"/>
          <p:cNvSpPr/>
          <p:nvPr/>
        </p:nvSpPr>
        <p:spPr>
          <a:xfrm>
            <a:off x="8011800" y="185904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276" name="Rectangle 44"/>
          <p:cNvSpPr/>
          <p:nvPr/>
        </p:nvSpPr>
        <p:spPr>
          <a:xfrm>
            <a:off x="5834880" y="2301840"/>
            <a:ext cx="497880" cy="59724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277" name="Line 46"/>
          <p:cNvSpPr/>
          <p:nvPr/>
        </p:nvSpPr>
        <p:spPr>
          <a:xfrm>
            <a:off x="5889600" y="1649520"/>
            <a:ext cx="70488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78" name="Freeform 47"/>
          <p:cNvSpPr/>
          <p:nvPr/>
        </p:nvSpPr>
        <p:spPr>
          <a:xfrm>
            <a:off x="5321160" y="1157400"/>
            <a:ext cx="1051200" cy="1050840"/>
          </a:xfrm>
          <a:custGeom>
            <a:avLst/>
            <a:gdLst>
              <a:gd name="GluePoint1X" fmla="*/ 662 w 662"/>
              <a:gd name="GluePoint1Y" fmla="*/ 302 h 662"/>
              <a:gd name="GluePoint2X" fmla="*/ 598 w 662"/>
              <a:gd name="GluePoint2Y" fmla="*/ 119 h 662"/>
              <a:gd name="GluePoint3X" fmla="*/ 481 w 662"/>
              <a:gd name="GluePoint3Y" fmla="*/ 38 h 662"/>
              <a:gd name="GluePoint4X" fmla="*/ 226 w 662"/>
              <a:gd name="GluePoint4Y" fmla="*/ 22 h 662"/>
              <a:gd name="GluePoint5X" fmla="*/ 37 w 662"/>
              <a:gd name="GluePoint5Y" fmla="*/ 170 h 662"/>
              <a:gd name="GluePoint6X" fmla="*/ 12 w 662"/>
              <a:gd name="GluePoint6Y" fmla="*/ 417 h 662"/>
              <a:gd name="GluePoint7X" fmla="*/ 111 w 662"/>
              <a:gd name="GluePoint7Y" fmla="*/ 581 h 662"/>
              <a:gd name="GluePoint8X" fmla="*/ 308 w 662"/>
              <a:gd name="GluePoint8Y" fmla="*/ 647 h 662"/>
              <a:gd name="GluePoint9X" fmla="*/ 457 w 662"/>
              <a:gd name="GluePoint9Y" fmla="*/ 631 h 662"/>
              <a:gd name="GluePoint10X" fmla="*/ 638 w 662"/>
              <a:gd name="GluePoint10Y" fmla="*/ 458 h 6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662" h="662">
                <a:moveTo>
                  <a:pt x="662" y="302"/>
                </a:moveTo>
                <a:cubicBezTo>
                  <a:pt x="651" y="272"/>
                  <a:pt x="628" y="163"/>
                  <a:pt x="598" y="119"/>
                </a:cubicBezTo>
                <a:cubicBezTo>
                  <a:pt x="568" y="75"/>
                  <a:pt x="543" y="54"/>
                  <a:pt x="481" y="38"/>
                </a:cubicBezTo>
                <a:cubicBezTo>
                  <a:pt x="419" y="22"/>
                  <a:pt x="300" y="0"/>
                  <a:pt x="226" y="22"/>
                </a:cubicBezTo>
                <a:cubicBezTo>
                  <a:pt x="152" y="44"/>
                  <a:pt x="73" y="104"/>
                  <a:pt x="37" y="170"/>
                </a:cubicBezTo>
                <a:cubicBezTo>
                  <a:pt x="1" y="236"/>
                  <a:pt x="0" y="349"/>
                  <a:pt x="12" y="417"/>
                </a:cubicBezTo>
                <a:cubicBezTo>
                  <a:pt x="24" y="485"/>
                  <a:pt x="62" y="543"/>
                  <a:pt x="111" y="581"/>
                </a:cubicBezTo>
                <a:cubicBezTo>
                  <a:pt x="160" y="619"/>
                  <a:pt x="250" y="639"/>
                  <a:pt x="308" y="647"/>
                </a:cubicBezTo>
                <a:cubicBezTo>
                  <a:pt x="366" y="655"/>
                  <a:pt x="402" y="662"/>
                  <a:pt x="457" y="631"/>
                </a:cubicBezTo>
                <a:cubicBezTo>
                  <a:pt x="512" y="600"/>
                  <a:pt x="600" y="494"/>
                  <a:pt x="638" y="458"/>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79" name="Rectangle 49"/>
          <p:cNvSpPr/>
          <p:nvPr/>
        </p:nvSpPr>
        <p:spPr>
          <a:xfrm>
            <a:off x="4811400" y="155736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280" name="Line 50"/>
          <p:cNvSpPr/>
          <p:nvPr/>
        </p:nvSpPr>
        <p:spPr>
          <a:xfrm>
            <a:off x="5940360" y="4105440"/>
            <a:ext cx="91440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81" name="Freeform 51"/>
          <p:cNvSpPr/>
          <p:nvPr/>
        </p:nvSpPr>
        <p:spPr>
          <a:xfrm>
            <a:off x="6202440" y="3568680"/>
            <a:ext cx="366480" cy="523800"/>
          </a:xfrm>
          <a:custGeom>
            <a:avLst/>
            <a:gdLst>
              <a:gd name="GluePoint1X" fmla="*/ 0 w 231"/>
              <a:gd name="GluePoint1Y" fmla="*/ 0 h 330"/>
              <a:gd name="GluePoint2X" fmla="*/ 157 w 231"/>
              <a:gd name="GluePoint2Y" fmla="*/ 132 h 330"/>
              <a:gd name="GluePoint3X" fmla="*/ 231 w 231"/>
              <a:gd name="GluePoint3Y" fmla="*/ 330 h 330"/>
            </a:gdLst>
            <a:ahLst/>
            <a:cxnLst>
              <a:cxn ang="0">
                <a:pos x="GluePoint1X" y="GluePoint1Y"/>
              </a:cxn>
              <a:cxn ang="0">
                <a:pos x="GluePoint2X" y="GluePoint2Y"/>
              </a:cxn>
              <a:cxn ang="0">
                <a:pos x="GluePoint3X" y="GluePoint3Y"/>
              </a:cxn>
            </a:cxnLst>
            <a:rect l="l" t="t" r="r" b="b"/>
            <a:pathLst>
              <a:path w="231" h="330">
                <a:moveTo>
                  <a:pt x="0" y="0"/>
                </a:moveTo>
                <a:cubicBezTo>
                  <a:pt x="59" y="38"/>
                  <a:pt x="119" y="77"/>
                  <a:pt x="157" y="132"/>
                </a:cubicBezTo>
                <a:cubicBezTo>
                  <a:pt x="195" y="187"/>
                  <a:pt x="219" y="297"/>
                  <a:pt x="231" y="330"/>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82" name="Rectangle 52"/>
          <p:cNvSpPr/>
          <p:nvPr/>
        </p:nvSpPr>
        <p:spPr>
          <a:xfrm>
            <a:off x="6508440" y="339876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sp>
        <p:nvSpPr>
          <p:cNvPr id="283" name="Freeform 53"/>
          <p:cNvSpPr/>
          <p:nvPr/>
        </p:nvSpPr>
        <p:spPr>
          <a:xfrm>
            <a:off x="5719680" y="2589120"/>
            <a:ext cx="46080" cy="235080"/>
          </a:xfrm>
          <a:custGeom>
            <a:avLst/>
            <a:gdLst>
              <a:gd name="GluePoint1X" fmla="*/ 0 w 29"/>
              <a:gd name="GluePoint1Y" fmla="*/ 0 h 148"/>
              <a:gd name="GluePoint2X" fmla="*/ 25 w 29"/>
              <a:gd name="GluePoint2Y" fmla="*/ 74 h 148"/>
              <a:gd name="GluePoint3X" fmla="*/ 25 w 29"/>
              <a:gd name="GluePoint3Y" fmla="*/ 148 h 148"/>
            </a:gdLst>
            <a:ahLst/>
            <a:cxnLst>
              <a:cxn ang="0">
                <a:pos x="GluePoint1X" y="GluePoint1Y"/>
              </a:cxn>
              <a:cxn ang="0">
                <a:pos x="GluePoint2X" y="GluePoint2Y"/>
              </a:cxn>
              <a:cxn ang="0">
                <a:pos x="GluePoint3X" y="GluePoint3Y"/>
              </a:cxn>
            </a:cxnLst>
            <a:rect l="l" t="t" r="r" b="b"/>
            <a:pathLst>
              <a:path w="29" h="148">
                <a:moveTo>
                  <a:pt x="0" y="0"/>
                </a:moveTo>
                <a:cubicBezTo>
                  <a:pt x="10" y="24"/>
                  <a:pt x="21" y="49"/>
                  <a:pt x="25" y="74"/>
                </a:cubicBezTo>
                <a:cubicBezTo>
                  <a:pt x="29" y="99"/>
                  <a:pt x="25" y="136"/>
                  <a:pt x="25" y="148"/>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284" name="Text Box 54"/>
          <p:cNvSpPr/>
          <p:nvPr/>
        </p:nvSpPr>
        <p:spPr>
          <a:xfrm>
            <a:off x="157320" y="2211480"/>
            <a:ext cx="3827160" cy="1813680"/>
          </a:xfrm>
          <a:prstGeom prst="rect">
            <a:avLst/>
          </a:prstGeom>
          <a:noFill/>
          <a:ln w="0">
            <a:noFill/>
          </a:ln>
        </p:spPr>
        <p:style>
          <a:lnRef idx="0"/>
          <a:fillRef idx="0"/>
          <a:effectRef idx="0"/>
          <a:fontRef idx="minor"/>
        </p:style>
        <p:txBody>
          <a:bodyPr lIns="90000" tIns="46800" rIns="90000" bIns="46800" anchor="t">
            <a:spAutoFit/>
          </a:bodyPr>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imes New Roman"/>
              </a:rPr>
              <a:t>       </a:t>
            </a:r>
            <a:r>
              <a:rPr lang="zh-CN" sz="2800" b="1" u="none" strike="noStrike">
                <a:solidFill>
                  <a:srgbClr val="000000"/>
                </a:solidFill>
                <a:effectLst/>
                <a:uFillTx/>
                <a:latin typeface="Times New Roman"/>
              </a:rPr>
              <a:t>在</a:t>
            </a:r>
            <a:r>
              <a:rPr lang="en-US" sz="2800" b="1" i="1" u="none" strike="noStrike">
                <a:solidFill>
                  <a:srgbClr val="000000"/>
                </a:solidFill>
                <a:effectLst/>
                <a:uFillTx/>
                <a:latin typeface="Times New Roman"/>
              </a:rPr>
              <a:t>s</a:t>
            </a:r>
            <a:r>
              <a:rPr lang="zh-CN" sz="2800" b="1" u="none" strike="noStrike">
                <a:solidFill>
                  <a:srgbClr val="000000"/>
                </a:solidFill>
                <a:effectLst/>
                <a:uFillTx/>
                <a:latin typeface="Times New Roman"/>
              </a:rPr>
              <a:t>平面找一点</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，画出各开环零、极点到</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zh-CN" sz="2800" b="1" u="none" strike="noStrike">
                <a:solidFill>
                  <a:srgbClr val="000000"/>
                </a:solidFill>
                <a:effectLst/>
                <a:uFillTx/>
                <a:latin typeface="Times New Roman"/>
              </a:rPr>
              <a:t>点的向量。</a:t>
            </a:r>
            <a:endParaRPr lang="en-US" sz="2800" b="1" u="none" strike="noStrike">
              <a:solidFill>
                <a:srgbClr val="000000"/>
              </a:solidFill>
              <a:effectLst/>
              <a:uFillTx/>
              <a:latin typeface="Times New Roman"/>
            </a:endParaRPr>
          </a:p>
        </p:txBody>
      </p:sp>
      <p:sp>
        <p:nvSpPr>
          <p:cNvPr id="285" name="Rectangle 56"/>
          <p:cNvSpPr/>
          <p:nvPr/>
        </p:nvSpPr>
        <p:spPr>
          <a:xfrm>
            <a:off x="0" y="3840120"/>
            <a:ext cx="9091440" cy="3648240"/>
          </a:xfrm>
          <a:prstGeom prst="rect">
            <a:avLst/>
          </a:prstGeom>
          <a:noFill/>
          <a:ln w="0">
            <a:noFill/>
          </a:ln>
        </p:spPr>
        <p:style>
          <a:lnRef idx="0"/>
          <a:fillRef idx="0"/>
          <a:effectRef idx="0"/>
          <a:fontRef idx="minor"/>
        </p:style>
        <p:txBody>
          <a:bodyPr lIns="90000" tIns="46800" rIns="90000" bIns="46800" anchor="t">
            <a:spAutoFit/>
          </a:bodyPr>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检验</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zh-CN" sz="2800" b="1" u="none" strike="noStrike">
                <a:solidFill>
                  <a:srgbClr val="000000"/>
                </a:solidFill>
                <a:effectLst/>
                <a:uFillTx/>
                <a:latin typeface="Times New Roman"/>
              </a:rPr>
              <a:t>是否满足幅角条件：</a:t>
            </a:r>
            <a:endParaRPr lang="en-US" sz="2800" b="1" u="none" strike="noStrike">
              <a:solidFill>
                <a:srgbClr val="000000"/>
              </a:solidFill>
              <a:effectLst/>
              <a:uFillTx/>
              <a:latin typeface="Times New Roman"/>
            </a:endParaRPr>
          </a:p>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z</a:t>
            </a:r>
            <a:r>
              <a:rPr lang="en-US" sz="2800" b="1" u="none" strike="noStrike" baseline="-30000">
                <a:solidFill>
                  <a:srgbClr val="000000"/>
                </a:solidFill>
                <a:effectLst/>
                <a:uFillTx/>
                <a:latin typeface="Times New Roman"/>
              </a:rPr>
              <a:t>1</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1</a:t>
            </a:r>
            <a:r>
              <a:rPr lang="en-US" sz="2800" b="1" u="none" strike="noStrike">
                <a:solidFill>
                  <a:srgbClr val="000000"/>
                </a:solidFill>
                <a:effectLst/>
                <a:uFillTx/>
                <a:latin typeface="Times New Roman"/>
              </a:rPr>
              <a:t>) +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3</a:t>
            </a:r>
            <a:r>
              <a:rPr lang="en-US" sz="2800" b="1" u="none" strike="noStrike">
                <a:solidFill>
                  <a:srgbClr val="000000"/>
                </a:solidFill>
                <a:effectLst/>
                <a:uFillTx/>
                <a:latin typeface="Times New Roman"/>
              </a:rPr>
              <a:t>)] </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                  = </a:t>
            </a: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2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3 </a:t>
            </a:r>
            <a:r>
              <a:rPr lang="en-US" sz="2800" b="1" u="none" strike="noStrike">
                <a:solidFill>
                  <a:srgbClr val="000000"/>
                </a:solidFill>
                <a:effectLst/>
                <a:uFillTx/>
                <a:latin typeface="Times New Roman"/>
              </a:rPr>
              <a:t>= (2</a:t>
            </a:r>
            <a:r>
              <a:rPr lang="en-US" sz="2800" b="1" i="1" u="none" strike="noStrike">
                <a:solidFill>
                  <a:srgbClr val="000000"/>
                </a:solidFill>
                <a:effectLst/>
                <a:uFillTx/>
                <a:latin typeface="Times New Roman"/>
              </a:rPr>
              <a:t>k</a:t>
            </a:r>
            <a:r>
              <a:rPr lang="en-US" sz="2800" b="1" u="none" strike="noStrike">
                <a:solidFill>
                  <a:srgbClr val="000000"/>
                </a:solidFill>
                <a:effectLst/>
                <a:uFillTx/>
                <a:latin typeface="Times New Roman"/>
              </a:rPr>
              <a:t>+1)</a:t>
            </a:r>
            <a:r>
              <a:rPr lang="en-US" sz="2800" b="1" i="1" u="none" strike="noStrike">
                <a:solidFill>
                  <a:srgbClr val="000000"/>
                </a:solidFill>
                <a:effectLst/>
                <a:uFillTx/>
                <a:latin typeface="Symbol"/>
                <a:ea typeface="Symbol"/>
              </a:rPr>
              <a:t></a:t>
            </a:r>
            <a:r>
              <a:rPr lang="en-US" sz="2800" b="1" i="1" u="none" strike="noStrike">
                <a:solidFill>
                  <a:srgbClr val="000000"/>
                </a:solidFill>
                <a:effectLst/>
                <a:uFillTx/>
                <a:latin typeface="Times New Roman"/>
              </a:rPr>
              <a:t>  </a:t>
            </a:r>
            <a:r>
              <a:rPr lang="zh-CN" sz="4000" b="1" u="none" strike="noStrike">
                <a:solidFill>
                  <a:srgbClr val="FF0000"/>
                </a:solidFill>
                <a:effectLst/>
                <a:uFillTx/>
                <a:latin typeface="Arial Black"/>
                <a:ea typeface="黑体"/>
              </a:rPr>
              <a:t>？？</a:t>
            </a:r>
            <a:endParaRPr lang="en-US" sz="4000" b="1" u="none" strike="noStrike">
              <a:solidFill>
                <a:srgbClr val="000000"/>
              </a:solidFill>
              <a:effectLst/>
              <a:uFillTx/>
              <a:latin typeface="Times New Roman"/>
            </a:endParaRPr>
          </a:p>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i="1" u="none" strike="noStrike">
                <a:solidFill>
                  <a:srgbClr val="000000"/>
                </a:solidFill>
                <a:effectLst/>
                <a:uFillTx/>
                <a:latin typeface="Times New Roman"/>
              </a:rPr>
              <a:t>        </a:t>
            </a:r>
            <a:r>
              <a:rPr lang="zh-CN" sz="2800" b="1" u="none" strike="noStrike">
                <a:solidFill>
                  <a:srgbClr val="000000"/>
                </a:solidFill>
                <a:effectLst/>
                <a:uFillTx/>
                <a:latin typeface="Times New Roman"/>
              </a:rPr>
              <a:t>如果</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zh-CN" sz="2800" b="1" u="none" strike="noStrike">
                <a:solidFill>
                  <a:srgbClr val="000000"/>
                </a:solidFill>
                <a:effectLst/>
                <a:uFillTx/>
                <a:latin typeface="Times New Roman"/>
              </a:rPr>
              <a:t>点满足幅角条件，则是根轨迹上的一点。寻找</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30" dur="indefinite" restart="never" nodeType="tmRoot">
          <p:childTnLst>
            <p:seq>
              <p:cTn id="431" dur="indefinite" nodeType="mainSeq">
                <p:childTnLst>
                  <p:par>
                    <p:cTn id="432" fill="hold" nodeType="clickEffect">
                      <p:stCondLst>
                        <p:cond delay="indefinite"/>
                      </p:stCondLst>
                      <p:childTnLst>
                        <p:par>
                          <p:cTn id="433" fill="hold" nodeType="withEffect">
                            <p:stCondLst>
                              <p:cond delay="0"/>
                            </p:stCondLst>
                            <p:childTnLst>
                              <p:par>
                                <p:cTn id="434" presetID="2" presetClass="entr" fill="hold" nodeType="clickEffect" presetSubtype="8">
                                  <p:stCondLst>
                                    <p:cond delay="0"/>
                                  </p:stCondLst>
                                  <p:childTnLst>
                                    <p:set>
                                      <p:cBhvr>
                                        <p:cTn id="435" dur="1" fill="hold">
                                          <p:stCondLst>
                                            <p:cond delay="0"/>
                                          </p:stCondLst>
                                        </p:cTn>
                                        <p:tgtEl>
                                          <p:spTgt spid="247">
                                            <p:txEl>
                                              <p:pRg st="0" end="0"/>
                                            </p:txEl>
                                          </p:spTgt>
                                        </p:tgtEl>
                                        <p:attrNameLst>
                                          <p:attrName>style.visibility</p:attrName>
                                        </p:attrNameLst>
                                      </p:cBhvr>
                                      <p:to>
                                        <p:strVal val="visible"/>
                                      </p:to>
                                    </p:set>
                                    <p:anim calcmode="lin" valueType="num">
                                      <p:cBhvr additive="base">
                                        <p:cTn id="436" dur="500" fill="hold"/>
                                        <p:tgtEl>
                                          <p:spTgt spid="247">
                                            <p:txEl>
                                              <p:pRg st="0" end="0"/>
                                            </p:txEl>
                                          </p:spTgt>
                                        </p:tgtEl>
                                        <p:attrNameLst>
                                          <p:attrName>ppt_x</p:attrName>
                                        </p:attrNameLst>
                                      </p:cBhvr>
                                      <p:tavLst>
                                        <p:tav>
                                          <p:val>
                                            <p:strVal val="0-#ppt_w/2"/>
                                          </p:val>
                                        </p:tav>
                                        <p:tav tm="100000">
                                          <p:val>
                                            <p:strVal val="#ppt_x"/>
                                          </p:val>
                                        </p:tav>
                                      </p:tavLst>
                                    </p:anim>
                                    <p:anim calcmode="lin" valueType="num">
                                      <p:cBhvr additive="base">
                                        <p:cTn id="437" dur="500" fill="hold"/>
                                        <p:tgtEl>
                                          <p:spTgt spid="247">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438" fill="hold" nodeType="clickEffect">
                      <p:stCondLst>
                        <p:cond delay="indefinite"/>
                      </p:stCondLst>
                      <p:childTnLst>
                        <p:par>
                          <p:cTn id="439" fill="hold" nodeType="withEffect">
                            <p:stCondLst>
                              <p:cond delay="0"/>
                            </p:stCondLst>
                            <p:childTnLst>
                              <p:par>
                                <p:cTn id="440" presetID="2" presetClass="entr" fill="hold" nodeType="clickEffect" presetSubtype="8">
                                  <p:stCondLst>
                                    <p:cond delay="0"/>
                                  </p:stCondLst>
                                  <p:childTnLst>
                                    <p:set>
                                      <p:cBhvr>
                                        <p:cTn id="441" dur="1" fill="hold">
                                          <p:stCondLst>
                                            <p:cond delay="0"/>
                                          </p:stCondLst>
                                        </p:cTn>
                                        <p:tgtEl>
                                          <p:spTgt spid="247">
                                            <p:txEl>
                                              <p:pRg st="1" end="1"/>
                                            </p:txEl>
                                          </p:spTgt>
                                        </p:tgtEl>
                                        <p:attrNameLst>
                                          <p:attrName>style.visibility</p:attrName>
                                        </p:attrNameLst>
                                      </p:cBhvr>
                                      <p:to>
                                        <p:strVal val="visible"/>
                                      </p:to>
                                    </p:set>
                                    <p:anim calcmode="lin" valueType="num">
                                      <p:cBhvr additive="base">
                                        <p:cTn id="442" dur="500" fill="hold"/>
                                        <p:tgtEl>
                                          <p:spTgt spid="247">
                                            <p:txEl>
                                              <p:pRg st="1" end="1"/>
                                            </p:txEl>
                                          </p:spTgt>
                                        </p:tgtEl>
                                        <p:attrNameLst>
                                          <p:attrName>ppt_x</p:attrName>
                                        </p:attrNameLst>
                                      </p:cBhvr>
                                      <p:tavLst>
                                        <p:tav>
                                          <p:val>
                                            <p:strVal val="0-#ppt_w/2"/>
                                          </p:val>
                                        </p:tav>
                                        <p:tav tm="100000">
                                          <p:val>
                                            <p:strVal val="#ppt_x"/>
                                          </p:val>
                                        </p:tav>
                                      </p:tavLst>
                                    </p:anim>
                                    <p:anim calcmode="lin" valueType="num">
                                      <p:cBhvr additive="base">
                                        <p:cTn id="443" dur="500" fill="hold"/>
                                        <p:tgtEl>
                                          <p:spTgt spid="247">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444" fill="hold" nodeType="clickEffect">
                      <p:stCondLst>
                        <p:cond delay="indefinite"/>
                      </p:stCondLst>
                      <p:childTnLst>
                        <p:par>
                          <p:cTn id="445" fill="hold" nodeType="withEffect">
                            <p:stCondLst>
                              <p:cond delay="0"/>
                            </p:stCondLst>
                            <p:childTnLst>
                              <p:par>
                                <p:cTn id="446" presetID="2" presetClass="entr" fill="hold" nodeType="clickEffect" presetSubtype="8">
                                  <p:stCondLst>
                                    <p:cond delay="0"/>
                                  </p:stCondLst>
                                  <p:childTnLst>
                                    <p:set>
                                      <p:cBhvr>
                                        <p:cTn id="447" dur="1" fill="hold">
                                          <p:stCondLst>
                                            <p:cond delay="0"/>
                                          </p:stCondLst>
                                        </p:cTn>
                                        <p:tgtEl>
                                          <p:spTgt spid="247">
                                            <p:txEl>
                                              <p:pRg st="2" end="2"/>
                                            </p:txEl>
                                          </p:spTgt>
                                        </p:tgtEl>
                                        <p:attrNameLst>
                                          <p:attrName>style.visibility</p:attrName>
                                        </p:attrNameLst>
                                      </p:cBhvr>
                                      <p:to>
                                        <p:strVal val="visible"/>
                                      </p:to>
                                    </p:set>
                                    <p:anim calcmode="lin" valueType="num">
                                      <p:cBhvr additive="base">
                                        <p:cTn id="448" dur="500" fill="hold"/>
                                        <p:tgtEl>
                                          <p:spTgt spid="247">
                                            <p:txEl>
                                              <p:pRg st="2" end="2"/>
                                            </p:txEl>
                                          </p:spTgt>
                                        </p:tgtEl>
                                        <p:attrNameLst>
                                          <p:attrName>ppt_x</p:attrName>
                                        </p:attrNameLst>
                                      </p:cBhvr>
                                      <p:tavLst>
                                        <p:tav>
                                          <p:val>
                                            <p:strVal val="0-#ppt_w/2"/>
                                          </p:val>
                                        </p:tav>
                                        <p:tav tm="100000">
                                          <p:val>
                                            <p:strVal val="#ppt_x"/>
                                          </p:val>
                                        </p:tav>
                                      </p:tavLst>
                                    </p:anim>
                                    <p:anim calcmode="lin" valueType="num">
                                      <p:cBhvr additive="base">
                                        <p:cTn id="449" dur="500" fill="hold"/>
                                        <p:tgtEl>
                                          <p:spTgt spid="247">
                                            <p:txEl>
                                              <p:pRg st="2" end="2"/>
                                            </p:txEl>
                                          </p:spTgt>
                                        </p:tgtEl>
                                        <p:attrNameLst>
                                          <p:attrName>ppt_y</p:attrName>
                                        </p:attrNameLst>
                                      </p:cBhvr>
                                      <p:tavLst>
                                        <p:tav>
                                          <p:val>
                                            <p:strVal val="#ppt_y"/>
                                          </p:val>
                                        </p:tav>
                                        <p:tav tm="100000">
                                          <p:val>
                                            <p:strVal val="#ppt_y"/>
                                          </p:val>
                                        </p:tav>
                                      </p:tavLst>
                                    </p:anim>
                                  </p:childTnLst>
                                </p:cTn>
                              </p:par>
                            </p:childTnLst>
                          </p:cTn>
                        </p:par>
                      </p:childTnLst>
                    </p:cTn>
                  </p:par>
                  <p:par>
                    <p:cTn id="450" fill="hold" nodeType="clickEffect">
                      <p:stCondLst>
                        <p:cond delay="indefinite"/>
                      </p:stCondLst>
                      <p:childTnLst>
                        <p:par>
                          <p:cTn id="451" fill="hold" nodeType="withEffect">
                            <p:stCondLst>
                              <p:cond delay="0"/>
                            </p:stCondLst>
                            <p:childTnLst>
                              <p:par>
                                <p:cTn id="452" presetID="9" presetClass="entr" fill="hold" nodeType="clickEffect">
                                  <p:stCondLst>
                                    <p:cond delay="0"/>
                                  </p:stCondLst>
                                  <p:childTnLst>
                                    <p:set>
                                      <p:cBhvr>
                                        <p:cTn id="453" dur="1" fill="hold">
                                          <p:stCondLst>
                                            <p:cond delay="0"/>
                                          </p:stCondLst>
                                        </p:cTn>
                                        <p:tgtEl>
                                          <p:spTgt spid="256"/>
                                        </p:tgtEl>
                                        <p:attrNameLst>
                                          <p:attrName>style.visibility</p:attrName>
                                        </p:attrNameLst>
                                      </p:cBhvr>
                                      <p:to>
                                        <p:strVal val="visible"/>
                                      </p:to>
                                    </p:set>
                                    <p:animEffect transition="in" filter="dissolve">
                                      <p:cBhvr additive="repl">
                                        <p:cTn id="454" dur="500"/>
                                        <p:tgtEl>
                                          <p:spTgt spid="256"/>
                                        </p:tgtEl>
                                      </p:cBhvr>
                                    </p:animEffect>
                                  </p:childTnLst>
                                </p:cTn>
                              </p:par>
                            </p:childTnLst>
                          </p:cTn>
                        </p:par>
                      </p:childTnLst>
                    </p:cTn>
                  </p:par>
                  <p:par>
                    <p:cTn id="455" fill="hold" nodeType="clickEffect">
                      <p:stCondLst>
                        <p:cond delay="indefinite"/>
                      </p:stCondLst>
                      <p:childTnLst>
                        <p:par>
                          <p:cTn id="456" fill="hold" nodeType="withEffect">
                            <p:stCondLst>
                              <p:cond delay="0"/>
                            </p:stCondLst>
                            <p:childTnLst>
                              <p:par>
                                <p:cTn id="457" presetID="9" presetClass="entr" fill="hold" nodeType="clickEffect">
                                  <p:stCondLst>
                                    <p:cond delay="0"/>
                                  </p:stCondLst>
                                  <p:childTnLst>
                                    <p:set>
                                      <p:cBhvr>
                                        <p:cTn id="458" dur="1" fill="hold">
                                          <p:stCondLst>
                                            <p:cond delay="0"/>
                                          </p:stCondLst>
                                        </p:cTn>
                                        <p:tgtEl>
                                          <p:spTgt spid="262"/>
                                        </p:tgtEl>
                                        <p:attrNameLst>
                                          <p:attrName>style.visibility</p:attrName>
                                        </p:attrNameLst>
                                      </p:cBhvr>
                                      <p:to>
                                        <p:strVal val="visible"/>
                                      </p:to>
                                    </p:set>
                                    <p:animEffect transition="in" filter="dissolve">
                                      <p:cBhvr additive="repl">
                                        <p:cTn id="459" dur="500"/>
                                        <p:tgtEl>
                                          <p:spTgt spid="262"/>
                                        </p:tgtEl>
                                      </p:cBhvr>
                                    </p:animEffect>
                                  </p:childTnLst>
                                </p:cTn>
                              </p:par>
                            </p:childTnLst>
                          </p:cTn>
                        </p:par>
                        <p:par>
                          <p:cTn id="460" fill="hold" nodeType="afterEffect">
                            <p:stCondLst>
                              <p:cond delay="500"/>
                            </p:stCondLst>
                            <p:childTnLst>
                              <p:par>
                                <p:cTn id="461" presetID="9" presetClass="entr" fill="hold" nodeType="afterEffect">
                                  <p:stCondLst>
                                    <p:cond delay="0"/>
                                  </p:stCondLst>
                                  <p:childTnLst>
                                    <p:set>
                                      <p:cBhvr>
                                        <p:cTn id="462" dur="1" fill="hold">
                                          <p:stCondLst>
                                            <p:cond delay="0"/>
                                          </p:stCondLst>
                                        </p:cTn>
                                        <p:tgtEl>
                                          <p:spTgt spid="265"/>
                                        </p:tgtEl>
                                        <p:attrNameLst>
                                          <p:attrName>style.visibility</p:attrName>
                                        </p:attrNameLst>
                                      </p:cBhvr>
                                      <p:to>
                                        <p:strVal val="visible"/>
                                      </p:to>
                                    </p:set>
                                    <p:animEffect transition="in" filter="dissolve">
                                      <p:cBhvr additive="repl">
                                        <p:cTn id="463" dur="500"/>
                                        <p:tgtEl>
                                          <p:spTgt spid="265"/>
                                        </p:tgtEl>
                                      </p:cBhvr>
                                    </p:animEffect>
                                  </p:childTnLst>
                                </p:cTn>
                              </p:par>
                            </p:childTnLst>
                          </p:cTn>
                        </p:par>
                        <p:par>
                          <p:cTn id="464" fill="hold" nodeType="afterEffect">
                            <p:stCondLst>
                              <p:cond delay="1000"/>
                            </p:stCondLst>
                            <p:childTnLst>
                              <p:par>
                                <p:cTn id="465" presetID="9" presetClass="entr" fill="hold" nodeType="afterEffect">
                                  <p:stCondLst>
                                    <p:cond delay="0"/>
                                  </p:stCondLst>
                                  <p:childTnLst>
                                    <p:set>
                                      <p:cBhvr>
                                        <p:cTn id="466" dur="1" fill="hold">
                                          <p:stCondLst>
                                            <p:cond delay="0"/>
                                          </p:stCondLst>
                                        </p:cTn>
                                        <p:tgtEl>
                                          <p:spTgt spid="248"/>
                                        </p:tgtEl>
                                        <p:attrNameLst>
                                          <p:attrName>style.visibility</p:attrName>
                                        </p:attrNameLst>
                                      </p:cBhvr>
                                      <p:to>
                                        <p:strVal val="visible"/>
                                      </p:to>
                                    </p:set>
                                    <p:animEffect transition="in" filter="dissolve">
                                      <p:cBhvr additive="repl">
                                        <p:cTn id="467" dur="500"/>
                                        <p:tgtEl>
                                          <p:spTgt spid="248"/>
                                        </p:tgtEl>
                                      </p:cBhvr>
                                    </p:animEffect>
                                  </p:childTnLst>
                                </p:cTn>
                              </p:par>
                            </p:childTnLst>
                          </p:cTn>
                        </p:par>
                        <p:par>
                          <p:cTn id="468" fill="hold" nodeType="afterEffect">
                            <p:stCondLst>
                              <p:cond delay="1500"/>
                            </p:stCondLst>
                            <p:childTnLst>
                              <p:par>
                                <p:cTn id="469" presetID="9" presetClass="entr" fill="hold" nodeType="afterEffect">
                                  <p:stCondLst>
                                    <p:cond delay="0"/>
                                  </p:stCondLst>
                                  <p:childTnLst>
                                    <p:set>
                                      <p:cBhvr>
                                        <p:cTn id="470" dur="1" fill="hold">
                                          <p:stCondLst>
                                            <p:cond delay="0"/>
                                          </p:stCondLst>
                                        </p:cTn>
                                        <p:tgtEl>
                                          <p:spTgt spid="254"/>
                                        </p:tgtEl>
                                        <p:attrNameLst>
                                          <p:attrName>style.visibility</p:attrName>
                                        </p:attrNameLst>
                                      </p:cBhvr>
                                      <p:to>
                                        <p:strVal val="visible"/>
                                      </p:to>
                                    </p:set>
                                    <p:animEffect transition="in" filter="dissolve">
                                      <p:cBhvr additive="repl">
                                        <p:cTn id="471" dur="500"/>
                                        <p:tgtEl>
                                          <p:spTgt spid="254"/>
                                        </p:tgtEl>
                                      </p:cBhvr>
                                    </p:animEffect>
                                  </p:childTnLst>
                                </p:cTn>
                              </p:par>
                            </p:childTnLst>
                          </p:cTn>
                        </p:par>
                        <p:par>
                          <p:cTn id="472" fill="hold" nodeType="afterEffect">
                            <p:stCondLst>
                              <p:cond delay="2000"/>
                            </p:stCondLst>
                            <p:childTnLst>
                              <p:par>
                                <p:cTn id="473" presetID="9" presetClass="entr" fill="hold" nodeType="afterEffect">
                                  <p:stCondLst>
                                    <p:cond delay="0"/>
                                  </p:stCondLst>
                                  <p:childTnLst>
                                    <p:set>
                                      <p:cBhvr>
                                        <p:cTn id="474" dur="1" fill="hold">
                                          <p:stCondLst>
                                            <p:cond delay="0"/>
                                          </p:stCondLst>
                                        </p:cTn>
                                        <p:tgtEl>
                                          <p:spTgt spid="251"/>
                                        </p:tgtEl>
                                        <p:attrNameLst>
                                          <p:attrName>style.visibility</p:attrName>
                                        </p:attrNameLst>
                                      </p:cBhvr>
                                      <p:to>
                                        <p:strVal val="visible"/>
                                      </p:to>
                                    </p:set>
                                    <p:animEffect transition="in" filter="dissolve">
                                      <p:cBhvr additive="repl">
                                        <p:cTn id="475" dur="500"/>
                                        <p:tgtEl>
                                          <p:spTgt spid="251"/>
                                        </p:tgtEl>
                                      </p:cBhvr>
                                    </p:animEffect>
                                  </p:childTnLst>
                                </p:cTn>
                              </p:par>
                            </p:childTnLst>
                          </p:cTn>
                        </p:par>
                        <p:par>
                          <p:cTn id="476" fill="hold" nodeType="afterEffect">
                            <p:stCondLst>
                              <p:cond delay="2500"/>
                            </p:stCondLst>
                            <p:childTnLst>
                              <p:par>
                                <p:cTn id="477" presetID="9" presetClass="entr" fill="hold" nodeType="afterEffect">
                                  <p:stCondLst>
                                    <p:cond delay="0"/>
                                  </p:stCondLst>
                                  <p:childTnLst>
                                    <p:set>
                                      <p:cBhvr>
                                        <p:cTn id="478" dur="1" fill="hold">
                                          <p:stCondLst>
                                            <p:cond delay="0"/>
                                          </p:stCondLst>
                                        </p:cTn>
                                        <p:tgtEl>
                                          <p:spTgt spid="255"/>
                                        </p:tgtEl>
                                        <p:attrNameLst>
                                          <p:attrName>style.visibility</p:attrName>
                                        </p:attrNameLst>
                                      </p:cBhvr>
                                      <p:to>
                                        <p:strVal val="visible"/>
                                      </p:to>
                                    </p:set>
                                    <p:animEffect transition="in" filter="dissolve">
                                      <p:cBhvr additive="repl">
                                        <p:cTn id="479" dur="500"/>
                                        <p:tgtEl>
                                          <p:spTgt spid="255"/>
                                        </p:tgtEl>
                                      </p:cBhvr>
                                    </p:animEffect>
                                  </p:childTnLst>
                                </p:cTn>
                              </p:par>
                            </p:childTnLst>
                          </p:cTn>
                        </p:par>
                        <p:par>
                          <p:cTn id="480" fill="hold" nodeType="afterEffect">
                            <p:stCondLst>
                              <p:cond delay="3000"/>
                            </p:stCondLst>
                            <p:childTnLst>
                              <p:par>
                                <p:cTn id="481" presetID="9" presetClass="entr" fill="hold" nodeType="afterEffect">
                                  <p:stCondLst>
                                    <p:cond delay="0"/>
                                  </p:stCondLst>
                                  <p:childTnLst>
                                    <p:set>
                                      <p:cBhvr>
                                        <p:cTn id="482" dur="1" fill="hold">
                                          <p:stCondLst>
                                            <p:cond delay="0"/>
                                          </p:stCondLst>
                                        </p:cTn>
                                        <p:tgtEl>
                                          <p:spTgt spid="273"/>
                                        </p:tgtEl>
                                        <p:attrNameLst>
                                          <p:attrName>style.visibility</p:attrName>
                                        </p:attrNameLst>
                                      </p:cBhvr>
                                      <p:to>
                                        <p:strVal val="visible"/>
                                      </p:to>
                                    </p:set>
                                    <p:animEffect transition="in" filter="dissolve">
                                      <p:cBhvr additive="repl">
                                        <p:cTn id="483" dur="500"/>
                                        <p:tgtEl>
                                          <p:spTgt spid="273"/>
                                        </p:tgtEl>
                                      </p:cBhvr>
                                    </p:animEffect>
                                  </p:childTnLst>
                                </p:cTn>
                              </p:par>
                            </p:childTnLst>
                          </p:cTn>
                        </p:par>
                        <p:par>
                          <p:cTn id="484" fill="hold" nodeType="afterEffect">
                            <p:stCondLst>
                              <p:cond delay="3500"/>
                            </p:stCondLst>
                            <p:childTnLst>
                              <p:par>
                                <p:cTn id="485" presetID="9" presetClass="entr" fill="hold" nodeType="afterEffect">
                                  <p:stCondLst>
                                    <p:cond delay="0"/>
                                  </p:stCondLst>
                                  <p:childTnLst>
                                    <p:set>
                                      <p:cBhvr>
                                        <p:cTn id="486" dur="1" fill="hold">
                                          <p:stCondLst>
                                            <p:cond delay="0"/>
                                          </p:stCondLst>
                                        </p:cTn>
                                        <p:tgtEl>
                                          <p:spTgt spid="266"/>
                                        </p:tgtEl>
                                        <p:attrNameLst>
                                          <p:attrName>style.visibility</p:attrName>
                                        </p:attrNameLst>
                                      </p:cBhvr>
                                      <p:to>
                                        <p:strVal val="visible"/>
                                      </p:to>
                                    </p:set>
                                    <p:animEffect transition="in" filter="dissolve">
                                      <p:cBhvr additive="repl">
                                        <p:cTn id="487" dur="500"/>
                                        <p:tgtEl>
                                          <p:spTgt spid="266"/>
                                        </p:tgtEl>
                                      </p:cBhvr>
                                    </p:animEffect>
                                  </p:childTnLst>
                                </p:cTn>
                              </p:par>
                            </p:childTnLst>
                          </p:cTn>
                        </p:par>
                      </p:childTnLst>
                    </p:cTn>
                  </p:par>
                  <p:par>
                    <p:cTn id="488" fill="hold" nodeType="clickEffect">
                      <p:stCondLst>
                        <p:cond delay="indefinite"/>
                      </p:stCondLst>
                      <p:childTnLst>
                        <p:par>
                          <p:cTn id="489" fill="hold" nodeType="withEffect">
                            <p:stCondLst>
                              <p:cond delay="0"/>
                            </p:stCondLst>
                            <p:childTnLst>
                              <p:par>
                                <p:cTn id="490" presetID="2" presetClass="entr" fill="hold" nodeType="clickEffect" presetSubtype="8">
                                  <p:stCondLst>
                                    <p:cond delay="0"/>
                                  </p:stCondLst>
                                  <p:childTnLst>
                                    <p:set>
                                      <p:cBhvr>
                                        <p:cTn id="491" dur="1" fill="hold">
                                          <p:stCondLst>
                                            <p:cond delay="0"/>
                                          </p:stCondLst>
                                        </p:cTn>
                                        <p:tgtEl>
                                          <p:spTgt spid="284"/>
                                        </p:tgtEl>
                                        <p:attrNameLst>
                                          <p:attrName>style.visibility</p:attrName>
                                        </p:attrNameLst>
                                      </p:cBhvr>
                                      <p:to>
                                        <p:strVal val="visible"/>
                                      </p:to>
                                    </p:set>
                                    <p:anim calcmode="lin" valueType="num">
                                      <p:cBhvr additive="base">
                                        <p:cTn id="492" dur="500" fill="hold"/>
                                        <p:tgtEl>
                                          <p:spTgt spid="284"/>
                                        </p:tgtEl>
                                        <p:attrNameLst>
                                          <p:attrName>ppt_x</p:attrName>
                                        </p:attrNameLst>
                                      </p:cBhvr>
                                      <p:tavLst>
                                        <p:tav>
                                          <p:val>
                                            <p:strVal val="0-#ppt_w/2"/>
                                          </p:val>
                                        </p:tav>
                                        <p:tav tm="100000">
                                          <p:val>
                                            <p:strVal val="#ppt_x"/>
                                          </p:val>
                                        </p:tav>
                                      </p:tavLst>
                                    </p:anim>
                                    <p:anim calcmode="lin" valueType="num">
                                      <p:cBhvr additive="base">
                                        <p:cTn id="493" dur="500" fill="hold"/>
                                        <p:tgtEl>
                                          <p:spTgt spid="284"/>
                                        </p:tgtEl>
                                        <p:attrNameLst>
                                          <p:attrName>ppt_y</p:attrName>
                                        </p:attrNameLst>
                                      </p:cBhvr>
                                      <p:tavLst>
                                        <p:tav>
                                          <p:val>
                                            <p:strVal val="#ppt_y"/>
                                          </p:val>
                                        </p:tav>
                                        <p:tav tm="100000">
                                          <p:val>
                                            <p:strVal val="#ppt_y"/>
                                          </p:val>
                                        </p:tav>
                                      </p:tavLst>
                                    </p:anim>
                                  </p:childTnLst>
                                </p:cTn>
                              </p:par>
                            </p:childTnLst>
                          </p:cTn>
                        </p:par>
                      </p:childTnLst>
                    </p:cTn>
                  </p:par>
                  <p:par>
                    <p:cTn id="494" fill="hold" nodeType="clickEffect">
                      <p:stCondLst>
                        <p:cond delay="indefinite"/>
                      </p:stCondLst>
                      <p:childTnLst>
                        <p:par>
                          <p:cTn id="495" fill="hold" nodeType="withEffect">
                            <p:stCondLst>
                              <p:cond delay="0"/>
                            </p:stCondLst>
                            <p:childTnLst>
                              <p:par>
                                <p:cTn id="496" presetID="9" presetClass="entr" fill="hold" nodeType="clickEffect">
                                  <p:stCondLst>
                                    <p:cond delay="0"/>
                                  </p:stCondLst>
                                  <p:childTnLst>
                                    <p:set>
                                      <p:cBhvr>
                                        <p:cTn id="497" dur="1" fill="hold">
                                          <p:stCondLst>
                                            <p:cond delay="0"/>
                                          </p:stCondLst>
                                        </p:cTn>
                                        <p:tgtEl>
                                          <p:spTgt spid="267"/>
                                        </p:tgtEl>
                                        <p:attrNameLst>
                                          <p:attrName>style.visibility</p:attrName>
                                        </p:attrNameLst>
                                      </p:cBhvr>
                                      <p:to>
                                        <p:strVal val="visible"/>
                                      </p:to>
                                    </p:set>
                                    <p:animEffect transition="in" filter="dissolve">
                                      <p:cBhvr additive="repl">
                                        <p:cTn id="498" dur="500"/>
                                        <p:tgtEl>
                                          <p:spTgt spid="267"/>
                                        </p:tgtEl>
                                      </p:cBhvr>
                                    </p:animEffect>
                                  </p:childTnLst>
                                </p:cTn>
                              </p:par>
                            </p:childTnLst>
                          </p:cTn>
                        </p:par>
                        <p:par>
                          <p:cTn id="499" fill="hold" nodeType="afterEffect">
                            <p:stCondLst>
                              <p:cond delay="500"/>
                            </p:stCondLst>
                            <p:childTnLst>
                              <p:par>
                                <p:cTn id="500" presetID="9" presetClass="entr" fill="hold" nodeType="afterEffect">
                                  <p:stCondLst>
                                    <p:cond delay="0"/>
                                  </p:stCondLst>
                                  <p:childTnLst>
                                    <p:set>
                                      <p:cBhvr>
                                        <p:cTn id="501" dur="1" fill="hold">
                                          <p:stCondLst>
                                            <p:cond delay="0"/>
                                          </p:stCondLst>
                                        </p:cTn>
                                        <p:tgtEl>
                                          <p:spTgt spid="268"/>
                                        </p:tgtEl>
                                        <p:attrNameLst>
                                          <p:attrName>style.visibility</p:attrName>
                                        </p:attrNameLst>
                                      </p:cBhvr>
                                      <p:to>
                                        <p:strVal val="visible"/>
                                      </p:to>
                                    </p:set>
                                    <p:animEffect transition="in" filter="dissolve">
                                      <p:cBhvr additive="repl">
                                        <p:cTn id="502" dur="500"/>
                                        <p:tgtEl>
                                          <p:spTgt spid="268"/>
                                        </p:tgtEl>
                                      </p:cBhvr>
                                    </p:animEffect>
                                  </p:childTnLst>
                                </p:cTn>
                              </p:par>
                            </p:childTnLst>
                          </p:cTn>
                        </p:par>
                      </p:childTnLst>
                    </p:cTn>
                  </p:par>
                  <p:par>
                    <p:cTn id="503" fill="hold" nodeType="clickEffect">
                      <p:stCondLst>
                        <p:cond delay="indefinite"/>
                      </p:stCondLst>
                      <p:childTnLst>
                        <p:par>
                          <p:cTn id="504" fill="hold" nodeType="withEffect">
                            <p:stCondLst>
                              <p:cond delay="0"/>
                            </p:stCondLst>
                            <p:childTnLst>
                              <p:par>
                                <p:cTn id="505" presetID="22" presetClass="entr" fill="hold" nodeType="clickEffect" presetSubtype="2">
                                  <p:stCondLst>
                                    <p:cond delay="0"/>
                                  </p:stCondLst>
                                  <p:childTnLst>
                                    <p:set>
                                      <p:cBhvr>
                                        <p:cTn id="506" dur="1" fill="hold">
                                          <p:stCondLst>
                                            <p:cond delay="0"/>
                                          </p:stCondLst>
                                        </p:cTn>
                                        <p:tgtEl>
                                          <p:spTgt spid="269"/>
                                        </p:tgtEl>
                                        <p:attrNameLst>
                                          <p:attrName>style.visibility</p:attrName>
                                        </p:attrNameLst>
                                      </p:cBhvr>
                                      <p:to>
                                        <p:strVal val="visible"/>
                                      </p:to>
                                    </p:set>
                                    <p:animEffect transition="in" filter="wipe(right)">
                                      <p:cBhvr additive="repl">
                                        <p:cTn id="507" dur="500"/>
                                        <p:tgtEl>
                                          <p:spTgt spid="269"/>
                                        </p:tgtEl>
                                      </p:cBhvr>
                                    </p:animEffect>
                                  </p:childTnLst>
                                </p:cTn>
                              </p:par>
                            </p:childTnLst>
                          </p:cTn>
                        </p:par>
                        <p:par>
                          <p:cTn id="508" fill="hold" nodeType="afterEffect">
                            <p:stCondLst>
                              <p:cond delay="500"/>
                            </p:stCondLst>
                            <p:childTnLst>
                              <p:par>
                                <p:cTn id="509" presetID="22" presetClass="entr" fill="hold" nodeType="afterEffect" presetSubtype="2">
                                  <p:stCondLst>
                                    <p:cond delay="2000"/>
                                  </p:stCondLst>
                                  <p:childTnLst>
                                    <p:set>
                                      <p:cBhvr>
                                        <p:cTn id="510" dur="1" fill="hold">
                                          <p:stCondLst>
                                            <p:cond delay="0"/>
                                          </p:stCondLst>
                                        </p:cTn>
                                        <p:tgtEl>
                                          <p:spTgt spid="274"/>
                                        </p:tgtEl>
                                        <p:attrNameLst>
                                          <p:attrName>style.visibility</p:attrName>
                                        </p:attrNameLst>
                                      </p:cBhvr>
                                      <p:to>
                                        <p:strVal val="visible"/>
                                      </p:to>
                                    </p:set>
                                    <p:animEffect transition="in" filter="wipe(right)">
                                      <p:cBhvr additive="repl">
                                        <p:cTn id="511" dur="500"/>
                                        <p:tgtEl>
                                          <p:spTgt spid="274"/>
                                        </p:tgtEl>
                                      </p:cBhvr>
                                    </p:animEffect>
                                  </p:childTnLst>
                                </p:cTn>
                              </p:par>
                            </p:childTnLst>
                          </p:cTn>
                        </p:par>
                        <p:par>
                          <p:cTn id="512" fill="hold" nodeType="afterEffect">
                            <p:stCondLst>
                              <p:cond delay="3000"/>
                            </p:stCondLst>
                            <p:childTnLst>
                              <p:par>
                                <p:cTn id="513" presetID="9" presetClass="entr" fill="hold" nodeType="afterEffect">
                                  <p:stCondLst>
                                    <p:cond delay="0"/>
                                  </p:stCondLst>
                                  <p:childTnLst>
                                    <p:set>
                                      <p:cBhvr>
                                        <p:cTn id="514" dur="1" fill="hold">
                                          <p:stCondLst>
                                            <p:cond delay="0"/>
                                          </p:stCondLst>
                                        </p:cTn>
                                        <p:tgtEl>
                                          <p:spTgt spid="275"/>
                                        </p:tgtEl>
                                        <p:attrNameLst>
                                          <p:attrName>style.visibility</p:attrName>
                                        </p:attrNameLst>
                                      </p:cBhvr>
                                      <p:to>
                                        <p:strVal val="visible"/>
                                      </p:to>
                                    </p:set>
                                    <p:animEffect transition="in" filter="dissolve">
                                      <p:cBhvr additive="repl">
                                        <p:cTn id="515" dur="500"/>
                                        <p:tgtEl>
                                          <p:spTgt spid="275"/>
                                        </p:tgtEl>
                                      </p:cBhvr>
                                    </p:animEffect>
                                  </p:childTnLst>
                                </p:cTn>
                              </p:par>
                            </p:childTnLst>
                          </p:cTn>
                        </p:par>
                      </p:childTnLst>
                    </p:cTn>
                  </p:par>
                  <p:par>
                    <p:cTn id="516" fill="hold" nodeType="clickEffect">
                      <p:stCondLst>
                        <p:cond delay="indefinite"/>
                      </p:stCondLst>
                      <p:childTnLst>
                        <p:par>
                          <p:cTn id="517" fill="hold" nodeType="withEffect">
                            <p:stCondLst>
                              <p:cond delay="0"/>
                            </p:stCondLst>
                            <p:childTnLst>
                              <p:par>
                                <p:cTn id="518" presetID="22" presetClass="entr" fill="hold" nodeType="clickEffect" presetSubtype="1">
                                  <p:stCondLst>
                                    <p:cond delay="0"/>
                                  </p:stCondLst>
                                  <p:childTnLst>
                                    <p:set>
                                      <p:cBhvr>
                                        <p:cTn id="519" dur="1" fill="hold">
                                          <p:stCondLst>
                                            <p:cond delay="0"/>
                                          </p:stCondLst>
                                        </p:cTn>
                                        <p:tgtEl>
                                          <p:spTgt spid="270"/>
                                        </p:tgtEl>
                                        <p:attrNameLst>
                                          <p:attrName>style.visibility</p:attrName>
                                        </p:attrNameLst>
                                      </p:cBhvr>
                                      <p:to>
                                        <p:strVal val="visible"/>
                                      </p:to>
                                    </p:set>
                                    <p:animEffect transition="in" filter="wipe(up)">
                                      <p:cBhvr additive="repl">
                                        <p:cTn id="520" dur="500"/>
                                        <p:tgtEl>
                                          <p:spTgt spid="270"/>
                                        </p:tgtEl>
                                      </p:cBhvr>
                                    </p:animEffect>
                                  </p:childTnLst>
                                </p:cTn>
                              </p:par>
                            </p:childTnLst>
                          </p:cTn>
                        </p:par>
                        <p:par>
                          <p:cTn id="521" fill="hold" nodeType="afterEffect">
                            <p:stCondLst>
                              <p:cond delay="500"/>
                            </p:stCondLst>
                            <p:childTnLst>
                              <p:par>
                                <p:cTn id="522" presetID="9" presetClass="entr" fill="hold" nodeType="afterEffect">
                                  <p:stCondLst>
                                    <p:cond delay="2000"/>
                                  </p:stCondLst>
                                  <p:childTnLst>
                                    <p:set>
                                      <p:cBhvr>
                                        <p:cTn id="523" dur="1" fill="hold">
                                          <p:stCondLst>
                                            <p:cond delay="0"/>
                                          </p:stCondLst>
                                        </p:cTn>
                                        <p:tgtEl>
                                          <p:spTgt spid="277"/>
                                        </p:tgtEl>
                                        <p:attrNameLst>
                                          <p:attrName>style.visibility</p:attrName>
                                        </p:attrNameLst>
                                      </p:cBhvr>
                                      <p:to>
                                        <p:strVal val="visible"/>
                                      </p:to>
                                    </p:set>
                                    <p:animEffect transition="in" filter="dissolve">
                                      <p:cBhvr additive="repl">
                                        <p:cTn id="524" dur="500"/>
                                        <p:tgtEl>
                                          <p:spTgt spid="277"/>
                                        </p:tgtEl>
                                      </p:cBhvr>
                                    </p:animEffect>
                                  </p:childTnLst>
                                </p:cTn>
                              </p:par>
                            </p:childTnLst>
                          </p:cTn>
                        </p:par>
                        <p:par>
                          <p:cTn id="525" fill="hold" nodeType="afterEffect">
                            <p:stCondLst>
                              <p:cond delay="3000"/>
                            </p:stCondLst>
                            <p:childTnLst>
                              <p:par>
                                <p:cTn id="526" presetID="9" presetClass="entr" fill="hold" nodeType="afterEffect">
                                  <p:stCondLst>
                                    <p:cond delay="0"/>
                                  </p:stCondLst>
                                  <p:childTnLst>
                                    <p:set>
                                      <p:cBhvr>
                                        <p:cTn id="527" dur="1" fill="hold">
                                          <p:stCondLst>
                                            <p:cond delay="0"/>
                                          </p:stCondLst>
                                        </p:cTn>
                                        <p:tgtEl>
                                          <p:spTgt spid="278"/>
                                        </p:tgtEl>
                                        <p:attrNameLst>
                                          <p:attrName>style.visibility</p:attrName>
                                        </p:attrNameLst>
                                      </p:cBhvr>
                                      <p:to>
                                        <p:strVal val="visible"/>
                                      </p:to>
                                    </p:set>
                                    <p:animEffect transition="in" filter="dissolve">
                                      <p:cBhvr additive="repl">
                                        <p:cTn id="528" dur="500"/>
                                        <p:tgtEl>
                                          <p:spTgt spid="278"/>
                                        </p:tgtEl>
                                      </p:cBhvr>
                                    </p:animEffect>
                                  </p:childTnLst>
                                </p:cTn>
                              </p:par>
                            </p:childTnLst>
                          </p:cTn>
                        </p:par>
                        <p:par>
                          <p:cTn id="529" fill="hold" nodeType="afterEffect">
                            <p:stCondLst>
                              <p:cond delay="3500"/>
                            </p:stCondLst>
                            <p:childTnLst>
                              <p:par>
                                <p:cTn id="530" presetID="9" presetClass="entr" fill="hold" nodeType="afterEffect">
                                  <p:stCondLst>
                                    <p:cond delay="0"/>
                                  </p:stCondLst>
                                  <p:childTnLst>
                                    <p:set>
                                      <p:cBhvr>
                                        <p:cTn id="531" dur="1" fill="hold">
                                          <p:stCondLst>
                                            <p:cond delay="0"/>
                                          </p:stCondLst>
                                        </p:cTn>
                                        <p:tgtEl>
                                          <p:spTgt spid="279"/>
                                        </p:tgtEl>
                                        <p:attrNameLst>
                                          <p:attrName>style.visibility</p:attrName>
                                        </p:attrNameLst>
                                      </p:cBhvr>
                                      <p:to>
                                        <p:strVal val="visible"/>
                                      </p:to>
                                    </p:set>
                                    <p:animEffect transition="in" filter="dissolve">
                                      <p:cBhvr additive="repl">
                                        <p:cTn id="532" dur="500"/>
                                        <p:tgtEl>
                                          <p:spTgt spid="279"/>
                                        </p:tgtEl>
                                      </p:cBhvr>
                                    </p:animEffect>
                                  </p:childTnLst>
                                </p:cTn>
                              </p:par>
                            </p:childTnLst>
                          </p:cTn>
                        </p:par>
                      </p:childTnLst>
                    </p:cTn>
                  </p:par>
                  <p:par>
                    <p:cTn id="533" fill="hold" nodeType="clickEffect">
                      <p:stCondLst>
                        <p:cond delay="indefinite"/>
                      </p:stCondLst>
                      <p:childTnLst>
                        <p:par>
                          <p:cTn id="534" fill="hold" nodeType="withEffect">
                            <p:stCondLst>
                              <p:cond delay="0"/>
                            </p:stCondLst>
                            <p:childTnLst>
                              <p:par>
                                <p:cTn id="535" presetID="22" presetClass="entr" fill="hold" nodeType="clickEffect" presetSubtype="8">
                                  <p:stCondLst>
                                    <p:cond delay="0"/>
                                  </p:stCondLst>
                                  <p:childTnLst>
                                    <p:set>
                                      <p:cBhvr>
                                        <p:cTn id="536" dur="1" fill="hold">
                                          <p:stCondLst>
                                            <p:cond delay="0"/>
                                          </p:stCondLst>
                                        </p:cTn>
                                        <p:tgtEl>
                                          <p:spTgt spid="271"/>
                                        </p:tgtEl>
                                        <p:attrNameLst>
                                          <p:attrName>style.visibility</p:attrName>
                                        </p:attrNameLst>
                                      </p:cBhvr>
                                      <p:to>
                                        <p:strVal val="visible"/>
                                      </p:to>
                                    </p:set>
                                    <p:animEffect transition="in" filter="wipe(left)">
                                      <p:cBhvr additive="repl">
                                        <p:cTn id="537" dur="500"/>
                                        <p:tgtEl>
                                          <p:spTgt spid="271"/>
                                        </p:tgtEl>
                                      </p:cBhvr>
                                    </p:animEffect>
                                  </p:childTnLst>
                                </p:cTn>
                              </p:par>
                            </p:childTnLst>
                          </p:cTn>
                        </p:par>
                        <p:par>
                          <p:cTn id="538" fill="hold" nodeType="afterEffect">
                            <p:stCondLst>
                              <p:cond delay="500"/>
                            </p:stCondLst>
                            <p:childTnLst>
                              <p:par>
                                <p:cTn id="539" presetID="9" presetClass="entr" fill="hold" nodeType="afterEffect">
                                  <p:stCondLst>
                                    <p:cond delay="2000"/>
                                  </p:stCondLst>
                                  <p:childTnLst>
                                    <p:set>
                                      <p:cBhvr>
                                        <p:cTn id="540" dur="1" fill="hold">
                                          <p:stCondLst>
                                            <p:cond delay="0"/>
                                          </p:stCondLst>
                                        </p:cTn>
                                        <p:tgtEl>
                                          <p:spTgt spid="280"/>
                                        </p:tgtEl>
                                        <p:attrNameLst>
                                          <p:attrName>style.visibility</p:attrName>
                                        </p:attrNameLst>
                                      </p:cBhvr>
                                      <p:to>
                                        <p:strVal val="visible"/>
                                      </p:to>
                                    </p:set>
                                    <p:animEffect transition="in" filter="dissolve">
                                      <p:cBhvr additive="repl">
                                        <p:cTn id="541" dur="500"/>
                                        <p:tgtEl>
                                          <p:spTgt spid="280"/>
                                        </p:tgtEl>
                                      </p:cBhvr>
                                    </p:animEffect>
                                  </p:childTnLst>
                                </p:cTn>
                              </p:par>
                            </p:childTnLst>
                          </p:cTn>
                        </p:par>
                        <p:par>
                          <p:cTn id="542" fill="hold" nodeType="afterEffect">
                            <p:stCondLst>
                              <p:cond delay="3000"/>
                            </p:stCondLst>
                            <p:childTnLst>
                              <p:par>
                                <p:cTn id="543" presetID="9" presetClass="entr" fill="hold" nodeType="afterEffect">
                                  <p:stCondLst>
                                    <p:cond delay="0"/>
                                  </p:stCondLst>
                                  <p:childTnLst>
                                    <p:set>
                                      <p:cBhvr>
                                        <p:cTn id="544" dur="1" fill="hold">
                                          <p:stCondLst>
                                            <p:cond delay="0"/>
                                          </p:stCondLst>
                                        </p:cTn>
                                        <p:tgtEl>
                                          <p:spTgt spid="281"/>
                                        </p:tgtEl>
                                        <p:attrNameLst>
                                          <p:attrName>style.visibility</p:attrName>
                                        </p:attrNameLst>
                                      </p:cBhvr>
                                      <p:to>
                                        <p:strVal val="visible"/>
                                      </p:to>
                                    </p:set>
                                    <p:animEffect transition="in" filter="dissolve">
                                      <p:cBhvr additive="repl">
                                        <p:cTn id="545" dur="500"/>
                                        <p:tgtEl>
                                          <p:spTgt spid="281"/>
                                        </p:tgtEl>
                                      </p:cBhvr>
                                    </p:animEffect>
                                  </p:childTnLst>
                                </p:cTn>
                              </p:par>
                            </p:childTnLst>
                          </p:cTn>
                        </p:par>
                        <p:par>
                          <p:cTn id="546" fill="hold" nodeType="afterEffect">
                            <p:stCondLst>
                              <p:cond delay="3500"/>
                            </p:stCondLst>
                            <p:childTnLst>
                              <p:par>
                                <p:cTn id="547" presetID="9" presetClass="entr" fill="hold" nodeType="afterEffect">
                                  <p:stCondLst>
                                    <p:cond delay="0"/>
                                  </p:stCondLst>
                                  <p:childTnLst>
                                    <p:set>
                                      <p:cBhvr>
                                        <p:cTn id="548" dur="1" fill="hold">
                                          <p:stCondLst>
                                            <p:cond delay="0"/>
                                          </p:stCondLst>
                                        </p:cTn>
                                        <p:tgtEl>
                                          <p:spTgt spid="282"/>
                                        </p:tgtEl>
                                        <p:attrNameLst>
                                          <p:attrName>style.visibility</p:attrName>
                                        </p:attrNameLst>
                                      </p:cBhvr>
                                      <p:to>
                                        <p:strVal val="visible"/>
                                      </p:to>
                                    </p:set>
                                    <p:animEffect transition="in" filter="dissolve">
                                      <p:cBhvr additive="repl">
                                        <p:cTn id="549" dur="500"/>
                                        <p:tgtEl>
                                          <p:spTgt spid="282"/>
                                        </p:tgtEl>
                                      </p:cBhvr>
                                    </p:animEffect>
                                  </p:childTnLst>
                                </p:cTn>
                              </p:par>
                            </p:childTnLst>
                          </p:cTn>
                        </p:par>
                      </p:childTnLst>
                    </p:cTn>
                  </p:par>
                  <p:par>
                    <p:cTn id="550" fill="hold" nodeType="clickEffect">
                      <p:stCondLst>
                        <p:cond delay="indefinite"/>
                      </p:stCondLst>
                      <p:childTnLst>
                        <p:par>
                          <p:cTn id="551" fill="hold" nodeType="withEffect">
                            <p:stCondLst>
                              <p:cond delay="0"/>
                            </p:stCondLst>
                            <p:childTnLst>
                              <p:par>
                                <p:cTn id="552" presetID="22" presetClass="entr" fill="hold" nodeType="clickEffect" presetSubtype="8">
                                  <p:stCondLst>
                                    <p:cond delay="0"/>
                                  </p:stCondLst>
                                  <p:childTnLst>
                                    <p:set>
                                      <p:cBhvr>
                                        <p:cTn id="553" dur="1" fill="hold">
                                          <p:stCondLst>
                                            <p:cond delay="0"/>
                                          </p:stCondLst>
                                        </p:cTn>
                                        <p:tgtEl>
                                          <p:spTgt spid="272"/>
                                        </p:tgtEl>
                                        <p:attrNameLst>
                                          <p:attrName>style.visibility</p:attrName>
                                        </p:attrNameLst>
                                      </p:cBhvr>
                                      <p:to>
                                        <p:strVal val="visible"/>
                                      </p:to>
                                    </p:set>
                                    <p:animEffect transition="in" filter="wipe(left)">
                                      <p:cBhvr additive="repl">
                                        <p:cTn id="554" dur="500"/>
                                        <p:tgtEl>
                                          <p:spTgt spid="272"/>
                                        </p:tgtEl>
                                      </p:cBhvr>
                                    </p:animEffect>
                                  </p:childTnLst>
                                </p:cTn>
                              </p:par>
                            </p:childTnLst>
                          </p:cTn>
                        </p:par>
                        <p:par>
                          <p:cTn id="555" fill="hold" nodeType="afterEffect">
                            <p:stCondLst>
                              <p:cond delay="500"/>
                            </p:stCondLst>
                            <p:childTnLst>
                              <p:par>
                                <p:cTn id="556" presetID="9" presetClass="entr" fill="hold" nodeType="afterEffect">
                                  <p:stCondLst>
                                    <p:cond delay="0"/>
                                  </p:stCondLst>
                                  <p:childTnLst>
                                    <p:set>
                                      <p:cBhvr>
                                        <p:cTn id="557" dur="1" fill="hold">
                                          <p:stCondLst>
                                            <p:cond delay="0"/>
                                          </p:stCondLst>
                                        </p:cTn>
                                        <p:tgtEl>
                                          <p:spTgt spid="283"/>
                                        </p:tgtEl>
                                        <p:attrNameLst>
                                          <p:attrName>style.visibility</p:attrName>
                                        </p:attrNameLst>
                                      </p:cBhvr>
                                      <p:to>
                                        <p:strVal val="visible"/>
                                      </p:to>
                                    </p:set>
                                    <p:animEffect transition="in" filter="dissolve">
                                      <p:cBhvr additive="repl">
                                        <p:cTn id="558" dur="500"/>
                                        <p:tgtEl>
                                          <p:spTgt spid="283"/>
                                        </p:tgtEl>
                                      </p:cBhvr>
                                    </p:animEffect>
                                  </p:childTnLst>
                                </p:cTn>
                              </p:par>
                            </p:childTnLst>
                          </p:cTn>
                        </p:par>
                        <p:par>
                          <p:cTn id="559" fill="hold" nodeType="afterEffect">
                            <p:stCondLst>
                              <p:cond delay="1000"/>
                            </p:stCondLst>
                            <p:childTnLst>
                              <p:par>
                                <p:cTn id="560" presetID="9" presetClass="entr" fill="hold" nodeType="afterEffect">
                                  <p:stCondLst>
                                    <p:cond delay="0"/>
                                  </p:stCondLst>
                                  <p:childTnLst>
                                    <p:set>
                                      <p:cBhvr>
                                        <p:cTn id="561" dur="1" fill="hold">
                                          <p:stCondLst>
                                            <p:cond delay="0"/>
                                          </p:stCondLst>
                                        </p:cTn>
                                        <p:tgtEl>
                                          <p:spTgt spid="276"/>
                                        </p:tgtEl>
                                        <p:attrNameLst>
                                          <p:attrName>style.visibility</p:attrName>
                                        </p:attrNameLst>
                                      </p:cBhvr>
                                      <p:to>
                                        <p:strVal val="visible"/>
                                      </p:to>
                                    </p:set>
                                    <p:animEffect transition="in" filter="dissolve">
                                      <p:cBhvr additive="repl">
                                        <p:cTn id="562" dur="500"/>
                                        <p:tgtEl>
                                          <p:spTgt spid="276"/>
                                        </p:tgtEl>
                                      </p:cBhvr>
                                    </p:animEffect>
                                  </p:childTnLst>
                                </p:cTn>
                              </p:par>
                            </p:childTnLst>
                          </p:cTn>
                        </p:par>
                      </p:childTnLst>
                    </p:cTn>
                  </p:par>
                  <p:par>
                    <p:cTn id="563" fill="hold" nodeType="clickEffect">
                      <p:stCondLst>
                        <p:cond delay="indefinite"/>
                      </p:stCondLst>
                      <p:childTnLst>
                        <p:par>
                          <p:cTn id="564" fill="hold" nodeType="withEffect">
                            <p:stCondLst>
                              <p:cond delay="0"/>
                            </p:stCondLst>
                            <p:childTnLst>
                              <p:par>
                                <p:cTn id="565" presetID="9" presetClass="entr" fill="hold" nodeType="clickEffect">
                                  <p:stCondLst>
                                    <p:cond delay="0"/>
                                  </p:stCondLst>
                                  <p:childTnLst>
                                    <p:set>
                                      <p:cBhvr>
                                        <p:cTn id="566" dur="1" fill="hold">
                                          <p:stCondLst>
                                            <p:cond delay="0"/>
                                          </p:stCondLst>
                                        </p:cTn>
                                        <p:tgtEl>
                                          <p:spTgt spid="285">
                                            <p:txEl>
                                              <p:pRg st="0" end="0"/>
                                            </p:txEl>
                                          </p:spTgt>
                                        </p:tgtEl>
                                        <p:attrNameLst>
                                          <p:attrName>style.visibility</p:attrName>
                                        </p:attrNameLst>
                                      </p:cBhvr>
                                      <p:to>
                                        <p:strVal val="visible"/>
                                      </p:to>
                                    </p:set>
                                    <p:animEffect transition="in" filter="dissolve">
                                      <p:cBhvr additive="repl">
                                        <p:cTn id="567" dur="500"/>
                                        <p:tgtEl>
                                          <p:spTgt spid="285">
                                            <p:txEl>
                                              <p:pRg st="0" end="0"/>
                                            </p:txEl>
                                          </p:spTgt>
                                        </p:tgtEl>
                                      </p:cBhvr>
                                    </p:animEffect>
                                  </p:childTnLst>
                                </p:cTn>
                              </p:par>
                            </p:childTnLst>
                          </p:cTn>
                        </p:par>
                      </p:childTnLst>
                    </p:cTn>
                  </p:par>
                  <p:par>
                    <p:cTn id="568" fill="hold" nodeType="clickEffect">
                      <p:stCondLst>
                        <p:cond delay="indefinite"/>
                      </p:stCondLst>
                      <p:childTnLst>
                        <p:par>
                          <p:cTn id="569" fill="hold" nodeType="withEffect">
                            <p:stCondLst>
                              <p:cond delay="0"/>
                            </p:stCondLst>
                            <p:childTnLst>
                              <p:par>
                                <p:cTn id="570" presetID="9" presetClass="entr" fill="hold" nodeType="clickEffect">
                                  <p:stCondLst>
                                    <p:cond delay="0"/>
                                  </p:stCondLst>
                                  <p:childTnLst>
                                    <p:set>
                                      <p:cBhvr>
                                        <p:cTn id="571" dur="1" fill="hold">
                                          <p:stCondLst>
                                            <p:cond delay="0"/>
                                          </p:stCondLst>
                                        </p:cTn>
                                        <p:tgtEl>
                                          <p:spTgt spid="285">
                                            <p:txEl>
                                              <p:pRg st="1" end="1"/>
                                            </p:txEl>
                                          </p:spTgt>
                                        </p:tgtEl>
                                        <p:attrNameLst>
                                          <p:attrName>style.visibility</p:attrName>
                                        </p:attrNameLst>
                                      </p:cBhvr>
                                      <p:to>
                                        <p:strVal val="visible"/>
                                      </p:to>
                                    </p:set>
                                    <p:animEffect transition="in" filter="dissolve">
                                      <p:cBhvr additive="repl">
                                        <p:cTn id="572" dur="500"/>
                                        <p:tgtEl>
                                          <p:spTgt spid="285">
                                            <p:txEl>
                                              <p:pRg st="1" end="1"/>
                                            </p:txEl>
                                          </p:spTgt>
                                        </p:tgtEl>
                                      </p:cBhvr>
                                    </p:animEffect>
                                  </p:childTnLst>
                                </p:cTn>
                              </p:par>
                            </p:childTnLst>
                          </p:cTn>
                        </p:par>
                      </p:childTnLst>
                    </p:cTn>
                  </p:par>
                  <p:par>
                    <p:cTn id="573" fill="hold" nodeType="clickEffect">
                      <p:stCondLst>
                        <p:cond delay="indefinite"/>
                      </p:stCondLst>
                      <p:childTnLst>
                        <p:par>
                          <p:cTn id="574" fill="hold" nodeType="withEffect">
                            <p:stCondLst>
                              <p:cond delay="0"/>
                            </p:stCondLst>
                            <p:childTnLst>
                              <p:par>
                                <p:cTn id="575" presetID="9" presetClass="entr" fill="hold" nodeType="clickEffect">
                                  <p:stCondLst>
                                    <p:cond delay="0"/>
                                  </p:stCondLst>
                                  <p:childTnLst>
                                    <p:set>
                                      <p:cBhvr>
                                        <p:cTn id="576" dur="1" fill="hold">
                                          <p:stCondLst>
                                            <p:cond delay="0"/>
                                          </p:stCondLst>
                                        </p:cTn>
                                        <p:tgtEl>
                                          <p:spTgt spid="285">
                                            <p:txEl>
                                              <p:pRg st="2" end="2"/>
                                            </p:txEl>
                                          </p:spTgt>
                                        </p:tgtEl>
                                        <p:attrNameLst>
                                          <p:attrName>style.visibility</p:attrName>
                                        </p:attrNameLst>
                                      </p:cBhvr>
                                      <p:to>
                                        <p:strVal val="visible"/>
                                      </p:to>
                                    </p:set>
                                    <p:animEffect transition="in" filter="dissolve">
                                      <p:cBhvr additive="repl">
                                        <p:cTn id="577" dur="500"/>
                                        <p:tgtEl>
                                          <p:spTgt spid="285">
                                            <p:txEl>
                                              <p:pRg st="2" end="2"/>
                                            </p:txEl>
                                          </p:spTgt>
                                        </p:tgtEl>
                                      </p:cBhvr>
                                    </p:animEffect>
                                  </p:childTnLst>
                                </p:cTn>
                              </p:par>
                            </p:childTnLst>
                          </p:cTn>
                        </p:par>
                      </p:childTnLst>
                    </p:cTn>
                  </p:par>
                  <p:par>
                    <p:cTn id="578" fill="hold" nodeType="clickEffect">
                      <p:stCondLst>
                        <p:cond delay="indefinite"/>
                      </p:stCondLst>
                      <p:childTnLst>
                        <p:par>
                          <p:cTn id="579" fill="hold" nodeType="withEffect">
                            <p:stCondLst>
                              <p:cond delay="0"/>
                            </p:stCondLst>
                            <p:childTnLst>
                              <p:par>
                                <p:cTn id="580" presetID="10" presetClass="emph" fill="hold" nodeType="clickEffect">
                                  <p:stCondLst>
                                    <p:cond delay="0"/>
                                  </p:stCondLst>
                                  <p:childTnLst>
                                    <p:anim calcmode="discrete" valueType="str">
                                      <p:cBhvr additive="repl">
                                        <p:cTn id="581" dur="2000" fill="hold"/>
                                        <p:tgtEl>
                                          <p:spTgt spid="285">
                                            <p:txEl>
                                              <p:pRg st="2" end="2"/>
                                            </p:txEl>
                                          </p:spTgt>
                                        </p:tgtEl>
                                        <p:attrNameLst>
                                          <p:attrName>style.fontWeight</p:attrName>
                                        </p:attrNameLst>
                                      </p:cBhvr>
                                      <p:tavLst>
                                        <p:tav>
                                          <p:val>
                                            <p:strVal val="normal"/>
                                          </p:val>
                                        </p:tav>
                                        <p:tav tm="50000">
                                          <p:val>
                                            <p:strVal val="bold"/>
                                          </p:val>
                                        </p:tav>
                                        <p:tav tm="60000">
                                          <p:val>
                                            <p:strVal val="normal"/>
                                          </p:val>
                                        </p:tav>
                                        <p:tav tm="100000">
                                          <p:val>
                                            <p:strVal val="normal"/>
                                          </p:val>
                                        </p:tav>
                                      </p:tavLst>
                                    </p:anim>
                                  </p:childTnLst>
                                </p:cTn>
                              </p:par>
                            </p:childTnLst>
                          </p:cTn>
                        </p:par>
                      </p:childTnLst>
                    </p:cTn>
                  </p:par>
                  <p:par>
                    <p:cTn id="582" fill="hold" nodeType="clickEffect">
                      <p:stCondLst>
                        <p:cond delay="indefinite"/>
                      </p:stCondLst>
                      <p:childTnLst>
                        <p:par>
                          <p:cTn id="583" fill="hold" nodeType="withEffect">
                            <p:stCondLst>
                              <p:cond delay="0"/>
                            </p:stCondLst>
                            <p:childTnLst>
                              <p:par>
                                <p:cTn id="584" presetID="9" presetClass="entr" fill="hold" nodeType="clickEffect">
                                  <p:stCondLst>
                                    <p:cond delay="0"/>
                                  </p:stCondLst>
                                  <p:childTnLst>
                                    <p:set>
                                      <p:cBhvr>
                                        <p:cTn id="585" dur="1" fill="hold">
                                          <p:stCondLst>
                                            <p:cond delay="0"/>
                                          </p:stCondLst>
                                        </p:cTn>
                                        <p:tgtEl>
                                          <p:spTgt spid="285">
                                            <p:txEl>
                                              <p:pRg st="3" end="3"/>
                                            </p:txEl>
                                          </p:spTgt>
                                        </p:tgtEl>
                                        <p:attrNameLst>
                                          <p:attrName>style.visibility</p:attrName>
                                        </p:attrNameLst>
                                      </p:cBhvr>
                                      <p:to>
                                        <p:strVal val="visible"/>
                                      </p:to>
                                    </p:set>
                                    <p:animEffect transition="in" filter="dissolve">
                                      <p:cBhvr additive="repl">
                                        <p:cTn id="586" dur="500"/>
                                        <p:tgtEl>
                                          <p:spTgt spid="28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Text Box 5"/>
          <p:cNvSpPr/>
          <p:nvPr/>
        </p:nvSpPr>
        <p:spPr>
          <a:xfrm>
            <a:off x="216000" y="1405080"/>
            <a:ext cx="8786880" cy="407664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在</a:t>
            </a:r>
            <a:r>
              <a:rPr lang="en-US" sz="2800" b="1" i="1" u="none" strike="noStrike">
                <a:solidFill>
                  <a:srgbClr val="000000"/>
                </a:solidFill>
                <a:effectLst/>
                <a:uFillTx/>
                <a:latin typeface="Times New Roman"/>
              </a:rPr>
              <a:t>s </a:t>
            </a:r>
            <a:r>
              <a:rPr lang="zh-CN" sz="2800" b="1" u="none" strike="noStrike">
                <a:solidFill>
                  <a:srgbClr val="000000"/>
                </a:solidFill>
                <a:effectLst/>
                <a:uFillTx/>
                <a:latin typeface="Times New Roman"/>
              </a:rPr>
              <a:t>平面内满足幅角条件的所有</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点，将这些点连成光滑曲线，即是闭环系统根轨迹。</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800" b="1" u="none" strike="noStrike">
                <a:solidFill>
                  <a:srgbClr val="000099"/>
                </a:solidFill>
                <a:effectLst/>
                <a:uFillTx/>
                <a:latin typeface="楷体_GB2312"/>
                <a:ea typeface="楷体_GB2312"/>
              </a:rPr>
              <a:t>在</a:t>
            </a:r>
            <a:r>
              <a:rPr lang="en-US" sz="2800" b="1" u="none" strike="noStrike">
                <a:solidFill>
                  <a:srgbClr val="000099"/>
                </a:solidFill>
                <a:effectLst/>
                <a:uFillTx/>
                <a:latin typeface="楷体_GB2312"/>
                <a:ea typeface="楷体_GB2312"/>
              </a:rPr>
              <a:t>1948</a:t>
            </a:r>
            <a:r>
              <a:rPr lang="zh-CN" sz="2800" b="1" u="none" strike="noStrike">
                <a:solidFill>
                  <a:srgbClr val="000099"/>
                </a:solidFill>
                <a:effectLst/>
                <a:uFillTx/>
                <a:latin typeface="楷体_GB2312"/>
                <a:ea typeface="楷体_GB2312"/>
              </a:rPr>
              <a:t>年，伊凡思</a:t>
            </a:r>
            <a:r>
              <a:rPr lang="zh-CN" sz="2800" b="1" u="none" strike="noStrike">
                <a:solidFill>
                  <a:srgbClr val="000099"/>
                </a:solidFill>
                <a:effectLst/>
                <a:uFillTx/>
                <a:latin typeface="Times New Roman"/>
                <a:ea typeface="楷体_GB2312"/>
              </a:rPr>
              <a:t>（</a:t>
            </a:r>
            <a:r>
              <a:rPr lang="en-US" sz="2800" b="1" i="1" u="none" strike="noStrike">
                <a:solidFill>
                  <a:srgbClr val="000099"/>
                </a:solidFill>
                <a:effectLst/>
                <a:uFillTx/>
                <a:latin typeface="Times New Roman"/>
                <a:ea typeface="楷体_GB2312"/>
              </a:rPr>
              <a:t>W.R.Evdns</a:t>
            </a:r>
            <a:r>
              <a:rPr lang="zh-CN" sz="2800" b="1" u="none" strike="noStrike">
                <a:solidFill>
                  <a:srgbClr val="000099"/>
                </a:solidFill>
                <a:effectLst/>
                <a:uFillTx/>
                <a:latin typeface="Times New Roman"/>
                <a:ea typeface="楷体_GB2312"/>
              </a:rPr>
              <a:t>）</a:t>
            </a:r>
            <a:r>
              <a:rPr lang="zh-CN" sz="2800" b="1" u="none" strike="noStrike">
                <a:solidFill>
                  <a:srgbClr val="000099"/>
                </a:solidFill>
                <a:effectLst/>
                <a:uFillTx/>
                <a:latin typeface="楷体_GB2312"/>
                <a:ea typeface="楷体_GB2312"/>
              </a:rPr>
              <a:t>提出了用图解法绘制根迹的一些</a:t>
            </a:r>
            <a:r>
              <a:rPr lang="zh-CN" sz="2800" b="1" u="none" strike="noStrike">
                <a:solidFill>
                  <a:srgbClr val="FF0000"/>
                </a:solidFill>
                <a:effectLst/>
                <a:uFillTx/>
                <a:latin typeface="楷体_GB2312"/>
                <a:ea typeface="楷体_GB2312"/>
              </a:rPr>
              <a:t>基本法则</a:t>
            </a:r>
            <a:r>
              <a:rPr lang="zh-CN" sz="2800" b="1" u="none" strike="noStrike">
                <a:solidFill>
                  <a:srgbClr val="000099"/>
                </a:solidFill>
                <a:effectLst/>
                <a:uFillTx/>
                <a:latin typeface="楷体_GB2312"/>
                <a:ea typeface="楷体_GB2312"/>
              </a:rPr>
              <a:t>，可以迅速绘制闭环系统的根轨迹草图，在根轨迹草图的基础上，必要时可用幅角条件使其精确化，从而使整个根规迹的绘制过程大为简化。</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587" dur="indefinite" restart="never" nodeType="tmRoot">
          <p:childTnLst>
            <p:seq>
              <p:cTn id="588" dur="indefinite" nodeType="mainSeq">
                <p:childTnLst>
                  <p:par>
                    <p:cTn id="589" fill="hold" nodeType="clickEffect">
                      <p:stCondLst>
                        <p:cond delay="indefinite"/>
                      </p:stCondLst>
                      <p:childTnLst>
                        <p:par>
                          <p:cTn id="590" fill="hold" nodeType="withEffect">
                            <p:stCondLst>
                              <p:cond delay="0"/>
                            </p:stCondLst>
                            <p:childTnLst>
                              <p:par>
                                <p:cTn id="591" presetID="2" presetClass="entr" fill="hold" nodeType="clickEffect" presetSubtype="8">
                                  <p:stCondLst>
                                    <p:cond delay="0"/>
                                  </p:stCondLst>
                                  <p:iterate type="lt">
                                    <p:tmAbs val="75"/>
                                  </p:iterate>
                                  <p:childTnLst>
                                    <p:set>
                                      <p:cBhvr>
                                        <p:cTn id="592" dur="1" fill="hold">
                                          <p:stCondLst>
                                            <p:cond delay="0"/>
                                          </p:stCondLst>
                                        </p:cTn>
                                        <p:tgtEl>
                                          <p:spTgt spid="286">
                                            <p:txEl>
                                              <p:pRg st="0" end="0"/>
                                            </p:txEl>
                                          </p:spTgt>
                                        </p:tgtEl>
                                        <p:attrNameLst>
                                          <p:attrName>style.visibility</p:attrName>
                                        </p:attrNameLst>
                                      </p:cBhvr>
                                      <p:to>
                                        <p:strVal val="visible"/>
                                      </p:to>
                                    </p:set>
                                    <p:anim calcmode="lin" valueType="num">
                                      <p:cBhvr additive="base">
                                        <p:cTn id="593" dur="75" fill="hold"/>
                                        <p:tgtEl>
                                          <p:spTgt spid="286">
                                            <p:txEl>
                                              <p:pRg st="0" end="0"/>
                                            </p:txEl>
                                          </p:spTgt>
                                        </p:tgtEl>
                                        <p:attrNameLst>
                                          <p:attrName>ppt_x</p:attrName>
                                        </p:attrNameLst>
                                      </p:cBhvr>
                                      <p:tavLst>
                                        <p:tav>
                                          <p:val>
                                            <p:strVal val="0-#ppt_w/2"/>
                                          </p:val>
                                        </p:tav>
                                        <p:tav tm="100000">
                                          <p:val>
                                            <p:strVal val="#ppt_x"/>
                                          </p:val>
                                        </p:tav>
                                      </p:tavLst>
                                    </p:anim>
                                    <p:anim calcmode="lin" valueType="num">
                                      <p:cBhvr additive="base">
                                        <p:cTn id="594" dur="75" fill="hold"/>
                                        <p:tgtEl>
                                          <p:spTgt spid="286">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595" fill="hold" nodeType="clickEffect">
                      <p:stCondLst>
                        <p:cond delay="indefinite"/>
                      </p:stCondLst>
                      <p:childTnLst>
                        <p:par>
                          <p:cTn id="596" fill="hold" nodeType="withEffect">
                            <p:stCondLst>
                              <p:cond delay="0"/>
                            </p:stCondLst>
                            <p:childTnLst>
                              <p:par>
                                <p:cTn id="597" presetID="2" presetClass="entr" fill="hold" nodeType="clickEffect" presetSubtype="8">
                                  <p:stCondLst>
                                    <p:cond delay="0"/>
                                  </p:stCondLst>
                                  <p:iterate type="lt">
                                    <p:tmAbs val="75"/>
                                  </p:iterate>
                                  <p:childTnLst>
                                    <p:set>
                                      <p:cBhvr>
                                        <p:cTn id="598" dur="1" fill="hold">
                                          <p:stCondLst>
                                            <p:cond delay="0"/>
                                          </p:stCondLst>
                                        </p:cTn>
                                        <p:tgtEl>
                                          <p:spTgt spid="286">
                                            <p:txEl>
                                              <p:pRg st="1" end="1"/>
                                            </p:txEl>
                                          </p:spTgt>
                                        </p:tgtEl>
                                        <p:attrNameLst>
                                          <p:attrName>style.visibility</p:attrName>
                                        </p:attrNameLst>
                                      </p:cBhvr>
                                      <p:to>
                                        <p:strVal val="visible"/>
                                      </p:to>
                                    </p:set>
                                    <p:anim calcmode="lin" valueType="num">
                                      <p:cBhvr additive="base">
                                        <p:cTn id="599" dur="75" fill="hold"/>
                                        <p:tgtEl>
                                          <p:spTgt spid="286">
                                            <p:txEl>
                                              <p:pRg st="1" end="1"/>
                                            </p:txEl>
                                          </p:spTgt>
                                        </p:tgtEl>
                                        <p:attrNameLst>
                                          <p:attrName>ppt_x</p:attrName>
                                        </p:attrNameLst>
                                      </p:cBhvr>
                                      <p:tavLst>
                                        <p:tav>
                                          <p:val>
                                            <p:strVal val="0-#ppt_w/2"/>
                                          </p:val>
                                        </p:tav>
                                        <p:tav tm="100000">
                                          <p:val>
                                            <p:strVal val="#ppt_x"/>
                                          </p:val>
                                        </p:tav>
                                      </p:tavLst>
                                    </p:anim>
                                    <p:anim calcmode="lin" valueType="num">
                                      <p:cBhvr additive="base">
                                        <p:cTn id="600" dur="75" fill="hold"/>
                                        <p:tgtEl>
                                          <p:spTgt spid="286">
                                            <p:txEl>
                                              <p:pRg st="1" end="1"/>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188640" y="153720"/>
            <a:ext cx="6900840" cy="6858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FFFFFF"/>
                </a:solidFill>
                <a:effectLst/>
                <a:uFillTx/>
                <a:latin typeface="黑体"/>
                <a:ea typeface="黑体"/>
              </a:rPr>
              <a:t>4-2  </a:t>
            </a:r>
            <a:r>
              <a:rPr lang="zh-CN" sz="3200" b="0" u="none" strike="noStrike">
                <a:solidFill>
                  <a:srgbClr val="FFFFFF"/>
                </a:solidFill>
                <a:effectLst/>
                <a:uFillTx/>
                <a:latin typeface="黑体"/>
                <a:ea typeface="黑体"/>
              </a:rPr>
              <a:t>绘制系统根轨迹的基本法则</a:t>
            </a:r>
            <a:endParaRPr lang="en-US" sz="3200" b="0" u="none" strike="noStrike">
              <a:solidFill>
                <a:srgbClr val="FFFFFF"/>
              </a:solidFill>
              <a:effectLst/>
              <a:uFillTx/>
              <a:latin typeface="Candara"/>
            </a:endParaRPr>
          </a:p>
        </p:txBody>
      </p:sp>
      <p:sp>
        <p:nvSpPr>
          <p:cNvPr id="288" name="Text Box 4"/>
          <p:cNvSpPr/>
          <p:nvPr/>
        </p:nvSpPr>
        <p:spPr>
          <a:xfrm>
            <a:off x="114480" y="4703760"/>
            <a:ext cx="8915400" cy="6487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1</a:t>
            </a:r>
            <a:r>
              <a:rPr lang="en-US" sz="2800" b="1" u="none" strike="noStrike">
                <a:solidFill>
                  <a:srgbClr val="000000"/>
                </a:solidFill>
                <a:effectLst/>
                <a:uFillTx/>
                <a:latin typeface="Times New Roman"/>
              </a:rPr>
              <a:t>   </a:t>
            </a:r>
            <a:r>
              <a:rPr lang="zh-CN" sz="2800" b="1" u="none" strike="noStrike">
                <a:solidFill>
                  <a:srgbClr val="990033"/>
                </a:solidFill>
                <a:effectLst/>
                <a:uFillTx/>
                <a:latin typeface="Times New Roman"/>
              </a:rPr>
              <a:t>根轨迹的连续性</a:t>
            </a:r>
            <a:endParaRPr lang="en-US" sz="2800" b="1" u="none" strike="noStrike">
              <a:solidFill>
                <a:srgbClr val="000000"/>
              </a:solidFill>
              <a:effectLst/>
              <a:uFillTx/>
              <a:latin typeface="Times New Roman"/>
            </a:endParaRPr>
          </a:p>
        </p:txBody>
      </p:sp>
      <p:sp>
        <p:nvSpPr>
          <p:cNvPr id="289" name="Text Box 12"/>
          <p:cNvSpPr/>
          <p:nvPr/>
        </p:nvSpPr>
        <p:spPr>
          <a:xfrm>
            <a:off x="291960" y="5537160"/>
            <a:ext cx="8852040" cy="119124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由于根轨迹增益是连续的，根也是连续的，根轨迹当然也是连续的。利用这一性质，只要精确画出几个特征点，描点连线即可画出整个根轨迹。</a:t>
            </a:r>
            <a:endParaRPr lang="en-US" sz="2400" b="1" u="none" strike="noStrike">
              <a:solidFill>
                <a:srgbClr val="000000"/>
              </a:solidFill>
              <a:effectLst/>
              <a:uFillTx/>
              <a:latin typeface="Times New Roman"/>
            </a:endParaRPr>
          </a:p>
        </p:txBody>
      </p:sp>
      <p:sp>
        <p:nvSpPr>
          <p:cNvPr id="290" name="Rectangle 15"/>
          <p:cNvSpPr/>
          <p:nvPr/>
        </p:nvSpPr>
        <p:spPr>
          <a:xfrm>
            <a:off x="304920" y="809640"/>
            <a:ext cx="384480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0000"/>
                </a:solidFill>
                <a:effectLst/>
                <a:uFillTx/>
                <a:latin typeface="Times New Roman"/>
              </a:rPr>
              <a:t>根轨迹的幅值方程：</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291" name="Object 1030"/>
              <p:cNvSpPr txBox="1"/>
              <p:nvPr/>
            </p:nvSpPr>
            <p:spPr>
              <a:xfrm>
                <a:off x="4140360" y="822240"/>
                <a:ext cx="2112840" cy="1736640"/>
              </a:xfrm>
              <a:prstGeom prst="rect">
                <a:avLst/>
              </a:prstGeom>
            </p:spPr>
            <p:txBody>
              <a:bodyPr/>
              <a:p>
                <a14:m>
                  <m:oMath xmlns:m="http://schemas.openxmlformats.org/officeDocument/2006/math">
                    <m:f>
                      <m:num>
                        <m:nary>
                          <m:naryPr>
                            <m:chr m:val="∏"/>
                          </m:naryPr>
                          <m:sub>
                            <m:r>
                              <m:t xml:space="preserve">i</m:t>
                            </m:r>
                            <m:r>
                              <m:t xml:space="preserve">=</m:t>
                            </m:r>
                            <m:r>
                              <m:t xml:space="preserve">1</m:t>
                            </m:r>
                          </m:sub>
                          <m:sup>
                            <m:r>
                              <m:t xml:space="preserve">m</m:t>
                            </m:r>
                          </m:sup>
                          <m:e>
                            <m:d>
                              <m:dPr>
                                <m:begChr m:val="|"/>
                                <m:endChr m:val="|"/>
                              </m:dPr>
                              <m:e>
                                <m:r>
                                  <m:t xml:space="preserve">s</m:t>
                                </m:r>
                                <m:r>
                                  <m:t xml:space="preserve">−</m:t>
                                </m:r>
                                <m:sSub>
                                  <m:e>
                                    <m:r>
                                      <m:t xml:space="preserve">z</m:t>
                                    </m:r>
                                  </m:e>
                                  <m:sub>
                                    <m:r>
                                      <m:t xml:space="preserve">i</m:t>
                                    </m:r>
                                  </m:sub>
                                </m:sSub>
                              </m:e>
                            </m:d>
                          </m:e>
                        </m:nary>
                      </m:num>
                      <m:den>
                        <m:nary>
                          <m:naryPr>
                            <m:chr m:val="∏"/>
                          </m:naryPr>
                          <m:sub>
                            <m:r>
                              <m:t xml:space="preserve">j</m:t>
                            </m:r>
                            <m:r>
                              <m:t xml:space="preserve">=</m:t>
                            </m:r>
                            <m:r>
                              <m:t xml:space="preserve">1</m:t>
                            </m:r>
                          </m:sub>
                          <m:sup>
                            <m:r>
                              <m:t xml:space="preserve">n</m:t>
                            </m:r>
                          </m:sup>
                          <m:e>
                            <m:d>
                              <m:dPr>
                                <m:begChr m:val="|"/>
                                <m:endChr m:val="|"/>
                              </m:dPr>
                              <m:e>
                                <m:r>
                                  <m:t xml:space="preserve">s</m:t>
                                </m:r>
                                <m:r>
                                  <m:t xml:space="preserve">−</m:t>
                                </m:r>
                                <m:sSub>
                                  <m:e>
                                    <m:r>
                                      <m:t xml:space="preserve">p</m:t>
                                    </m:r>
                                  </m:e>
                                  <m:sub>
                                    <m:r>
                                      <m:t xml:space="preserve">j</m:t>
                                    </m:r>
                                  </m:sub>
                                </m:sSub>
                              </m:e>
                            </m:d>
                          </m:e>
                        </m:nary>
                      </m:den>
                    </m:f>
                    <m:r>
                      <m:t xml:space="preserve">=</m:t>
                    </m:r>
                    <m:f>
                      <m:num>
                        <m:r>
                          <m:t xml:space="preserve">1</m:t>
                        </m:r>
                      </m:num>
                      <m:den>
                        <m:sSub>
                          <m:e>
                            <m:r>
                              <m:t xml:space="preserve">K</m:t>
                            </m:r>
                          </m:e>
                          <m:sub>
                            <m:r>
                              <m:t xml:space="preserve">g</m:t>
                            </m:r>
                          </m:sub>
                        </m:sSub>
                      </m:den>
                    </m:f>
                  </m:oMath>
                </a14:m>
              </a:p>
            </p:txBody>
          </p:sp>
        </mc:Choice>
        <mc:Fallback>
          <p:sp>
            <p:nvSpPr>
              <p:cNvPr id="291" name="Object 1030"/>
              <p:cNvSpPr txBox="1"/>
              <p:nvPr/>
            </p:nvSpPr>
            <p:spPr>
              <a:xfrm>
                <a:off x="4140360" y="822240"/>
                <a:ext cx="2112840" cy="1736640"/>
              </a:xfrm>
              <a:prstGeom prst="rect">
                <a:avLst/>
              </a:prstGeom>
              <a:blipFill>
                <a:blip r:embed="rId1"/>
                <a:stretch>
                  <a:fillRect/>
                </a:stretch>
              </a:blipFill>
            </p:spPr>
          </p:sp>
        </mc:Fallback>
      </mc:AlternateContent>
      <p:sp>
        <p:nvSpPr>
          <p:cNvPr id="292" name="Text Box 17"/>
          <p:cNvSpPr/>
          <p:nvPr/>
        </p:nvSpPr>
        <p:spPr>
          <a:xfrm>
            <a:off x="241200" y="2079720"/>
            <a:ext cx="318780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0000"/>
                </a:solidFill>
                <a:effectLst/>
                <a:uFillTx/>
                <a:latin typeface="Times New Roman"/>
              </a:rPr>
              <a:t>根轨迹的幅角方程：</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293" name="Object 1031"/>
              <p:cNvSpPr txBox="1"/>
              <p:nvPr/>
            </p:nvSpPr>
            <p:spPr>
              <a:xfrm>
                <a:off x="1876320" y="2419200"/>
                <a:ext cx="6035760" cy="1135080"/>
              </a:xfrm>
              <a:prstGeom prst="rect">
                <a:avLst/>
              </a:prstGeom>
            </p:spPr>
            <p:txBody>
              <a:bodyPr/>
              <a:p>
                <a14:m>
                  <m:oMath xmlns:m="http://schemas.openxmlformats.org/officeDocument/2006/math">
                    <m:nary>
                      <m:naryPr>
                        <m:chr m:val="∑"/>
                      </m:naryPr>
                      <m:sub>
                        <m:r>
                          <m:t xml:space="preserve">i</m:t>
                        </m:r>
                        <m:r>
                          <m:t xml:space="preserve">=</m:t>
                        </m:r>
                        <m:r>
                          <m:t xml:space="preserve">1</m:t>
                        </m:r>
                      </m:sub>
                      <m:sup>
                        <m:r>
                          <m:t xml:space="preserve">m</m:t>
                        </m:r>
                      </m:sup>
                      <m:e>
                        <m:r>
                          <m:t xml:space="preserve">∠</m:t>
                        </m:r>
                        <m:r>
                          <m:t xml:space="preserve">(</m:t>
                        </m:r>
                        <m:r>
                          <m:t xml:space="preserve">s</m:t>
                        </m:r>
                        <m:r>
                          <m:t xml:space="preserve">−</m:t>
                        </m:r>
                        <m:sSub>
                          <m:e>
                            <m:r>
                              <m:t xml:space="preserve">z</m:t>
                            </m:r>
                          </m:e>
                          <m:sub>
                            <m:r>
                              <m:t xml:space="preserve">i</m:t>
                            </m:r>
                          </m:sub>
                        </m:sSub>
                        <m:r>
                          <m:t xml:space="preserve">)</m:t>
                        </m:r>
                      </m:e>
                    </m:nary>
                    <m:r>
                      <m:t xml:space="preserve">−</m:t>
                    </m:r>
                    <m:nary>
                      <m:naryPr>
                        <m:chr m:val="∑"/>
                      </m:naryPr>
                      <m:sub>
                        <m:r>
                          <m:t xml:space="preserve">j</m:t>
                        </m:r>
                        <m:r>
                          <m:t xml:space="preserve">=</m:t>
                        </m:r>
                        <m:r>
                          <m:t xml:space="preserve">1</m:t>
                        </m:r>
                      </m:sub>
                      <m:sup>
                        <m:r>
                          <m:t xml:space="preserve">n</m:t>
                        </m:r>
                      </m:sup>
                      <m:e>
                        <m:r>
                          <m:t xml:space="preserve">∠</m:t>
                        </m:r>
                        <m:r>
                          <m:t xml:space="preserve">(</m:t>
                        </m:r>
                        <m:r>
                          <m:t xml:space="preserve">s</m:t>
                        </m:r>
                        <m:r>
                          <m:t xml:space="preserve">−</m:t>
                        </m:r>
                        <m:sSub>
                          <m:e>
                            <m:r>
                              <m:t xml:space="preserve">p</m:t>
                            </m:r>
                          </m:e>
                          <m:sub>
                            <m:r>
                              <m:t xml:space="preserve">j</m:t>
                            </m:r>
                          </m:sub>
                        </m:sSub>
                        <m:r>
                          <m:t xml:space="preserve">)</m:t>
                        </m:r>
                      </m:e>
                    </m:nary>
                    <m:r>
                      <m:t xml:space="preserve">=</m:t>
                    </m:r>
                    <m:r>
                      <m:t xml:space="preserve">(</m:t>
                    </m:r>
                    <m:r>
                      <m:t xml:space="preserve">2</m:t>
                    </m:r>
                    <m:r>
                      <m:t xml:space="preserve">k</m:t>
                    </m:r>
                    <m:r>
                      <m:t xml:space="preserve">+</m:t>
                    </m:r>
                    <m:r>
                      <m:t xml:space="preserve">1</m:t>
                    </m:r>
                    <m:r>
                      <m:t xml:space="preserve">)</m:t>
                    </m:r>
                    <m:r>
                      <m:t xml:space="preserve">π</m:t>
                    </m:r>
                  </m:oMath>
                </a14:m>
              </a:p>
            </p:txBody>
          </p:sp>
        </mc:Choice>
        <mc:Fallback>
          <p:sp>
            <p:nvSpPr>
              <p:cNvPr id="293" name="Object 1031"/>
              <p:cNvSpPr txBox="1"/>
              <p:nvPr/>
            </p:nvSpPr>
            <p:spPr>
              <a:xfrm>
                <a:off x="1876320" y="2419200"/>
                <a:ext cx="6035760" cy="1135080"/>
              </a:xfrm>
              <a:prstGeom prst="rect">
                <a:avLst/>
              </a:prstGeom>
              <a:blipFill>
                <a:blip r:embed="rId2"/>
                <a:stretch>
                  <a:fillRect/>
                </a:stretch>
              </a:blipFill>
            </p:spPr>
          </p:sp>
        </mc:Fallback>
      </mc:AlternateContent>
      <p:sp>
        <p:nvSpPr>
          <p:cNvPr id="294" name="Rectangle 19"/>
          <p:cNvSpPr/>
          <p:nvPr/>
        </p:nvSpPr>
        <p:spPr>
          <a:xfrm>
            <a:off x="0" y="3408480"/>
            <a:ext cx="9105840" cy="11912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0000"/>
                </a:solidFill>
                <a:effectLst/>
                <a:uFillTx/>
                <a:latin typeface="Times New Roman"/>
              </a:rPr>
              <a:t>    </a:t>
            </a:r>
            <a:r>
              <a:rPr lang="zh-CN" sz="2400" b="1" u="none" strike="noStrike">
                <a:solidFill>
                  <a:srgbClr val="000000"/>
                </a:solidFill>
                <a:effectLst/>
                <a:uFillTx/>
                <a:latin typeface="宋体"/>
              </a:rPr>
              <a:t>在下面的讨论中，假定系统变化的参数是开环根轨迹增益</a:t>
            </a:r>
            <a:r>
              <a:rPr lang="en-US" sz="2400" b="1" i="1" u="none" strike="noStrike">
                <a:solidFill>
                  <a:srgbClr val="FF0000"/>
                </a:solidFill>
                <a:effectLst/>
                <a:uFillTx/>
                <a:latin typeface="宋体"/>
              </a:rPr>
              <a:t>Kg</a:t>
            </a:r>
            <a:r>
              <a:rPr lang="zh-CN" sz="2400" b="1" u="none" strike="noStrike">
                <a:solidFill>
                  <a:srgbClr val="000000"/>
                </a:solidFill>
                <a:effectLst/>
                <a:uFillTx/>
                <a:latin typeface="宋体"/>
              </a:rPr>
              <a:t>，</a:t>
            </a:r>
            <a:endParaRPr lang="en-US" sz="2400" b="1"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宋体"/>
              </a:rPr>
              <a:t>这种根轨迹习惯上称之为</a:t>
            </a:r>
            <a:r>
              <a:rPr lang="zh-CN" sz="2400" b="1" u="none" strike="noStrike">
                <a:solidFill>
                  <a:srgbClr val="FF0000"/>
                </a:solidFill>
                <a:effectLst/>
                <a:uFillTx/>
                <a:latin typeface="宋体"/>
              </a:rPr>
              <a:t>常规根轨迹</a:t>
            </a:r>
            <a:r>
              <a:rPr lang="zh-CN" sz="2400" b="1" u="none" strike="noStrike">
                <a:solidFill>
                  <a:srgbClr val="000000"/>
                </a:solidFill>
                <a:effectLst/>
                <a:uFillTx/>
                <a:latin typeface="宋体"/>
              </a:rPr>
              <a:t>。绘制常规根轨迹的基本方法如下：</a:t>
            </a:r>
            <a:endParaRPr lang="en-US" sz="24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601" dur="indefinite" restart="never" nodeType="tmRoot">
          <p:childTnLst>
            <p:seq>
              <p:cTn id="602" dur="indefinite" nodeType="mainSeq">
                <p:childTnLst>
                  <p:par>
                    <p:cTn id="603" fill="hold" nodeType="clickEffect">
                      <p:stCondLst>
                        <p:cond delay="indefinite"/>
                      </p:stCondLst>
                      <p:childTnLst>
                        <p:par>
                          <p:cTn id="604" fill="hold" nodeType="withEffect">
                            <p:stCondLst>
                              <p:cond delay="0"/>
                            </p:stCondLst>
                            <p:childTnLst>
                              <p:par>
                                <p:cTn id="605" presetID="2" presetClass="entr" fill="hold" nodeType="clickEffect" presetSubtype="8">
                                  <p:stCondLst>
                                    <p:cond delay="0"/>
                                  </p:stCondLst>
                                  <p:childTnLst>
                                    <p:set>
                                      <p:cBhvr>
                                        <p:cTn id="606" dur="1" fill="hold">
                                          <p:stCondLst>
                                            <p:cond delay="0"/>
                                          </p:stCondLst>
                                        </p:cTn>
                                        <p:tgtEl>
                                          <p:spTgt spid="287"/>
                                        </p:tgtEl>
                                        <p:attrNameLst>
                                          <p:attrName>style.visibility</p:attrName>
                                        </p:attrNameLst>
                                      </p:cBhvr>
                                      <p:to>
                                        <p:strVal val="visible"/>
                                      </p:to>
                                    </p:set>
                                    <p:anim calcmode="lin" valueType="num">
                                      <p:cBhvr additive="base">
                                        <p:cTn id="607" dur="500" fill="hold"/>
                                        <p:tgtEl>
                                          <p:spTgt spid="287"/>
                                        </p:tgtEl>
                                        <p:attrNameLst>
                                          <p:attrName>ppt_x</p:attrName>
                                        </p:attrNameLst>
                                      </p:cBhvr>
                                      <p:tavLst>
                                        <p:tav>
                                          <p:val>
                                            <p:strVal val="0-#ppt_w/2"/>
                                          </p:val>
                                        </p:tav>
                                        <p:tav tm="100000">
                                          <p:val>
                                            <p:strVal val="#ppt_x"/>
                                          </p:val>
                                        </p:tav>
                                      </p:tavLst>
                                    </p:anim>
                                    <p:anim calcmode="lin" valueType="num">
                                      <p:cBhvr additive="base">
                                        <p:cTn id="608" dur="500" fill="hold"/>
                                        <p:tgtEl>
                                          <p:spTgt spid="287"/>
                                        </p:tgtEl>
                                        <p:attrNameLst>
                                          <p:attrName>ppt_y</p:attrName>
                                        </p:attrNameLst>
                                      </p:cBhvr>
                                      <p:tavLst>
                                        <p:tav>
                                          <p:val>
                                            <p:strVal val="#ppt_y"/>
                                          </p:val>
                                        </p:tav>
                                        <p:tav tm="100000">
                                          <p:val>
                                            <p:strVal val="#ppt_y"/>
                                          </p:val>
                                        </p:tav>
                                      </p:tavLst>
                                    </p:anim>
                                  </p:childTnLst>
                                </p:cTn>
                              </p:par>
                            </p:childTnLst>
                          </p:cTn>
                        </p:par>
                      </p:childTnLst>
                    </p:cTn>
                  </p:par>
                  <p:par>
                    <p:cTn id="609" fill="hold" nodeType="clickEffect">
                      <p:stCondLst>
                        <p:cond delay="indefinite"/>
                      </p:stCondLst>
                      <p:childTnLst>
                        <p:par>
                          <p:cTn id="610" fill="hold" nodeType="withEffect">
                            <p:stCondLst>
                              <p:cond delay="0"/>
                            </p:stCondLst>
                            <p:childTnLst>
                              <p:par>
                                <p:cTn id="611" presetID="2" presetClass="entr" fill="hold" nodeType="clickEffect" presetSubtype="8">
                                  <p:stCondLst>
                                    <p:cond delay="0"/>
                                  </p:stCondLst>
                                  <p:childTnLst>
                                    <p:set>
                                      <p:cBhvr>
                                        <p:cTn id="612" dur="1" fill="hold">
                                          <p:stCondLst>
                                            <p:cond delay="0"/>
                                          </p:stCondLst>
                                        </p:cTn>
                                        <p:tgtEl>
                                          <p:spTgt spid="290"/>
                                        </p:tgtEl>
                                        <p:attrNameLst>
                                          <p:attrName>style.visibility</p:attrName>
                                        </p:attrNameLst>
                                      </p:cBhvr>
                                      <p:to>
                                        <p:strVal val="visible"/>
                                      </p:to>
                                    </p:set>
                                    <p:anim calcmode="lin" valueType="num">
                                      <p:cBhvr additive="base">
                                        <p:cTn id="613" dur="500" fill="hold"/>
                                        <p:tgtEl>
                                          <p:spTgt spid="290"/>
                                        </p:tgtEl>
                                        <p:attrNameLst>
                                          <p:attrName>ppt_x</p:attrName>
                                        </p:attrNameLst>
                                      </p:cBhvr>
                                      <p:tavLst>
                                        <p:tav>
                                          <p:val>
                                            <p:strVal val="0-#ppt_w/2"/>
                                          </p:val>
                                        </p:tav>
                                        <p:tav tm="100000">
                                          <p:val>
                                            <p:strVal val="#ppt_x"/>
                                          </p:val>
                                        </p:tav>
                                      </p:tavLst>
                                    </p:anim>
                                    <p:anim calcmode="lin" valueType="num">
                                      <p:cBhvr additive="base">
                                        <p:cTn id="614" dur="500" fill="hold"/>
                                        <p:tgtEl>
                                          <p:spTgt spid="290"/>
                                        </p:tgtEl>
                                        <p:attrNameLst>
                                          <p:attrName>ppt_y</p:attrName>
                                        </p:attrNameLst>
                                      </p:cBhvr>
                                      <p:tavLst>
                                        <p:tav>
                                          <p:val>
                                            <p:strVal val="#ppt_y"/>
                                          </p:val>
                                        </p:tav>
                                        <p:tav tm="100000">
                                          <p:val>
                                            <p:strVal val="#ppt_y"/>
                                          </p:val>
                                        </p:tav>
                                      </p:tavLst>
                                    </p:anim>
                                  </p:childTnLst>
                                </p:cTn>
                              </p:par>
                            </p:childTnLst>
                          </p:cTn>
                        </p:par>
                      </p:childTnLst>
                    </p:cTn>
                  </p:par>
                  <p:par>
                    <p:cTn id="615" fill="hold" nodeType="clickEffect">
                      <p:stCondLst>
                        <p:cond delay="indefinite"/>
                      </p:stCondLst>
                      <p:childTnLst>
                        <p:par>
                          <p:cTn id="616" fill="hold" nodeType="withEffect">
                            <p:stCondLst>
                              <p:cond delay="0"/>
                            </p:stCondLst>
                            <p:childTnLst>
                              <p:par>
                                <p:cTn id="617" presetID="12" presetClass="entr" fill="hold" nodeType="clickEffect" presetSubtype="4">
                                  <p:stCondLst>
                                    <p:cond delay="0"/>
                                  </p:stCondLst>
                                  <p:childTnLst>
                                    <p:set>
                                      <p:cBhvr>
                                        <p:cTn id="618" dur="1" fill="hold">
                                          <p:stCondLst>
                                            <p:cond delay="0"/>
                                          </p:stCondLst>
                                        </p:cTn>
                                        <p:tgtEl>
                                          <p:spTgt spid="291"/>
                                        </p:tgtEl>
                                        <p:attrNameLst>
                                          <p:attrName>style.visibility</p:attrName>
                                        </p:attrNameLst>
                                      </p:cBhvr>
                                      <p:to>
                                        <p:strVal val="visible"/>
                                      </p:to>
                                    </p:set>
                                    <p:animEffect transition="in" filter="slide(fromBottom)">
                                      <p:cBhvr additive="repl">
                                        <p:cTn id="619" dur="500"/>
                                        <p:tgtEl>
                                          <p:spTgt spid="291"/>
                                        </p:tgtEl>
                                      </p:cBhvr>
                                    </p:animEffect>
                                  </p:childTnLst>
                                </p:cTn>
                              </p:par>
                            </p:childTnLst>
                          </p:cTn>
                        </p:par>
                      </p:childTnLst>
                    </p:cTn>
                  </p:par>
                  <p:par>
                    <p:cTn id="620" fill="hold" nodeType="clickEffect">
                      <p:stCondLst>
                        <p:cond delay="indefinite"/>
                      </p:stCondLst>
                      <p:childTnLst>
                        <p:par>
                          <p:cTn id="621" fill="hold" nodeType="withEffect">
                            <p:stCondLst>
                              <p:cond delay="0"/>
                            </p:stCondLst>
                            <p:childTnLst>
                              <p:par>
                                <p:cTn id="622" presetID="2" presetClass="entr" fill="hold" nodeType="clickEffect" presetSubtype="8">
                                  <p:stCondLst>
                                    <p:cond delay="0"/>
                                  </p:stCondLst>
                                  <p:childTnLst>
                                    <p:set>
                                      <p:cBhvr>
                                        <p:cTn id="623" dur="1" fill="hold">
                                          <p:stCondLst>
                                            <p:cond delay="0"/>
                                          </p:stCondLst>
                                        </p:cTn>
                                        <p:tgtEl>
                                          <p:spTgt spid="292"/>
                                        </p:tgtEl>
                                        <p:attrNameLst>
                                          <p:attrName>style.visibility</p:attrName>
                                        </p:attrNameLst>
                                      </p:cBhvr>
                                      <p:to>
                                        <p:strVal val="visible"/>
                                      </p:to>
                                    </p:set>
                                    <p:anim calcmode="lin" valueType="num">
                                      <p:cBhvr additive="base">
                                        <p:cTn id="624" dur="500" fill="hold"/>
                                        <p:tgtEl>
                                          <p:spTgt spid="292"/>
                                        </p:tgtEl>
                                        <p:attrNameLst>
                                          <p:attrName>ppt_x</p:attrName>
                                        </p:attrNameLst>
                                      </p:cBhvr>
                                      <p:tavLst>
                                        <p:tav>
                                          <p:val>
                                            <p:strVal val="0-#ppt_w/2"/>
                                          </p:val>
                                        </p:tav>
                                        <p:tav tm="100000">
                                          <p:val>
                                            <p:strVal val="#ppt_x"/>
                                          </p:val>
                                        </p:tav>
                                      </p:tavLst>
                                    </p:anim>
                                    <p:anim calcmode="lin" valueType="num">
                                      <p:cBhvr additive="base">
                                        <p:cTn id="625" dur="500" fill="hold"/>
                                        <p:tgtEl>
                                          <p:spTgt spid="292"/>
                                        </p:tgtEl>
                                        <p:attrNameLst>
                                          <p:attrName>ppt_y</p:attrName>
                                        </p:attrNameLst>
                                      </p:cBhvr>
                                      <p:tavLst>
                                        <p:tav>
                                          <p:val>
                                            <p:strVal val="#ppt_y"/>
                                          </p:val>
                                        </p:tav>
                                        <p:tav tm="100000">
                                          <p:val>
                                            <p:strVal val="#ppt_y"/>
                                          </p:val>
                                        </p:tav>
                                      </p:tavLst>
                                    </p:anim>
                                  </p:childTnLst>
                                </p:cTn>
                              </p:par>
                            </p:childTnLst>
                          </p:cTn>
                        </p:par>
                      </p:childTnLst>
                    </p:cTn>
                  </p:par>
                  <p:par>
                    <p:cTn id="626" fill="hold" nodeType="clickEffect">
                      <p:stCondLst>
                        <p:cond delay="indefinite"/>
                      </p:stCondLst>
                      <p:childTnLst>
                        <p:par>
                          <p:cTn id="627" fill="hold" nodeType="withEffect">
                            <p:stCondLst>
                              <p:cond delay="0"/>
                            </p:stCondLst>
                            <p:childTnLst>
                              <p:par>
                                <p:cTn id="628" presetID="9" presetClass="entr" fill="hold" nodeType="clickEffect">
                                  <p:stCondLst>
                                    <p:cond delay="0"/>
                                  </p:stCondLst>
                                  <p:childTnLst>
                                    <p:set>
                                      <p:cBhvr>
                                        <p:cTn id="629" dur="1" fill="hold">
                                          <p:stCondLst>
                                            <p:cond delay="0"/>
                                          </p:stCondLst>
                                        </p:cTn>
                                        <p:tgtEl>
                                          <p:spTgt spid="293"/>
                                        </p:tgtEl>
                                        <p:attrNameLst>
                                          <p:attrName>style.visibility</p:attrName>
                                        </p:attrNameLst>
                                      </p:cBhvr>
                                      <p:to>
                                        <p:strVal val="visible"/>
                                      </p:to>
                                    </p:set>
                                    <p:animEffect transition="in" filter="dissolve">
                                      <p:cBhvr additive="repl">
                                        <p:cTn id="630" dur="500"/>
                                        <p:tgtEl>
                                          <p:spTgt spid="293"/>
                                        </p:tgtEl>
                                      </p:cBhvr>
                                    </p:animEffect>
                                  </p:childTnLst>
                                </p:cTn>
                              </p:par>
                            </p:childTnLst>
                          </p:cTn>
                        </p:par>
                      </p:childTnLst>
                    </p:cTn>
                  </p:par>
                  <p:par>
                    <p:cTn id="631" fill="hold" nodeType="clickEffect">
                      <p:stCondLst>
                        <p:cond delay="indefinite"/>
                      </p:stCondLst>
                      <p:childTnLst>
                        <p:par>
                          <p:cTn id="632" fill="hold" nodeType="withEffect">
                            <p:stCondLst>
                              <p:cond delay="0"/>
                            </p:stCondLst>
                            <p:childTnLst>
                              <p:par>
                                <p:cTn id="633" presetID="6" presetClass="entr" fill="hold" nodeType="clickEffect" presetSubtype="16">
                                  <p:stCondLst>
                                    <p:cond delay="0"/>
                                  </p:stCondLst>
                                  <p:childTnLst>
                                    <p:set>
                                      <p:cBhvr>
                                        <p:cTn id="634" dur="1" fill="hold">
                                          <p:stCondLst>
                                            <p:cond delay="0"/>
                                          </p:stCondLst>
                                        </p:cTn>
                                        <p:tgtEl>
                                          <p:spTgt spid="294"/>
                                        </p:tgtEl>
                                        <p:attrNameLst>
                                          <p:attrName>style.visibility</p:attrName>
                                        </p:attrNameLst>
                                      </p:cBhvr>
                                      <p:to>
                                        <p:strVal val="visible"/>
                                      </p:to>
                                    </p:set>
                                    <p:animEffect transition="in" filter="circle(in)">
                                      <p:cBhvr additive="repl">
                                        <p:cTn id="635" dur="2000"/>
                                        <p:tgtEl>
                                          <p:spTgt spid="294"/>
                                        </p:tgtEl>
                                      </p:cBhvr>
                                    </p:animEffect>
                                  </p:childTnLst>
                                </p:cTn>
                              </p:par>
                            </p:childTnLst>
                          </p:cTn>
                        </p:par>
                      </p:childTnLst>
                    </p:cTn>
                  </p:par>
                  <p:par>
                    <p:cTn id="636" fill="hold" nodeType="clickEffect">
                      <p:stCondLst>
                        <p:cond delay="indefinite"/>
                      </p:stCondLst>
                      <p:childTnLst>
                        <p:par>
                          <p:cTn id="637" fill="hold" nodeType="withEffect">
                            <p:stCondLst>
                              <p:cond delay="0"/>
                            </p:stCondLst>
                            <p:childTnLst>
                              <p:par>
                                <p:cTn id="638" presetID="2" presetClass="entr" fill="hold" nodeType="clickEffect" presetSubtype="8">
                                  <p:stCondLst>
                                    <p:cond delay="0"/>
                                  </p:stCondLst>
                                  <p:childTnLst>
                                    <p:set>
                                      <p:cBhvr>
                                        <p:cTn id="639" dur="1" fill="hold">
                                          <p:stCondLst>
                                            <p:cond delay="0"/>
                                          </p:stCondLst>
                                        </p:cTn>
                                        <p:tgtEl>
                                          <p:spTgt spid="288"/>
                                        </p:tgtEl>
                                        <p:attrNameLst>
                                          <p:attrName>style.visibility</p:attrName>
                                        </p:attrNameLst>
                                      </p:cBhvr>
                                      <p:to>
                                        <p:strVal val="visible"/>
                                      </p:to>
                                    </p:set>
                                    <p:anim calcmode="lin" valueType="num">
                                      <p:cBhvr additive="base">
                                        <p:cTn id="640" dur="500" fill="hold"/>
                                        <p:tgtEl>
                                          <p:spTgt spid="288"/>
                                        </p:tgtEl>
                                        <p:attrNameLst>
                                          <p:attrName>ppt_x</p:attrName>
                                        </p:attrNameLst>
                                      </p:cBhvr>
                                      <p:tavLst>
                                        <p:tav>
                                          <p:val>
                                            <p:strVal val="0-#ppt_w/2"/>
                                          </p:val>
                                        </p:tav>
                                        <p:tav tm="100000">
                                          <p:val>
                                            <p:strVal val="#ppt_x"/>
                                          </p:val>
                                        </p:tav>
                                      </p:tavLst>
                                    </p:anim>
                                    <p:anim calcmode="lin" valueType="num">
                                      <p:cBhvr additive="base">
                                        <p:cTn id="641" dur="500" fill="hold"/>
                                        <p:tgtEl>
                                          <p:spTgt spid="288"/>
                                        </p:tgtEl>
                                        <p:attrNameLst>
                                          <p:attrName>ppt_y</p:attrName>
                                        </p:attrNameLst>
                                      </p:cBhvr>
                                      <p:tavLst>
                                        <p:tav>
                                          <p:val>
                                            <p:strVal val="#ppt_y"/>
                                          </p:val>
                                        </p:tav>
                                        <p:tav tm="100000">
                                          <p:val>
                                            <p:strVal val="#ppt_y"/>
                                          </p:val>
                                        </p:tav>
                                      </p:tavLst>
                                    </p:anim>
                                  </p:childTnLst>
                                </p:cTn>
                              </p:par>
                            </p:childTnLst>
                          </p:cTn>
                        </p:par>
                      </p:childTnLst>
                    </p:cTn>
                  </p:par>
                  <p:par>
                    <p:cTn id="642" fill="hold" nodeType="clickEffect">
                      <p:stCondLst>
                        <p:cond delay="indefinite"/>
                      </p:stCondLst>
                      <p:childTnLst>
                        <p:par>
                          <p:cTn id="643" fill="hold" nodeType="withEffect">
                            <p:stCondLst>
                              <p:cond delay="0"/>
                            </p:stCondLst>
                            <p:childTnLst>
                              <p:par>
                                <p:cTn id="644" presetID="2" presetClass="entr" fill="hold" nodeType="clickEffect" presetSubtype="8">
                                  <p:stCondLst>
                                    <p:cond delay="0"/>
                                  </p:stCondLst>
                                  <p:childTnLst>
                                    <p:set>
                                      <p:cBhvr>
                                        <p:cTn id="645" dur="1" fill="hold">
                                          <p:stCondLst>
                                            <p:cond delay="0"/>
                                          </p:stCondLst>
                                        </p:cTn>
                                        <p:tgtEl>
                                          <p:spTgt spid="288"/>
                                        </p:tgtEl>
                                        <p:attrNameLst>
                                          <p:attrName>style.visibility</p:attrName>
                                        </p:attrNameLst>
                                      </p:cBhvr>
                                      <p:to>
                                        <p:strVal val="visible"/>
                                      </p:to>
                                    </p:set>
                                    <p:anim calcmode="lin" valueType="num">
                                      <p:cBhvr additive="base">
                                        <p:cTn id="646" dur="500" fill="hold"/>
                                        <p:tgtEl>
                                          <p:spTgt spid="288"/>
                                        </p:tgtEl>
                                        <p:attrNameLst>
                                          <p:attrName>ppt_x</p:attrName>
                                        </p:attrNameLst>
                                      </p:cBhvr>
                                      <p:tavLst>
                                        <p:tav>
                                          <p:val>
                                            <p:strVal val="0-#ppt_w/2"/>
                                          </p:val>
                                        </p:tav>
                                        <p:tav tm="100000">
                                          <p:val>
                                            <p:strVal val="#ppt_x"/>
                                          </p:val>
                                        </p:tav>
                                      </p:tavLst>
                                    </p:anim>
                                    <p:anim calcmode="lin" valueType="num">
                                      <p:cBhvr additive="base">
                                        <p:cTn id="647" dur="500" fill="hold"/>
                                        <p:tgtEl>
                                          <p:spTgt spid="288"/>
                                        </p:tgtEl>
                                        <p:attrNameLst>
                                          <p:attrName>ppt_y</p:attrName>
                                        </p:attrNameLst>
                                      </p:cBhvr>
                                      <p:tavLst>
                                        <p:tav>
                                          <p:val>
                                            <p:strVal val="#ppt_y"/>
                                          </p:val>
                                        </p:tav>
                                        <p:tav tm="100000">
                                          <p:val>
                                            <p:strVal val="#ppt_y"/>
                                          </p:val>
                                        </p:tav>
                                      </p:tavLst>
                                    </p:anim>
                                  </p:childTnLst>
                                </p:cTn>
                              </p:par>
                            </p:childTnLst>
                          </p:cTn>
                        </p:par>
                      </p:childTnLst>
                    </p:cTn>
                  </p:par>
                  <p:par>
                    <p:cTn id="648" fill="hold" nodeType="clickEffect">
                      <p:stCondLst>
                        <p:cond delay="indefinite"/>
                      </p:stCondLst>
                      <p:childTnLst>
                        <p:par>
                          <p:cTn id="649" fill="hold" nodeType="withEffect">
                            <p:stCondLst>
                              <p:cond delay="0"/>
                            </p:stCondLst>
                            <p:childTnLst>
                              <p:par>
                                <p:cTn id="650" presetID="5" presetClass="entr" fill="hold" nodeType="clickEffect" presetSubtype="10">
                                  <p:stCondLst>
                                    <p:cond delay="0"/>
                                  </p:stCondLst>
                                  <p:childTnLst>
                                    <p:set>
                                      <p:cBhvr>
                                        <p:cTn id="651" dur="1" fill="hold">
                                          <p:stCondLst>
                                            <p:cond delay="0"/>
                                          </p:stCondLst>
                                        </p:cTn>
                                        <p:tgtEl>
                                          <p:spTgt spid="289"/>
                                        </p:tgtEl>
                                        <p:attrNameLst>
                                          <p:attrName>style.visibility</p:attrName>
                                        </p:attrNameLst>
                                      </p:cBhvr>
                                      <p:to>
                                        <p:strVal val="visible"/>
                                      </p:to>
                                    </p:set>
                                    <p:animEffect transition="in" filter="checkerboard(across)">
                                      <p:cBhvr additive="repl">
                                        <p:cTn id="652" dur="5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Rectangle 4"/>
          <p:cNvSpPr/>
          <p:nvPr/>
        </p:nvSpPr>
        <p:spPr>
          <a:xfrm>
            <a:off x="110160" y="193680"/>
            <a:ext cx="3991320" cy="648720"/>
          </a:xfrm>
          <a:prstGeom prst="rect">
            <a:avLst/>
          </a:prstGeom>
          <a:noFill/>
          <a:ln w="0">
            <a:noFill/>
          </a:ln>
        </p:spPr>
        <p:style>
          <a:lnRef idx="0"/>
          <a:fillRef idx="0"/>
          <a:effectRef idx="0"/>
          <a:fontRef idx="minor"/>
        </p:style>
        <p:txBody>
          <a:bodyPr wrap="none"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2</a:t>
            </a:r>
            <a:r>
              <a:rPr lang="en-US" sz="2800" b="1" u="none" strike="noStrike">
                <a:solidFill>
                  <a:srgbClr val="000000"/>
                </a:solidFill>
                <a:effectLst/>
                <a:uFillTx/>
                <a:latin typeface="Times New Roman"/>
              </a:rPr>
              <a:t>   </a:t>
            </a:r>
            <a:r>
              <a:rPr lang="zh-CN" sz="2800" b="1" u="none" strike="noStrike">
                <a:solidFill>
                  <a:srgbClr val="990033"/>
                </a:solidFill>
                <a:effectLst/>
                <a:uFillTx/>
                <a:latin typeface="Times New Roman"/>
              </a:rPr>
              <a:t>根轨迹的对称性</a:t>
            </a:r>
            <a:endParaRPr lang="en-US" sz="2800" b="1" u="none" strike="noStrike">
              <a:solidFill>
                <a:srgbClr val="000000"/>
              </a:solidFill>
              <a:effectLst/>
              <a:uFillTx/>
              <a:latin typeface="Times New Roman"/>
            </a:endParaRPr>
          </a:p>
        </p:txBody>
      </p:sp>
      <p:sp>
        <p:nvSpPr>
          <p:cNvPr id="296" name="Text Box 5"/>
          <p:cNvSpPr/>
          <p:nvPr/>
        </p:nvSpPr>
        <p:spPr>
          <a:xfrm>
            <a:off x="0" y="647640"/>
            <a:ext cx="8852040" cy="2015280"/>
          </a:xfrm>
          <a:prstGeom prst="rect">
            <a:avLst/>
          </a:prstGeom>
          <a:noFill/>
          <a:ln w="0">
            <a:noFill/>
          </a:ln>
        </p:spPr>
        <p:style>
          <a:lnRef idx="0"/>
          <a:fillRef idx="0"/>
          <a:effectRef idx="0"/>
          <a:fontRef idx="minor"/>
        </p:style>
        <p:txBody>
          <a:bodyPr lIns="90000" tIns="46800" rIns="90000" bIns="46800" anchor="t">
            <a:spAutoFit/>
          </a:bodyPr>
          <a:p>
            <a:pPr>
              <a:lnSpc>
                <a:spcPct val="15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由于闭环特征根是实数或者共轭复数，因此根轨迹是关于实轴对称的。利用这一性质，只要绘制出实轴上部的根轨迹，实轴下部的根轨迹可由对称性绘出。</a:t>
            </a:r>
            <a:endParaRPr lang="en-US" sz="2800" b="1" u="none" strike="noStrike">
              <a:solidFill>
                <a:srgbClr val="000000"/>
              </a:solidFill>
              <a:effectLst/>
              <a:uFillTx/>
              <a:latin typeface="Times New Roman"/>
            </a:endParaRPr>
          </a:p>
        </p:txBody>
      </p:sp>
      <p:sp>
        <p:nvSpPr>
          <p:cNvPr id="297" name="Rectangle 6"/>
          <p:cNvSpPr/>
          <p:nvPr/>
        </p:nvSpPr>
        <p:spPr>
          <a:xfrm>
            <a:off x="184320" y="3005280"/>
            <a:ext cx="4527360" cy="6487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3</a:t>
            </a:r>
            <a:r>
              <a:rPr lang="en-US" sz="2800" b="1" u="none" strike="noStrike">
                <a:solidFill>
                  <a:srgbClr val="000000"/>
                </a:solidFill>
                <a:effectLst/>
                <a:uFillTx/>
                <a:latin typeface="Times New Roman"/>
              </a:rPr>
              <a:t>   </a:t>
            </a:r>
            <a:r>
              <a:rPr lang="zh-CN" sz="2800" b="1" u="none" strike="noStrike">
                <a:solidFill>
                  <a:srgbClr val="990033"/>
                </a:solidFill>
                <a:effectLst/>
                <a:uFillTx/>
                <a:latin typeface="Times New Roman"/>
              </a:rPr>
              <a:t>根轨迹的条数</a:t>
            </a:r>
            <a:endParaRPr lang="en-US" sz="2800" b="1" u="none" strike="noStrike">
              <a:solidFill>
                <a:srgbClr val="000000"/>
              </a:solidFill>
              <a:effectLst/>
              <a:uFillTx/>
              <a:latin typeface="Times New Roman"/>
            </a:endParaRPr>
          </a:p>
        </p:txBody>
      </p:sp>
      <p:sp>
        <p:nvSpPr>
          <p:cNvPr id="298" name="Rectangle 7"/>
          <p:cNvSpPr/>
          <p:nvPr/>
        </p:nvSpPr>
        <p:spPr>
          <a:xfrm>
            <a:off x="0" y="3511440"/>
            <a:ext cx="9144000" cy="2015280"/>
          </a:xfrm>
          <a:prstGeom prst="rect">
            <a:avLst/>
          </a:prstGeom>
          <a:noFill/>
          <a:ln w="0">
            <a:noFill/>
          </a:ln>
        </p:spPr>
        <p:style>
          <a:lnRef idx="0"/>
          <a:fillRef idx="0"/>
          <a:effectRef idx="0"/>
          <a:fontRef idx="minor"/>
        </p:style>
        <p:txBody>
          <a:bodyPr lIns="90000" tIns="46800" rIns="90000" bIns="46800" anchor="t">
            <a:sp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    n</a:t>
            </a:r>
            <a:r>
              <a:rPr lang="zh-CN" sz="2800" b="1" u="none" strike="noStrike">
                <a:solidFill>
                  <a:srgbClr val="000000"/>
                </a:solidFill>
                <a:effectLst/>
                <a:uFillTx/>
                <a:latin typeface="Times New Roman"/>
              </a:rPr>
              <a:t>阶系统，其闭环特征方程有</a:t>
            </a:r>
            <a:r>
              <a:rPr lang="en-US" sz="2800" b="1" i="1" u="none" strike="noStrike">
                <a:solidFill>
                  <a:srgbClr val="000000"/>
                </a:solidFill>
                <a:effectLst/>
                <a:uFillTx/>
                <a:latin typeface="Times New Roman"/>
              </a:rPr>
              <a:t>n</a:t>
            </a:r>
            <a:r>
              <a:rPr lang="zh-CN" sz="2800" b="1" u="none" strike="noStrike">
                <a:solidFill>
                  <a:srgbClr val="000000"/>
                </a:solidFill>
                <a:effectLst/>
                <a:uFillTx/>
                <a:latin typeface="Times New Roman"/>
              </a:rPr>
              <a:t>个根。当</a:t>
            </a:r>
            <a:r>
              <a:rPr lang="en-US" sz="2800" b="1" i="1" u="none" strike="noStrike">
                <a:solidFill>
                  <a:srgbClr val="000000"/>
                </a:solidFill>
                <a:effectLst/>
                <a:uFillTx/>
                <a:latin typeface="Times New Roman"/>
              </a:rPr>
              <a:t>Kg </a:t>
            </a:r>
            <a:r>
              <a:rPr lang="zh-CN" sz="2800" b="1" i="1" u="none" strike="noStrike">
                <a:solidFill>
                  <a:srgbClr val="000000"/>
                </a:solidFill>
                <a:effectLst/>
                <a:uFillTx/>
                <a:latin typeface="Times New Roman"/>
              </a:rPr>
              <a:t>从</a:t>
            </a:r>
            <a:r>
              <a:rPr lang="en-US" sz="2800" b="1" i="1" u="none" strike="noStrike">
                <a:solidFill>
                  <a:srgbClr val="000000"/>
                </a:solidFill>
                <a:effectLst/>
                <a:uFillTx/>
                <a:latin typeface="Times New Roman"/>
              </a:rPr>
              <a:t>0</a:t>
            </a:r>
            <a:r>
              <a:rPr lang="en-US" sz="2800" b="1" u="none" strike="noStrike">
                <a:solidFill>
                  <a:srgbClr val="000000"/>
                </a:solidFill>
                <a:effectLst/>
                <a:uFillTx/>
                <a:latin typeface="Symbol"/>
                <a:ea typeface="Symbol"/>
              </a:rPr>
              <a:t></a:t>
            </a:r>
            <a:r>
              <a:rPr lang="zh-CN" sz="2800" b="1" u="none" strike="noStrike">
                <a:solidFill>
                  <a:srgbClr val="000000"/>
                </a:solidFill>
                <a:effectLst/>
                <a:uFillTx/>
                <a:latin typeface="Times New Roman"/>
              </a:rPr>
              <a:t>连续变化时，</a:t>
            </a:r>
            <a:r>
              <a:rPr lang="en-US" sz="2800" b="1" i="1" u="none" strike="noStrike">
                <a:solidFill>
                  <a:srgbClr val="000000"/>
                </a:solidFill>
                <a:effectLst/>
                <a:uFillTx/>
                <a:latin typeface="Times New Roman"/>
              </a:rPr>
              <a:t>n</a:t>
            </a:r>
            <a:r>
              <a:rPr lang="zh-CN" sz="2800" b="1" u="none" strike="noStrike">
                <a:solidFill>
                  <a:srgbClr val="000000"/>
                </a:solidFill>
                <a:effectLst/>
                <a:uFillTx/>
                <a:latin typeface="Times New Roman"/>
              </a:rPr>
              <a:t>个根将绘出有</a:t>
            </a:r>
            <a:r>
              <a:rPr lang="en-US" sz="2800" b="1" i="1" u="none" strike="noStrike">
                <a:solidFill>
                  <a:srgbClr val="000000"/>
                </a:solidFill>
                <a:effectLst/>
                <a:uFillTx/>
                <a:latin typeface="Times New Roman"/>
              </a:rPr>
              <a:t>n</a:t>
            </a:r>
            <a:r>
              <a:rPr lang="zh-CN" sz="2800" b="1" u="none" strike="noStrike">
                <a:solidFill>
                  <a:srgbClr val="000000"/>
                </a:solidFill>
                <a:effectLst/>
                <a:uFillTx/>
                <a:latin typeface="Times New Roman"/>
              </a:rPr>
              <a:t>条轨迹分支。因此根轨迹的条数或分支数等于其闭环特征根的个数，即系统的阶数。</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653" dur="indefinite" restart="never" nodeType="tmRoot">
          <p:childTnLst>
            <p:seq>
              <p:cTn id="654" dur="indefinite" nodeType="mainSeq">
                <p:childTnLst>
                  <p:par>
                    <p:cTn id="655" fill="hold" nodeType="clickEffect">
                      <p:stCondLst>
                        <p:cond delay="indefinite"/>
                      </p:stCondLst>
                      <p:childTnLst>
                        <p:par>
                          <p:cTn id="656" fill="hold" nodeType="withEffect">
                            <p:stCondLst>
                              <p:cond delay="0"/>
                            </p:stCondLst>
                            <p:childTnLst>
                              <p:par>
                                <p:cTn id="657" presetID="26" presetClass="entr" fill="hold" nodeType="clickEffect">
                                  <p:stCondLst>
                                    <p:cond delay="0"/>
                                  </p:stCondLst>
                                  <p:childTnLst>
                                    <p:set>
                                      <p:cBhvr>
                                        <p:cTn id="658" dur="1" fill="hold">
                                          <p:stCondLst>
                                            <p:cond delay="0"/>
                                          </p:stCondLst>
                                        </p:cTn>
                                        <p:tgtEl>
                                          <p:spTgt spid="295"/>
                                        </p:tgtEl>
                                        <p:attrNameLst>
                                          <p:attrName>style.visibility</p:attrName>
                                        </p:attrNameLst>
                                      </p:cBhvr>
                                      <p:to>
                                        <p:strVal val="visible"/>
                                      </p:to>
                                    </p:set>
                                    <p:animEffect transition="in" filter="wipe(down)">
                                      <p:cBhvr additive="repl">
                                        <p:cTn id="659" dur="580">
                                          <p:stCondLst>
                                            <p:cond delay="0"/>
                                          </p:stCondLst>
                                        </p:cTn>
                                        <p:tgtEl>
                                          <p:spTgt spid="295"/>
                                        </p:tgtEl>
                                      </p:cBhvr>
                                    </p:animEffect>
                                    <p:anim calcmode="lin" valueType="num">
                                      <p:cBhvr additive="repl">
                                        <p:cTn id="660" dur="1822">
                                          <p:stCondLst>
                                            <p:cond delay="0"/>
                                          </p:stCondLst>
                                        </p:cTn>
                                        <p:tgtEl>
                                          <p:spTgt spid="295"/>
                                        </p:tgtEl>
                                        <p:attrNameLst>
                                          <p:attrName>ppt_x</p:attrName>
                                        </p:attrNameLst>
                                      </p:cBhvr>
                                      <p:tavLst>
                                        <p:tav>
                                          <p:val>
                                            <p:strVal val="#ppt_x-0.25"/>
                                          </p:val>
                                        </p:tav>
                                        <p:tav tm="100000">
                                          <p:val>
                                            <p:strVal val="#ppt_x"/>
                                          </p:val>
                                        </p:tav>
                                      </p:tavLst>
                                    </p:anim>
                                    <p:anim calcmode="lin" valueType="num">
                                      <p:cBhvr additive="repl">
                                        <p:cTn id="661" dur="664">
                                          <p:stCondLst>
                                            <p:cond delay="0"/>
                                          </p:stCondLst>
                                        </p:cTn>
                                        <p:tgtEl>
                                          <p:spTgt spid="295"/>
                                        </p:tgtEl>
                                        <p:attrNameLst>
                                          <p:attrName>ppt_y</p:attrName>
                                        </p:attrNameLst>
                                      </p:cBhvr>
                                      <p:tavLst>
                                        <p:tav fmla="y-sin(pi*$)/3">
                                          <p:val>
                                            <p:fltVal val="0.5"/>
                                          </p:val>
                                        </p:tav>
                                        <p:tav fmla="y-sin(pi*$)/3" tm="100000">
                                          <p:val>
                                            <p:fltVal val="1"/>
                                          </p:val>
                                        </p:tav>
                                      </p:tavLst>
                                    </p:anim>
                                    <p:anim calcmode="lin" valueType="num">
                                      <p:cBhvr additive="repl">
                                        <p:cTn id="662" dur="664">
                                          <p:stCondLst>
                                            <p:cond delay="664"/>
                                          </p:stCondLst>
                                        </p:cTn>
                                        <p:tgtEl>
                                          <p:spTgt spid="295"/>
                                        </p:tgtEl>
                                        <p:attrNameLst>
                                          <p:attrName>ppt_y</p:attrName>
                                        </p:attrNameLst>
                                      </p:cBhvr>
                                      <p:tavLst>
                                        <p:tav fmla="y-sin(pi*$)/9">
                                          <p:val>
                                            <p:fltVal val="0"/>
                                          </p:val>
                                        </p:tav>
                                        <p:tav fmla="y-sin(pi*$)/9" tm="100000">
                                          <p:val>
                                            <p:fltVal val="1"/>
                                          </p:val>
                                        </p:tav>
                                      </p:tavLst>
                                    </p:anim>
                                    <p:anim calcmode="lin" valueType="num">
                                      <p:cBhvr additive="repl">
                                        <p:cTn id="663" dur="332">
                                          <p:stCondLst>
                                            <p:cond delay="1324"/>
                                          </p:stCondLst>
                                        </p:cTn>
                                        <p:tgtEl>
                                          <p:spTgt spid="295"/>
                                        </p:tgtEl>
                                        <p:attrNameLst>
                                          <p:attrName>ppt_y</p:attrName>
                                        </p:attrNameLst>
                                      </p:cBhvr>
                                      <p:tavLst>
                                        <p:tav fmla="y-sin(pi*$)/27">
                                          <p:val>
                                            <p:fltVal val="0"/>
                                          </p:val>
                                        </p:tav>
                                        <p:tav fmla="y-sin(pi*$)/27" tm="100000">
                                          <p:val>
                                            <p:fltVal val="1"/>
                                          </p:val>
                                        </p:tav>
                                      </p:tavLst>
                                    </p:anim>
                                    <p:anim calcmode="lin" valueType="num">
                                      <p:cBhvr additive="repl">
                                        <p:cTn id="664" dur="164">
                                          <p:stCondLst>
                                            <p:cond delay="1656"/>
                                          </p:stCondLst>
                                        </p:cTn>
                                        <p:tgtEl>
                                          <p:spTgt spid="295"/>
                                        </p:tgtEl>
                                        <p:attrNameLst>
                                          <p:attrName>ppt_y</p:attrName>
                                        </p:attrNameLst>
                                      </p:cBhvr>
                                      <p:tavLst>
                                        <p:tav fmla="y-sin(pi*$)/81">
                                          <p:val>
                                            <p:fltVal val="0"/>
                                          </p:val>
                                        </p:tav>
                                        <p:tav fmla="y-sin(pi*$)/81" tm="100000">
                                          <p:val>
                                            <p:fltVal val="1"/>
                                          </p:val>
                                        </p:tav>
                                      </p:tavLst>
                                    </p:anim>
                                    <p:animScale>
                                      <p:cBhvr>
                                        <p:cTn id="665" dur="26" fill="hold">
                                          <p:stCondLst>
                                            <p:cond delay="650"/>
                                          </p:stCondLst>
                                        </p:cTn>
                                        <p:tgtEl>
                                          <p:spTgt spid="295"/>
                                        </p:tgtEl>
                                      </p:cBhvr>
                                      <p:to x="100000" y="60000"/>
                                    </p:animScale>
                                    <p:animScale>
                                      <p:cBhvr>
                                        <p:cTn id="666" dur="166" fill="hold">
                                          <p:stCondLst>
                                            <p:cond delay="676"/>
                                          </p:stCondLst>
                                        </p:cTn>
                                        <p:tgtEl>
                                          <p:spTgt spid="295"/>
                                        </p:tgtEl>
                                      </p:cBhvr>
                                      <p:to x="100000" y="100000"/>
                                    </p:animScale>
                                    <p:animScale>
                                      <p:cBhvr>
                                        <p:cTn id="667" dur="26" fill="hold">
                                          <p:stCondLst>
                                            <p:cond delay="1312"/>
                                          </p:stCondLst>
                                        </p:cTn>
                                        <p:tgtEl>
                                          <p:spTgt spid="295"/>
                                        </p:tgtEl>
                                      </p:cBhvr>
                                      <p:to x="100000" y="80000"/>
                                    </p:animScale>
                                    <p:animScale>
                                      <p:cBhvr>
                                        <p:cTn id="668" dur="166" fill="hold">
                                          <p:stCondLst>
                                            <p:cond delay="1338"/>
                                          </p:stCondLst>
                                        </p:cTn>
                                        <p:tgtEl>
                                          <p:spTgt spid="295"/>
                                        </p:tgtEl>
                                      </p:cBhvr>
                                      <p:to x="100000" y="100000"/>
                                    </p:animScale>
                                    <p:animScale>
                                      <p:cBhvr>
                                        <p:cTn id="669" dur="26" fill="hold">
                                          <p:stCondLst>
                                            <p:cond delay="1642"/>
                                          </p:stCondLst>
                                        </p:cTn>
                                        <p:tgtEl>
                                          <p:spTgt spid="295"/>
                                        </p:tgtEl>
                                      </p:cBhvr>
                                      <p:to x="100000" y="90000"/>
                                    </p:animScale>
                                    <p:animScale>
                                      <p:cBhvr>
                                        <p:cTn id="670" dur="166" fill="hold">
                                          <p:stCondLst>
                                            <p:cond delay="1668"/>
                                          </p:stCondLst>
                                        </p:cTn>
                                        <p:tgtEl>
                                          <p:spTgt spid="295"/>
                                        </p:tgtEl>
                                      </p:cBhvr>
                                      <p:to x="100000" y="100000"/>
                                    </p:animScale>
                                    <p:animScale>
                                      <p:cBhvr>
                                        <p:cTn id="671" dur="26" fill="hold">
                                          <p:stCondLst>
                                            <p:cond delay="1808"/>
                                          </p:stCondLst>
                                        </p:cTn>
                                        <p:tgtEl>
                                          <p:spTgt spid="295"/>
                                        </p:tgtEl>
                                      </p:cBhvr>
                                      <p:to x="100000" y="95000"/>
                                    </p:animScale>
                                    <p:animScale>
                                      <p:cBhvr>
                                        <p:cTn id="672" dur="166" fill="hold">
                                          <p:stCondLst>
                                            <p:cond delay="1834"/>
                                          </p:stCondLst>
                                        </p:cTn>
                                        <p:tgtEl>
                                          <p:spTgt spid="295"/>
                                        </p:tgtEl>
                                      </p:cBhvr>
                                      <p:to x="100000" y="100000"/>
                                    </p:animScale>
                                  </p:childTnLst>
                                </p:cTn>
                              </p:par>
                            </p:childTnLst>
                          </p:cTn>
                        </p:par>
                      </p:childTnLst>
                    </p:cTn>
                  </p:par>
                  <p:par>
                    <p:cTn id="673" fill="hold" nodeType="clickEffect">
                      <p:stCondLst>
                        <p:cond delay="indefinite"/>
                      </p:stCondLst>
                      <p:childTnLst>
                        <p:par>
                          <p:cTn id="674" fill="hold" nodeType="withEffect">
                            <p:stCondLst>
                              <p:cond delay="0"/>
                            </p:stCondLst>
                            <p:childTnLst>
                              <p:par>
                                <p:cTn id="675" presetID="6" presetClass="entr" fill="hold" nodeType="clickEffect" presetSubtype="16">
                                  <p:stCondLst>
                                    <p:cond delay="0"/>
                                  </p:stCondLst>
                                  <p:childTnLst>
                                    <p:set>
                                      <p:cBhvr>
                                        <p:cTn id="676" dur="1" fill="hold">
                                          <p:stCondLst>
                                            <p:cond delay="0"/>
                                          </p:stCondLst>
                                        </p:cTn>
                                        <p:tgtEl>
                                          <p:spTgt spid="296">
                                            <p:txEl>
                                              <p:pRg st="0" end="0"/>
                                            </p:txEl>
                                          </p:spTgt>
                                        </p:tgtEl>
                                        <p:attrNameLst>
                                          <p:attrName>style.visibility</p:attrName>
                                        </p:attrNameLst>
                                      </p:cBhvr>
                                      <p:to>
                                        <p:strVal val="visible"/>
                                      </p:to>
                                    </p:set>
                                    <p:animEffect transition="in" filter="circle(in)">
                                      <p:cBhvr additive="repl">
                                        <p:cTn id="677" dur="2000"/>
                                        <p:tgtEl>
                                          <p:spTgt spid="296">
                                            <p:txEl>
                                              <p:pRg st="0" end="0"/>
                                            </p:txEl>
                                          </p:spTgt>
                                        </p:tgtEl>
                                      </p:cBhvr>
                                    </p:animEffect>
                                  </p:childTnLst>
                                </p:cTn>
                              </p:par>
                            </p:childTnLst>
                          </p:cTn>
                        </p:par>
                      </p:childTnLst>
                    </p:cTn>
                  </p:par>
                  <p:par>
                    <p:cTn id="678" fill="hold" nodeType="clickEffect">
                      <p:stCondLst>
                        <p:cond delay="indefinite"/>
                      </p:stCondLst>
                      <p:childTnLst>
                        <p:par>
                          <p:cTn id="679" fill="hold" nodeType="withEffect">
                            <p:stCondLst>
                              <p:cond delay="0"/>
                            </p:stCondLst>
                            <p:childTnLst>
                              <p:par>
                                <p:cTn id="680" presetID="26" presetClass="entr" fill="hold" nodeType="clickEffect">
                                  <p:stCondLst>
                                    <p:cond delay="0"/>
                                  </p:stCondLst>
                                  <p:childTnLst>
                                    <p:set>
                                      <p:cBhvr>
                                        <p:cTn id="681" dur="1" fill="hold">
                                          <p:stCondLst>
                                            <p:cond delay="0"/>
                                          </p:stCondLst>
                                        </p:cTn>
                                        <p:tgtEl>
                                          <p:spTgt spid="297"/>
                                        </p:tgtEl>
                                        <p:attrNameLst>
                                          <p:attrName>style.visibility</p:attrName>
                                        </p:attrNameLst>
                                      </p:cBhvr>
                                      <p:to>
                                        <p:strVal val="visible"/>
                                      </p:to>
                                    </p:set>
                                    <p:animEffect transition="in" filter="wipe(down)">
                                      <p:cBhvr additive="repl">
                                        <p:cTn id="682" dur="580">
                                          <p:stCondLst>
                                            <p:cond delay="0"/>
                                          </p:stCondLst>
                                        </p:cTn>
                                        <p:tgtEl>
                                          <p:spTgt spid="297"/>
                                        </p:tgtEl>
                                      </p:cBhvr>
                                    </p:animEffect>
                                    <p:anim calcmode="lin" valueType="num">
                                      <p:cBhvr additive="repl">
                                        <p:cTn id="683" dur="1822">
                                          <p:stCondLst>
                                            <p:cond delay="0"/>
                                          </p:stCondLst>
                                        </p:cTn>
                                        <p:tgtEl>
                                          <p:spTgt spid="297"/>
                                        </p:tgtEl>
                                        <p:attrNameLst>
                                          <p:attrName>ppt_x</p:attrName>
                                        </p:attrNameLst>
                                      </p:cBhvr>
                                      <p:tavLst>
                                        <p:tav>
                                          <p:val>
                                            <p:strVal val="#ppt_x-0.25"/>
                                          </p:val>
                                        </p:tav>
                                        <p:tav tm="100000">
                                          <p:val>
                                            <p:strVal val="#ppt_x"/>
                                          </p:val>
                                        </p:tav>
                                      </p:tavLst>
                                    </p:anim>
                                    <p:anim calcmode="lin" valueType="num">
                                      <p:cBhvr additive="repl">
                                        <p:cTn id="684" dur="664">
                                          <p:stCondLst>
                                            <p:cond delay="0"/>
                                          </p:stCondLst>
                                        </p:cTn>
                                        <p:tgtEl>
                                          <p:spTgt spid="297"/>
                                        </p:tgtEl>
                                        <p:attrNameLst>
                                          <p:attrName>ppt_y</p:attrName>
                                        </p:attrNameLst>
                                      </p:cBhvr>
                                      <p:tavLst>
                                        <p:tav fmla="y-sin(pi*$)/3">
                                          <p:val>
                                            <p:fltVal val="0.5"/>
                                          </p:val>
                                        </p:tav>
                                        <p:tav fmla="y-sin(pi*$)/3" tm="100000">
                                          <p:val>
                                            <p:fltVal val="1"/>
                                          </p:val>
                                        </p:tav>
                                      </p:tavLst>
                                    </p:anim>
                                    <p:anim calcmode="lin" valueType="num">
                                      <p:cBhvr additive="repl">
                                        <p:cTn id="685" dur="664">
                                          <p:stCondLst>
                                            <p:cond delay="664"/>
                                          </p:stCondLst>
                                        </p:cTn>
                                        <p:tgtEl>
                                          <p:spTgt spid="297"/>
                                        </p:tgtEl>
                                        <p:attrNameLst>
                                          <p:attrName>ppt_y</p:attrName>
                                        </p:attrNameLst>
                                      </p:cBhvr>
                                      <p:tavLst>
                                        <p:tav fmla="y-sin(pi*$)/9">
                                          <p:val>
                                            <p:fltVal val="0"/>
                                          </p:val>
                                        </p:tav>
                                        <p:tav fmla="y-sin(pi*$)/9" tm="100000">
                                          <p:val>
                                            <p:fltVal val="1"/>
                                          </p:val>
                                        </p:tav>
                                      </p:tavLst>
                                    </p:anim>
                                    <p:anim calcmode="lin" valueType="num">
                                      <p:cBhvr additive="repl">
                                        <p:cTn id="686" dur="332">
                                          <p:stCondLst>
                                            <p:cond delay="1324"/>
                                          </p:stCondLst>
                                        </p:cTn>
                                        <p:tgtEl>
                                          <p:spTgt spid="297"/>
                                        </p:tgtEl>
                                        <p:attrNameLst>
                                          <p:attrName>ppt_y</p:attrName>
                                        </p:attrNameLst>
                                      </p:cBhvr>
                                      <p:tavLst>
                                        <p:tav fmla="y-sin(pi*$)/27">
                                          <p:val>
                                            <p:fltVal val="0"/>
                                          </p:val>
                                        </p:tav>
                                        <p:tav fmla="y-sin(pi*$)/27" tm="100000">
                                          <p:val>
                                            <p:fltVal val="1"/>
                                          </p:val>
                                        </p:tav>
                                      </p:tavLst>
                                    </p:anim>
                                    <p:anim calcmode="lin" valueType="num">
                                      <p:cBhvr additive="repl">
                                        <p:cTn id="687" dur="164">
                                          <p:stCondLst>
                                            <p:cond delay="1656"/>
                                          </p:stCondLst>
                                        </p:cTn>
                                        <p:tgtEl>
                                          <p:spTgt spid="297"/>
                                        </p:tgtEl>
                                        <p:attrNameLst>
                                          <p:attrName>ppt_y</p:attrName>
                                        </p:attrNameLst>
                                      </p:cBhvr>
                                      <p:tavLst>
                                        <p:tav fmla="y-sin(pi*$)/81">
                                          <p:val>
                                            <p:fltVal val="0"/>
                                          </p:val>
                                        </p:tav>
                                        <p:tav fmla="y-sin(pi*$)/81" tm="100000">
                                          <p:val>
                                            <p:fltVal val="1"/>
                                          </p:val>
                                        </p:tav>
                                      </p:tavLst>
                                    </p:anim>
                                    <p:animScale>
                                      <p:cBhvr>
                                        <p:cTn id="688" dur="26" fill="hold">
                                          <p:stCondLst>
                                            <p:cond delay="650"/>
                                          </p:stCondLst>
                                        </p:cTn>
                                        <p:tgtEl>
                                          <p:spTgt spid="297"/>
                                        </p:tgtEl>
                                      </p:cBhvr>
                                      <p:to x="100000" y="60000"/>
                                    </p:animScale>
                                    <p:animScale>
                                      <p:cBhvr>
                                        <p:cTn id="689" dur="166" fill="hold">
                                          <p:stCondLst>
                                            <p:cond delay="676"/>
                                          </p:stCondLst>
                                        </p:cTn>
                                        <p:tgtEl>
                                          <p:spTgt spid="297"/>
                                        </p:tgtEl>
                                      </p:cBhvr>
                                      <p:to x="100000" y="100000"/>
                                    </p:animScale>
                                    <p:animScale>
                                      <p:cBhvr>
                                        <p:cTn id="690" dur="26" fill="hold">
                                          <p:stCondLst>
                                            <p:cond delay="1312"/>
                                          </p:stCondLst>
                                        </p:cTn>
                                        <p:tgtEl>
                                          <p:spTgt spid="297"/>
                                        </p:tgtEl>
                                      </p:cBhvr>
                                      <p:to x="100000" y="80000"/>
                                    </p:animScale>
                                    <p:animScale>
                                      <p:cBhvr>
                                        <p:cTn id="691" dur="166" fill="hold">
                                          <p:stCondLst>
                                            <p:cond delay="1338"/>
                                          </p:stCondLst>
                                        </p:cTn>
                                        <p:tgtEl>
                                          <p:spTgt spid="297"/>
                                        </p:tgtEl>
                                      </p:cBhvr>
                                      <p:to x="100000" y="100000"/>
                                    </p:animScale>
                                    <p:animScale>
                                      <p:cBhvr>
                                        <p:cTn id="692" dur="26" fill="hold">
                                          <p:stCondLst>
                                            <p:cond delay="1642"/>
                                          </p:stCondLst>
                                        </p:cTn>
                                        <p:tgtEl>
                                          <p:spTgt spid="297"/>
                                        </p:tgtEl>
                                      </p:cBhvr>
                                      <p:to x="100000" y="90000"/>
                                    </p:animScale>
                                    <p:animScale>
                                      <p:cBhvr>
                                        <p:cTn id="693" dur="166" fill="hold">
                                          <p:stCondLst>
                                            <p:cond delay="1668"/>
                                          </p:stCondLst>
                                        </p:cTn>
                                        <p:tgtEl>
                                          <p:spTgt spid="297"/>
                                        </p:tgtEl>
                                      </p:cBhvr>
                                      <p:to x="100000" y="100000"/>
                                    </p:animScale>
                                    <p:animScale>
                                      <p:cBhvr>
                                        <p:cTn id="694" dur="26" fill="hold">
                                          <p:stCondLst>
                                            <p:cond delay="1808"/>
                                          </p:stCondLst>
                                        </p:cTn>
                                        <p:tgtEl>
                                          <p:spTgt spid="297"/>
                                        </p:tgtEl>
                                      </p:cBhvr>
                                      <p:to x="100000" y="95000"/>
                                    </p:animScale>
                                    <p:animScale>
                                      <p:cBhvr>
                                        <p:cTn id="695" dur="166" fill="hold">
                                          <p:stCondLst>
                                            <p:cond delay="1834"/>
                                          </p:stCondLst>
                                        </p:cTn>
                                        <p:tgtEl>
                                          <p:spTgt spid="297"/>
                                        </p:tgtEl>
                                      </p:cBhvr>
                                      <p:to x="100000" y="100000"/>
                                    </p:animScale>
                                  </p:childTnLst>
                                </p:cTn>
                              </p:par>
                            </p:childTnLst>
                          </p:cTn>
                        </p:par>
                      </p:childTnLst>
                    </p:cTn>
                  </p:par>
                  <p:par>
                    <p:cTn id="696" fill="hold" nodeType="clickEffect">
                      <p:stCondLst>
                        <p:cond delay="indefinite"/>
                      </p:stCondLst>
                      <p:childTnLst>
                        <p:par>
                          <p:cTn id="697" fill="hold" nodeType="withEffect">
                            <p:stCondLst>
                              <p:cond delay="0"/>
                            </p:stCondLst>
                            <p:childTnLst>
                              <p:par>
                                <p:cTn id="698" presetID="27" presetClass="entr" fill="hold" nodeType="clickEffect">
                                  <p:stCondLst>
                                    <p:cond delay="0"/>
                                  </p:stCondLst>
                                  <p:iterate type="lt">
                                    <p:tmAbs val="40"/>
                                  </p:iterate>
                                  <p:childTnLst>
                                    <p:set>
                                      <p:cBhvr>
                                        <p:cTn id="699" dur="1" fill="hold">
                                          <p:stCondLst>
                                            <p:cond delay="0"/>
                                          </p:stCondLst>
                                        </p:cTn>
                                        <p:tgtEl>
                                          <p:spTgt spid="298"/>
                                        </p:tgtEl>
                                        <p:attrNameLst>
                                          <p:attrName>style.visibility</p:attrName>
                                        </p:attrNameLst>
                                      </p:cBhvr>
                                      <p:to>
                                        <p:strVal val="visible"/>
                                      </p:to>
                                    </p:set>
                                    <p:anim calcmode="discrete" valueType="clr">
                                      <p:cBhvr additive="repl">
                                        <p:cTn id="700" dur="80"/>
                                        <p:tgtEl>
                                          <p:spTgt spid="298"/>
                                        </p:tgtEl>
                                        <p:attrNameLst>
                                          <p:attrName>style.color</p:attrName>
                                        </p:attrNameLst>
                                      </p:cBhvr>
                                      <p:tavLst>
                                        <p:tav>
                                          <p:val>
                                            <p:strVal val="rgb(-52,51,51)"/>
                                          </p:val>
                                        </p:tav>
                                        <p:tav tm="50000">
                                          <p:val>
                                            <p:strVal val="rgb(-1,-52,-52)"/>
                                          </p:val>
                                        </p:tav>
                                      </p:tavLst>
                                    </p:anim>
                                    <p:anim calcmode="discrete" valueType="clr">
                                      <p:cBhvr additive="repl">
                                        <p:cTn id="701" dur="80"/>
                                        <p:tgtEl>
                                          <p:spTgt spid="298"/>
                                        </p:tgtEl>
                                        <p:attrNameLst>
                                          <p:attrName>fillcolor</p:attrName>
                                        </p:attrNameLst>
                                      </p:cBhvr>
                                      <p:tavLst>
                                        <p:tav>
                                          <p:val>
                                            <p:strVal val="rgb(-52,51,51)"/>
                                          </p:val>
                                        </p:tav>
                                        <p:tav tm="50000">
                                          <p:val>
                                            <p:strVal val="rgb(-1,-52,-52)"/>
                                          </p:val>
                                        </p:tav>
                                      </p:tavLst>
                                    </p:anim>
                                    <p:set>
                                      <p:cBhvr>
                                        <p:cTn id="702" dur="80"/>
                                        <p:tgtEl>
                                          <p:spTgt spid="29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99" name="Group 2"/>
          <p:cNvGrpSpPr/>
          <p:nvPr/>
        </p:nvGrpSpPr>
        <p:grpSpPr>
          <a:xfrm>
            <a:off x="477720" y="217440"/>
            <a:ext cx="3606480" cy="3418920"/>
            <a:chOff x="477720" y="217440"/>
            <a:chExt cx="3606480" cy="3418920"/>
          </a:xfrm>
        </p:grpSpPr>
        <p:sp>
          <p:nvSpPr>
            <p:cNvPr id="300" name="Rectangle 3"/>
            <p:cNvSpPr/>
            <p:nvPr/>
          </p:nvSpPr>
          <p:spPr>
            <a:xfrm>
              <a:off x="736560" y="2047680"/>
              <a:ext cx="581040" cy="381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301" name="Group 4"/>
            <p:cNvGrpSpPr/>
            <p:nvPr/>
          </p:nvGrpSpPr>
          <p:grpSpPr>
            <a:xfrm>
              <a:off x="477720" y="217440"/>
              <a:ext cx="3606480" cy="3323880"/>
              <a:chOff x="477720" y="217440"/>
              <a:chExt cx="3606480" cy="3323880"/>
            </a:xfrm>
          </p:grpSpPr>
          <p:sp>
            <p:nvSpPr>
              <p:cNvPr id="302" name="Line 5"/>
              <p:cNvSpPr/>
              <p:nvPr/>
            </p:nvSpPr>
            <p:spPr>
              <a:xfrm flipV="1">
                <a:off x="3036600" y="317880"/>
                <a:ext cx="0" cy="32234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03" name="Line 6"/>
              <p:cNvSpPr/>
              <p:nvPr/>
            </p:nvSpPr>
            <p:spPr>
              <a:xfrm>
                <a:off x="477720" y="2017080"/>
                <a:ext cx="32558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04" name="Rectangle 7"/>
              <p:cNvSpPr/>
              <p:nvPr/>
            </p:nvSpPr>
            <p:spPr>
              <a:xfrm>
                <a:off x="2872080" y="21744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305" name="Rectangle 8"/>
              <p:cNvSpPr/>
              <p:nvPr/>
            </p:nvSpPr>
            <p:spPr>
              <a:xfrm>
                <a:off x="3567240" y="1811520"/>
                <a:ext cx="51696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306" name="Rectangle 9"/>
              <p:cNvSpPr/>
              <p:nvPr/>
            </p:nvSpPr>
            <p:spPr>
              <a:xfrm>
                <a:off x="2953800" y="20430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307" name="Group 10"/>
            <p:cNvGrpSpPr/>
            <p:nvPr/>
          </p:nvGrpSpPr>
          <p:grpSpPr>
            <a:xfrm>
              <a:off x="2914200" y="1906560"/>
              <a:ext cx="243000" cy="232920"/>
              <a:chOff x="2914200" y="1906560"/>
              <a:chExt cx="243000" cy="232920"/>
            </a:xfrm>
          </p:grpSpPr>
          <p:sp>
            <p:nvSpPr>
              <p:cNvPr id="308" name="Line 11"/>
              <p:cNvSpPr/>
              <p:nvPr/>
            </p:nvSpPr>
            <p:spPr>
              <a:xfrm>
                <a:off x="2917080" y="1912680"/>
                <a:ext cx="235080" cy="22680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09" name="Line 12"/>
              <p:cNvSpPr/>
              <p:nvPr/>
            </p:nvSpPr>
            <p:spPr>
              <a:xfrm flipH="1">
                <a:off x="2914200" y="1906560"/>
                <a:ext cx="243000" cy="230400"/>
              </a:xfrm>
              <a:prstGeom prst="line">
                <a:avLst/>
              </a:prstGeom>
              <a:ln cap="sq"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310" name="Rectangle 13"/>
            <p:cNvSpPr/>
            <p:nvPr/>
          </p:nvSpPr>
          <p:spPr>
            <a:xfrm>
              <a:off x="2090880" y="1969920"/>
              <a:ext cx="581040" cy="381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311" name="Group 14"/>
            <p:cNvGrpSpPr/>
            <p:nvPr/>
          </p:nvGrpSpPr>
          <p:grpSpPr>
            <a:xfrm>
              <a:off x="2090520" y="2017800"/>
              <a:ext cx="904680" cy="0"/>
              <a:chOff x="2090520" y="2017800"/>
              <a:chExt cx="904680" cy="0"/>
            </a:xfrm>
          </p:grpSpPr>
          <p:sp>
            <p:nvSpPr>
              <p:cNvPr id="312" name="Line 15"/>
              <p:cNvSpPr/>
              <p:nvPr/>
            </p:nvSpPr>
            <p:spPr>
              <a:xfrm flipH="1">
                <a:off x="2090520" y="2017800"/>
                <a:ext cx="904680" cy="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13" name="Line 16"/>
              <p:cNvSpPr/>
              <p:nvPr/>
            </p:nvSpPr>
            <p:spPr>
              <a:xfrm>
                <a:off x="2420640" y="2017800"/>
                <a:ext cx="250200" cy="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314" name="Line 17"/>
            <p:cNvSpPr/>
            <p:nvPr/>
          </p:nvSpPr>
          <p:spPr>
            <a:xfrm>
              <a:off x="2090880" y="1895400"/>
              <a:ext cx="0" cy="122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315" name="Group 18"/>
            <p:cNvGrpSpPr/>
            <p:nvPr/>
          </p:nvGrpSpPr>
          <p:grpSpPr>
            <a:xfrm>
              <a:off x="1187280" y="2017800"/>
              <a:ext cx="903240" cy="0"/>
              <a:chOff x="1187280" y="2017800"/>
              <a:chExt cx="903240" cy="0"/>
            </a:xfrm>
          </p:grpSpPr>
          <p:sp>
            <p:nvSpPr>
              <p:cNvPr id="316" name="Line 19"/>
              <p:cNvSpPr/>
              <p:nvPr/>
            </p:nvSpPr>
            <p:spPr>
              <a:xfrm flipH="1">
                <a:off x="1187280" y="2017800"/>
                <a:ext cx="90324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17" name="Line 20"/>
              <p:cNvSpPr/>
              <p:nvPr/>
            </p:nvSpPr>
            <p:spPr>
              <a:xfrm>
                <a:off x="1438920" y="2017800"/>
                <a:ext cx="25380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318" name="Rectangle 21"/>
            <p:cNvSpPr/>
            <p:nvPr/>
          </p:nvSpPr>
          <p:spPr>
            <a:xfrm>
              <a:off x="3066840" y="1503360"/>
              <a:ext cx="78624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319" name="Rectangle 22"/>
            <p:cNvSpPr/>
            <p:nvPr/>
          </p:nvSpPr>
          <p:spPr>
            <a:xfrm>
              <a:off x="853920" y="1503360"/>
              <a:ext cx="78624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320" name="Rectangle 23"/>
            <p:cNvSpPr/>
            <p:nvPr/>
          </p:nvSpPr>
          <p:spPr>
            <a:xfrm>
              <a:off x="2103480" y="1547640"/>
              <a:ext cx="814320" cy="4572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321" name="Rectangle 24"/>
            <p:cNvSpPr/>
            <p:nvPr/>
          </p:nvSpPr>
          <p:spPr>
            <a:xfrm>
              <a:off x="2103480" y="450720"/>
              <a:ext cx="9889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322" name="Rectangle 25"/>
            <p:cNvSpPr/>
            <p:nvPr/>
          </p:nvSpPr>
          <p:spPr>
            <a:xfrm>
              <a:off x="2103480" y="3176640"/>
              <a:ext cx="9604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323" name="Line 26"/>
            <p:cNvSpPr/>
            <p:nvPr/>
          </p:nvSpPr>
          <p:spPr>
            <a:xfrm>
              <a:off x="1111320" y="1868400"/>
              <a:ext cx="0" cy="160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324" name="Group 27"/>
            <p:cNvGrpSpPr/>
            <p:nvPr/>
          </p:nvGrpSpPr>
          <p:grpSpPr>
            <a:xfrm>
              <a:off x="2100240" y="2001960"/>
              <a:ext cx="2880" cy="1523880"/>
              <a:chOff x="2100240" y="2001960"/>
              <a:chExt cx="2880" cy="1523880"/>
            </a:xfrm>
          </p:grpSpPr>
          <p:sp>
            <p:nvSpPr>
              <p:cNvPr id="325" name="Line 28"/>
              <p:cNvSpPr/>
              <p:nvPr/>
            </p:nvSpPr>
            <p:spPr>
              <a:xfrm>
                <a:off x="2100240" y="2001960"/>
                <a:ext cx="0" cy="152388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26" name="Line 29"/>
              <p:cNvSpPr/>
              <p:nvPr/>
            </p:nvSpPr>
            <p:spPr>
              <a:xfrm flipV="1">
                <a:off x="2103120" y="2728800"/>
                <a:ext cx="0" cy="23724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27" name="Group 30"/>
            <p:cNvGrpSpPr/>
            <p:nvPr/>
          </p:nvGrpSpPr>
          <p:grpSpPr>
            <a:xfrm>
              <a:off x="2103480" y="476280"/>
              <a:ext cx="0" cy="1525680"/>
              <a:chOff x="2103480" y="476280"/>
              <a:chExt cx="0" cy="1525680"/>
            </a:xfrm>
          </p:grpSpPr>
          <p:sp>
            <p:nvSpPr>
              <p:cNvPr id="328" name="Line 31"/>
              <p:cNvSpPr/>
              <p:nvPr/>
            </p:nvSpPr>
            <p:spPr>
              <a:xfrm flipV="1">
                <a:off x="2103480" y="476280"/>
                <a:ext cx="0" cy="1525680"/>
              </a:xfrm>
              <a:prstGeom prst="line">
                <a:avLst/>
              </a:prstGeom>
              <a:ln w="76320">
                <a:solidFill>
                  <a:srgbClr val="0000FF"/>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29" name="Line 32"/>
              <p:cNvSpPr/>
              <p:nvPr/>
            </p:nvSpPr>
            <p:spPr>
              <a:xfrm>
                <a:off x="2103480" y="1043640"/>
                <a:ext cx="0" cy="239040"/>
              </a:xfrm>
              <a:prstGeom prst="line">
                <a:avLst/>
              </a:prstGeom>
              <a:ln w="76320">
                <a:solidFill>
                  <a:srgbClr val="0000FF"/>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30" name="Group 33"/>
            <p:cNvGrpSpPr/>
            <p:nvPr/>
          </p:nvGrpSpPr>
          <p:grpSpPr>
            <a:xfrm>
              <a:off x="993600" y="1900080"/>
              <a:ext cx="244440" cy="233280"/>
              <a:chOff x="993600" y="1900080"/>
              <a:chExt cx="244440" cy="233280"/>
            </a:xfrm>
          </p:grpSpPr>
          <p:sp>
            <p:nvSpPr>
              <p:cNvPr id="331" name="Line 34"/>
              <p:cNvSpPr/>
              <p:nvPr/>
            </p:nvSpPr>
            <p:spPr>
              <a:xfrm>
                <a:off x="996480" y="1906200"/>
                <a:ext cx="236520" cy="2271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32" name="Line 35"/>
              <p:cNvSpPr/>
              <p:nvPr/>
            </p:nvSpPr>
            <p:spPr>
              <a:xfrm flipH="1">
                <a:off x="993600" y="1900080"/>
                <a:ext cx="244440" cy="2307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grpSp>
        <p:nvGrpSpPr>
          <p:cNvPr id="333" name="Group 36"/>
          <p:cNvGrpSpPr/>
          <p:nvPr/>
        </p:nvGrpSpPr>
        <p:grpSpPr>
          <a:xfrm>
            <a:off x="4443480" y="201600"/>
            <a:ext cx="4438080" cy="3494880"/>
            <a:chOff x="4443480" y="201600"/>
            <a:chExt cx="4438080" cy="3494880"/>
          </a:xfrm>
        </p:grpSpPr>
        <p:grpSp>
          <p:nvGrpSpPr>
            <p:cNvPr id="334" name="Group 37"/>
            <p:cNvGrpSpPr/>
            <p:nvPr/>
          </p:nvGrpSpPr>
          <p:grpSpPr>
            <a:xfrm>
              <a:off x="4443480" y="201600"/>
              <a:ext cx="4438080" cy="3454560"/>
              <a:chOff x="4443480" y="201600"/>
              <a:chExt cx="4438080" cy="3454560"/>
            </a:xfrm>
          </p:grpSpPr>
          <p:sp>
            <p:nvSpPr>
              <p:cNvPr id="335" name="Line 38"/>
              <p:cNvSpPr/>
              <p:nvPr/>
            </p:nvSpPr>
            <p:spPr>
              <a:xfrm flipV="1">
                <a:off x="8128800" y="310320"/>
                <a:ext cx="0" cy="33458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36" name="Rectangle 39"/>
              <p:cNvSpPr/>
              <p:nvPr/>
            </p:nvSpPr>
            <p:spPr>
              <a:xfrm>
                <a:off x="8521920" y="1867320"/>
                <a:ext cx="3596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337" name="Rectangle 40"/>
              <p:cNvSpPr/>
              <p:nvPr/>
            </p:nvSpPr>
            <p:spPr>
              <a:xfrm>
                <a:off x="8007480" y="214776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338" name="Line 41"/>
              <p:cNvSpPr/>
              <p:nvPr/>
            </p:nvSpPr>
            <p:spPr>
              <a:xfrm>
                <a:off x="4443480" y="2106000"/>
                <a:ext cx="4105440" cy="1080"/>
              </a:xfrm>
              <a:prstGeom prst="line">
                <a:avLst/>
              </a:prstGeom>
              <a:ln cap="sq" w="57240">
                <a:solidFill>
                  <a:srgbClr val="000000"/>
                </a:solidFill>
                <a:miter/>
                <a:tailEnd len="med" type="triangle" w="med"/>
              </a:ln>
            </p:spPr>
            <p:style>
              <a:lnRef idx="0"/>
              <a:fillRef idx="0"/>
              <a:effectRef idx="0"/>
              <a:fontRef idx="minor"/>
            </p:style>
            <p:txBody>
              <a:bodyPr lIns="90000" tIns="-45720" rIns="90000" bIns="-45720" anchor="t">
                <a:noAutofit/>
              </a:bodyPr>
              <a:p>
                <a:endParaRPr lang="en-US" sz="2800" b="1" u="none" strike="noStrike">
                  <a:solidFill>
                    <a:srgbClr val="000000"/>
                  </a:solidFill>
                  <a:effectLst/>
                  <a:uFillTx/>
                  <a:latin typeface="Times New Roman"/>
                </a:endParaRPr>
              </a:p>
            </p:txBody>
          </p:sp>
          <p:sp>
            <p:nvSpPr>
              <p:cNvPr id="339" name="Line 42"/>
              <p:cNvSpPr/>
              <p:nvPr/>
            </p:nvSpPr>
            <p:spPr>
              <a:xfrm>
                <a:off x="7263360" y="2023200"/>
                <a:ext cx="0" cy="124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40" name="Line 43"/>
              <p:cNvSpPr/>
              <p:nvPr/>
            </p:nvSpPr>
            <p:spPr>
              <a:xfrm>
                <a:off x="7263360" y="2037240"/>
                <a:ext cx="0" cy="124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41" name="Line 44"/>
              <p:cNvSpPr/>
              <p:nvPr/>
            </p:nvSpPr>
            <p:spPr>
              <a:xfrm>
                <a:off x="6365880" y="2037240"/>
                <a:ext cx="1440" cy="124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42" name="Line 45"/>
              <p:cNvSpPr/>
              <p:nvPr/>
            </p:nvSpPr>
            <p:spPr>
              <a:xfrm>
                <a:off x="6365880" y="2023200"/>
                <a:ext cx="1440" cy="124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43" name="Line 46"/>
              <p:cNvSpPr/>
              <p:nvPr/>
            </p:nvSpPr>
            <p:spPr>
              <a:xfrm flipV="1">
                <a:off x="8064720" y="2952720"/>
                <a:ext cx="13104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sp>
            <p:nvSpPr>
              <p:cNvPr id="344" name="Line 47"/>
              <p:cNvSpPr/>
              <p:nvPr/>
            </p:nvSpPr>
            <p:spPr>
              <a:xfrm flipV="1">
                <a:off x="8071920" y="1233720"/>
                <a:ext cx="12960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sp>
            <p:nvSpPr>
              <p:cNvPr id="345" name="Rectangle 48"/>
              <p:cNvSpPr/>
              <p:nvPr/>
            </p:nvSpPr>
            <p:spPr>
              <a:xfrm>
                <a:off x="8252280" y="201600"/>
                <a:ext cx="50904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346" name="Line 49"/>
              <p:cNvSpPr/>
              <p:nvPr/>
            </p:nvSpPr>
            <p:spPr>
              <a:xfrm>
                <a:off x="5472000" y="2018520"/>
                <a:ext cx="1080" cy="125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47" name="Line 50"/>
              <p:cNvSpPr/>
              <p:nvPr/>
            </p:nvSpPr>
            <p:spPr>
              <a:xfrm>
                <a:off x="4533480" y="2018520"/>
                <a:ext cx="0" cy="125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48" name="Group 51"/>
            <p:cNvGrpSpPr/>
            <p:nvPr/>
          </p:nvGrpSpPr>
          <p:grpSpPr>
            <a:xfrm>
              <a:off x="5347440" y="1973880"/>
              <a:ext cx="258120" cy="231480"/>
              <a:chOff x="5347440" y="1973880"/>
              <a:chExt cx="258120" cy="231480"/>
            </a:xfrm>
          </p:grpSpPr>
          <p:sp>
            <p:nvSpPr>
              <p:cNvPr id="349" name="Line 52"/>
              <p:cNvSpPr/>
              <p:nvPr/>
            </p:nvSpPr>
            <p:spPr>
              <a:xfrm>
                <a:off x="5354280" y="1980000"/>
                <a:ext cx="251280" cy="2253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50" name="Line 53"/>
              <p:cNvSpPr/>
              <p:nvPr/>
            </p:nvSpPr>
            <p:spPr>
              <a:xfrm flipH="1">
                <a:off x="5347440" y="1973880"/>
                <a:ext cx="255600" cy="2253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51" name="Group 54"/>
            <p:cNvGrpSpPr/>
            <p:nvPr/>
          </p:nvGrpSpPr>
          <p:grpSpPr>
            <a:xfrm>
              <a:off x="6237720" y="1961280"/>
              <a:ext cx="258480" cy="231480"/>
              <a:chOff x="6237720" y="1961280"/>
              <a:chExt cx="258480" cy="231480"/>
            </a:xfrm>
          </p:grpSpPr>
          <p:sp>
            <p:nvSpPr>
              <p:cNvPr id="352" name="Line 55"/>
              <p:cNvSpPr/>
              <p:nvPr/>
            </p:nvSpPr>
            <p:spPr>
              <a:xfrm>
                <a:off x="6240600" y="1967400"/>
                <a:ext cx="254160" cy="2253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53" name="Line 56"/>
              <p:cNvSpPr/>
              <p:nvPr/>
            </p:nvSpPr>
            <p:spPr>
              <a:xfrm flipH="1">
                <a:off x="6237720" y="1961280"/>
                <a:ext cx="258480" cy="2253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54" name="Group 57"/>
            <p:cNvGrpSpPr/>
            <p:nvPr/>
          </p:nvGrpSpPr>
          <p:grpSpPr>
            <a:xfrm>
              <a:off x="8002800" y="1961280"/>
              <a:ext cx="258480" cy="231480"/>
              <a:chOff x="8002800" y="1961280"/>
              <a:chExt cx="258480" cy="231480"/>
            </a:xfrm>
          </p:grpSpPr>
          <p:sp>
            <p:nvSpPr>
              <p:cNvPr id="355" name="Line 58"/>
              <p:cNvSpPr/>
              <p:nvPr/>
            </p:nvSpPr>
            <p:spPr>
              <a:xfrm>
                <a:off x="8010000" y="1967400"/>
                <a:ext cx="251280" cy="2253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56" name="Line 59"/>
              <p:cNvSpPr/>
              <p:nvPr/>
            </p:nvSpPr>
            <p:spPr>
              <a:xfrm flipH="1">
                <a:off x="8002800" y="1961280"/>
                <a:ext cx="256680" cy="2253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useBgFill="1">
          <p:nvSpPr>
            <p:cNvPr id="357" name="Oval 60"/>
            <p:cNvSpPr/>
            <p:nvPr/>
          </p:nvSpPr>
          <p:spPr>
            <a:xfrm>
              <a:off x="7097400" y="1928160"/>
              <a:ext cx="294120" cy="2584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358" name="Line 61"/>
            <p:cNvSpPr/>
            <p:nvPr/>
          </p:nvSpPr>
          <p:spPr>
            <a:xfrm>
              <a:off x="6343200" y="236880"/>
              <a:ext cx="55440" cy="3451680"/>
            </a:xfrm>
            <a:prstGeom prst="line">
              <a:avLst/>
            </a:prstGeom>
            <a:ln cap="rnd" w="76320">
              <a:solidFill>
                <a:srgbClr val="000000"/>
              </a:solidFill>
              <a:custDash>
                <a:ds d="100000" sp="1000"/>
              </a:custDash>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59" name="Line 62"/>
            <p:cNvSpPr/>
            <p:nvPr/>
          </p:nvSpPr>
          <p:spPr>
            <a:xfrm>
              <a:off x="7378920" y="2089080"/>
              <a:ext cx="784080" cy="0"/>
            </a:xfrm>
            <a:prstGeom prst="line">
              <a:avLst/>
            </a:prstGeom>
            <a:ln w="76320">
              <a:solidFill>
                <a:srgbClr val="FF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60" name="Line 63"/>
            <p:cNvSpPr/>
            <p:nvPr/>
          </p:nvSpPr>
          <p:spPr>
            <a:xfrm>
              <a:off x="5550480" y="2089080"/>
              <a:ext cx="418320" cy="0"/>
            </a:xfrm>
            <a:prstGeom prst="line">
              <a:avLst/>
            </a:prstGeom>
            <a:ln w="76320">
              <a:solidFill>
                <a:srgbClr val="00CC66"/>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61" name="Line 64"/>
            <p:cNvSpPr/>
            <p:nvPr/>
          </p:nvSpPr>
          <p:spPr>
            <a:xfrm>
              <a:off x="5956200" y="1998000"/>
              <a:ext cx="0" cy="182160"/>
            </a:xfrm>
            <a:prstGeom prst="line">
              <a:avLst/>
            </a:prstGeom>
            <a:ln w="7632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62" name="Line 65"/>
            <p:cNvSpPr/>
            <p:nvPr/>
          </p:nvSpPr>
          <p:spPr>
            <a:xfrm>
              <a:off x="5981760" y="2089080"/>
              <a:ext cx="431280" cy="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363" name="Group 66"/>
            <p:cNvGrpSpPr/>
            <p:nvPr/>
          </p:nvGrpSpPr>
          <p:grpSpPr>
            <a:xfrm>
              <a:off x="5956200" y="421920"/>
              <a:ext cx="261360" cy="1644480"/>
              <a:chOff x="5956200" y="421920"/>
              <a:chExt cx="261360" cy="1644480"/>
            </a:xfrm>
          </p:grpSpPr>
          <p:sp>
            <p:nvSpPr>
              <p:cNvPr id="364" name="Freeform 67"/>
              <p:cNvSpPr/>
              <p:nvPr/>
            </p:nvSpPr>
            <p:spPr>
              <a:xfrm>
                <a:off x="5956200" y="421920"/>
                <a:ext cx="261360" cy="1644480"/>
              </a:xfrm>
              <a:custGeom>
                <a:avLst/>
                <a:gdLst>
                  <a:gd name="GluePoint1X" fmla="*/ 0 w 183"/>
                  <a:gd name="GluePoint1Y" fmla="*/ 1298 h 1298"/>
                  <a:gd name="GluePoint2X" fmla="*/ 27 w 183"/>
                  <a:gd name="GluePoint2Y" fmla="*/ 1042 h 1298"/>
                  <a:gd name="GluePoint3X" fmla="*/ 110 w 183"/>
                  <a:gd name="GluePoint3Y" fmla="*/ 685 h 1298"/>
                  <a:gd name="GluePoint4X" fmla="*/ 183 w 183"/>
                  <a:gd name="GluePoint4Y" fmla="*/ 0 h 1298"/>
                </a:gdLst>
                <a:ahLst/>
                <a:cxnLst>
                  <a:cxn ang="0">
                    <a:pos x="GluePoint1X" y="GluePoint1Y"/>
                  </a:cxn>
                  <a:cxn ang="0">
                    <a:pos x="GluePoint2X" y="GluePoint2Y"/>
                  </a:cxn>
                  <a:cxn ang="0">
                    <a:pos x="GluePoint3X" y="GluePoint3Y"/>
                  </a:cxn>
                  <a:cxn ang="0">
                    <a:pos x="GluePoint4X" y="GluePoint4Y"/>
                  </a:cxn>
                </a:cxnLst>
                <a:rect l="l" t="t" r="r" b="b"/>
                <a:pathLst>
                  <a:path w="183" h="1298">
                    <a:moveTo>
                      <a:pt x="0" y="1298"/>
                    </a:moveTo>
                    <a:cubicBezTo>
                      <a:pt x="4" y="1255"/>
                      <a:pt x="9" y="1144"/>
                      <a:pt x="27" y="1042"/>
                    </a:cubicBezTo>
                    <a:cubicBezTo>
                      <a:pt x="45" y="940"/>
                      <a:pt x="84" y="859"/>
                      <a:pt x="110" y="685"/>
                    </a:cubicBezTo>
                    <a:cubicBezTo>
                      <a:pt x="136" y="511"/>
                      <a:pt x="171" y="114"/>
                      <a:pt x="183"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65" name="Line 68"/>
              <p:cNvSpPr/>
              <p:nvPr/>
            </p:nvSpPr>
            <p:spPr>
              <a:xfrm flipV="1">
                <a:off x="6153120" y="862560"/>
                <a:ext cx="0" cy="22032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66" name="Group 69"/>
            <p:cNvGrpSpPr/>
            <p:nvPr/>
          </p:nvGrpSpPr>
          <p:grpSpPr>
            <a:xfrm>
              <a:off x="5957280" y="2052360"/>
              <a:ext cx="261360" cy="1644120"/>
              <a:chOff x="5957280" y="2052360"/>
              <a:chExt cx="261360" cy="1644120"/>
            </a:xfrm>
          </p:grpSpPr>
          <p:sp>
            <p:nvSpPr>
              <p:cNvPr id="367" name="Freeform 70"/>
              <p:cNvSpPr/>
              <p:nvPr/>
            </p:nvSpPr>
            <p:spPr>
              <a:xfrm flipV="1">
                <a:off x="5957280" y="2052000"/>
                <a:ext cx="261360" cy="1644120"/>
              </a:xfrm>
              <a:custGeom>
                <a:avLst/>
                <a:gdLst>
                  <a:gd name="GluePoint1X" fmla="*/ 0 w 183"/>
                  <a:gd name="GluePoint1Y" fmla="*/ 1298 h 1298"/>
                  <a:gd name="GluePoint2X" fmla="*/ 27 w 183"/>
                  <a:gd name="GluePoint2Y" fmla="*/ 1042 h 1298"/>
                  <a:gd name="GluePoint3X" fmla="*/ 110 w 183"/>
                  <a:gd name="GluePoint3Y" fmla="*/ 685 h 1298"/>
                  <a:gd name="GluePoint4X" fmla="*/ 183 w 183"/>
                  <a:gd name="GluePoint4Y" fmla="*/ 0 h 1298"/>
                </a:gdLst>
                <a:ahLst/>
                <a:cxnLst>
                  <a:cxn ang="0">
                    <a:pos x="GluePoint1X" y="GluePoint1Y"/>
                  </a:cxn>
                  <a:cxn ang="0">
                    <a:pos x="GluePoint2X" y="GluePoint2Y"/>
                  </a:cxn>
                  <a:cxn ang="0">
                    <a:pos x="GluePoint3X" y="GluePoint3Y"/>
                  </a:cxn>
                  <a:cxn ang="0">
                    <a:pos x="GluePoint4X" y="GluePoint4Y"/>
                  </a:cxn>
                </a:cxnLst>
                <a:rect l="l" t="t" r="r" b="b"/>
                <a:pathLst>
                  <a:path w="183" h="1298">
                    <a:moveTo>
                      <a:pt x="0" y="1298"/>
                    </a:moveTo>
                    <a:cubicBezTo>
                      <a:pt x="4" y="1255"/>
                      <a:pt x="9" y="1144"/>
                      <a:pt x="27" y="1042"/>
                    </a:cubicBezTo>
                    <a:cubicBezTo>
                      <a:pt x="45" y="940"/>
                      <a:pt x="84" y="859"/>
                      <a:pt x="110" y="685"/>
                    </a:cubicBezTo>
                    <a:cubicBezTo>
                      <a:pt x="136" y="511"/>
                      <a:pt x="171" y="114"/>
                      <a:pt x="183" y="0"/>
                    </a:cubicBezTo>
                  </a:path>
                </a:pathLst>
              </a:custGeom>
              <a:noFill/>
              <a:ln w="76320">
                <a:solidFill>
                  <a:srgbClr val="00CC66"/>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68" name="Line 71"/>
              <p:cNvSpPr/>
              <p:nvPr/>
            </p:nvSpPr>
            <p:spPr>
              <a:xfrm>
                <a:off x="6154200" y="3035520"/>
                <a:ext cx="0" cy="220320"/>
              </a:xfrm>
              <a:prstGeom prst="line">
                <a:avLst/>
              </a:prstGeom>
              <a:ln w="76320">
                <a:solidFill>
                  <a:srgbClr val="00CC66"/>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grpSp>
        <p:nvGrpSpPr>
          <p:cNvPr id="369" name="Group 72"/>
          <p:cNvGrpSpPr/>
          <p:nvPr/>
        </p:nvGrpSpPr>
        <p:grpSpPr>
          <a:xfrm>
            <a:off x="1405800" y="3187800"/>
            <a:ext cx="4693680" cy="3723120"/>
            <a:chOff x="1405800" y="3187800"/>
            <a:chExt cx="4693680" cy="3723120"/>
          </a:xfrm>
        </p:grpSpPr>
        <p:grpSp>
          <p:nvGrpSpPr>
            <p:cNvPr id="370" name="Group 73"/>
            <p:cNvGrpSpPr/>
            <p:nvPr/>
          </p:nvGrpSpPr>
          <p:grpSpPr>
            <a:xfrm>
              <a:off x="2136600" y="3276720"/>
              <a:ext cx="3823560" cy="3147840"/>
              <a:chOff x="2136600" y="3276720"/>
              <a:chExt cx="3823560" cy="3147840"/>
            </a:xfrm>
          </p:grpSpPr>
          <p:sp>
            <p:nvSpPr>
              <p:cNvPr id="371" name="Line 74"/>
              <p:cNvSpPr/>
              <p:nvPr/>
            </p:nvSpPr>
            <p:spPr>
              <a:xfrm flipV="1">
                <a:off x="4633560" y="3276720"/>
                <a:ext cx="0" cy="31478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72" name="Rectangle 75"/>
              <p:cNvSpPr/>
              <p:nvPr/>
            </p:nvSpPr>
            <p:spPr>
              <a:xfrm>
                <a:off x="5596200" y="4773240"/>
                <a:ext cx="363960" cy="88668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373" name="Rectangle 76"/>
              <p:cNvSpPr/>
              <p:nvPr/>
            </p:nvSpPr>
            <p:spPr>
              <a:xfrm>
                <a:off x="4512240" y="500184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374" name="Line 77"/>
              <p:cNvSpPr/>
              <p:nvPr/>
            </p:nvSpPr>
            <p:spPr>
              <a:xfrm>
                <a:off x="2136600" y="4962960"/>
                <a:ext cx="3507840" cy="1800"/>
              </a:xfrm>
              <a:prstGeom prst="line">
                <a:avLst/>
              </a:prstGeom>
              <a:ln cap="sq" w="57240">
                <a:solidFill>
                  <a:srgbClr val="000000"/>
                </a:solidFill>
                <a:miter/>
                <a:tail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375" name="Line 78"/>
              <p:cNvSpPr/>
              <p:nvPr/>
            </p:nvSpPr>
            <p:spPr>
              <a:xfrm>
                <a:off x="4210560" y="4898880"/>
                <a:ext cx="0" cy="115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76" name="Line 79"/>
              <p:cNvSpPr/>
              <p:nvPr/>
            </p:nvSpPr>
            <p:spPr>
              <a:xfrm>
                <a:off x="3759120" y="4885920"/>
                <a:ext cx="0" cy="115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77" name="Line 80"/>
              <p:cNvSpPr/>
              <p:nvPr/>
            </p:nvSpPr>
            <p:spPr>
              <a:xfrm>
                <a:off x="3759120" y="4898880"/>
                <a:ext cx="0" cy="115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78" name="Line 81"/>
              <p:cNvSpPr/>
              <p:nvPr/>
            </p:nvSpPr>
            <p:spPr>
              <a:xfrm>
                <a:off x="3304080" y="4885920"/>
                <a:ext cx="0" cy="115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79" name="Line 82"/>
              <p:cNvSpPr/>
              <p:nvPr/>
            </p:nvSpPr>
            <p:spPr>
              <a:xfrm>
                <a:off x="2852640" y="4898880"/>
                <a:ext cx="1080" cy="115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80" name="Line 83"/>
              <p:cNvSpPr/>
              <p:nvPr/>
            </p:nvSpPr>
            <p:spPr>
              <a:xfrm>
                <a:off x="2852640" y="4885920"/>
                <a:ext cx="1080" cy="115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81" name="Line 84"/>
              <p:cNvSpPr/>
              <p:nvPr/>
            </p:nvSpPr>
            <p:spPr>
              <a:xfrm>
                <a:off x="2400120" y="4858920"/>
                <a:ext cx="1080" cy="1429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82" name="Line 85"/>
              <p:cNvSpPr/>
              <p:nvPr/>
            </p:nvSpPr>
            <p:spPr>
              <a:xfrm flipV="1">
                <a:off x="4569480" y="5758920"/>
                <a:ext cx="12996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sp>
            <p:nvSpPr>
              <p:cNvPr id="383" name="Line 86"/>
              <p:cNvSpPr/>
              <p:nvPr/>
            </p:nvSpPr>
            <p:spPr>
              <a:xfrm flipV="1">
                <a:off x="4569480" y="5382000"/>
                <a:ext cx="12996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sp>
            <p:nvSpPr>
              <p:cNvPr id="384" name="Line 87"/>
              <p:cNvSpPr/>
              <p:nvPr/>
            </p:nvSpPr>
            <p:spPr>
              <a:xfrm flipV="1">
                <a:off x="4579200" y="4144680"/>
                <a:ext cx="12996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sp>
            <p:nvSpPr>
              <p:cNvPr id="385" name="Line 88"/>
              <p:cNvSpPr/>
              <p:nvPr/>
            </p:nvSpPr>
            <p:spPr>
              <a:xfrm flipV="1">
                <a:off x="4575600" y="4550760"/>
                <a:ext cx="12996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grpSp>
        <p:sp>
          <p:nvSpPr>
            <p:cNvPr id="386" name="Rectangle 89"/>
            <p:cNvSpPr/>
            <p:nvPr/>
          </p:nvSpPr>
          <p:spPr>
            <a:xfrm>
              <a:off x="4020840" y="3187800"/>
              <a:ext cx="50904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grpSp>
          <p:nvGrpSpPr>
            <p:cNvPr id="387" name="Group 90"/>
            <p:cNvGrpSpPr/>
            <p:nvPr/>
          </p:nvGrpSpPr>
          <p:grpSpPr>
            <a:xfrm>
              <a:off x="4538160" y="4869000"/>
              <a:ext cx="191880" cy="171000"/>
              <a:chOff x="4538160" y="4869000"/>
              <a:chExt cx="191880" cy="171000"/>
            </a:xfrm>
          </p:grpSpPr>
          <p:sp>
            <p:nvSpPr>
              <p:cNvPr id="388" name="Line 91"/>
              <p:cNvSpPr/>
              <p:nvPr/>
            </p:nvSpPr>
            <p:spPr>
              <a:xfrm>
                <a:off x="4539600" y="4873320"/>
                <a:ext cx="188640" cy="1666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89" name="Line 92"/>
              <p:cNvSpPr/>
              <p:nvPr/>
            </p:nvSpPr>
            <p:spPr>
              <a:xfrm flipH="1">
                <a:off x="4538160" y="4869000"/>
                <a:ext cx="191880" cy="1695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90" name="Group 93"/>
            <p:cNvGrpSpPr/>
            <p:nvPr/>
          </p:nvGrpSpPr>
          <p:grpSpPr>
            <a:xfrm>
              <a:off x="4117320" y="4869000"/>
              <a:ext cx="191880" cy="171000"/>
              <a:chOff x="4117320" y="4869000"/>
              <a:chExt cx="191880" cy="171000"/>
            </a:xfrm>
          </p:grpSpPr>
          <p:sp>
            <p:nvSpPr>
              <p:cNvPr id="391" name="Line 94"/>
              <p:cNvSpPr/>
              <p:nvPr/>
            </p:nvSpPr>
            <p:spPr>
              <a:xfrm>
                <a:off x="4118760" y="4873320"/>
                <a:ext cx="188640" cy="1666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92" name="Line 95"/>
              <p:cNvSpPr/>
              <p:nvPr/>
            </p:nvSpPr>
            <p:spPr>
              <a:xfrm flipH="1">
                <a:off x="4117320" y="4869000"/>
                <a:ext cx="191880" cy="1695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393" name="Group 96"/>
            <p:cNvGrpSpPr/>
            <p:nvPr/>
          </p:nvGrpSpPr>
          <p:grpSpPr>
            <a:xfrm>
              <a:off x="2302920" y="4873680"/>
              <a:ext cx="193320" cy="169560"/>
              <a:chOff x="2302920" y="4873680"/>
              <a:chExt cx="193320" cy="169560"/>
            </a:xfrm>
          </p:grpSpPr>
          <p:sp>
            <p:nvSpPr>
              <p:cNvPr id="394" name="Line 97"/>
              <p:cNvSpPr/>
              <p:nvPr/>
            </p:nvSpPr>
            <p:spPr>
              <a:xfrm>
                <a:off x="2304360" y="4878000"/>
                <a:ext cx="190080" cy="1652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95" name="Line 98"/>
              <p:cNvSpPr/>
              <p:nvPr/>
            </p:nvSpPr>
            <p:spPr>
              <a:xfrm flipH="1">
                <a:off x="2302920" y="4873680"/>
                <a:ext cx="193320" cy="16812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396" name="Line 99"/>
            <p:cNvSpPr/>
            <p:nvPr/>
          </p:nvSpPr>
          <p:spPr>
            <a:xfrm flipV="1">
              <a:off x="3770280" y="3322440"/>
              <a:ext cx="1123560" cy="164916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97" name="Line 100"/>
            <p:cNvSpPr/>
            <p:nvPr/>
          </p:nvSpPr>
          <p:spPr>
            <a:xfrm>
              <a:off x="3774960" y="4959360"/>
              <a:ext cx="1118880" cy="164484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98" name="Line 101"/>
            <p:cNvSpPr/>
            <p:nvPr/>
          </p:nvSpPr>
          <p:spPr>
            <a:xfrm>
              <a:off x="1649160" y="4951440"/>
              <a:ext cx="761760" cy="0"/>
            </a:xfrm>
            <a:prstGeom prst="line">
              <a:avLst/>
            </a:prstGeom>
            <a:ln w="76320">
              <a:solidFill>
                <a:srgbClr val="FF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399" name="Line 102"/>
            <p:cNvSpPr/>
            <p:nvPr/>
          </p:nvSpPr>
          <p:spPr>
            <a:xfrm flipV="1">
              <a:off x="4241520" y="4955760"/>
              <a:ext cx="361800" cy="1800"/>
            </a:xfrm>
            <a:prstGeom prst="line">
              <a:avLst/>
            </a:prstGeom>
            <a:ln w="76320">
              <a:solidFill>
                <a:srgbClr val="993300"/>
              </a:solidFill>
              <a:miter/>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400" name="Rectangle 103"/>
            <p:cNvSpPr/>
            <p:nvPr/>
          </p:nvSpPr>
          <p:spPr>
            <a:xfrm>
              <a:off x="5064840" y="322740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401" name="Rectangle 104"/>
            <p:cNvSpPr/>
            <p:nvPr/>
          </p:nvSpPr>
          <p:spPr>
            <a:xfrm>
              <a:off x="5006160" y="640080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402" name="Rectangle 105"/>
            <p:cNvSpPr/>
            <p:nvPr/>
          </p:nvSpPr>
          <p:spPr>
            <a:xfrm>
              <a:off x="1405800" y="437220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grpSp>
          <p:nvGrpSpPr>
            <p:cNvPr id="403" name="Group 106"/>
            <p:cNvGrpSpPr/>
            <p:nvPr/>
          </p:nvGrpSpPr>
          <p:grpSpPr>
            <a:xfrm>
              <a:off x="4457520" y="3246480"/>
              <a:ext cx="556920" cy="1690560"/>
              <a:chOff x="4457520" y="3246480"/>
              <a:chExt cx="556920" cy="1690560"/>
            </a:xfrm>
          </p:grpSpPr>
          <p:sp>
            <p:nvSpPr>
              <p:cNvPr id="404" name="Freeform 107"/>
              <p:cNvSpPr/>
              <p:nvPr/>
            </p:nvSpPr>
            <p:spPr>
              <a:xfrm>
                <a:off x="4457520" y="3246480"/>
                <a:ext cx="556920" cy="1690560"/>
              </a:xfrm>
              <a:custGeom>
                <a:avLst/>
                <a:gdLst>
                  <a:gd name="GluePoint1X" fmla="*/ 0 w 521"/>
                  <a:gd name="GluePoint1Y" fmla="*/ 1820 h 1820"/>
                  <a:gd name="GluePoint2X" fmla="*/ 28 w 521"/>
                  <a:gd name="GluePoint2Y" fmla="*/ 1500 h 1820"/>
                  <a:gd name="GluePoint3X" fmla="*/ 73 w 521"/>
                  <a:gd name="GluePoint3Y" fmla="*/ 1198 h 1820"/>
                  <a:gd name="GluePoint4X" fmla="*/ 183 w 521"/>
                  <a:gd name="GluePoint4Y" fmla="*/ 778 h 1820"/>
                  <a:gd name="GluePoint5X" fmla="*/ 521 w 521"/>
                  <a:gd name="GluePoint5Y" fmla="*/ 0 h 182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521" h="1820">
                    <a:moveTo>
                      <a:pt x="0" y="1820"/>
                    </a:moveTo>
                    <a:cubicBezTo>
                      <a:pt x="5" y="1767"/>
                      <a:pt x="16" y="1604"/>
                      <a:pt x="28" y="1500"/>
                    </a:cubicBezTo>
                    <a:cubicBezTo>
                      <a:pt x="40" y="1396"/>
                      <a:pt x="47" y="1318"/>
                      <a:pt x="73" y="1198"/>
                    </a:cubicBezTo>
                    <a:cubicBezTo>
                      <a:pt x="99" y="1078"/>
                      <a:pt x="108" y="978"/>
                      <a:pt x="183" y="778"/>
                    </a:cubicBezTo>
                    <a:cubicBezTo>
                      <a:pt x="258" y="578"/>
                      <a:pt x="451" y="162"/>
                      <a:pt x="521" y="0"/>
                    </a:cubicBezTo>
                  </a:path>
                </a:pathLst>
              </a:custGeom>
              <a:noFill/>
              <a:ln w="76320">
                <a:solidFill>
                  <a:srgbClr val="00CC66"/>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05" name="Line 108"/>
              <p:cNvSpPr/>
              <p:nvPr/>
            </p:nvSpPr>
            <p:spPr>
              <a:xfrm flipV="1">
                <a:off x="4732200" y="3612960"/>
                <a:ext cx="68040" cy="152280"/>
              </a:xfrm>
              <a:prstGeom prst="line">
                <a:avLst/>
              </a:prstGeom>
              <a:ln w="76320">
                <a:solidFill>
                  <a:srgbClr val="00CC66"/>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406" name="Group 109"/>
            <p:cNvGrpSpPr/>
            <p:nvPr/>
          </p:nvGrpSpPr>
          <p:grpSpPr>
            <a:xfrm>
              <a:off x="4448160" y="4944600"/>
              <a:ext cx="556560" cy="1690920"/>
              <a:chOff x="4448160" y="4944600"/>
              <a:chExt cx="556560" cy="1690920"/>
            </a:xfrm>
          </p:grpSpPr>
          <p:sp>
            <p:nvSpPr>
              <p:cNvPr id="407" name="Freeform 110"/>
              <p:cNvSpPr/>
              <p:nvPr/>
            </p:nvSpPr>
            <p:spPr>
              <a:xfrm flipV="1">
                <a:off x="4448160" y="4944240"/>
                <a:ext cx="556560" cy="1690920"/>
              </a:xfrm>
              <a:custGeom>
                <a:avLst/>
                <a:gdLst>
                  <a:gd name="GluePoint1X" fmla="*/ 0 w 521"/>
                  <a:gd name="GluePoint1Y" fmla="*/ 1820 h 1820"/>
                  <a:gd name="GluePoint2X" fmla="*/ 28 w 521"/>
                  <a:gd name="GluePoint2Y" fmla="*/ 1500 h 1820"/>
                  <a:gd name="GluePoint3X" fmla="*/ 73 w 521"/>
                  <a:gd name="GluePoint3Y" fmla="*/ 1198 h 1820"/>
                  <a:gd name="GluePoint4X" fmla="*/ 183 w 521"/>
                  <a:gd name="GluePoint4Y" fmla="*/ 778 h 1820"/>
                  <a:gd name="GluePoint5X" fmla="*/ 521 w 521"/>
                  <a:gd name="GluePoint5Y" fmla="*/ 0 h 182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521" h="1820">
                    <a:moveTo>
                      <a:pt x="0" y="1820"/>
                    </a:moveTo>
                    <a:cubicBezTo>
                      <a:pt x="5" y="1767"/>
                      <a:pt x="16" y="1604"/>
                      <a:pt x="28" y="1500"/>
                    </a:cubicBezTo>
                    <a:cubicBezTo>
                      <a:pt x="40" y="1396"/>
                      <a:pt x="47" y="1318"/>
                      <a:pt x="73" y="1198"/>
                    </a:cubicBezTo>
                    <a:cubicBezTo>
                      <a:pt x="99" y="1078"/>
                      <a:pt x="108" y="978"/>
                      <a:pt x="183" y="778"/>
                    </a:cubicBezTo>
                    <a:cubicBezTo>
                      <a:pt x="258" y="578"/>
                      <a:pt x="451" y="162"/>
                      <a:pt x="521"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08" name="Line 111"/>
              <p:cNvSpPr/>
              <p:nvPr/>
            </p:nvSpPr>
            <p:spPr>
              <a:xfrm>
                <a:off x="4722480" y="6116760"/>
                <a:ext cx="68040" cy="15228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Rectangle 4"/>
          <p:cNvSpPr/>
          <p:nvPr/>
        </p:nvSpPr>
        <p:spPr>
          <a:xfrm>
            <a:off x="244440" y="168120"/>
            <a:ext cx="8775720" cy="27842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4</a:t>
            </a:r>
            <a:r>
              <a:rPr lang="en-US" sz="2800" b="1" u="none" strike="noStrike">
                <a:solidFill>
                  <a:srgbClr val="000000"/>
                </a:solidFill>
                <a:effectLst/>
                <a:uFillTx/>
                <a:latin typeface="Times New Roman"/>
              </a:rPr>
              <a:t>   </a:t>
            </a:r>
            <a:r>
              <a:rPr lang="zh-CN" sz="2800" b="1" u="none" strike="noStrike">
                <a:solidFill>
                  <a:srgbClr val="990033"/>
                </a:solidFill>
                <a:effectLst/>
                <a:uFillTx/>
                <a:latin typeface="Times New Roman"/>
              </a:rPr>
              <a:t>根轨迹的起点和终点</a:t>
            </a:r>
            <a:endParaRPr lang="en-US" sz="2800" b="1" u="none" strike="noStrike">
              <a:solidFill>
                <a:srgbClr val="000000"/>
              </a:solidFill>
              <a:effectLst/>
              <a:uFillTx/>
              <a:latin typeface="Times New Roman"/>
            </a:endParaRPr>
          </a:p>
          <a:p>
            <a:pPr>
              <a:lnSpc>
                <a:spcPct val="13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800" b="1" u="none" strike="noStrike">
                <a:solidFill>
                  <a:srgbClr val="000099"/>
                </a:solidFill>
                <a:effectLst/>
                <a:uFillTx/>
                <a:latin typeface="Times New Roman"/>
              </a:rPr>
              <a:t>根轨迹起始于系统开环极点， 终止于系统开环零点。</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根轨迹上</a:t>
            </a:r>
            <a:r>
              <a:rPr lang="en-US" sz="2800" b="1" i="1" u="none" strike="noStrike">
                <a:solidFill>
                  <a:srgbClr val="990033"/>
                </a:solidFill>
                <a:effectLst/>
                <a:uFillTx/>
                <a:latin typeface="Times New Roman"/>
              </a:rPr>
              <a:t>Kg</a:t>
            </a:r>
            <a:r>
              <a:rPr lang="en-US" sz="2800" b="1" u="none" strike="noStrike">
                <a:solidFill>
                  <a:srgbClr val="990033"/>
                </a:solidFill>
                <a:effectLst/>
                <a:uFillTx/>
                <a:latin typeface="Times New Roman"/>
              </a:rPr>
              <a:t>= 0</a:t>
            </a:r>
            <a:r>
              <a:rPr lang="zh-CN" sz="2800" b="1" u="none" strike="noStrike">
                <a:solidFill>
                  <a:srgbClr val="000000"/>
                </a:solidFill>
                <a:effectLst/>
                <a:uFillTx/>
                <a:latin typeface="Times New Roman"/>
              </a:rPr>
              <a:t>的点为起点，</a:t>
            </a:r>
            <a:r>
              <a:rPr lang="en-US" sz="2800" b="1" i="1" u="none" strike="noStrike">
                <a:solidFill>
                  <a:srgbClr val="990033"/>
                </a:solidFill>
                <a:effectLst/>
                <a:uFillTx/>
                <a:latin typeface="Times New Roman"/>
              </a:rPr>
              <a:t>Kg</a:t>
            </a:r>
            <a:r>
              <a:rPr lang="en-US" sz="2800" b="1" u="none" strike="noStrike">
                <a:solidFill>
                  <a:srgbClr val="990033"/>
                </a:solidFill>
                <a:effectLst/>
                <a:uFillTx/>
                <a:latin typeface="Symbol"/>
                <a:ea typeface="Symbol"/>
              </a:rPr>
              <a:t></a:t>
            </a:r>
            <a:r>
              <a:rPr lang="zh-CN" sz="2800" b="1" u="none" strike="noStrike">
                <a:solidFill>
                  <a:srgbClr val="000000"/>
                </a:solidFill>
                <a:effectLst/>
                <a:uFillTx/>
                <a:latin typeface="Times New Roman"/>
              </a:rPr>
              <a:t>时的点为终点。 </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410" name="Object 5"/>
              <p:cNvSpPr txBox="1"/>
              <p:nvPr/>
            </p:nvSpPr>
            <p:spPr>
              <a:xfrm>
                <a:off x="1576440" y="1604880"/>
                <a:ext cx="5427720" cy="197172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sSub>
                      <m:e>
                        <m:r>
                          <m:t xml:space="preserve">K</m:t>
                        </m:r>
                      </m:e>
                      <m:sub>
                        <m:r>
                          <m:t xml:space="preserve">g</m:t>
                        </m:r>
                      </m:sub>
                    </m:sSub>
                    <m:f>
                      <m:num>
                        <m:r>
                          <m:t xml:space="preserve">M</m:t>
                        </m:r>
                        <m:r>
                          <m:t xml:space="preserve">(</m:t>
                        </m:r>
                        <m:r>
                          <m:t xml:space="preserve">s</m:t>
                        </m:r>
                        <m:r>
                          <m:t xml:space="preserve">)</m:t>
                        </m:r>
                      </m:num>
                      <m:den>
                        <m:r>
                          <m:t xml:space="preserve">N</m:t>
                        </m:r>
                        <m:r>
                          <m:t xml:space="preserve">(</m:t>
                        </m:r>
                        <m:r>
                          <m:t xml:space="preserve">s</m:t>
                        </m:r>
                        <m:r>
                          <m:t xml:space="preserve">)</m:t>
                        </m:r>
                      </m:den>
                    </m:f>
                    <m:r>
                      <m:t xml:space="preserve">=</m:t>
                    </m:r>
                    <m:f>
                      <m:num>
                        <m:sSub>
                          <m:e>
                            <m:r>
                              <m:t xml:space="preserve">K</m:t>
                            </m:r>
                          </m:e>
                          <m:sub>
                            <m:r>
                              <m:t xml:space="preserve">g</m:t>
                            </m:r>
                          </m:sub>
                        </m:sSub>
                        <m:nary>
                          <m:naryPr>
                            <m:chr m:val="∏"/>
                          </m:naryPr>
                          <m:sub>
                            <m:r>
                              <m:t xml:space="preserve">i</m:t>
                            </m:r>
                            <m:r>
                              <m:t xml:space="preserve">=</m:t>
                            </m:r>
                            <m:r>
                              <m:t xml:space="preserve">1</m:t>
                            </m:r>
                          </m:sub>
                          <m:sup>
                            <m:r>
                              <m:t xml:space="preserve">m</m:t>
                            </m:r>
                          </m:sup>
                          <m:e>
                            <m:r>
                              <m:t xml:space="preserve">(</m:t>
                            </m:r>
                            <m:r>
                              <m:t xml:space="preserve">s</m:t>
                            </m:r>
                            <m:r>
                              <m:t xml:space="preserve">−</m:t>
                            </m:r>
                            <m:sSub>
                              <m:e>
                                <m:r>
                                  <m:t xml:space="preserve">z</m:t>
                                </m:r>
                              </m:e>
                              <m:sub>
                                <m:r>
                                  <m:t xml:space="preserve">i</m:t>
                                </m:r>
                              </m:sub>
                            </m:sSub>
                            <m:r>
                              <m:t xml:space="preserve">)</m:t>
                            </m:r>
                          </m:e>
                        </m:nary>
                      </m:num>
                      <m:den>
                        <m:nary>
                          <m:naryPr>
                            <m:chr m:val="∏"/>
                          </m:naryPr>
                          <m:sub>
                            <m:r>
                              <m:t xml:space="preserve">j</m:t>
                            </m:r>
                            <m:r>
                              <m:t xml:space="preserve">=</m:t>
                            </m:r>
                            <m:r>
                              <m:t xml:space="preserve">1</m:t>
                            </m:r>
                          </m:sub>
                          <m:sup>
                            <m:r>
                              <m:t xml:space="preserve">n</m:t>
                            </m:r>
                          </m:sup>
                          <m:e>
                            <m:r>
                              <m:t xml:space="preserve">(</m:t>
                            </m:r>
                            <m:r>
                              <m:t xml:space="preserve">s</m:t>
                            </m:r>
                            <m:r>
                              <m:t xml:space="preserve">−</m:t>
                            </m:r>
                            <m:sSub>
                              <m:e>
                                <m:r>
                                  <m:t xml:space="preserve">p</m:t>
                                </m:r>
                              </m:e>
                              <m:sub>
                                <m:r>
                                  <m:t xml:space="preserve">j</m:t>
                                </m:r>
                              </m:sub>
                            </m:sSub>
                            <m:r>
                              <m:t xml:space="preserve">)</m:t>
                            </m:r>
                          </m:e>
                        </m:nary>
                      </m:den>
                    </m:f>
                  </m:oMath>
                </a14:m>
              </a:p>
            </p:txBody>
          </p:sp>
        </mc:Choice>
        <mc:Fallback>
          <p:sp>
            <p:nvSpPr>
              <p:cNvPr id="410" name="Object 5"/>
              <p:cNvSpPr txBox="1"/>
              <p:nvPr/>
            </p:nvSpPr>
            <p:spPr>
              <a:xfrm>
                <a:off x="1576440" y="1604880"/>
                <a:ext cx="5427720" cy="1971720"/>
              </a:xfrm>
              <a:prstGeom prst="rect">
                <a:avLst/>
              </a:prstGeom>
              <a:blipFill>
                <a:blip r:embed="rId1"/>
                <a:stretch>
                  <a:fillRect/>
                </a:stretch>
              </a:blipFill>
            </p:spPr>
          </p:sp>
        </mc:Fallback>
      </mc:AlternateContent>
      <mc:AlternateContent>
        <mc:Choice xmlns:a14="http://schemas.microsoft.com/office/drawing/2010/main" Requires="a14">
          <p:sp>
            <p:nvSpPr>
              <p:cNvPr id="411" name="Object 6"/>
              <p:cNvSpPr txBox="1"/>
              <p:nvPr/>
            </p:nvSpPr>
            <p:spPr>
              <a:xfrm>
                <a:off x="1697040" y="4132440"/>
                <a:ext cx="4379760" cy="1001520"/>
              </a:xfrm>
              <a:prstGeom prst="rect">
                <a:avLst/>
              </a:prstGeom>
            </p:spPr>
            <p:txBody>
              <a:bodyPr/>
              <a:p>
                <a14:m>
                  <m:oMath xmlns:m="http://schemas.openxmlformats.org/officeDocument/2006/math">
                    <m:nary>
                      <m:naryPr>
                        <m:chr m:val="∏"/>
                      </m:naryPr>
                      <m:sub>
                        <m:r>
                          <m:t xml:space="preserve">j</m:t>
                        </m:r>
                        <m:r>
                          <m:t xml:space="preserve">=</m:t>
                        </m:r>
                        <m:r>
                          <m:t xml:space="preserve">1</m:t>
                        </m:r>
                      </m:sub>
                      <m:sup>
                        <m:r>
                          <m:t xml:space="preserve">n</m:t>
                        </m:r>
                      </m:sup>
                      <m:e>
                        <m:r>
                          <m:t xml:space="preserve">(</m:t>
                        </m:r>
                        <m:r>
                          <m:t xml:space="preserve">s</m:t>
                        </m:r>
                        <m:r>
                          <m:t xml:space="preserve">−</m:t>
                        </m:r>
                        <m:sSub>
                          <m:e>
                            <m:r>
                              <m:t xml:space="preserve">p</m:t>
                            </m:r>
                          </m:e>
                          <m:sub>
                            <m:r>
                              <m:t xml:space="preserve">j</m:t>
                            </m:r>
                          </m:sub>
                        </m:sSub>
                        <m:r>
                          <m:t xml:space="preserve">)</m:t>
                        </m:r>
                        <m:r>
                          <m:t xml:space="preserve">+</m:t>
                        </m:r>
                        <m:sSub>
                          <m:e>
                            <m:r>
                              <m:t xml:space="preserve">K</m:t>
                            </m:r>
                          </m:e>
                          <m:sub>
                            <m:r>
                              <m:t xml:space="preserve">g</m:t>
                            </m:r>
                          </m:sub>
                        </m:sSub>
                        <m:nary>
                          <m:naryPr>
                            <m:chr m:val="∏"/>
                          </m:naryPr>
                          <m:sub>
                            <m:r>
                              <m:t xml:space="preserve">i</m:t>
                            </m:r>
                            <m:r>
                              <m:t xml:space="preserve">=</m:t>
                            </m:r>
                            <m:r>
                              <m:t xml:space="preserve">1</m:t>
                            </m:r>
                          </m:sub>
                          <m:sup>
                            <m:r>
                              <m:t xml:space="preserve">m</m:t>
                            </m:r>
                          </m:sup>
                          <m:e>
                            <m:r>
                              <m:t xml:space="preserve">(</m:t>
                            </m:r>
                            <m:r>
                              <m:t xml:space="preserve">s</m:t>
                            </m:r>
                            <m:r>
                              <m:t xml:space="preserve">−</m:t>
                            </m:r>
                            <m:sSub>
                              <m:e>
                                <m:r>
                                  <m:t xml:space="preserve">z</m:t>
                                </m:r>
                              </m:e>
                              <m:sub>
                                <m:r>
                                  <m:t xml:space="preserve">i</m:t>
                                </m:r>
                              </m:sub>
                            </m:sSub>
                            <m:r>
                              <m:t xml:space="preserve">)</m:t>
                            </m:r>
                          </m:e>
                        </m:nary>
                      </m:e>
                    </m:nary>
                    <m:r>
                      <m:t xml:space="preserve">=</m:t>
                    </m:r>
                    <m:r>
                      <m:t xml:space="preserve">0</m:t>
                    </m:r>
                  </m:oMath>
                </a14:m>
              </a:p>
            </p:txBody>
          </p:sp>
        </mc:Choice>
        <mc:Fallback>
          <p:sp>
            <p:nvSpPr>
              <p:cNvPr id="411" name="Object 6"/>
              <p:cNvSpPr txBox="1"/>
              <p:nvPr/>
            </p:nvSpPr>
            <p:spPr>
              <a:xfrm>
                <a:off x="1697040" y="4132440"/>
                <a:ext cx="4379760" cy="1001520"/>
              </a:xfrm>
              <a:prstGeom prst="rect">
                <a:avLst/>
              </a:prstGeom>
              <a:blipFill>
                <a:blip r:embed="rId2"/>
                <a:stretch>
                  <a:fillRect/>
                </a:stretch>
              </a:blipFill>
            </p:spPr>
          </p:sp>
        </mc:Fallback>
      </mc:AlternateContent>
      <p:sp>
        <p:nvSpPr>
          <p:cNvPr id="412" name="Text Box 7"/>
          <p:cNvSpPr/>
          <p:nvPr/>
        </p:nvSpPr>
        <p:spPr>
          <a:xfrm>
            <a:off x="1682640" y="3340080"/>
            <a:ext cx="2625840" cy="627480"/>
          </a:xfrm>
          <a:prstGeom prst="rect">
            <a:avLst/>
          </a:prstGeom>
          <a:noFill/>
          <a:ln w="0">
            <a:noFill/>
          </a:ln>
        </p:spPr>
        <p:style>
          <a:lnRef idx="0"/>
          <a:fillRef idx="0"/>
          <a:effectRef idx="0"/>
          <a:fontRef idx="minor"/>
        </p:style>
        <p:txBody>
          <a:bodyPr lIns="90000" tIns="46800" rIns="90000" bIns="46800" anchor="t">
            <a:spAutoFit/>
          </a:bodyPr>
          <a:p>
            <a:pPr algn="ct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1 + </a:t>
            </a:r>
            <a:r>
              <a:rPr lang="en-US" sz="2800" b="1" i="1" u="none" strike="noStrike">
                <a:solidFill>
                  <a:srgbClr val="000000"/>
                </a:solidFill>
                <a:effectLst/>
                <a:uFillTx/>
                <a:latin typeface="Times New Roman"/>
              </a:rPr>
              <a:t>G</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H</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s</a:t>
            </a:r>
            <a:r>
              <a:rPr lang="en-US" sz="2800" b="1" u="none" strike="noStrike">
                <a:solidFill>
                  <a:srgbClr val="000000"/>
                </a:solidFill>
                <a:effectLst/>
                <a:uFillTx/>
                <a:latin typeface="Times New Roman"/>
              </a:rPr>
              <a:t>) = 0</a:t>
            </a:r>
            <a:endParaRPr lang="en-US" sz="2800" b="1" u="none" strike="noStrike">
              <a:solidFill>
                <a:srgbClr val="000000"/>
              </a:solidFill>
              <a:effectLst/>
              <a:uFillTx/>
              <a:latin typeface="Times New Roman"/>
            </a:endParaRPr>
          </a:p>
        </p:txBody>
      </p:sp>
      <p:sp>
        <p:nvSpPr>
          <p:cNvPr id="413" name="Rectangle 8"/>
          <p:cNvSpPr/>
          <p:nvPr/>
        </p:nvSpPr>
        <p:spPr>
          <a:xfrm>
            <a:off x="444600" y="1824120"/>
            <a:ext cx="1245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证明：</a:t>
            </a:r>
            <a:endParaRPr lang="en-US" sz="2800" b="1" u="none" strike="noStrike">
              <a:solidFill>
                <a:srgbClr val="000000"/>
              </a:solidFill>
              <a:effectLst/>
              <a:uFillTx/>
              <a:latin typeface="Times New Roman"/>
            </a:endParaRPr>
          </a:p>
        </p:txBody>
      </p:sp>
      <p:sp>
        <p:nvSpPr>
          <p:cNvPr id="414" name="Text Box 9"/>
          <p:cNvSpPr/>
          <p:nvPr/>
        </p:nvSpPr>
        <p:spPr>
          <a:xfrm>
            <a:off x="244440" y="5346720"/>
            <a:ext cx="8899560" cy="1210320"/>
          </a:xfrm>
          <a:prstGeom prst="rect">
            <a:avLst/>
          </a:prstGeom>
          <a:noFill/>
          <a:ln w="0">
            <a:noFill/>
          </a:ln>
        </p:spPr>
        <p:style>
          <a:lnRef idx="0"/>
          <a:fillRef idx="0"/>
          <a:effectRef idx="0"/>
          <a:fontRef idx="minor"/>
        </p:style>
        <p:txBody>
          <a:bodyPr lIns="90000" tIns="46800" rIns="90000" bIns="46800" anchor="t">
            <a:spAutoFit/>
          </a:bodyPr>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当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 </a:t>
            </a:r>
            <a:r>
              <a:rPr lang="zh-CN" sz="2800" b="1" u="none" strike="noStrike">
                <a:solidFill>
                  <a:srgbClr val="000000"/>
                </a:solidFill>
                <a:effectLst/>
                <a:uFillTx/>
                <a:latin typeface="Times New Roman"/>
              </a:rPr>
              <a:t>时，有</a:t>
            </a:r>
            <a:r>
              <a:rPr lang="zh-CN" sz="2800" b="1" i="1" u="none" strike="noStrike">
                <a:solidFill>
                  <a:srgbClr val="000000"/>
                </a:solidFill>
                <a:effectLst/>
                <a:uFillTx/>
                <a:latin typeface="Times New Roman"/>
              </a:rPr>
              <a:t>          </a:t>
            </a:r>
            <a:r>
              <a:rPr lang="en-US" sz="2800" b="1" i="1" u="none" strike="noStrike">
                <a:solidFill>
                  <a:srgbClr val="000000"/>
                </a:solidFill>
                <a:effectLst/>
                <a:uFillTx/>
                <a:latin typeface="Times New Roman"/>
              </a:rPr>
              <a:t>s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p</a:t>
            </a:r>
            <a:r>
              <a:rPr lang="en-US" sz="2800" b="1" i="1" u="none" strike="noStrike" baseline="-25000">
                <a:solidFill>
                  <a:srgbClr val="000000"/>
                </a:solidFill>
                <a:effectLst/>
                <a:uFillTx/>
                <a:latin typeface="Times New Roman"/>
              </a:rPr>
              <a:t>j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j </a:t>
            </a:r>
            <a:r>
              <a:rPr lang="en-US" sz="2800" b="1" u="none" strike="noStrike">
                <a:solidFill>
                  <a:srgbClr val="000000"/>
                </a:solidFill>
                <a:effectLst/>
                <a:uFillTx/>
                <a:latin typeface="Times New Roman"/>
              </a:rPr>
              <a:t>=1, 2, … , </a:t>
            </a:r>
            <a:r>
              <a:rPr lang="en-US" sz="2800" b="1" i="1" u="none" strike="noStrike">
                <a:solidFill>
                  <a:srgbClr val="000000"/>
                </a:solidFill>
                <a:effectLst/>
                <a:uFillTx/>
                <a:latin typeface="Times New Roman"/>
              </a:rPr>
              <a:t>n</a:t>
            </a:r>
            <a:r>
              <a:rPr lang="en-US"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上式说明</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a:t>
            </a:r>
            <a:r>
              <a:rPr lang="zh-CN" sz="2800" b="1" u="none" strike="noStrike">
                <a:solidFill>
                  <a:srgbClr val="000000"/>
                </a:solidFill>
                <a:effectLst/>
                <a:uFillTx/>
                <a:latin typeface="Times New Roman"/>
              </a:rPr>
              <a:t>时，闭环特征方程的根就是开环极点。</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703" dur="indefinite" restart="never" nodeType="tmRoot">
          <p:childTnLst>
            <p:seq>
              <p:cTn id="704" dur="indefinite" nodeType="mainSeq">
                <p:childTnLst>
                  <p:par>
                    <p:cTn id="705" fill="hold" nodeType="clickEffect">
                      <p:stCondLst>
                        <p:cond delay="indefinite"/>
                      </p:stCondLst>
                      <p:childTnLst>
                        <p:par>
                          <p:cTn id="706" fill="hold" nodeType="withEffect">
                            <p:stCondLst>
                              <p:cond delay="0"/>
                            </p:stCondLst>
                            <p:childTnLst>
                              <p:par>
                                <p:cTn id="707" presetID="26" presetClass="entr" fill="hold" nodeType="clickEffect">
                                  <p:stCondLst>
                                    <p:cond delay="0"/>
                                  </p:stCondLst>
                                  <p:childTnLst>
                                    <p:set>
                                      <p:cBhvr>
                                        <p:cTn id="708" dur="1" fill="hold">
                                          <p:stCondLst>
                                            <p:cond delay="0"/>
                                          </p:stCondLst>
                                        </p:cTn>
                                        <p:tgtEl>
                                          <p:spTgt spid="409">
                                            <p:txEl>
                                              <p:pRg st="0" end="0"/>
                                            </p:txEl>
                                          </p:spTgt>
                                        </p:tgtEl>
                                        <p:attrNameLst>
                                          <p:attrName>style.visibility</p:attrName>
                                        </p:attrNameLst>
                                      </p:cBhvr>
                                      <p:to>
                                        <p:strVal val="visible"/>
                                      </p:to>
                                    </p:set>
                                    <p:animEffect transition="in" filter="wipe(down)">
                                      <p:cBhvr additive="repl">
                                        <p:cTn id="709" dur="580">
                                          <p:stCondLst>
                                            <p:cond delay="0"/>
                                          </p:stCondLst>
                                        </p:cTn>
                                        <p:tgtEl>
                                          <p:spTgt spid="409">
                                            <p:txEl>
                                              <p:pRg st="0" end="0"/>
                                            </p:txEl>
                                          </p:spTgt>
                                        </p:tgtEl>
                                      </p:cBhvr>
                                    </p:animEffect>
                                    <p:anim calcmode="lin" valueType="num">
                                      <p:cBhvr additive="repl">
                                        <p:cTn id="710" dur="1822">
                                          <p:stCondLst>
                                            <p:cond delay="0"/>
                                          </p:stCondLst>
                                        </p:cTn>
                                        <p:tgtEl>
                                          <p:spTgt spid="409">
                                            <p:txEl>
                                              <p:pRg st="0" end="0"/>
                                            </p:txEl>
                                          </p:spTgt>
                                        </p:tgtEl>
                                        <p:attrNameLst>
                                          <p:attrName>ppt_x</p:attrName>
                                        </p:attrNameLst>
                                      </p:cBhvr>
                                      <p:tavLst>
                                        <p:tav>
                                          <p:val>
                                            <p:strVal val="#ppt_x-0.25"/>
                                          </p:val>
                                        </p:tav>
                                        <p:tav tm="100000">
                                          <p:val>
                                            <p:strVal val="#ppt_x"/>
                                          </p:val>
                                        </p:tav>
                                      </p:tavLst>
                                    </p:anim>
                                    <p:anim calcmode="lin" valueType="num">
                                      <p:cBhvr additive="repl">
                                        <p:cTn id="711" dur="664">
                                          <p:stCondLst>
                                            <p:cond delay="0"/>
                                          </p:stCondLst>
                                        </p:cTn>
                                        <p:tgtEl>
                                          <p:spTgt spid="409">
                                            <p:txEl>
                                              <p:pRg st="0" end="0"/>
                                            </p:txEl>
                                          </p:spTgt>
                                        </p:tgtEl>
                                        <p:attrNameLst>
                                          <p:attrName>ppt_y</p:attrName>
                                        </p:attrNameLst>
                                      </p:cBhvr>
                                      <p:tavLst>
                                        <p:tav fmla="y-sin(pi*$)/3">
                                          <p:val>
                                            <p:fltVal val="0.5"/>
                                          </p:val>
                                        </p:tav>
                                        <p:tav fmla="y-sin(pi*$)/3" tm="100000">
                                          <p:val>
                                            <p:fltVal val="1"/>
                                          </p:val>
                                        </p:tav>
                                      </p:tavLst>
                                    </p:anim>
                                    <p:anim calcmode="lin" valueType="num">
                                      <p:cBhvr additive="repl">
                                        <p:cTn id="712" dur="664">
                                          <p:stCondLst>
                                            <p:cond delay="664"/>
                                          </p:stCondLst>
                                        </p:cTn>
                                        <p:tgtEl>
                                          <p:spTgt spid="409">
                                            <p:txEl>
                                              <p:pRg st="0" end="0"/>
                                            </p:txEl>
                                          </p:spTgt>
                                        </p:tgtEl>
                                        <p:attrNameLst>
                                          <p:attrName>ppt_y</p:attrName>
                                        </p:attrNameLst>
                                      </p:cBhvr>
                                      <p:tavLst>
                                        <p:tav fmla="y-sin(pi*$)/9">
                                          <p:val>
                                            <p:fltVal val="0"/>
                                          </p:val>
                                        </p:tav>
                                        <p:tav fmla="y-sin(pi*$)/9" tm="100000">
                                          <p:val>
                                            <p:fltVal val="1"/>
                                          </p:val>
                                        </p:tav>
                                      </p:tavLst>
                                    </p:anim>
                                    <p:anim calcmode="lin" valueType="num">
                                      <p:cBhvr additive="repl">
                                        <p:cTn id="713" dur="332">
                                          <p:stCondLst>
                                            <p:cond delay="1324"/>
                                          </p:stCondLst>
                                        </p:cTn>
                                        <p:tgtEl>
                                          <p:spTgt spid="409">
                                            <p:txEl>
                                              <p:pRg st="0" end="0"/>
                                            </p:txEl>
                                          </p:spTgt>
                                        </p:tgtEl>
                                        <p:attrNameLst>
                                          <p:attrName>ppt_y</p:attrName>
                                        </p:attrNameLst>
                                      </p:cBhvr>
                                      <p:tavLst>
                                        <p:tav fmla="y-sin(pi*$)/27">
                                          <p:val>
                                            <p:fltVal val="0"/>
                                          </p:val>
                                        </p:tav>
                                        <p:tav fmla="y-sin(pi*$)/27" tm="100000">
                                          <p:val>
                                            <p:fltVal val="1"/>
                                          </p:val>
                                        </p:tav>
                                      </p:tavLst>
                                    </p:anim>
                                    <p:anim calcmode="lin" valueType="num">
                                      <p:cBhvr additive="repl">
                                        <p:cTn id="714" dur="164">
                                          <p:stCondLst>
                                            <p:cond delay="1656"/>
                                          </p:stCondLst>
                                        </p:cTn>
                                        <p:tgtEl>
                                          <p:spTgt spid="409">
                                            <p:txEl>
                                              <p:pRg st="0" end="0"/>
                                            </p:txEl>
                                          </p:spTgt>
                                        </p:tgtEl>
                                        <p:attrNameLst>
                                          <p:attrName>ppt_y</p:attrName>
                                        </p:attrNameLst>
                                      </p:cBhvr>
                                      <p:tavLst>
                                        <p:tav fmla="y-sin(pi*$)/81">
                                          <p:val>
                                            <p:fltVal val="0"/>
                                          </p:val>
                                        </p:tav>
                                        <p:tav fmla="y-sin(pi*$)/81" tm="100000">
                                          <p:val>
                                            <p:fltVal val="1"/>
                                          </p:val>
                                        </p:tav>
                                      </p:tavLst>
                                    </p:anim>
                                    <p:animScale>
                                      <p:cBhvr>
                                        <p:cTn id="715" dur="26" fill="hold">
                                          <p:stCondLst>
                                            <p:cond delay="650"/>
                                          </p:stCondLst>
                                        </p:cTn>
                                        <p:tgtEl>
                                          <p:spTgt spid="409">
                                            <p:txEl>
                                              <p:pRg st="0" end="0"/>
                                            </p:txEl>
                                          </p:spTgt>
                                        </p:tgtEl>
                                      </p:cBhvr>
                                      <p:to x="100000" y="60000"/>
                                    </p:animScale>
                                    <p:animScale>
                                      <p:cBhvr>
                                        <p:cTn id="716" dur="166" fill="hold">
                                          <p:stCondLst>
                                            <p:cond delay="676"/>
                                          </p:stCondLst>
                                        </p:cTn>
                                        <p:tgtEl>
                                          <p:spTgt spid="409">
                                            <p:txEl>
                                              <p:pRg st="0" end="0"/>
                                            </p:txEl>
                                          </p:spTgt>
                                        </p:tgtEl>
                                      </p:cBhvr>
                                      <p:to x="100000" y="100000"/>
                                    </p:animScale>
                                    <p:animScale>
                                      <p:cBhvr>
                                        <p:cTn id="717" dur="26" fill="hold">
                                          <p:stCondLst>
                                            <p:cond delay="1312"/>
                                          </p:stCondLst>
                                        </p:cTn>
                                        <p:tgtEl>
                                          <p:spTgt spid="409">
                                            <p:txEl>
                                              <p:pRg st="0" end="0"/>
                                            </p:txEl>
                                          </p:spTgt>
                                        </p:tgtEl>
                                      </p:cBhvr>
                                      <p:to x="100000" y="80000"/>
                                    </p:animScale>
                                    <p:animScale>
                                      <p:cBhvr>
                                        <p:cTn id="718" dur="166" fill="hold">
                                          <p:stCondLst>
                                            <p:cond delay="1338"/>
                                          </p:stCondLst>
                                        </p:cTn>
                                        <p:tgtEl>
                                          <p:spTgt spid="409">
                                            <p:txEl>
                                              <p:pRg st="0" end="0"/>
                                            </p:txEl>
                                          </p:spTgt>
                                        </p:tgtEl>
                                      </p:cBhvr>
                                      <p:to x="100000" y="100000"/>
                                    </p:animScale>
                                    <p:animScale>
                                      <p:cBhvr>
                                        <p:cTn id="719" dur="26" fill="hold">
                                          <p:stCondLst>
                                            <p:cond delay="1642"/>
                                          </p:stCondLst>
                                        </p:cTn>
                                        <p:tgtEl>
                                          <p:spTgt spid="409">
                                            <p:txEl>
                                              <p:pRg st="0" end="0"/>
                                            </p:txEl>
                                          </p:spTgt>
                                        </p:tgtEl>
                                      </p:cBhvr>
                                      <p:to x="100000" y="90000"/>
                                    </p:animScale>
                                    <p:animScale>
                                      <p:cBhvr>
                                        <p:cTn id="720" dur="166" fill="hold">
                                          <p:stCondLst>
                                            <p:cond delay="1668"/>
                                          </p:stCondLst>
                                        </p:cTn>
                                        <p:tgtEl>
                                          <p:spTgt spid="409">
                                            <p:txEl>
                                              <p:pRg st="0" end="0"/>
                                            </p:txEl>
                                          </p:spTgt>
                                        </p:tgtEl>
                                      </p:cBhvr>
                                      <p:to x="100000" y="100000"/>
                                    </p:animScale>
                                    <p:animScale>
                                      <p:cBhvr>
                                        <p:cTn id="721" dur="26" fill="hold">
                                          <p:stCondLst>
                                            <p:cond delay="1808"/>
                                          </p:stCondLst>
                                        </p:cTn>
                                        <p:tgtEl>
                                          <p:spTgt spid="409">
                                            <p:txEl>
                                              <p:pRg st="0" end="0"/>
                                            </p:txEl>
                                          </p:spTgt>
                                        </p:tgtEl>
                                      </p:cBhvr>
                                      <p:to x="100000" y="95000"/>
                                    </p:animScale>
                                    <p:animScale>
                                      <p:cBhvr>
                                        <p:cTn id="722" dur="166" fill="hold">
                                          <p:stCondLst>
                                            <p:cond delay="1834"/>
                                          </p:stCondLst>
                                        </p:cTn>
                                        <p:tgtEl>
                                          <p:spTgt spid="409">
                                            <p:txEl>
                                              <p:pRg st="0" end="0"/>
                                            </p:txEl>
                                          </p:spTgt>
                                        </p:tgtEl>
                                      </p:cBhvr>
                                      <p:to x="100000" y="100000"/>
                                    </p:animScale>
                                  </p:childTnLst>
                                </p:cTn>
                              </p:par>
                            </p:childTnLst>
                          </p:cTn>
                        </p:par>
                      </p:childTnLst>
                    </p:cTn>
                  </p:par>
                  <p:par>
                    <p:cTn id="723" fill="hold" nodeType="clickEffect">
                      <p:stCondLst>
                        <p:cond delay="indefinite"/>
                      </p:stCondLst>
                      <p:childTnLst>
                        <p:par>
                          <p:cTn id="724" fill="hold" nodeType="withEffect">
                            <p:stCondLst>
                              <p:cond delay="0"/>
                            </p:stCondLst>
                            <p:childTnLst>
                              <p:par>
                                <p:cTn id="725" presetID="27" presetClass="entr" fill="hold" nodeType="clickEffect">
                                  <p:stCondLst>
                                    <p:cond delay="0"/>
                                  </p:stCondLst>
                                  <p:iterate type="lt">
                                    <p:tmAbs val="40"/>
                                  </p:iterate>
                                  <p:childTnLst>
                                    <p:set>
                                      <p:cBhvr>
                                        <p:cTn id="726" dur="1" fill="hold">
                                          <p:stCondLst>
                                            <p:cond delay="0"/>
                                          </p:stCondLst>
                                        </p:cTn>
                                        <p:tgtEl>
                                          <p:spTgt spid="409">
                                            <p:txEl>
                                              <p:pRg st="1" end="1"/>
                                            </p:txEl>
                                          </p:spTgt>
                                        </p:tgtEl>
                                        <p:attrNameLst>
                                          <p:attrName>style.visibility</p:attrName>
                                        </p:attrNameLst>
                                      </p:cBhvr>
                                      <p:to>
                                        <p:strVal val="visible"/>
                                      </p:to>
                                    </p:set>
                                    <p:anim calcmode="discrete" valueType="clr">
                                      <p:cBhvr additive="repl">
                                        <p:cTn id="727" dur="80"/>
                                        <p:tgtEl>
                                          <p:spTgt spid="409">
                                            <p:txEl>
                                              <p:pRg st="1" end="1"/>
                                            </p:txEl>
                                          </p:spTgt>
                                        </p:tgtEl>
                                        <p:attrNameLst>
                                          <p:attrName>style.color</p:attrName>
                                        </p:attrNameLst>
                                      </p:cBhvr>
                                      <p:tavLst>
                                        <p:tav>
                                          <p:val>
                                            <p:strVal val="rgb(-52,51,51)"/>
                                          </p:val>
                                        </p:tav>
                                        <p:tav tm="50000">
                                          <p:val>
                                            <p:strVal val="rgb(-1,-52,-52)"/>
                                          </p:val>
                                        </p:tav>
                                      </p:tavLst>
                                    </p:anim>
                                    <p:anim calcmode="discrete" valueType="clr">
                                      <p:cBhvr additive="repl">
                                        <p:cTn id="728" dur="80"/>
                                        <p:tgtEl>
                                          <p:spTgt spid="409">
                                            <p:txEl>
                                              <p:pRg st="1" end="1"/>
                                            </p:txEl>
                                          </p:spTgt>
                                        </p:tgtEl>
                                        <p:attrNameLst>
                                          <p:attrName>fillcolor</p:attrName>
                                        </p:attrNameLst>
                                      </p:cBhvr>
                                      <p:tavLst>
                                        <p:tav>
                                          <p:val>
                                            <p:strVal val="rgb(-52,51,51)"/>
                                          </p:val>
                                        </p:tav>
                                        <p:tav tm="50000">
                                          <p:val>
                                            <p:strVal val="rgb(-1,-52,-52)"/>
                                          </p:val>
                                        </p:tav>
                                      </p:tavLst>
                                    </p:anim>
                                    <p:set>
                                      <p:cBhvr>
                                        <p:cTn id="729" dur="80"/>
                                        <p:tgtEl>
                                          <p:spTgt spid="409">
                                            <p:txEl>
                                              <p:pRg st="1" end="1"/>
                                            </p:txEl>
                                          </p:spTgt>
                                        </p:tgtEl>
                                        <p:attrNameLst>
                                          <p:attrName>fill.type</p:attrName>
                                        </p:attrNameLst>
                                      </p:cBhvr>
                                      <p:to>
                                        <p:strVal val="solid"/>
                                      </p:to>
                                    </p:set>
                                  </p:childTnLst>
                                </p:cTn>
                              </p:par>
                            </p:childTnLst>
                          </p:cTn>
                        </p:par>
                      </p:childTnLst>
                    </p:cTn>
                  </p:par>
                  <p:par>
                    <p:cTn id="730" fill="hold" nodeType="clickEffect">
                      <p:stCondLst>
                        <p:cond delay="indefinite"/>
                      </p:stCondLst>
                      <p:childTnLst>
                        <p:par>
                          <p:cTn id="731" fill="hold" nodeType="withEffect">
                            <p:stCondLst>
                              <p:cond delay="0"/>
                            </p:stCondLst>
                            <p:childTnLst>
                              <p:par>
                                <p:cTn id="732" presetID="27" presetClass="entr" fill="hold" nodeType="clickEffect">
                                  <p:stCondLst>
                                    <p:cond delay="0"/>
                                  </p:stCondLst>
                                  <p:iterate type="lt">
                                    <p:tmAbs val="40"/>
                                  </p:iterate>
                                  <p:childTnLst>
                                    <p:set>
                                      <p:cBhvr>
                                        <p:cTn id="733" dur="1" fill="hold">
                                          <p:stCondLst>
                                            <p:cond delay="0"/>
                                          </p:stCondLst>
                                        </p:cTn>
                                        <p:tgtEl>
                                          <p:spTgt spid="409">
                                            <p:txEl>
                                              <p:pRg st="2" end="2"/>
                                            </p:txEl>
                                          </p:spTgt>
                                        </p:tgtEl>
                                        <p:attrNameLst>
                                          <p:attrName>style.visibility</p:attrName>
                                        </p:attrNameLst>
                                      </p:cBhvr>
                                      <p:to>
                                        <p:strVal val="visible"/>
                                      </p:to>
                                    </p:set>
                                    <p:anim calcmode="discrete" valueType="clr">
                                      <p:cBhvr additive="repl">
                                        <p:cTn id="734" dur="80"/>
                                        <p:tgtEl>
                                          <p:spTgt spid="409">
                                            <p:txEl>
                                              <p:pRg st="2" end="2"/>
                                            </p:txEl>
                                          </p:spTgt>
                                        </p:tgtEl>
                                        <p:attrNameLst>
                                          <p:attrName>style.color</p:attrName>
                                        </p:attrNameLst>
                                      </p:cBhvr>
                                      <p:tavLst>
                                        <p:tav>
                                          <p:val>
                                            <p:strVal val="rgb(-52,51,51)"/>
                                          </p:val>
                                        </p:tav>
                                        <p:tav tm="50000">
                                          <p:val>
                                            <p:strVal val="rgb(-1,-52,-52)"/>
                                          </p:val>
                                        </p:tav>
                                      </p:tavLst>
                                    </p:anim>
                                    <p:anim calcmode="discrete" valueType="clr">
                                      <p:cBhvr additive="repl">
                                        <p:cTn id="735" dur="80"/>
                                        <p:tgtEl>
                                          <p:spTgt spid="409">
                                            <p:txEl>
                                              <p:pRg st="2" end="2"/>
                                            </p:txEl>
                                          </p:spTgt>
                                        </p:tgtEl>
                                        <p:attrNameLst>
                                          <p:attrName>fillcolor</p:attrName>
                                        </p:attrNameLst>
                                      </p:cBhvr>
                                      <p:tavLst>
                                        <p:tav>
                                          <p:val>
                                            <p:strVal val="rgb(-52,51,51)"/>
                                          </p:val>
                                        </p:tav>
                                        <p:tav tm="50000">
                                          <p:val>
                                            <p:strVal val="rgb(-1,-52,-52)"/>
                                          </p:val>
                                        </p:tav>
                                      </p:tavLst>
                                    </p:anim>
                                    <p:set>
                                      <p:cBhvr>
                                        <p:cTn id="736" dur="80"/>
                                        <p:tgtEl>
                                          <p:spTgt spid="409">
                                            <p:txEl>
                                              <p:pRg st="2" end="2"/>
                                            </p:txEl>
                                          </p:spTgt>
                                        </p:tgtEl>
                                        <p:attrNameLst>
                                          <p:attrName>fill.type</p:attrName>
                                        </p:attrNameLst>
                                      </p:cBhvr>
                                      <p:to>
                                        <p:strVal val="solid"/>
                                      </p:to>
                                    </p:set>
                                  </p:childTnLst>
                                </p:cTn>
                              </p:par>
                            </p:childTnLst>
                          </p:cTn>
                        </p:par>
                      </p:childTnLst>
                    </p:cTn>
                  </p:par>
                  <p:par>
                    <p:cTn id="737" fill="hold" nodeType="clickEffect">
                      <p:stCondLst>
                        <p:cond delay="indefinite"/>
                      </p:stCondLst>
                      <p:childTnLst>
                        <p:par>
                          <p:cTn id="738" fill="hold" nodeType="withEffect">
                            <p:stCondLst>
                              <p:cond delay="0"/>
                            </p:stCondLst>
                            <p:childTnLst>
                              <p:par>
                                <p:cTn id="739" presetID="12" presetClass="entr" fill="hold" nodeType="clickEffect" presetSubtype="4">
                                  <p:stCondLst>
                                    <p:cond delay="0"/>
                                  </p:stCondLst>
                                  <p:childTnLst>
                                    <p:set>
                                      <p:cBhvr>
                                        <p:cTn id="740" dur="1" fill="hold">
                                          <p:stCondLst>
                                            <p:cond delay="0"/>
                                          </p:stCondLst>
                                        </p:cTn>
                                        <p:tgtEl>
                                          <p:spTgt spid="413"/>
                                        </p:tgtEl>
                                        <p:attrNameLst>
                                          <p:attrName>style.visibility</p:attrName>
                                        </p:attrNameLst>
                                      </p:cBhvr>
                                      <p:to>
                                        <p:strVal val="visible"/>
                                      </p:to>
                                    </p:set>
                                    <p:animEffect transition="in" filter="slide(fromBottom)">
                                      <p:cBhvr additive="repl">
                                        <p:cTn id="741" dur="500"/>
                                        <p:tgtEl>
                                          <p:spTgt spid="413"/>
                                        </p:tgtEl>
                                      </p:cBhvr>
                                    </p:animEffect>
                                  </p:childTnLst>
                                </p:cTn>
                              </p:par>
                            </p:childTnLst>
                          </p:cTn>
                        </p:par>
                      </p:childTnLst>
                    </p:cTn>
                  </p:par>
                  <p:par>
                    <p:cTn id="742" fill="hold" nodeType="clickEffect">
                      <p:stCondLst>
                        <p:cond delay="indefinite"/>
                      </p:stCondLst>
                      <p:childTnLst>
                        <p:par>
                          <p:cTn id="743" fill="hold" nodeType="withEffect">
                            <p:stCondLst>
                              <p:cond delay="0"/>
                            </p:stCondLst>
                            <p:childTnLst>
                              <p:par>
                                <p:cTn id="744" presetID="9" presetClass="entr" fill="hold" nodeType="clickEffect">
                                  <p:stCondLst>
                                    <p:cond delay="0"/>
                                  </p:stCondLst>
                                  <p:childTnLst>
                                    <p:set>
                                      <p:cBhvr>
                                        <p:cTn id="745" dur="1" fill="hold">
                                          <p:stCondLst>
                                            <p:cond delay="0"/>
                                          </p:stCondLst>
                                        </p:cTn>
                                        <p:tgtEl>
                                          <p:spTgt spid="410"/>
                                        </p:tgtEl>
                                        <p:attrNameLst>
                                          <p:attrName>style.visibility</p:attrName>
                                        </p:attrNameLst>
                                      </p:cBhvr>
                                      <p:to>
                                        <p:strVal val="visible"/>
                                      </p:to>
                                    </p:set>
                                    <p:animEffect transition="in" filter="dissolve">
                                      <p:cBhvr additive="repl">
                                        <p:cTn id="746" dur="500"/>
                                        <p:tgtEl>
                                          <p:spTgt spid="410"/>
                                        </p:tgtEl>
                                      </p:cBhvr>
                                    </p:animEffect>
                                  </p:childTnLst>
                                </p:cTn>
                              </p:par>
                            </p:childTnLst>
                          </p:cTn>
                        </p:par>
                      </p:childTnLst>
                    </p:cTn>
                  </p:par>
                  <p:par>
                    <p:cTn id="747" fill="hold" nodeType="clickEffect">
                      <p:stCondLst>
                        <p:cond delay="indefinite"/>
                      </p:stCondLst>
                      <p:childTnLst>
                        <p:par>
                          <p:cTn id="748" fill="hold" nodeType="withEffect">
                            <p:stCondLst>
                              <p:cond delay="0"/>
                            </p:stCondLst>
                            <p:childTnLst>
                              <p:par>
                                <p:cTn id="749" presetID="9" presetClass="entr" fill="hold" nodeType="clickEffect">
                                  <p:stCondLst>
                                    <p:cond delay="0"/>
                                  </p:stCondLst>
                                  <p:childTnLst>
                                    <p:set>
                                      <p:cBhvr>
                                        <p:cTn id="750" dur="1" fill="hold">
                                          <p:stCondLst>
                                            <p:cond delay="0"/>
                                          </p:stCondLst>
                                        </p:cTn>
                                        <p:tgtEl>
                                          <p:spTgt spid="412"/>
                                        </p:tgtEl>
                                        <p:attrNameLst>
                                          <p:attrName>style.visibility</p:attrName>
                                        </p:attrNameLst>
                                      </p:cBhvr>
                                      <p:to>
                                        <p:strVal val="visible"/>
                                      </p:to>
                                    </p:set>
                                    <p:animEffect transition="in" filter="dissolve">
                                      <p:cBhvr additive="repl">
                                        <p:cTn id="751" dur="500"/>
                                        <p:tgtEl>
                                          <p:spTgt spid="412"/>
                                        </p:tgtEl>
                                      </p:cBhvr>
                                    </p:animEffect>
                                  </p:childTnLst>
                                </p:cTn>
                              </p:par>
                            </p:childTnLst>
                          </p:cTn>
                        </p:par>
                      </p:childTnLst>
                    </p:cTn>
                  </p:par>
                  <p:par>
                    <p:cTn id="752" fill="hold" nodeType="clickEffect">
                      <p:stCondLst>
                        <p:cond delay="indefinite"/>
                      </p:stCondLst>
                      <p:childTnLst>
                        <p:par>
                          <p:cTn id="753" fill="hold" nodeType="withEffect">
                            <p:stCondLst>
                              <p:cond delay="0"/>
                            </p:stCondLst>
                            <p:childTnLst>
                              <p:par>
                                <p:cTn id="754" presetID="9" presetClass="entr" fill="hold" nodeType="clickEffect">
                                  <p:stCondLst>
                                    <p:cond delay="0"/>
                                  </p:stCondLst>
                                  <p:childTnLst>
                                    <p:set>
                                      <p:cBhvr>
                                        <p:cTn id="755" dur="1" fill="hold">
                                          <p:stCondLst>
                                            <p:cond delay="0"/>
                                          </p:stCondLst>
                                        </p:cTn>
                                        <p:tgtEl>
                                          <p:spTgt spid="411"/>
                                        </p:tgtEl>
                                        <p:attrNameLst>
                                          <p:attrName>style.visibility</p:attrName>
                                        </p:attrNameLst>
                                      </p:cBhvr>
                                      <p:to>
                                        <p:strVal val="visible"/>
                                      </p:to>
                                    </p:set>
                                    <p:animEffect transition="in" filter="dissolve">
                                      <p:cBhvr additive="repl">
                                        <p:cTn id="756" dur="500"/>
                                        <p:tgtEl>
                                          <p:spTgt spid="411"/>
                                        </p:tgtEl>
                                      </p:cBhvr>
                                    </p:animEffect>
                                  </p:childTnLst>
                                </p:cTn>
                              </p:par>
                            </p:childTnLst>
                          </p:cTn>
                        </p:par>
                      </p:childTnLst>
                    </p:cTn>
                  </p:par>
                  <p:par>
                    <p:cTn id="757" fill="hold" nodeType="clickEffect">
                      <p:stCondLst>
                        <p:cond delay="indefinite"/>
                      </p:stCondLst>
                      <p:childTnLst>
                        <p:par>
                          <p:cTn id="758" fill="hold" nodeType="withEffect">
                            <p:stCondLst>
                              <p:cond delay="0"/>
                            </p:stCondLst>
                            <p:childTnLst>
                              <p:par>
                                <p:cTn id="759" presetID="9" presetClass="entr" fill="hold" nodeType="clickEffect">
                                  <p:stCondLst>
                                    <p:cond delay="0"/>
                                  </p:stCondLst>
                                  <p:childTnLst>
                                    <p:set>
                                      <p:cBhvr>
                                        <p:cTn id="760" dur="1" fill="hold">
                                          <p:stCondLst>
                                            <p:cond delay="0"/>
                                          </p:stCondLst>
                                        </p:cTn>
                                        <p:tgtEl>
                                          <p:spTgt spid="414">
                                            <p:txEl>
                                              <p:pRg st="0" end="0"/>
                                            </p:txEl>
                                          </p:spTgt>
                                        </p:tgtEl>
                                        <p:attrNameLst>
                                          <p:attrName>style.visibility</p:attrName>
                                        </p:attrNameLst>
                                      </p:cBhvr>
                                      <p:to>
                                        <p:strVal val="visible"/>
                                      </p:to>
                                    </p:set>
                                    <p:animEffect transition="in" filter="dissolve">
                                      <p:cBhvr additive="repl">
                                        <p:cTn id="761" dur="500"/>
                                        <p:tgtEl>
                                          <p:spTgt spid="414">
                                            <p:txEl>
                                              <p:pRg st="0" end="0"/>
                                            </p:txEl>
                                          </p:spTgt>
                                        </p:tgtEl>
                                      </p:cBhvr>
                                    </p:animEffect>
                                  </p:childTnLst>
                                </p:cTn>
                              </p:par>
                            </p:childTnLst>
                          </p:cTn>
                        </p:par>
                      </p:childTnLst>
                    </p:cTn>
                  </p:par>
                  <p:par>
                    <p:cTn id="762" fill="hold" nodeType="clickEffect">
                      <p:stCondLst>
                        <p:cond delay="indefinite"/>
                      </p:stCondLst>
                      <p:childTnLst>
                        <p:par>
                          <p:cTn id="763" fill="hold" nodeType="withEffect">
                            <p:stCondLst>
                              <p:cond delay="0"/>
                            </p:stCondLst>
                            <p:childTnLst>
                              <p:par>
                                <p:cTn id="764" presetID="9" presetClass="entr" fill="hold" nodeType="clickEffect">
                                  <p:stCondLst>
                                    <p:cond delay="0"/>
                                  </p:stCondLst>
                                  <p:childTnLst>
                                    <p:set>
                                      <p:cBhvr>
                                        <p:cTn id="765" dur="1" fill="hold">
                                          <p:stCondLst>
                                            <p:cond delay="0"/>
                                          </p:stCondLst>
                                        </p:cTn>
                                        <p:tgtEl>
                                          <p:spTgt spid="414">
                                            <p:txEl>
                                              <p:pRg st="1" end="1"/>
                                            </p:txEl>
                                          </p:spTgt>
                                        </p:tgtEl>
                                        <p:attrNameLst>
                                          <p:attrName>style.visibility</p:attrName>
                                        </p:attrNameLst>
                                      </p:cBhvr>
                                      <p:to>
                                        <p:strVal val="visible"/>
                                      </p:to>
                                    </p:set>
                                    <p:animEffect transition="in" filter="dissolve">
                                      <p:cBhvr additive="repl">
                                        <p:cTn id="766" dur="500"/>
                                        <p:tgtEl>
                                          <p:spTgt spid="414">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Text Box 13"/>
          <p:cNvSpPr/>
          <p:nvPr/>
        </p:nvSpPr>
        <p:spPr>
          <a:xfrm>
            <a:off x="44280" y="2523960"/>
            <a:ext cx="9099720" cy="523944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当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宋体"/>
              </a:rPr>
              <a:t> </a:t>
            </a:r>
            <a:r>
              <a:rPr lang="zh-CN" sz="2800" b="1" u="none" strike="noStrike">
                <a:solidFill>
                  <a:srgbClr val="000000"/>
                </a:solidFill>
                <a:effectLst/>
                <a:uFillTx/>
                <a:latin typeface="宋体"/>
              </a:rPr>
              <a:t>时，有</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i="1" u="none" strike="noStrike">
                <a:solidFill>
                  <a:srgbClr val="000000"/>
                </a:solidFill>
                <a:effectLst/>
                <a:uFillTx/>
                <a:latin typeface="Times New Roman"/>
              </a:rPr>
              <a:t>                                    </a:t>
            </a:r>
            <a:r>
              <a:rPr lang="en-US" sz="2800" b="1" i="1" u="none" strike="noStrike">
                <a:solidFill>
                  <a:srgbClr val="000000"/>
                </a:solidFill>
                <a:effectLst/>
                <a:uFillTx/>
                <a:latin typeface="Times New Roman"/>
              </a:rPr>
              <a:t>s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z</a:t>
            </a:r>
            <a:r>
              <a:rPr lang="en-US" sz="2800" b="1" i="1" u="none" strike="noStrike" baseline="-25000">
                <a:solidFill>
                  <a:srgbClr val="000000"/>
                </a:solidFill>
                <a:effectLst/>
                <a:uFillTx/>
                <a:latin typeface="Times New Roman"/>
              </a:rPr>
              <a:t>i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i </a:t>
            </a:r>
            <a:r>
              <a:rPr lang="en-US" sz="2800" b="1" u="none" strike="noStrike">
                <a:solidFill>
                  <a:srgbClr val="000000"/>
                </a:solidFill>
                <a:effectLst/>
                <a:uFillTx/>
                <a:latin typeface="Times New Roman"/>
              </a:rPr>
              <a:t>=1, 2, … , </a:t>
            </a:r>
            <a:r>
              <a:rPr lang="en-US" sz="2800" b="1" i="1" u="none" strike="noStrike">
                <a:solidFill>
                  <a:srgbClr val="000000"/>
                </a:solidFill>
                <a:effectLst/>
                <a:uFillTx/>
                <a:latin typeface="Times New Roman"/>
              </a:rPr>
              <a:t>m</a:t>
            </a:r>
            <a:r>
              <a:rPr lang="en-US"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所以根轨迹必终止于开环零点。</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在实际系统中，开环传函中 </a:t>
            </a:r>
            <a:r>
              <a:rPr lang="en-US" sz="2800" b="1" i="1" u="none" strike="noStrike">
                <a:solidFill>
                  <a:srgbClr val="000000"/>
                </a:solidFill>
                <a:effectLst/>
                <a:uFillTx/>
                <a:latin typeface="Times New Roman"/>
              </a:rPr>
              <a:t>m</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n </a:t>
            </a:r>
            <a:r>
              <a:rPr lang="zh-CN" sz="2800" b="1" u="none" strike="noStrike">
                <a:solidFill>
                  <a:srgbClr val="000000"/>
                </a:solidFill>
                <a:effectLst/>
                <a:uFillTx/>
                <a:latin typeface="Times New Roman"/>
              </a:rPr>
              <a:t>，有</a:t>
            </a:r>
            <a:r>
              <a:rPr lang="en-US" sz="2800" b="1" i="1" u="none" strike="noStrike">
                <a:solidFill>
                  <a:srgbClr val="000000"/>
                </a:solidFill>
                <a:effectLst/>
                <a:uFillTx/>
                <a:latin typeface="Times New Roman"/>
              </a:rPr>
              <a:t>m </a:t>
            </a:r>
            <a:r>
              <a:rPr lang="zh-CN" sz="2800" b="1" u="none" strike="noStrike">
                <a:solidFill>
                  <a:srgbClr val="000000"/>
                </a:solidFill>
                <a:effectLst/>
                <a:uFillTx/>
                <a:latin typeface="Times New Roman"/>
              </a:rPr>
              <a:t>条根轨迹终点为开环零点处，另有</a:t>
            </a:r>
            <a:r>
              <a:rPr lang="en-US" sz="2800" b="1" i="1" u="none" strike="noStrike">
                <a:solidFill>
                  <a:srgbClr val="000000"/>
                </a:solidFill>
                <a:effectLst/>
                <a:uFillTx/>
                <a:latin typeface="Times New Roman"/>
              </a:rPr>
              <a:t>n</a:t>
            </a:r>
            <a:r>
              <a:rPr lang="en-US" sz="2800" b="1" u="none" strike="noStrike">
                <a:solidFill>
                  <a:srgbClr val="000000"/>
                </a:solidFill>
                <a:effectLst/>
                <a:uFillTx/>
                <a:latin typeface="Symbol"/>
                <a:ea typeface="Symbol"/>
              </a:rPr>
              <a:t></a:t>
            </a:r>
            <a:r>
              <a:rPr lang="en-US" sz="2800" b="1" i="1" u="none" strike="noStrike">
                <a:solidFill>
                  <a:srgbClr val="000000"/>
                </a:solidFill>
                <a:effectLst/>
                <a:uFillTx/>
                <a:latin typeface="Times New Roman"/>
              </a:rPr>
              <a:t>m</a:t>
            </a:r>
            <a:r>
              <a:rPr lang="zh-CN" sz="2800" b="1" u="none" strike="noStrike">
                <a:solidFill>
                  <a:srgbClr val="000000"/>
                </a:solidFill>
                <a:effectLst/>
                <a:uFillTx/>
                <a:latin typeface="Times New Roman"/>
              </a:rPr>
              <a:t>条根轨迹的终点将在无穷远处，可以认为</a:t>
            </a:r>
            <a:r>
              <a:rPr lang="zh-CN" sz="2800" b="1" u="none" strike="noStrike">
                <a:solidFill>
                  <a:srgbClr val="000099"/>
                </a:solidFill>
                <a:effectLst/>
                <a:uFillTx/>
                <a:latin typeface="Times New Roman"/>
              </a:rPr>
              <a:t>有</a:t>
            </a:r>
            <a:r>
              <a:rPr lang="en-US" sz="2800" b="1" i="1" u="none" strike="noStrike">
                <a:solidFill>
                  <a:srgbClr val="000099"/>
                </a:solidFill>
                <a:effectLst/>
                <a:uFillTx/>
                <a:latin typeface="Times New Roman"/>
              </a:rPr>
              <a:t>n</a:t>
            </a:r>
            <a:r>
              <a:rPr lang="en-US" sz="2800" b="1" u="none" strike="noStrike">
                <a:solidFill>
                  <a:srgbClr val="000099"/>
                </a:solidFill>
                <a:effectLst/>
                <a:uFillTx/>
                <a:latin typeface="Symbol"/>
                <a:ea typeface="Symbol"/>
              </a:rPr>
              <a:t></a:t>
            </a:r>
            <a:r>
              <a:rPr lang="en-US" sz="2800" b="1" i="1" u="none" strike="noStrike">
                <a:solidFill>
                  <a:srgbClr val="000099"/>
                </a:solidFill>
                <a:effectLst/>
                <a:uFillTx/>
                <a:latin typeface="Times New Roman"/>
              </a:rPr>
              <a:t>m</a:t>
            </a:r>
            <a:r>
              <a:rPr lang="en-US" sz="2800" b="1" u="none" strike="noStrike">
                <a:solidFill>
                  <a:srgbClr val="000099"/>
                </a:solidFill>
                <a:effectLst/>
                <a:uFillTx/>
                <a:latin typeface="Times New Roman"/>
              </a:rPr>
              <a:t> </a:t>
            </a:r>
            <a:r>
              <a:rPr lang="zh-CN" sz="2800" b="1" u="none" strike="noStrike">
                <a:solidFill>
                  <a:srgbClr val="000099"/>
                </a:solidFill>
                <a:effectLst/>
                <a:uFillTx/>
                <a:latin typeface="Times New Roman"/>
              </a:rPr>
              <a:t>个无穷远处的开环零点</a:t>
            </a:r>
            <a:r>
              <a:rPr lang="zh-CN" sz="2800" b="1" u="none" strike="noStrike">
                <a:solidFill>
                  <a:srgbClr val="000000"/>
                </a:solidFill>
                <a:effectLst/>
                <a:uFillTx/>
                <a:latin typeface="Times New Roman"/>
              </a:rPr>
              <a:t>。                                                                             </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416" name="Object 14"/>
              <p:cNvSpPr txBox="1"/>
              <p:nvPr/>
            </p:nvSpPr>
            <p:spPr>
              <a:xfrm>
                <a:off x="2030400" y="1000080"/>
                <a:ext cx="4465800" cy="1030320"/>
              </a:xfrm>
              <a:prstGeom prst="rect">
                <a:avLst/>
              </a:prstGeom>
            </p:spPr>
            <p:txBody>
              <a:bodyPr/>
              <a:p>
                <a14:m>
                  <m:oMath xmlns:m="http://schemas.openxmlformats.org/officeDocument/2006/math">
                    <m:f>
                      <m:num>
                        <m:r>
                          <m:t xml:space="preserve">1</m:t>
                        </m:r>
                      </m:num>
                      <m:den>
                        <m:sSub>
                          <m:e>
                            <m:r>
                              <m:t xml:space="preserve">K</m:t>
                            </m:r>
                          </m:e>
                          <m:sub>
                            <m:r>
                              <m:t xml:space="preserve">g</m:t>
                            </m:r>
                          </m:sub>
                        </m:sSub>
                      </m:den>
                    </m:f>
                    <m:nary>
                      <m:naryPr>
                        <m:chr m:val="∏"/>
                      </m:naryPr>
                      <m:sub>
                        <m:r>
                          <m:t xml:space="preserve">j</m:t>
                        </m:r>
                        <m:r>
                          <m:t xml:space="preserve">=</m:t>
                        </m:r>
                        <m:r>
                          <m:t xml:space="preserve">1</m:t>
                        </m:r>
                      </m:sub>
                      <m:sup>
                        <m:r>
                          <m:t xml:space="preserve">n</m:t>
                        </m:r>
                      </m:sup>
                      <m:e>
                        <m:r>
                          <m:t xml:space="preserve">(</m:t>
                        </m:r>
                        <m:r>
                          <m:t xml:space="preserve">s</m:t>
                        </m:r>
                        <m:r>
                          <m:t xml:space="preserve">−</m:t>
                        </m:r>
                        <m:sSub>
                          <m:e>
                            <m:r>
                              <m:t xml:space="preserve">p</m:t>
                            </m:r>
                          </m:e>
                          <m:sub>
                            <m:r>
                              <m:t xml:space="preserve">j</m:t>
                            </m:r>
                          </m:sub>
                        </m:sSub>
                        <m:r>
                          <m:t xml:space="preserve">)</m:t>
                        </m:r>
                        <m:r>
                          <m:t xml:space="preserve">+</m:t>
                        </m:r>
                        <m:nary>
                          <m:naryPr>
                            <m:chr m:val="∏"/>
                          </m:naryPr>
                          <m:sub>
                            <m:r>
                              <m:t xml:space="preserve">i</m:t>
                            </m:r>
                            <m:r>
                              <m:t xml:space="preserve">=</m:t>
                            </m:r>
                            <m:r>
                              <m:t xml:space="preserve">1</m:t>
                            </m:r>
                          </m:sub>
                          <m:sup>
                            <m:r>
                              <m:t xml:space="preserve">m</m:t>
                            </m:r>
                          </m:sup>
                          <m:e>
                            <m:r>
                              <m:t xml:space="preserve">(</m:t>
                            </m:r>
                            <m:r>
                              <m:t xml:space="preserve">s</m:t>
                            </m:r>
                            <m:r>
                              <m:t xml:space="preserve">−</m:t>
                            </m:r>
                            <m:sSub>
                              <m:e>
                                <m:r>
                                  <m:t xml:space="preserve">z</m:t>
                                </m:r>
                              </m:e>
                              <m:sub>
                                <m:r>
                                  <m:t xml:space="preserve">i</m:t>
                                </m:r>
                              </m:sub>
                            </m:sSub>
                            <m:r>
                              <m:t xml:space="preserve">)</m:t>
                            </m:r>
                          </m:e>
                        </m:nary>
                      </m:e>
                    </m:nary>
                    <m:r>
                      <m:t xml:space="preserve">=</m:t>
                    </m:r>
                    <m:r>
                      <m:t xml:space="preserve">0</m:t>
                    </m:r>
                  </m:oMath>
                </a14:m>
              </a:p>
            </p:txBody>
          </p:sp>
        </mc:Choice>
        <mc:Fallback>
          <p:sp>
            <p:nvSpPr>
              <p:cNvPr id="416" name="Object 14"/>
              <p:cNvSpPr txBox="1"/>
              <p:nvPr/>
            </p:nvSpPr>
            <p:spPr>
              <a:xfrm>
                <a:off x="2030400" y="1000080"/>
                <a:ext cx="4465800" cy="1030320"/>
              </a:xfrm>
              <a:prstGeom prst="rect">
                <a:avLst/>
              </a:prstGeom>
              <a:blipFill>
                <a:blip r:embed="rId1"/>
                <a:stretch>
                  <a:fillRect/>
                </a:stretch>
              </a:blipFill>
            </p:spPr>
          </p:sp>
        </mc:Fallback>
      </mc:AlternateContent>
      <p:sp>
        <p:nvSpPr>
          <p:cNvPr id="417" name="Rectangle 2169"/>
          <p:cNvSpPr/>
          <p:nvPr/>
        </p:nvSpPr>
        <p:spPr>
          <a:xfrm>
            <a:off x="151560" y="212760"/>
            <a:ext cx="337644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将特征方程改写为：</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767" dur="indefinite" restart="never" nodeType="tmRoot">
          <p:childTnLst>
            <p:seq>
              <p:cTn id="768" dur="indefinite" nodeType="mainSeq">
                <p:childTnLst>
                  <p:par>
                    <p:cTn id="769" fill="hold" nodeType="clickEffect">
                      <p:stCondLst>
                        <p:cond delay="indefinite"/>
                      </p:stCondLst>
                      <p:childTnLst>
                        <p:par>
                          <p:cTn id="770" fill="hold" nodeType="withEffect">
                            <p:stCondLst>
                              <p:cond delay="0"/>
                            </p:stCondLst>
                            <p:childTnLst>
                              <p:par>
                                <p:cTn id="771" presetID="9" presetClass="entr" fill="hold" nodeType="clickEffect">
                                  <p:stCondLst>
                                    <p:cond delay="0"/>
                                  </p:stCondLst>
                                  <p:childTnLst>
                                    <p:set>
                                      <p:cBhvr>
                                        <p:cTn id="772" dur="1" fill="hold">
                                          <p:stCondLst>
                                            <p:cond delay="0"/>
                                          </p:stCondLst>
                                        </p:cTn>
                                        <p:tgtEl>
                                          <p:spTgt spid="416"/>
                                        </p:tgtEl>
                                        <p:attrNameLst>
                                          <p:attrName>style.visibility</p:attrName>
                                        </p:attrNameLst>
                                      </p:cBhvr>
                                      <p:to>
                                        <p:strVal val="visible"/>
                                      </p:to>
                                    </p:set>
                                    <p:animEffect transition="in" filter="dissolve">
                                      <p:cBhvr additive="repl">
                                        <p:cTn id="773" dur="500"/>
                                        <p:tgtEl>
                                          <p:spTgt spid="416"/>
                                        </p:tgtEl>
                                      </p:cBhvr>
                                    </p:animEffect>
                                  </p:childTnLst>
                                </p:cTn>
                              </p:par>
                            </p:childTnLst>
                          </p:cTn>
                        </p:par>
                      </p:childTnLst>
                    </p:cTn>
                  </p:par>
                  <p:par>
                    <p:cTn id="774" fill="hold" nodeType="clickEffect">
                      <p:stCondLst>
                        <p:cond delay="indefinite"/>
                      </p:stCondLst>
                      <p:childTnLst>
                        <p:par>
                          <p:cTn id="775" fill="hold" nodeType="withEffect">
                            <p:stCondLst>
                              <p:cond delay="0"/>
                            </p:stCondLst>
                            <p:childTnLst>
                              <p:par>
                                <p:cTn id="776" presetID="3" presetClass="entr" fill="hold" nodeType="clickEffect" presetSubtype="10">
                                  <p:stCondLst>
                                    <p:cond delay="0"/>
                                  </p:stCondLst>
                                  <p:childTnLst>
                                    <p:set>
                                      <p:cBhvr>
                                        <p:cTn id="777" dur="1" fill="hold">
                                          <p:stCondLst>
                                            <p:cond delay="0"/>
                                          </p:stCondLst>
                                        </p:cTn>
                                        <p:tgtEl>
                                          <p:spTgt spid="415">
                                            <p:txEl>
                                              <p:pRg st="0" end="0"/>
                                            </p:txEl>
                                          </p:spTgt>
                                        </p:tgtEl>
                                        <p:attrNameLst>
                                          <p:attrName>style.visibility</p:attrName>
                                        </p:attrNameLst>
                                      </p:cBhvr>
                                      <p:to>
                                        <p:strVal val="visible"/>
                                      </p:to>
                                    </p:set>
                                    <p:animEffect transition="in" filter="blinds(horizontal)">
                                      <p:cBhvr additive="repl">
                                        <p:cTn id="778" dur="500"/>
                                        <p:tgtEl>
                                          <p:spTgt spid="415">
                                            <p:txEl>
                                              <p:pRg st="0" end="0"/>
                                            </p:txEl>
                                          </p:spTgt>
                                        </p:tgtEl>
                                      </p:cBhvr>
                                    </p:animEffect>
                                  </p:childTnLst>
                                </p:cTn>
                              </p:par>
                            </p:childTnLst>
                          </p:cTn>
                        </p:par>
                      </p:childTnLst>
                    </p:cTn>
                  </p:par>
                  <p:par>
                    <p:cTn id="779" fill="hold" nodeType="clickEffect">
                      <p:stCondLst>
                        <p:cond delay="indefinite"/>
                      </p:stCondLst>
                      <p:childTnLst>
                        <p:par>
                          <p:cTn id="780" fill="hold" nodeType="withEffect">
                            <p:stCondLst>
                              <p:cond delay="0"/>
                            </p:stCondLst>
                            <p:childTnLst>
                              <p:par>
                                <p:cTn id="781" presetID="3" presetClass="entr" fill="hold" nodeType="clickEffect" presetSubtype="10">
                                  <p:stCondLst>
                                    <p:cond delay="0"/>
                                  </p:stCondLst>
                                  <p:childTnLst>
                                    <p:set>
                                      <p:cBhvr>
                                        <p:cTn id="782" dur="1" fill="hold">
                                          <p:stCondLst>
                                            <p:cond delay="0"/>
                                          </p:stCondLst>
                                        </p:cTn>
                                        <p:tgtEl>
                                          <p:spTgt spid="415">
                                            <p:txEl>
                                              <p:pRg st="1" end="1"/>
                                            </p:txEl>
                                          </p:spTgt>
                                        </p:tgtEl>
                                        <p:attrNameLst>
                                          <p:attrName>style.visibility</p:attrName>
                                        </p:attrNameLst>
                                      </p:cBhvr>
                                      <p:to>
                                        <p:strVal val="visible"/>
                                      </p:to>
                                    </p:set>
                                    <p:animEffect transition="in" filter="blinds(horizontal)">
                                      <p:cBhvr additive="repl">
                                        <p:cTn id="783" dur="500"/>
                                        <p:tgtEl>
                                          <p:spTgt spid="415">
                                            <p:txEl>
                                              <p:pRg st="1" end="1"/>
                                            </p:txEl>
                                          </p:spTgt>
                                        </p:tgtEl>
                                      </p:cBhvr>
                                    </p:animEffect>
                                  </p:childTnLst>
                                </p:cTn>
                              </p:par>
                            </p:childTnLst>
                          </p:cTn>
                        </p:par>
                      </p:childTnLst>
                    </p:cTn>
                  </p:par>
                  <p:par>
                    <p:cTn id="784" fill="hold" nodeType="clickEffect">
                      <p:stCondLst>
                        <p:cond delay="indefinite"/>
                      </p:stCondLst>
                      <p:childTnLst>
                        <p:par>
                          <p:cTn id="785" fill="hold" nodeType="withEffect">
                            <p:stCondLst>
                              <p:cond delay="0"/>
                            </p:stCondLst>
                            <p:childTnLst>
                              <p:par>
                                <p:cTn id="786" presetID="3" presetClass="entr" fill="hold" nodeType="clickEffect" presetSubtype="10">
                                  <p:stCondLst>
                                    <p:cond delay="0"/>
                                  </p:stCondLst>
                                  <p:childTnLst>
                                    <p:set>
                                      <p:cBhvr>
                                        <p:cTn id="787" dur="1" fill="hold">
                                          <p:stCondLst>
                                            <p:cond delay="0"/>
                                          </p:stCondLst>
                                        </p:cTn>
                                        <p:tgtEl>
                                          <p:spTgt spid="415">
                                            <p:txEl>
                                              <p:pRg st="2" end="2"/>
                                            </p:txEl>
                                          </p:spTgt>
                                        </p:tgtEl>
                                        <p:attrNameLst>
                                          <p:attrName>style.visibility</p:attrName>
                                        </p:attrNameLst>
                                      </p:cBhvr>
                                      <p:to>
                                        <p:strVal val="visible"/>
                                      </p:to>
                                    </p:set>
                                    <p:animEffect transition="in" filter="blinds(horizontal)">
                                      <p:cBhvr additive="repl">
                                        <p:cTn id="788" dur="500"/>
                                        <p:tgtEl>
                                          <p:spTgt spid="415">
                                            <p:txEl>
                                              <p:pRg st="2" end="2"/>
                                            </p:txEl>
                                          </p:spTgt>
                                        </p:tgtEl>
                                      </p:cBhvr>
                                    </p:animEffect>
                                  </p:childTnLst>
                                </p:cTn>
                              </p:par>
                            </p:childTnLst>
                          </p:cTn>
                        </p:par>
                      </p:childTnLst>
                    </p:cTn>
                  </p:par>
                  <p:par>
                    <p:cTn id="789" fill="hold" nodeType="clickEffect">
                      <p:stCondLst>
                        <p:cond delay="indefinite"/>
                      </p:stCondLst>
                      <p:childTnLst>
                        <p:par>
                          <p:cTn id="790" fill="hold" nodeType="withEffect">
                            <p:stCondLst>
                              <p:cond delay="0"/>
                            </p:stCondLst>
                            <p:childTnLst>
                              <p:par>
                                <p:cTn id="791" presetID="3" presetClass="entr" fill="hold" nodeType="clickEffect" presetSubtype="10">
                                  <p:stCondLst>
                                    <p:cond delay="0"/>
                                  </p:stCondLst>
                                  <p:childTnLst>
                                    <p:set>
                                      <p:cBhvr>
                                        <p:cTn id="792" dur="1" fill="hold">
                                          <p:stCondLst>
                                            <p:cond delay="0"/>
                                          </p:stCondLst>
                                        </p:cTn>
                                        <p:tgtEl>
                                          <p:spTgt spid="415">
                                            <p:txEl>
                                              <p:pRg st="4" end="4"/>
                                            </p:txEl>
                                          </p:spTgt>
                                        </p:tgtEl>
                                        <p:attrNameLst>
                                          <p:attrName>style.visibility</p:attrName>
                                        </p:attrNameLst>
                                      </p:cBhvr>
                                      <p:to>
                                        <p:strVal val="visible"/>
                                      </p:to>
                                    </p:set>
                                    <p:animEffect transition="in" filter="blinds(horizontal)">
                                      <p:cBhvr additive="repl">
                                        <p:cTn id="793" dur="500"/>
                                        <p:tgtEl>
                                          <p:spTgt spid="41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18" name="Group 73"/>
          <p:cNvGrpSpPr/>
          <p:nvPr/>
        </p:nvGrpSpPr>
        <p:grpSpPr>
          <a:xfrm>
            <a:off x="1773360" y="944640"/>
            <a:ext cx="4523400" cy="4085280"/>
            <a:chOff x="1773360" y="944640"/>
            <a:chExt cx="4523400" cy="4085280"/>
          </a:xfrm>
        </p:grpSpPr>
        <p:grpSp>
          <p:nvGrpSpPr>
            <p:cNvPr id="419" name="Group 74"/>
            <p:cNvGrpSpPr/>
            <p:nvPr/>
          </p:nvGrpSpPr>
          <p:grpSpPr>
            <a:xfrm>
              <a:off x="1860480" y="944640"/>
              <a:ext cx="4436280" cy="3846960"/>
              <a:chOff x="1860480" y="944640"/>
              <a:chExt cx="4436280" cy="3846960"/>
            </a:xfrm>
          </p:grpSpPr>
          <p:grpSp>
            <p:nvGrpSpPr>
              <p:cNvPr id="420" name="Group 75"/>
              <p:cNvGrpSpPr/>
              <p:nvPr/>
            </p:nvGrpSpPr>
            <p:grpSpPr>
              <a:xfrm>
                <a:off x="1860480" y="944640"/>
                <a:ext cx="4436280" cy="3846960"/>
                <a:chOff x="1860480" y="944640"/>
                <a:chExt cx="4436280" cy="3846960"/>
              </a:xfrm>
            </p:grpSpPr>
            <p:grpSp>
              <p:nvGrpSpPr>
                <p:cNvPr id="421" name="Group 76"/>
                <p:cNvGrpSpPr/>
                <p:nvPr/>
              </p:nvGrpSpPr>
              <p:grpSpPr>
                <a:xfrm>
                  <a:off x="1860480" y="944640"/>
                  <a:ext cx="4436280" cy="3846960"/>
                  <a:chOff x="1860480" y="944640"/>
                  <a:chExt cx="4436280" cy="3846960"/>
                </a:xfrm>
              </p:grpSpPr>
              <p:sp>
                <p:nvSpPr>
                  <p:cNvPr id="422" name="Line 77"/>
                  <p:cNvSpPr/>
                  <p:nvPr/>
                </p:nvSpPr>
                <p:spPr>
                  <a:xfrm flipV="1">
                    <a:off x="5033880" y="1093680"/>
                    <a:ext cx="0" cy="369792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23" name="Rectangle 78"/>
                  <p:cNvSpPr/>
                  <p:nvPr/>
                </p:nvSpPr>
                <p:spPr>
                  <a:xfrm>
                    <a:off x="5949360" y="2850480"/>
                    <a:ext cx="34740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424" name="Rectangle 79"/>
                  <p:cNvSpPr/>
                  <p:nvPr/>
                </p:nvSpPr>
                <p:spPr>
                  <a:xfrm>
                    <a:off x="4909680" y="312084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425" name="Line 80"/>
                  <p:cNvSpPr/>
                  <p:nvPr/>
                </p:nvSpPr>
                <p:spPr>
                  <a:xfrm>
                    <a:off x="1860480" y="3074040"/>
                    <a:ext cx="4134240" cy="1080"/>
                  </a:xfrm>
                  <a:prstGeom prst="line">
                    <a:avLst/>
                  </a:prstGeom>
                  <a:ln cap="sq" w="57240">
                    <a:solidFill>
                      <a:srgbClr val="000000"/>
                    </a:solidFill>
                    <a:miter/>
                    <a:tailEnd len="med" type="triangle" w="med"/>
                  </a:ln>
                </p:spPr>
                <p:style>
                  <a:lnRef idx="0"/>
                  <a:fillRef idx="0"/>
                  <a:effectRef idx="0"/>
                  <a:fontRef idx="minor"/>
                </p:style>
                <p:txBody>
                  <a:bodyPr lIns="90000" tIns="-45720" rIns="90000" bIns="-45720" anchor="t">
                    <a:noAutofit/>
                  </a:bodyPr>
                  <a:p>
                    <a:endParaRPr lang="en-US" sz="2800" b="1" u="none" strike="noStrike">
                      <a:solidFill>
                        <a:srgbClr val="000000"/>
                      </a:solidFill>
                      <a:effectLst/>
                      <a:uFillTx/>
                      <a:latin typeface="Times New Roman"/>
                    </a:endParaRPr>
                  </a:p>
                </p:txBody>
              </p:sp>
              <p:sp>
                <p:nvSpPr>
                  <p:cNvPr id="426" name="Line 81"/>
                  <p:cNvSpPr/>
                  <p:nvPr/>
                </p:nvSpPr>
                <p:spPr>
                  <a:xfrm>
                    <a:off x="4202280" y="2983680"/>
                    <a:ext cx="0" cy="1368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27" name="Line 82"/>
                  <p:cNvSpPr/>
                  <p:nvPr/>
                </p:nvSpPr>
                <p:spPr>
                  <a:xfrm>
                    <a:off x="4202280" y="2999520"/>
                    <a:ext cx="0" cy="134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28" name="Line 83"/>
                  <p:cNvSpPr/>
                  <p:nvPr/>
                </p:nvSpPr>
                <p:spPr>
                  <a:xfrm>
                    <a:off x="3340800" y="2999520"/>
                    <a:ext cx="0" cy="134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29" name="Line 84"/>
                  <p:cNvSpPr/>
                  <p:nvPr/>
                </p:nvSpPr>
                <p:spPr>
                  <a:xfrm flipV="1">
                    <a:off x="4973760" y="4011480"/>
                    <a:ext cx="12528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sp>
                <p:nvSpPr>
                  <p:cNvPr id="430" name="Line 85"/>
                  <p:cNvSpPr/>
                  <p:nvPr/>
                </p:nvSpPr>
                <p:spPr>
                  <a:xfrm flipV="1">
                    <a:off x="4965120" y="3558960"/>
                    <a:ext cx="12528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sp>
                <p:nvSpPr>
                  <p:cNvPr id="431" name="Rectangle 86"/>
                  <p:cNvSpPr/>
                  <p:nvPr/>
                </p:nvSpPr>
                <p:spPr>
                  <a:xfrm>
                    <a:off x="4922280" y="94464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432" name="Line 87"/>
                  <p:cNvSpPr/>
                  <p:nvPr/>
                </p:nvSpPr>
                <p:spPr>
                  <a:xfrm flipV="1">
                    <a:off x="4970160" y="2623320"/>
                    <a:ext cx="124920" cy="4680"/>
                  </a:xfrm>
                  <a:prstGeom prst="line">
                    <a:avLst/>
                  </a:prstGeom>
                  <a:ln w="57240">
                    <a:solidFill>
                      <a:srgbClr val="000000"/>
                    </a:solidFill>
                    <a:miter/>
                  </a:ln>
                </p:spPr>
                <p:style>
                  <a:lnRef idx="0"/>
                  <a:fillRef idx="0"/>
                  <a:effectRef idx="0"/>
                  <a:fontRef idx="minor"/>
                </p:style>
                <p:txBody>
                  <a:bodyPr lIns="90000" tIns="-42120" rIns="90000" bIns="-42120" anchor="t">
                    <a:noAutofit/>
                  </a:bodyPr>
                  <a:p>
                    <a:endParaRPr lang="en-US" sz="2800" b="1" u="none" strike="noStrike">
                      <a:solidFill>
                        <a:srgbClr val="000000"/>
                      </a:solidFill>
                      <a:effectLst/>
                      <a:uFillTx/>
                      <a:latin typeface="Times New Roman"/>
                    </a:endParaRPr>
                  </a:p>
                </p:txBody>
              </p:sp>
              <p:sp>
                <p:nvSpPr>
                  <p:cNvPr id="433" name="Line 88"/>
                  <p:cNvSpPr/>
                  <p:nvPr/>
                </p:nvSpPr>
                <p:spPr>
                  <a:xfrm flipV="1">
                    <a:off x="4980960" y="2187000"/>
                    <a:ext cx="125280" cy="4680"/>
                  </a:xfrm>
                  <a:prstGeom prst="line">
                    <a:avLst/>
                  </a:prstGeom>
                  <a:ln w="57240">
                    <a:solidFill>
                      <a:srgbClr val="000000"/>
                    </a:solidFill>
                    <a:miter/>
                  </a:ln>
                </p:spPr>
                <p:style>
                  <a:lnRef idx="0"/>
                  <a:fillRef idx="0"/>
                  <a:effectRef idx="0"/>
                  <a:fontRef idx="minor"/>
                </p:style>
                <p:txBody>
                  <a:bodyPr lIns="90000" tIns="-42120" rIns="90000" bIns="-42120" anchor="t">
                    <a:noAutofit/>
                  </a:bodyPr>
                  <a:p>
                    <a:endParaRPr lang="en-US" sz="2800" b="1" u="none" strike="noStrike">
                      <a:solidFill>
                        <a:srgbClr val="000000"/>
                      </a:solidFill>
                      <a:effectLst/>
                      <a:uFillTx/>
                      <a:latin typeface="Times New Roman"/>
                    </a:endParaRPr>
                  </a:p>
                </p:txBody>
              </p:sp>
              <p:sp>
                <p:nvSpPr>
                  <p:cNvPr id="434" name="Line 89"/>
                  <p:cNvSpPr/>
                  <p:nvPr/>
                </p:nvSpPr>
                <p:spPr>
                  <a:xfrm flipH="1" flipV="1">
                    <a:off x="4983120" y="1730880"/>
                    <a:ext cx="126000" cy="16920"/>
                  </a:xfrm>
                  <a:prstGeom prst="line">
                    <a:avLst/>
                  </a:prstGeom>
                  <a:ln w="57240">
                    <a:solidFill>
                      <a:srgbClr val="000000"/>
                    </a:solidFill>
                    <a:miter/>
                  </a:ln>
                </p:spPr>
                <p:style>
                  <a:lnRef idx="0"/>
                  <a:fillRef idx="0"/>
                  <a:effectRef idx="0"/>
                  <a:fontRef idx="minor"/>
                </p:style>
                <p:txBody>
                  <a:bodyPr lIns="90000" tIns="-29880" rIns="90000" bIns="-29880" anchor="t">
                    <a:noAutofit/>
                  </a:bodyPr>
                  <a:p>
                    <a:endParaRPr lang="en-US" sz="2800" b="1" u="none" strike="noStrike">
                      <a:solidFill>
                        <a:srgbClr val="000000"/>
                      </a:solidFill>
                      <a:effectLst/>
                      <a:uFillTx/>
                      <a:latin typeface="Times New Roman"/>
                    </a:endParaRPr>
                  </a:p>
                </p:txBody>
              </p:sp>
              <p:sp>
                <p:nvSpPr>
                  <p:cNvPr id="435" name="Line 90"/>
                  <p:cNvSpPr/>
                  <p:nvPr/>
                </p:nvSpPr>
                <p:spPr>
                  <a:xfrm flipH="1">
                    <a:off x="4613040" y="2997720"/>
                    <a:ext cx="3600" cy="1256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36" name="Line 91"/>
                  <p:cNvSpPr/>
                  <p:nvPr/>
                </p:nvSpPr>
                <p:spPr>
                  <a:xfrm>
                    <a:off x="3783240" y="2988360"/>
                    <a:ext cx="0" cy="1368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37" name="Line 92"/>
                  <p:cNvSpPr/>
                  <p:nvPr/>
                </p:nvSpPr>
                <p:spPr>
                  <a:xfrm>
                    <a:off x="2926800" y="2990880"/>
                    <a:ext cx="0" cy="1382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38" name="Line 93"/>
                  <p:cNvSpPr/>
                  <p:nvPr/>
                </p:nvSpPr>
                <p:spPr>
                  <a:xfrm>
                    <a:off x="2065320" y="3007080"/>
                    <a:ext cx="0" cy="1342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39" name="Line 94"/>
                  <p:cNvSpPr/>
                  <p:nvPr/>
                </p:nvSpPr>
                <p:spPr>
                  <a:xfrm>
                    <a:off x="2506320" y="2994840"/>
                    <a:ext cx="0" cy="1364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40" name="Line 95"/>
                  <p:cNvSpPr/>
                  <p:nvPr/>
                </p:nvSpPr>
                <p:spPr>
                  <a:xfrm flipV="1">
                    <a:off x="4946760" y="4445280"/>
                    <a:ext cx="125280" cy="3600"/>
                  </a:xfrm>
                  <a:prstGeom prst="line">
                    <a:avLst/>
                  </a:prstGeom>
                  <a:ln w="57240">
                    <a:solidFill>
                      <a:srgbClr val="000000"/>
                    </a:solidFill>
                    <a:miter/>
                  </a:ln>
                </p:spPr>
                <p:style>
                  <a:lnRef idx="0"/>
                  <a:fillRef idx="0"/>
                  <a:effectRef idx="0"/>
                  <a:fontRef idx="minor"/>
                </p:style>
                <p:txBody>
                  <a:bodyPr lIns="90000" tIns="-43200" rIns="90000" bIns="-43200" anchor="t">
                    <a:noAutofit/>
                  </a:bodyPr>
                  <a:p>
                    <a:endParaRPr lang="en-US" sz="2800" b="1" u="none" strike="noStrike">
                      <a:solidFill>
                        <a:srgbClr val="000000"/>
                      </a:solidFill>
                      <a:effectLst/>
                      <a:uFillTx/>
                      <a:latin typeface="Times New Roman"/>
                    </a:endParaRPr>
                  </a:p>
                </p:txBody>
              </p:sp>
            </p:grpSp>
            <p:sp>
              <p:nvSpPr>
                <p:cNvPr id="441" name="Text Box 96"/>
                <p:cNvSpPr/>
                <p:nvPr/>
              </p:nvSpPr>
              <p:spPr>
                <a:xfrm>
                  <a:off x="4017600" y="3110760"/>
                  <a:ext cx="348840" cy="82548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442" name="Text Box 97"/>
                <p:cNvSpPr/>
                <p:nvPr/>
              </p:nvSpPr>
              <p:spPr>
                <a:xfrm>
                  <a:off x="3171240" y="3109680"/>
                  <a:ext cx="348840" cy="82548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-2</a:t>
                  </a:r>
                  <a:endParaRPr lang="en-US" sz="2400" b="1" u="none" strike="noStrike">
                    <a:solidFill>
                      <a:srgbClr val="000000"/>
                    </a:solidFill>
                    <a:effectLst/>
                    <a:uFillTx/>
                    <a:latin typeface="Times New Roman"/>
                  </a:endParaRPr>
                </a:p>
              </p:txBody>
            </p:sp>
            <p:sp>
              <p:nvSpPr>
                <p:cNvPr id="443" name="Text Box 98"/>
                <p:cNvSpPr/>
                <p:nvPr/>
              </p:nvSpPr>
              <p:spPr>
                <a:xfrm>
                  <a:off x="5052240" y="1988640"/>
                  <a:ext cx="416520" cy="119124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 j</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grpSp>
          <p:grpSp>
            <p:nvGrpSpPr>
              <p:cNvPr id="444" name="Group 99"/>
              <p:cNvGrpSpPr/>
              <p:nvPr/>
            </p:nvGrpSpPr>
            <p:grpSpPr>
              <a:xfrm>
                <a:off x="4502880" y="4355640"/>
                <a:ext cx="222480" cy="223200"/>
                <a:chOff x="4502880" y="4355640"/>
                <a:chExt cx="222480" cy="223200"/>
              </a:xfrm>
            </p:grpSpPr>
            <p:sp>
              <p:nvSpPr>
                <p:cNvPr id="445" name="Line 100"/>
                <p:cNvSpPr/>
                <p:nvPr/>
              </p:nvSpPr>
              <p:spPr>
                <a:xfrm>
                  <a:off x="4506480" y="4361400"/>
                  <a:ext cx="217440" cy="2174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46" name="Line 101"/>
                <p:cNvSpPr/>
                <p:nvPr/>
              </p:nvSpPr>
              <p:spPr>
                <a:xfrm flipH="1">
                  <a:off x="4502880" y="4355640"/>
                  <a:ext cx="222480" cy="219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useBgFill="1">
            <p:nvSpPr>
              <p:cNvPr id="447" name="Oval 102"/>
              <p:cNvSpPr/>
              <p:nvPr/>
            </p:nvSpPr>
            <p:spPr>
              <a:xfrm>
                <a:off x="3661560" y="2943360"/>
                <a:ext cx="250200" cy="25164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useBgFill="1">
            <p:nvSpPr>
              <p:cNvPr id="448" name="Oval 103"/>
              <p:cNvSpPr/>
              <p:nvPr/>
            </p:nvSpPr>
            <p:spPr>
              <a:xfrm>
                <a:off x="3219120" y="3895920"/>
                <a:ext cx="254160" cy="25056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useBgFill="1">
            <p:nvSpPr>
              <p:cNvPr id="449" name="Oval 104"/>
              <p:cNvSpPr/>
              <p:nvPr/>
            </p:nvSpPr>
            <p:spPr>
              <a:xfrm>
                <a:off x="3219120" y="2095200"/>
                <a:ext cx="254160" cy="25056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450" name="Group 105"/>
              <p:cNvGrpSpPr/>
              <p:nvPr/>
            </p:nvGrpSpPr>
            <p:grpSpPr>
              <a:xfrm>
                <a:off x="2818440" y="2980080"/>
                <a:ext cx="222120" cy="223200"/>
                <a:chOff x="2818440" y="2980080"/>
                <a:chExt cx="222120" cy="223200"/>
              </a:xfrm>
            </p:grpSpPr>
            <p:sp>
              <p:nvSpPr>
                <p:cNvPr id="451" name="Line 106"/>
                <p:cNvSpPr/>
                <p:nvPr/>
              </p:nvSpPr>
              <p:spPr>
                <a:xfrm>
                  <a:off x="2822400" y="2985840"/>
                  <a:ext cx="217080" cy="2174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52" name="Line 107"/>
                <p:cNvSpPr/>
                <p:nvPr/>
              </p:nvSpPr>
              <p:spPr>
                <a:xfrm flipH="1">
                  <a:off x="2818440" y="2980080"/>
                  <a:ext cx="222120" cy="219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453" name="Group 108"/>
              <p:cNvGrpSpPr/>
              <p:nvPr/>
            </p:nvGrpSpPr>
            <p:grpSpPr>
              <a:xfrm>
                <a:off x="4930200" y="2992320"/>
                <a:ext cx="222120" cy="223200"/>
                <a:chOff x="4930200" y="2992320"/>
                <a:chExt cx="222120" cy="223200"/>
              </a:xfrm>
            </p:grpSpPr>
            <p:sp>
              <p:nvSpPr>
                <p:cNvPr id="454" name="Line 109"/>
                <p:cNvSpPr/>
                <p:nvPr/>
              </p:nvSpPr>
              <p:spPr>
                <a:xfrm>
                  <a:off x="4932720" y="2998080"/>
                  <a:ext cx="216000" cy="2174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55" name="Line 110"/>
                <p:cNvSpPr/>
                <p:nvPr/>
              </p:nvSpPr>
              <p:spPr>
                <a:xfrm flipH="1">
                  <a:off x="4930200" y="2992320"/>
                  <a:ext cx="222120" cy="219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456" name="Group 111"/>
              <p:cNvGrpSpPr/>
              <p:nvPr/>
            </p:nvGrpSpPr>
            <p:grpSpPr>
              <a:xfrm>
                <a:off x="4524840" y="1649880"/>
                <a:ext cx="222120" cy="223560"/>
                <a:chOff x="4524840" y="1649880"/>
                <a:chExt cx="222120" cy="223560"/>
              </a:xfrm>
            </p:grpSpPr>
            <p:sp>
              <p:nvSpPr>
                <p:cNvPr id="457" name="Line 112"/>
                <p:cNvSpPr/>
                <p:nvPr/>
              </p:nvSpPr>
              <p:spPr>
                <a:xfrm>
                  <a:off x="4528800" y="1659600"/>
                  <a:ext cx="217080" cy="2138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58" name="Line 113"/>
                <p:cNvSpPr/>
                <p:nvPr/>
              </p:nvSpPr>
              <p:spPr>
                <a:xfrm flipH="1">
                  <a:off x="4524840" y="1649880"/>
                  <a:ext cx="222120" cy="2160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sp>
          <p:nvSpPr>
            <p:cNvPr id="459" name="Line 114"/>
            <p:cNvSpPr/>
            <p:nvPr/>
          </p:nvSpPr>
          <p:spPr>
            <a:xfrm flipH="1">
              <a:off x="3904920" y="3066840"/>
              <a:ext cx="1090800" cy="0"/>
            </a:xfrm>
            <a:prstGeom prst="line">
              <a:avLst/>
            </a:prstGeom>
            <a:ln w="76320">
              <a:solidFill>
                <a:srgbClr val="00CC66"/>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60" name="Line 115"/>
            <p:cNvSpPr/>
            <p:nvPr/>
          </p:nvSpPr>
          <p:spPr>
            <a:xfrm flipH="1">
              <a:off x="1773360" y="3065400"/>
              <a:ext cx="1090800" cy="0"/>
            </a:xfrm>
            <a:prstGeom prst="line">
              <a:avLst/>
            </a:prstGeom>
            <a:ln w="76320">
              <a:solidFill>
                <a:srgbClr val="660066"/>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461" name="Group 116"/>
            <p:cNvGrpSpPr/>
            <p:nvPr/>
          </p:nvGrpSpPr>
          <p:grpSpPr>
            <a:xfrm>
              <a:off x="3110040" y="1207440"/>
              <a:ext cx="1564200" cy="964440"/>
              <a:chOff x="3110040" y="1207440"/>
              <a:chExt cx="1564200" cy="964440"/>
            </a:xfrm>
          </p:grpSpPr>
          <p:sp>
            <p:nvSpPr>
              <p:cNvPr id="462" name="Freeform 117"/>
              <p:cNvSpPr/>
              <p:nvPr/>
            </p:nvSpPr>
            <p:spPr>
              <a:xfrm>
                <a:off x="3110040" y="1207440"/>
                <a:ext cx="1564200" cy="964440"/>
              </a:xfrm>
              <a:custGeom>
                <a:avLst/>
                <a:gdLst>
                  <a:gd name="GluePoint1X" fmla="*/ 1242 w 1273"/>
                  <a:gd name="GluePoint1Y" fmla="*/ 442 h 789"/>
                  <a:gd name="GluePoint2X" fmla="*/ 1261 w 1273"/>
                  <a:gd name="GluePoint2Y" fmla="*/ 295 h 789"/>
                  <a:gd name="GluePoint3X" fmla="*/ 1169 w 1273"/>
                  <a:gd name="GluePoint3Y" fmla="*/ 140 h 789"/>
                  <a:gd name="GluePoint4X" fmla="*/ 886 w 1273"/>
                  <a:gd name="GluePoint4Y" fmla="*/ 12 h 789"/>
                  <a:gd name="GluePoint5X" fmla="*/ 429 w 1273"/>
                  <a:gd name="GluePoint5Y" fmla="*/ 67 h 789"/>
                  <a:gd name="GluePoint6X" fmla="*/ 90 w 1273"/>
                  <a:gd name="GluePoint6Y" fmla="*/ 295 h 789"/>
                  <a:gd name="GluePoint7X" fmla="*/ 8 w 1273"/>
                  <a:gd name="GluePoint7Y" fmla="*/ 615 h 789"/>
                  <a:gd name="GluePoint8X" fmla="*/ 136 w 1273"/>
                  <a:gd name="GluePoint8Y" fmla="*/ 789 h 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273" h="789">
                    <a:moveTo>
                      <a:pt x="1242" y="442"/>
                    </a:moveTo>
                    <a:cubicBezTo>
                      <a:pt x="1245" y="418"/>
                      <a:pt x="1273" y="345"/>
                      <a:pt x="1261" y="295"/>
                    </a:cubicBezTo>
                    <a:cubicBezTo>
                      <a:pt x="1249" y="245"/>
                      <a:pt x="1231" y="187"/>
                      <a:pt x="1169" y="140"/>
                    </a:cubicBezTo>
                    <a:cubicBezTo>
                      <a:pt x="1107" y="93"/>
                      <a:pt x="1009" y="24"/>
                      <a:pt x="886" y="12"/>
                    </a:cubicBezTo>
                    <a:cubicBezTo>
                      <a:pt x="763" y="0"/>
                      <a:pt x="562" y="20"/>
                      <a:pt x="429" y="67"/>
                    </a:cubicBezTo>
                    <a:cubicBezTo>
                      <a:pt x="296" y="114"/>
                      <a:pt x="160" y="204"/>
                      <a:pt x="90" y="295"/>
                    </a:cubicBezTo>
                    <a:cubicBezTo>
                      <a:pt x="20" y="386"/>
                      <a:pt x="0" y="533"/>
                      <a:pt x="8" y="615"/>
                    </a:cubicBezTo>
                    <a:cubicBezTo>
                      <a:pt x="16" y="697"/>
                      <a:pt x="109" y="753"/>
                      <a:pt x="136" y="789"/>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63" name="Line 118"/>
              <p:cNvSpPr/>
              <p:nvPr/>
            </p:nvSpPr>
            <p:spPr>
              <a:xfrm flipH="1">
                <a:off x="3962880" y="1217160"/>
                <a:ext cx="25632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464" name="Group 119"/>
            <p:cNvGrpSpPr/>
            <p:nvPr/>
          </p:nvGrpSpPr>
          <p:grpSpPr>
            <a:xfrm>
              <a:off x="3088080" y="4065480"/>
              <a:ext cx="1563840" cy="964440"/>
              <a:chOff x="3088080" y="4065480"/>
              <a:chExt cx="1563840" cy="964440"/>
            </a:xfrm>
          </p:grpSpPr>
          <p:sp>
            <p:nvSpPr>
              <p:cNvPr id="465" name="Freeform 120"/>
              <p:cNvSpPr/>
              <p:nvPr/>
            </p:nvSpPr>
            <p:spPr>
              <a:xfrm flipV="1">
                <a:off x="3088080" y="4065120"/>
                <a:ext cx="1563840" cy="964440"/>
              </a:xfrm>
              <a:custGeom>
                <a:avLst/>
                <a:gdLst>
                  <a:gd name="GluePoint1X" fmla="*/ 1242 w 1273"/>
                  <a:gd name="GluePoint1Y" fmla="*/ 442 h 789"/>
                  <a:gd name="GluePoint2X" fmla="*/ 1261 w 1273"/>
                  <a:gd name="GluePoint2Y" fmla="*/ 295 h 789"/>
                  <a:gd name="GluePoint3X" fmla="*/ 1169 w 1273"/>
                  <a:gd name="GluePoint3Y" fmla="*/ 140 h 789"/>
                  <a:gd name="GluePoint4X" fmla="*/ 886 w 1273"/>
                  <a:gd name="GluePoint4Y" fmla="*/ 12 h 789"/>
                  <a:gd name="GluePoint5X" fmla="*/ 429 w 1273"/>
                  <a:gd name="GluePoint5Y" fmla="*/ 67 h 789"/>
                  <a:gd name="GluePoint6X" fmla="*/ 90 w 1273"/>
                  <a:gd name="GluePoint6Y" fmla="*/ 295 h 789"/>
                  <a:gd name="GluePoint7X" fmla="*/ 8 w 1273"/>
                  <a:gd name="GluePoint7Y" fmla="*/ 615 h 789"/>
                  <a:gd name="GluePoint8X" fmla="*/ 136 w 1273"/>
                  <a:gd name="GluePoint8Y" fmla="*/ 789 h 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273" h="789">
                    <a:moveTo>
                      <a:pt x="1242" y="442"/>
                    </a:moveTo>
                    <a:cubicBezTo>
                      <a:pt x="1245" y="418"/>
                      <a:pt x="1273" y="345"/>
                      <a:pt x="1261" y="295"/>
                    </a:cubicBezTo>
                    <a:cubicBezTo>
                      <a:pt x="1249" y="245"/>
                      <a:pt x="1231" y="187"/>
                      <a:pt x="1169" y="140"/>
                    </a:cubicBezTo>
                    <a:cubicBezTo>
                      <a:pt x="1107" y="93"/>
                      <a:pt x="1009" y="24"/>
                      <a:pt x="886" y="12"/>
                    </a:cubicBezTo>
                    <a:cubicBezTo>
                      <a:pt x="763" y="0"/>
                      <a:pt x="562" y="20"/>
                      <a:pt x="429" y="67"/>
                    </a:cubicBezTo>
                    <a:cubicBezTo>
                      <a:pt x="296" y="114"/>
                      <a:pt x="160" y="204"/>
                      <a:pt x="90" y="295"/>
                    </a:cubicBezTo>
                    <a:cubicBezTo>
                      <a:pt x="20" y="386"/>
                      <a:pt x="0" y="533"/>
                      <a:pt x="8" y="615"/>
                    </a:cubicBezTo>
                    <a:cubicBezTo>
                      <a:pt x="16" y="697"/>
                      <a:pt x="109" y="753"/>
                      <a:pt x="136" y="789"/>
                    </a:cubicBezTo>
                  </a:path>
                </a:pathLst>
              </a:custGeom>
              <a:noFill/>
              <a:ln w="76320">
                <a:solidFill>
                  <a:srgbClr val="FF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66" name="Line 121"/>
              <p:cNvSpPr/>
              <p:nvPr/>
            </p:nvSpPr>
            <p:spPr>
              <a:xfrm flipH="1">
                <a:off x="3939480" y="5018040"/>
                <a:ext cx="255960" cy="0"/>
              </a:xfrm>
              <a:prstGeom prst="line">
                <a:avLst/>
              </a:prstGeom>
              <a:ln w="76320">
                <a:solidFill>
                  <a:srgbClr val="FF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Text Box 4"/>
          <p:cNvSpPr/>
          <p:nvPr/>
        </p:nvSpPr>
        <p:spPr>
          <a:xfrm>
            <a:off x="163440" y="208080"/>
            <a:ext cx="8980560" cy="261144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5</a:t>
            </a:r>
            <a:r>
              <a:rPr lang="en-US" sz="2800" b="1" u="none" strike="noStrike">
                <a:solidFill>
                  <a:srgbClr val="000000"/>
                </a:solidFill>
                <a:effectLst/>
                <a:uFillTx/>
                <a:latin typeface="Times New Roman"/>
              </a:rPr>
              <a:t>   </a:t>
            </a:r>
            <a:r>
              <a:rPr lang="zh-CN" sz="2800" b="1" u="none" strike="noStrike">
                <a:solidFill>
                  <a:srgbClr val="990033"/>
                </a:solidFill>
                <a:effectLst/>
                <a:uFillTx/>
                <a:latin typeface="Times New Roman"/>
              </a:rPr>
              <a:t>根轨迹的渐近线</a:t>
            </a:r>
            <a:endParaRPr lang="en-US" sz="2800" b="1" u="none" strike="noStrike">
              <a:solidFill>
                <a:srgbClr val="000000"/>
              </a:solidFill>
              <a:effectLst/>
              <a:uFillTx/>
              <a:latin typeface="Times New Roman"/>
            </a:endParaRPr>
          </a:p>
          <a:p>
            <a:pPr>
              <a:lnSpc>
                <a:spcPct val="13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10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根据</a:t>
            </a: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4</a:t>
            </a:r>
            <a:r>
              <a:rPr lang="zh-CN" sz="2800" b="1" u="none" strike="noStrike">
                <a:solidFill>
                  <a:srgbClr val="000000"/>
                </a:solidFill>
                <a:effectLst/>
                <a:uFillTx/>
                <a:latin typeface="Times New Roman"/>
              </a:rPr>
              <a:t>，当开环传递函数中</a:t>
            </a:r>
            <a:r>
              <a:rPr lang="en-US" sz="2800" b="1" i="1" u="none" strike="noStrike">
                <a:solidFill>
                  <a:srgbClr val="000000"/>
                </a:solidFill>
                <a:effectLst/>
                <a:uFillTx/>
                <a:latin typeface="Times New Roman"/>
              </a:rPr>
              <a:t>m</a:t>
            </a:r>
            <a:r>
              <a:rPr lang="en-US" sz="2800" b="1" u="none" strike="noStrike">
                <a:solidFill>
                  <a:srgbClr val="000000"/>
                </a:solidFill>
                <a:effectLst/>
                <a:uFillTx/>
                <a:latin typeface="Times New Roman"/>
              </a:rPr>
              <a:t> &lt; </a:t>
            </a:r>
            <a:r>
              <a:rPr lang="en-US" sz="2800" b="1" i="1" u="none" strike="noStrike">
                <a:solidFill>
                  <a:srgbClr val="000000"/>
                </a:solidFill>
                <a:effectLst/>
                <a:uFillTx/>
                <a:latin typeface="Times New Roman"/>
              </a:rPr>
              <a:t>n </a:t>
            </a:r>
            <a:r>
              <a:rPr lang="zh-CN" sz="2800" b="1" u="none" strike="noStrike">
                <a:solidFill>
                  <a:srgbClr val="000000"/>
                </a:solidFill>
                <a:effectLst/>
                <a:uFillTx/>
                <a:latin typeface="Times New Roman"/>
              </a:rPr>
              <a:t>时，将有</a:t>
            </a:r>
            <a:r>
              <a:rPr lang="en-US" sz="2800" b="1" i="1" u="none" strike="noStrike">
                <a:solidFill>
                  <a:srgbClr val="000000"/>
                </a:solidFill>
                <a:effectLst/>
                <a:uFillTx/>
                <a:latin typeface="Times New Roman"/>
              </a:rPr>
              <a:t>n </a:t>
            </a:r>
            <a:r>
              <a:rPr lang="en-US" sz="2800" b="1" u="none" strike="noStrike">
                <a:solidFill>
                  <a:srgbClr val="000000"/>
                </a:solidFill>
                <a:effectLst/>
                <a:uFillTx/>
                <a:latin typeface="Symbol"/>
                <a:ea typeface="Symbol"/>
              </a:rPr>
              <a:t></a:t>
            </a:r>
            <a:r>
              <a:rPr lang="en-US" sz="2800" b="1" i="1" u="none" strike="noStrike">
                <a:solidFill>
                  <a:srgbClr val="000000"/>
                </a:solidFill>
                <a:effectLst/>
                <a:uFillTx/>
                <a:latin typeface="Times New Roman"/>
              </a:rPr>
              <a:t> m </a:t>
            </a:r>
            <a:r>
              <a:rPr lang="zh-CN" sz="2800" b="1" u="none" strike="noStrike">
                <a:solidFill>
                  <a:srgbClr val="000000"/>
                </a:solidFill>
                <a:effectLst/>
                <a:uFillTx/>
                <a:latin typeface="Times New Roman"/>
              </a:rPr>
              <a:t>条根轨迹分支沿着与实轴夹角为</a:t>
            </a:r>
            <a:r>
              <a:rPr lang="zh-CN" sz="2800" b="1" i="1" u="none" strike="noStrike">
                <a:solidFill>
                  <a:srgbClr val="000000"/>
                </a:solidFill>
                <a:effectLst/>
                <a:uFillTx/>
                <a:latin typeface="Symbol"/>
                <a:ea typeface="Symbol"/>
              </a:rPr>
              <a:t></a:t>
            </a:r>
            <a:r>
              <a:rPr lang="en-US" sz="2800" b="1" i="1" u="none" strike="noStrike" baseline="-25000">
                <a:solidFill>
                  <a:srgbClr val="000000"/>
                </a:solidFill>
                <a:effectLst/>
                <a:uFillTx/>
                <a:latin typeface="Times New Roman"/>
              </a:rPr>
              <a:t>a </a:t>
            </a:r>
            <a:r>
              <a:rPr lang="zh-CN" sz="2800" b="1" u="none" strike="noStrike">
                <a:solidFill>
                  <a:srgbClr val="000000"/>
                </a:solidFill>
                <a:effectLst/>
                <a:uFillTx/>
                <a:latin typeface="Times New Roman"/>
              </a:rPr>
              <a:t>，交点为</a:t>
            </a:r>
            <a:r>
              <a:rPr lang="zh-CN" sz="2800" b="1" i="1" u="none" strike="noStrike">
                <a:solidFill>
                  <a:srgbClr val="000000"/>
                </a:solidFill>
                <a:effectLst/>
                <a:uFillTx/>
                <a:latin typeface="Symbol"/>
                <a:ea typeface="Symbol"/>
              </a:rPr>
              <a:t></a:t>
            </a:r>
            <a:r>
              <a:rPr lang="en-US" sz="2800" b="1" i="1" u="none" strike="noStrike" baseline="-25000">
                <a:solidFill>
                  <a:srgbClr val="000000"/>
                </a:solidFill>
                <a:effectLst/>
                <a:uFillTx/>
                <a:latin typeface="Times New Roman"/>
              </a:rPr>
              <a:t>a </a:t>
            </a:r>
            <a:r>
              <a:rPr lang="zh-CN" sz="2800" b="1" u="none" strike="noStrike">
                <a:solidFill>
                  <a:srgbClr val="000000"/>
                </a:solidFill>
                <a:effectLst/>
                <a:uFillTx/>
                <a:latin typeface="Times New Roman"/>
              </a:rPr>
              <a:t>的一组渐近线趋于无穷远处，且有：</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468" name="Object 5"/>
              <p:cNvSpPr txBox="1"/>
              <p:nvPr/>
            </p:nvSpPr>
            <p:spPr>
              <a:xfrm>
                <a:off x="2128680" y="4726080"/>
                <a:ext cx="3322800" cy="1789200"/>
              </a:xfrm>
              <a:prstGeom prst="rect">
                <a:avLst/>
              </a:prstGeom>
            </p:spPr>
            <p:txBody>
              <a:bodyPr/>
              <a:p>
                <a14:m>
                  <m:oMath xmlns:m="http://schemas.openxmlformats.org/officeDocument/2006/math">
                    <m:sSub>
                      <m:e>
                        <m:r>
                          <m:t xml:space="preserve">σ</m:t>
                        </m:r>
                      </m:e>
                      <m:sub>
                        <m:r>
                          <m:t xml:space="preserve">a</m:t>
                        </m:r>
                      </m:sub>
                    </m:sSub>
                    <m:r>
                      <m:t xml:space="preserve">=</m:t>
                    </m:r>
                    <m:f>
                      <m:num>
                        <m:nary>
                          <m:naryPr>
                            <m:chr m:val="∑"/>
                          </m:naryPr>
                          <m:sub>
                            <m:r>
                              <m:t xml:space="preserve">j</m:t>
                            </m:r>
                            <m:r>
                              <m:t xml:space="preserve">=</m:t>
                            </m:r>
                            <m:r>
                              <m:t xml:space="preserve">1</m:t>
                            </m:r>
                          </m:sub>
                          <m:sup>
                            <m:r>
                              <m:t xml:space="preserve">n</m:t>
                            </m:r>
                          </m:sup>
                          <m:e>
                            <m:sSub>
                              <m:e>
                                <m:r>
                                  <m:t xml:space="preserve">p</m:t>
                                </m:r>
                              </m:e>
                              <m:sub>
                                <m:r>
                                  <m:t xml:space="preserve">j</m:t>
                                </m:r>
                              </m:sub>
                            </m:sSub>
                          </m:e>
                        </m:nary>
                        <m:r>
                          <m:t xml:space="preserve">−</m:t>
                        </m:r>
                        <m:nary>
                          <m:naryPr>
                            <m:chr m:val="∑"/>
                          </m:naryPr>
                          <m:sub>
                            <m:r>
                              <m:t xml:space="preserve">i</m:t>
                            </m:r>
                            <m:r>
                              <m:t xml:space="preserve">=</m:t>
                            </m:r>
                            <m:r>
                              <m:t xml:space="preserve">1</m:t>
                            </m:r>
                          </m:sub>
                          <m:sup>
                            <m:r>
                              <m:t xml:space="preserve">m</m:t>
                            </m:r>
                          </m:sup>
                          <m:e>
                            <m:sSub>
                              <m:e>
                                <m:r>
                                  <m:t xml:space="preserve">z</m:t>
                                </m:r>
                              </m:e>
                              <m:sub>
                                <m:r>
                                  <m:t xml:space="preserve">i</m:t>
                                </m:r>
                              </m:sub>
                            </m:sSub>
                          </m:e>
                        </m:nary>
                      </m:num>
                      <m:den>
                        <m:r>
                          <m:t xml:space="preserve">n</m:t>
                        </m:r>
                        <m:r>
                          <m:t xml:space="preserve">−</m:t>
                        </m:r>
                        <m:r>
                          <m:t xml:space="preserve">m</m:t>
                        </m:r>
                      </m:den>
                    </m:f>
                  </m:oMath>
                </a14:m>
              </a:p>
            </p:txBody>
          </p:sp>
        </mc:Choice>
        <mc:Fallback>
          <p:sp>
            <p:nvSpPr>
              <p:cNvPr id="468" name="Object 5"/>
              <p:cNvSpPr txBox="1"/>
              <p:nvPr/>
            </p:nvSpPr>
            <p:spPr>
              <a:xfrm>
                <a:off x="2128680" y="4726080"/>
                <a:ext cx="3322800" cy="1789200"/>
              </a:xfrm>
              <a:prstGeom prst="rect">
                <a:avLst/>
              </a:prstGeom>
              <a:blipFill>
                <a:blip r:embed="rId1"/>
                <a:stretch>
                  <a:fillRect/>
                </a:stretch>
              </a:blipFill>
            </p:spPr>
          </p:sp>
        </mc:Fallback>
      </mc:AlternateContent>
      <mc:AlternateContent>
        <mc:Choice xmlns:a14="http://schemas.microsoft.com/office/drawing/2010/main" Requires="a14">
          <p:sp>
            <p:nvSpPr>
              <p:cNvPr id="469" name="Object 6"/>
              <p:cNvSpPr txBox="1"/>
              <p:nvPr/>
            </p:nvSpPr>
            <p:spPr>
              <a:xfrm>
                <a:off x="2112840" y="2925720"/>
                <a:ext cx="2716200" cy="1143000"/>
              </a:xfrm>
              <a:prstGeom prst="rect">
                <a:avLst/>
              </a:prstGeom>
            </p:spPr>
            <p:txBody>
              <a:bodyPr/>
              <a:p>
                <a14:m>
                  <m:oMath xmlns:m="http://schemas.openxmlformats.org/officeDocument/2006/math">
                    <m:sSub>
                      <m:e>
                        <m:r>
                          <m:t xml:space="preserve">ϕ</m:t>
                        </m:r>
                      </m:e>
                      <m:sub>
                        <m:r>
                          <m:t xml:space="preserve">a</m:t>
                        </m:r>
                      </m:sub>
                    </m:sSub>
                    <m:r>
                      <m:t xml:space="preserve">=</m:t>
                    </m:r>
                    <m:f>
                      <m:num>
                        <m:r>
                          <m:t xml:space="preserve">(</m:t>
                        </m:r>
                        <m:r>
                          <m:t xml:space="preserve">2</m:t>
                        </m:r>
                        <m:r>
                          <m:t xml:space="preserve">k</m:t>
                        </m:r>
                        <m:r>
                          <m:t xml:space="preserve">+</m:t>
                        </m:r>
                        <m:r>
                          <m:t xml:space="preserve">1</m:t>
                        </m:r>
                        <m:r>
                          <m:t xml:space="preserve">)</m:t>
                        </m:r>
                        <m:r>
                          <m:t xml:space="preserve">π</m:t>
                        </m:r>
                      </m:num>
                      <m:den>
                        <m:r>
                          <m:t xml:space="preserve">n</m:t>
                        </m:r>
                        <m:r>
                          <m:t xml:space="preserve">−</m:t>
                        </m:r>
                        <m:r>
                          <m:t xml:space="preserve">m</m:t>
                        </m:r>
                      </m:den>
                    </m:f>
                  </m:oMath>
                </a14:m>
              </a:p>
            </p:txBody>
          </p:sp>
        </mc:Choice>
        <mc:Fallback>
          <p:sp>
            <p:nvSpPr>
              <p:cNvPr id="469" name="Object 6"/>
              <p:cNvSpPr txBox="1"/>
              <p:nvPr/>
            </p:nvSpPr>
            <p:spPr>
              <a:xfrm>
                <a:off x="2112840" y="2925720"/>
                <a:ext cx="2716200" cy="1143000"/>
              </a:xfrm>
              <a:prstGeom prst="rect">
                <a:avLst/>
              </a:prstGeom>
              <a:blipFill>
                <a:blip r:embed="rId2"/>
                <a:stretch>
                  <a:fillRect/>
                </a:stretch>
              </a:blipFill>
            </p:spPr>
          </p:sp>
        </mc:Fallback>
      </mc:AlternateContent>
      <p:sp>
        <p:nvSpPr>
          <p:cNvPr id="470" name="Rectangle 10"/>
          <p:cNvSpPr/>
          <p:nvPr/>
        </p:nvSpPr>
        <p:spPr>
          <a:xfrm>
            <a:off x="5227560" y="3164040"/>
            <a:ext cx="3557520" cy="520920"/>
          </a:xfrm>
          <a:prstGeom prst="rect">
            <a:avLst/>
          </a:prstGeom>
          <a:noFill/>
          <a:ln w="0">
            <a:noFill/>
          </a:ln>
        </p:spPr>
        <p:style>
          <a:lnRef idx="0"/>
          <a:fillRef idx="0"/>
          <a:effectRef idx="0"/>
          <a:fontRef idx="minor"/>
        </p:style>
        <p:txBody>
          <a:bodyPr lIns="90000" tIns="46800" rIns="90000" bIns="46800" anchor="t">
            <a:sp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k </a:t>
            </a:r>
            <a:r>
              <a:rPr lang="en-US" sz="2800" b="1" u="none" strike="noStrike">
                <a:solidFill>
                  <a:srgbClr val="000000"/>
                </a:solidFill>
                <a:effectLst/>
                <a:uFillTx/>
                <a:latin typeface="Times New Roman"/>
              </a:rPr>
              <a:t>= 0,1, … , </a:t>
            </a:r>
            <a:r>
              <a:rPr lang="en-US" sz="2800" b="1" i="1" u="none" strike="noStrike">
                <a:solidFill>
                  <a:srgbClr val="990033"/>
                </a:solidFill>
                <a:effectLst/>
                <a:uFillTx/>
                <a:latin typeface="Times New Roman"/>
              </a:rPr>
              <a:t>n </a:t>
            </a:r>
            <a:r>
              <a:rPr lang="en-US" sz="2800" b="1" u="none" strike="noStrike">
                <a:solidFill>
                  <a:srgbClr val="990033"/>
                </a:solidFill>
                <a:effectLst/>
                <a:uFillTx/>
                <a:latin typeface="Symbol"/>
                <a:ea typeface="Symbol"/>
              </a:rPr>
              <a:t></a:t>
            </a:r>
            <a:r>
              <a:rPr lang="en-US" sz="2800" b="1" i="1" u="none" strike="noStrike">
                <a:solidFill>
                  <a:srgbClr val="990033"/>
                </a:solidFill>
                <a:effectLst/>
                <a:uFillTx/>
                <a:latin typeface="Times New Roman"/>
              </a:rPr>
              <a:t>m</a:t>
            </a:r>
            <a:r>
              <a:rPr lang="en-US" sz="2800" b="1" u="none" strike="noStrike">
                <a:solidFill>
                  <a:srgbClr val="990033"/>
                </a:solidFill>
                <a:effectLst/>
                <a:uFillTx/>
                <a:latin typeface="Times New Roman"/>
              </a:rPr>
              <a:t> </a:t>
            </a:r>
            <a:r>
              <a:rPr lang="en-US" sz="2800" b="1" u="none" strike="noStrike">
                <a:solidFill>
                  <a:srgbClr val="990033"/>
                </a:solidFill>
                <a:effectLst/>
                <a:uFillTx/>
                <a:latin typeface="Symbol"/>
                <a:ea typeface="Symbol"/>
              </a:rPr>
              <a:t></a:t>
            </a:r>
            <a:r>
              <a:rPr lang="en-US" sz="2800" b="1" u="none" strike="noStrike">
                <a:solidFill>
                  <a:srgbClr val="990033"/>
                </a:solidFill>
                <a:effectLst/>
                <a:uFillTx/>
                <a:latin typeface="Times New Roman"/>
              </a:rPr>
              <a:t> 1</a:t>
            </a:r>
            <a:r>
              <a:rPr lang="en-US"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794" dur="indefinite" restart="never" nodeType="tmRoot">
          <p:childTnLst>
            <p:seq>
              <p:cTn id="795" dur="indefinite" nodeType="mainSeq">
                <p:childTnLst>
                  <p:par>
                    <p:cTn id="796" fill="hold" nodeType="clickEffect">
                      <p:stCondLst>
                        <p:cond delay="indefinite"/>
                      </p:stCondLst>
                      <p:childTnLst>
                        <p:par>
                          <p:cTn id="797" fill="hold" nodeType="withEffect">
                            <p:stCondLst>
                              <p:cond delay="0"/>
                            </p:stCondLst>
                            <p:childTnLst>
                              <p:par>
                                <p:cTn id="798" presetID="3" presetClass="entr" fill="hold" nodeType="clickEffect" presetSubtype="10">
                                  <p:stCondLst>
                                    <p:cond delay="0"/>
                                  </p:stCondLst>
                                  <p:childTnLst>
                                    <p:set>
                                      <p:cBhvr>
                                        <p:cTn id="799" dur="1" fill="hold">
                                          <p:stCondLst>
                                            <p:cond delay="0"/>
                                          </p:stCondLst>
                                        </p:cTn>
                                        <p:tgtEl>
                                          <p:spTgt spid="467"/>
                                        </p:tgtEl>
                                        <p:attrNameLst>
                                          <p:attrName>style.visibility</p:attrName>
                                        </p:attrNameLst>
                                      </p:cBhvr>
                                      <p:to>
                                        <p:strVal val="visible"/>
                                      </p:to>
                                    </p:set>
                                    <p:animEffect transition="in" filter="blinds(horizontal)">
                                      <p:cBhvr additive="repl">
                                        <p:cTn id="800" dur="500"/>
                                        <p:tgtEl>
                                          <p:spTgt spid="467"/>
                                        </p:tgtEl>
                                      </p:cBhvr>
                                    </p:animEffect>
                                  </p:childTnLst>
                                </p:cTn>
                              </p:par>
                            </p:childTnLst>
                          </p:cTn>
                        </p:par>
                      </p:childTnLst>
                    </p:cTn>
                  </p:par>
                  <p:par>
                    <p:cTn id="801" fill="hold" nodeType="clickEffect">
                      <p:stCondLst>
                        <p:cond delay="indefinite"/>
                      </p:stCondLst>
                      <p:childTnLst>
                        <p:par>
                          <p:cTn id="802" fill="hold" nodeType="withEffect">
                            <p:stCondLst>
                              <p:cond delay="0"/>
                            </p:stCondLst>
                            <p:childTnLst>
                              <p:par>
                                <p:cTn id="803" presetID="9" presetClass="entr" fill="hold" nodeType="clickEffect">
                                  <p:stCondLst>
                                    <p:cond delay="0"/>
                                  </p:stCondLst>
                                  <p:childTnLst>
                                    <p:set>
                                      <p:cBhvr>
                                        <p:cTn id="804" dur="1" fill="hold">
                                          <p:stCondLst>
                                            <p:cond delay="0"/>
                                          </p:stCondLst>
                                        </p:cTn>
                                        <p:tgtEl>
                                          <p:spTgt spid="469"/>
                                        </p:tgtEl>
                                        <p:attrNameLst>
                                          <p:attrName>style.visibility</p:attrName>
                                        </p:attrNameLst>
                                      </p:cBhvr>
                                      <p:to>
                                        <p:strVal val="visible"/>
                                      </p:to>
                                    </p:set>
                                    <p:animEffect transition="in" filter="dissolve">
                                      <p:cBhvr additive="repl">
                                        <p:cTn id="805" dur="500"/>
                                        <p:tgtEl>
                                          <p:spTgt spid="469"/>
                                        </p:tgtEl>
                                      </p:cBhvr>
                                    </p:animEffect>
                                  </p:childTnLst>
                                </p:cTn>
                              </p:par>
                            </p:childTnLst>
                          </p:cTn>
                        </p:par>
                        <p:par>
                          <p:cTn id="806" fill="hold" nodeType="afterEffect">
                            <p:stCondLst>
                              <p:cond delay="500"/>
                            </p:stCondLst>
                            <p:childTnLst>
                              <p:par>
                                <p:cTn id="807" presetID="9" presetClass="entr" fill="hold" nodeType="afterEffect">
                                  <p:stCondLst>
                                    <p:cond delay="0"/>
                                  </p:stCondLst>
                                  <p:childTnLst>
                                    <p:set>
                                      <p:cBhvr>
                                        <p:cTn id="808" dur="1" fill="hold">
                                          <p:stCondLst>
                                            <p:cond delay="0"/>
                                          </p:stCondLst>
                                        </p:cTn>
                                        <p:tgtEl>
                                          <p:spTgt spid="470"/>
                                        </p:tgtEl>
                                        <p:attrNameLst>
                                          <p:attrName>style.visibility</p:attrName>
                                        </p:attrNameLst>
                                      </p:cBhvr>
                                      <p:to>
                                        <p:strVal val="visible"/>
                                      </p:to>
                                    </p:set>
                                    <p:animEffect transition="in" filter="dissolve">
                                      <p:cBhvr additive="repl">
                                        <p:cTn id="809" dur="500"/>
                                        <p:tgtEl>
                                          <p:spTgt spid="470"/>
                                        </p:tgtEl>
                                      </p:cBhvr>
                                    </p:animEffect>
                                  </p:childTnLst>
                                </p:cTn>
                              </p:par>
                            </p:childTnLst>
                          </p:cTn>
                        </p:par>
                      </p:childTnLst>
                    </p:cTn>
                  </p:par>
                  <p:par>
                    <p:cTn id="810" fill="hold" nodeType="clickEffect">
                      <p:stCondLst>
                        <p:cond delay="indefinite"/>
                      </p:stCondLst>
                      <p:childTnLst>
                        <p:par>
                          <p:cTn id="811" fill="hold" nodeType="withEffect">
                            <p:stCondLst>
                              <p:cond delay="0"/>
                            </p:stCondLst>
                            <p:childTnLst>
                              <p:par>
                                <p:cTn id="812" presetID="9" presetClass="entr" fill="hold" nodeType="clickEffect">
                                  <p:stCondLst>
                                    <p:cond delay="0"/>
                                  </p:stCondLst>
                                  <p:childTnLst>
                                    <p:set>
                                      <p:cBhvr>
                                        <p:cTn id="813" dur="1" fill="hold">
                                          <p:stCondLst>
                                            <p:cond delay="0"/>
                                          </p:stCondLst>
                                        </p:cTn>
                                        <p:tgtEl>
                                          <p:spTgt spid="468"/>
                                        </p:tgtEl>
                                        <p:attrNameLst>
                                          <p:attrName>style.visibility</p:attrName>
                                        </p:attrNameLst>
                                      </p:cBhvr>
                                      <p:to>
                                        <p:strVal val="visible"/>
                                      </p:to>
                                    </p:set>
                                    <p:animEffect transition="in" filter="dissolve">
                                      <p:cBhvr additive="repl">
                                        <p:cTn id="814" dur="5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Text Box 4"/>
          <p:cNvSpPr/>
          <p:nvPr/>
        </p:nvSpPr>
        <p:spPr>
          <a:xfrm>
            <a:off x="219240" y="84240"/>
            <a:ext cx="5105160" cy="397188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6</a:t>
            </a:r>
            <a:r>
              <a:rPr lang="en-US" sz="2800" b="1" u="none" strike="noStrike">
                <a:solidFill>
                  <a:srgbClr val="000000"/>
                </a:solidFill>
                <a:effectLst/>
                <a:uFillTx/>
                <a:latin typeface="Times New Roman"/>
              </a:rPr>
              <a:t>   </a:t>
            </a:r>
            <a:r>
              <a:rPr lang="zh-CN" sz="2800" b="1" u="none" strike="noStrike">
                <a:solidFill>
                  <a:srgbClr val="990033"/>
                </a:solidFill>
                <a:effectLst/>
                <a:uFillTx/>
                <a:latin typeface="Times New Roman"/>
              </a:rPr>
              <a:t>实轴上的根轨迹分布</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66"/>
                </a:solidFill>
                <a:effectLst/>
                <a:uFillTx/>
                <a:latin typeface="Times New Roman"/>
              </a:rPr>
              <a:t>    </a:t>
            </a:r>
            <a:r>
              <a:rPr lang="zh-CN" sz="2700" b="1" u="none" strike="noStrike">
                <a:solidFill>
                  <a:srgbClr val="000066"/>
                </a:solidFill>
                <a:effectLst/>
                <a:uFillTx/>
                <a:latin typeface="Times New Roman"/>
              </a:rPr>
              <a:t>实轴上的某一区域，若</a:t>
            </a:r>
            <a:endParaRPr lang="en-US" sz="27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700" b="1" u="none" strike="noStrike">
                <a:solidFill>
                  <a:srgbClr val="000066"/>
                </a:solidFill>
                <a:effectLst/>
                <a:uFillTx/>
                <a:latin typeface="Times New Roman"/>
              </a:rPr>
              <a:t>其右边开环实数零、极点</a:t>
            </a:r>
            <a:endParaRPr lang="en-US" sz="27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700" b="1" u="none" strike="noStrike">
                <a:solidFill>
                  <a:srgbClr val="000066"/>
                </a:solidFill>
                <a:effectLst/>
                <a:uFillTx/>
                <a:latin typeface="Times New Roman"/>
              </a:rPr>
              <a:t>个数之和为奇数，则该区</a:t>
            </a:r>
            <a:endParaRPr lang="en-US" sz="27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700" b="1" u="none" strike="noStrike">
                <a:solidFill>
                  <a:srgbClr val="000066"/>
                </a:solidFill>
                <a:effectLst/>
                <a:uFillTx/>
                <a:latin typeface="Times New Roman"/>
              </a:rPr>
              <a:t>域必是根轨迹</a:t>
            </a:r>
            <a:r>
              <a:rPr lang="zh-CN" sz="2700" b="1" u="none" strike="noStrike">
                <a:solidFill>
                  <a:srgbClr val="000000"/>
                </a:solidFill>
                <a:effectLst/>
                <a:uFillTx/>
                <a:latin typeface="Times New Roman"/>
              </a:rPr>
              <a:t>。</a:t>
            </a:r>
            <a:endParaRPr lang="en-US" sz="27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Times New Roman"/>
              </a:rPr>
              <a:t>       “奇是偶不是”</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证明：设零、极点分</a:t>
            </a:r>
            <a:endParaRPr lang="en-US" sz="24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布如图示：</a:t>
            </a:r>
            <a:endParaRPr lang="en-US" sz="2400" b="1" u="none" strike="noStrike">
              <a:solidFill>
                <a:srgbClr val="000000"/>
              </a:solidFill>
              <a:effectLst/>
              <a:uFillTx/>
              <a:latin typeface="Times New Roman"/>
            </a:endParaRPr>
          </a:p>
        </p:txBody>
      </p:sp>
      <p:grpSp>
        <p:nvGrpSpPr>
          <p:cNvPr id="472" name="Group 5"/>
          <p:cNvGrpSpPr/>
          <p:nvPr/>
        </p:nvGrpSpPr>
        <p:grpSpPr>
          <a:xfrm>
            <a:off x="6737400" y="1114560"/>
            <a:ext cx="287280" cy="290520"/>
            <a:chOff x="6737400" y="1114560"/>
            <a:chExt cx="287280" cy="290520"/>
          </a:xfrm>
        </p:grpSpPr>
        <p:sp>
          <p:nvSpPr>
            <p:cNvPr id="473" name="Line 6"/>
            <p:cNvSpPr/>
            <p:nvPr/>
          </p:nvSpPr>
          <p:spPr>
            <a:xfrm>
              <a:off x="6740640" y="11224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74" name="Line 7"/>
            <p:cNvSpPr/>
            <p:nvPr/>
          </p:nvSpPr>
          <p:spPr>
            <a:xfrm flipH="1">
              <a:off x="6737400" y="11145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475" name="Group 8"/>
          <p:cNvGrpSpPr/>
          <p:nvPr/>
        </p:nvGrpSpPr>
        <p:grpSpPr>
          <a:xfrm>
            <a:off x="6773760" y="3552840"/>
            <a:ext cx="287280" cy="290520"/>
            <a:chOff x="6773760" y="3552840"/>
            <a:chExt cx="287280" cy="290520"/>
          </a:xfrm>
        </p:grpSpPr>
        <p:sp>
          <p:nvSpPr>
            <p:cNvPr id="476" name="Line 9"/>
            <p:cNvSpPr/>
            <p:nvPr/>
          </p:nvSpPr>
          <p:spPr>
            <a:xfrm>
              <a:off x="6777000" y="356076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77" name="Line 10"/>
            <p:cNvSpPr/>
            <p:nvPr/>
          </p:nvSpPr>
          <p:spPr>
            <a:xfrm flipH="1">
              <a:off x="6773760" y="355284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478" name="Rectangle 11"/>
          <p:cNvSpPr/>
          <p:nvPr/>
        </p:nvSpPr>
        <p:spPr>
          <a:xfrm>
            <a:off x="7039080" y="1144440"/>
            <a:ext cx="482400" cy="597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479" name="Rectangle 12"/>
          <p:cNvSpPr/>
          <p:nvPr/>
        </p:nvSpPr>
        <p:spPr>
          <a:xfrm>
            <a:off x="6254640" y="3436920"/>
            <a:ext cx="482760" cy="597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grpSp>
        <p:nvGrpSpPr>
          <p:cNvPr id="480" name="Group 13"/>
          <p:cNvGrpSpPr/>
          <p:nvPr/>
        </p:nvGrpSpPr>
        <p:grpSpPr>
          <a:xfrm>
            <a:off x="4486320" y="0"/>
            <a:ext cx="4694040" cy="3991680"/>
            <a:chOff x="4486320" y="0"/>
            <a:chExt cx="4694040" cy="3991680"/>
          </a:xfrm>
        </p:grpSpPr>
        <p:sp>
          <p:nvSpPr>
            <p:cNvPr id="481" name="Line 14"/>
            <p:cNvSpPr/>
            <p:nvPr/>
          </p:nvSpPr>
          <p:spPr>
            <a:xfrm flipV="1">
              <a:off x="7907400" y="133200"/>
              <a:ext cx="0" cy="385848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82" name="Line 15"/>
            <p:cNvSpPr/>
            <p:nvPr/>
          </p:nvSpPr>
          <p:spPr>
            <a:xfrm>
              <a:off x="4486320" y="2396160"/>
              <a:ext cx="430452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83" name="Rectangle 16"/>
            <p:cNvSpPr/>
            <p:nvPr/>
          </p:nvSpPr>
          <p:spPr>
            <a:xfrm>
              <a:off x="7697520" y="0"/>
              <a:ext cx="82800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484" name="Rectangle 17"/>
            <p:cNvSpPr/>
            <p:nvPr/>
          </p:nvSpPr>
          <p:spPr>
            <a:xfrm>
              <a:off x="8633160" y="2067840"/>
              <a:ext cx="547200" cy="5209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485" name="Rectangle 18"/>
            <p:cNvSpPr/>
            <p:nvPr/>
          </p:nvSpPr>
          <p:spPr>
            <a:xfrm>
              <a:off x="7857720" y="24300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486" name="Group 19"/>
          <p:cNvGrpSpPr/>
          <p:nvPr/>
        </p:nvGrpSpPr>
        <p:grpSpPr>
          <a:xfrm>
            <a:off x="7780320" y="2265480"/>
            <a:ext cx="287280" cy="290520"/>
            <a:chOff x="7780320" y="2265480"/>
            <a:chExt cx="287280" cy="290520"/>
          </a:xfrm>
        </p:grpSpPr>
        <p:sp>
          <p:nvSpPr>
            <p:cNvPr id="487" name="Line 20"/>
            <p:cNvSpPr/>
            <p:nvPr/>
          </p:nvSpPr>
          <p:spPr>
            <a:xfrm>
              <a:off x="7783560" y="227340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88" name="Line 21"/>
            <p:cNvSpPr/>
            <p:nvPr/>
          </p:nvSpPr>
          <p:spPr>
            <a:xfrm flipH="1">
              <a:off x="7780320" y="226548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489" name="Rectangle 22"/>
          <p:cNvSpPr/>
          <p:nvPr/>
        </p:nvSpPr>
        <p:spPr>
          <a:xfrm>
            <a:off x="7401960" y="2333520"/>
            <a:ext cx="46116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490" name="Rectangle 23"/>
          <p:cNvSpPr/>
          <p:nvPr/>
        </p:nvSpPr>
        <p:spPr>
          <a:xfrm>
            <a:off x="4547520" y="2333520"/>
            <a:ext cx="42192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z</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491" name="Oval 24"/>
          <p:cNvSpPr/>
          <p:nvPr/>
        </p:nvSpPr>
        <p:spPr>
          <a:xfrm>
            <a:off x="5924520" y="2279520"/>
            <a:ext cx="262080" cy="262080"/>
          </a:xfrm>
          <a:prstGeom prst="ellipse">
            <a:avLst/>
          </a:prstGeom>
          <a:solidFill>
            <a:srgbClr val="993300"/>
          </a:solidFill>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492" name="Rectangle 25"/>
          <p:cNvSpPr/>
          <p:nvPr/>
        </p:nvSpPr>
        <p:spPr>
          <a:xfrm>
            <a:off x="5745960" y="2468520"/>
            <a:ext cx="42192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useBgFill="1">
        <p:nvSpPr>
          <p:cNvPr id="493" name="Oval 30"/>
          <p:cNvSpPr/>
          <p:nvPr/>
        </p:nvSpPr>
        <p:spPr>
          <a:xfrm>
            <a:off x="4911840" y="2262240"/>
            <a:ext cx="32688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494" name="Freeform 31"/>
          <p:cNvSpPr/>
          <p:nvPr/>
        </p:nvSpPr>
        <p:spPr>
          <a:xfrm>
            <a:off x="7316640" y="1879560"/>
            <a:ext cx="1184400" cy="539640"/>
          </a:xfrm>
          <a:custGeom>
            <a:avLst/>
            <a:gdLst>
              <a:gd name="GluePoint1X" fmla="*/ 0 w 746"/>
              <a:gd name="GluePoint1Y" fmla="*/ 328 h 340"/>
              <a:gd name="GluePoint2X" fmla="*/ 168 w 746"/>
              <a:gd name="GluePoint2Y" fmla="*/ 52 h 340"/>
              <a:gd name="GluePoint3X" fmla="*/ 384 w 746"/>
              <a:gd name="GluePoint3Y" fmla="*/ 19 h 340"/>
              <a:gd name="GluePoint4X" fmla="*/ 557 w 746"/>
              <a:gd name="GluePoint4Y" fmla="*/ 68 h 340"/>
              <a:gd name="GluePoint5X" fmla="*/ 656 w 746"/>
              <a:gd name="GluePoint5Y" fmla="*/ 167 h 340"/>
              <a:gd name="GluePoint6X" fmla="*/ 705 w 746"/>
              <a:gd name="GluePoint6Y" fmla="*/ 307 h 340"/>
              <a:gd name="GluePoint7X" fmla="*/ 746 w 746"/>
              <a:gd name="GluePoint7Y" fmla="*/ 340 h 3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746" h="340">
                <a:moveTo>
                  <a:pt x="0" y="328"/>
                </a:moveTo>
                <a:cubicBezTo>
                  <a:pt x="28" y="282"/>
                  <a:pt x="104" y="104"/>
                  <a:pt x="168" y="52"/>
                </a:cubicBezTo>
                <a:cubicBezTo>
                  <a:pt x="232" y="0"/>
                  <a:pt x="319" y="16"/>
                  <a:pt x="384" y="19"/>
                </a:cubicBezTo>
                <a:cubicBezTo>
                  <a:pt x="449" y="22"/>
                  <a:pt x="512" y="43"/>
                  <a:pt x="557" y="68"/>
                </a:cubicBezTo>
                <a:cubicBezTo>
                  <a:pt x="602" y="93"/>
                  <a:pt x="631" y="127"/>
                  <a:pt x="656" y="167"/>
                </a:cubicBezTo>
                <a:cubicBezTo>
                  <a:pt x="681" y="207"/>
                  <a:pt x="690" y="278"/>
                  <a:pt x="705" y="307"/>
                </a:cubicBezTo>
                <a:cubicBezTo>
                  <a:pt x="720" y="336"/>
                  <a:pt x="738" y="333"/>
                  <a:pt x="746" y="340"/>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495" name="Rectangle 32"/>
          <p:cNvSpPr/>
          <p:nvPr/>
        </p:nvSpPr>
        <p:spPr>
          <a:xfrm>
            <a:off x="8089560" y="144000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496" name="Rectangle 33"/>
          <p:cNvSpPr/>
          <p:nvPr/>
        </p:nvSpPr>
        <p:spPr>
          <a:xfrm>
            <a:off x="5060520" y="1730520"/>
            <a:ext cx="929160" cy="59724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Times New Roman"/>
              </a:rPr>
              <a:t>=0</a:t>
            </a:r>
            <a:endParaRPr lang="en-US" sz="2800" b="1" u="none" strike="noStrike">
              <a:solidFill>
                <a:srgbClr val="000000"/>
              </a:solidFill>
              <a:effectLst/>
              <a:uFillTx/>
              <a:latin typeface="Times New Roman"/>
            </a:endParaRPr>
          </a:p>
        </p:txBody>
      </p:sp>
      <p:sp>
        <p:nvSpPr>
          <p:cNvPr id="497" name="Line 34"/>
          <p:cNvSpPr/>
          <p:nvPr/>
        </p:nvSpPr>
        <p:spPr>
          <a:xfrm>
            <a:off x="6881760" y="1230480"/>
            <a:ext cx="704880" cy="1440"/>
          </a:xfrm>
          <a:prstGeom prst="line">
            <a:avLst/>
          </a:prstGeom>
          <a:ln w="38160">
            <a:solidFill>
              <a:srgbClr val="000000"/>
            </a:solidFill>
            <a:miter/>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498" name="Rectangle 36"/>
          <p:cNvSpPr/>
          <p:nvPr/>
        </p:nvSpPr>
        <p:spPr>
          <a:xfrm>
            <a:off x="5898960" y="66204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499" name="Line 37"/>
          <p:cNvSpPr/>
          <p:nvPr/>
        </p:nvSpPr>
        <p:spPr>
          <a:xfrm>
            <a:off x="6932520" y="3686040"/>
            <a:ext cx="914400" cy="1800"/>
          </a:xfrm>
          <a:prstGeom prst="line">
            <a:avLst/>
          </a:prstGeom>
          <a:ln w="38160">
            <a:solidFill>
              <a:srgbClr val="000000"/>
            </a:solidFill>
            <a:miter/>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500" name="Freeform 38"/>
          <p:cNvSpPr/>
          <p:nvPr/>
        </p:nvSpPr>
        <p:spPr>
          <a:xfrm>
            <a:off x="6630840" y="3193920"/>
            <a:ext cx="720720" cy="498600"/>
          </a:xfrm>
          <a:custGeom>
            <a:avLst/>
            <a:gdLst>
              <a:gd name="GluePoint1X" fmla="*/ 0 w 454"/>
              <a:gd name="GluePoint1Y" fmla="*/ 4 h 314"/>
              <a:gd name="GluePoint2X" fmla="*/ 288 w 454"/>
              <a:gd name="GluePoint2Y" fmla="*/ 52 h 314"/>
              <a:gd name="GluePoint3X" fmla="*/ 454 w 454"/>
              <a:gd name="GluePoint3Y" fmla="*/ 314 h 314"/>
            </a:gdLst>
            <a:ahLst/>
            <a:cxnLst>
              <a:cxn ang="0">
                <a:pos x="GluePoint1X" y="GluePoint1Y"/>
              </a:cxn>
              <a:cxn ang="0">
                <a:pos x="GluePoint2X" y="GluePoint2Y"/>
              </a:cxn>
              <a:cxn ang="0">
                <a:pos x="GluePoint3X" y="GluePoint3Y"/>
              </a:cxn>
            </a:cxnLst>
            <a:rect l="l" t="t" r="r" b="b"/>
            <a:pathLst>
              <a:path w="454" h="314">
                <a:moveTo>
                  <a:pt x="0" y="4"/>
                </a:moveTo>
                <a:cubicBezTo>
                  <a:pt x="48" y="12"/>
                  <a:pt x="212" y="0"/>
                  <a:pt x="288" y="52"/>
                </a:cubicBezTo>
                <a:cubicBezTo>
                  <a:pt x="364" y="104"/>
                  <a:pt x="420" y="260"/>
                  <a:pt x="454" y="314"/>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01" name="Line 41"/>
          <p:cNvSpPr/>
          <p:nvPr/>
        </p:nvSpPr>
        <p:spPr>
          <a:xfrm flipH="1">
            <a:off x="6135480" y="1238400"/>
            <a:ext cx="704520" cy="106668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02" name="Line 42"/>
          <p:cNvSpPr/>
          <p:nvPr/>
        </p:nvSpPr>
        <p:spPr>
          <a:xfrm flipH="1" flipV="1">
            <a:off x="6116760" y="2533680"/>
            <a:ext cx="799920" cy="112392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03" name="Line 43"/>
          <p:cNvSpPr/>
          <p:nvPr/>
        </p:nvSpPr>
        <p:spPr>
          <a:xfrm>
            <a:off x="5240160" y="2400480"/>
            <a:ext cx="628920" cy="1440"/>
          </a:xfrm>
          <a:prstGeom prst="line">
            <a:avLst/>
          </a:prstGeom>
          <a:ln w="76320">
            <a:solidFill>
              <a:srgbClr val="9933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504" name="Line 44"/>
          <p:cNvSpPr/>
          <p:nvPr/>
        </p:nvSpPr>
        <p:spPr>
          <a:xfrm>
            <a:off x="6192720" y="2400480"/>
            <a:ext cx="1676520" cy="18720"/>
          </a:xfrm>
          <a:prstGeom prst="line">
            <a:avLst/>
          </a:prstGeom>
          <a:ln w="76320">
            <a:solidFill>
              <a:srgbClr val="993300"/>
            </a:solidFill>
            <a:miter/>
            <a:headEnd len="med" type="triangle" w="med"/>
          </a:ln>
        </p:spPr>
        <p:style>
          <a:lnRef idx="0"/>
          <a:fillRef idx="0"/>
          <a:effectRef idx="0"/>
          <a:fontRef idx="minor"/>
        </p:style>
        <p:txBody>
          <a:bodyPr lIns="90000" tIns="-28080" rIns="90000" bIns="-28080" anchor="t">
            <a:noAutofit/>
          </a:bodyPr>
          <a:p>
            <a:endParaRPr lang="en-US" sz="2800" b="1" u="none" strike="noStrike">
              <a:solidFill>
                <a:srgbClr val="000000"/>
              </a:solidFill>
              <a:effectLst/>
              <a:uFillTx/>
              <a:latin typeface="Times New Roman"/>
            </a:endParaRPr>
          </a:p>
        </p:txBody>
      </p:sp>
      <p:sp>
        <p:nvSpPr>
          <p:cNvPr id="505" name="Freeform 45"/>
          <p:cNvSpPr/>
          <p:nvPr/>
        </p:nvSpPr>
        <p:spPr>
          <a:xfrm>
            <a:off x="6373800" y="717480"/>
            <a:ext cx="885960" cy="825480"/>
          </a:xfrm>
          <a:custGeom>
            <a:avLst/>
            <a:gdLst>
              <a:gd name="GluePoint1X" fmla="*/ 558 w 558"/>
              <a:gd name="GluePoint1Y" fmla="*/ 304 h 520"/>
              <a:gd name="GluePoint2X" fmla="*/ 498 w 558"/>
              <a:gd name="GluePoint2Y" fmla="*/ 136 h 520"/>
              <a:gd name="GluePoint3X" fmla="*/ 330 w 558"/>
              <a:gd name="GluePoint3Y" fmla="*/ 16 h 520"/>
              <a:gd name="GluePoint4X" fmla="*/ 150 w 558"/>
              <a:gd name="GluePoint4Y" fmla="*/ 40 h 520"/>
              <a:gd name="GluePoint5X" fmla="*/ 30 w 558"/>
              <a:gd name="GluePoint5Y" fmla="*/ 172 h 520"/>
              <a:gd name="GluePoint6X" fmla="*/ 18 w 558"/>
              <a:gd name="GluePoint6Y" fmla="*/ 400 h 520"/>
              <a:gd name="GluePoint7X" fmla="*/ 138 w 558"/>
              <a:gd name="GluePoint7Y" fmla="*/ 520 h 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558" h="520">
                <a:moveTo>
                  <a:pt x="558" y="304"/>
                </a:moveTo>
                <a:cubicBezTo>
                  <a:pt x="548" y="276"/>
                  <a:pt x="536" y="184"/>
                  <a:pt x="498" y="136"/>
                </a:cubicBezTo>
                <a:cubicBezTo>
                  <a:pt x="460" y="88"/>
                  <a:pt x="388" y="32"/>
                  <a:pt x="330" y="16"/>
                </a:cubicBezTo>
                <a:cubicBezTo>
                  <a:pt x="272" y="0"/>
                  <a:pt x="200" y="14"/>
                  <a:pt x="150" y="40"/>
                </a:cubicBezTo>
                <a:cubicBezTo>
                  <a:pt x="100" y="66"/>
                  <a:pt x="52" y="112"/>
                  <a:pt x="30" y="172"/>
                </a:cubicBezTo>
                <a:cubicBezTo>
                  <a:pt x="8" y="232"/>
                  <a:pt x="0" y="342"/>
                  <a:pt x="18" y="400"/>
                </a:cubicBezTo>
                <a:cubicBezTo>
                  <a:pt x="36" y="458"/>
                  <a:pt x="113" y="495"/>
                  <a:pt x="138" y="520"/>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06" name="Rectangle 47"/>
          <p:cNvSpPr/>
          <p:nvPr/>
        </p:nvSpPr>
        <p:spPr>
          <a:xfrm>
            <a:off x="7126200" y="2967120"/>
            <a:ext cx="604800" cy="59724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sp>
        <p:nvSpPr>
          <p:cNvPr id="507" name="Text Box 48"/>
          <p:cNvSpPr/>
          <p:nvPr/>
        </p:nvSpPr>
        <p:spPr>
          <a:xfrm>
            <a:off x="704880" y="3886200"/>
            <a:ext cx="4305240" cy="59724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在实轴上取一测试点</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p:sp>
        <p:nvSpPr>
          <p:cNvPr id="508" name="Text Box 49"/>
          <p:cNvSpPr/>
          <p:nvPr/>
        </p:nvSpPr>
        <p:spPr>
          <a:xfrm>
            <a:off x="30240" y="4522680"/>
            <a:ext cx="9144000" cy="172224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由图可见，复数共轭极点到实轴</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点的向量幅角和为</a:t>
            </a:r>
            <a:r>
              <a:rPr lang="en-US" sz="2800" b="1" u="none" strike="noStrike">
                <a:solidFill>
                  <a:srgbClr val="000000"/>
                </a:solidFill>
                <a:effectLst/>
                <a:uFillTx/>
                <a:latin typeface="Times New Roman"/>
              </a:rPr>
              <a:t>2</a:t>
            </a:r>
            <a:r>
              <a:rPr lang="en-US" sz="2800" b="1" u="none" strike="noStrike">
                <a:solidFill>
                  <a:srgbClr val="000000"/>
                </a:solidFill>
                <a:effectLst/>
                <a:uFillTx/>
                <a:latin typeface="Symbol"/>
                <a:ea typeface="Symbol"/>
              </a:rPr>
              <a:t></a:t>
            </a:r>
            <a:r>
              <a:rPr lang="zh-CN" sz="2800" b="1" u="none" strike="noStrike">
                <a:solidFill>
                  <a:srgbClr val="000000"/>
                </a:solidFill>
                <a:effectLst/>
                <a:uFillTx/>
                <a:latin typeface="Times New Roman"/>
              </a:rPr>
              <a:t>，复数共轭零点如此。因此在确定实轴上的根轨迹时，可以不考虑复数零、极点的影响。</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815" dur="indefinite" restart="never" nodeType="tmRoot">
          <p:childTnLst>
            <p:seq>
              <p:cTn id="816" dur="indefinite" nodeType="mainSeq">
                <p:childTnLst>
                  <p:par>
                    <p:cTn id="817" fill="hold" nodeType="clickEffect">
                      <p:stCondLst>
                        <p:cond delay="indefinite"/>
                      </p:stCondLst>
                      <p:childTnLst>
                        <p:par>
                          <p:cTn id="818" fill="hold" nodeType="withEffect">
                            <p:stCondLst>
                              <p:cond delay="0"/>
                            </p:stCondLst>
                            <p:childTnLst>
                              <p:par>
                                <p:cTn id="819" presetID="2" presetClass="entr" fill="hold" nodeType="clickEffect" presetSubtype="8">
                                  <p:stCondLst>
                                    <p:cond delay="0"/>
                                  </p:stCondLst>
                                  <p:childTnLst>
                                    <p:set>
                                      <p:cBhvr>
                                        <p:cTn id="820" dur="1" fill="hold">
                                          <p:stCondLst>
                                            <p:cond delay="0"/>
                                          </p:stCondLst>
                                        </p:cTn>
                                        <p:tgtEl>
                                          <p:spTgt spid="471">
                                            <p:txEl>
                                              <p:pRg st="0" end="0"/>
                                            </p:txEl>
                                          </p:spTgt>
                                        </p:tgtEl>
                                        <p:attrNameLst>
                                          <p:attrName>style.visibility</p:attrName>
                                        </p:attrNameLst>
                                      </p:cBhvr>
                                      <p:to>
                                        <p:strVal val="visible"/>
                                      </p:to>
                                    </p:set>
                                    <p:anim calcmode="lin" valueType="num">
                                      <p:cBhvr additive="base">
                                        <p:cTn id="821" dur="500" fill="hold"/>
                                        <p:tgtEl>
                                          <p:spTgt spid="471">
                                            <p:txEl>
                                              <p:pRg st="0" end="0"/>
                                            </p:txEl>
                                          </p:spTgt>
                                        </p:tgtEl>
                                        <p:attrNameLst>
                                          <p:attrName>ppt_x</p:attrName>
                                        </p:attrNameLst>
                                      </p:cBhvr>
                                      <p:tavLst>
                                        <p:tav>
                                          <p:val>
                                            <p:strVal val="0-#ppt_w/2"/>
                                          </p:val>
                                        </p:tav>
                                        <p:tav tm="100000">
                                          <p:val>
                                            <p:strVal val="#ppt_x"/>
                                          </p:val>
                                        </p:tav>
                                      </p:tavLst>
                                    </p:anim>
                                    <p:anim calcmode="lin" valueType="num">
                                      <p:cBhvr additive="base">
                                        <p:cTn id="822" dur="500" fill="hold"/>
                                        <p:tgtEl>
                                          <p:spTgt spid="471">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823" fill="hold" nodeType="clickEffect">
                      <p:stCondLst>
                        <p:cond delay="indefinite"/>
                      </p:stCondLst>
                      <p:childTnLst>
                        <p:par>
                          <p:cTn id="824" fill="hold" nodeType="withEffect">
                            <p:stCondLst>
                              <p:cond delay="0"/>
                            </p:stCondLst>
                            <p:childTnLst>
                              <p:par>
                                <p:cTn id="825" presetID="2" presetClass="entr" fill="hold" nodeType="clickEffect" presetSubtype="8">
                                  <p:stCondLst>
                                    <p:cond delay="0"/>
                                  </p:stCondLst>
                                  <p:childTnLst>
                                    <p:set>
                                      <p:cBhvr>
                                        <p:cTn id="826" dur="1" fill="hold">
                                          <p:stCondLst>
                                            <p:cond delay="0"/>
                                          </p:stCondLst>
                                        </p:cTn>
                                        <p:tgtEl>
                                          <p:spTgt spid="471">
                                            <p:txEl>
                                              <p:pRg st="1" end="1"/>
                                            </p:txEl>
                                          </p:spTgt>
                                        </p:tgtEl>
                                        <p:attrNameLst>
                                          <p:attrName>style.visibility</p:attrName>
                                        </p:attrNameLst>
                                      </p:cBhvr>
                                      <p:to>
                                        <p:strVal val="visible"/>
                                      </p:to>
                                    </p:set>
                                    <p:anim calcmode="lin" valueType="num">
                                      <p:cBhvr additive="base">
                                        <p:cTn id="827" dur="500" fill="hold"/>
                                        <p:tgtEl>
                                          <p:spTgt spid="471">
                                            <p:txEl>
                                              <p:pRg st="1" end="1"/>
                                            </p:txEl>
                                          </p:spTgt>
                                        </p:tgtEl>
                                        <p:attrNameLst>
                                          <p:attrName>ppt_x</p:attrName>
                                        </p:attrNameLst>
                                      </p:cBhvr>
                                      <p:tavLst>
                                        <p:tav>
                                          <p:val>
                                            <p:strVal val="0-#ppt_w/2"/>
                                          </p:val>
                                        </p:tav>
                                        <p:tav tm="100000">
                                          <p:val>
                                            <p:strVal val="#ppt_x"/>
                                          </p:val>
                                        </p:tav>
                                      </p:tavLst>
                                    </p:anim>
                                    <p:anim calcmode="lin" valueType="num">
                                      <p:cBhvr additive="base">
                                        <p:cTn id="828" dur="500" fill="hold"/>
                                        <p:tgtEl>
                                          <p:spTgt spid="471">
                                            <p:txEl>
                                              <p:pRg st="1" end="1"/>
                                            </p:txEl>
                                          </p:spTgt>
                                        </p:tgtEl>
                                        <p:attrNameLst>
                                          <p:attrName>ppt_y</p:attrName>
                                        </p:attrNameLst>
                                      </p:cBhvr>
                                      <p:tavLst>
                                        <p:tav>
                                          <p:val>
                                            <p:strVal val="#ppt_y"/>
                                          </p:val>
                                        </p:tav>
                                        <p:tav tm="100000">
                                          <p:val>
                                            <p:strVal val="#ppt_y"/>
                                          </p:val>
                                        </p:tav>
                                      </p:tavLst>
                                    </p:anim>
                                  </p:childTnLst>
                                </p:cTn>
                              </p:par>
                            </p:childTnLst>
                          </p:cTn>
                        </p:par>
                        <p:par>
                          <p:cTn id="829" fill="hold" nodeType="afterEffect">
                            <p:stCondLst>
                              <p:cond delay="500"/>
                            </p:stCondLst>
                            <p:childTnLst>
                              <p:par>
                                <p:cTn id="830" presetID="2" presetClass="entr" fill="hold" nodeType="afterEffect" presetSubtype="8">
                                  <p:stCondLst>
                                    <p:cond delay="0"/>
                                  </p:stCondLst>
                                  <p:childTnLst>
                                    <p:set>
                                      <p:cBhvr>
                                        <p:cTn id="831" dur="1" fill="hold">
                                          <p:stCondLst>
                                            <p:cond delay="0"/>
                                          </p:stCondLst>
                                        </p:cTn>
                                        <p:tgtEl>
                                          <p:spTgt spid="471">
                                            <p:txEl>
                                              <p:pRg st="2" end="2"/>
                                            </p:txEl>
                                          </p:spTgt>
                                        </p:tgtEl>
                                        <p:attrNameLst>
                                          <p:attrName>style.visibility</p:attrName>
                                        </p:attrNameLst>
                                      </p:cBhvr>
                                      <p:to>
                                        <p:strVal val="visible"/>
                                      </p:to>
                                    </p:set>
                                    <p:anim calcmode="lin" valueType="num">
                                      <p:cBhvr additive="base">
                                        <p:cTn id="832" dur="500" fill="hold"/>
                                        <p:tgtEl>
                                          <p:spTgt spid="471">
                                            <p:txEl>
                                              <p:pRg st="2" end="2"/>
                                            </p:txEl>
                                          </p:spTgt>
                                        </p:tgtEl>
                                        <p:attrNameLst>
                                          <p:attrName>ppt_x</p:attrName>
                                        </p:attrNameLst>
                                      </p:cBhvr>
                                      <p:tavLst>
                                        <p:tav>
                                          <p:val>
                                            <p:strVal val="0-#ppt_w/2"/>
                                          </p:val>
                                        </p:tav>
                                        <p:tav tm="100000">
                                          <p:val>
                                            <p:strVal val="#ppt_x"/>
                                          </p:val>
                                        </p:tav>
                                      </p:tavLst>
                                    </p:anim>
                                    <p:anim calcmode="lin" valueType="num">
                                      <p:cBhvr additive="base">
                                        <p:cTn id="833" dur="500" fill="hold"/>
                                        <p:tgtEl>
                                          <p:spTgt spid="471">
                                            <p:txEl>
                                              <p:pRg st="2" end="2"/>
                                            </p:txEl>
                                          </p:spTgt>
                                        </p:tgtEl>
                                        <p:attrNameLst>
                                          <p:attrName>ppt_y</p:attrName>
                                        </p:attrNameLst>
                                      </p:cBhvr>
                                      <p:tavLst>
                                        <p:tav>
                                          <p:val>
                                            <p:strVal val="#ppt_y"/>
                                          </p:val>
                                        </p:tav>
                                        <p:tav tm="100000">
                                          <p:val>
                                            <p:strVal val="#ppt_y"/>
                                          </p:val>
                                        </p:tav>
                                      </p:tavLst>
                                    </p:anim>
                                  </p:childTnLst>
                                </p:cTn>
                              </p:par>
                            </p:childTnLst>
                          </p:cTn>
                        </p:par>
                        <p:par>
                          <p:cTn id="834" fill="hold" nodeType="afterEffect">
                            <p:stCondLst>
                              <p:cond delay="1000"/>
                            </p:stCondLst>
                            <p:childTnLst>
                              <p:par>
                                <p:cTn id="835" presetID="2" presetClass="entr" fill="hold" nodeType="afterEffect" presetSubtype="8">
                                  <p:stCondLst>
                                    <p:cond delay="0"/>
                                  </p:stCondLst>
                                  <p:childTnLst>
                                    <p:set>
                                      <p:cBhvr>
                                        <p:cTn id="836" dur="1" fill="hold">
                                          <p:stCondLst>
                                            <p:cond delay="0"/>
                                          </p:stCondLst>
                                        </p:cTn>
                                        <p:tgtEl>
                                          <p:spTgt spid="471">
                                            <p:txEl>
                                              <p:pRg st="3" end="3"/>
                                            </p:txEl>
                                          </p:spTgt>
                                        </p:tgtEl>
                                        <p:attrNameLst>
                                          <p:attrName>style.visibility</p:attrName>
                                        </p:attrNameLst>
                                      </p:cBhvr>
                                      <p:to>
                                        <p:strVal val="visible"/>
                                      </p:to>
                                    </p:set>
                                    <p:anim calcmode="lin" valueType="num">
                                      <p:cBhvr additive="base">
                                        <p:cTn id="837" dur="500" fill="hold"/>
                                        <p:tgtEl>
                                          <p:spTgt spid="471">
                                            <p:txEl>
                                              <p:pRg st="3" end="3"/>
                                            </p:txEl>
                                          </p:spTgt>
                                        </p:tgtEl>
                                        <p:attrNameLst>
                                          <p:attrName>ppt_x</p:attrName>
                                        </p:attrNameLst>
                                      </p:cBhvr>
                                      <p:tavLst>
                                        <p:tav>
                                          <p:val>
                                            <p:strVal val="0-#ppt_w/2"/>
                                          </p:val>
                                        </p:tav>
                                        <p:tav tm="100000">
                                          <p:val>
                                            <p:strVal val="#ppt_x"/>
                                          </p:val>
                                        </p:tav>
                                      </p:tavLst>
                                    </p:anim>
                                    <p:anim calcmode="lin" valueType="num">
                                      <p:cBhvr additive="base">
                                        <p:cTn id="838" dur="500" fill="hold"/>
                                        <p:tgtEl>
                                          <p:spTgt spid="471">
                                            <p:txEl>
                                              <p:pRg st="3" end="3"/>
                                            </p:txEl>
                                          </p:spTgt>
                                        </p:tgtEl>
                                        <p:attrNameLst>
                                          <p:attrName>ppt_y</p:attrName>
                                        </p:attrNameLst>
                                      </p:cBhvr>
                                      <p:tavLst>
                                        <p:tav>
                                          <p:val>
                                            <p:strVal val="#ppt_y"/>
                                          </p:val>
                                        </p:tav>
                                        <p:tav tm="100000">
                                          <p:val>
                                            <p:strVal val="#ppt_y"/>
                                          </p:val>
                                        </p:tav>
                                      </p:tavLst>
                                    </p:anim>
                                  </p:childTnLst>
                                </p:cTn>
                              </p:par>
                            </p:childTnLst>
                          </p:cTn>
                        </p:par>
                        <p:par>
                          <p:cTn id="839" fill="hold" nodeType="afterEffect">
                            <p:stCondLst>
                              <p:cond delay="1500"/>
                            </p:stCondLst>
                            <p:childTnLst>
                              <p:par>
                                <p:cTn id="840" presetID="2" presetClass="entr" fill="hold" nodeType="afterEffect" presetSubtype="8">
                                  <p:stCondLst>
                                    <p:cond delay="0"/>
                                  </p:stCondLst>
                                  <p:childTnLst>
                                    <p:set>
                                      <p:cBhvr>
                                        <p:cTn id="841" dur="1" fill="hold">
                                          <p:stCondLst>
                                            <p:cond delay="0"/>
                                          </p:stCondLst>
                                        </p:cTn>
                                        <p:tgtEl>
                                          <p:spTgt spid="471">
                                            <p:txEl>
                                              <p:pRg st="4" end="4"/>
                                            </p:txEl>
                                          </p:spTgt>
                                        </p:tgtEl>
                                        <p:attrNameLst>
                                          <p:attrName>style.visibility</p:attrName>
                                        </p:attrNameLst>
                                      </p:cBhvr>
                                      <p:to>
                                        <p:strVal val="visible"/>
                                      </p:to>
                                    </p:set>
                                    <p:anim calcmode="lin" valueType="num">
                                      <p:cBhvr additive="base">
                                        <p:cTn id="842" dur="500" fill="hold"/>
                                        <p:tgtEl>
                                          <p:spTgt spid="471">
                                            <p:txEl>
                                              <p:pRg st="4" end="4"/>
                                            </p:txEl>
                                          </p:spTgt>
                                        </p:tgtEl>
                                        <p:attrNameLst>
                                          <p:attrName>ppt_x</p:attrName>
                                        </p:attrNameLst>
                                      </p:cBhvr>
                                      <p:tavLst>
                                        <p:tav>
                                          <p:val>
                                            <p:strVal val="0-#ppt_w/2"/>
                                          </p:val>
                                        </p:tav>
                                        <p:tav tm="100000">
                                          <p:val>
                                            <p:strVal val="#ppt_x"/>
                                          </p:val>
                                        </p:tav>
                                      </p:tavLst>
                                    </p:anim>
                                    <p:anim calcmode="lin" valueType="num">
                                      <p:cBhvr additive="base">
                                        <p:cTn id="843" dur="500" fill="hold"/>
                                        <p:tgtEl>
                                          <p:spTgt spid="471">
                                            <p:txEl>
                                              <p:pRg st="4" end="4"/>
                                            </p:txEl>
                                          </p:spTgt>
                                        </p:tgtEl>
                                        <p:attrNameLst>
                                          <p:attrName>ppt_y</p:attrName>
                                        </p:attrNameLst>
                                      </p:cBhvr>
                                      <p:tavLst>
                                        <p:tav>
                                          <p:val>
                                            <p:strVal val="#ppt_y"/>
                                          </p:val>
                                        </p:tav>
                                        <p:tav tm="100000">
                                          <p:val>
                                            <p:strVal val="#ppt_y"/>
                                          </p:val>
                                        </p:tav>
                                      </p:tavLst>
                                    </p:anim>
                                  </p:childTnLst>
                                </p:cTn>
                              </p:par>
                            </p:childTnLst>
                          </p:cTn>
                        </p:par>
                      </p:childTnLst>
                    </p:cTn>
                  </p:par>
                  <p:par>
                    <p:cTn id="844" fill="hold" nodeType="clickEffect">
                      <p:stCondLst>
                        <p:cond delay="indefinite"/>
                      </p:stCondLst>
                      <p:childTnLst>
                        <p:par>
                          <p:cTn id="845" fill="hold" nodeType="withEffect">
                            <p:stCondLst>
                              <p:cond delay="0"/>
                            </p:stCondLst>
                            <p:childTnLst>
                              <p:par>
                                <p:cTn id="846" presetID="2" presetClass="entr" fill="hold" nodeType="clickEffect" presetSubtype="8">
                                  <p:stCondLst>
                                    <p:cond delay="0"/>
                                  </p:stCondLst>
                                  <p:childTnLst>
                                    <p:set>
                                      <p:cBhvr>
                                        <p:cTn id="847" dur="1" fill="hold">
                                          <p:stCondLst>
                                            <p:cond delay="0"/>
                                          </p:stCondLst>
                                        </p:cTn>
                                        <p:tgtEl>
                                          <p:spTgt spid="471">
                                            <p:txEl>
                                              <p:pRg st="5" end="5"/>
                                            </p:txEl>
                                          </p:spTgt>
                                        </p:tgtEl>
                                        <p:attrNameLst>
                                          <p:attrName>style.visibility</p:attrName>
                                        </p:attrNameLst>
                                      </p:cBhvr>
                                      <p:to>
                                        <p:strVal val="visible"/>
                                      </p:to>
                                    </p:set>
                                    <p:anim calcmode="lin" valueType="num">
                                      <p:cBhvr additive="base">
                                        <p:cTn id="848" dur="500" fill="hold"/>
                                        <p:tgtEl>
                                          <p:spTgt spid="471">
                                            <p:txEl>
                                              <p:pRg st="5" end="5"/>
                                            </p:txEl>
                                          </p:spTgt>
                                        </p:tgtEl>
                                        <p:attrNameLst>
                                          <p:attrName>ppt_x</p:attrName>
                                        </p:attrNameLst>
                                      </p:cBhvr>
                                      <p:tavLst>
                                        <p:tav>
                                          <p:val>
                                            <p:strVal val="0-#ppt_w/2"/>
                                          </p:val>
                                        </p:tav>
                                        <p:tav tm="100000">
                                          <p:val>
                                            <p:strVal val="#ppt_x"/>
                                          </p:val>
                                        </p:tav>
                                      </p:tavLst>
                                    </p:anim>
                                    <p:anim calcmode="lin" valueType="num">
                                      <p:cBhvr additive="base">
                                        <p:cTn id="849" dur="500" fill="hold"/>
                                        <p:tgtEl>
                                          <p:spTgt spid="471">
                                            <p:txEl>
                                              <p:pRg st="5" end="5"/>
                                            </p:txEl>
                                          </p:spTgt>
                                        </p:tgtEl>
                                        <p:attrNameLst>
                                          <p:attrName>ppt_y</p:attrName>
                                        </p:attrNameLst>
                                      </p:cBhvr>
                                      <p:tavLst>
                                        <p:tav>
                                          <p:val>
                                            <p:strVal val="#ppt_y"/>
                                          </p:val>
                                        </p:tav>
                                        <p:tav tm="100000">
                                          <p:val>
                                            <p:strVal val="#ppt_y"/>
                                          </p:val>
                                        </p:tav>
                                      </p:tavLst>
                                    </p:anim>
                                  </p:childTnLst>
                                </p:cTn>
                              </p:par>
                            </p:childTnLst>
                          </p:cTn>
                        </p:par>
                      </p:childTnLst>
                    </p:cTn>
                  </p:par>
                  <p:par>
                    <p:cTn id="850" fill="hold" nodeType="clickEffect">
                      <p:stCondLst>
                        <p:cond delay="indefinite"/>
                      </p:stCondLst>
                      <p:childTnLst>
                        <p:par>
                          <p:cTn id="851" fill="hold" nodeType="withEffect">
                            <p:stCondLst>
                              <p:cond delay="0"/>
                            </p:stCondLst>
                            <p:childTnLst>
                              <p:par>
                                <p:cTn id="852" presetID="2" presetClass="entr" fill="hold" nodeType="clickEffect" presetSubtype="8">
                                  <p:stCondLst>
                                    <p:cond delay="0"/>
                                  </p:stCondLst>
                                  <p:childTnLst>
                                    <p:set>
                                      <p:cBhvr>
                                        <p:cTn id="853" dur="1" fill="hold">
                                          <p:stCondLst>
                                            <p:cond delay="0"/>
                                          </p:stCondLst>
                                        </p:cTn>
                                        <p:tgtEl>
                                          <p:spTgt spid="471">
                                            <p:txEl>
                                              <p:pRg st="6" end="6"/>
                                            </p:txEl>
                                          </p:spTgt>
                                        </p:tgtEl>
                                        <p:attrNameLst>
                                          <p:attrName>style.visibility</p:attrName>
                                        </p:attrNameLst>
                                      </p:cBhvr>
                                      <p:to>
                                        <p:strVal val="visible"/>
                                      </p:to>
                                    </p:set>
                                    <p:anim calcmode="lin" valueType="num">
                                      <p:cBhvr additive="base">
                                        <p:cTn id="854" dur="500" fill="hold"/>
                                        <p:tgtEl>
                                          <p:spTgt spid="471">
                                            <p:txEl>
                                              <p:pRg st="6" end="6"/>
                                            </p:txEl>
                                          </p:spTgt>
                                        </p:tgtEl>
                                        <p:attrNameLst>
                                          <p:attrName>ppt_x</p:attrName>
                                        </p:attrNameLst>
                                      </p:cBhvr>
                                      <p:tavLst>
                                        <p:tav>
                                          <p:val>
                                            <p:strVal val="0-#ppt_w/2"/>
                                          </p:val>
                                        </p:tav>
                                        <p:tav tm="100000">
                                          <p:val>
                                            <p:strVal val="#ppt_x"/>
                                          </p:val>
                                        </p:tav>
                                      </p:tavLst>
                                    </p:anim>
                                    <p:anim calcmode="lin" valueType="num">
                                      <p:cBhvr additive="base">
                                        <p:cTn id="855" dur="500" fill="hold"/>
                                        <p:tgtEl>
                                          <p:spTgt spid="471">
                                            <p:txEl>
                                              <p:pRg st="6" end="6"/>
                                            </p:txEl>
                                          </p:spTgt>
                                        </p:tgtEl>
                                        <p:attrNameLst>
                                          <p:attrName>ppt_y</p:attrName>
                                        </p:attrNameLst>
                                      </p:cBhvr>
                                      <p:tavLst>
                                        <p:tav>
                                          <p:val>
                                            <p:strVal val="#ppt_y"/>
                                          </p:val>
                                        </p:tav>
                                        <p:tav tm="100000">
                                          <p:val>
                                            <p:strVal val="#ppt_y"/>
                                          </p:val>
                                        </p:tav>
                                      </p:tavLst>
                                    </p:anim>
                                  </p:childTnLst>
                                </p:cTn>
                              </p:par>
                            </p:childTnLst>
                          </p:cTn>
                        </p:par>
                        <p:par>
                          <p:cTn id="856" fill="hold" nodeType="afterEffect">
                            <p:stCondLst>
                              <p:cond delay="500"/>
                            </p:stCondLst>
                            <p:childTnLst>
                              <p:par>
                                <p:cTn id="857" presetID="2" presetClass="entr" fill="hold" nodeType="afterEffect" presetSubtype="8">
                                  <p:stCondLst>
                                    <p:cond delay="0"/>
                                  </p:stCondLst>
                                  <p:childTnLst>
                                    <p:set>
                                      <p:cBhvr>
                                        <p:cTn id="858" dur="1" fill="hold">
                                          <p:stCondLst>
                                            <p:cond delay="0"/>
                                          </p:stCondLst>
                                        </p:cTn>
                                        <p:tgtEl>
                                          <p:spTgt spid="471">
                                            <p:txEl>
                                              <p:pRg st="7" end="7"/>
                                            </p:txEl>
                                          </p:spTgt>
                                        </p:tgtEl>
                                        <p:attrNameLst>
                                          <p:attrName>style.visibility</p:attrName>
                                        </p:attrNameLst>
                                      </p:cBhvr>
                                      <p:to>
                                        <p:strVal val="visible"/>
                                      </p:to>
                                    </p:set>
                                    <p:anim calcmode="lin" valueType="num">
                                      <p:cBhvr additive="base">
                                        <p:cTn id="859" dur="500" fill="hold"/>
                                        <p:tgtEl>
                                          <p:spTgt spid="471">
                                            <p:txEl>
                                              <p:pRg st="7" end="7"/>
                                            </p:txEl>
                                          </p:spTgt>
                                        </p:tgtEl>
                                        <p:attrNameLst>
                                          <p:attrName>ppt_x</p:attrName>
                                        </p:attrNameLst>
                                      </p:cBhvr>
                                      <p:tavLst>
                                        <p:tav>
                                          <p:val>
                                            <p:strVal val="0-#ppt_w/2"/>
                                          </p:val>
                                        </p:tav>
                                        <p:tav tm="100000">
                                          <p:val>
                                            <p:strVal val="#ppt_x"/>
                                          </p:val>
                                        </p:tav>
                                      </p:tavLst>
                                    </p:anim>
                                    <p:anim calcmode="lin" valueType="num">
                                      <p:cBhvr additive="base">
                                        <p:cTn id="860" dur="500" fill="hold"/>
                                        <p:tgtEl>
                                          <p:spTgt spid="471">
                                            <p:txEl>
                                              <p:pRg st="7" end="7"/>
                                            </p:txEl>
                                          </p:spTgt>
                                        </p:tgtEl>
                                        <p:attrNameLst>
                                          <p:attrName>ppt_y</p:attrName>
                                        </p:attrNameLst>
                                      </p:cBhvr>
                                      <p:tavLst>
                                        <p:tav>
                                          <p:val>
                                            <p:strVal val="#ppt_y"/>
                                          </p:val>
                                        </p:tav>
                                        <p:tav tm="100000">
                                          <p:val>
                                            <p:strVal val="#ppt_y"/>
                                          </p:val>
                                        </p:tav>
                                      </p:tavLst>
                                    </p:anim>
                                  </p:childTnLst>
                                </p:cTn>
                              </p:par>
                            </p:childTnLst>
                          </p:cTn>
                        </p:par>
                      </p:childTnLst>
                    </p:cTn>
                  </p:par>
                  <p:par>
                    <p:cTn id="861" fill="hold" nodeType="clickEffect">
                      <p:stCondLst>
                        <p:cond delay="indefinite"/>
                      </p:stCondLst>
                      <p:childTnLst>
                        <p:par>
                          <p:cTn id="862" fill="hold" nodeType="withEffect">
                            <p:stCondLst>
                              <p:cond delay="0"/>
                            </p:stCondLst>
                            <p:childTnLst>
                              <p:par>
                                <p:cTn id="863" presetID="9" presetClass="entr" fill="hold" nodeType="clickEffect">
                                  <p:stCondLst>
                                    <p:cond delay="0"/>
                                  </p:stCondLst>
                                  <p:childTnLst>
                                    <p:set>
                                      <p:cBhvr>
                                        <p:cTn id="864" dur="1" fill="hold">
                                          <p:stCondLst>
                                            <p:cond delay="0"/>
                                          </p:stCondLst>
                                        </p:cTn>
                                        <p:tgtEl>
                                          <p:spTgt spid="480"/>
                                        </p:tgtEl>
                                        <p:attrNameLst>
                                          <p:attrName>style.visibility</p:attrName>
                                        </p:attrNameLst>
                                      </p:cBhvr>
                                      <p:to>
                                        <p:strVal val="visible"/>
                                      </p:to>
                                    </p:set>
                                    <p:animEffect transition="in" filter="dissolve">
                                      <p:cBhvr additive="repl">
                                        <p:cTn id="865" dur="500"/>
                                        <p:tgtEl>
                                          <p:spTgt spid="480"/>
                                        </p:tgtEl>
                                      </p:cBhvr>
                                    </p:animEffect>
                                  </p:childTnLst>
                                </p:cTn>
                              </p:par>
                            </p:childTnLst>
                          </p:cTn>
                        </p:par>
                        <p:par>
                          <p:cTn id="866" fill="hold" nodeType="afterEffect">
                            <p:stCondLst>
                              <p:cond delay="500"/>
                            </p:stCondLst>
                            <p:childTnLst>
                              <p:par>
                                <p:cTn id="867" presetID="9" presetClass="entr" fill="hold" nodeType="afterEffect">
                                  <p:stCondLst>
                                    <p:cond delay="0"/>
                                  </p:stCondLst>
                                  <p:childTnLst>
                                    <p:set>
                                      <p:cBhvr>
                                        <p:cTn id="868" dur="1" fill="hold">
                                          <p:stCondLst>
                                            <p:cond delay="0"/>
                                          </p:stCondLst>
                                        </p:cTn>
                                        <p:tgtEl>
                                          <p:spTgt spid="486"/>
                                        </p:tgtEl>
                                        <p:attrNameLst>
                                          <p:attrName>style.visibility</p:attrName>
                                        </p:attrNameLst>
                                      </p:cBhvr>
                                      <p:to>
                                        <p:strVal val="visible"/>
                                      </p:to>
                                    </p:set>
                                    <p:animEffect transition="in" filter="dissolve">
                                      <p:cBhvr additive="repl">
                                        <p:cTn id="869" dur="500"/>
                                        <p:tgtEl>
                                          <p:spTgt spid="486"/>
                                        </p:tgtEl>
                                      </p:cBhvr>
                                    </p:animEffect>
                                  </p:childTnLst>
                                </p:cTn>
                              </p:par>
                            </p:childTnLst>
                          </p:cTn>
                        </p:par>
                        <p:par>
                          <p:cTn id="870" fill="hold" nodeType="afterEffect">
                            <p:stCondLst>
                              <p:cond delay="1000"/>
                            </p:stCondLst>
                            <p:childTnLst>
                              <p:par>
                                <p:cTn id="871" presetID="9" presetClass="entr" fill="hold" nodeType="afterEffect">
                                  <p:stCondLst>
                                    <p:cond delay="0"/>
                                  </p:stCondLst>
                                  <p:childTnLst>
                                    <p:set>
                                      <p:cBhvr>
                                        <p:cTn id="872" dur="1" fill="hold">
                                          <p:stCondLst>
                                            <p:cond delay="0"/>
                                          </p:stCondLst>
                                        </p:cTn>
                                        <p:tgtEl>
                                          <p:spTgt spid="489"/>
                                        </p:tgtEl>
                                        <p:attrNameLst>
                                          <p:attrName>style.visibility</p:attrName>
                                        </p:attrNameLst>
                                      </p:cBhvr>
                                      <p:to>
                                        <p:strVal val="visible"/>
                                      </p:to>
                                    </p:set>
                                    <p:animEffect transition="in" filter="dissolve">
                                      <p:cBhvr additive="repl">
                                        <p:cTn id="873" dur="500"/>
                                        <p:tgtEl>
                                          <p:spTgt spid="489"/>
                                        </p:tgtEl>
                                      </p:cBhvr>
                                    </p:animEffect>
                                  </p:childTnLst>
                                </p:cTn>
                              </p:par>
                            </p:childTnLst>
                          </p:cTn>
                        </p:par>
                        <p:par>
                          <p:cTn id="874" fill="hold" nodeType="afterEffect">
                            <p:stCondLst>
                              <p:cond delay="1500"/>
                            </p:stCondLst>
                            <p:childTnLst>
                              <p:par>
                                <p:cTn id="875" presetID="9" presetClass="entr" fill="hold" nodeType="afterEffect">
                                  <p:stCondLst>
                                    <p:cond delay="0"/>
                                  </p:stCondLst>
                                  <p:childTnLst>
                                    <p:set>
                                      <p:cBhvr>
                                        <p:cTn id="876" dur="1" fill="hold">
                                          <p:stCondLst>
                                            <p:cond delay="0"/>
                                          </p:stCondLst>
                                        </p:cTn>
                                        <p:tgtEl>
                                          <p:spTgt spid="472"/>
                                        </p:tgtEl>
                                        <p:attrNameLst>
                                          <p:attrName>style.visibility</p:attrName>
                                        </p:attrNameLst>
                                      </p:cBhvr>
                                      <p:to>
                                        <p:strVal val="visible"/>
                                      </p:to>
                                    </p:set>
                                    <p:animEffect transition="in" filter="dissolve">
                                      <p:cBhvr additive="repl">
                                        <p:cTn id="877" dur="500"/>
                                        <p:tgtEl>
                                          <p:spTgt spid="472"/>
                                        </p:tgtEl>
                                      </p:cBhvr>
                                    </p:animEffect>
                                  </p:childTnLst>
                                </p:cTn>
                              </p:par>
                            </p:childTnLst>
                          </p:cTn>
                        </p:par>
                        <p:par>
                          <p:cTn id="878" fill="hold" nodeType="afterEffect">
                            <p:stCondLst>
                              <p:cond delay="2000"/>
                            </p:stCondLst>
                            <p:childTnLst>
                              <p:par>
                                <p:cTn id="879" presetID="9" presetClass="entr" fill="hold" nodeType="afterEffect">
                                  <p:stCondLst>
                                    <p:cond delay="0"/>
                                  </p:stCondLst>
                                  <p:childTnLst>
                                    <p:set>
                                      <p:cBhvr>
                                        <p:cTn id="880" dur="1" fill="hold">
                                          <p:stCondLst>
                                            <p:cond delay="0"/>
                                          </p:stCondLst>
                                        </p:cTn>
                                        <p:tgtEl>
                                          <p:spTgt spid="478"/>
                                        </p:tgtEl>
                                        <p:attrNameLst>
                                          <p:attrName>style.visibility</p:attrName>
                                        </p:attrNameLst>
                                      </p:cBhvr>
                                      <p:to>
                                        <p:strVal val="visible"/>
                                      </p:to>
                                    </p:set>
                                    <p:animEffect transition="in" filter="dissolve">
                                      <p:cBhvr additive="repl">
                                        <p:cTn id="881" dur="500"/>
                                        <p:tgtEl>
                                          <p:spTgt spid="478"/>
                                        </p:tgtEl>
                                      </p:cBhvr>
                                    </p:animEffect>
                                  </p:childTnLst>
                                </p:cTn>
                              </p:par>
                            </p:childTnLst>
                          </p:cTn>
                        </p:par>
                        <p:par>
                          <p:cTn id="882" fill="hold" nodeType="afterEffect">
                            <p:stCondLst>
                              <p:cond delay="2500"/>
                            </p:stCondLst>
                            <p:childTnLst>
                              <p:par>
                                <p:cTn id="883" presetID="9" presetClass="entr" fill="hold" nodeType="afterEffect">
                                  <p:stCondLst>
                                    <p:cond delay="0"/>
                                  </p:stCondLst>
                                  <p:childTnLst>
                                    <p:set>
                                      <p:cBhvr>
                                        <p:cTn id="884" dur="1" fill="hold">
                                          <p:stCondLst>
                                            <p:cond delay="0"/>
                                          </p:stCondLst>
                                        </p:cTn>
                                        <p:tgtEl>
                                          <p:spTgt spid="475"/>
                                        </p:tgtEl>
                                        <p:attrNameLst>
                                          <p:attrName>style.visibility</p:attrName>
                                        </p:attrNameLst>
                                      </p:cBhvr>
                                      <p:to>
                                        <p:strVal val="visible"/>
                                      </p:to>
                                    </p:set>
                                    <p:animEffect transition="in" filter="dissolve">
                                      <p:cBhvr additive="repl">
                                        <p:cTn id="885" dur="500"/>
                                        <p:tgtEl>
                                          <p:spTgt spid="475"/>
                                        </p:tgtEl>
                                      </p:cBhvr>
                                    </p:animEffect>
                                  </p:childTnLst>
                                </p:cTn>
                              </p:par>
                            </p:childTnLst>
                          </p:cTn>
                        </p:par>
                        <p:par>
                          <p:cTn id="886" fill="hold" nodeType="afterEffect">
                            <p:stCondLst>
                              <p:cond delay="3000"/>
                            </p:stCondLst>
                            <p:childTnLst>
                              <p:par>
                                <p:cTn id="887" presetID="9" presetClass="entr" fill="hold" nodeType="afterEffect">
                                  <p:stCondLst>
                                    <p:cond delay="0"/>
                                  </p:stCondLst>
                                  <p:childTnLst>
                                    <p:set>
                                      <p:cBhvr>
                                        <p:cTn id="888" dur="1" fill="hold">
                                          <p:stCondLst>
                                            <p:cond delay="0"/>
                                          </p:stCondLst>
                                        </p:cTn>
                                        <p:tgtEl>
                                          <p:spTgt spid="479"/>
                                        </p:tgtEl>
                                        <p:attrNameLst>
                                          <p:attrName>style.visibility</p:attrName>
                                        </p:attrNameLst>
                                      </p:cBhvr>
                                      <p:to>
                                        <p:strVal val="visible"/>
                                      </p:to>
                                    </p:set>
                                    <p:animEffect transition="in" filter="dissolve">
                                      <p:cBhvr additive="repl">
                                        <p:cTn id="889" dur="500"/>
                                        <p:tgtEl>
                                          <p:spTgt spid="479"/>
                                        </p:tgtEl>
                                      </p:cBhvr>
                                    </p:animEffect>
                                  </p:childTnLst>
                                </p:cTn>
                              </p:par>
                            </p:childTnLst>
                          </p:cTn>
                        </p:par>
                        <p:par>
                          <p:cTn id="890" fill="hold" nodeType="afterEffect">
                            <p:stCondLst>
                              <p:cond delay="3500"/>
                            </p:stCondLst>
                            <p:childTnLst>
                              <p:par>
                                <p:cTn id="891" presetID="9" presetClass="entr" fill="hold" nodeType="afterEffect">
                                  <p:stCondLst>
                                    <p:cond delay="0"/>
                                  </p:stCondLst>
                                  <p:childTnLst>
                                    <p:set>
                                      <p:cBhvr>
                                        <p:cTn id="892" dur="1" fill="hold">
                                          <p:stCondLst>
                                            <p:cond delay="0"/>
                                          </p:stCondLst>
                                        </p:cTn>
                                        <p:tgtEl>
                                          <p:spTgt spid="493"/>
                                        </p:tgtEl>
                                        <p:attrNameLst>
                                          <p:attrName>style.visibility</p:attrName>
                                        </p:attrNameLst>
                                      </p:cBhvr>
                                      <p:to>
                                        <p:strVal val="visible"/>
                                      </p:to>
                                    </p:set>
                                    <p:animEffect transition="in" filter="dissolve">
                                      <p:cBhvr additive="repl">
                                        <p:cTn id="893" dur="500"/>
                                        <p:tgtEl>
                                          <p:spTgt spid="493"/>
                                        </p:tgtEl>
                                      </p:cBhvr>
                                    </p:animEffect>
                                  </p:childTnLst>
                                </p:cTn>
                              </p:par>
                            </p:childTnLst>
                          </p:cTn>
                        </p:par>
                        <p:par>
                          <p:cTn id="894" fill="hold" nodeType="afterEffect">
                            <p:stCondLst>
                              <p:cond delay="4000"/>
                            </p:stCondLst>
                            <p:childTnLst>
                              <p:par>
                                <p:cTn id="895" presetID="9" presetClass="entr" fill="hold" nodeType="afterEffect">
                                  <p:stCondLst>
                                    <p:cond delay="0"/>
                                  </p:stCondLst>
                                  <p:childTnLst>
                                    <p:set>
                                      <p:cBhvr>
                                        <p:cTn id="896" dur="1" fill="hold">
                                          <p:stCondLst>
                                            <p:cond delay="0"/>
                                          </p:stCondLst>
                                        </p:cTn>
                                        <p:tgtEl>
                                          <p:spTgt spid="490"/>
                                        </p:tgtEl>
                                        <p:attrNameLst>
                                          <p:attrName>style.visibility</p:attrName>
                                        </p:attrNameLst>
                                      </p:cBhvr>
                                      <p:to>
                                        <p:strVal val="visible"/>
                                      </p:to>
                                    </p:set>
                                    <p:animEffect transition="in" filter="dissolve">
                                      <p:cBhvr additive="repl">
                                        <p:cTn id="897" dur="500"/>
                                        <p:tgtEl>
                                          <p:spTgt spid="490"/>
                                        </p:tgtEl>
                                      </p:cBhvr>
                                    </p:animEffect>
                                  </p:childTnLst>
                                </p:cTn>
                              </p:par>
                            </p:childTnLst>
                          </p:cTn>
                        </p:par>
                      </p:childTnLst>
                    </p:cTn>
                  </p:par>
                  <p:par>
                    <p:cTn id="898" fill="hold" nodeType="clickEffect">
                      <p:stCondLst>
                        <p:cond delay="indefinite"/>
                      </p:stCondLst>
                      <p:childTnLst>
                        <p:par>
                          <p:cTn id="899" fill="hold" nodeType="withEffect">
                            <p:stCondLst>
                              <p:cond delay="0"/>
                            </p:stCondLst>
                            <p:childTnLst>
                              <p:par>
                                <p:cTn id="900" presetID="2" presetClass="entr" fill="hold" nodeType="clickEffect" presetSubtype="8">
                                  <p:stCondLst>
                                    <p:cond delay="0"/>
                                  </p:stCondLst>
                                  <p:childTnLst>
                                    <p:set>
                                      <p:cBhvr>
                                        <p:cTn id="901" dur="1" fill="hold">
                                          <p:stCondLst>
                                            <p:cond delay="0"/>
                                          </p:stCondLst>
                                        </p:cTn>
                                        <p:tgtEl>
                                          <p:spTgt spid="507"/>
                                        </p:tgtEl>
                                        <p:attrNameLst>
                                          <p:attrName>style.visibility</p:attrName>
                                        </p:attrNameLst>
                                      </p:cBhvr>
                                      <p:to>
                                        <p:strVal val="visible"/>
                                      </p:to>
                                    </p:set>
                                    <p:anim calcmode="lin" valueType="num">
                                      <p:cBhvr additive="base">
                                        <p:cTn id="902" dur="500" fill="hold"/>
                                        <p:tgtEl>
                                          <p:spTgt spid="507"/>
                                        </p:tgtEl>
                                        <p:attrNameLst>
                                          <p:attrName>ppt_x</p:attrName>
                                        </p:attrNameLst>
                                      </p:cBhvr>
                                      <p:tavLst>
                                        <p:tav>
                                          <p:val>
                                            <p:strVal val="0-#ppt_w/2"/>
                                          </p:val>
                                        </p:tav>
                                        <p:tav tm="100000">
                                          <p:val>
                                            <p:strVal val="#ppt_x"/>
                                          </p:val>
                                        </p:tav>
                                      </p:tavLst>
                                    </p:anim>
                                    <p:anim calcmode="lin" valueType="num">
                                      <p:cBhvr additive="base">
                                        <p:cTn id="903" dur="500" fill="hold"/>
                                        <p:tgtEl>
                                          <p:spTgt spid="507"/>
                                        </p:tgtEl>
                                        <p:attrNameLst>
                                          <p:attrName>ppt_y</p:attrName>
                                        </p:attrNameLst>
                                      </p:cBhvr>
                                      <p:tavLst>
                                        <p:tav>
                                          <p:val>
                                            <p:strVal val="#ppt_y"/>
                                          </p:val>
                                        </p:tav>
                                        <p:tav tm="100000">
                                          <p:val>
                                            <p:strVal val="#ppt_y"/>
                                          </p:val>
                                        </p:tav>
                                      </p:tavLst>
                                    </p:anim>
                                  </p:childTnLst>
                                </p:cTn>
                              </p:par>
                            </p:childTnLst>
                          </p:cTn>
                        </p:par>
                      </p:childTnLst>
                    </p:cTn>
                  </p:par>
                  <p:par>
                    <p:cTn id="904" fill="hold" nodeType="clickEffect">
                      <p:stCondLst>
                        <p:cond delay="indefinite"/>
                      </p:stCondLst>
                      <p:childTnLst>
                        <p:par>
                          <p:cTn id="905" fill="hold" nodeType="withEffect">
                            <p:stCondLst>
                              <p:cond delay="0"/>
                            </p:stCondLst>
                            <p:childTnLst>
                              <p:par>
                                <p:cTn id="906" presetID="9" presetClass="entr" fill="hold" nodeType="clickEffect">
                                  <p:stCondLst>
                                    <p:cond delay="0"/>
                                  </p:stCondLst>
                                  <p:childTnLst>
                                    <p:set>
                                      <p:cBhvr>
                                        <p:cTn id="907" dur="1" fill="hold">
                                          <p:stCondLst>
                                            <p:cond delay="0"/>
                                          </p:stCondLst>
                                        </p:cTn>
                                        <p:tgtEl>
                                          <p:spTgt spid="491"/>
                                        </p:tgtEl>
                                        <p:attrNameLst>
                                          <p:attrName>style.visibility</p:attrName>
                                        </p:attrNameLst>
                                      </p:cBhvr>
                                      <p:to>
                                        <p:strVal val="visible"/>
                                      </p:to>
                                    </p:set>
                                    <p:animEffect transition="in" filter="dissolve">
                                      <p:cBhvr additive="repl">
                                        <p:cTn id="908" dur="500"/>
                                        <p:tgtEl>
                                          <p:spTgt spid="491"/>
                                        </p:tgtEl>
                                      </p:cBhvr>
                                    </p:animEffect>
                                  </p:childTnLst>
                                </p:cTn>
                              </p:par>
                            </p:childTnLst>
                          </p:cTn>
                        </p:par>
                        <p:par>
                          <p:cTn id="909" fill="hold" nodeType="afterEffect">
                            <p:stCondLst>
                              <p:cond delay="500"/>
                            </p:stCondLst>
                            <p:childTnLst>
                              <p:par>
                                <p:cTn id="910" presetID="9" presetClass="entr" fill="hold" nodeType="afterEffect">
                                  <p:stCondLst>
                                    <p:cond delay="0"/>
                                  </p:stCondLst>
                                  <p:childTnLst>
                                    <p:set>
                                      <p:cBhvr>
                                        <p:cTn id="911" dur="1" fill="hold">
                                          <p:stCondLst>
                                            <p:cond delay="0"/>
                                          </p:stCondLst>
                                        </p:cTn>
                                        <p:tgtEl>
                                          <p:spTgt spid="492"/>
                                        </p:tgtEl>
                                        <p:attrNameLst>
                                          <p:attrName>style.visibility</p:attrName>
                                        </p:attrNameLst>
                                      </p:cBhvr>
                                      <p:to>
                                        <p:strVal val="visible"/>
                                      </p:to>
                                    </p:set>
                                    <p:animEffect transition="in" filter="dissolve">
                                      <p:cBhvr additive="repl">
                                        <p:cTn id="912" dur="500"/>
                                        <p:tgtEl>
                                          <p:spTgt spid="492"/>
                                        </p:tgtEl>
                                      </p:cBhvr>
                                    </p:animEffect>
                                  </p:childTnLst>
                                </p:cTn>
                              </p:par>
                            </p:childTnLst>
                          </p:cTn>
                        </p:par>
                      </p:childTnLst>
                    </p:cTn>
                  </p:par>
                  <p:par>
                    <p:cTn id="913" fill="hold" nodeType="clickEffect">
                      <p:stCondLst>
                        <p:cond delay="indefinite"/>
                      </p:stCondLst>
                      <p:childTnLst>
                        <p:par>
                          <p:cTn id="914" fill="hold" nodeType="withEffect">
                            <p:stCondLst>
                              <p:cond delay="0"/>
                            </p:stCondLst>
                            <p:childTnLst>
                              <p:par>
                                <p:cTn id="915" presetID="22" presetClass="entr" fill="hold" nodeType="clickEffect" presetSubtype="2">
                                  <p:stCondLst>
                                    <p:cond delay="0"/>
                                  </p:stCondLst>
                                  <p:childTnLst>
                                    <p:set>
                                      <p:cBhvr>
                                        <p:cTn id="916" dur="1" fill="hold">
                                          <p:stCondLst>
                                            <p:cond delay="0"/>
                                          </p:stCondLst>
                                        </p:cTn>
                                        <p:tgtEl>
                                          <p:spTgt spid="504"/>
                                        </p:tgtEl>
                                        <p:attrNameLst>
                                          <p:attrName>style.visibility</p:attrName>
                                        </p:attrNameLst>
                                      </p:cBhvr>
                                      <p:to>
                                        <p:strVal val="visible"/>
                                      </p:to>
                                    </p:set>
                                    <p:animEffect transition="in" filter="wipe(right)">
                                      <p:cBhvr additive="repl">
                                        <p:cTn id="917" dur="500"/>
                                        <p:tgtEl>
                                          <p:spTgt spid="504"/>
                                        </p:tgtEl>
                                      </p:cBhvr>
                                    </p:animEffect>
                                  </p:childTnLst>
                                </p:cTn>
                              </p:par>
                            </p:childTnLst>
                          </p:cTn>
                        </p:par>
                        <p:par>
                          <p:cTn id="918" fill="hold" nodeType="afterEffect">
                            <p:stCondLst>
                              <p:cond delay="500"/>
                            </p:stCondLst>
                            <p:childTnLst>
                              <p:par>
                                <p:cTn id="919" presetID="22" presetClass="entr" fill="hold" nodeType="afterEffect" presetSubtype="2">
                                  <p:stCondLst>
                                    <p:cond delay="2000"/>
                                  </p:stCondLst>
                                  <p:childTnLst>
                                    <p:set>
                                      <p:cBhvr>
                                        <p:cTn id="920" dur="1" fill="hold">
                                          <p:stCondLst>
                                            <p:cond delay="0"/>
                                          </p:stCondLst>
                                        </p:cTn>
                                        <p:tgtEl>
                                          <p:spTgt spid="494"/>
                                        </p:tgtEl>
                                        <p:attrNameLst>
                                          <p:attrName>style.visibility</p:attrName>
                                        </p:attrNameLst>
                                      </p:cBhvr>
                                      <p:to>
                                        <p:strVal val="visible"/>
                                      </p:to>
                                    </p:set>
                                    <p:animEffect transition="in" filter="wipe(right)">
                                      <p:cBhvr additive="repl">
                                        <p:cTn id="921" dur="500"/>
                                        <p:tgtEl>
                                          <p:spTgt spid="494"/>
                                        </p:tgtEl>
                                      </p:cBhvr>
                                    </p:animEffect>
                                  </p:childTnLst>
                                </p:cTn>
                              </p:par>
                            </p:childTnLst>
                          </p:cTn>
                        </p:par>
                        <p:par>
                          <p:cTn id="922" fill="hold" nodeType="afterEffect">
                            <p:stCondLst>
                              <p:cond delay="3000"/>
                            </p:stCondLst>
                            <p:childTnLst>
                              <p:par>
                                <p:cTn id="923" presetID="9" presetClass="entr" fill="hold" nodeType="afterEffect">
                                  <p:stCondLst>
                                    <p:cond delay="0"/>
                                  </p:stCondLst>
                                  <p:childTnLst>
                                    <p:set>
                                      <p:cBhvr>
                                        <p:cTn id="924" dur="1" fill="hold">
                                          <p:stCondLst>
                                            <p:cond delay="0"/>
                                          </p:stCondLst>
                                        </p:cTn>
                                        <p:tgtEl>
                                          <p:spTgt spid="495"/>
                                        </p:tgtEl>
                                        <p:attrNameLst>
                                          <p:attrName>style.visibility</p:attrName>
                                        </p:attrNameLst>
                                      </p:cBhvr>
                                      <p:to>
                                        <p:strVal val="visible"/>
                                      </p:to>
                                    </p:set>
                                    <p:animEffect transition="in" filter="dissolve">
                                      <p:cBhvr additive="repl">
                                        <p:cTn id="925" dur="500"/>
                                        <p:tgtEl>
                                          <p:spTgt spid="495"/>
                                        </p:tgtEl>
                                      </p:cBhvr>
                                    </p:animEffect>
                                  </p:childTnLst>
                                </p:cTn>
                              </p:par>
                            </p:childTnLst>
                          </p:cTn>
                        </p:par>
                      </p:childTnLst>
                    </p:cTn>
                  </p:par>
                  <p:par>
                    <p:cTn id="926" fill="hold" nodeType="clickEffect">
                      <p:stCondLst>
                        <p:cond delay="indefinite"/>
                      </p:stCondLst>
                      <p:childTnLst>
                        <p:par>
                          <p:cTn id="927" fill="hold" nodeType="withEffect">
                            <p:stCondLst>
                              <p:cond delay="0"/>
                            </p:stCondLst>
                            <p:childTnLst>
                              <p:par>
                                <p:cTn id="928" presetID="22" presetClass="entr" fill="hold" nodeType="clickEffect" presetSubtype="1">
                                  <p:stCondLst>
                                    <p:cond delay="0"/>
                                  </p:stCondLst>
                                  <p:childTnLst>
                                    <p:set>
                                      <p:cBhvr>
                                        <p:cTn id="929" dur="1" fill="hold">
                                          <p:stCondLst>
                                            <p:cond delay="0"/>
                                          </p:stCondLst>
                                        </p:cTn>
                                        <p:tgtEl>
                                          <p:spTgt spid="501"/>
                                        </p:tgtEl>
                                        <p:attrNameLst>
                                          <p:attrName>style.visibility</p:attrName>
                                        </p:attrNameLst>
                                      </p:cBhvr>
                                      <p:to>
                                        <p:strVal val="visible"/>
                                      </p:to>
                                    </p:set>
                                    <p:animEffect transition="in" filter="wipe(up)">
                                      <p:cBhvr additive="repl">
                                        <p:cTn id="930" dur="500"/>
                                        <p:tgtEl>
                                          <p:spTgt spid="501"/>
                                        </p:tgtEl>
                                      </p:cBhvr>
                                    </p:animEffect>
                                  </p:childTnLst>
                                </p:cTn>
                              </p:par>
                            </p:childTnLst>
                          </p:cTn>
                        </p:par>
                        <p:par>
                          <p:cTn id="931" fill="hold" nodeType="afterEffect">
                            <p:stCondLst>
                              <p:cond delay="500"/>
                            </p:stCondLst>
                            <p:childTnLst>
                              <p:par>
                                <p:cTn id="932" presetID="9" presetClass="entr" fill="hold" nodeType="afterEffect">
                                  <p:stCondLst>
                                    <p:cond delay="2000"/>
                                  </p:stCondLst>
                                  <p:childTnLst>
                                    <p:set>
                                      <p:cBhvr>
                                        <p:cTn id="933" dur="1" fill="hold">
                                          <p:stCondLst>
                                            <p:cond delay="0"/>
                                          </p:stCondLst>
                                        </p:cTn>
                                        <p:tgtEl>
                                          <p:spTgt spid="497"/>
                                        </p:tgtEl>
                                        <p:attrNameLst>
                                          <p:attrName>style.visibility</p:attrName>
                                        </p:attrNameLst>
                                      </p:cBhvr>
                                      <p:to>
                                        <p:strVal val="visible"/>
                                      </p:to>
                                    </p:set>
                                    <p:animEffect transition="in" filter="dissolve">
                                      <p:cBhvr additive="repl">
                                        <p:cTn id="934" dur="500"/>
                                        <p:tgtEl>
                                          <p:spTgt spid="497"/>
                                        </p:tgtEl>
                                      </p:cBhvr>
                                    </p:animEffect>
                                  </p:childTnLst>
                                </p:cTn>
                              </p:par>
                            </p:childTnLst>
                          </p:cTn>
                        </p:par>
                        <p:par>
                          <p:cTn id="935" fill="hold" nodeType="afterEffect">
                            <p:stCondLst>
                              <p:cond delay="3000"/>
                            </p:stCondLst>
                            <p:childTnLst>
                              <p:par>
                                <p:cTn id="936" presetID="22" presetClass="entr" fill="hold" nodeType="afterEffect" presetSubtype="2">
                                  <p:stCondLst>
                                    <p:cond delay="0"/>
                                  </p:stCondLst>
                                  <p:childTnLst>
                                    <p:set>
                                      <p:cBhvr>
                                        <p:cTn id="937" dur="1" fill="hold">
                                          <p:stCondLst>
                                            <p:cond delay="0"/>
                                          </p:stCondLst>
                                        </p:cTn>
                                        <p:tgtEl>
                                          <p:spTgt spid="505"/>
                                        </p:tgtEl>
                                        <p:attrNameLst>
                                          <p:attrName>style.visibility</p:attrName>
                                        </p:attrNameLst>
                                      </p:cBhvr>
                                      <p:to>
                                        <p:strVal val="visible"/>
                                      </p:to>
                                    </p:set>
                                    <p:animEffect transition="in" filter="wipe(right)">
                                      <p:cBhvr additive="repl">
                                        <p:cTn id="938" dur="500"/>
                                        <p:tgtEl>
                                          <p:spTgt spid="505"/>
                                        </p:tgtEl>
                                      </p:cBhvr>
                                    </p:animEffect>
                                  </p:childTnLst>
                                </p:cTn>
                              </p:par>
                            </p:childTnLst>
                          </p:cTn>
                        </p:par>
                        <p:par>
                          <p:cTn id="939" fill="hold" nodeType="afterEffect">
                            <p:stCondLst>
                              <p:cond delay="3500"/>
                            </p:stCondLst>
                            <p:childTnLst>
                              <p:par>
                                <p:cTn id="940" presetID="9" presetClass="entr" fill="hold" nodeType="afterEffect">
                                  <p:stCondLst>
                                    <p:cond delay="0"/>
                                  </p:stCondLst>
                                  <p:childTnLst>
                                    <p:set>
                                      <p:cBhvr>
                                        <p:cTn id="941" dur="1" fill="hold">
                                          <p:stCondLst>
                                            <p:cond delay="0"/>
                                          </p:stCondLst>
                                        </p:cTn>
                                        <p:tgtEl>
                                          <p:spTgt spid="498"/>
                                        </p:tgtEl>
                                        <p:attrNameLst>
                                          <p:attrName>style.visibility</p:attrName>
                                        </p:attrNameLst>
                                      </p:cBhvr>
                                      <p:to>
                                        <p:strVal val="visible"/>
                                      </p:to>
                                    </p:set>
                                    <p:animEffect transition="in" filter="dissolve">
                                      <p:cBhvr additive="repl">
                                        <p:cTn id="942" dur="500"/>
                                        <p:tgtEl>
                                          <p:spTgt spid="498"/>
                                        </p:tgtEl>
                                      </p:cBhvr>
                                    </p:animEffect>
                                  </p:childTnLst>
                                </p:cTn>
                              </p:par>
                            </p:childTnLst>
                          </p:cTn>
                        </p:par>
                      </p:childTnLst>
                    </p:cTn>
                  </p:par>
                  <p:par>
                    <p:cTn id="943" fill="hold" nodeType="clickEffect">
                      <p:stCondLst>
                        <p:cond delay="indefinite"/>
                      </p:stCondLst>
                      <p:childTnLst>
                        <p:par>
                          <p:cTn id="944" fill="hold" nodeType="withEffect">
                            <p:stCondLst>
                              <p:cond delay="0"/>
                            </p:stCondLst>
                            <p:childTnLst>
                              <p:par>
                                <p:cTn id="945" presetID="22" presetClass="entr" fill="hold" nodeType="clickEffect" presetSubtype="2">
                                  <p:stCondLst>
                                    <p:cond delay="0"/>
                                  </p:stCondLst>
                                  <p:childTnLst>
                                    <p:set>
                                      <p:cBhvr>
                                        <p:cTn id="946" dur="1" fill="hold">
                                          <p:stCondLst>
                                            <p:cond delay="0"/>
                                          </p:stCondLst>
                                        </p:cTn>
                                        <p:tgtEl>
                                          <p:spTgt spid="502"/>
                                        </p:tgtEl>
                                        <p:attrNameLst>
                                          <p:attrName>style.visibility</p:attrName>
                                        </p:attrNameLst>
                                      </p:cBhvr>
                                      <p:to>
                                        <p:strVal val="visible"/>
                                      </p:to>
                                    </p:set>
                                    <p:animEffect transition="in" filter="wipe(right)">
                                      <p:cBhvr additive="repl">
                                        <p:cTn id="947" dur="500"/>
                                        <p:tgtEl>
                                          <p:spTgt spid="502"/>
                                        </p:tgtEl>
                                      </p:cBhvr>
                                    </p:animEffect>
                                  </p:childTnLst>
                                </p:cTn>
                              </p:par>
                            </p:childTnLst>
                          </p:cTn>
                        </p:par>
                        <p:par>
                          <p:cTn id="948" fill="hold" nodeType="afterEffect">
                            <p:stCondLst>
                              <p:cond delay="500"/>
                            </p:stCondLst>
                            <p:childTnLst>
                              <p:par>
                                <p:cTn id="949" presetID="9" presetClass="entr" fill="hold" nodeType="afterEffect">
                                  <p:stCondLst>
                                    <p:cond delay="2000"/>
                                  </p:stCondLst>
                                  <p:childTnLst>
                                    <p:set>
                                      <p:cBhvr>
                                        <p:cTn id="950" dur="1" fill="hold">
                                          <p:stCondLst>
                                            <p:cond delay="0"/>
                                          </p:stCondLst>
                                        </p:cTn>
                                        <p:tgtEl>
                                          <p:spTgt spid="499"/>
                                        </p:tgtEl>
                                        <p:attrNameLst>
                                          <p:attrName>style.visibility</p:attrName>
                                        </p:attrNameLst>
                                      </p:cBhvr>
                                      <p:to>
                                        <p:strVal val="visible"/>
                                      </p:to>
                                    </p:set>
                                    <p:animEffect transition="in" filter="dissolve">
                                      <p:cBhvr additive="repl">
                                        <p:cTn id="951" dur="500"/>
                                        <p:tgtEl>
                                          <p:spTgt spid="499"/>
                                        </p:tgtEl>
                                      </p:cBhvr>
                                    </p:animEffect>
                                  </p:childTnLst>
                                </p:cTn>
                              </p:par>
                            </p:childTnLst>
                          </p:cTn>
                        </p:par>
                        <p:par>
                          <p:cTn id="952" fill="hold" nodeType="afterEffect">
                            <p:stCondLst>
                              <p:cond delay="3000"/>
                            </p:stCondLst>
                            <p:childTnLst>
                              <p:par>
                                <p:cTn id="953" presetID="22" presetClass="entr" fill="hold" nodeType="afterEffect" presetSubtype="2">
                                  <p:stCondLst>
                                    <p:cond delay="0"/>
                                  </p:stCondLst>
                                  <p:childTnLst>
                                    <p:set>
                                      <p:cBhvr>
                                        <p:cTn id="954" dur="1" fill="hold">
                                          <p:stCondLst>
                                            <p:cond delay="0"/>
                                          </p:stCondLst>
                                        </p:cTn>
                                        <p:tgtEl>
                                          <p:spTgt spid="500"/>
                                        </p:tgtEl>
                                        <p:attrNameLst>
                                          <p:attrName>style.visibility</p:attrName>
                                        </p:attrNameLst>
                                      </p:cBhvr>
                                      <p:to>
                                        <p:strVal val="visible"/>
                                      </p:to>
                                    </p:set>
                                    <p:animEffect transition="in" filter="wipe(right)">
                                      <p:cBhvr additive="repl">
                                        <p:cTn id="955" dur="500"/>
                                        <p:tgtEl>
                                          <p:spTgt spid="500"/>
                                        </p:tgtEl>
                                      </p:cBhvr>
                                    </p:animEffect>
                                  </p:childTnLst>
                                </p:cTn>
                              </p:par>
                            </p:childTnLst>
                          </p:cTn>
                        </p:par>
                        <p:par>
                          <p:cTn id="956" fill="hold" nodeType="afterEffect">
                            <p:stCondLst>
                              <p:cond delay="3500"/>
                            </p:stCondLst>
                            <p:childTnLst>
                              <p:par>
                                <p:cTn id="957" presetID="9" presetClass="entr" fill="hold" nodeType="afterEffect">
                                  <p:stCondLst>
                                    <p:cond delay="0"/>
                                  </p:stCondLst>
                                  <p:childTnLst>
                                    <p:set>
                                      <p:cBhvr>
                                        <p:cTn id="958" dur="1" fill="hold">
                                          <p:stCondLst>
                                            <p:cond delay="0"/>
                                          </p:stCondLst>
                                        </p:cTn>
                                        <p:tgtEl>
                                          <p:spTgt spid="506"/>
                                        </p:tgtEl>
                                        <p:attrNameLst>
                                          <p:attrName>style.visibility</p:attrName>
                                        </p:attrNameLst>
                                      </p:cBhvr>
                                      <p:to>
                                        <p:strVal val="visible"/>
                                      </p:to>
                                    </p:set>
                                    <p:animEffect transition="in" filter="dissolve">
                                      <p:cBhvr additive="repl">
                                        <p:cTn id="959" dur="500"/>
                                        <p:tgtEl>
                                          <p:spTgt spid="506"/>
                                        </p:tgtEl>
                                      </p:cBhvr>
                                    </p:animEffect>
                                  </p:childTnLst>
                                </p:cTn>
                              </p:par>
                            </p:childTnLst>
                          </p:cTn>
                        </p:par>
                      </p:childTnLst>
                    </p:cTn>
                  </p:par>
                  <p:par>
                    <p:cTn id="960" fill="hold" nodeType="clickEffect">
                      <p:stCondLst>
                        <p:cond delay="indefinite"/>
                      </p:stCondLst>
                      <p:childTnLst>
                        <p:par>
                          <p:cTn id="961" fill="hold" nodeType="withEffect">
                            <p:stCondLst>
                              <p:cond delay="0"/>
                            </p:stCondLst>
                            <p:childTnLst>
                              <p:par>
                                <p:cTn id="962" presetID="22" presetClass="entr" fill="hold" nodeType="clickEffect" presetSubtype="8">
                                  <p:stCondLst>
                                    <p:cond delay="0"/>
                                  </p:stCondLst>
                                  <p:childTnLst>
                                    <p:set>
                                      <p:cBhvr>
                                        <p:cTn id="963" dur="1" fill="hold">
                                          <p:stCondLst>
                                            <p:cond delay="0"/>
                                          </p:stCondLst>
                                        </p:cTn>
                                        <p:tgtEl>
                                          <p:spTgt spid="503"/>
                                        </p:tgtEl>
                                        <p:attrNameLst>
                                          <p:attrName>style.visibility</p:attrName>
                                        </p:attrNameLst>
                                      </p:cBhvr>
                                      <p:to>
                                        <p:strVal val="visible"/>
                                      </p:to>
                                    </p:set>
                                    <p:animEffect transition="in" filter="wipe(left)">
                                      <p:cBhvr additive="repl">
                                        <p:cTn id="964" dur="500"/>
                                        <p:tgtEl>
                                          <p:spTgt spid="503"/>
                                        </p:tgtEl>
                                      </p:cBhvr>
                                    </p:animEffect>
                                  </p:childTnLst>
                                </p:cTn>
                              </p:par>
                            </p:childTnLst>
                          </p:cTn>
                        </p:par>
                        <p:par>
                          <p:cTn id="965" fill="hold" nodeType="afterEffect">
                            <p:stCondLst>
                              <p:cond delay="500"/>
                            </p:stCondLst>
                            <p:childTnLst>
                              <p:par>
                                <p:cTn id="966" presetID="9" presetClass="entr" fill="hold" nodeType="afterEffect">
                                  <p:stCondLst>
                                    <p:cond delay="0"/>
                                  </p:stCondLst>
                                  <p:childTnLst>
                                    <p:set>
                                      <p:cBhvr>
                                        <p:cTn id="967" dur="1" fill="hold">
                                          <p:stCondLst>
                                            <p:cond delay="0"/>
                                          </p:stCondLst>
                                        </p:cTn>
                                        <p:tgtEl>
                                          <p:spTgt spid="496"/>
                                        </p:tgtEl>
                                        <p:attrNameLst>
                                          <p:attrName>style.visibility</p:attrName>
                                        </p:attrNameLst>
                                      </p:cBhvr>
                                      <p:to>
                                        <p:strVal val="visible"/>
                                      </p:to>
                                    </p:set>
                                    <p:animEffect transition="in" filter="dissolve">
                                      <p:cBhvr additive="repl">
                                        <p:cTn id="968" dur="500"/>
                                        <p:tgtEl>
                                          <p:spTgt spid="496"/>
                                        </p:tgtEl>
                                      </p:cBhvr>
                                    </p:animEffect>
                                  </p:childTnLst>
                                </p:cTn>
                              </p:par>
                            </p:childTnLst>
                          </p:cTn>
                        </p:par>
                      </p:childTnLst>
                    </p:cTn>
                  </p:par>
                  <p:par>
                    <p:cTn id="969" fill="hold" nodeType="clickEffect">
                      <p:stCondLst>
                        <p:cond delay="indefinite"/>
                      </p:stCondLst>
                      <p:childTnLst>
                        <p:par>
                          <p:cTn id="970" fill="hold" nodeType="withEffect">
                            <p:stCondLst>
                              <p:cond delay="0"/>
                            </p:stCondLst>
                            <p:childTnLst>
                              <p:par>
                                <p:cTn id="971" presetID="2" presetClass="entr" fill="hold" nodeType="clickEffect" presetSubtype="8">
                                  <p:stCondLst>
                                    <p:cond delay="0"/>
                                  </p:stCondLst>
                                  <p:childTnLst>
                                    <p:set>
                                      <p:cBhvr>
                                        <p:cTn id="972" dur="1" fill="hold">
                                          <p:stCondLst>
                                            <p:cond delay="0"/>
                                          </p:stCondLst>
                                        </p:cTn>
                                        <p:tgtEl>
                                          <p:spTgt spid="508"/>
                                        </p:tgtEl>
                                        <p:attrNameLst>
                                          <p:attrName>style.visibility</p:attrName>
                                        </p:attrNameLst>
                                      </p:cBhvr>
                                      <p:to>
                                        <p:strVal val="visible"/>
                                      </p:to>
                                    </p:set>
                                    <p:anim calcmode="lin" valueType="num">
                                      <p:cBhvr additive="base">
                                        <p:cTn id="973" dur="500" fill="hold"/>
                                        <p:tgtEl>
                                          <p:spTgt spid="508"/>
                                        </p:tgtEl>
                                        <p:attrNameLst>
                                          <p:attrName>ppt_x</p:attrName>
                                        </p:attrNameLst>
                                      </p:cBhvr>
                                      <p:tavLst>
                                        <p:tav>
                                          <p:val>
                                            <p:strVal val="0-#ppt_w/2"/>
                                          </p:val>
                                        </p:tav>
                                        <p:tav tm="100000">
                                          <p:val>
                                            <p:strVal val="#ppt_x"/>
                                          </p:val>
                                        </p:tav>
                                      </p:tavLst>
                                    </p:anim>
                                    <p:anim calcmode="lin" valueType="num">
                                      <p:cBhvr additive="base">
                                        <p:cTn id="974" dur="500" fill="hold"/>
                                        <p:tgtEl>
                                          <p:spTgt spid="508"/>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Text Box 1028"/>
          <p:cNvSpPr/>
          <p:nvPr/>
        </p:nvSpPr>
        <p:spPr>
          <a:xfrm>
            <a:off x="54000" y="68400"/>
            <a:ext cx="9090000" cy="7729920"/>
          </a:xfrm>
          <a:prstGeom prst="rect">
            <a:avLst/>
          </a:prstGeom>
          <a:noFill/>
          <a:ln w="0">
            <a:noFill/>
          </a:ln>
        </p:spPr>
        <p:style>
          <a:lnRef idx="0"/>
          <a:fillRef idx="0"/>
          <a:effectRef idx="0"/>
          <a:fontRef idx="minor"/>
        </p:style>
        <p:txBody>
          <a:bodyPr lIns="90000" tIns="46800" rIns="90000" bIns="46800" anchor="t">
            <a:spAutoFit/>
          </a:bodyPr>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点</a:t>
            </a:r>
            <a:r>
              <a:rPr lang="zh-CN" sz="2800" b="1" u="none" strike="noStrike">
                <a:solidFill>
                  <a:srgbClr val="FF0000"/>
                </a:solidFill>
                <a:effectLst/>
                <a:uFillTx/>
                <a:latin typeface="Times New Roman"/>
              </a:rPr>
              <a:t>左</a:t>
            </a:r>
            <a:r>
              <a:rPr lang="zh-CN" sz="2800" b="1" u="none" strike="noStrike">
                <a:solidFill>
                  <a:srgbClr val="000000"/>
                </a:solidFill>
                <a:effectLst/>
                <a:uFillTx/>
                <a:latin typeface="Times New Roman"/>
              </a:rPr>
              <a:t>边开环实数零、极点到</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点的向量幅角均为零，也不影响实轴上根轨迹的幅角条件。</a:t>
            </a:r>
            <a:endParaRPr lang="en-US" sz="2800" b="1" u="none" strike="noStrike">
              <a:solidFill>
                <a:srgbClr val="000000"/>
              </a:solidFill>
              <a:effectLst/>
              <a:uFillTx/>
              <a:latin typeface="Times New Roman"/>
            </a:endParaRPr>
          </a:p>
          <a:p>
            <a:pPr>
              <a:lnSpc>
                <a:spcPct val="12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而</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点</a:t>
            </a:r>
            <a:r>
              <a:rPr lang="zh-CN" sz="2800" b="1" u="none" strike="noStrike">
                <a:solidFill>
                  <a:srgbClr val="FF0000"/>
                </a:solidFill>
                <a:effectLst/>
                <a:uFillTx/>
                <a:latin typeface="Times New Roman"/>
              </a:rPr>
              <a:t>右</a:t>
            </a:r>
            <a:r>
              <a:rPr lang="zh-CN" sz="2800" b="1" u="none" strike="noStrike">
                <a:solidFill>
                  <a:srgbClr val="000000"/>
                </a:solidFill>
                <a:effectLst/>
                <a:uFillTx/>
                <a:latin typeface="Times New Roman"/>
              </a:rPr>
              <a:t>边开环实数零、极点到</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点的向量幅角为</a:t>
            </a:r>
            <a:r>
              <a:rPr lang="zh-CN" sz="2800" b="1" i="1" u="none" strike="noStrike">
                <a:solidFill>
                  <a:srgbClr val="000000"/>
                </a:solidFill>
                <a:effectLst/>
                <a:uFillTx/>
                <a:latin typeface="Symbol"/>
                <a:ea typeface="Symbol"/>
              </a:rPr>
              <a:t></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如果</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zh-CN" sz="2800" b="1" u="none" strike="noStrike">
                <a:solidFill>
                  <a:srgbClr val="000000"/>
                </a:solidFill>
                <a:effectLst/>
                <a:uFillTx/>
                <a:latin typeface="Times New Roman"/>
              </a:rPr>
              <a:t>是根轨迹，则只有当零极点数目之和为奇数时，才满足幅角条件：</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800" b="1" u="none" strike="noStrike">
                <a:solidFill>
                  <a:srgbClr val="000000"/>
                </a:solidFill>
                <a:effectLst/>
                <a:uFillTx/>
                <a:latin typeface="Symbol"/>
                <a:ea typeface="Symbol"/>
              </a:rPr>
              <a:t></a:t>
            </a:r>
            <a:r>
              <a:rPr lang="zh-CN" sz="2800" b="1" i="1" u="none" strike="noStrike">
                <a:solidFill>
                  <a:srgbClr val="000000"/>
                </a:solidFill>
                <a:effectLst/>
                <a:uFillTx/>
                <a:latin typeface="Symbol"/>
                <a:ea typeface="Symbol"/>
              </a:rPr>
              <a:t></a:t>
            </a:r>
            <a:r>
              <a:rPr lang="en-US" sz="2800" b="1" i="1" u="none" strike="noStrike" baseline="-25000">
                <a:solidFill>
                  <a:srgbClr val="000000"/>
                </a:solidFill>
                <a:effectLst/>
                <a:uFillTx/>
                <a:latin typeface="Times New Roman"/>
              </a:rPr>
              <a:t>j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i="1" u="none" strike="noStrike">
                <a:solidFill>
                  <a:srgbClr val="000000"/>
                </a:solidFill>
                <a:effectLst/>
                <a:uFillTx/>
                <a:latin typeface="Symbol"/>
                <a:ea typeface="Symbol"/>
              </a:rPr>
              <a:t></a:t>
            </a:r>
            <a:r>
              <a:rPr lang="en-US" sz="2800" b="1" i="1" u="none" strike="noStrike" baseline="-25000">
                <a:solidFill>
                  <a:srgbClr val="000000"/>
                </a:solidFill>
                <a:effectLst/>
                <a:uFillTx/>
                <a:latin typeface="Times New Roman"/>
              </a:rPr>
              <a:t>i</a:t>
            </a:r>
            <a:r>
              <a:rPr lang="en-US" sz="2800" b="1" u="none" strike="noStrike" baseline="-25000">
                <a:solidFill>
                  <a:srgbClr val="000000"/>
                </a:solidFill>
                <a:effectLst/>
                <a:uFillTx/>
                <a:latin typeface="Times New Roman"/>
              </a:rPr>
              <a:t> </a:t>
            </a:r>
            <a:r>
              <a:rPr lang="en-US" sz="2800" b="1" u="none" strike="noStrike">
                <a:solidFill>
                  <a:srgbClr val="000000"/>
                </a:solidFill>
                <a:effectLst/>
                <a:uFillTx/>
                <a:latin typeface="Times New Roman"/>
              </a:rPr>
              <a:t>= (2</a:t>
            </a:r>
            <a:r>
              <a:rPr lang="en-US" sz="2800" b="1" i="1" u="none" strike="noStrike">
                <a:solidFill>
                  <a:srgbClr val="000000"/>
                </a:solidFill>
                <a:effectLst/>
                <a:uFillTx/>
                <a:latin typeface="Times New Roman"/>
              </a:rPr>
              <a:t>k </a:t>
            </a:r>
            <a:r>
              <a:rPr lang="en-US" sz="2800" b="1" u="none" strike="noStrike">
                <a:solidFill>
                  <a:srgbClr val="000000"/>
                </a:solidFill>
                <a:effectLst/>
                <a:uFillTx/>
                <a:latin typeface="Times New Roman"/>
              </a:rPr>
              <a:t>+ 1)</a:t>
            </a:r>
            <a:r>
              <a:rPr lang="en-US" sz="2800" b="1" i="1" u="none" strike="noStrike">
                <a:solidFill>
                  <a:srgbClr val="000000"/>
                </a:solidFill>
                <a:effectLst/>
                <a:uFillTx/>
                <a:latin typeface="Symbol"/>
                <a:ea typeface="Symbol"/>
              </a:rPr>
              <a:t></a:t>
            </a:r>
            <a:r>
              <a:rPr lang="en-US" sz="2800" b="1" i="1" u="none" strike="noStrike">
                <a:solidFill>
                  <a:srgbClr val="000000"/>
                </a:solidFill>
                <a:effectLst/>
                <a:uFillTx/>
                <a:latin typeface="Times New Roman"/>
              </a:rPr>
              <a:t>  </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sng" strike="noStrike">
                <a:solidFill>
                  <a:srgbClr val="FF0000"/>
                </a:solidFill>
                <a:effectLst/>
                <a:uFillTx/>
                <a:latin typeface="Times New Roman"/>
              </a:rPr>
              <a:t>即如果</a:t>
            </a:r>
            <a:r>
              <a:rPr lang="en-US" sz="2800" b="1" i="1" u="sng" strike="noStrike">
                <a:solidFill>
                  <a:srgbClr val="FF0000"/>
                </a:solidFill>
                <a:effectLst/>
                <a:uFillTx/>
                <a:latin typeface="Times New Roman"/>
              </a:rPr>
              <a:t>s</a:t>
            </a:r>
            <a:r>
              <a:rPr lang="en-US" sz="2800" b="1" u="sng" strike="noStrike" baseline="-30000">
                <a:solidFill>
                  <a:srgbClr val="FF0000"/>
                </a:solidFill>
                <a:effectLst/>
                <a:uFillTx/>
                <a:latin typeface="Times New Roman"/>
              </a:rPr>
              <a:t>1 </a:t>
            </a:r>
            <a:r>
              <a:rPr lang="zh-CN" sz="2800" b="1" u="sng" strike="noStrike">
                <a:solidFill>
                  <a:srgbClr val="FF0000"/>
                </a:solidFill>
                <a:effectLst/>
                <a:uFillTx/>
                <a:latin typeface="Times New Roman"/>
              </a:rPr>
              <a:t>所在的区域为</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sng" strike="noStrike">
                <a:solidFill>
                  <a:srgbClr val="FF0000"/>
                </a:solidFill>
                <a:effectLst/>
                <a:uFillTx/>
                <a:latin typeface="Times New Roman"/>
              </a:rPr>
              <a:t>根轨迹，其右边开环实</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sng" strike="noStrike">
                <a:solidFill>
                  <a:srgbClr val="FF0000"/>
                </a:solidFill>
                <a:effectLst/>
                <a:uFillTx/>
                <a:latin typeface="Times New Roman"/>
              </a:rPr>
              <a:t>数零、 极点个数之和必</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sng" strike="noStrike">
                <a:solidFill>
                  <a:srgbClr val="FF0000"/>
                </a:solidFill>
                <a:effectLst/>
                <a:uFillTx/>
                <a:latin typeface="Times New Roman"/>
              </a:rPr>
              <a:t>须为奇数</a:t>
            </a:r>
            <a:r>
              <a:rPr lang="zh-CN" sz="2800" b="1" u="none" strike="noStrike">
                <a:solidFill>
                  <a:srgbClr val="FF0000"/>
                </a:solidFill>
                <a:effectLst/>
                <a:uFillTx/>
                <a:latin typeface="Times New Roman"/>
              </a:rPr>
              <a:t>。</a:t>
            </a:r>
            <a:endParaRPr lang="en-US" sz="2800" b="1" u="none" strike="noStrike">
              <a:solidFill>
                <a:srgbClr val="000000"/>
              </a:solidFill>
              <a:effectLst/>
              <a:uFillTx/>
              <a:latin typeface="Times New Roman"/>
            </a:endParaRPr>
          </a:p>
        </p:txBody>
      </p:sp>
      <p:grpSp>
        <p:nvGrpSpPr>
          <p:cNvPr id="510" name="Group 1066"/>
          <p:cNvGrpSpPr/>
          <p:nvPr/>
        </p:nvGrpSpPr>
        <p:grpSpPr>
          <a:xfrm>
            <a:off x="4435560" y="2479680"/>
            <a:ext cx="4694040" cy="4034160"/>
            <a:chOff x="4435560" y="2479680"/>
            <a:chExt cx="4694040" cy="4034160"/>
          </a:xfrm>
        </p:grpSpPr>
        <p:grpSp>
          <p:nvGrpSpPr>
            <p:cNvPr id="511" name="Group 1031"/>
            <p:cNvGrpSpPr/>
            <p:nvPr/>
          </p:nvGrpSpPr>
          <p:grpSpPr>
            <a:xfrm>
              <a:off x="6686640" y="3593880"/>
              <a:ext cx="287280" cy="290520"/>
              <a:chOff x="6686640" y="3593880"/>
              <a:chExt cx="287280" cy="290520"/>
            </a:xfrm>
          </p:grpSpPr>
          <p:sp>
            <p:nvSpPr>
              <p:cNvPr id="512" name="Line 1032"/>
              <p:cNvSpPr/>
              <p:nvPr/>
            </p:nvSpPr>
            <p:spPr>
              <a:xfrm>
                <a:off x="6689880" y="360180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13" name="Line 1033"/>
              <p:cNvSpPr/>
              <p:nvPr/>
            </p:nvSpPr>
            <p:spPr>
              <a:xfrm flipH="1">
                <a:off x="6686640" y="359388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514" name="Group 1034"/>
            <p:cNvGrpSpPr/>
            <p:nvPr/>
          </p:nvGrpSpPr>
          <p:grpSpPr>
            <a:xfrm>
              <a:off x="6723000" y="6032520"/>
              <a:ext cx="287280" cy="290520"/>
              <a:chOff x="6723000" y="6032520"/>
              <a:chExt cx="287280" cy="290520"/>
            </a:xfrm>
          </p:grpSpPr>
          <p:sp>
            <p:nvSpPr>
              <p:cNvPr id="515" name="Line 1035"/>
              <p:cNvSpPr/>
              <p:nvPr/>
            </p:nvSpPr>
            <p:spPr>
              <a:xfrm>
                <a:off x="6726240" y="604044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16" name="Line 1036"/>
              <p:cNvSpPr/>
              <p:nvPr/>
            </p:nvSpPr>
            <p:spPr>
              <a:xfrm flipH="1">
                <a:off x="6723000" y="603252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517" name="Rectangle 1037"/>
            <p:cNvSpPr/>
            <p:nvPr/>
          </p:nvSpPr>
          <p:spPr>
            <a:xfrm>
              <a:off x="6987960" y="3624120"/>
              <a:ext cx="482760" cy="597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518" name="Rectangle 1038"/>
            <p:cNvSpPr/>
            <p:nvPr/>
          </p:nvSpPr>
          <p:spPr>
            <a:xfrm>
              <a:off x="6203880" y="5916600"/>
              <a:ext cx="482760" cy="59724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grpSp>
          <p:nvGrpSpPr>
            <p:cNvPr id="519" name="Group 1039"/>
            <p:cNvGrpSpPr/>
            <p:nvPr/>
          </p:nvGrpSpPr>
          <p:grpSpPr>
            <a:xfrm>
              <a:off x="4435560" y="2479680"/>
              <a:ext cx="4694040" cy="3991680"/>
              <a:chOff x="4435560" y="2479680"/>
              <a:chExt cx="4694040" cy="3991680"/>
            </a:xfrm>
          </p:grpSpPr>
          <p:sp>
            <p:nvSpPr>
              <p:cNvPr id="520" name="Line 1040"/>
              <p:cNvSpPr/>
              <p:nvPr/>
            </p:nvSpPr>
            <p:spPr>
              <a:xfrm flipV="1">
                <a:off x="7856640" y="2612880"/>
                <a:ext cx="0" cy="385848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21" name="Line 1041"/>
              <p:cNvSpPr/>
              <p:nvPr/>
            </p:nvSpPr>
            <p:spPr>
              <a:xfrm>
                <a:off x="4435560" y="4875840"/>
                <a:ext cx="430452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22" name="Rectangle 1042"/>
              <p:cNvSpPr/>
              <p:nvPr/>
            </p:nvSpPr>
            <p:spPr>
              <a:xfrm>
                <a:off x="7646760" y="2479680"/>
                <a:ext cx="82800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523" name="Rectangle 1043"/>
              <p:cNvSpPr/>
              <p:nvPr/>
            </p:nvSpPr>
            <p:spPr>
              <a:xfrm>
                <a:off x="8582400" y="4547520"/>
                <a:ext cx="547200" cy="5209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524" name="Rectangle 1044"/>
              <p:cNvSpPr/>
              <p:nvPr/>
            </p:nvSpPr>
            <p:spPr>
              <a:xfrm>
                <a:off x="7806960" y="490968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grpSp>
        <p:grpSp>
          <p:nvGrpSpPr>
            <p:cNvPr id="525" name="Group 1045"/>
            <p:cNvGrpSpPr/>
            <p:nvPr/>
          </p:nvGrpSpPr>
          <p:grpSpPr>
            <a:xfrm>
              <a:off x="7729560" y="4744800"/>
              <a:ext cx="287280" cy="290520"/>
              <a:chOff x="7729560" y="4744800"/>
              <a:chExt cx="287280" cy="290520"/>
            </a:xfrm>
          </p:grpSpPr>
          <p:sp>
            <p:nvSpPr>
              <p:cNvPr id="526" name="Line 1046"/>
              <p:cNvSpPr/>
              <p:nvPr/>
            </p:nvSpPr>
            <p:spPr>
              <a:xfrm>
                <a:off x="7732800" y="47527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27" name="Line 1047"/>
              <p:cNvSpPr/>
              <p:nvPr/>
            </p:nvSpPr>
            <p:spPr>
              <a:xfrm flipH="1">
                <a:off x="7729560" y="47448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528" name="Rectangle 1048"/>
            <p:cNvSpPr/>
            <p:nvPr/>
          </p:nvSpPr>
          <p:spPr>
            <a:xfrm>
              <a:off x="7351200" y="4813200"/>
              <a:ext cx="46116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p</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529" name="Rectangle 1049"/>
            <p:cNvSpPr/>
            <p:nvPr/>
          </p:nvSpPr>
          <p:spPr>
            <a:xfrm>
              <a:off x="4496760" y="4813200"/>
              <a:ext cx="42192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z</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530" name="Oval 1050"/>
            <p:cNvSpPr/>
            <p:nvPr/>
          </p:nvSpPr>
          <p:spPr>
            <a:xfrm>
              <a:off x="5873760" y="4759200"/>
              <a:ext cx="261720" cy="262080"/>
            </a:xfrm>
            <a:prstGeom prst="ellipse">
              <a:avLst/>
            </a:prstGeom>
            <a:solidFill>
              <a:srgbClr val="993300"/>
            </a:solidFill>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531" name="Rectangle 1051"/>
            <p:cNvSpPr/>
            <p:nvPr/>
          </p:nvSpPr>
          <p:spPr>
            <a:xfrm>
              <a:off x="5695200" y="4948200"/>
              <a:ext cx="421920" cy="59724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useBgFill="1">
          <p:nvSpPr>
            <p:cNvPr id="532" name="Oval 1052"/>
            <p:cNvSpPr/>
            <p:nvPr/>
          </p:nvSpPr>
          <p:spPr>
            <a:xfrm>
              <a:off x="4860720" y="4741920"/>
              <a:ext cx="32724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533" name="Freeform 1053"/>
            <p:cNvSpPr/>
            <p:nvPr/>
          </p:nvSpPr>
          <p:spPr>
            <a:xfrm>
              <a:off x="7265880" y="4359240"/>
              <a:ext cx="1184400" cy="539640"/>
            </a:xfrm>
            <a:custGeom>
              <a:avLst/>
              <a:gdLst>
                <a:gd name="GluePoint1X" fmla="*/ 0 w 746"/>
                <a:gd name="GluePoint1Y" fmla="*/ 328 h 340"/>
                <a:gd name="GluePoint2X" fmla="*/ 168 w 746"/>
                <a:gd name="GluePoint2Y" fmla="*/ 52 h 340"/>
                <a:gd name="GluePoint3X" fmla="*/ 384 w 746"/>
                <a:gd name="GluePoint3Y" fmla="*/ 19 h 340"/>
                <a:gd name="GluePoint4X" fmla="*/ 557 w 746"/>
                <a:gd name="GluePoint4Y" fmla="*/ 68 h 340"/>
                <a:gd name="GluePoint5X" fmla="*/ 656 w 746"/>
                <a:gd name="GluePoint5Y" fmla="*/ 167 h 340"/>
                <a:gd name="GluePoint6X" fmla="*/ 705 w 746"/>
                <a:gd name="GluePoint6Y" fmla="*/ 307 h 340"/>
                <a:gd name="GluePoint7X" fmla="*/ 746 w 746"/>
                <a:gd name="GluePoint7Y" fmla="*/ 340 h 3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746" h="340">
                  <a:moveTo>
                    <a:pt x="0" y="328"/>
                  </a:moveTo>
                  <a:cubicBezTo>
                    <a:pt x="28" y="282"/>
                    <a:pt x="104" y="104"/>
                    <a:pt x="168" y="52"/>
                  </a:cubicBezTo>
                  <a:cubicBezTo>
                    <a:pt x="232" y="0"/>
                    <a:pt x="319" y="16"/>
                    <a:pt x="384" y="19"/>
                  </a:cubicBezTo>
                  <a:cubicBezTo>
                    <a:pt x="449" y="22"/>
                    <a:pt x="512" y="43"/>
                    <a:pt x="557" y="68"/>
                  </a:cubicBezTo>
                  <a:cubicBezTo>
                    <a:pt x="602" y="93"/>
                    <a:pt x="631" y="127"/>
                    <a:pt x="656" y="167"/>
                  </a:cubicBezTo>
                  <a:cubicBezTo>
                    <a:pt x="681" y="207"/>
                    <a:pt x="690" y="278"/>
                    <a:pt x="705" y="307"/>
                  </a:cubicBezTo>
                  <a:cubicBezTo>
                    <a:pt x="720" y="336"/>
                    <a:pt x="738" y="333"/>
                    <a:pt x="746" y="340"/>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34" name="Rectangle 1054"/>
            <p:cNvSpPr/>
            <p:nvPr/>
          </p:nvSpPr>
          <p:spPr>
            <a:xfrm>
              <a:off x="8038800" y="391932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535" name="Rectangle 1055"/>
            <p:cNvSpPr/>
            <p:nvPr/>
          </p:nvSpPr>
          <p:spPr>
            <a:xfrm>
              <a:off x="5009760" y="4209840"/>
              <a:ext cx="929160" cy="59724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Times New Roman"/>
                </a:rPr>
                <a:t>=0</a:t>
              </a:r>
              <a:endParaRPr lang="en-US" sz="2800" b="1" u="none" strike="noStrike">
                <a:solidFill>
                  <a:srgbClr val="000000"/>
                </a:solidFill>
                <a:effectLst/>
                <a:uFillTx/>
                <a:latin typeface="Times New Roman"/>
              </a:endParaRPr>
            </a:p>
          </p:txBody>
        </p:sp>
        <p:sp>
          <p:nvSpPr>
            <p:cNvPr id="536" name="Line 1056"/>
            <p:cNvSpPr/>
            <p:nvPr/>
          </p:nvSpPr>
          <p:spPr>
            <a:xfrm>
              <a:off x="6831000" y="3709800"/>
              <a:ext cx="704880" cy="1800"/>
            </a:xfrm>
            <a:prstGeom prst="line">
              <a:avLst/>
            </a:prstGeom>
            <a:ln w="38160">
              <a:solidFill>
                <a:srgbClr val="000000"/>
              </a:solidFill>
              <a:miter/>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537" name="Rectangle 1057"/>
            <p:cNvSpPr/>
            <p:nvPr/>
          </p:nvSpPr>
          <p:spPr>
            <a:xfrm>
              <a:off x="5847840" y="3141720"/>
              <a:ext cx="468720" cy="59724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538" name="Line 1058"/>
            <p:cNvSpPr/>
            <p:nvPr/>
          </p:nvSpPr>
          <p:spPr>
            <a:xfrm>
              <a:off x="6881760" y="6165720"/>
              <a:ext cx="914400" cy="1800"/>
            </a:xfrm>
            <a:prstGeom prst="line">
              <a:avLst/>
            </a:prstGeom>
            <a:ln w="38160">
              <a:solidFill>
                <a:srgbClr val="000000"/>
              </a:solidFill>
              <a:miter/>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539" name="Freeform 1059"/>
            <p:cNvSpPr/>
            <p:nvPr/>
          </p:nvSpPr>
          <p:spPr>
            <a:xfrm>
              <a:off x="6580080" y="5673600"/>
              <a:ext cx="720720" cy="498600"/>
            </a:xfrm>
            <a:custGeom>
              <a:avLst/>
              <a:gdLst>
                <a:gd name="GluePoint1X" fmla="*/ 0 w 454"/>
                <a:gd name="GluePoint1Y" fmla="*/ 4 h 314"/>
                <a:gd name="GluePoint2X" fmla="*/ 288 w 454"/>
                <a:gd name="GluePoint2Y" fmla="*/ 52 h 314"/>
                <a:gd name="GluePoint3X" fmla="*/ 454 w 454"/>
                <a:gd name="GluePoint3Y" fmla="*/ 314 h 314"/>
              </a:gdLst>
              <a:ahLst/>
              <a:cxnLst>
                <a:cxn ang="0">
                  <a:pos x="GluePoint1X" y="GluePoint1Y"/>
                </a:cxn>
                <a:cxn ang="0">
                  <a:pos x="GluePoint2X" y="GluePoint2Y"/>
                </a:cxn>
                <a:cxn ang="0">
                  <a:pos x="GluePoint3X" y="GluePoint3Y"/>
                </a:cxn>
              </a:cxnLst>
              <a:rect l="l" t="t" r="r" b="b"/>
              <a:pathLst>
                <a:path w="454" h="314">
                  <a:moveTo>
                    <a:pt x="0" y="4"/>
                  </a:moveTo>
                  <a:cubicBezTo>
                    <a:pt x="48" y="12"/>
                    <a:pt x="212" y="0"/>
                    <a:pt x="288" y="52"/>
                  </a:cubicBezTo>
                  <a:cubicBezTo>
                    <a:pt x="364" y="104"/>
                    <a:pt x="420" y="260"/>
                    <a:pt x="454" y="314"/>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40" name="Line 1060"/>
            <p:cNvSpPr/>
            <p:nvPr/>
          </p:nvSpPr>
          <p:spPr>
            <a:xfrm flipH="1">
              <a:off x="6084720" y="3717720"/>
              <a:ext cx="704880" cy="106704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41" name="Line 1061"/>
            <p:cNvSpPr/>
            <p:nvPr/>
          </p:nvSpPr>
          <p:spPr>
            <a:xfrm flipH="1" flipV="1">
              <a:off x="6065280" y="5013360"/>
              <a:ext cx="800280" cy="1123920"/>
            </a:xfrm>
            <a:prstGeom prst="line">
              <a:avLst/>
            </a:prstGeom>
            <a:ln w="7632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42" name="Line 1062"/>
            <p:cNvSpPr/>
            <p:nvPr/>
          </p:nvSpPr>
          <p:spPr>
            <a:xfrm>
              <a:off x="5189400" y="4879800"/>
              <a:ext cx="628560" cy="1800"/>
            </a:xfrm>
            <a:prstGeom prst="line">
              <a:avLst/>
            </a:prstGeom>
            <a:ln w="76320">
              <a:solidFill>
                <a:srgbClr val="993300"/>
              </a:solidFill>
              <a:miter/>
              <a:tail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543" name="Line 1063"/>
            <p:cNvSpPr/>
            <p:nvPr/>
          </p:nvSpPr>
          <p:spPr>
            <a:xfrm>
              <a:off x="6141960" y="4879800"/>
              <a:ext cx="1676520" cy="19080"/>
            </a:xfrm>
            <a:prstGeom prst="line">
              <a:avLst/>
            </a:prstGeom>
            <a:ln w="76320">
              <a:solidFill>
                <a:srgbClr val="993300"/>
              </a:solidFill>
              <a:miter/>
              <a:headEnd len="med" type="triangle" w="med"/>
            </a:ln>
          </p:spPr>
          <p:style>
            <a:lnRef idx="0"/>
            <a:fillRef idx="0"/>
            <a:effectRef idx="0"/>
            <a:fontRef idx="minor"/>
          </p:style>
          <p:txBody>
            <a:bodyPr lIns="90000" tIns="-27720" rIns="90000" bIns="-27720" anchor="t">
              <a:noAutofit/>
            </a:bodyPr>
            <a:p>
              <a:endParaRPr lang="en-US" sz="2800" b="1" u="none" strike="noStrike">
                <a:solidFill>
                  <a:srgbClr val="000000"/>
                </a:solidFill>
                <a:effectLst/>
                <a:uFillTx/>
                <a:latin typeface="Times New Roman"/>
              </a:endParaRPr>
            </a:p>
          </p:txBody>
        </p:sp>
        <p:sp>
          <p:nvSpPr>
            <p:cNvPr id="544" name="Freeform 1064"/>
            <p:cNvSpPr/>
            <p:nvPr/>
          </p:nvSpPr>
          <p:spPr>
            <a:xfrm>
              <a:off x="6323040" y="3197160"/>
              <a:ext cx="885600" cy="825480"/>
            </a:xfrm>
            <a:custGeom>
              <a:avLst/>
              <a:gdLst>
                <a:gd name="GluePoint1X" fmla="*/ 558 w 558"/>
                <a:gd name="GluePoint1Y" fmla="*/ 304 h 520"/>
                <a:gd name="GluePoint2X" fmla="*/ 498 w 558"/>
                <a:gd name="GluePoint2Y" fmla="*/ 136 h 520"/>
                <a:gd name="GluePoint3X" fmla="*/ 330 w 558"/>
                <a:gd name="GluePoint3Y" fmla="*/ 16 h 520"/>
                <a:gd name="GluePoint4X" fmla="*/ 150 w 558"/>
                <a:gd name="GluePoint4Y" fmla="*/ 40 h 520"/>
                <a:gd name="GluePoint5X" fmla="*/ 30 w 558"/>
                <a:gd name="GluePoint5Y" fmla="*/ 172 h 520"/>
                <a:gd name="GluePoint6X" fmla="*/ 18 w 558"/>
                <a:gd name="GluePoint6Y" fmla="*/ 400 h 520"/>
                <a:gd name="GluePoint7X" fmla="*/ 138 w 558"/>
                <a:gd name="GluePoint7Y" fmla="*/ 520 h 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558" h="520">
                  <a:moveTo>
                    <a:pt x="558" y="304"/>
                  </a:moveTo>
                  <a:cubicBezTo>
                    <a:pt x="548" y="276"/>
                    <a:pt x="536" y="184"/>
                    <a:pt x="498" y="136"/>
                  </a:cubicBezTo>
                  <a:cubicBezTo>
                    <a:pt x="460" y="88"/>
                    <a:pt x="388" y="32"/>
                    <a:pt x="330" y="16"/>
                  </a:cubicBezTo>
                  <a:cubicBezTo>
                    <a:pt x="272" y="0"/>
                    <a:pt x="200" y="14"/>
                    <a:pt x="150" y="40"/>
                  </a:cubicBezTo>
                  <a:cubicBezTo>
                    <a:pt x="100" y="66"/>
                    <a:pt x="52" y="112"/>
                    <a:pt x="30" y="172"/>
                  </a:cubicBezTo>
                  <a:cubicBezTo>
                    <a:pt x="8" y="232"/>
                    <a:pt x="0" y="342"/>
                    <a:pt x="18" y="400"/>
                  </a:cubicBezTo>
                  <a:cubicBezTo>
                    <a:pt x="36" y="458"/>
                    <a:pt x="113" y="495"/>
                    <a:pt x="138" y="520"/>
                  </a:cubicBezTo>
                </a:path>
              </a:pathLst>
            </a:custGeom>
            <a:noFill/>
            <a:ln w="76320">
              <a:solidFill>
                <a:srgbClr val="0000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45" name="Rectangle 1065"/>
            <p:cNvSpPr/>
            <p:nvPr/>
          </p:nvSpPr>
          <p:spPr>
            <a:xfrm>
              <a:off x="7075440" y="5446440"/>
              <a:ext cx="604800" cy="59724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30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timing>
    <p:tnLst>
      <p:par>
        <p:cTn id="975" dur="indefinite" restart="never" nodeType="tmRoot">
          <p:childTnLst>
            <p:seq>
              <p:cTn id="976" dur="indefinite" nodeType="mainSeq">
                <p:childTnLst>
                  <p:par>
                    <p:cTn id="977" fill="hold" nodeType="clickEffect">
                      <p:stCondLst>
                        <p:cond delay="indefinite"/>
                      </p:stCondLst>
                      <p:childTnLst>
                        <p:par>
                          <p:cTn id="978" fill="hold" nodeType="withEffect">
                            <p:stCondLst>
                              <p:cond delay="0"/>
                            </p:stCondLst>
                            <p:childTnLst>
                              <p:par>
                                <p:cTn id="979" presetID="3" presetClass="entr" fill="hold" nodeType="clickEffect" presetSubtype="10">
                                  <p:stCondLst>
                                    <p:cond delay="0"/>
                                  </p:stCondLst>
                                  <p:childTnLst>
                                    <p:set>
                                      <p:cBhvr>
                                        <p:cTn id="980" dur="1" fill="hold">
                                          <p:stCondLst>
                                            <p:cond delay="0"/>
                                          </p:stCondLst>
                                        </p:cTn>
                                        <p:tgtEl>
                                          <p:spTgt spid="509">
                                            <p:txEl>
                                              <p:pRg st="0" end="0"/>
                                            </p:txEl>
                                          </p:spTgt>
                                        </p:tgtEl>
                                        <p:attrNameLst>
                                          <p:attrName>style.visibility</p:attrName>
                                        </p:attrNameLst>
                                      </p:cBhvr>
                                      <p:to>
                                        <p:strVal val="visible"/>
                                      </p:to>
                                    </p:set>
                                    <p:animEffect transition="in" filter="blinds(horizontal)">
                                      <p:cBhvr additive="repl">
                                        <p:cTn id="981" dur="500"/>
                                        <p:tgtEl>
                                          <p:spTgt spid="509">
                                            <p:txEl>
                                              <p:pRg st="0" end="0"/>
                                            </p:txEl>
                                          </p:spTgt>
                                        </p:tgtEl>
                                      </p:cBhvr>
                                    </p:animEffect>
                                  </p:childTnLst>
                                </p:cTn>
                              </p:par>
                            </p:childTnLst>
                          </p:cTn>
                        </p:par>
                      </p:childTnLst>
                    </p:cTn>
                  </p:par>
                  <p:par>
                    <p:cTn id="982" fill="hold" nodeType="clickEffect">
                      <p:stCondLst>
                        <p:cond delay="indefinite"/>
                      </p:stCondLst>
                      <p:childTnLst>
                        <p:par>
                          <p:cTn id="983" fill="hold" nodeType="withEffect">
                            <p:stCondLst>
                              <p:cond delay="0"/>
                            </p:stCondLst>
                            <p:childTnLst>
                              <p:par>
                                <p:cTn id="984" presetID="3" presetClass="entr" fill="hold" nodeType="clickEffect" presetSubtype="10">
                                  <p:stCondLst>
                                    <p:cond delay="0"/>
                                  </p:stCondLst>
                                  <p:childTnLst>
                                    <p:set>
                                      <p:cBhvr>
                                        <p:cTn id="985" dur="1" fill="hold">
                                          <p:stCondLst>
                                            <p:cond delay="0"/>
                                          </p:stCondLst>
                                        </p:cTn>
                                        <p:tgtEl>
                                          <p:spTgt spid="509">
                                            <p:txEl>
                                              <p:pRg st="1" end="1"/>
                                            </p:txEl>
                                          </p:spTgt>
                                        </p:tgtEl>
                                        <p:attrNameLst>
                                          <p:attrName>style.visibility</p:attrName>
                                        </p:attrNameLst>
                                      </p:cBhvr>
                                      <p:to>
                                        <p:strVal val="visible"/>
                                      </p:to>
                                    </p:set>
                                    <p:animEffect transition="in" filter="blinds(horizontal)">
                                      <p:cBhvr additive="repl">
                                        <p:cTn id="986" dur="500"/>
                                        <p:tgtEl>
                                          <p:spTgt spid="509">
                                            <p:txEl>
                                              <p:pRg st="1" end="1"/>
                                            </p:txEl>
                                          </p:spTgt>
                                        </p:tgtEl>
                                      </p:cBhvr>
                                    </p:animEffect>
                                  </p:childTnLst>
                                </p:cTn>
                              </p:par>
                            </p:childTnLst>
                          </p:cTn>
                        </p:par>
                      </p:childTnLst>
                    </p:cTn>
                  </p:par>
                  <p:par>
                    <p:cTn id="987" fill="hold" nodeType="clickEffect">
                      <p:stCondLst>
                        <p:cond delay="indefinite"/>
                      </p:stCondLst>
                      <p:childTnLst>
                        <p:par>
                          <p:cTn id="988" fill="hold" nodeType="withEffect">
                            <p:stCondLst>
                              <p:cond delay="0"/>
                            </p:stCondLst>
                            <p:childTnLst>
                              <p:par>
                                <p:cTn id="989" presetID="3" presetClass="entr" fill="hold" nodeType="clickEffect" presetSubtype="10">
                                  <p:stCondLst>
                                    <p:cond delay="0"/>
                                  </p:stCondLst>
                                  <p:childTnLst>
                                    <p:set>
                                      <p:cBhvr>
                                        <p:cTn id="990" dur="1" fill="hold">
                                          <p:stCondLst>
                                            <p:cond delay="0"/>
                                          </p:stCondLst>
                                        </p:cTn>
                                        <p:tgtEl>
                                          <p:spTgt spid="509">
                                            <p:txEl>
                                              <p:pRg st="2" end="2"/>
                                            </p:txEl>
                                          </p:spTgt>
                                        </p:tgtEl>
                                        <p:attrNameLst>
                                          <p:attrName>style.visibility</p:attrName>
                                        </p:attrNameLst>
                                      </p:cBhvr>
                                      <p:to>
                                        <p:strVal val="visible"/>
                                      </p:to>
                                    </p:set>
                                    <p:animEffect transition="in" filter="blinds(horizontal)">
                                      <p:cBhvr additive="repl">
                                        <p:cTn id="991" dur="500"/>
                                        <p:tgtEl>
                                          <p:spTgt spid="509">
                                            <p:txEl>
                                              <p:pRg st="2" end="2"/>
                                            </p:txEl>
                                          </p:spTgt>
                                        </p:tgtEl>
                                      </p:cBhvr>
                                    </p:animEffect>
                                  </p:childTnLst>
                                </p:cTn>
                              </p:par>
                            </p:childTnLst>
                          </p:cTn>
                        </p:par>
                      </p:childTnLst>
                    </p:cTn>
                  </p:par>
                  <p:par>
                    <p:cTn id="992" fill="hold" nodeType="clickEffect">
                      <p:stCondLst>
                        <p:cond delay="indefinite"/>
                      </p:stCondLst>
                      <p:childTnLst>
                        <p:par>
                          <p:cTn id="993" fill="hold" nodeType="withEffect">
                            <p:stCondLst>
                              <p:cond delay="0"/>
                            </p:stCondLst>
                            <p:childTnLst>
                              <p:par>
                                <p:cTn id="994" presetID="3" presetClass="entr" fill="hold" nodeType="clickEffect" presetSubtype="10">
                                  <p:stCondLst>
                                    <p:cond delay="0"/>
                                  </p:stCondLst>
                                  <p:childTnLst>
                                    <p:set>
                                      <p:cBhvr>
                                        <p:cTn id="995" dur="1" fill="hold">
                                          <p:stCondLst>
                                            <p:cond delay="0"/>
                                          </p:stCondLst>
                                        </p:cTn>
                                        <p:tgtEl>
                                          <p:spTgt spid="509">
                                            <p:txEl>
                                              <p:pRg st="3" end="3"/>
                                            </p:txEl>
                                          </p:spTgt>
                                        </p:tgtEl>
                                        <p:attrNameLst>
                                          <p:attrName>style.visibility</p:attrName>
                                        </p:attrNameLst>
                                      </p:cBhvr>
                                      <p:to>
                                        <p:strVal val="visible"/>
                                      </p:to>
                                    </p:set>
                                    <p:animEffect transition="in" filter="blinds(horizontal)">
                                      <p:cBhvr additive="repl">
                                        <p:cTn id="996" dur="500"/>
                                        <p:tgtEl>
                                          <p:spTgt spid="509">
                                            <p:txEl>
                                              <p:pRg st="3" end="3"/>
                                            </p:txEl>
                                          </p:spTgt>
                                        </p:tgtEl>
                                      </p:cBhvr>
                                    </p:animEffect>
                                  </p:childTnLst>
                                </p:cTn>
                              </p:par>
                            </p:childTnLst>
                          </p:cTn>
                        </p:par>
                      </p:childTnLst>
                    </p:cTn>
                  </p:par>
                  <p:par>
                    <p:cTn id="997" fill="hold" nodeType="clickEffect">
                      <p:stCondLst>
                        <p:cond delay="indefinite"/>
                      </p:stCondLst>
                      <p:childTnLst>
                        <p:par>
                          <p:cTn id="998" fill="hold" nodeType="withEffect">
                            <p:stCondLst>
                              <p:cond delay="0"/>
                            </p:stCondLst>
                            <p:childTnLst>
                              <p:par>
                                <p:cTn id="999" presetID="3" presetClass="entr" fill="hold" nodeType="clickEffect" presetSubtype="10">
                                  <p:stCondLst>
                                    <p:cond delay="0"/>
                                  </p:stCondLst>
                                  <p:childTnLst>
                                    <p:set>
                                      <p:cBhvr>
                                        <p:cTn id="1000" dur="1" fill="hold">
                                          <p:stCondLst>
                                            <p:cond delay="0"/>
                                          </p:stCondLst>
                                        </p:cTn>
                                        <p:tgtEl>
                                          <p:spTgt spid="509">
                                            <p:txEl>
                                              <p:pRg st="5" end="5"/>
                                            </p:txEl>
                                          </p:spTgt>
                                        </p:tgtEl>
                                        <p:attrNameLst>
                                          <p:attrName>style.visibility</p:attrName>
                                        </p:attrNameLst>
                                      </p:cBhvr>
                                      <p:to>
                                        <p:strVal val="visible"/>
                                      </p:to>
                                    </p:set>
                                    <p:animEffect transition="in" filter="blinds(horizontal)">
                                      <p:cBhvr additive="repl">
                                        <p:cTn id="1001" dur="500"/>
                                        <p:tgtEl>
                                          <p:spTgt spid="509">
                                            <p:txEl>
                                              <p:pRg st="5" end="5"/>
                                            </p:txEl>
                                          </p:spTgt>
                                        </p:tgtEl>
                                      </p:cBhvr>
                                    </p:animEffect>
                                  </p:childTnLst>
                                </p:cTn>
                              </p:par>
                            </p:childTnLst>
                          </p:cTn>
                        </p:par>
                      </p:childTnLst>
                    </p:cTn>
                  </p:par>
                  <p:par>
                    <p:cTn id="1002" fill="hold" nodeType="clickEffect">
                      <p:stCondLst>
                        <p:cond delay="indefinite"/>
                      </p:stCondLst>
                      <p:childTnLst>
                        <p:par>
                          <p:cTn id="1003" fill="hold" nodeType="withEffect">
                            <p:stCondLst>
                              <p:cond delay="0"/>
                            </p:stCondLst>
                            <p:childTnLst>
                              <p:par>
                                <p:cTn id="1004" presetID="3" presetClass="entr" fill="hold" nodeType="clickEffect" presetSubtype="10">
                                  <p:stCondLst>
                                    <p:cond delay="0"/>
                                  </p:stCondLst>
                                  <p:childTnLst>
                                    <p:set>
                                      <p:cBhvr>
                                        <p:cTn id="1005" dur="1" fill="hold">
                                          <p:stCondLst>
                                            <p:cond delay="0"/>
                                          </p:stCondLst>
                                        </p:cTn>
                                        <p:tgtEl>
                                          <p:spTgt spid="509">
                                            <p:txEl>
                                              <p:pRg st="6" end="6"/>
                                            </p:txEl>
                                          </p:spTgt>
                                        </p:tgtEl>
                                        <p:attrNameLst>
                                          <p:attrName>style.visibility</p:attrName>
                                        </p:attrNameLst>
                                      </p:cBhvr>
                                      <p:to>
                                        <p:strVal val="visible"/>
                                      </p:to>
                                    </p:set>
                                    <p:animEffect transition="in" filter="blinds(horizontal)">
                                      <p:cBhvr additive="repl">
                                        <p:cTn id="1006" dur="500"/>
                                        <p:tgtEl>
                                          <p:spTgt spid="509">
                                            <p:txEl>
                                              <p:pRg st="6" end="6"/>
                                            </p:txEl>
                                          </p:spTgt>
                                        </p:tgtEl>
                                      </p:cBhvr>
                                    </p:animEffect>
                                  </p:childTnLst>
                                </p:cTn>
                              </p:par>
                            </p:childTnLst>
                          </p:cTn>
                        </p:par>
                      </p:childTnLst>
                    </p:cTn>
                  </p:par>
                  <p:par>
                    <p:cTn id="1007" fill="hold" nodeType="clickEffect">
                      <p:stCondLst>
                        <p:cond delay="indefinite"/>
                      </p:stCondLst>
                      <p:childTnLst>
                        <p:par>
                          <p:cTn id="1008" fill="hold" nodeType="withEffect">
                            <p:stCondLst>
                              <p:cond delay="0"/>
                            </p:stCondLst>
                            <p:childTnLst>
                              <p:par>
                                <p:cTn id="1009" presetID="3" presetClass="entr" fill="hold" nodeType="clickEffect" presetSubtype="10">
                                  <p:stCondLst>
                                    <p:cond delay="0"/>
                                  </p:stCondLst>
                                  <p:childTnLst>
                                    <p:set>
                                      <p:cBhvr>
                                        <p:cTn id="1010" dur="1" fill="hold">
                                          <p:stCondLst>
                                            <p:cond delay="0"/>
                                          </p:stCondLst>
                                        </p:cTn>
                                        <p:tgtEl>
                                          <p:spTgt spid="509">
                                            <p:txEl>
                                              <p:pRg st="7" end="7"/>
                                            </p:txEl>
                                          </p:spTgt>
                                        </p:tgtEl>
                                        <p:attrNameLst>
                                          <p:attrName>style.visibility</p:attrName>
                                        </p:attrNameLst>
                                      </p:cBhvr>
                                      <p:to>
                                        <p:strVal val="visible"/>
                                      </p:to>
                                    </p:set>
                                    <p:animEffect transition="in" filter="blinds(horizontal)">
                                      <p:cBhvr additive="repl">
                                        <p:cTn id="1011" dur="500"/>
                                        <p:tgtEl>
                                          <p:spTgt spid="509">
                                            <p:txEl>
                                              <p:pRg st="7" end="7"/>
                                            </p:txEl>
                                          </p:spTgt>
                                        </p:tgtEl>
                                      </p:cBhvr>
                                    </p:animEffect>
                                  </p:childTnLst>
                                </p:cTn>
                              </p:par>
                            </p:childTnLst>
                          </p:cTn>
                        </p:par>
                      </p:childTnLst>
                    </p:cTn>
                  </p:par>
                  <p:par>
                    <p:cTn id="1012" fill="hold" nodeType="clickEffect">
                      <p:stCondLst>
                        <p:cond delay="indefinite"/>
                      </p:stCondLst>
                      <p:childTnLst>
                        <p:par>
                          <p:cTn id="1013" fill="hold" nodeType="withEffect">
                            <p:stCondLst>
                              <p:cond delay="0"/>
                            </p:stCondLst>
                            <p:childTnLst>
                              <p:par>
                                <p:cTn id="1014" presetID="3" presetClass="entr" fill="hold" nodeType="clickEffect" presetSubtype="10">
                                  <p:stCondLst>
                                    <p:cond delay="0"/>
                                  </p:stCondLst>
                                  <p:childTnLst>
                                    <p:set>
                                      <p:cBhvr>
                                        <p:cTn id="1015" dur="1" fill="hold">
                                          <p:stCondLst>
                                            <p:cond delay="0"/>
                                          </p:stCondLst>
                                        </p:cTn>
                                        <p:tgtEl>
                                          <p:spTgt spid="509">
                                            <p:txEl>
                                              <p:pRg st="8" end="8"/>
                                            </p:txEl>
                                          </p:spTgt>
                                        </p:tgtEl>
                                        <p:attrNameLst>
                                          <p:attrName>style.visibility</p:attrName>
                                        </p:attrNameLst>
                                      </p:cBhvr>
                                      <p:to>
                                        <p:strVal val="visible"/>
                                      </p:to>
                                    </p:set>
                                    <p:animEffect transition="in" filter="blinds(horizontal)">
                                      <p:cBhvr additive="repl">
                                        <p:cTn id="1016" dur="500"/>
                                        <p:tgtEl>
                                          <p:spTgt spid="509">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
          <p:cNvSpPr txBox="1"/>
          <p:nvPr/>
        </p:nvSpPr>
        <p:spPr>
          <a:xfrm>
            <a:off x="563040" y="247320"/>
            <a:ext cx="6782040" cy="609480"/>
          </a:xfrm>
          <a:prstGeom prst="rect">
            <a:avLst/>
          </a:prstGeom>
          <a:noFill/>
          <a:ln w="0">
            <a:noFill/>
          </a:ln>
        </p:spPr>
        <p:txBody>
          <a:bodyPr anchor="t">
            <a:normAutofit fontScale="92500" lnSpcReduction="9999"/>
          </a:bodyPr>
          <a:p>
            <a:pPr marL="272880" indent="-272880">
              <a:lnSpc>
                <a:spcPct val="115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73E87"/>
                </a:solidFill>
                <a:effectLst/>
                <a:uFillTx/>
                <a:latin typeface="黑体"/>
                <a:ea typeface="黑体"/>
              </a:rPr>
              <a:t>例</a:t>
            </a:r>
            <a:r>
              <a:rPr lang="en-US" sz="2800" b="1" u="none" strike="noStrike">
                <a:solidFill>
                  <a:srgbClr val="073E87"/>
                </a:solidFill>
                <a:effectLst/>
                <a:uFillTx/>
                <a:latin typeface="黑体"/>
                <a:ea typeface="黑体"/>
              </a:rPr>
              <a:t>4-1</a:t>
            </a:r>
            <a:r>
              <a:rPr lang="en-US" sz="2800" b="1" u="none" strike="noStrike">
                <a:solidFill>
                  <a:srgbClr val="073E87"/>
                </a:solidFill>
                <a:effectLst/>
                <a:uFillTx/>
                <a:latin typeface="Candara"/>
              </a:rPr>
              <a:t>   </a:t>
            </a:r>
            <a:r>
              <a:rPr lang="zh-CN" sz="2800" b="1" u="none" strike="noStrike">
                <a:solidFill>
                  <a:srgbClr val="073E87"/>
                </a:solidFill>
                <a:effectLst/>
                <a:uFillTx/>
                <a:latin typeface="Candara"/>
              </a:rPr>
              <a:t>设某负反馈系统的开环传递函数为</a:t>
            </a:r>
            <a:endParaRPr lang="en-US" sz="2800" b="0" u="none" strike="noStrike">
              <a:solidFill>
                <a:srgbClr val="073E87"/>
              </a:solidFill>
              <a:effectLst/>
              <a:uFillTx/>
              <a:latin typeface="Candara"/>
            </a:endParaRPr>
          </a:p>
        </p:txBody>
      </p:sp>
      <mc:AlternateContent>
        <mc:Choice xmlns:a14="http://schemas.microsoft.com/office/drawing/2010/main" Requires="a14">
          <p:sp>
            <p:nvSpPr>
              <p:cNvPr id="547" name="Object 4"/>
              <p:cNvSpPr txBox="1"/>
              <p:nvPr/>
            </p:nvSpPr>
            <p:spPr>
              <a:xfrm>
                <a:off x="2141640" y="771480"/>
                <a:ext cx="3774960" cy="100008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f>
                      <m:num>
                        <m:sSub>
                          <m:e>
                            <m:r>
                              <m:t xml:space="preserve">K</m:t>
                            </m:r>
                          </m:e>
                          <m:sub>
                            <m:r>
                              <m:t xml:space="preserve">g</m:t>
                            </m:r>
                          </m:sub>
                        </m:sSub>
                      </m:num>
                      <m:den>
                        <m:r>
                          <m:t xml:space="preserve">s</m:t>
                        </m:r>
                        <m:r>
                          <m:t xml:space="preserve">(</m:t>
                        </m:r>
                        <m:r>
                          <m:t xml:space="preserve">s</m:t>
                        </m:r>
                        <m:r>
                          <m:t xml:space="preserve">+</m:t>
                        </m:r>
                        <m:r>
                          <m:t xml:space="preserve">1</m:t>
                        </m:r>
                        <m:r>
                          <m:t xml:space="preserve">)</m:t>
                        </m:r>
                        <m:r>
                          <m:t xml:space="preserve">(</m:t>
                        </m:r>
                        <m:r>
                          <m:t xml:space="preserve">s</m:t>
                        </m:r>
                        <m:r>
                          <m:t xml:space="preserve">+</m:t>
                        </m:r>
                        <m:r>
                          <m:t xml:space="preserve">5</m:t>
                        </m:r>
                        <m:r>
                          <m:t xml:space="preserve">)</m:t>
                        </m:r>
                      </m:den>
                    </m:f>
                  </m:oMath>
                </a14:m>
              </a:p>
            </p:txBody>
          </p:sp>
        </mc:Choice>
        <mc:Fallback>
          <p:sp>
            <p:nvSpPr>
              <p:cNvPr id="547" name="Object 4"/>
              <p:cNvSpPr txBox="1"/>
              <p:nvPr/>
            </p:nvSpPr>
            <p:spPr>
              <a:xfrm>
                <a:off x="2141640" y="771480"/>
                <a:ext cx="3774960" cy="1000080"/>
              </a:xfrm>
              <a:prstGeom prst="rect">
                <a:avLst/>
              </a:prstGeom>
              <a:blipFill>
                <a:blip r:embed="rId1"/>
                <a:stretch>
                  <a:fillRect/>
                </a:stretch>
              </a:blipFill>
            </p:spPr>
          </p:sp>
        </mc:Fallback>
      </mc:AlternateContent>
      <p:sp>
        <p:nvSpPr>
          <p:cNvPr id="548" name="Text Box 5"/>
          <p:cNvSpPr/>
          <p:nvPr/>
        </p:nvSpPr>
        <p:spPr>
          <a:xfrm>
            <a:off x="31680" y="1749600"/>
            <a:ext cx="8982000" cy="433260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试确定系统根轨迹条数、起点和终点、渐近线及根轨迹在实轴上的分布。</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800" b="1" u="none" strike="noStrike">
                <a:solidFill>
                  <a:srgbClr val="FF0000"/>
                </a:solidFill>
                <a:effectLst/>
                <a:uFillTx/>
                <a:latin typeface="Times New Roman"/>
              </a:rPr>
              <a:t>解：</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rPr>
              <a:t>起点：</a:t>
            </a:r>
            <a:r>
              <a:rPr lang="zh-CN" sz="2800" b="1" u="none" strike="noStrike">
                <a:solidFill>
                  <a:srgbClr val="000000"/>
                </a:solidFill>
                <a:effectLst/>
                <a:uFillTx/>
                <a:latin typeface="Times New Roman"/>
              </a:rPr>
              <a:t>开环极点     </a:t>
            </a:r>
            <a:r>
              <a:rPr lang="en-US" sz="2800" b="1" i="1" u="none" strike="noStrike">
                <a:solidFill>
                  <a:srgbClr val="000000"/>
                </a:solidFill>
                <a:effectLst/>
                <a:uFillTx/>
                <a:latin typeface="Times New Roman"/>
              </a:rPr>
              <a:t>p</a:t>
            </a:r>
            <a:r>
              <a:rPr lang="en-US" sz="2800" b="1" u="none" strike="noStrike" baseline="-25000">
                <a:solidFill>
                  <a:srgbClr val="000000"/>
                </a:solidFill>
                <a:effectLst/>
                <a:uFillTx/>
                <a:latin typeface="Times New Roman"/>
              </a:rPr>
              <a:t>1</a:t>
            </a:r>
            <a:r>
              <a:rPr lang="en-US" sz="2800" b="1" u="none" strike="noStrike">
                <a:solidFill>
                  <a:srgbClr val="000000"/>
                </a:solidFill>
                <a:effectLst/>
                <a:uFillTx/>
                <a:latin typeface="Times New Roman"/>
              </a:rPr>
              <a:t>= 0</a:t>
            </a:r>
            <a:r>
              <a:rPr lang="zh-CN"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p</a:t>
            </a:r>
            <a:r>
              <a:rPr lang="en-US" sz="2800" b="1" u="none" strike="noStrike" baseline="-25000">
                <a:solidFill>
                  <a:srgbClr val="000000"/>
                </a:solidFill>
                <a:effectLst/>
                <a:uFillTx/>
                <a:latin typeface="Times New Roman"/>
              </a:rPr>
              <a:t>2</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r>
              <a:rPr lang="zh-CN"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p</a:t>
            </a:r>
            <a:r>
              <a:rPr lang="en-US" sz="2800" b="1" u="none" strike="noStrike" baseline="-25000">
                <a:solidFill>
                  <a:srgbClr val="000000"/>
                </a:solidFill>
                <a:effectLst/>
                <a:uFillTx/>
                <a:latin typeface="Times New Roman"/>
              </a:rPr>
              <a:t>3</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5</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终点： </a:t>
            </a:r>
            <a:r>
              <a:rPr lang="en-US" sz="2800" b="1" u="none" strike="noStrike">
                <a:solidFill>
                  <a:srgbClr val="000000"/>
                </a:solidFill>
                <a:effectLst/>
                <a:uFillTx/>
                <a:latin typeface="Symbol"/>
                <a:ea typeface="Symbol"/>
              </a:rPr>
              <a:t></a:t>
            </a:r>
            <a:r>
              <a:rPr lang="zh-CN" sz="2800" b="1" u="none" strike="noStrike">
                <a:solidFill>
                  <a:srgbClr val="000000"/>
                </a:solidFill>
                <a:effectLst/>
                <a:uFillTx/>
                <a:latin typeface="宋体"/>
              </a:rPr>
              <a:t>、</a:t>
            </a:r>
            <a:r>
              <a:rPr lang="zh-CN" sz="2800" b="1" u="none" strike="noStrike">
                <a:solidFill>
                  <a:srgbClr val="000000"/>
                </a:solidFill>
                <a:effectLst/>
                <a:uFillTx/>
                <a:latin typeface="Symbol"/>
                <a:ea typeface="Symbol"/>
              </a:rPr>
              <a:t></a:t>
            </a:r>
            <a:r>
              <a:rPr lang="zh-CN" sz="2800" b="1" u="none" strike="noStrike">
                <a:solidFill>
                  <a:srgbClr val="000000"/>
                </a:solidFill>
                <a:effectLst/>
                <a:uFillTx/>
                <a:latin typeface="宋体"/>
              </a:rPr>
              <a:t>、</a:t>
            </a:r>
            <a:r>
              <a:rPr lang="zh-CN" sz="2800" b="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系统的根轨迹有三条分支，分别起始于系统的三个有限的开环极点，由于不存在有限的开环零点，当</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 </a:t>
            </a:r>
            <a:r>
              <a:rPr lang="en-US" sz="2800" b="1" u="none" strike="noStrike">
                <a:solidFill>
                  <a:srgbClr val="000000"/>
                </a:solidFill>
                <a:effectLst/>
                <a:uFillTx/>
                <a:latin typeface="Symbol"/>
                <a:ea typeface="Symbol"/>
              </a:rPr>
              <a:t></a:t>
            </a:r>
            <a:r>
              <a:rPr lang="zh-CN" sz="2800" b="1" u="none" strike="noStrike">
                <a:solidFill>
                  <a:srgbClr val="000000"/>
                </a:solidFill>
                <a:effectLst/>
                <a:uFillTx/>
                <a:latin typeface="宋体"/>
              </a:rPr>
              <a:t>时，沿着三条渐近线趋向无穷远处</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017" dur="indefinite" restart="never" nodeType="tmRoot">
          <p:childTnLst>
            <p:seq>
              <p:cTn id="1018" dur="indefinite" nodeType="mainSeq">
                <p:childTnLst>
                  <p:par>
                    <p:cTn id="1019" fill="hold" nodeType="clickEffect">
                      <p:stCondLst>
                        <p:cond delay="indefinite"/>
                      </p:stCondLst>
                      <p:childTnLst>
                        <p:par>
                          <p:cTn id="1020" fill="hold" nodeType="withEffect">
                            <p:stCondLst>
                              <p:cond delay="0"/>
                            </p:stCondLst>
                            <p:childTnLst>
                              <p:par>
                                <p:cTn id="1021" presetID="2" presetClass="entr" fill="hold" nodeType="clickEffect" presetSubtype="8">
                                  <p:stCondLst>
                                    <p:cond delay="0"/>
                                  </p:stCondLst>
                                  <p:childTnLst>
                                    <p:set>
                                      <p:cBhvr>
                                        <p:cTn id="1022" dur="1" fill="hold">
                                          <p:stCondLst>
                                            <p:cond delay="0"/>
                                          </p:stCondLst>
                                        </p:cTn>
                                        <p:tgtEl>
                                          <p:spTgt spid="546">
                                            <p:txEl>
                                              <p:pRg st="0" end="0"/>
                                            </p:txEl>
                                          </p:spTgt>
                                        </p:tgtEl>
                                        <p:attrNameLst>
                                          <p:attrName>style.visibility</p:attrName>
                                        </p:attrNameLst>
                                      </p:cBhvr>
                                      <p:to>
                                        <p:strVal val="visible"/>
                                      </p:to>
                                    </p:set>
                                    <p:anim calcmode="lin" valueType="num">
                                      <p:cBhvr additive="base">
                                        <p:cTn id="1023" dur="500" fill="hold"/>
                                        <p:tgtEl>
                                          <p:spTgt spid="546">
                                            <p:txEl>
                                              <p:pRg st="0" end="0"/>
                                            </p:txEl>
                                          </p:spTgt>
                                        </p:tgtEl>
                                        <p:attrNameLst>
                                          <p:attrName>ppt_x</p:attrName>
                                        </p:attrNameLst>
                                      </p:cBhvr>
                                      <p:tavLst>
                                        <p:tav>
                                          <p:val>
                                            <p:strVal val="0-#ppt_w/2"/>
                                          </p:val>
                                        </p:tav>
                                        <p:tav tm="100000">
                                          <p:val>
                                            <p:strVal val="#ppt_x"/>
                                          </p:val>
                                        </p:tav>
                                      </p:tavLst>
                                    </p:anim>
                                    <p:anim calcmode="lin" valueType="num">
                                      <p:cBhvr additive="base">
                                        <p:cTn id="1024" dur="500" fill="hold"/>
                                        <p:tgtEl>
                                          <p:spTgt spid="546">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025" fill="hold" nodeType="clickEffect">
                      <p:stCondLst>
                        <p:cond delay="indefinite"/>
                      </p:stCondLst>
                      <p:childTnLst>
                        <p:par>
                          <p:cTn id="1026" fill="hold" nodeType="withEffect">
                            <p:stCondLst>
                              <p:cond delay="0"/>
                            </p:stCondLst>
                            <p:childTnLst>
                              <p:par>
                                <p:cTn id="1027" presetID="9" presetClass="entr" fill="hold" nodeType="clickEffect">
                                  <p:stCondLst>
                                    <p:cond delay="0"/>
                                  </p:stCondLst>
                                  <p:childTnLst>
                                    <p:set>
                                      <p:cBhvr>
                                        <p:cTn id="1028" dur="1" fill="hold">
                                          <p:stCondLst>
                                            <p:cond delay="0"/>
                                          </p:stCondLst>
                                        </p:cTn>
                                        <p:tgtEl>
                                          <p:spTgt spid="547"/>
                                        </p:tgtEl>
                                        <p:attrNameLst>
                                          <p:attrName>style.visibility</p:attrName>
                                        </p:attrNameLst>
                                      </p:cBhvr>
                                      <p:to>
                                        <p:strVal val="visible"/>
                                      </p:to>
                                    </p:set>
                                    <p:animEffect transition="in" filter="dissolve">
                                      <p:cBhvr additive="repl">
                                        <p:cTn id="1029" dur="500"/>
                                        <p:tgtEl>
                                          <p:spTgt spid="547"/>
                                        </p:tgtEl>
                                      </p:cBhvr>
                                    </p:animEffect>
                                  </p:childTnLst>
                                </p:cTn>
                              </p:par>
                            </p:childTnLst>
                          </p:cTn>
                        </p:par>
                      </p:childTnLst>
                    </p:cTn>
                  </p:par>
                  <p:par>
                    <p:cTn id="1030" fill="hold" nodeType="clickEffect">
                      <p:stCondLst>
                        <p:cond delay="indefinite"/>
                      </p:stCondLst>
                      <p:childTnLst>
                        <p:par>
                          <p:cTn id="1031" fill="hold" nodeType="withEffect">
                            <p:stCondLst>
                              <p:cond delay="0"/>
                            </p:stCondLst>
                            <p:childTnLst>
                              <p:par>
                                <p:cTn id="1032" presetID="3" presetClass="entr" fill="hold" nodeType="clickEffect" presetSubtype="10">
                                  <p:stCondLst>
                                    <p:cond delay="0"/>
                                  </p:stCondLst>
                                  <p:childTnLst>
                                    <p:set>
                                      <p:cBhvr>
                                        <p:cTn id="1033" dur="1" fill="hold">
                                          <p:stCondLst>
                                            <p:cond delay="0"/>
                                          </p:stCondLst>
                                        </p:cTn>
                                        <p:tgtEl>
                                          <p:spTgt spid="548">
                                            <p:txEl>
                                              <p:pRg st="0" end="0"/>
                                            </p:txEl>
                                          </p:spTgt>
                                        </p:tgtEl>
                                        <p:attrNameLst>
                                          <p:attrName>style.visibility</p:attrName>
                                        </p:attrNameLst>
                                      </p:cBhvr>
                                      <p:to>
                                        <p:strVal val="visible"/>
                                      </p:to>
                                    </p:set>
                                    <p:animEffect transition="in" filter="blinds(horizontal)">
                                      <p:cBhvr additive="repl">
                                        <p:cTn id="1034" dur="500"/>
                                        <p:tgtEl>
                                          <p:spTgt spid="548">
                                            <p:txEl>
                                              <p:pRg st="0" end="0"/>
                                            </p:txEl>
                                          </p:spTgt>
                                        </p:tgtEl>
                                      </p:cBhvr>
                                    </p:animEffect>
                                  </p:childTnLst>
                                </p:cTn>
                              </p:par>
                            </p:childTnLst>
                          </p:cTn>
                        </p:par>
                      </p:childTnLst>
                    </p:cTn>
                  </p:par>
                  <p:par>
                    <p:cTn id="1035" fill="hold" nodeType="clickEffect">
                      <p:stCondLst>
                        <p:cond delay="indefinite"/>
                      </p:stCondLst>
                      <p:childTnLst>
                        <p:par>
                          <p:cTn id="1036" fill="hold" nodeType="withEffect">
                            <p:stCondLst>
                              <p:cond delay="0"/>
                            </p:stCondLst>
                            <p:childTnLst>
                              <p:par>
                                <p:cTn id="1037" presetID="3" presetClass="entr" fill="hold" nodeType="clickEffect" presetSubtype="10">
                                  <p:stCondLst>
                                    <p:cond delay="0"/>
                                  </p:stCondLst>
                                  <p:childTnLst>
                                    <p:set>
                                      <p:cBhvr>
                                        <p:cTn id="1038" dur="1" fill="hold">
                                          <p:stCondLst>
                                            <p:cond delay="0"/>
                                          </p:stCondLst>
                                        </p:cTn>
                                        <p:tgtEl>
                                          <p:spTgt spid="548">
                                            <p:txEl>
                                              <p:pRg st="1" end="1"/>
                                            </p:txEl>
                                          </p:spTgt>
                                        </p:tgtEl>
                                        <p:attrNameLst>
                                          <p:attrName>style.visibility</p:attrName>
                                        </p:attrNameLst>
                                      </p:cBhvr>
                                      <p:to>
                                        <p:strVal val="visible"/>
                                      </p:to>
                                    </p:set>
                                    <p:animEffect transition="in" filter="blinds(horizontal)">
                                      <p:cBhvr additive="repl">
                                        <p:cTn id="1039" dur="500"/>
                                        <p:tgtEl>
                                          <p:spTgt spid="548">
                                            <p:txEl>
                                              <p:pRg st="1" end="1"/>
                                            </p:txEl>
                                          </p:spTgt>
                                        </p:tgtEl>
                                      </p:cBhvr>
                                    </p:animEffect>
                                  </p:childTnLst>
                                </p:cTn>
                              </p:par>
                            </p:childTnLst>
                          </p:cTn>
                        </p:par>
                      </p:childTnLst>
                    </p:cTn>
                  </p:par>
                  <p:par>
                    <p:cTn id="1040" fill="hold" nodeType="clickEffect">
                      <p:stCondLst>
                        <p:cond delay="indefinite"/>
                      </p:stCondLst>
                      <p:childTnLst>
                        <p:par>
                          <p:cTn id="1041" fill="hold" nodeType="withEffect">
                            <p:stCondLst>
                              <p:cond delay="0"/>
                            </p:stCondLst>
                            <p:childTnLst>
                              <p:par>
                                <p:cTn id="1042" presetID="3" presetClass="entr" fill="hold" nodeType="clickEffect" presetSubtype="10">
                                  <p:stCondLst>
                                    <p:cond delay="0"/>
                                  </p:stCondLst>
                                  <p:childTnLst>
                                    <p:set>
                                      <p:cBhvr>
                                        <p:cTn id="1043" dur="1" fill="hold">
                                          <p:stCondLst>
                                            <p:cond delay="0"/>
                                          </p:stCondLst>
                                        </p:cTn>
                                        <p:tgtEl>
                                          <p:spTgt spid="548">
                                            <p:txEl>
                                              <p:pRg st="2" end="2"/>
                                            </p:txEl>
                                          </p:spTgt>
                                        </p:tgtEl>
                                        <p:attrNameLst>
                                          <p:attrName>style.visibility</p:attrName>
                                        </p:attrNameLst>
                                      </p:cBhvr>
                                      <p:to>
                                        <p:strVal val="visible"/>
                                      </p:to>
                                    </p:set>
                                    <p:animEffect transition="in" filter="blinds(horizontal)">
                                      <p:cBhvr additive="repl">
                                        <p:cTn id="1044" dur="500"/>
                                        <p:tgtEl>
                                          <p:spTgt spid="548">
                                            <p:txEl>
                                              <p:pRg st="2" end="2"/>
                                            </p:txEl>
                                          </p:spTgt>
                                        </p:tgtEl>
                                      </p:cBhvr>
                                    </p:animEffect>
                                  </p:childTnLst>
                                </p:cTn>
                              </p:par>
                            </p:childTnLst>
                          </p:cTn>
                        </p:par>
                      </p:childTnLst>
                    </p:cTn>
                  </p:par>
                  <p:par>
                    <p:cTn id="1045" fill="hold" nodeType="clickEffect">
                      <p:stCondLst>
                        <p:cond delay="indefinite"/>
                      </p:stCondLst>
                      <p:childTnLst>
                        <p:par>
                          <p:cTn id="1046" fill="hold" nodeType="withEffect">
                            <p:stCondLst>
                              <p:cond delay="0"/>
                            </p:stCondLst>
                            <p:childTnLst>
                              <p:par>
                                <p:cTn id="1047" presetID="3" presetClass="entr" fill="hold" nodeType="clickEffect" presetSubtype="10">
                                  <p:stCondLst>
                                    <p:cond delay="0"/>
                                  </p:stCondLst>
                                  <p:childTnLst>
                                    <p:set>
                                      <p:cBhvr>
                                        <p:cTn id="1048" dur="1" fill="hold">
                                          <p:stCondLst>
                                            <p:cond delay="0"/>
                                          </p:stCondLst>
                                        </p:cTn>
                                        <p:tgtEl>
                                          <p:spTgt spid="548">
                                            <p:txEl>
                                              <p:pRg st="3" end="3"/>
                                            </p:txEl>
                                          </p:spTgt>
                                        </p:tgtEl>
                                        <p:attrNameLst>
                                          <p:attrName>style.visibility</p:attrName>
                                        </p:attrNameLst>
                                      </p:cBhvr>
                                      <p:to>
                                        <p:strVal val="visible"/>
                                      </p:to>
                                    </p:set>
                                    <p:animEffect transition="in" filter="blinds(horizontal)">
                                      <p:cBhvr additive="repl">
                                        <p:cTn id="1049" dur="500"/>
                                        <p:tgtEl>
                                          <p:spTgt spid="548">
                                            <p:txEl>
                                              <p:pRg st="3" end="3"/>
                                            </p:txEl>
                                          </p:spTgt>
                                        </p:tgtEl>
                                      </p:cBhvr>
                                    </p:animEffect>
                                  </p:childTnLst>
                                </p:cTn>
                              </p:par>
                            </p:childTnLst>
                          </p:cTn>
                        </p:par>
                      </p:childTnLst>
                    </p:cTn>
                  </p:par>
                  <p:par>
                    <p:cTn id="1050" fill="hold" nodeType="clickEffect">
                      <p:stCondLst>
                        <p:cond delay="indefinite"/>
                      </p:stCondLst>
                      <p:childTnLst>
                        <p:par>
                          <p:cTn id="1051" fill="hold" nodeType="withEffect">
                            <p:stCondLst>
                              <p:cond delay="0"/>
                            </p:stCondLst>
                            <p:childTnLst>
                              <p:par>
                                <p:cTn id="1052" presetID="3" presetClass="entr" fill="hold" nodeType="clickEffect" presetSubtype="10">
                                  <p:stCondLst>
                                    <p:cond delay="0"/>
                                  </p:stCondLst>
                                  <p:childTnLst>
                                    <p:set>
                                      <p:cBhvr>
                                        <p:cTn id="1053" dur="1" fill="hold">
                                          <p:stCondLst>
                                            <p:cond delay="0"/>
                                          </p:stCondLst>
                                        </p:cTn>
                                        <p:tgtEl>
                                          <p:spTgt spid="548">
                                            <p:txEl>
                                              <p:pRg st="4" end="4"/>
                                            </p:txEl>
                                          </p:spTgt>
                                        </p:tgtEl>
                                        <p:attrNameLst>
                                          <p:attrName>style.visibility</p:attrName>
                                        </p:attrNameLst>
                                      </p:cBhvr>
                                      <p:to>
                                        <p:strVal val="visible"/>
                                      </p:to>
                                    </p:set>
                                    <p:animEffect transition="in" filter="blinds(horizontal)">
                                      <p:cBhvr additive="repl">
                                        <p:cTn id="1054" dur="500"/>
                                        <p:tgtEl>
                                          <p:spTgt spid="54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Text Box 5"/>
          <p:cNvSpPr/>
          <p:nvPr/>
        </p:nvSpPr>
        <p:spPr>
          <a:xfrm>
            <a:off x="403200" y="928800"/>
            <a:ext cx="7634160" cy="111852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宋体"/>
              </a:rPr>
              <a:t>渐近线：</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宋体"/>
              </a:rPr>
              <a:t>三条渐近线在实轴上</a:t>
            </a:r>
            <a:r>
              <a:rPr lang="zh-CN" sz="2800" b="1" u="none" strike="noStrike">
                <a:solidFill>
                  <a:srgbClr val="000000"/>
                </a:solidFill>
                <a:effectLst/>
                <a:uFillTx/>
                <a:latin typeface="Times New Roman"/>
              </a:rPr>
              <a:t>的</a:t>
            </a:r>
            <a:r>
              <a:rPr lang="zh-CN" sz="2800" b="1" u="none" strike="noStrike">
                <a:solidFill>
                  <a:srgbClr val="000000"/>
                </a:solidFill>
                <a:effectLst/>
                <a:uFillTx/>
                <a:latin typeface="宋体"/>
              </a:rPr>
              <a:t>交点</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550" name="Object 11"/>
              <p:cNvSpPr txBox="1"/>
              <p:nvPr/>
            </p:nvSpPr>
            <p:spPr>
              <a:xfrm>
                <a:off x="1770120" y="2274840"/>
                <a:ext cx="4897440" cy="1433520"/>
              </a:xfrm>
              <a:prstGeom prst="rect">
                <a:avLst/>
              </a:prstGeom>
            </p:spPr>
            <p:txBody>
              <a:bodyPr/>
              <a:p>
                <a14:m>
                  <m:oMath xmlns:m="http://schemas.openxmlformats.org/officeDocument/2006/math">
                    <m:sSub>
                      <m:e>
                        <m:r>
                          <m:t xml:space="preserve">σ</m:t>
                        </m:r>
                      </m:e>
                      <m:sub>
                        <m:r>
                          <m:t xml:space="preserve">a</m:t>
                        </m:r>
                      </m:sub>
                    </m:sSub>
                    <m:r>
                      <m:t xml:space="preserve">=</m:t>
                    </m:r>
                    <m:f>
                      <m:num>
                        <m:nary>
                          <m:naryPr>
                            <m:chr m:val="∑"/>
                          </m:naryPr>
                          <m:sub>
                            <m:r>
                              <m:t xml:space="preserve">j</m:t>
                            </m:r>
                            <m:r>
                              <m:t xml:space="preserve">=</m:t>
                            </m:r>
                            <m:r>
                              <m:t xml:space="preserve">1</m:t>
                            </m:r>
                          </m:sub>
                          <m:sup>
                            <m:r>
                              <m:t xml:space="preserve">n</m:t>
                            </m:r>
                          </m:sup>
                          <m:e>
                            <m:sSub>
                              <m:e>
                                <m:r>
                                  <m:t xml:space="preserve">p</m:t>
                                </m:r>
                              </m:e>
                              <m:sub>
                                <m:r>
                                  <m:t xml:space="preserve">j</m:t>
                                </m:r>
                              </m:sub>
                            </m:sSub>
                          </m:e>
                        </m:nary>
                        <m:r>
                          <m:t xml:space="preserve">−</m:t>
                        </m:r>
                        <m:nary>
                          <m:naryPr>
                            <m:chr m:val="∑"/>
                          </m:naryPr>
                          <m:sub>
                            <m:r>
                              <m:t xml:space="preserve">i</m:t>
                            </m:r>
                            <m:r>
                              <m:t xml:space="preserve">=</m:t>
                            </m:r>
                            <m:r>
                              <m:t xml:space="preserve">1</m:t>
                            </m:r>
                          </m:sub>
                          <m:sup>
                            <m:r>
                              <m:t xml:space="preserve">m</m:t>
                            </m:r>
                          </m:sup>
                          <m:e>
                            <m:sSub>
                              <m:e>
                                <m:r>
                                  <m:t xml:space="preserve">z</m:t>
                                </m:r>
                              </m:e>
                              <m:sub>
                                <m:r>
                                  <m:t xml:space="preserve">i</m:t>
                                </m:r>
                              </m:sub>
                            </m:sSub>
                          </m:e>
                        </m:nary>
                      </m:num>
                      <m:den>
                        <m:r>
                          <m:t xml:space="preserve">n</m:t>
                        </m:r>
                        <m:r>
                          <m:t xml:space="preserve">−</m:t>
                        </m:r>
                        <m:r>
                          <m:t xml:space="preserve">m</m:t>
                        </m:r>
                      </m:den>
                    </m:f>
                    <m:r>
                      <m:t xml:space="preserve">=</m:t>
                    </m:r>
                    <m:f>
                      <m:num>
                        <m:r>
                          <m:t xml:space="preserve">0</m:t>
                        </m:r>
                        <m:r>
                          <m:t xml:space="preserve">−</m:t>
                        </m:r>
                        <m:r>
                          <m:t xml:space="preserve">1</m:t>
                        </m:r>
                        <m:r>
                          <m:t xml:space="preserve">−</m:t>
                        </m:r>
                        <m:r>
                          <m:t xml:space="preserve">5</m:t>
                        </m:r>
                      </m:num>
                      <m:den>
                        <m:r>
                          <m:t xml:space="preserve">3</m:t>
                        </m:r>
                        <m:r>
                          <m:t xml:space="preserve">−</m:t>
                        </m:r>
                        <m:r>
                          <m:t xml:space="preserve">0</m:t>
                        </m:r>
                      </m:den>
                    </m:f>
                    <m:r>
                      <m:t xml:space="preserve">=</m:t>
                    </m:r>
                    <m:r>
                      <m:t xml:space="preserve">−</m:t>
                    </m:r>
                    <m:r>
                      <m:t xml:space="preserve">2</m:t>
                    </m:r>
                  </m:oMath>
                </a14:m>
              </a:p>
            </p:txBody>
          </p:sp>
        </mc:Choice>
        <mc:Fallback>
          <p:sp>
            <p:nvSpPr>
              <p:cNvPr id="550" name="Object 11"/>
              <p:cNvSpPr txBox="1"/>
              <p:nvPr/>
            </p:nvSpPr>
            <p:spPr>
              <a:xfrm>
                <a:off x="1770120" y="2274840"/>
                <a:ext cx="4897440" cy="1433520"/>
              </a:xfrm>
              <a:prstGeom prst="rect">
                <a:avLst/>
              </a:prstGeom>
              <a:blipFill>
                <a:blip r:embed="rId1"/>
                <a:stretch>
                  <a:fillRect/>
                </a:stretch>
              </a:blipFill>
            </p:spPr>
          </p:sp>
        </mc:Fallback>
      </mc:AlternateContent>
      <p:sp>
        <p:nvSpPr>
          <p:cNvPr id="551" name=""/>
          <p:cNvSpPr txBox="1"/>
          <p:nvPr/>
        </p:nvSpPr>
        <p:spPr>
          <a:xfrm>
            <a:off x="871560" y="2674440"/>
            <a:ext cx="7408800" cy="345132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Tree>
  </p:cSld>
  <mc:AlternateContent>
    <mc:Choice Requires="p14">
      <p:transition spd="slow" p14:dur="2000"/>
    </mc:Choice>
    <mc:Fallback>
      <p:transition spd="slow"/>
    </mc:Fallback>
  </mc:AlternateContent>
  <p:timing>
    <p:tnLst>
      <p:par>
        <p:cTn id="1055" dur="indefinite" restart="never" nodeType="tmRoot">
          <p:childTnLst>
            <p:seq>
              <p:cTn id="1056" dur="indefinite" nodeType="mainSeq">
                <p:childTnLst>
                  <p:par>
                    <p:cTn id="1057" fill="hold" nodeType="clickEffect">
                      <p:stCondLst>
                        <p:cond delay="indefinite"/>
                      </p:stCondLst>
                      <p:childTnLst>
                        <p:par>
                          <p:cTn id="1058" fill="hold" nodeType="withEffect">
                            <p:stCondLst>
                              <p:cond delay="0"/>
                            </p:stCondLst>
                            <p:childTnLst>
                              <p:par>
                                <p:cTn id="1059" presetID="3" presetClass="entr" fill="hold" nodeType="clickEffect" presetSubtype="10">
                                  <p:stCondLst>
                                    <p:cond delay="0"/>
                                  </p:stCondLst>
                                  <p:childTnLst>
                                    <p:set>
                                      <p:cBhvr>
                                        <p:cTn id="1060" dur="1" fill="hold">
                                          <p:stCondLst>
                                            <p:cond delay="0"/>
                                          </p:stCondLst>
                                        </p:cTn>
                                        <p:tgtEl>
                                          <p:spTgt spid="549">
                                            <p:txEl>
                                              <p:pRg st="1" end="1"/>
                                            </p:txEl>
                                          </p:spTgt>
                                        </p:tgtEl>
                                        <p:attrNameLst>
                                          <p:attrName>style.visibility</p:attrName>
                                        </p:attrNameLst>
                                      </p:cBhvr>
                                      <p:to>
                                        <p:strVal val="visible"/>
                                      </p:to>
                                    </p:set>
                                    <p:animEffect transition="in" filter="blinds(horizontal)">
                                      <p:cBhvr additive="repl">
                                        <p:cTn id="1061" dur="500"/>
                                        <p:tgtEl>
                                          <p:spTgt spid="549">
                                            <p:txEl>
                                              <p:pRg st="1" end="1"/>
                                            </p:txEl>
                                          </p:spTgt>
                                        </p:tgtEl>
                                      </p:cBhvr>
                                    </p:animEffect>
                                  </p:childTnLst>
                                </p:cTn>
                              </p:par>
                            </p:childTnLst>
                          </p:cTn>
                        </p:par>
                      </p:childTnLst>
                    </p:cTn>
                  </p:par>
                  <p:par>
                    <p:cTn id="1062" fill="hold" nodeType="clickEffect">
                      <p:stCondLst>
                        <p:cond delay="indefinite"/>
                      </p:stCondLst>
                      <p:childTnLst>
                        <p:par>
                          <p:cTn id="1063" fill="hold" nodeType="withEffect">
                            <p:stCondLst>
                              <p:cond delay="0"/>
                            </p:stCondLst>
                            <p:childTnLst>
                              <p:par>
                                <p:cTn id="1064" presetID="9" presetClass="entr" fill="hold" nodeType="clickEffect">
                                  <p:stCondLst>
                                    <p:cond delay="0"/>
                                  </p:stCondLst>
                                  <p:childTnLst>
                                    <p:set>
                                      <p:cBhvr>
                                        <p:cTn id="1065" dur="1" fill="hold">
                                          <p:stCondLst>
                                            <p:cond delay="0"/>
                                          </p:stCondLst>
                                        </p:cTn>
                                        <p:tgtEl>
                                          <p:spTgt spid="550"/>
                                        </p:tgtEl>
                                        <p:attrNameLst>
                                          <p:attrName>style.visibility</p:attrName>
                                        </p:attrNameLst>
                                      </p:cBhvr>
                                      <p:to>
                                        <p:strVal val="visible"/>
                                      </p:to>
                                    </p:set>
                                    <p:animEffect transition="in" filter="dissolve">
                                      <p:cBhvr additive="repl">
                                        <p:cTn id="1066" dur="5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52" name="Group 71"/>
          <p:cNvGrpSpPr/>
          <p:nvPr/>
        </p:nvGrpSpPr>
        <p:grpSpPr>
          <a:xfrm>
            <a:off x="4735440" y="1042920"/>
            <a:ext cx="4249800" cy="4394160"/>
            <a:chOff x="4735440" y="1042920"/>
            <a:chExt cx="4249800" cy="4394160"/>
          </a:xfrm>
        </p:grpSpPr>
        <p:sp>
          <p:nvSpPr>
            <p:cNvPr id="553" name="Line 34"/>
            <p:cNvSpPr/>
            <p:nvPr/>
          </p:nvSpPr>
          <p:spPr>
            <a:xfrm flipV="1">
              <a:off x="7789680" y="1042920"/>
              <a:ext cx="0" cy="439416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54" name="Rectangle 37"/>
            <p:cNvSpPr/>
            <p:nvPr/>
          </p:nvSpPr>
          <p:spPr>
            <a:xfrm>
              <a:off x="8539200" y="3065400"/>
              <a:ext cx="4460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555" name="Rectangle 38"/>
            <p:cNvSpPr/>
            <p:nvPr/>
          </p:nvSpPr>
          <p:spPr>
            <a:xfrm>
              <a:off x="7686720" y="345132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556" name="Line 35"/>
            <p:cNvSpPr/>
            <p:nvPr/>
          </p:nvSpPr>
          <p:spPr>
            <a:xfrm>
              <a:off x="4735440" y="3397320"/>
              <a:ext cx="3835440" cy="1440"/>
            </a:xfrm>
            <a:prstGeom prst="line">
              <a:avLst/>
            </a:prstGeom>
            <a:ln cap="sq" w="57240">
              <a:solidFill>
                <a:srgbClr val="0000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557" name="Line 39"/>
            <p:cNvSpPr/>
            <p:nvPr/>
          </p:nvSpPr>
          <p:spPr>
            <a:xfrm>
              <a:off x="7273800" y="3306600"/>
              <a:ext cx="0" cy="1638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58" name="Line 40"/>
            <p:cNvSpPr/>
            <p:nvPr/>
          </p:nvSpPr>
          <p:spPr>
            <a:xfrm>
              <a:off x="6718320" y="3289320"/>
              <a:ext cx="1440" cy="1620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59" name="Line 42"/>
            <p:cNvSpPr/>
            <p:nvPr/>
          </p:nvSpPr>
          <p:spPr>
            <a:xfrm>
              <a:off x="6718320" y="3306600"/>
              <a:ext cx="1440" cy="1638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60" name="Line 43"/>
            <p:cNvSpPr/>
            <p:nvPr/>
          </p:nvSpPr>
          <p:spPr>
            <a:xfrm>
              <a:off x="6165720" y="3289320"/>
              <a:ext cx="1800" cy="1620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61" name="Line 45"/>
            <p:cNvSpPr/>
            <p:nvPr/>
          </p:nvSpPr>
          <p:spPr>
            <a:xfrm>
              <a:off x="5611680" y="3306600"/>
              <a:ext cx="1800" cy="1638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62" name="Line 47"/>
            <p:cNvSpPr/>
            <p:nvPr/>
          </p:nvSpPr>
          <p:spPr>
            <a:xfrm>
              <a:off x="5611680" y="3289320"/>
              <a:ext cx="1800" cy="1620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63" name="Line 49"/>
            <p:cNvSpPr/>
            <p:nvPr/>
          </p:nvSpPr>
          <p:spPr>
            <a:xfrm>
              <a:off x="5057640" y="3252600"/>
              <a:ext cx="1800" cy="1987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64" name="Line 60"/>
            <p:cNvSpPr/>
            <p:nvPr/>
          </p:nvSpPr>
          <p:spPr>
            <a:xfrm flipV="1">
              <a:off x="7699320" y="4495320"/>
              <a:ext cx="1602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565" name="Line 61"/>
            <p:cNvSpPr/>
            <p:nvPr/>
          </p:nvSpPr>
          <p:spPr>
            <a:xfrm flipV="1">
              <a:off x="7699320" y="3968280"/>
              <a:ext cx="1602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566" name="Line 62"/>
            <p:cNvSpPr/>
            <p:nvPr/>
          </p:nvSpPr>
          <p:spPr>
            <a:xfrm flipV="1">
              <a:off x="7721640" y="2252160"/>
              <a:ext cx="1602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567" name="Line 63"/>
            <p:cNvSpPr/>
            <p:nvPr/>
          </p:nvSpPr>
          <p:spPr>
            <a:xfrm flipV="1">
              <a:off x="7716960" y="2818800"/>
              <a:ext cx="160200" cy="4320"/>
            </a:xfrm>
            <a:prstGeom prst="line">
              <a:avLst/>
            </a:prstGeom>
            <a:ln w="57240">
              <a:solidFill>
                <a:srgbClr val="000000"/>
              </a:solidFill>
              <a:miter/>
            </a:ln>
          </p:spPr>
          <p:style>
            <a:lnRef idx="0"/>
            <a:fillRef idx="0"/>
            <a:effectRef idx="0"/>
            <a:fontRef idx="minor"/>
          </p:style>
          <p:txBody>
            <a:bodyPr lIns="90000" tIns="-42480" rIns="90000" bIns="-42480" anchor="t">
              <a:noAutofit/>
            </a:bodyPr>
            <a:p>
              <a:endParaRPr lang="en-US" sz="2800" b="1" u="none" strike="noStrike">
                <a:solidFill>
                  <a:srgbClr val="000000"/>
                </a:solidFill>
                <a:effectLst/>
                <a:uFillTx/>
                <a:latin typeface="Times New Roman"/>
              </a:endParaRPr>
            </a:p>
          </p:txBody>
        </p:sp>
      </p:grpSp>
      <p:sp>
        <p:nvSpPr>
          <p:cNvPr id="568" name="Rectangle 36"/>
          <p:cNvSpPr/>
          <p:nvPr/>
        </p:nvSpPr>
        <p:spPr>
          <a:xfrm>
            <a:off x="6998040" y="81108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569" name="Object 1044"/>
              <p:cNvSpPr txBox="1"/>
              <p:nvPr/>
            </p:nvSpPr>
            <p:spPr>
              <a:xfrm>
                <a:off x="358920" y="2709720"/>
                <a:ext cx="4383000" cy="1832040"/>
              </a:xfrm>
              <a:prstGeom prst="rect">
                <a:avLst/>
              </a:prstGeom>
            </p:spPr>
            <p:txBody>
              <a:bodyPr/>
              <a:p>
                <a14:m>
                  <m:oMath xmlns:m="http://schemas.openxmlformats.org/officeDocument/2006/math">
                    <m:eqArr>
                      <m:e>
                        <m:sSub>
                          <m:e>
                            <m:r>
                              <m:t xml:space="preserve">ϕ</m:t>
                            </m:r>
                          </m:e>
                          <m:sub>
                            <m:r>
                              <m:t xml:space="preserve">a</m:t>
                            </m:r>
                          </m:sub>
                        </m:sSub>
                        <m:r>
                          <m:t xml:space="preserve">=</m:t>
                        </m:r>
                        <m:f>
                          <m:num>
                            <m:r>
                              <m:t xml:space="preserve">2</m:t>
                            </m:r>
                            <m:r>
                              <m:t xml:space="preserve">k</m:t>
                            </m:r>
                            <m:r>
                              <m:t xml:space="preserve">+</m:t>
                            </m:r>
                            <m:r>
                              <m:t xml:space="preserve">1</m:t>
                            </m:r>
                          </m:num>
                          <m:den>
                            <m:r>
                              <m:t xml:space="preserve">3</m:t>
                            </m:r>
                          </m:den>
                        </m:f>
                        <m:r>
                          <m:t xml:space="preserve">π</m:t>
                        </m:r>
                      </m:e>
                      <m:e>
                        <m:r>
                          <m:rPr>
                            <m:lit/>
                            <m:nor/>
                          </m:rPr>
                          <m:t xml:space="preserve">     </m:t>
                        </m:r>
                        <m:r>
                          <m:t xml:space="preserve">=</m:t>
                        </m:r>
                        <m:f>
                          <m:num>
                            <m:r>
                              <m:t xml:space="preserve">π</m:t>
                            </m:r>
                          </m:num>
                          <m:den>
                            <m:r>
                              <m:t xml:space="preserve">3</m:t>
                            </m:r>
                          </m:den>
                        </m:f>
                        <m:r>
                          <m:t xml:space="preserve">，</m:t>
                        </m:r>
                        <m:r>
                          <m:t xml:space="preserve">π</m:t>
                        </m:r>
                        <m:r>
                          <m:t xml:space="preserve">，</m:t>
                        </m:r>
                        <m:r>
                          <m:rPr>
                            <m:lit/>
                            <m:nor/>
                          </m:rPr>
                          <m:t xml:space="preserve">    </m:t>
                        </m:r>
                        <m:f>
                          <m:num>
                            <m:r>
                              <m:t xml:space="preserve">5</m:t>
                            </m:r>
                            <m:r>
                              <m:t xml:space="preserve">π</m:t>
                            </m:r>
                          </m:num>
                          <m:den>
                            <m:r>
                              <m:t xml:space="preserve">3</m:t>
                            </m:r>
                          </m:den>
                        </m:f>
                        <m:r>
                          <m:rPr>
                            <m:lit/>
                            <m:nor/>
                          </m:rPr>
                          <m:t xml:space="preserve">     </m:t>
                        </m:r>
                        <m:d>
                          <m:dPr>
                            <m:begChr m:val="("/>
                            <m:endChr m:val=")"/>
                          </m:dPr>
                          <m:e>
                            <m:r>
                              <m:t xml:space="preserve">k</m:t>
                            </m:r>
                            <m:r>
                              <m:t xml:space="preserve">=</m:t>
                            </m:r>
                            <m:r>
                              <m:t xml:space="preserve">0</m:t>
                            </m:r>
                            <m:r>
                              <m:t xml:space="preserve">，</m:t>
                            </m:r>
                            <m:r>
                              <m:t xml:space="preserve">1</m:t>
                            </m:r>
                            <m:r>
                              <m:t xml:space="preserve">，</m:t>
                            </m:r>
                            <m:r>
                              <m:t xml:space="preserve">2</m:t>
                            </m:r>
                          </m:e>
                        </m:d>
                      </m:e>
                    </m:eqArr>
                  </m:oMath>
                </a14:m>
              </a:p>
            </p:txBody>
          </p:sp>
        </mc:Choice>
        <mc:Fallback>
          <p:sp>
            <p:nvSpPr>
              <p:cNvPr id="569" name="Object 1044"/>
              <p:cNvSpPr txBox="1"/>
              <p:nvPr/>
            </p:nvSpPr>
            <p:spPr>
              <a:xfrm>
                <a:off x="358920" y="2709720"/>
                <a:ext cx="4383000" cy="1832040"/>
              </a:xfrm>
              <a:prstGeom prst="rect">
                <a:avLst/>
              </a:prstGeom>
              <a:blipFill>
                <a:blip r:embed="rId1"/>
                <a:stretch>
                  <a:fillRect/>
                </a:stretch>
              </a:blipFill>
            </p:spPr>
          </p:sp>
        </mc:Fallback>
      </mc:AlternateContent>
      <p:sp>
        <p:nvSpPr>
          <p:cNvPr id="570" name="Text Box 7"/>
          <p:cNvSpPr/>
          <p:nvPr/>
        </p:nvSpPr>
        <p:spPr>
          <a:xfrm>
            <a:off x="453960" y="5154480"/>
            <a:ext cx="5791320" cy="120348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实轴上的根轨迹分布在</a:t>
            </a:r>
            <a:r>
              <a:rPr lang="en-US" sz="2800" b="1" u="none" strike="noStrike">
                <a:solidFill>
                  <a:srgbClr val="000000"/>
                </a:solidFill>
                <a:effectLst/>
                <a:uFillTx/>
                <a:latin typeface="Times New Roman"/>
              </a:rPr>
              <a:t>(0</a:t>
            </a:r>
            <a:r>
              <a:rPr lang="zh-CN" sz="2800" b="1" u="none" strike="noStrike">
                <a:solidFill>
                  <a:srgbClr val="000000"/>
                </a:solidFill>
                <a:effectLst/>
                <a:uFillTx/>
                <a:latin typeface="Times New Roman"/>
              </a:rPr>
              <a:t>，</a:t>
            </a:r>
            <a:r>
              <a:rPr lang="zh-CN" sz="2800" b="1" i="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a:t>
            </a:r>
            <a:r>
              <a:rPr lang="zh-CN" sz="2800" b="1" u="none" strike="noStrike">
                <a:solidFill>
                  <a:srgbClr val="000000"/>
                </a:solidFill>
                <a:effectLst/>
                <a:uFillTx/>
                <a:latin typeface="Times New Roman"/>
              </a:rPr>
              <a:t>和</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5</a:t>
            </a:r>
            <a:r>
              <a:rPr lang="zh-CN" sz="2800" b="1" u="none" strike="noStrike">
                <a:solidFill>
                  <a:srgbClr val="000000"/>
                </a:solidFill>
                <a:effectLst/>
                <a:uFillTx/>
                <a:latin typeface="Times New Roman"/>
              </a:rPr>
              <a:t>，</a:t>
            </a:r>
            <a:r>
              <a:rPr lang="zh-CN" sz="2800" b="1" i="1" u="none" strike="noStrike">
                <a:solidFill>
                  <a:srgbClr val="000000"/>
                </a:solidFill>
                <a:effectLst/>
                <a:uFillTx/>
                <a:latin typeface="Symbol"/>
                <a:ea typeface="Symbol"/>
              </a:rPr>
              <a:t></a:t>
            </a:r>
            <a:r>
              <a:rPr lang="zh-CN" sz="2800" b="1" i="1" u="none" strike="noStrike">
                <a:solidFill>
                  <a:srgbClr val="000000"/>
                </a:solidFill>
                <a:effectLst/>
                <a:uFillTx/>
                <a:latin typeface="Times New Roman"/>
              </a:rPr>
              <a:t> </a:t>
            </a:r>
            <a:r>
              <a:rPr lang="zh-CN"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a:t>
            </a:r>
            <a:r>
              <a:rPr lang="zh-CN" sz="2800" b="1" u="none" strike="noStrike">
                <a:solidFill>
                  <a:srgbClr val="000000"/>
                </a:solidFill>
                <a:effectLst/>
                <a:uFillTx/>
                <a:latin typeface="Times New Roman"/>
              </a:rPr>
              <a:t>的实轴段上。</a:t>
            </a:r>
            <a:endParaRPr lang="en-US" sz="2800" b="1" u="none" strike="noStrike">
              <a:solidFill>
                <a:srgbClr val="000000"/>
              </a:solidFill>
              <a:effectLst/>
              <a:uFillTx/>
              <a:latin typeface="Times New Roman"/>
            </a:endParaRPr>
          </a:p>
        </p:txBody>
      </p:sp>
      <p:grpSp>
        <p:nvGrpSpPr>
          <p:cNvPr id="571" name="Group 22"/>
          <p:cNvGrpSpPr/>
          <p:nvPr/>
        </p:nvGrpSpPr>
        <p:grpSpPr>
          <a:xfrm>
            <a:off x="7666200" y="3251160"/>
            <a:ext cx="287280" cy="290520"/>
            <a:chOff x="7666200" y="3251160"/>
            <a:chExt cx="287280" cy="290520"/>
          </a:xfrm>
        </p:grpSpPr>
        <p:sp>
          <p:nvSpPr>
            <p:cNvPr id="572" name="Line 23"/>
            <p:cNvSpPr/>
            <p:nvPr/>
          </p:nvSpPr>
          <p:spPr>
            <a:xfrm>
              <a:off x="7669440" y="32590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73" name="Line 24"/>
            <p:cNvSpPr/>
            <p:nvPr/>
          </p:nvSpPr>
          <p:spPr>
            <a:xfrm flipH="1">
              <a:off x="7666200" y="32511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574" name="Group 25"/>
          <p:cNvGrpSpPr/>
          <p:nvPr/>
        </p:nvGrpSpPr>
        <p:grpSpPr>
          <a:xfrm>
            <a:off x="7129440" y="3251160"/>
            <a:ext cx="287280" cy="290520"/>
            <a:chOff x="7129440" y="3251160"/>
            <a:chExt cx="287280" cy="290520"/>
          </a:xfrm>
        </p:grpSpPr>
        <p:sp>
          <p:nvSpPr>
            <p:cNvPr id="575" name="Line 26"/>
            <p:cNvSpPr/>
            <p:nvPr/>
          </p:nvSpPr>
          <p:spPr>
            <a:xfrm>
              <a:off x="7132680" y="32590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76" name="Line 27"/>
            <p:cNvSpPr/>
            <p:nvPr/>
          </p:nvSpPr>
          <p:spPr>
            <a:xfrm flipH="1">
              <a:off x="7129440" y="32511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577" name="Group 52"/>
          <p:cNvGrpSpPr/>
          <p:nvPr/>
        </p:nvGrpSpPr>
        <p:grpSpPr>
          <a:xfrm>
            <a:off x="4908600" y="3243240"/>
            <a:ext cx="272880" cy="290520"/>
            <a:chOff x="4908600" y="3243240"/>
            <a:chExt cx="272880" cy="290520"/>
          </a:xfrm>
        </p:grpSpPr>
        <p:sp>
          <p:nvSpPr>
            <p:cNvPr id="578" name="Line 53"/>
            <p:cNvSpPr/>
            <p:nvPr/>
          </p:nvSpPr>
          <p:spPr>
            <a:xfrm>
              <a:off x="4911480" y="3251160"/>
              <a:ext cx="2682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79" name="Line 54"/>
            <p:cNvSpPr/>
            <p:nvPr/>
          </p:nvSpPr>
          <p:spPr>
            <a:xfrm flipH="1">
              <a:off x="4908600" y="3243240"/>
              <a:ext cx="2728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580" name="Line 55"/>
          <p:cNvSpPr/>
          <p:nvPr/>
        </p:nvSpPr>
        <p:spPr>
          <a:xfrm flipV="1">
            <a:off x="6742080" y="577800"/>
            <a:ext cx="1670040" cy="2819520"/>
          </a:xfrm>
          <a:prstGeom prst="line">
            <a:avLst/>
          </a:prstGeom>
          <a:ln w="7632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81" name="Line 56"/>
          <p:cNvSpPr/>
          <p:nvPr/>
        </p:nvSpPr>
        <p:spPr>
          <a:xfrm>
            <a:off x="6734160" y="3390840"/>
            <a:ext cx="1665360" cy="2809800"/>
          </a:xfrm>
          <a:prstGeom prst="line">
            <a:avLst/>
          </a:prstGeom>
          <a:ln w="7632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82" name="Line 66"/>
          <p:cNvSpPr/>
          <p:nvPr/>
        </p:nvSpPr>
        <p:spPr>
          <a:xfrm>
            <a:off x="7311960" y="3375000"/>
            <a:ext cx="509760" cy="12600"/>
          </a:xfrm>
          <a:prstGeom prst="line">
            <a:avLst/>
          </a:prstGeom>
          <a:ln w="76320">
            <a:solidFill>
              <a:srgbClr val="993300"/>
            </a:solidFill>
            <a:miter/>
          </a:ln>
        </p:spPr>
        <p:style>
          <a:lnRef idx="0"/>
          <a:fillRef idx="0"/>
          <a:effectRef idx="0"/>
          <a:fontRef idx="minor"/>
        </p:style>
        <p:txBody>
          <a:bodyPr lIns="90000" tIns="-34200" rIns="90000" bIns="-34200" anchor="t">
            <a:noAutofit/>
          </a:bodyPr>
          <a:p>
            <a:endParaRPr lang="en-US" sz="2800" b="1" u="none" strike="noStrike">
              <a:solidFill>
                <a:srgbClr val="000000"/>
              </a:solidFill>
              <a:effectLst/>
              <a:uFillTx/>
              <a:latin typeface="Times New Roman"/>
            </a:endParaRPr>
          </a:p>
        </p:txBody>
      </p:sp>
      <p:sp>
        <p:nvSpPr>
          <p:cNvPr id="583" name="Line 67"/>
          <p:cNvSpPr/>
          <p:nvPr/>
        </p:nvSpPr>
        <p:spPr>
          <a:xfrm>
            <a:off x="3908520" y="3376440"/>
            <a:ext cx="113328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84" name="Arc 72"/>
          <p:cNvSpPr/>
          <p:nvPr/>
        </p:nvSpPr>
        <p:spPr>
          <a:xfrm>
            <a:off x="6954840" y="2990880"/>
            <a:ext cx="189000" cy="406440"/>
          </a:xfrm>
          <a:custGeom>
            <a:avLst/>
            <a:gdLst>
              <a:gd name="GluePoint1X" fmla="*/ 0 w 21600"/>
              <a:gd name="GluePoint1Y" fmla="*/ 0 h 21600"/>
              <a:gd name="GluePoint2X" fmla="*/ 188912 w 21600"/>
              <a:gd name="GluePoint2Y" fmla="*/ 406400 h 21600"/>
              <a:gd name="GluePoint3X" fmla="*/ 0 w 21600"/>
              <a:gd name="GluePoint3Y" fmla="*/ 406400 h 21600"/>
            </a:gdLst>
            <a:ahLst/>
            <a:cxnLst>
              <a:cxn ang="0">
                <a:pos x="GluePoint1X" y="GluePoint1Y"/>
              </a:cxn>
              <a:cxn ang="0">
                <a:pos x="GluePoint2X" y="GluePoint2Y"/>
              </a:cxn>
              <a:cxn ang="0">
                <a:pos x="GluePoint3X" y="GluePoint3Y"/>
              </a:cxn>
            </a:cxnLst>
            <a:rect l="l" t="t" r="r" b="b"/>
            <a:pathLst>
              <a:path fill="none" w="21600" h="21600">
                <a:moveTo>
                  <a:pt x="-1" y="0"/>
                </a:moveTo>
                <a:cubicBezTo>
                  <a:pt x="11929" y="0"/>
                  <a:pt x="21600" y="9670"/>
                  <a:pt x="21600" y="21600"/>
                </a:cubicBezTo>
              </a:path>
              <a:path stroke="0" w="21600" h="21600">
                <a:moveTo>
                  <a:pt x="-1" y="0"/>
                </a:moveTo>
                <a:cubicBezTo>
                  <a:pt x="11929" y="0"/>
                  <a:pt x="21600" y="9670"/>
                  <a:pt x="21600" y="21600"/>
                </a:cubicBezTo>
                <a:lnTo>
                  <a:pt x="0" y="21600"/>
                </a:lnTo>
                <a:lnTo>
                  <a:pt x="-1" y="0"/>
                </a:lnTo>
                <a:close/>
              </a:path>
            </a:pathLst>
          </a:custGeom>
          <a:noFill/>
          <a:ln w="57240">
            <a:solidFill>
              <a:srgbClr val="000000"/>
            </a:solidFill>
            <a:round/>
          </a:ln>
        </p:spPr>
        <p:style>
          <a:lnRef idx="0"/>
          <a:fillRef idx="0"/>
          <a:effectRef idx="0"/>
          <a:fontRef idx="minor"/>
        </p:style>
        <p:txBody>
          <a:bodyPr wrap="none" lIns="90000" tIns="46800" rIns="90000" bIns="46800" anchor="ctr">
            <a:noAutofit/>
          </a:bodyPr>
          <a:p>
            <a:endParaRPr lang="en-US" sz="2800" b="1" u="none" strike="noStrike">
              <a:solidFill>
                <a:srgbClr val="000000"/>
              </a:solidFill>
              <a:effectLst/>
              <a:uFillTx/>
              <a:latin typeface="Times New Roman"/>
            </a:endParaRPr>
          </a:p>
        </p:txBody>
      </p:sp>
      <p:sp>
        <p:nvSpPr>
          <p:cNvPr id="585" name="Rectangle 73"/>
          <p:cNvSpPr/>
          <p:nvPr/>
        </p:nvSpPr>
        <p:spPr>
          <a:xfrm>
            <a:off x="7077960" y="2617920"/>
            <a:ext cx="67752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60</a:t>
            </a:r>
            <a:r>
              <a:rPr lang="en-US" sz="2800" b="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586" name="Line 74"/>
          <p:cNvSpPr/>
          <p:nvPr/>
        </p:nvSpPr>
        <p:spPr>
          <a:xfrm flipH="1">
            <a:off x="3906360" y="3454560"/>
            <a:ext cx="2814840" cy="0"/>
          </a:xfrm>
          <a:prstGeom prst="line">
            <a:avLst/>
          </a:prstGeom>
          <a:ln cap="rnd" w="76320">
            <a:solidFill>
              <a:srgbClr val="000000"/>
            </a:solidFill>
            <a:custDash>
              <a:ds d="100000" sp="1000"/>
            </a:custDash>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587" name="Object 1045"/>
              <p:cNvSpPr txBox="1"/>
              <p:nvPr/>
            </p:nvSpPr>
            <p:spPr>
              <a:xfrm>
                <a:off x="363600" y="231840"/>
                <a:ext cx="3774960" cy="100008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f>
                      <m:num>
                        <m:sSub>
                          <m:e>
                            <m:r>
                              <m:t xml:space="preserve">K</m:t>
                            </m:r>
                          </m:e>
                          <m:sub>
                            <m:r>
                              <m:t xml:space="preserve">g</m:t>
                            </m:r>
                          </m:sub>
                        </m:sSub>
                      </m:num>
                      <m:den>
                        <m:r>
                          <m:t xml:space="preserve">s</m:t>
                        </m:r>
                        <m:r>
                          <m:t xml:space="preserve">(</m:t>
                        </m:r>
                        <m:r>
                          <m:t xml:space="preserve">s</m:t>
                        </m:r>
                        <m:r>
                          <m:t xml:space="preserve">+</m:t>
                        </m:r>
                        <m:r>
                          <m:t xml:space="preserve">1</m:t>
                        </m:r>
                        <m:r>
                          <m:t xml:space="preserve">)</m:t>
                        </m:r>
                        <m:r>
                          <m:t xml:space="preserve">(</m:t>
                        </m:r>
                        <m:r>
                          <m:t xml:space="preserve">s</m:t>
                        </m:r>
                        <m:r>
                          <m:t xml:space="preserve">+</m:t>
                        </m:r>
                        <m:r>
                          <m:t xml:space="preserve">5</m:t>
                        </m:r>
                        <m:r>
                          <m:t xml:space="preserve">)</m:t>
                        </m:r>
                      </m:den>
                    </m:f>
                  </m:oMath>
                </a14:m>
              </a:p>
            </p:txBody>
          </p:sp>
        </mc:Choice>
        <mc:Fallback>
          <p:sp>
            <p:nvSpPr>
              <p:cNvPr id="587" name="Object 1045"/>
              <p:cNvSpPr txBox="1"/>
              <p:nvPr/>
            </p:nvSpPr>
            <p:spPr>
              <a:xfrm>
                <a:off x="363600" y="231840"/>
                <a:ext cx="3774960" cy="1000080"/>
              </a:xfrm>
              <a:prstGeom prst="rect">
                <a:avLst/>
              </a:prstGeom>
              <a:blipFill>
                <a:blip r:embed="rId2"/>
                <a:stretch>
                  <a:fillRect/>
                </a:stretch>
              </a:blipFill>
            </p:spPr>
          </p:sp>
        </mc:Fallback>
      </mc:AlternateContent>
      <p:sp>
        <p:nvSpPr>
          <p:cNvPr id="588" name="Rectangle 76"/>
          <p:cNvSpPr/>
          <p:nvPr/>
        </p:nvSpPr>
        <p:spPr>
          <a:xfrm>
            <a:off x="271440" y="1590840"/>
            <a:ext cx="5507280" cy="606240"/>
          </a:xfrm>
          <a:prstGeom prst="rect">
            <a:avLst/>
          </a:prstGeom>
          <a:noFill/>
          <a:ln w="0">
            <a:noFill/>
          </a:ln>
        </p:spPr>
        <p:style>
          <a:lnRef idx="0"/>
          <a:fillRef idx="0"/>
          <a:effectRef idx="0"/>
          <a:fontRef idx="minor"/>
        </p:style>
        <p:txBody>
          <a:bodyPr wrap="none"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三条渐近线与正实轴上间的夹角：</a:t>
            </a:r>
            <a:endParaRPr lang="en-US" sz="2800" b="1" u="none" strike="noStrike">
              <a:solidFill>
                <a:srgbClr val="000000"/>
              </a:solidFill>
              <a:effectLst/>
              <a:uFillTx/>
              <a:latin typeface="Times New Roman"/>
            </a:endParaRPr>
          </a:p>
        </p:txBody>
      </p:sp>
      <p:sp>
        <p:nvSpPr>
          <p:cNvPr id="589" name="Text Box 77"/>
          <p:cNvSpPr/>
          <p:nvPr/>
        </p:nvSpPr>
        <p:spPr>
          <a:xfrm>
            <a:off x="6375240" y="3441600"/>
            <a:ext cx="482760" cy="398880"/>
          </a:xfrm>
          <a:prstGeom prst="rect">
            <a:avLst/>
          </a:prstGeom>
          <a:noFill/>
          <a:ln w="0">
            <a:noFill/>
          </a:ln>
        </p:spPr>
        <p:style>
          <a:lnRef idx="0"/>
          <a:fillRef idx="0"/>
          <a:effectRef idx="0"/>
          <a:fontRef idx="minor"/>
        </p:style>
        <p:txBody>
          <a:bodyPr lIns="90000" tIns="46800" rIns="90000" bIns="46800" anchor="t">
            <a:spAutoFit/>
          </a:bodyPr>
          <a:p>
            <a:pPr>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-2</a:t>
            </a:r>
            <a:endParaRPr lang="en-US" sz="20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067" dur="indefinite" restart="never" nodeType="tmRoot">
          <p:childTnLst>
            <p:seq>
              <p:cTn id="1068" dur="indefinite" nodeType="mainSeq">
                <p:childTnLst>
                  <p:par>
                    <p:cTn id="1069" fill="hold" nodeType="clickEffect">
                      <p:stCondLst>
                        <p:cond delay="indefinite"/>
                      </p:stCondLst>
                      <p:childTnLst>
                        <p:par>
                          <p:cTn id="1070" fill="hold" nodeType="withEffect">
                            <p:stCondLst>
                              <p:cond delay="0"/>
                            </p:stCondLst>
                            <p:childTnLst>
                              <p:par>
                                <p:cTn id="1071" presetID="9" presetClass="entr" fill="hold" nodeType="clickEffect">
                                  <p:stCondLst>
                                    <p:cond delay="0"/>
                                  </p:stCondLst>
                                  <p:childTnLst>
                                    <p:set>
                                      <p:cBhvr>
                                        <p:cTn id="1072" dur="1" fill="hold">
                                          <p:stCondLst>
                                            <p:cond delay="0"/>
                                          </p:stCondLst>
                                        </p:cTn>
                                        <p:tgtEl>
                                          <p:spTgt spid="552"/>
                                        </p:tgtEl>
                                        <p:attrNameLst>
                                          <p:attrName>style.visibility</p:attrName>
                                        </p:attrNameLst>
                                      </p:cBhvr>
                                      <p:to>
                                        <p:strVal val="visible"/>
                                      </p:to>
                                    </p:set>
                                    <p:animEffect transition="in" filter="dissolve">
                                      <p:cBhvr additive="repl">
                                        <p:cTn id="1073" dur="500"/>
                                        <p:tgtEl>
                                          <p:spTgt spid="552"/>
                                        </p:tgtEl>
                                      </p:cBhvr>
                                    </p:animEffect>
                                  </p:childTnLst>
                                </p:cTn>
                              </p:par>
                            </p:childTnLst>
                          </p:cTn>
                        </p:par>
                        <p:par>
                          <p:cTn id="1074" fill="hold" nodeType="afterEffect">
                            <p:stCondLst>
                              <p:cond delay="500"/>
                            </p:stCondLst>
                            <p:childTnLst>
                              <p:par>
                                <p:cTn id="1075" presetID="9" presetClass="entr" fill="hold" nodeType="afterEffect">
                                  <p:stCondLst>
                                    <p:cond delay="0"/>
                                  </p:stCondLst>
                                  <p:childTnLst>
                                    <p:set>
                                      <p:cBhvr>
                                        <p:cTn id="1076" dur="1" fill="hold">
                                          <p:stCondLst>
                                            <p:cond delay="0"/>
                                          </p:stCondLst>
                                        </p:cTn>
                                        <p:tgtEl>
                                          <p:spTgt spid="568"/>
                                        </p:tgtEl>
                                        <p:attrNameLst>
                                          <p:attrName>style.visibility</p:attrName>
                                        </p:attrNameLst>
                                      </p:cBhvr>
                                      <p:to>
                                        <p:strVal val="visible"/>
                                      </p:to>
                                    </p:set>
                                    <p:animEffect transition="in" filter="dissolve">
                                      <p:cBhvr additive="repl">
                                        <p:cTn id="1077" dur="500"/>
                                        <p:tgtEl>
                                          <p:spTgt spid="568"/>
                                        </p:tgtEl>
                                      </p:cBhvr>
                                    </p:animEffect>
                                  </p:childTnLst>
                                </p:cTn>
                              </p:par>
                            </p:childTnLst>
                          </p:cTn>
                        </p:par>
                      </p:childTnLst>
                    </p:cTn>
                  </p:par>
                  <p:par>
                    <p:cTn id="1078" fill="hold" nodeType="clickEffect">
                      <p:stCondLst>
                        <p:cond delay="indefinite"/>
                      </p:stCondLst>
                      <p:childTnLst>
                        <p:par>
                          <p:cTn id="1079" fill="hold" nodeType="withEffect">
                            <p:stCondLst>
                              <p:cond delay="0"/>
                            </p:stCondLst>
                            <p:childTnLst>
                              <p:par>
                                <p:cTn id="1080" presetID="9" presetClass="entr" fill="hold" nodeType="clickEffect">
                                  <p:stCondLst>
                                    <p:cond delay="0"/>
                                  </p:stCondLst>
                                  <p:childTnLst>
                                    <p:set>
                                      <p:cBhvr>
                                        <p:cTn id="1081" dur="1" fill="hold">
                                          <p:stCondLst>
                                            <p:cond delay="0"/>
                                          </p:stCondLst>
                                        </p:cTn>
                                        <p:tgtEl>
                                          <p:spTgt spid="571"/>
                                        </p:tgtEl>
                                        <p:attrNameLst>
                                          <p:attrName>style.visibility</p:attrName>
                                        </p:attrNameLst>
                                      </p:cBhvr>
                                      <p:to>
                                        <p:strVal val="visible"/>
                                      </p:to>
                                    </p:set>
                                    <p:animEffect transition="in" filter="dissolve">
                                      <p:cBhvr additive="repl">
                                        <p:cTn id="1082" dur="500"/>
                                        <p:tgtEl>
                                          <p:spTgt spid="571"/>
                                        </p:tgtEl>
                                      </p:cBhvr>
                                    </p:animEffect>
                                  </p:childTnLst>
                                </p:cTn>
                              </p:par>
                            </p:childTnLst>
                          </p:cTn>
                        </p:par>
                        <p:par>
                          <p:cTn id="1083" fill="hold" nodeType="afterEffect">
                            <p:stCondLst>
                              <p:cond delay="500"/>
                            </p:stCondLst>
                            <p:childTnLst>
                              <p:par>
                                <p:cTn id="1084" presetID="9" presetClass="entr" fill="hold" nodeType="afterEffect">
                                  <p:stCondLst>
                                    <p:cond delay="0"/>
                                  </p:stCondLst>
                                  <p:childTnLst>
                                    <p:set>
                                      <p:cBhvr>
                                        <p:cTn id="1085" dur="1" fill="hold">
                                          <p:stCondLst>
                                            <p:cond delay="0"/>
                                          </p:stCondLst>
                                        </p:cTn>
                                        <p:tgtEl>
                                          <p:spTgt spid="574"/>
                                        </p:tgtEl>
                                        <p:attrNameLst>
                                          <p:attrName>style.visibility</p:attrName>
                                        </p:attrNameLst>
                                      </p:cBhvr>
                                      <p:to>
                                        <p:strVal val="visible"/>
                                      </p:to>
                                    </p:set>
                                    <p:animEffect transition="in" filter="dissolve">
                                      <p:cBhvr additive="repl">
                                        <p:cTn id="1086" dur="500"/>
                                        <p:tgtEl>
                                          <p:spTgt spid="574"/>
                                        </p:tgtEl>
                                      </p:cBhvr>
                                    </p:animEffect>
                                  </p:childTnLst>
                                </p:cTn>
                              </p:par>
                            </p:childTnLst>
                          </p:cTn>
                        </p:par>
                        <p:par>
                          <p:cTn id="1087" fill="hold" nodeType="afterEffect">
                            <p:stCondLst>
                              <p:cond delay="1000"/>
                            </p:stCondLst>
                            <p:childTnLst>
                              <p:par>
                                <p:cTn id="1088" presetID="9" presetClass="entr" fill="hold" nodeType="afterEffect">
                                  <p:stCondLst>
                                    <p:cond delay="0"/>
                                  </p:stCondLst>
                                  <p:childTnLst>
                                    <p:set>
                                      <p:cBhvr>
                                        <p:cTn id="1089" dur="1" fill="hold">
                                          <p:stCondLst>
                                            <p:cond delay="0"/>
                                          </p:stCondLst>
                                        </p:cTn>
                                        <p:tgtEl>
                                          <p:spTgt spid="577"/>
                                        </p:tgtEl>
                                        <p:attrNameLst>
                                          <p:attrName>style.visibility</p:attrName>
                                        </p:attrNameLst>
                                      </p:cBhvr>
                                      <p:to>
                                        <p:strVal val="visible"/>
                                      </p:to>
                                    </p:set>
                                    <p:animEffect transition="in" filter="dissolve">
                                      <p:cBhvr additive="repl">
                                        <p:cTn id="1090" dur="500"/>
                                        <p:tgtEl>
                                          <p:spTgt spid="577"/>
                                        </p:tgtEl>
                                      </p:cBhvr>
                                    </p:animEffect>
                                  </p:childTnLst>
                                </p:cTn>
                              </p:par>
                            </p:childTnLst>
                          </p:cTn>
                        </p:par>
                      </p:childTnLst>
                    </p:cTn>
                  </p:par>
                  <p:par>
                    <p:cTn id="1091" fill="hold" nodeType="clickEffect">
                      <p:stCondLst>
                        <p:cond delay="indefinite"/>
                      </p:stCondLst>
                      <p:childTnLst>
                        <p:par>
                          <p:cTn id="1092" fill="hold" nodeType="withEffect">
                            <p:stCondLst>
                              <p:cond delay="0"/>
                            </p:stCondLst>
                            <p:childTnLst>
                              <p:par>
                                <p:cTn id="1093" presetID="23" presetClass="entr" fill="hold" nodeType="clickEffect" presetSubtype="16">
                                  <p:stCondLst>
                                    <p:cond delay="0"/>
                                  </p:stCondLst>
                                  <p:childTnLst>
                                    <p:set>
                                      <p:cBhvr>
                                        <p:cTn id="1094" dur="1" fill="hold">
                                          <p:stCondLst>
                                            <p:cond delay="0"/>
                                          </p:stCondLst>
                                        </p:cTn>
                                        <p:tgtEl>
                                          <p:spTgt spid="588"/>
                                        </p:tgtEl>
                                        <p:attrNameLst>
                                          <p:attrName>style.visibility</p:attrName>
                                        </p:attrNameLst>
                                      </p:cBhvr>
                                      <p:to>
                                        <p:strVal val="visible"/>
                                      </p:to>
                                    </p:set>
                                    <p:anim calcmode="lin" valueType="num">
                                      <p:cBhvr additive="repl">
                                        <p:cTn id="1095" dur="500" fill="hold"/>
                                        <p:tgtEl>
                                          <p:spTgt spid="588"/>
                                        </p:tgtEl>
                                        <p:attrNameLst>
                                          <p:attrName>ppt_w</p:attrName>
                                        </p:attrNameLst>
                                      </p:cBhvr>
                                      <p:tavLst>
                                        <p:tav>
                                          <p:val>
                                            <p:fltVal val="0"/>
                                          </p:val>
                                        </p:tav>
                                        <p:tav tm="100000">
                                          <p:val>
                                            <p:strVal val="#ppt_w"/>
                                          </p:val>
                                        </p:tav>
                                      </p:tavLst>
                                    </p:anim>
                                    <p:anim calcmode="lin" valueType="num">
                                      <p:cBhvr additive="repl">
                                        <p:cTn id="1096" dur="500" fill="hold"/>
                                        <p:tgtEl>
                                          <p:spTgt spid="588"/>
                                        </p:tgtEl>
                                        <p:attrNameLst>
                                          <p:attrName>ppt_h</p:attrName>
                                        </p:attrNameLst>
                                      </p:cBhvr>
                                      <p:tavLst>
                                        <p:tav>
                                          <p:val>
                                            <p:fltVal val="0"/>
                                          </p:val>
                                        </p:tav>
                                        <p:tav tm="100000">
                                          <p:val>
                                            <p:strVal val="#ppt_h"/>
                                          </p:val>
                                        </p:tav>
                                      </p:tavLst>
                                    </p:anim>
                                  </p:childTnLst>
                                </p:cTn>
                              </p:par>
                            </p:childTnLst>
                          </p:cTn>
                        </p:par>
                      </p:childTnLst>
                    </p:cTn>
                  </p:par>
                  <p:par>
                    <p:cTn id="1097" fill="hold" nodeType="clickEffect">
                      <p:stCondLst>
                        <p:cond delay="indefinite"/>
                      </p:stCondLst>
                      <p:childTnLst>
                        <p:par>
                          <p:cTn id="1098" fill="hold" nodeType="withEffect">
                            <p:stCondLst>
                              <p:cond delay="0"/>
                            </p:stCondLst>
                            <p:childTnLst>
                              <p:par>
                                <p:cTn id="1099" presetID="9" presetClass="entr" fill="hold" nodeType="clickEffect">
                                  <p:stCondLst>
                                    <p:cond delay="0"/>
                                  </p:stCondLst>
                                  <p:childTnLst>
                                    <p:set>
                                      <p:cBhvr>
                                        <p:cTn id="1100" dur="1" fill="hold">
                                          <p:stCondLst>
                                            <p:cond delay="0"/>
                                          </p:stCondLst>
                                        </p:cTn>
                                        <p:tgtEl>
                                          <p:spTgt spid="569"/>
                                        </p:tgtEl>
                                        <p:attrNameLst>
                                          <p:attrName>style.visibility</p:attrName>
                                        </p:attrNameLst>
                                      </p:cBhvr>
                                      <p:to>
                                        <p:strVal val="visible"/>
                                      </p:to>
                                    </p:set>
                                    <p:animEffect transition="in" filter="dissolve">
                                      <p:cBhvr additive="repl">
                                        <p:cTn id="1101" dur="500"/>
                                        <p:tgtEl>
                                          <p:spTgt spid="569"/>
                                        </p:tgtEl>
                                      </p:cBhvr>
                                    </p:animEffect>
                                  </p:childTnLst>
                                </p:cTn>
                              </p:par>
                            </p:childTnLst>
                          </p:cTn>
                        </p:par>
                      </p:childTnLst>
                    </p:cTn>
                  </p:par>
                  <p:par>
                    <p:cTn id="1102" fill="hold" nodeType="clickEffect">
                      <p:stCondLst>
                        <p:cond delay="indefinite"/>
                      </p:stCondLst>
                      <p:childTnLst>
                        <p:par>
                          <p:cTn id="1103" fill="hold" nodeType="withEffect">
                            <p:stCondLst>
                              <p:cond delay="0"/>
                            </p:stCondLst>
                            <p:childTnLst>
                              <p:par>
                                <p:cTn id="1104" presetID="22" presetClass="entr" fill="hold" nodeType="clickEffect" presetSubtype="8">
                                  <p:stCondLst>
                                    <p:cond delay="0"/>
                                  </p:stCondLst>
                                  <p:childTnLst>
                                    <p:set>
                                      <p:cBhvr>
                                        <p:cTn id="1105" dur="1" fill="hold">
                                          <p:stCondLst>
                                            <p:cond delay="0"/>
                                          </p:stCondLst>
                                        </p:cTn>
                                        <p:tgtEl>
                                          <p:spTgt spid="580"/>
                                        </p:tgtEl>
                                        <p:attrNameLst>
                                          <p:attrName>style.visibility</p:attrName>
                                        </p:attrNameLst>
                                      </p:cBhvr>
                                      <p:to>
                                        <p:strVal val="visible"/>
                                      </p:to>
                                    </p:set>
                                    <p:animEffect transition="in" filter="wipe(left)">
                                      <p:cBhvr additive="repl">
                                        <p:cTn id="1106" dur="500"/>
                                        <p:tgtEl>
                                          <p:spTgt spid="580"/>
                                        </p:tgtEl>
                                      </p:cBhvr>
                                    </p:animEffect>
                                  </p:childTnLst>
                                </p:cTn>
                              </p:par>
                            </p:childTnLst>
                          </p:cTn>
                        </p:par>
                        <p:par>
                          <p:cTn id="1107" fill="hold" nodeType="afterEffect">
                            <p:stCondLst>
                              <p:cond delay="500"/>
                            </p:stCondLst>
                            <p:childTnLst>
                              <p:par>
                                <p:cTn id="1108" presetID="22" presetClass="entr" fill="hold" nodeType="afterEffect" presetSubtype="2">
                                  <p:stCondLst>
                                    <p:cond delay="0"/>
                                  </p:stCondLst>
                                  <p:childTnLst>
                                    <p:set>
                                      <p:cBhvr>
                                        <p:cTn id="1109" dur="1" fill="hold">
                                          <p:stCondLst>
                                            <p:cond delay="0"/>
                                          </p:stCondLst>
                                        </p:cTn>
                                        <p:tgtEl>
                                          <p:spTgt spid="584"/>
                                        </p:tgtEl>
                                        <p:attrNameLst>
                                          <p:attrName>style.visibility</p:attrName>
                                        </p:attrNameLst>
                                      </p:cBhvr>
                                      <p:to>
                                        <p:strVal val="visible"/>
                                      </p:to>
                                    </p:set>
                                    <p:animEffect transition="in" filter="wipe(right)">
                                      <p:cBhvr additive="repl">
                                        <p:cTn id="1110" dur="500"/>
                                        <p:tgtEl>
                                          <p:spTgt spid="584"/>
                                        </p:tgtEl>
                                      </p:cBhvr>
                                    </p:animEffect>
                                  </p:childTnLst>
                                </p:cTn>
                              </p:par>
                            </p:childTnLst>
                          </p:cTn>
                        </p:par>
                        <p:par>
                          <p:cTn id="1111" fill="hold" nodeType="afterEffect">
                            <p:stCondLst>
                              <p:cond delay="1000"/>
                            </p:stCondLst>
                            <p:childTnLst>
                              <p:par>
                                <p:cTn id="1112" presetID="9" presetClass="entr" fill="hold" nodeType="afterEffect">
                                  <p:stCondLst>
                                    <p:cond delay="0"/>
                                  </p:stCondLst>
                                  <p:childTnLst>
                                    <p:set>
                                      <p:cBhvr>
                                        <p:cTn id="1113" dur="1" fill="hold">
                                          <p:stCondLst>
                                            <p:cond delay="0"/>
                                          </p:stCondLst>
                                        </p:cTn>
                                        <p:tgtEl>
                                          <p:spTgt spid="585"/>
                                        </p:tgtEl>
                                        <p:attrNameLst>
                                          <p:attrName>style.visibility</p:attrName>
                                        </p:attrNameLst>
                                      </p:cBhvr>
                                      <p:to>
                                        <p:strVal val="visible"/>
                                      </p:to>
                                    </p:set>
                                    <p:animEffect transition="in" filter="dissolve">
                                      <p:cBhvr additive="repl">
                                        <p:cTn id="1114" dur="500"/>
                                        <p:tgtEl>
                                          <p:spTgt spid="585"/>
                                        </p:tgtEl>
                                      </p:cBhvr>
                                    </p:animEffect>
                                  </p:childTnLst>
                                </p:cTn>
                              </p:par>
                            </p:childTnLst>
                          </p:cTn>
                        </p:par>
                      </p:childTnLst>
                    </p:cTn>
                  </p:par>
                  <p:par>
                    <p:cTn id="1115" fill="hold" nodeType="clickEffect">
                      <p:stCondLst>
                        <p:cond delay="indefinite"/>
                      </p:stCondLst>
                      <p:childTnLst>
                        <p:par>
                          <p:cTn id="1116" fill="hold" nodeType="withEffect">
                            <p:stCondLst>
                              <p:cond delay="0"/>
                            </p:stCondLst>
                            <p:childTnLst>
                              <p:par>
                                <p:cTn id="1117" presetID="22" presetClass="entr" fill="hold" nodeType="clickEffect" presetSubtype="2">
                                  <p:stCondLst>
                                    <p:cond delay="0"/>
                                  </p:stCondLst>
                                  <p:childTnLst>
                                    <p:set>
                                      <p:cBhvr>
                                        <p:cTn id="1118" dur="1" fill="hold">
                                          <p:stCondLst>
                                            <p:cond delay="0"/>
                                          </p:stCondLst>
                                        </p:cTn>
                                        <p:tgtEl>
                                          <p:spTgt spid="586"/>
                                        </p:tgtEl>
                                        <p:attrNameLst>
                                          <p:attrName>style.visibility</p:attrName>
                                        </p:attrNameLst>
                                      </p:cBhvr>
                                      <p:to>
                                        <p:strVal val="visible"/>
                                      </p:to>
                                    </p:set>
                                    <p:animEffect transition="in" filter="wipe(right)">
                                      <p:cBhvr additive="repl">
                                        <p:cTn id="1119" dur="500"/>
                                        <p:tgtEl>
                                          <p:spTgt spid="586"/>
                                        </p:tgtEl>
                                      </p:cBhvr>
                                    </p:animEffect>
                                  </p:childTnLst>
                                </p:cTn>
                              </p:par>
                            </p:childTnLst>
                          </p:cTn>
                        </p:par>
                      </p:childTnLst>
                    </p:cTn>
                  </p:par>
                  <p:par>
                    <p:cTn id="1120" fill="hold" nodeType="clickEffect">
                      <p:stCondLst>
                        <p:cond delay="indefinite"/>
                      </p:stCondLst>
                      <p:childTnLst>
                        <p:par>
                          <p:cTn id="1121" fill="hold" nodeType="withEffect">
                            <p:stCondLst>
                              <p:cond delay="0"/>
                            </p:stCondLst>
                            <p:childTnLst>
                              <p:par>
                                <p:cTn id="1122" presetID="22" presetClass="entr" fill="hold" nodeType="clickEffect" presetSubtype="1">
                                  <p:stCondLst>
                                    <p:cond delay="0"/>
                                  </p:stCondLst>
                                  <p:childTnLst>
                                    <p:set>
                                      <p:cBhvr>
                                        <p:cTn id="1123" dur="1" fill="hold">
                                          <p:stCondLst>
                                            <p:cond delay="0"/>
                                          </p:stCondLst>
                                        </p:cTn>
                                        <p:tgtEl>
                                          <p:spTgt spid="581"/>
                                        </p:tgtEl>
                                        <p:attrNameLst>
                                          <p:attrName>style.visibility</p:attrName>
                                        </p:attrNameLst>
                                      </p:cBhvr>
                                      <p:to>
                                        <p:strVal val="visible"/>
                                      </p:to>
                                    </p:set>
                                    <p:animEffect transition="in" filter="wipe(up)">
                                      <p:cBhvr additive="repl">
                                        <p:cTn id="1124" dur="500"/>
                                        <p:tgtEl>
                                          <p:spTgt spid="581"/>
                                        </p:tgtEl>
                                      </p:cBhvr>
                                    </p:animEffect>
                                  </p:childTnLst>
                                </p:cTn>
                              </p:par>
                            </p:childTnLst>
                          </p:cTn>
                        </p:par>
                      </p:childTnLst>
                    </p:cTn>
                  </p:par>
                  <p:par>
                    <p:cTn id="1125" fill="hold" nodeType="clickEffect">
                      <p:stCondLst>
                        <p:cond delay="indefinite"/>
                      </p:stCondLst>
                      <p:childTnLst>
                        <p:par>
                          <p:cTn id="1126" fill="hold" nodeType="withEffect">
                            <p:stCondLst>
                              <p:cond delay="0"/>
                            </p:stCondLst>
                            <p:childTnLst>
                              <p:par>
                                <p:cTn id="1127" presetID="2" presetClass="entr" fill="hold" nodeType="clickEffect" presetSubtype="8">
                                  <p:stCondLst>
                                    <p:cond delay="0"/>
                                  </p:stCondLst>
                                  <p:childTnLst>
                                    <p:set>
                                      <p:cBhvr>
                                        <p:cTn id="1128" dur="1" fill="hold">
                                          <p:stCondLst>
                                            <p:cond delay="0"/>
                                          </p:stCondLst>
                                        </p:cTn>
                                        <p:tgtEl>
                                          <p:spTgt spid="570"/>
                                        </p:tgtEl>
                                        <p:attrNameLst>
                                          <p:attrName>style.visibility</p:attrName>
                                        </p:attrNameLst>
                                      </p:cBhvr>
                                      <p:to>
                                        <p:strVal val="visible"/>
                                      </p:to>
                                    </p:set>
                                    <p:anim calcmode="lin" valueType="num">
                                      <p:cBhvr additive="base">
                                        <p:cTn id="1129" dur="500" fill="hold"/>
                                        <p:tgtEl>
                                          <p:spTgt spid="570"/>
                                        </p:tgtEl>
                                        <p:attrNameLst>
                                          <p:attrName>ppt_x</p:attrName>
                                        </p:attrNameLst>
                                      </p:cBhvr>
                                      <p:tavLst>
                                        <p:tav>
                                          <p:val>
                                            <p:strVal val="0-#ppt_w/2"/>
                                          </p:val>
                                        </p:tav>
                                        <p:tav tm="100000">
                                          <p:val>
                                            <p:strVal val="#ppt_x"/>
                                          </p:val>
                                        </p:tav>
                                      </p:tavLst>
                                    </p:anim>
                                    <p:anim calcmode="lin" valueType="num">
                                      <p:cBhvr additive="base">
                                        <p:cTn id="1130" dur="500" fill="hold"/>
                                        <p:tgtEl>
                                          <p:spTgt spid="570"/>
                                        </p:tgtEl>
                                        <p:attrNameLst>
                                          <p:attrName>ppt_y</p:attrName>
                                        </p:attrNameLst>
                                      </p:cBhvr>
                                      <p:tavLst>
                                        <p:tav>
                                          <p:val>
                                            <p:strVal val="#ppt_y"/>
                                          </p:val>
                                        </p:tav>
                                        <p:tav tm="100000">
                                          <p:val>
                                            <p:strVal val="#ppt_y"/>
                                          </p:val>
                                        </p:tav>
                                      </p:tavLst>
                                    </p:anim>
                                  </p:childTnLst>
                                </p:cTn>
                              </p:par>
                            </p:childTnLst>
                          </p:cTn>
                        </p:par>
                      </p:childTnLst>
                    </p:cTn>
                  </p:par>
                  <p:par>
                    <p:cTn id="1131" fill="hold" nodeType="clickEffect">
                      <p:stCondLst>
                        <p:cond delay="indefinite"/>
                      </p:stCondLst>
                      <p:childTnLst>
                        <p:par>
                          <p:cTn id="1132" fill="hold" nodeType="withEffect">
                            <p:stCondLst>
                              <p:cond delay="0"/>
                            </p:stCondLst>
                            <p:childTnLst>
                              <p:par>
                                <p:cTn id="1133" presetID="9" presetClass="entr" fill="hold" nodeType="clickEffect">
                                  <p:stCondLst>
                                    <p:cond delay="0"/>
                                  </p:stCondLst>
                                  <p:childTnLst>
                                    <p:set>
                                      <p:cBhvr>
                                        <p:cTn id="1134" dur="1" fill="hold">
                                          <p:stCondLst>
                                            <p:cond delay="0"/>
                                          </p:stCondLst>
                                        </p:cTn>
                                        <p:tgtEl>
                                          <p:spTgt spid="582"/>
                                        </p:tgtEl>
                                        <p:attrNameLst>
                                          <p:attrName>style.visibility</p:attrName>
                                        </p:attrNameLst>
                                      </p:cBhvr>
                                      <p:to>
                                        <p:strVal val="visible"/>
                                      </p:to>
                                    </p:set>
                                    <p:animEffect transition="in" filter="dissolve">
                                      <p:cBhvr additive="repl">
                                        <p:cTn id="1135" dur="500"/>
                                        <p:tgtEl>
                                          <p:spTgt spid="582"/>
                                        </p:tgtEl>
                                      </p:cBhvr>
                                    </p:animEffect>
                                  </p:childTnLst>
                                </p:cTn>
                              </p:par>
                            </p:childTnLst>
                          </p:cTn>
                        </p:par>
                        <p:par>
                          <p:cTn id="1136" fill="hold" nodeType="afterEffect">
                            <p:stCondLst>
                              <p:cond delay="500"/>
                            </p:stCondLst>
                            <p:childTnLst>
                              <p:par>
                                <p:cTn id="1137" presetID="22" presetClass="entr" fill="hold" nodeType="afterEffect" presetSubtype="2">
                                  <p:stCondLst>
                                    <p:cond delay="0"/>
                                  </p:stCondLst>
                                  <p:childTnLst>
                                    <p:set>
                                      <p:cBhvr>
                                        <p:cTn id="1138" dur="1" fill="hold">
                                          <p:stCondLst>
                                            <p:cond delay="0"/>
                                          </p:stCondLst>
                                        </p:cTn>
                                        <p:tgtEl>
                                          <p:spTgt spid="583"/>
                                        </p:tgtEl>
                                        <p:attrNameLst>
                                          <p:attrName>style.visibility</p:attrName>
                                        </p:attrNameLst>
                                      </p:cBhvr>
                                      <p:to>
                                        <p:strVal val="visible"/>
                                      </p:to>
                                    </p:set>
                                    <p:animEffect transition="in" filter="wipe(right)">
                                      <p:cBhvr additive="repl">
                                        <p:cTn id="1139" dur="500"/>
                                        <p:tgtEl>
                                          <p:spTgt spid="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Text Box 7"/>
          <p:cNvSpPr/>
          <p:nvPr/>
        </p:nvSpPr>
        <p:spPr>
          <a:xfrm>
            <a:off x="54000" y="42840"/>
            <a:ext cx="8915400" cy="163080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7   </a:t>
            </a:r>
            <a:r>
              <a:rPr lang="zh-CN" sz="2800" b="1" u="none" strike="noStrike">
                <a:solidFill>
                  <a:srgbClr val="990033"/>
                </a:solidFill>
                <a:effectLst/>
                <a:uFillTx/>
                <a:latin typeface="Times New Roman"/>
              </a:rPr>
              <a:t>根轨迹分离点和会合点</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800" b="1" u="sng" strike="noStrike">
                <a:solidFill>
                  <a:srgbClr val="000000"/>
                </a:solidFill>
                <a:effectLst/>
                <a:uFillTx/>
                <a:latin typeface="Times New Roman"/>
              </a:rPr>
              <a:t>两条或两条以上的根轨迹在</a:t>
            </a:r>
            <a:r>
              <a:rPr lang="en-US" sz="2800" b="1" i="1" u="sng" strike="noStrike">
                <a:solidFill>
                  <a:srgbClr val="000000"/>
                </a:solidFill>
                <a:effectLst/>
                <a:uFillTx/>
                <a:latin typeface="Times New Roman"/>
              </a:rPr>
              <a:t>s</a:t>
            </a:r>
            <a:r>
              <a:rPr lang="zh-CN" sz="2800" b="1" u="sng" strike="noStrike">
                <a:solidFill>
                  <a:srgbClr val="000000"/>
                </a:solidFill>
                <a:effectLst/>
                <a:uFillTx/>
                <a:latin typeface="Times New Roman"/>
              </a:rPr>
              <a:t>平面上相遇后立即分开的点，称为根轨迹的分离点</a:t>
            </a:r>
            <a:r>
              <a:rPr lang="en-US" sz="2800" b="1" u="sng" strike="noStrike">
                <a:solidFill>
                  <a:srgbClr val="000000"/>
                </a:solidFill>
                <a:effectLst/>
                <a:uFillTx/>
                <a:latin typeface="Times New Roman"/>
              </a:rPr>
              <a:t>(</a:t>
            </a:r>
            <a:r>
              <a:rPr lang="zh-CN" sz="2800" b="1" u="sng" strike="noStrike">
                <a:solidFill>
                  <a:srgbClr val="000000"/>
                </a:solidFill>
                <a:effectLst/>
                <a:uFillTx/>
                <a:latin typeface="Times New Roman"/>
              </a:rPr>
              <a:t>会合点</a:t>
            </a:r>
            <a:r>
              <a:rPr lang="en-US" sz="2800" b="1" u="sng" strike="noStrike">
                <a:solidFill>
                  <a:srgbClr val="000000"/>
                </a:solidFill>
                <a:effectLst/>
                <a:uFillTx/>
                <a:latin typeface="Times New Roman"/>
              </a:rPr>
              <a:t>)</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p:grpSp>
        <p:nvGrpSpPr>
          <p:cNvPr id="591" name="Group 11"/>
          <p:cNvGrpSpPr/>
          <p:nvPr/>
        </p:nvGrpSpPr>
        <p:grpSpPr>
          <a:xfrm>
            <a:off x="1300320" y="1765440"/>
            <a:ext cx="6297480" cy="4487400"/>
            <a:chOff x="1300320" y="1765440"/>
            <a:chExt cx="6297480" cy="4487400"/>
          </a:xfrm>
        </p:grpSpPr>
        <p:sp>
          <p:nvSpPr>
            <p:cNvPr id="592" name="Line 12"/>
            <p:cNvSpPr/>
            <p:nvPr/>
          </p:nvSpPr>
          <p:spPr>
            <a:xfrm flipV="1">
              <a:off x="6175440" y="1939680"/>
              <a:ext cx="0" cy="431316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93" name="Rectangle 13"/>
            <p:cNvSpPr/>
            <p:nvPr/>
          </p:nvSpPr>
          <p:spPr>
            <a:xfrm>
              <a:off x="7205760" y="3988080"/>
              <a:ext cx="3920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594" name="Rectangle 14"/>
            <p:cNvSpPr/>
            <p:nvPr/>
          </p:nvSpPr>
          <p:spPr>
            <a:xfrm>
              <a:off x="6060960" y="43038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595" name="Line 15"/>
            <p:cNvSpPr/>
            <p:nvPr/>
          </p:nvSpPr>
          <p:spPr>
            <a:xfrm>
              <a:off x="1309680" y="4249800"/>
              <a:ext cx="5948280" cy="1800"/>
            </a:xfrm>
            <a:prstGeom prst="line">
              <a:avLst/>
            </a:prstGeom>
            <a:ln cap="sq" w="57240">
              <a:solidFill>
                <a:srgbClr val="000000"/>
              </a:solidFill>
              <a:miter/>
              <a:tail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596" name="Line 16"/>
            <p:cNvSpPr/>
            <p:nvPr/>
          </p:nvSpPr>
          <p:spPr>
            <a:xfrm>
              <a:off x="5237280" y="4143600"/>
              <a:ext cx="0" cy="160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97" name="Line 17"/>
            <p:cNvSpPr/>
            <p:nvPr/>
          </p:nvSpPr>
          <p:spPr>
            <a:xfrm>
              <a:off x="5237280" y="4162680"/>
              <a:ext cx="0" cy="1587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98" name="Line 18"/>
            <p:cNvSpPr/>
            <p:nvPr/>
          </p:nvSpPr>
          <p:spPr>
            <a:xfrm>
              <a:off x="4267080" y="4162680"/>
              <a:ext cx="0" cy="1587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599" name="Line 19"/>
            <p:cNvSpPr/>
            <p:nvPr/>
          </p:nvSpPr>
          <p:spPr>
            <a:xfrm>
              <a:off x="4267080" y="4143600"/>
              <a:ext cx="0" cy="1602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00" name="Line 20"/>
            <p:cNvSpPr/>
            <p:nvPr/>
          </p:nvSpPr>
          <p:spPr>
            <a:xfrm flipV="1">
              <a:off x="6094440" y="5328720"/>
              <a:ext cx="14112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sp>
          <p:nvSpPr>
            <p:cNvPr id="601" name="Line 21"/>
            <p:cNvSpPr/>
            <p:nvPr/>
          </p:nvSpPr>
          <p:spPr>
            <a:xfrm flipV="1">
              <a:off x="6113520" y="3125880"/>
              <a:ext cx="141120" cy="5040"/>
            </a:xfrm>
            <a:prstGeom prst="line">
              <a:avLst/>
            </a:prstGeom>
            <a:ln w="57240">
              <a:solidFill>
                <a:srgbClr val="000000"/>
              </a:solidFill>
              <a:miter/>
            </a:ln>
          </p:spPr>
          <p:style>
            <a:lnRef idx="0"/>
            <a:fillRef idx="0"/>
            <a:effectRef idx="0"/>
            <a:fontRef idx="minor"/>
          </p:style>
          <p:txBody>
            <a:bodyPr lIns="90000" tIns="-41760" rIns="90000" bIns="-41760" anchor="t">
              <a:noAutofit/>
            </a:bodyPr>
            <a:p>
              <a:endParaRPr lang="en-US" sz="2800" b="1" u="none" strike="noStrike">
                <a:solidFill>
                  <a:srgbClr val="000000"/>
                </a:solidFill>
                <a:effectLst/>
                <a:uFillTx/>
                <a:latin typeface="Times New Roman"/>
              </a:endParaRPr>
            </a:p>
          </p:txBody>
        </p:sp>
        <p:sp>
          <p:nvSpPr>
            <p:cNvPr id="602" name="Rectangle 22"/>
            <p:cNvSpPr/>
            <p:nvPr/>
          </p:nvSpPr>
          <p:spPr>
            <a:xfrm>
              <a:off x="5442120" y="1765440"/>
              <a:ext cx="66132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603" name="Rectangle 23"/>
            <p:cNvSpPr/>
            <p:nvPr/>
          </p:nvSpPr>
          <p:spPr>
            <a:xfrm>
              <a:off x="4060440" y="4335480"/>
              <a:ext cx="40536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z</a:t>
              </a:r>
              <a:r>
                <a:rPr lang="en-US" sz="1400" b="1" u="none" strike="noStrike">
                  <a:solidFill>
                    <a:srgbClr val="000000"/>
                  </a:solidFill>
                  <a:effectLst/>
                  <a:uFillTx/>
                  <a:latin typeface="Times New Roman"/>
                </a:rPr>
                <a:t>1</a:t>
              </a:r>
              <a:endParaRPr lang="en-US" sz="1400" b="1" u="none" strike="noStrike">
                <a:solidFill>
                  <a:srgbClr val="000000"/>
                </a:solidFill>
                <a:effectLst/>
                <a:uFillTx/>
                <a:latin typeface="Times New Roman"/>
              </a:endParaRPr>
            </a:p>
          </p:txBody>
        </p:sp>
        <p:sp>
          <p:nvSpPr>
            <p:cNvPr id="604" name="Rectangle 24"/>
            <p:cNvSpPr/>
            <p:nvPr/>
          </p:nvSpPr>
          <p:spPr>
            <a:xfrm>
              <a:off x="6254640" y="2913120"/>
              <a:ext cx="4939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 j</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grpSp>
          <p:nvGrpSpPr>
            <p:cNvPr id="605" name="Group 25"/>
            <p:cNvGrpSpPr/>
            <p:nvPr/>
          </p:nvGrpSpPr>
          <p:grpSpPr>
            <a:xfrm>
              <a:off x="3750840" y="2754360"/>
              <a:ext cx="250920" cy="260280"/>
              <a:chOff x="3750840" y="2754360"/>
              <a:chExt cx="250920" cy="260280"/>
            </a:xfrm>
          </p:grpSpPr>
          <p:sp>
            <p:nvSpPr>
              <p:cNvPr id="606" name="Line 26"/>
              <p:cNvSpPr/>
              <p:nvPr/>
            </p:nvSpPr>
            <p:spPr>
              <a:xfrm>
                <a:off x="3753720" y="2759760"/>
                <a:ext cx="246600" cy="2548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07" name="Line 27"/>
              <p:cNvSpPr/>
              <p:nvPr/>
            </p:nvSpPr>
            <p:spPr>
              <a:xfrm flipH="1">
                <a:off x="3750840" y="2754360"/>
                <a:ext cx="250920" cy="25776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608" name="Group 28"/>
            <p:cNvGrpSpPr/>
            <p:nvPr/>
          </p:nvGrpSpPr>
          <p:grpSpPr>
            <a:xfrm>
              <a:off x="3727080" y="5446800"/>
              <a:ext cx="250920" cy="259920"/>
              <a:chOff x="3727080" y="5446800"/>
              <a:chExt cx="250920" cy="259920"/>
            </a:xfrm>
          </p:grpSpPr>
          <p:sp>
            <p:nvSpPr>
              <p:cNvPr id="609" name="Line 29"/>
              <p:cNvSpPr/>
              <p:nvPr/>
            </p:nvSpPr>
            <p:spPr>
              <a:xfrm>
                <a:off x="3729960" y="5452200"/>
                <a:ext cx="246600" cy="25452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10" name="Line 30"/>
              <p:cNvSpPr/>
              <p:nvPr/>
            </p:nvSpPr>
            <p:spPr>
              <a:xfrm flipH="1">
                <a:off x="3727080" y="5446800"/>
                <a:ext cx="250920" cy="2574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useBgFill="1">
          <p:nvSpPr>
            <p:cNvPr id="611" name="Oval 31"/>
            <p:cNvSpPr/>
            <p:nvPr/>
          </p:nvSpPr>
          <p:spPr>
            <a:xfrm>
              <a:off x="4103640" y="4077000"/>
              <a:ext cx="285840" cy="29340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612" name="Line 32"/>
            <p:cNvSpPr/>
            <p:nvPr/>
          </p:nvSpPr>
          <p:spPr>
            <a:xfrm flipH="1">
              <a:off x="1717560" y="4233960"/>
              <a:ext cx="1177920" cy="1800"/>
            </a:xfrm>
            <a:prstGeom prst="line">
              <a:avLst/>
            </a:prstGeom>
            <a:ln w="76320">
              <a:solidFill>
                <a:srgbClr val="993300"/>
              </a:solidFill>
              <a:miter/>
              <a:tail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613" name="Rectangle 33"/>
            <p:cNvSpPr/>
            <p:nvPr/>
          </p:nvSpPr>
          <p:spPr>
            <a:xfrm>
              <a:off x="2538360" y="4181760"/>
              <a:ext cx="3841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A</a:t>
              </a:r>
              <a:endParaRPr lang="en-US" sz="2400" b="1" u="none" strike="noStrike">
                <a:solidFill>
                  <a:srgbClr val="000000"/>
                </a:solidFill>
                <a:effectLst/>
                <a:uFillTx/>
                <a:latin typeface="Times New Roman"/>
              </a:endParaRPr>
            </a:p>
          </p:txBody>
        </p:sp>
        <p:sp>
          <p:nvSpPr>
            <p:cNvPr id="614" name="Line 34"/>
            <p:cNvSpPr/>
            <p:nvPr/>
          </p:nvSpPr>
          <p:spPr>
            <a:xfrm flipH="1">
              <a:off x="2909880" y="4233960"/>
              <a:ext cx="1177920" cy="1800"/>
            </a:xfrm>
            <a:prstGeom prst="line">
              <a:avLst/>
            </a:prstGeom>
            <a:ln w="76320">
              <a:solidFill>
                <a:srgbClr val="993300"/>
              </a:solidFill>
              <a:miter/>
              <a:head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615" name="Freeform 35"/>
            <p:cNvSpPr/>
            <p:nvPr/>
          </p:nvSpPr>
          <p:spPr>
            <a:xfrm>
              <a:off x="2881440" y="2868840"/>
              <a:ext cx="1033200" cy="1395360"/>
            </a:xfrm>
            <a:custGeom>
              <a:avLst/>
              <a:gdLst>
                <a:gd name="GluePoint1X" fmla="*/ 0 w 651"/>
                <a:gd name="GluePoint1Y" fmla="*/ 879 h 879"/>
                <a:gd name="GluePoint2X" fmla="*/ 54 w 651"/>
                <a:gd name="GluePoint2Y" fmla="*/ 548 h 879"/>
                <a:gd name="GluePoint3X" fmla="*/ 201 w 651"/>
                <a:gd name="GluePoint3Y" fmla="*/ 283 h 879"/>
                <a:gd name="GluePoint4X" fmla="*/ 384 w 651"/>
                <a:gd name="GluePoint4Y" fmla="*/ 128 h 879"/>
                <a:gd name="GluePoint5X" fmla="*/ 612 w 651"/>
                <a:gd name="GluePoint5Y" fmla="*/ 18 h 879"/>
                <a:gd name="GluePoint6X" fmla="*/ 619 w 651"/>
                <a:gd name="GluePoint6Y" fmla="*/ 17 h 879"/>
                <a:gd name="GluePoint7X" fmla="*/ 619 w 651"/>
                <a:gd name="GluePoint7Y" fmla="*/ 9 h 879"/>
                <a:gd name="GluePoint8X" fmla="*/ 627 w 651"/>
                <a:gd name="GluePoint8Y" fmla="*/ 1 h 879"/>
                <a:gd name="GluePoint9X" fmla="*/ 651 w 651"/>
                <a:gd name="GluePoint9Y" fmla="*/ 9 h 8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51" h="879">
                  <a:moveTo>
                    <a:pt x="0" y="879"/>
                  </a:moveTo>
                  <a:cubicBezTo>
                    <a:pt x="9" y="824"/>
                    <a:pt x="21" y="647"/>
                    <a:pt x="54" y="548"/>
                  </a:cubicBezTo>
                  <a:cubicBezTo>
                    <a:pt x="87" y="449"/>
                    <a:pt x="146" y="353"/>
                    <a:pt x="201" y="283"/>
                  </a:cubicBezTo>
                  <a:cubicBezTo>
                    <a:pt x="256" y="213"/>
                    <a:pt x="316" y="172"/>
                    <a:pt x="384" y="128"/>
                  </a:cubicBezTo>
                  <a:cubicBezTo>
                    <a:pt x="452" y="84"/>
                    <a:pt x="573" y="36"/>
                    <a:pt x="612" y="18"/>
                  </a:cubicBezTo>
                  <a:cubicBezTo>
                    <a:pt x="651" y="0"/>
                    <a:pt x="618" y="18"/>
                    <a:pt x="619" y="17"/>
                  </a:cubicBezTo>
                  <a:cubicBezTo>
                    <a:pt x="620" y="16"/>
                    <a:pt x="618" y="12"/>
                    <a:pt x="619" y="9"/>
                  </a:cubicBezTo>
                  <a:cubicBezTo>
                    <a:pt x="620" y="6"/>
                    <a:pt x="622" y="1"/>
                    <a:pt x="627" y="1"/>
                  </a:cubicBezTo>
                  <a:cubicBezTo>
                    <a:pt x="632" y="1"/>
                    <a:pt x="646" y="7"/>
                    <a:pt x="651" y="9"/>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16" name="Line 36"/>
            <p:cNvSpPr/>
            <p:nvPr/>
          </p:nvSpPr>
          <p:spPr>
            <a:xfrm flipH="1">
              <a:off x="3068640" y="3230640"/>
              <a:ext cx="249120" cy="20484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17" name="Freeform 37"/>
            <p:cNvSpPr/>
            <p:nvPr/>
          </p:nvSpPr>
          <p:spPr>
            <a:xfrm>
              <a:off x="2879640" y="4230720"/>
              <a:ext cx="1035000" cy="1398600"/>
            </a:xfrm>
            <a:custGeom>
              <a:avLst/>
              <a:gdLst>
                <a:gd name="GluePoint1X" fmla="*/ 0 w 652"/>
                <a:gd name="GluePoint1Y" fmla="*/ 0 h 881"/>
                <a:gd name="GluePoint2X" fmla="*/ 54 w 652"/>
                <a:gd name="GluePoint2Y" fmla="*/ 331 h 881"/>
                <a:gd name="GluePoint3X" fmla="*/ 201 w 652"/>
                <a:gd name="GluePoint3Y" fmla="*/ 596 h 881"/>
                <a:gd name="GluePoint4X" fmla="*/ 384 w 652"/>
                <a:gd name="GluePoint4Y" fmla="*/ 751 h 881"/>
                <a:gd name="GluePoint5X" fmla="*/ 612 w 652"/>
                <a:gd name="GluePoint5Y" fmla="*/ 861 h 881"/>
                <a:gd name="GluePoint6X" fmla="*/ 622 w 652"/>
                <a:gd name="GluePoint6Y" fmla="*/ 869 h 881"/>
                <a:gd name="GluePoint7X" fmla="*/ 616 w 652"/>
                <a:gd name="GluePoint7Y" fmla="*/ 875 h 881"/>
                <a:gd name="GluePoint8X" fmla="*/ 616 w 652"/>
                <a:gd name="GluePoint8Y" fmla="*/ 863 h 881"/>
                <a:gd name="GluePoint9X" fmla="*/ 616 w 652"/>
                <a:gd name="GluePoint9Y" fmla="*/ 863 h 8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52" h="881">
                  <a:moveTo>
                    <a:pt x="0" y="0"/>
                  </a:moveTo>
                  <a:cubicBezTo>
                    <a:pt x="9" y="55"/>
                    <a:pt x="21" y="232"/>
                    <a:pt x="54" y="331"/>
                  </a:cubicBezTo>
                  <a:cubicBezTo>
                    <a:pt x="87" y="430"/>
                    <a:pt x="146" y="526"/>
                    <a:pt x="201" y="596"/>
                  </a:cubicBezTo>
                  <a:cubicBezTo>
                    <a:pt x="256" y="666"/>
                    <a:pt x="316" y="707"/>
                    <a:pt x="384" y="751"/>
                  </a:cubicBezTo>
                  <a:cubicBezTo>
                    <a:pt x="452" y="795"/>
                    <a:pt x="572" y="841"/>
                    <a:pt x="612" y="861"/>
                  </a:cubicBezTo>
                  <a:cubicBezTo>
                    <a:pt x="652" y="881"/>
                    <a:pt x="621" y="867"/>
                    <a:pt x="622" y="869"/>
                  </a:cubicBezTo>
                  <a:cubicBezTo>
                    <a:pt x="623" y="871"/>
                    <a:pt x="617" y="876"/>
                    <a:pt x="616" y="875"/>
                  </a:cubicBezTo>
                  <a:cubicBezTo>
                    <a:pt x="615" y="874"/>
                    <a:pt x="616" y="865"/>
                    <a:pt x="616" y="863"/>
                  </a:cubicBezTo>
                  <a:cubicBezTo>
                    <a:pt x="616" y="861"/>
                    <a:pt x="616" y="863"/>
                    <a:pt x="616" y="863"/>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18" name="Line 38"/>
            <p:cNvSpPr/>
            <p:nvPr/>
          </p:nvSpPr>
          <p:spPr>
            <a:xfrm flipH="1" flipV="1">
              <a:off x="3184200" y="5142240"/>
              <a:ext cx="189000" cy="20448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19" name="Rectangle 39"/>
            <p:cNvSpPr/>
            <p:nvPr/>
          </p:nvSpPr>
          <p:spPr>
            <a:xfrm>
              <a:off x="4086000" y="2617920"/>
              <a:ext cx="43956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p</a:t>
              </a:r>
              <a:r>
                <a:rPr lang="en-US" sz="1400" b="1" u="none" strike="noStrike">
                  <a:solidFill>
                    <a:srgbClr val="000000"/>
                  </a:solidFill>
                  <a:effectLst/>
                  <a:uFillTx/>
                  <a:latin typeface="Times New Roman"/>
                </a:rPr>
                <a:t>1</a:t>
              </a:r>
              <a:endParaRPr lang="en-US" sz="1400" b="1" u="none" strike="noStrike">
                <a:solidFill>
                  <a:srgbClr val="000000"/>
                </a:solidFill>
                <a:effectLst/>
                <a:uFillTx/>
                <a:latin typeface="Times New Roman"/>
              </a:endParaRPr>
            </a:p>
          </p:txBody>
        </p:sp>
        <p:sp>
          <p:nvSpPr>
            <p:cNvPr id="620" name="Rectangle 40"/>
            <p:cNvSpPr/>
            <p:nvPr/>
          </p:nvSpPr>
          <p:spPr>
            <a:xfrm>
              <a:off x="4048200" y="5418360"/>
              <a:ext cx="43956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p</a:t>
              </a:r>
              <a:r>
                <a:rPr lang="en-US" sz="1400" b="1" u="none" strike="noStrike">
                  <a:solidFill>
                    <a:srgbClr val="000000"/>
                  </a:solidFill>
                  <a:effectLst/>
                  <a:uFillTx/>
                  <a:latin typeface="Times New Roman"/>
                </a:rPr>
                <a:t>2</a:t>
              </a:r>
              <a:endParaRPr lang="en-US" sz="1400" b="1" u="none" strike="noStrike">
                <a:solidFill>
                  <a:srgbClr val="000000"/>
                </a:solidFill>
                <a:effectLst/>
                <a:uFillTx/>
                <a:latin typeface="Times New Roman"/>
              </a:endParaRPr>
            </a:p>
          </p:txBody>
        </p:sp>
        <p:sp>
          <p:nvSpPr>
            <p:cNvPr id="621" name="Rectangle 41"/>
            <p:cNvSpPr/>
            <p:nvPr/>
          </p:nvSpPr>
          <p:spPr>
            <a:xfrm>
              <a:off x="1300320" y="3587760"/>
              <a:ext cx="11509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622" name="Rectangle 42"/>
            <p:cNvSpPr/>
            <p:nvPr/>
          </p:nvSpPr>
          <p:spPr>
            <a:xfrm>
              <a:off x="4224240" y="3569040"/>
              <a:ext cx="11509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623" name="Rectangle 43"/>
            <p:cNvSpPr/>
            <p:nvPr/>
          </p:nvSpPr>
          <p:spPr>
            <a:xfrm>
              <a:off x="3490920" y="2235240"/>
              <a:ext cx="11509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宋体"/>
                </a:rPr>
                <a:t>=0</a:t>
              </a:r>
              <a:endParaRPr lang="en-US" sz="2400" b="1" u="none" strike="noStrike">
                <a:solidFill>
                  <a:srgbClr val="000000"/>
                </a:solidFill>
                <a:effectLst/>
                <a:uFillTx/>
                <a:latin typeface="Times New Roman"/>
              </a:endParaRPr>
            </a:p>
          </p:txBody>
        </p:sp>
        <p:sp>
          <p:nvSpPr>
            <p:cNvPr id="624" name="Rectangle 44"/>
            <p:cNvSpPr/>
            <p:nvPr/>
          </p:nvSpPr>
          <p:spPr>
            <a:xfrm>
              <a:off x="4459320" y="5546880"/>
              <a:ext cx="11509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Kg</a:t>
              </a:r>
              <a:r>
                <a:rPr lang="en-US" sz="2400" b="1" u="none" strike="noStrike">
                  <a:solidFill>
                    <a:srgbClr val="000000"/>
                  </a:solidFill>
                  <a:effectLst/>
                  <a:uFillTx/>
                  <a:latin typeface="宋体"/>
                </a:rPr>
                <a:t>=0</a:t>
              </a:r>
              <a:endParaRPr lang="en-US" sz="2400" b="1" u="none" strike="noStrike">
                <a:solidFill>
                  <a:srgbClr val="000000"/>
                </a:solidFill>
                <a:effectLst/>
                <a:uFillTx/>
                <a:latin typeface="Times New Roman"/>
              </a:endParaRPr>
            </a:p>
          </p:txBody>
        </p:sp>
      </p:grpSp>
      <p:sp>
        <p:nvSpPr>
          <p:cNvPr id="625" name="Oval 2"/>
          <p:cNvSpPr/>
          <p:nvPr/>
        </p:nvSpPr>
        <p:spPr>
          <a:xfrm>
            <a:off x="2732040" y="4049640"/>
            <a:ext cx="308160" cy="32076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140" dur="indefinite" restart="never" nodeType="tmRoot">
          <p:childTnLst>
            <p:seq>
              <p:cTn id="1141" dur="indefinite" nodeType="mainSeq">
                <p:childTnLst>
                  <p:par>
                    <p:cTn id="1142" fill="hold" nodeType="clickEffect">
                      <p:stCondLst>
                        <p:cond delay="indefinite"/>
                      </p:stCondLst>
                      <p:childTnLst>
                        <p:par>
                          <p:cTn id="1143" fill="hold" nodeType="withEffect">
                            <p:stCondLst>
                              <p:cond delay="0"/>
                            </p:stCondLst>
                            <p:childTnLst>
                              <p:par>
                                <p:cTn id="1144" presetID="3" presetClass="entr" fill="hold" nodeType="clickEffect" presetSubtype="10">
                                  <p:stCondLst>
                                    <p:cond delay="0"/>
                                  </p:stCondLst>
                                  <p:childTnLst>
                                    <p:set>
                                      <p:cBhvr>
                                        <p:cTn id="1145" dur="1" fill="hold">
                                          <p:stCondLst>
                                            <p:cond delay="0"/>
                                          </p:stCondLst>
                                        </p:cTn>
                                        <p:tgtEl>
                                          <p:spTgt spid="590">
                                            <p:txEl>
                                              <p:pRg st="0" end="0"/>
                                            </p:txEl>
                                          </p:spTgt>
                                        </p:tgtEl>
                                        <p:attrNameLst>
                                          <p:attrName>style.visibility</p:attrName>
                                        </p:attrNameLst>
                                      </p:cBhvr>
                                      <p:to>
                                        <p:strVal val="visible"/>
                                      </p:to>
                                    </p:set>
                                    <p:animEffect transition="in" filter="blinds(horizontal)">
                                      <p:cBhvr additive="repl">
                                        <p:cTn id="1146" dur="500"/>
                                        <p:tgtEl>
                                          <p:spTgt spid="590">
                                            <p:txEl>
                                              <p:pRg st="0" end="0"/>
                                            </p:txEl>
                                          </p:spTgt>
                                        </p:tgtEl>
                                      </p:cBhvr>
                                    </p:animEffect>
                                  </p:childTnLst>
                                </p:cTn>
                              </p:par>
                            </p:childTnLst>
                          </p:cTn>
                        </p:par>
                      </p:childTnLst>
                    </p:cTn>
                  </p:par>
                  <p:par>
                    <p:cTn id="1147" fill="hold" nodeType="clickEffect">
                      <p:stCondLst>
                        <p:cond delay="indefinite"/>
                      </p:stCondLst>
                      <p:childTnLst>
                        <p:par>
                          <p:cTn id="1148" fill="hold" nodeType="withEffect">
                            <p:stCondLst>
                              <p:cond delay="0"/>
                            </p:stCondLst>
                            <p:childTnLst>
                              <p:par>
                                <p:cTn id="1149" presetID="3" presetClass="entr" fill="hold" nodeType="clickEffect" presetSubtype="10">
                                  <p:stCondLst>
                                    <p:cond delay="0"/>
                                  </p:stCondLst>
                                  <p:childTnLst>
                                    <p:set>
                                      <p:cBhvr>
                                        <p:cTn id="1150" dur="1" fill="hold">
                                          <p:stCondLst>
                                            <p:cond delay="0"/>
                                          </p:stCondLst>
                                        </p:cTn>
                                        <p:tgtEl>
                                          <p:spTgt spid="590">
                                            <p:txEl>
                                              <p:pRg st="1" end="1"/>
                                            </p:txEl>
                                          </p:spTgt>
                                        </p:tgtEl>
                                        <p:attrNameLst>
                                          <p:attrName>style.visibility</p:attrName>
                                        </p:attrNameLst>
                                      </p:cBhvr>
                                      <p:to>
                                        <p:strVal val="visible"/>
                                      </p:to>
                                    </p:set>
                                    <p:animEffect transition="in" filter="blinds(horizontal)">
                                      <p:cBhvr additive="repl">
                                        <p:cTn id="1151" dur="500"/>
                                        <p:tgtEl>
                                          <p:spTgt spid="590">
                                            <p:txEl>
                                              <p:pRg st="1" end="1"/>
                                            </p:txEl>
                                          </p:spTgt>
                                        </p:tgtEl>
                                      </p:cBhvr>
                                    </p:animEffect>
                                  </p:childTnLst>
                                </p:cTn>
                              </p:par>
                            </p:childTnLst>
                          </p:cTn>
                        </p:par>
                      </p:childTnLst>
                    </p:cTn>
                  </p:par>
                  <p:par>
                    <p:cTn id="1152" fill="hold" nodeType="clickEffect">
                      <p:stCondLst>
                        <p:cond delay="indefinite"/>
                      </p:stCondLst>
                      <p:childTnLst>
                        <p:par>
                          <p:cTn id="1153" fill="hold" nodeType="withEffect">
                            <p:stCondLst>
                              <p:cond delay="0"/>
                            </p:stCondLst>
                            <p:childTnLst>
                              <p:par>
                                <p:cTn id="1154" presetID="10" presetClass="entr" fill="hold" nodeType="clickEffect">
                                  <p:stCondLst>
                                    <p:cond delay="0"/>
                                  </p:stCondLst>
                                  <p:childTnLst>
                                    <p:set>
                                      <p:cBhvr>
                                        <p:cTn id="1155" dur="1" fill="hold">
                                          <p:stCondLst>
                                            <p:cond delay="0"/>
                                          </p:stCondLst>
                                        </p:cTn>
                                        <p:tgtEl>
                                          <p:spTgt spid="591"/>
                                        </p:tgtEl>
                                        <p:attrNameLst>
                                          <p:attrName>style.visibility</p:attrName>
                                        </p:attrNameLst>
                                      </p:cBhvr>
                                      <p:to>
                                        <p:strVal val="visible"/>
                                      </p:to>
                                    </p:set>
                                    <p:animEffect transition="in" filter="fade">
                                      <p:cBhvr additive="repl">
                                        <p:cTn id="1156" dur="2000"/>
                                        <p:tgtEl>
                                          <p:spTgt spid="591"/>
                                        </p:tgtEl>
                                      </p:cBhvr>
                                    </p:animEffect>
                                  </p:childTnLst>
                                </p:cTn>
                              </p:par>
                            </p:childTnLst>
                          </p:cTn>
                        </p:par>
                      </p:childTnLst>
                    </p:cTn>
                  </p:par>
                  <p:par>
                    <p:cTn id="1157" fill="hold" nodeType="clickEffect">
                      <p:stCondLst>
                        <p:cond delay="indefinite"/>
                      </p:stCondLst>
                      <p:childTnLst>
                        <p:par>
                          <p:cTn id="1158" fill="hold" nodeType="withEffect">
                            <p:stCondLst>
                              <p:cond delay="0"/>
                            </p:stCondLst>
                            <p:childTnLst>
                              <p:par>
                                <p:cTn id="1159" presetID="2" presetClass="entr" fill="hold" nodeType="clickEffect" presetSubtype="9">
                                  <p:stCondLst>
                                    <p:cond delay="0"/>
                                  </p:stCondLst>
                                  <p:childTnLst>
                                    <p:set>
                                      <p:cBhvr>
                                        <p:cTn id="1160" dur="1" fill="hold">
                                          <p:stCondLst>
                                            <p:cond delay="0"/>
                                          </p:stCondLst>
                                        </p:cTn>
                                        <p:tgtEl>
                                          <p:spTgt spid="625"/>
                                        </p:tgtEl>
                                        <p:attrNameLst>
                                          <p:attrName>style.visibility</p:attrName>
                                        </p:attrNameLst>
                                      </p:cBhvr>
                                      <p:to>
                                        <p:strVal val="visible"/>
                                      </p:to>
                                    </p:set>
                                    <p:anim calcmode="lin" valueType="num">
                                      <p:cBhvr additive="base">
                                        <p:cTn id="1161" dur="500" fill="hold"/>
                                        <p:tgtEl>
                                          <p:spTgt spid="625"/>
                                        </p:tgtEl>
                                        <p:attrNameLst>
                                          <p:attrName>ppt_x</p:attrName>
                                        </p:attrNameLst>
                                      </p:cBhvr>
                                      <p:tavLst>
                                        <p:tav>
                                          <p:val>
                                            <p:strVal val="0-#ppt_w/2"/>
                                          </p:val>
                                        </p:tav>
                                        <p:tav tm="100000">
                                          <p:val>
                                            <p:strVal val="#ppt_x"/>
                                          </p:val>
                                        </p:tav>
                                      </p:tavLst>
                                    </p:anim>
                                    <p:anim calcmode="lin" valueType="num">
                                      <p:cBhvr additive="base">
                                        <p:cTn id="1162" dur="500" fill="hold"/>
                                        <p:tgtEl>
                                          <p:spTgt spid="625"/>
                                        </p:tgtEl>
                                        <p:attrNameLst>
                                          <p:attrName>ppt_y</p:attrName>
                                        </p:attrNameLst>
                                      </p:cBhvr>
                                      <p:tavLst>
                                        <p:tav>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Rectangle 1090"/>
          <p:cNvSpPr/>
          <p:nvPr/>
        </p:nvSpPr>
        <p:spPr>
          <a:xfrm>
            <a:off x="88920" y="123840"/>
            <a:ext cx="7183440" cy="60624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确定分离点位置的方法：</a:t>
            </a:r>
            <a:endParaRPr lang="en-US" sz="2800" b="1" u="none" strike="noStrike">
              <a:solidFill>
                <a:srgbClr val="000000"/>
              </a:solidFill>
              <a:effectLst/>
              <a:uFillTx/>
              <a:latin typeface="Times New Roman"/>
            </a:endParaRPr>
          </a:p>
        </p:txBody>
      </p:sp>
      <p:sp>
        <p:nvSpPr>
          <p:cNvPr id="627" name="Text Box 1096"/>
          <p:cNvSpPr/>
          <p:nvPr/>
        </p:nvSpPr>
        <p:spPr>
          <a:xfrm>
            <a:off x="291960" y="1776240"/>
            <a:ext cx="4445280" cy="52092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Times New Roman"/>
              </a:rPr>
              <a:t>法一</a:t>
            </a:r>
            <a:r>
              <a:rPr lang="zh-CN" sz="2800" b="1" u="none" strike="noStrike">
                <a:solidFill>
                  <a:srgbClr val="000000"/>
                </a:solidFill>
                <a:effectLst/>
                <a:uFillTx/>
                <a:latin typeface="Times New Roman"/>
              </a:rPr>
              <a:t>：重根法（极值法）</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628" name="Object 106"/>
              <p:cNvSpPr txBox="1"/>
              <p:nvPr/>
            </p:nvSpPr>
            <p:spPr>
              <a:xfrm>
                <a:off x="2076480" y="1130400"/>
                <a:ext cx="2095560" cy="584280"/>
              </a:xfrm>
              <a:prstGeom prst="rect">
                <a:avLst/>
              </a:prstGeom>
            </p:spPr>
            <p:txBody>
              <a:bodyPr/>
              <a:p>
                <a14:m>
                  <m:oMath xmlns:m="http://schemas.openxmlformats.org/officeDocument/2006/math">
                    <m:sSub>
                      <m:e>
                        <m:r>
                          <m:t xml:space="preserve">θ</m:t>
                        </m:r>
                      </m:e>
                      <m:sub>
                        <m:r>
                          <m:t xml:space="preserve">d</m:t>
                        </m:r>
                      </m:sub>
                    </m:sSub>
                    <m:r>
                      <m:t xml:space="preserve">=</m:t>
                    </m:r>
                    <m:f>
                      <m:fPr>
                        <m:type m:val="lin"/>
                      </m:fPr>
                      <m:num>
                        <m:r>
                          <m:t xml:space="preserve">±</m:t>
                        </m:r>
                        <m:sSup>
                          <m:e>
                            <m:r>
                              <m:rPr>
                                <m:lit/>
                                <m:nor/>
                              </m:rPr>
                              <m:t xml:space="preserve">180</m:t>
                            </m:r>
                          </m:e>
                          <m:sup>
                            <m:r>
                              <m:t xml:space="preserve">∘</m:t>
                            </m:r>
                          </m:sup>
                        </m:sSup>
                      </m:num>
                      <m:den>
                        <m:r>
                          <m:t xml:space="preserve">k</m:t>
                        </m:r>
                      </m:den>
                    </m:f>
                  </m:oMath>
                </a14:m>
              </a:p>
            </p:txBody>
          </p:sp>
        </mc:Choice>
        <mc:Fallback>
          <p:sp>
            <p:nvSpPr>
              <p:cNvPr id="628" name="Object 106"/>
              <p:cNvSpPr txBox="1"/>
              <p:nvPr/>
            </p:nvSpPr>
            <p:spPr>
              <a:xfrm>
                <a:off x="2076480" y="1130400"/>
                <a:ext cx="2095560" cy="584280"/>
              </a:xfrm>
              <a:prstGeom prst="rect">
                <a:avLst/>
              </a:prstGeom>
              <a:blipFill>
                <a:blip r:embed="rId1"/>
                <a:stretch>
                  <a:fillRect/>
                </a:stretch>
              </a:blipFill>
            </p:spPr>
          </p:sp>
        </mc:Fallback>
      </mc:AlternateContent>
      <p:sp>
        <p:nvSpPr>
          <p:cNvPr id="629" name=""/>
          <p:cNvSpPr txBox="1"/>
          <p:nvPr/>
        </p:nvSpPr>
        <p:spPr>
          <a:xfrm>
            <a:off x="4638600" y="2889000"/>
            <a:ext cx="3810240" cy="198108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
        <p:nvSpPr>
          <p:cNvPr id="630" name=""/>
          <p:cNvSpPr txBox="1"/>
          <p:nvPr/>
        </p:nvSpPr>
        <p:spPr>
          <a:xfrm>
            <a:off x="4638600" y="5022720"/>
            <a:ext cx="3810240" cy="198144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
        <p:nvSpPr>
          <p:cNvPr id="631" name="Text Box 31"/>
          <p:cNvSpPr/>
          <p:nvPr/>
        </p:nvSpPr>
        <p:spPr>
          <a:xfrm>
            <a:off x="787320" y="2405160"/>
            <a:ext cx="5175360" cy="54900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1" u="none" strike="noStrike">
                <a:solidFill>
                  <a:srgbClr val="000000"/>
                </a:solidFill>
                <a:effectLst/>
                <a:uFillTx/>
                <a:latin typeface="Times New Roman"/>
              </a:rPr>
              <a:t>1 </a:t>
            </a:r>
            <a:r>
              <a:rPr lang="en-US" sz="2300" b="1" u="none" strike="noStrike">
                <a:solidFill>
                  <a:srgbClr val="000000"/>
                </a:solidFill>
                <a:effectLst/>
                <a:uFillTx/>
                <a:latin typeface="宋体"/>
              </a:rPr>
              <a:t>+</a:t>
            </a:r>
            <a:r>
              <a:rPr lang="en-US" sz="2300" b="1" u="none" strike="noStrike">
                <a:solidFill>
                  <a:srgbClr val="000000"/>
                </a:solidFill>
                <a:effectLst/>
                <a:uFillTx/>
                <a:latin typeface="Times New Roman"/>
              </a:rPr>
              <a:t> </a:t>
            </a:r>
            <a:r>
              <a:rPr lang="en-US" sz="2300" b="1" i="1" u="none" strike="noStrike">
                <a:solidFill>
                  <a:srgbClr val="000000"/>
                </a:solidFill>
                <a:effectLst/>
                <a:uFillTx/>
                <a:latin typeface="Times New Roman"/>
              </a:rPr>
              <a:t>G</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H</a:t>
            </a:r>
            <a:r>
              <a:rPr lang="en-US" sz="2300" b="1" u="none" strike="noStrike">
                <a:solidFill>
                  <a:srgbClr val="000000"/>
                </a:solidFill>
                <a:effectLst/>
                <a:uFillTx/>
                <a:latin typeface="Times New Roman"/>
              </a:rPr>
              <a:t>(</a:t>
            </a:r>
            <a:r>
              <a:rPr lang="en-US" sz="2300" b="1" i="1" u="none" strike="noStrike">
                <a:solidFill>
                  <a:srgbClr val="000000"/>
                </a:solidFill>
                <a:effectLst/>
                <a:uFillTx/>
                <a:latin typeface="Times New Roman"/>
              </a:rPr>
              <a:t>s</a:t>
            </a:r>
            <a:r>
              <a:rPr lang="en-US" sz="2300" b="1" u="none" strike="noStrike">
                <a:solidFill>
                  <a:srgbClr val="000000"/>
                </a:solidFill>
                <a:effectLst/>
                <a:uFillTx/>
                <a:latin typeface="Times New Roman"/>
              </a:rPr>
              <a:t>) = 0 </a:t>
            </a:r>
            <a:endParaRPr lang="en-US" sz="2300" b="1" u="none" strike="noStrike">
              <a:solidFill>
                <a:srgbClr val="000000"/>
              </a:solidFill>
              <a:effectLst/>
              <a:uFillTx/>
              <a:latin typeface="Times New Roman"/>
            </a:endParaRPr>
          </a:p>
        </p:txBody>
      </p:sp>
      <mc:AlternateContent>
        <mc:Choice xmlns:a14="http://schemas.microsoft.com/office/drawing/2010/main" Requires="a14">
          <p:sp>
            <p:nvSpPr>
              <p:cNvPr id="632" name="Object 38"/>
              <p:cNvSpPr txBox="1"/>
              <p:nvPr/>
            </p:nvSpPr>
            <p:spPr>
              <a:xfrm>
                <a:off x="2800440" y="3116160"/>
                <a:ext cx="2181240" cy="1828800"/>
              </a:xfrm>
              <a:prstGeom prst="rect">
                <a:avLst/>
              </a:prstGeom>
            </p:spPr>
            <p:txBody>
              <a:bodyPr/>
              <a:p>
                <a14:m>
                  <m:oMath xmlns:m="http://schemas.openxmlformats.org/officeDocument/2006/math">
                    <m:r>
                      <m:rPr>
                        <m:lit/>
                        <m:nor/>
                      </m:rPr>
                      <m:t xml:space="preserve">Kg</m:t>
                    </m:r>
                    <m:r>
                      <m:t xml:space="preserve">=</m:t>
                    </m:r>
                    <m:f>
                      <m:num>
                        <m:nary>
                          <m:naryPr>
                            <m:chr m:val="∏"/>
                          </m:naryPr>
                          <m:sub>
                            <m:r>
                              <m:t xml:space="preserve">j</m:t>
                            </m:r>
                            <m:r>
                              <m:t xml:space="preserve">=</m:t>
                            </m:r>
                            <m:r>
                              <m:t xml:space="preserve">1</m:t>
                            </m:r>
                          </m:sub>
                          <m:sup>
                            <m:r>
                              <m:t xml:space="preserve">n</m:t>
                            </m:r>
                          </m:sup>
                          <m:e>
                            <m:d>
                              <m:dPr>
                                <m:begChr m:val="|"/>
                                <m:endChr m:val="|"/>
                              </m:dPr>
                              <m:e>
                                <m:r>
                                  <m:t xml:space="preserve">s</m:t>
                                </m:r>
                                <m:r>
                                  <m:t xml:space="preserve">−</m:t>
                                </m:r>
                                <m:sSub>
                                  <m:e>
                                    <m:r>
                                      <m:t xml:space="preserve">p</m:t>
                                    </m:r>
                                  </m:e>
                                  <m:sub>
                                    <m:r>
                                      <m:t xml:space="preserve">j</m:t>
                                    </m:r>
                                  </m:sub>
                                </m:sSub>
                              </m:e>
                            </m:d>
                          </m:e>
                        </m:nary>
                      </m:num>
                      <m:den>
                        <m:nary>
                          <m:naryPr>
                            <m:chr m:val="∏"/>
                          </m:naryPr>
                          <m:sub>
                            <m:r>
                              <m:t xml:space="preserve">i</m:t>
                            </m:r>
                            <m:r>
                              <m:t xml:space="preserve">=</m:t>
                            </m:r>
                            <m:r>
                              <m:t xml:space="preserve">1</m:t>
                            </m:r>
                          </m:sub>
                          <m:sup>
                            <m:r>
                              <m:t xml:space="preserve">m</m:t>
                            </m:r>
                          </m:sup>
                          <m:e>
                            <m:d>
                              <m:dPr>
                                <m:begChr m:val="|"/>
                                <m:endChr m:val="|"/>
                              </m:dPr>
                              <m:e>
                                <m:r>
                                  <m:t xml:space="preserve">s</m:t>
                                </m:r>
                                <m:r>
                                  <m:t xml:space="preserve">−</m:t>
                                </m:r>
                                <m:sSub>
                                  <m:e>
                                    <m:r>
                                      <m:t xml:space="preserve">z</m:t>
                                    </m:r>
                                  </m:e>
                                  <m:sub>
                                    <m:r>
                                      <m:t xml:space="preserve">i</m:t>
                                    </m:r>
                                  </m:sub>
                                </m:sSub>
                              </m:e>
                            </m:d>
                          </m:e>
                        </m:nary>
                      </m:den>
                    </m:f>
                  </m:oMath>
                </a14:m>
              </a:p>
            </p:txBody>
          </p:sp>
        </mc:Choice>
        <mc:Fallback>
          <p:sp>
            <p:nvSpPr>
              <p:cNvPr id="632" name="Object 38"/>
              <p:cNvSpPr txBox="1"/>
              <p:nvPr/>
            </p:nvSpPr>
            <p:spPr>
              <a:xfrm>
                <a:off x="2800440" y="3116160"/>
                <a:ext cx="2181240" cy="1828800"/>
              </a:xfrm>
              <a:prstGeom prst="rect">
                <a:avLst/>
              </a:prstGeom>
              <a:blipFill>
                <a:blip r:embed="rId2"/>
                <a:stretch>
                  <a:fillRect/>
                </a:stretch>
              </a:blipFill>
            </p:spPr>
          </p:sp>
        </mc:Fallback>
      </mc:AlternateContent>
      <mc:AlternateContent>
        <mc:Choice xmlns:a14="http://schemas.microsoft.com/office/drawing/2010/main" Requires="a14">
          <p:sp>
            <p:nvSpPr>
              <p:cNvPr id="633" name="对象 4"/>
              <p:cNvSpPr txBox="1"/>
              <p:nvPr/>
            </p:nvSpPr>
            <p:spPr>
              <a:xfrm>
                <a:off x="3006720" y="5175360"/>
                <a:ext cx="1770120" cy="1220760"/>
              </a:xfrm>
              <a:prstGeom prst="rect">
                <a:avLst/>
              </a:prstGeom>
            </p:spPr>
            <p:txBody>
              <a:bodyPr/>
              <a:p>
                <a14:m>
                  <m:oMath xmlns:m="http://schemas.openxmlformats.org/officeDocument/2006/math">
                    <m:f>
                      <m:num>
                        <m:r>
                          <m:rPr>
                            <m:lit/>
                            <m:nor/>
                          </m:rPr>
                          <m:t xml:space="preserve">dKg</m:t>
                        </m:r>
                      </m:num>
                      <m:den>
                        <m:r>
                          <m:rPr>
                            <m:lit/>
                            <m:nor/>
                          </m:rPr>
                          <m:t xml:space="preserve">ds</m:t>
                        </m:r>
                      </m:den>
                    </m:f>
                    <m:r>
                      <m:t xml:space="preserve">=</m:t>
                    </m:r>
                    <m:r>
                      <m:t xml:space="preserve">0</m:t>
                    </m:r>
                  </m:oMath>
                </a14:m>
              </a:p>
            </p:txBody>
          </p:sp>
        </mc:Choice>
        <mc:Fallback>
          <p:sp>
            <p:nvSpPr>
              <p:cNvPr id="633" name="对象 4"/>
              <p:cNvSpPr txBox="1"/>
              <p:nvPr/>
            </p:nvSpPr>
            <p:spPr>
              <a:xfrm>
                <a:off x="3006720" y="5175360"/>
                <a:ext cx="1770120" cy="1220760"/>
              </a:xfrm>
              <a:prstGeom prst="rect">
                <a:avLst/>
              </a:prstGeom>
              <a:blipFill>
                <a:blip r:embed="rId3"/>
                <a:stretch>
                  <a:fillRect/>
                </a:stretch>
              </a:blipFill>
            </p:spPr>
          </p:sp>
        </mc:Fallback>
      </mc:AlternateContent>
      <p:sp>
        <p:nvSpPr>
          <p:cNvPr id="634" name="Text Box 1093"/>
          <p:cNvSpPr/>
          <p:nvPr/>
        </p:nvSpPr>
        <p:spPr>
          <a:xfrm>
            <a:off x="95400" y="731880"/>
            <a:ext cx="8953200" cy="1236960"/>
          </a:xfrm>
          <a:prstGeom prst="rect">
            <a:avLst/>
          </a:prstGeom>
          <a:noFill/>
          <a:ln w="0">
            <a:noFill/>
          </a:ln>
        </p:spPr>
        <p:style>
          <a:lnRef idx="0"/>
          <a:fillRef idx="0"/>
          <a:effectRef idx="0"/>
          <a:fontRef idx="minor"/>
        </p:style>
        <p:txBody>
          <a:bodyPr lIns="90000" tIns="46800" rIns="90000" bIns="46800" anchor="t">
            <a:spAutoFit/>
          </a:bodyPr>
          <a:p>
            <a:pPr>
              <a:spcBef>
                <a:spcPts val="1437"/>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400" b="1" u="sng" strike="noStrike">
                <a:solidFill>
                  <a:srgbClr val="000000"/>
                </a:solidFill>
                <a:effectLst/>
                <a:uFillTx/>
                <a:latin typeface="Times New Roman"/>
              </a:rPr>
              <a:t>分离点上，根轨迹的切线与正实轴的夹角称为根轨迹的分离角</a:t>
            </a:r>
            <a:r>
              <a:rPr lang="zh-CN" sz="2400" b="1" u="none" strike="noStrike">
                <a:solidFill>
                  <a:srgbClr val="000000"/>
                </a:solidFill>
                <a:effectLst/>
                <a:uFillTx/>
                <a:latin typeface="Times New Roman"/>
              </a:rPr>
              <a:t>，用下式计算：                               </a:t>
            </a:r>
            <a:r>
              <a:rPr lang="en-US" sz="2300" b="1" i="1" u="none" strike="noStrike">
                <a:solidFill>
                  <a:srgbClr val="FF0000"/>
                </a:solidFill>
                <a:effectLst/>
                <a:uFillTx/>
                <a:latin typeface="Times New Roman"/>
              </a:rPr>
              <a:t>k</a:t>
            </a:r>
            <a:r>
              <a:rPr lang="zh-CN" sz="2300" b="1" u="none" strike="noStrike">
                <a:solidFill>
                  <a:srgbClr val="FF0000"/>
                </a:solidFill>
                <a:effectLst/>
                <a:uFillTx/>
                <a:latin typeface="Times New Roman"/>
              </a:rPr>
              <a:t>为分离点处根轨迹的分支数</a:t>
            </a:r>
            <a:r>
              <a:rPr lang="zh-CN" sz="2300" b="1" u="none" strike="noStrike">
                <a:solidFill>
                  <a:srgbClr val="000000"/>
                </a:solidFill>
                <a:effectLst/>
                <a:uFillTx/>
                <a:latin typeface="Times New Roman"/>
              </a:rPr>
              <a:t>。 </a:t>
            </a:r>
            <a:endParaRPr lang="en-US" sz="2300" b="1" u="none" strike="noStrike">
              <a:solidFill>
                <a:srgbClr val="000000"/>
              </a:solidFill>
              <a:effectLst/>
              <a:uFillTx/>
              <a:latin typeface="Times New Roman"/>
            </a:endParaRPr>
          </a:p>
        </p:txBody>
      </p:sp>
      <p:pic>
        <p:nvPicPr>
          <p:cNvPr id="635" name="Picture 104"/>
          <p:cNvPicPr/>
          <p:nvPr/>
        </p:nvPicPr>
        <p:blipFill>
          <a:blip r:embed="rId4"/>
          <a:stretch/>
        </p:blipFill>
        <p:spPr>
          <a:xfrm>
            <a:off x="5962680" y="2200320"/>
            <a:ext cx="3027240" cy="2120760"/>
          </a:xfrm>
          <a:prstGeom prst="rect">
            <a:avLst/>
          </a:prstGeom>
          <a:noFill/>
          <a:ln w="0">
            <a:noFill/>
          </a:ln>
        </p:spPr>
      </p:pic>
    </p:spTree>
  </p:cSld>
  <p:transition>
    <p:random/>
  </p:transition>
  <p:timing>
    <p:tnLst>
      <p:par>
        <p:cTn id="1163" dur="indefinite" restart="never" nodeType="tmRoot">
          <p:childTnLst>
            <p:seq>
              <p:cTn id="1164" dur="indefinite" nodeType="mainSeq">
                <p:childTnLst>
                  <p:par>
                    <p:cTn id="1165" fill="hold" nodeType="clickEffect">
                      <p:stCondLst>
                        <p:cond delay="indefinite"/>
                      </p:stCondLst>
                      <p:childTnLst>
                        <p:par>
                          <p:cTn id="1166" fill="hold" nodeType="withEffect">
                            <p:stCondLst>
                              <p:cond delay="0"/>
                            </p:stCondLst>
                            <p:childTnLst>
                              <p:par>
                                <p:cTn id="1167" presetID="23" presetClass="entr" fill="hold" nodeType="clickEffect" presetSubtype="16">
                                  <p:stCondLst>
                                    <p:cond delay="0"/>
                                  </p:stCondLst>
                                  <p:childTnLst>
                                    <p:set>
                                      <p:cBhvr>
                                        <p:cTn id="1168" dur="1" fill="hold">
                                          <p:stCondLst>
                                            <p:cond delay="0"/>
                                          </p:stCondLst>
                                        </p:cTn>
                                        <p:tgtEl>
                                          <p:spTgt spid="626"/>
                                        </p:tgtEl>
                                        <p:attrNameLst>
                                          <p:attrName>style.visibility</p:attrName>
                                        </p:attrNameLst>
                                      </p:cBhvr>
                                      <p:to>
                                        <p:strVal val="visible"/>
                                      </p:to>
                                    </p:set>
                                    <p:anim calcmode="lin" valueType="num">
                                      <p:cBhvr additive="repl">
                                        <p:cTn id="1169" dur="500" fill="hold"/>
                                        <p:tgtEl>
                                          <p:spTgt spid="626"/>
                                        </p:tgtEl>
                                        <p:attrNameLst>
                                          <p:attrName>ppt_w</p:attrName>
                                        </p:attrNameLst>
                                      </p:cBhvr>
                                      <p:tavLst>
                                        <p:tav>
                                          <p:val>
                                            <p:fltVal val="0"/>
                                          </p:val>
                                        </p:tav>
                                        <p:tav tm="100000">
                                          <p:val>
                                            <p:strVal val="#ppt_w"/>
                                          </p:val>
                                        </p:tav>
                                      </p:tavLst>
                                    </p:anim>
                                    <p:anim calcmode="lin" valueType="num">
                                      <p:cBhvr additive="repl">
                                        <p:cTn id="1170" dur="500" fill="hold"/>
                                        <p:tgtEl>
                                          <p:spTgt spid="626"/>
                                        </p:tgtEl>
                                        <p:attrNameLst>
                                          <p:attrName>ppt_h</p:attrName>
                                        </p:attrNameLst>
                                      </p:cBhvr>
                                      <p:tavLst>
                                        <p:tav>
                                          <p:val>
                                            <p:fltVal val="0"/>
                                          </p:val>
                                        </p:tav>
                                        <p:tav tm="100000">
                                          <p:val>
                                            <p:strVal val="#ppt_h"/>
                                          </p:val>
                                        </p:tav>
                                      </p:tavLst>
                                    </p:anim>
                                  </p:childTnLst>
                                </p:cTn>
                              </p:par>
                            </p:childTnLst>
                          </p:cTn>
                        </p:par>
                      </p:childTnLst>
                    </p:cTn>
                  </p:par>
                  <p:par>
                    <p:cTn id="1171" fill="hold" nodeType="clickEffect">
                      <p:stCondLst>
                        <p:cond delay="indefinite"/>
                      </p:stCondLst>
                      <p:childTnLst>
                        <p:par>
                          <p:cTn id="1172" fill="hold" nodeType="withEffect">
                            <p:stCondLst>
                              <p:cond delay="0"/>
                            </p:stCondLst>
                            <p:childTnLst>
                              <p:par>
                                <p:cTn id="1173" presetID="26" presetClass="entr" fill="hold" nodeType="clickEffect">
                                  <p:stCondLst>
                                    <p:cond delay="0"/>
                                  </p:stCondLst>
                                  <p:childTnLst>
                                    <p:set>
                                      <p:cBhvr>
                                        <p:cTn id="1174" dur="1" fill="hold">
                                          <p:stCondLst>
                                            <p:cond delay="0"/>
                                          </p:stCondLst>
                                        </p:cTn>
                                        <p:tgtEl>
                                          <p:spTgt spid="627"/>
                                        </p:tgtEl>
                                        <p:attrNameLst>
                                          <p:attrName>style.visibility</p:attrName>
                                        </p:attrNameLst>
                                      </p:cBhvr>
                                      <p:to>
                                        <p:strVal val="visible"/>
                                      </p:to>
                                    </p:set>
                                    <p:animEffect transition="in" filter="wipe(down)">
                                      <p:cBhvr additive="repl">
                                        <p:cTn id="1175" dur="580">
                                          <p:stCondLst>
                                            <p:cond delay="0"/>
                                          </p:stCondLst>
                                        </p:cTn>
                                        <p:tgtEl>
                                          <p:spTgt spid="627"/>
                                        </p:tgtEl>
                                      </p:cBhvr>
                                    </p:animEffect>
                                    <p:anim calcmode="lin" valueType="num">
                                      <p:cBhvr additive="repl">
                                        <p:cTn id="1176" dur="1822">
                                          <p:stCondLst>
                                            <p:cond delay="0"/>
                                          </p:stCondLst>
                                        </p:cTn>
                                        <p:tgtEl>
                                          <p:spTgt spid="627"/>
                                        </p:tgtEl>
                                        <p:attrNameLst>
                                          <p:attrName>ppt_x</p:attrName>
                                        </p:attrNameLst>
                                      </p:cBhvr>
                                      <p:tavLst>
                                        <p:tav>
                                          <p:val>
                                            <p:strVal val="#ppt_x-0.25"/>
                                          </p:val>
                                        </p:tav>
                                        <p:tav tm="100000">
                                          <p:val>
                                            <p:strVal val="#ppt_x"/>
                                          </p:val>
                                        </p:tav>
                                      </p:tavLst>
                                    </p:anim>
                                    <p:anim calcmode="lin" valueType="num">
                                      <p:cBhvr additive="repl">
                                        <p:cTn id="1177" dur="664">
                                          <p:stCondLst>
                                            <p:cond delay="0"/>
                                          </p:stCondLst>
                                        </p:cTn>
                                        <p:tgtEl>
                                          <p:spTgt spid="627"/>
                                        </p:tgtEl>
                                        <p:attrNameLst>
                                          <p:attrName>ppt_y</p:attrName>
                                        </p:attrNameLst>
                                      </p:cBhvr>
                                      <p:tavLst>
                                        <p:tav fmla="y-sin(pi*$)/3">
                                          <p:val>
                                            <p:fltVal val="0.5"/>
                                          </p:val>
                                        </p:tav>
                                        <p:tav fmla="y-sin(pi*$)/3" tm="100000">
                                          <p:val>
                                            <p:fltVal val="1"/>
                                          </p:val>
                                        </p:tav>
                                      </p:tavLst>
                                    </p:anim>
                                    <p:anim calcmode="lin" valueType="num">
                                      <p:cBhvr additive="repl">
                                        <p:cTn id="1178" dur="664">
                                          <p:stCondLst>
                                            <p:cond delay="664"/>
                                          </p:stCondLst>
                                        </p:cTn>
                                        <p:tgtEl>
                                          <p:spTgt spid="627"/>
                                        </p:tgtEl>
                                        <p:attrNameLst>
                                          <p:attrName>ppt_y</p:attrName>
                                        </p:attrNameLst>
                                      </p:cBhvr>
                                      <p:tavLst>
                                        <p:tav fmla="y-sin(pi*$)/9">
                                          <p:val>
                                            <p:fltVal val="0"/>
                                          </p:val>
                                        </p:tav>
                                        <p:tav fmla="y-sin(pi*$)/9" tm="100000">
                                          <p:val>
                                            <p:fltVal val="1"/>
                                          </p:val>
                                        </p:tav>
                                      </p:tavLst>
                                    </p:anim>
                                    <p:anim calcmode="lin" valueType="num">
                                      <p:cBhvr additive="repl">
                                        <p:cTn id="1179" dur="332">
                                          <p:stCondLst>
                                            <p:cond delay="1324"/>
                                          </p:stCondLst>
                                        </p:cTn>
                                        <p:tgtEl>
                                          <p:spTgt spid="627"/>
                                        </p:tgtEl>
                                        <p:attrNameLst>
                                          <p:attrName>ppt_y</p:attrName>
                                        </p:attrNameLst>
                                      </p:cBhvr>
                                      <p:tavLst>
                                        <p:tav fmla="y-sin(pi*$)/27">
                                          <p:val>
                                            <p:fltVal val="0"/>
                                          </p:val>
                                        </p:tav>
                                        <p:tav fmla="y-sin(pi*$)/27" tm="100000">
                                          <p:val>
                                            <p:fltVal val="1"/>
                                          </p:val>
                                        </p:tav>
                                      </p:tavLst>
                                    </p:anim>
                                    <p:anim calcmode="lin" valueType="num">
                                      <p:cBhvr additive="repl">
                                        <p:cTn id="1180" dur="164">
                                          <p:stCondLst>
                                            <p:cond delay="1656"/>
                                          </p:stCondLst>
                                        </p:cTn>
                                        <p:tgtEl>
                                          <p:spTgt spid="627"/>
                                        </p:tgtEl>
                                        <p:attrNameLst>
                                          <p:attrName>ppt_y</p:attrName>
                                        </p:attrNameLst>
                                      </p:cBhvr>
                                      <p:tavLst>
                                        <p:tav fmla="y-sin(pi*$)/81">
                                          <p:val>
                                            <p:fltVal val="0"/>
                                          </p:val>
                                        </p:tav>
                                        <p:tav fmla="y-sin(pi*$)/81" tm="100000">
                                          <p:val>
                                            <p:fltVal val="1"/>
                                          </p:val>
                                        </p:tav>
                                      </p:tavLst>
                                    </p:anim>
                                    <p:animScale>
                                      <p:cBhvr>
                                        <p:cTn id="1181" dur="26" fill="hold">
                                          <p:stCondLst>
                                            <p:cond delay="650"/>
                                          </p:stCondLst>
                                        </p:cTn>
                                        <p:tgtEl>
                                          <p:spTgt spid="627"/>
                                        </p:tgtEl>
                                      </p:cBhvr>
                                      <p:to x="100000" y="60000"/>
                                    </p:animScale>
                                    <p:animScale>
                                      <p:cBhvr>
                                        <p:cTn id="1182" dur="166" fill="hold">
                                          <p:stCondLst>
                                            <p:cond delay="676"/>
                                          </p:stCondLst>
                                        </p:cTn>
                                        <p:tgtEl>
                                          <p:spTgt spid="627"/>
                                        </p:tgtEl>
                                      </p:cBhvr>
                                      <p:to x="100000" y="100000"/>
                                    </p:animScale>
                                    <p:animScale>
                                      <p:cBhvr>
                                        <p:cTn id="1183" dur="26" fill="hold">
                                          <p:stCondLst>
                                            <p:cond delay="1312"/>
                                          </p:stCondLst>
                                        </p:cTn>
                                        <p:tgtEl>
                                          <p:spTgt spid="627"/>
                                        </p:tgtEl>
                                      </p:cBhvr>
                                      <p:to x="100000" y="80000"/>
                                    </p:animScale>
                                    <p:animScale>
                                      <p:cBhvr>
                                        <p:cTn id="1184" dur="166" fill="hold">
                                          <p:stCondLst>
                                            <p:cond delay="1338"/>
                                          </p:stCondLst>
                                        </p:cTn>
                                        <p:tgtEl>
                                          <p:spTgt spid="627"/>
                                        </p:tgtEl>
                                      </p:cBhvr>
                                      <p:to x="100000" y="100000"/>
                                    </p:animScale>
                                    <p:animScale>
                                      <p:cBhvr>
                                        <p:cTn id="1185" dur="26" fill="hold">
                                          <p:stCondLst>
                                            <p:cond delay="1642"/>
                                          </p:stCondLst>
                                        </p:cTn>
                                        <p:tgtEl>
                                          <p:spTgt spid="627"/>
                                        </p:tgtEl>
                                      </p:cBhvr>
                                      <p:to x="100000" y="90000"/>
                                    </p:animScale>
                                    <p:animScale>
                                      <p:cBhvr>
                                        <p:cTn id="1186" dur="166" fill="hold">
                                          <p:stCondLst>
                                            <p:cond delay="1668"/>
                                          </p:stCondLst>
                                        </p:cTn>
                                        <p:tgtEl>
                                          <p:spTgt spid="627"/>
                                        </p:tgtEl>
                                      </p:cBhvr>
                                      <p:to x="100000" y="100000"/>
                                    </p:animScale>
                                    <p:animScale>
                                      <p:cBhvr>
                                        <p:cTn id="1187" dur="26" fill="hold">
                                          <p:stCondLst>
                                            <p:cond delay="1808"/>
                                          </p:stCondLst>
                                        </p:cTn>
                                        <p:tgtEl>
                                          <p:spTgt spid="627"/>
                                        </p:tgtEl>
                                      </p:cBhvr>
                                      <p:to x="100000" y="95000"/>
                                    </p:animScale>
                                    <p:animScale>
                                      <p:cBhvr>
                                        <p:cTn id="1188" dur="166" fill="hold">
                                          <p:stCondLst>
                                            <p:cond delay="1834"/>
                                          </p:stCondLst>
                                        </p:cTn>
                                        <p:tgtEl>
                                          <p:spTgt spid="627"/>
                                        </p:tgtEl>
                                      </p:cBhvr>
                                      <p:to x="100000" y="100000"/>
                                    </p:animScale>
                                  </p:childTnLst>
                                </p:cTn>
                              </p:par>
                            </p:childTnLst>
                          </p:cTn>
                        </p:par>
                      </p:childTnLst>
                    </p:cTn>
                  </p:par>
                  <p:par>
                    <p:cTn id="1189" fill="hold" nodeType="clickEffect">
                      <p:stCondLst>
                        <p:cond delay="indefinite"/>
                      </p:stCondLst>
                      <p:childTnLst>
                        <p:par>
                          <p:cTn id="1190" fill="hold" nodeType="withEffect">
                            <p:stCondLst>
                              <p:cond delay="0"/>
                            </p:stCondLst>
                            <p:childTnLst>
                              <p:par>
                                <p:cTn id="1191" presetID="3" presetClass="entr" fill="hold" nodeType="clickEffect" presetSubtype="10">
                                  <p:stCondLst>
                                    <p:cond delay="0"/>
                                  </p:stCondLst>
                                  <p:childTnLst>
                                    <p:set>
                                      <p:cBhvr>
                                        <p:cTn id="1192" dur="1" fill="hold">
                                          <p:stCondLst>
                                            <p:cond delay="0"/>
                                          </p:stCondLst>
                                        </p:cTn>
                                        <p:tgtEl>
                                          <p:spTgt spid="631">
                                            <p:txEl>
                                              <p:pRg st="0" end="0"/>
                                            </p:txEl>
                                          </p:spTgt>
                                        </p:tgtEl>
                                        <p:attrNameLst>
                                          <p:attrName>style.visibility</p:attrName>
                                        </p:attrNameLst>
                                      </p:cBhvr>
                                      <p:to>
                                        <p:strVal val="visible"/>
                                      </p:to>
                                    </p:set>
                                    <p:animEffect transition="in" filter="blinds(horizontal)">
                                      <p:cBhvr additive="repl">
                                        <p:cTn id="1193" dur="500"/>
                                        <p:tgtEl>
                                          <p:spTgt spid="631">
                                            <p:txEl>
                                              <p:pRg st="0" end="0"/>
                                            </p:txEl>
                                          </p:spTgt>
                                        </p:tgtEl>
                                      </p:cBhvr>
                                    </p:animEffect>
                                  </p:childTnLst>
                                </p:cTn>
                              </p:par>
                            </p:childTnLst>
                          </p:cTn>
                        </p:par>
                      </p:childTnLst>
                    </p:cTn>
                  </p:par>
                  <p:par>
                    <p:cTn id="1194" fill="hold" nodeType="clickEffect">
                      <p:stCondLst>
                        <p:cond delay="indefinite"/>
                      </p:stCondLst>
                      <p:childTnLst>
                        <p:par>
                          <p:cTn id="1195" fill="hold" nodeType="withEffect">
                            <p:stCondLst>
                              <p:cond delay="0"/>
                            </p:stCondLst>
                            <p:childTnLst>
                              <p:par>
                                <p:cTn id="1196" presetID="2" presetClass="entr" fill="hold" nodeType="clickEffect" presetSubtype="4">
                                  <p:stCondLst>
                                    <p:cond delay="0"/>
                                  </p:stCondLst>
                                  <p:childTnLst>
                                    <p:set>
                                      <p:cBhvr>
                                        <p:cTn id="1197" dur="1" fill="hold">
                                          <p:stCondLst>
                                            <p:cond delay="0"/>
                                          </p:stCondLst>
                                        </p:cTn>
                                        <p:tgtEl>
                                          <p:spTgt spid="632"/>
                                        </p:tgtEl>
                                        <p:attrNameLst>
                                          <p:attrName>style.visibility</p:attrName>
                                        </p:attrNameLst>
                                      </p:cBhvr>
                                      <p:to>
                                        <p:strVal val="visible"/>
                                      </p:to>
                                    </p:set>
                                    <p:anim calcmode="lin" valueType="num">
                                      <p:cBhvr additive="repl">
                                        <p:cTn id="1198" dur="500" fill="hold"/>
                                        <p:tgtEl>
                                          <p:spTgt spid="632"/>
                                        </p:tgtEl>
                                        <p:attrNameLst>
                                          <p:attrName>ppt_x</p:attrName>
                                        </p:attrNameLst>
                                      </p:cBhvr>
                                      <p:tavLst>
                                        <p:tav>
                                          <p:val>
                                            <p:strVal val="#ppt_x"/>
                                          </p:val>
                                        </p:tav>
                                        <p:tav tm="100000">
                                          <p:val>
                                            <p:strVal val="#ppt_x"/>
                                          </p:val>
                                        </p:tav>
                                      </p:tavLst>
                                    </p:anim>
                                    <p:anim calcmode="lin" valueType="num">
                                      <p:cBhvr additive="repl">
                                        <p:cTn id="1199" dur="500" fill="hold"/>
                                        <p:tgtEl>
                                          <p:spTgt spid="632"/>
                                        </p:tgtEl>
                                        <p:attrNameLst>
                                          <p:attrName>ppt_y</p:attrName>
                                        </p:attrNameLst>
                                      </p:cBhvr>
                                      <p:tavLst>
                                        <p:tav>
                                          <p:val>
                                            <p:strVal val="1+#ppt_h/2"/>
                                          </p:val>
                                        </p:tav>
                                        <p:tav tm="100000">
                                          <p:val>
                                            <p:strVal val="#ppt_y"/>
                                          </p:val>
                                        </p:tav>
                                      </p:tavLst>
                                    </p:anim>
                                  </p:childTnLst>
                                </p:cTn>
                              </p:par>
                              <p:par>
                                <p:cTn id="1200" presetID="12" presetClass="entr" fill="hold" nodeType="withEffect" presetSubtype="4">
                                  <p:stCondLst>
                                    <p:cond delay="0"/>
                                  </p:stCondLst>
                                  <p:childTnLst>
                                    <p:set>
                                      <p:cBhvr>
                                        <p:cTn id="1201" dur="1" fill="hold">
                                          <p:stCondLst>
                                            <p:cond delay="0"/>
                                          </p:stCondLst>
                                        </p:cTn>
                                        <p:tgtEl>
                                          <p:spTgt spid="634"/>
                                        </p:tgtEl>
                                        <p:attrNameLst>
                                          <p:attrName>style.visibility</p:attrName>
                                        </p:attrNameLst>
                                      </p:cBhvr>
                                      <p:to>
                                        <p:strVal val="visible"/>
                                      </p:to>
                                    </p:set>
                                    <p:animEffect transition="in" filter="slide(fromBottom)">
                                      <p:cBhvr additive="repl">
                                        <p:cTn id="1202" dur="500"/>
                                        <p:tgtEl>
                                          <p:spTgt spid="634"/>
                                        </p:tgtEl>
                                      </p:cBhvr>
                                    </p:animEffect>
                                  </p:childTnLst>
                                </p:cTn>
                              </p:par>
                            </p:childTnLst>
                          </p:cTn>
                        </p:par>
                        <p:par>
                          <p:cTn id="1203" fill="hold" nodeType="afterEffect">
                            <p:stCondLst>
                              <p:cond delay="500"/>
                            </p:stCondLst>
                            <p:childTnLst>
                              <p:par>
                                <p:cTn id="1204" presetID="22" presetClass="entr" fill="hold" nodeType="afterEffect" presetSubtype="8">
                                  <p:stCondLst>
                                    <p:cond delay="0"/>
                                  </p:stCondLst>
                                  <p:childTnLst>
                                    <p:set>
                                      <p:cBhvr>
                                        <p:cTn id="1205" dur="1" fill="hold">
                                          <p:stCondLst>
                                            <p:cond delay="0"/>
                                          </p:stCondLst>
                                        </p:cTn>
                                        <p:tgtEl>
                                          <p:spTgt spid="628"/>
                                        </p:tgtEl>
                                        <p:attrNameLst>
                                          <p:attrName>style.visibility</p:attrName>
                                        </p:attrNameLst>
                                      </p:cBhvr>
                                      <p:to>
                                        <p:strVal val="visible"/>
                                      </p:to>
                                    </p:set>
                                    <p:animEffect transition="in" filter="wipe(left)">
                                      <p:cBhvr additive="repl">
                                        <p:cTn id="1206" dur="500"/>
                                        <p:tgtEl>
                                          <p:spTgt spid="628"/>
                                        </p:tgtEl>
                                      </p:cBhvr>
                                    </p:animEffect>
                                  </p:childTnLst>
                                </p:cTn>
                              </p:par>
                            </p:childTnLst>
                          </p:cTn>
                        </p:par>
                      </p:childTnLst>
                    </p:cTn>
                  </p:par>
                  <p:par>
                    <p:cTn id="1207" fill="hold" nodeType="clickEffect">
                      <p:stCondLst>
                        <p:cond delay="indefinite"/>
                      </p:stCondLst>
                      <p:childTnLst>
                        <p:par>
                          <p:cTn id="1208" fill="hold" nodeType="withEffect">
                            <p:stCondLst>
                              <p:cond delay="0"/>
                            </p:stCondLst>
                            <p:childTnLst>
                              <p:par>
                                <p:cTn id="1209" presetID="2" presetClass="entr" fill="hold" nodeType="clickEffect" presetSubtype="2">
                                  <p:stCondLst>
                                    <p:cond delay="0"/>
                                  </p:stCondLst>
                                  <p:childTnLst>
                                    <p:set>
                                      <p:cBhvr>
                                        <p:cTn id="1210" dur="1" fill="hold">
                                          <p:stCondLst>
                                            <p:cond delay="0"/>
                                          </p:stCondLst>
                                        </p:cTn>
                                        <p:tgtEl>
                                          <p:spTgt spid="635"/>
                                        </p:tgtEl>
                                        <p:attrNameLst>
                                          <p:attrName>style.visibility</p:attrName>
                                        </p:attrNameLst>
                                      </p:cBhvr>
                                      <p:to>
                                        <p:strVal val="visible"/>
                                      </p:to>
                                    </p:set>
                                    <p:anim calcmode="lin" valueType="num">
                                      <p:cBhvr additive="repl">
                                        <p:cTn id="1211" dur="500" fill="hold"/>
                                        <p:tgtEl>
                                          <p:spTgt spid="635"/>
                                        </p:tgtEl>
                                        <p:attrNameLst>
                                          <p:attrName>ppt_x</p:attrName>
                                        </p:attrNameLst>
                                      </p:cBhvr>
                                      <p:tavLst>
                                        <p:tav>
                                          <p:val>
                                            <p:strVal val="1+#ppt_w/2"/>
                                          </p:val>
                                        </p:tav>
                                        <p:tav tm="100000">
                                          <p:val>
                                            <p:strVal val="#ppt_x"/>
                                          </p:val>
                                        </p:tav>
                                      </p:tavLst>
                                    </p:anim>
                                    <p:anim calcmode="lin" valueType="num">
                                      <p:cBhvr additive="repl">
                                        <p:cTn id="1212" dur="500" fill="hold"/>
                                        <p:tgtEl>
                                          <p:spTgt spid="635"/>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mc:AlternateContent>
        <mc:Choice xmlns:a14="http://schemas.microsoft.com/office/drawing/2010/main" Requires="a14">
          <p:sp>
            <p:nvSpPr>
              <p:cNvPr id="636" name="Object 105"/>
              <p:cNvSpPr txBox="1"/>
              <p:nvPr/>
            </p:nvSpPr>
            <p:spPr>
              <a:xfrm>
                <a:off x="2886120" y="2182680"/>
                <a:ext cx="3373560" cy="1135080"/>
              </a:xfrm>
              <a:prstGeom prst="rect">
                <a:avLst/>
              </a:prstGeom>
            </p:spPr>
            <p:txBody>
              <a:bodyPr/>
              <a:p>
                <a14:m>
                  <m:oMath xmlns:m="http://schemas.openxmlformats.org/officeDocument/2006/math">
                    <m:nary>
                      <m:naryPr>
                        <m:chr m:val="∑"/>
                      </m:naryPr>
                      <m:sub>
                        <m:r>
                          <m:t xml:space="preserve">i</m:t>
                        </m:r>
                        <m:r>
                          <m:t xml:space="preserve">=</m:t>
                        </m:r>
                        <m:r>
                          <m:t xml:space="preserve">1</m:t>
                        </m:r>
                      </m:sub>
                      <m:sup>
                        <m:r>
                          <m:t xml:space="preserve">m</m:t>
                        </m:r>
                      </m:sup>
                      <m:e>
                        <m:f>
                          <m:num>
                            <m:r>
                              <m:t xml:space="preserve">1</m:t>
                            </m:r>
                          </m:num>
                          <m:den>
                            <m:r>
                              <m:t xml:space="preserve">d</m:t>
                            </m:r>
                            <m:r>
                              <m:t xml:space="preserve">−</m:t>
                            </m:r>
                            <m:sSub>
                              <m:e>
                                <m:r>
                                  <m:t xml:space="preserve">z</m:t>
                                </m:r>
                              </m:e>
                              <m:sub>
                                <m:r>
                                  <m:t xml:space="preserve">i</m:t>
                                </m:r>
                              </m:sub>
                            </m:sSub>
                          </m:den>
                        </m:f>
                      </m:e>
                    </m:nary>
                    <m:r>
                      <m:t xml:space="preserve">=</m:t>
                    </m:r>
                    <m:nary>
                      <m:naryPr>
                        <m:chr m:val="∑"/>
                      </m:naryPr>
                      <m:sub>
                        <m:r>
                          <m:t xml:space="preserve">j</m:t>
                        </m:r>
                        <m:r>
                          <m:t xml:space="preserve">=</m:t>
                        </m:r>
                        <m:r>
                          <m:t xml:space="preserve">1</m:t>
                        </m:r>
                      </m:sub>
                      <m:sup>
                        <m:r>
                          <m:t xml:space="preserve">n</m:t>
                        </m:r>
                      </m:sup>
                      <m:e>
                        <m:f>
                          <m:num>
                            <m:r>
                              <m:t xml:space="preserve">1</m:t>
                            </m:r>
                          </m:num>
                          <m:den>
                            <m:r>
                              <m:t xml:space="preserve">d</m:t>
                            </m:r>
                            <m:r>
                              <m:t xml:space="preserve">−</m:t>
                            </m:r>
                            <m:sSub>
                              <m:e>
                                <m:r>
                                  <m:t xml:space="preserve">p</m:t>
                                </m:r>
                              </m:e>
                              <m:sub>
                                <m:r>
                                  <m:t xml:space="preserve">j</m:t>
                                </m:r>
                              </m:sub>
                            </m:sSub>
                          </m:den>
                        </m:f>
                      </m:e>
                    </m:nary>
                  </m:oMath>
                </a14:m>
              </a:p>
            </p:txBody>
          </p:sp>
        </mc:Choice>
        <mc:Fallback>
          <p:sp>
            <p:nvSpPr>
              <p:cNvPr id="636" name="Object 105"/>
              <p:cNvSpPr txBox="1"/>
              <p:nvPr/>
            </p:nvSpPr>
            <p:spPr>
              <a:xfrm>
                <a:off x="2886120" y="2182680"/>
                <a:ext cx="3373560" cy="1135080"/>
              </a:xfrm>
              <a:prstGeom prst="rect">
                <a:avLst/>
              </a:prstGeom>
              <a:blipFill>
                <a:blip r:embed="rId1"/>
                <a:stretch>
                  <a:fillRect/>
                </a:stretch>
              </a:blipFill>
            </p:spPr>
          </p:sp>
        </mc:Fallback>
      </mc:AlternateContent>
      <p:sp>
        <p:nvSpPr>
          <p:cNvPr id="637" name="Rectangle 1092"/>
          <p:cNvSpPr/>
          <p:nvPr/>
        </p:nvSpPr>
        <p:spPr>
          <a:xfrm>
            <a:off x="542880" y="3502080"/>
            <a:ext cx="7780320" cy="55116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式中，</a:t>
            </a:r>
            <a:r>
              <a:rPr lang="en-US" sz="2400" b="1" i="1" u="none" strike="noStrike">
                <a:solidFill>
                  <a:srgbClr val="000000"/>
                </a:solidFill>
                <a:effectLst/>
                <a:uFillTx/>
                <a:latin typeface="Times New Roman"/>
              </a:rPr>
              <a:t>z i </a:t>
            </a:r>
            <a:r>
              <a:rPr lang="zh-CN"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p j </a:t>
            </a:r>
            <a:r>
              <a:rPr lang="zh-CN" sz="2400" b="1" u="none" strike="noStrike">
                <a:solidFill>
                  <a:srgbClr val="000000"/>
                </a:solidFill>
                <a:effectLst/>
                <a:uFillTx/>
                <a:latin typeface="Times New Roman"/>
              </a:rPr>
              <a:t>是系统的有限开环零点和开环极点。</a:t>
            </a:r>
            <a:endParaRPr lang="en-US" sz="2400" b="1" u="none" strike="noStrike">
              <a:solidFill>
                <a:srgbClr val="000000"/>
              </a:solidFill>
              <a:effectLst/>
              <a:uFillTx/>
              <a:latin typeface="Times New Roman"/>
            </a:endParaRPr>
          </a:p>
        </p:txBody>
      </p:sp>
      <p:sp>
        <p:nvSpPr>
          <p:cNvPr id="638" name="Text Box 1100"/>
          <p:cNvSpPr/>
          <p:nvPr/>
        </p:nvSpPr>
        <p:spPr>
          <a:xfrm>
            <a:off x="797040" y="1041480"/>
            <a:ext cx="4444920" cy="52092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Times New Roman"/>
              </a:rPr>
              <a:t>法二</a:t>
            </a:r>
            <a:r>
              <a:rPr lang="zh-CN" sz="2800" b="1" u="none" strike="noStrike">
                <a:solidFill>
                  <a:srgbClr val="000000"/>
                </a:solidFill>
                <a:effectLst/>
                <a:uFillTx/>
                <a:latin typeface="Times New Roman"/>
              </a:rPr>
              <a:t>：公式法</a:t>
            </a:r>
            <a:endParaRPr lang="en-US" sz="2800" b="1" u="none" strike="noStrike">
              <a:solidFill>
                <a:srgbClr val="000000"/>
              </a:solidFill>
              <a:effectLst/>
              <a:uFillTx/>
              <a:latin typeface="Times New Roman"/>
            </a:endParaRPr>
          </a:p>
        </p:txBody>
      </p:sp>
      <p:sp>
        <p:nvSpPr>
          <p:cNvPr id="639" name="Rectangle 1101"/>
          <p:cNvSpPr/>
          <p:nvPr/>
        </p:nvSpPr>
        <p:spPr>
          <a:xfrm>
            <a:off x="1275480" y="1562040"/>
            <a:ext cx="618840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设分离点的坐标为 </a:t>
            </a:r>
            <a:r>
              <a:rPr lang="en-US" sz="2400" b="1" i="1" u="none" strike="noStrike">
                <a:solidFill>
                  <a:srgbClr val="000000"/>
                </a:solidFill>
                <a:effectLst/>
                <a:uFillTx/>
                <a:latin typeface="Times New Roman"/>
              </a:rPr>
              <a:t>d</a:t>
            </a:r>
            <a:r>
              <a:rPr lang="zh-CN" sz="2400" b="1" i="1" u="none" strike="noStrike">
                <a:solidFill>
                  <a:srgbClr val="000000"/>
                </a:solidFill>
                <a:effectLst/>
                <a:uFillTx/>
                <a:latin typeface="Times New Roman"/>
              </a:rPr>
              <a:t>，</a:t>
            </a:r>
            <a:r>
              <a:rPr lang="zh-CN" sz="2400" b="1" u="none" strike="noStrike">
                <a:solidFill>
                  <a:srgbClr val="000000"/>
                </a:solidFill>
                <a:effectLst/>
                <a:uFillTx/>
                <a:latin typeface="Times New Roman"/>
              </a:rPr>
              <a:t>则</a:t>
            </a:r>
            <a:r>
              <a:rPr lang="en-US" sz="2400" b="1" i="1" u="none" strike="noStrike">
                <a:solidFill>
                  <a:srgbClr val="000000"/>
                </a:solidFill>
                <a:effectLst/>
                <a:uFillTx/>
                <a:latin typeface="Times New Roman"/>
              </a:rPr>
              <a:t>d </a:t>
            </a:r>
            <a:r>
              <a:rPr lang="zh-CN" sz="2400" b="1" u="none" strike="noStrike">
                <a:solidFill>
                  <a:srgbClr val="000000"/>
                </a:solidFill>
                <a:effectLst/>
                <a:uFillTx/>
                <a:latin typeface="Times New Roman"/>
              </a:rPr>
              <a:t>满足如下公式：</a:t>
            </a:r>
            <a:endParaRPr lang="en-US" sz="2400" b="1" u="none" strike="noStrike">
              <a:solidFill>
                <a:srgbClr val="000000"/>
              </a:solidFill>
              <a:effectLst/>
              <a:uFillTx/>
              <a:latin typeface="Times New Roman"/>
            </a:endParaRPr>
          </a:p>
        </p:txBody>
      </p:sp>
      <p:sp>
        <p:nvSpPr>
          <p:cNvPr id="640" name="Text Box 1102"/>
          <p:cNvSpPr/>
          <p:nvPr/>
        </p:nvSpPr>
        <p:spPr>
          <a:xfrm>
            <a:off x="7273800" y="2489040"/>
            <a:ext cx="1587600" cy="52092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Times New Roman"/>
              </a:rPr>
              <a:t>牢记！</a:t>
            </a:r>
            <a:endParaRPr lang="en-US" sz="2800" b="1" u="none" strike="noStrike">
              <a:solidFill>
                <a:srgbClr val="000000"/>
              </a:solidFill>
              <a:effectLst/>
              <a:uFillTx/>
              <a:latin typeface="Times New Roman"/>
            </a:endParaRPr>
          </a:p>
        </p:txBody>
      </p:sp>
      <p:sp>
        <p:nvSpPr>
          <p:cNvPr id="641" name=""/>
          <p:cNvSpPr txBox="1"/>
          <p:nvPr/>
        </p:nvSpPr>
        <p:spPr>
          <a:xfrm>
            <a:off x="685440" y="1981080"/>
            <a:ext cx="3809880" cy="411480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Tree>
  </p:cSld>
  <p:transition>
    <p:random/>
  </p:transition>
  <p:timing>
    <p:tnLst>
      <p:par>
        <p:cTn id="1213" dur="indefinite" restart="never" nodeType="tmRoot">
          <p:childTnLst>
            <p:seq>
              <p:cTn id="1214" dur="indefinite" nodeType="mainSeq">
                <p:childTnLst>
                  <p:par>
                    <p:cTn id="1215" fill="hold" nodeType="clickEffect">
                      <p:stCondLst>
                        <p:cond delay="indefinite"/>
                      </p:stCondLst>
                      <p:childTnLst>
                        <p:par>
                          <p:cTn id="1216" fill="hold" nodeType="withEffect">
                            <p:stCondLst>
                              <p:cond delay="0"/>
                            </p:stCondLst>
                            <p:childTnLst>
                              <p:par>
                                <p:cTn id="1217" presetID="26" presetClass="entr" fill="hold" nodeType="clickEffect">
                                  <p:stCondLst>
                                    <p:cond delay="0"/>
                                  </p:stCondLst>
                                  <p:childTnLst>
                                    <p:set>
                                      <p:cBhvr>
                                        <p:cTn id="1218" dur="1" fill="hold">
                                          <p:stCondLst>
                                            <p:cond delay="0"/>
                                          </p:stCondLst>
                                        </p:cTn>
                                        <p:tgtEl>
                                          <p:spTgt spid="638"/>
                                        </p:tgtEl>
                                        <p:attrNameLst>
                                          <p:attrName>style.visibility</p:attrName>
                                        </p:attrNameLst>
                                      </p:cBhvr>
                                      <p:to>
                                        <p:strVal val="visible"/>
                                      </p:to>
                                    </p:set>
                                    <p:animEffect transition="in" filter="wipe(down)">
                                      <p:cBhvr additive="repl">
                                        <p:cTn id="1219" dur="580">
                                          <p:stCondLst>
                                            <p:cond delay="0"/>
                                          </p:stCondLst>
                                        </p:cTn>
                                        <p:tgtEl>
                                          <p:spTgt spid="638"/>
                                        </p:tgtEl>
                                      </p:cBhvr>
                                    </p:animEffect>
                                    <p:anim calcmode="lin" valueType="num">
                                      <p:cBhvr additive="repl">
                                        <p:cTn id="1220" dur="1822">
                                          <p:stCondLst>
                                            <p:cond delay="0"/>
                                          </p:stCondLst>
                                        </p:cTn>
                                        <p:tgtEl>
                                          <p:spTgt spid="638"/>
                                        </p:tgtEl>
                                        <p:attrNameLst>
                                          <p:attrName>ppt_x</p:attrName>
                                        </p:attrNameLst>
                                      </p:cBhvr>
                                      <p:tavLst>
                                        <p:tav>
                                          <p:val>
                                            <p:strVal val="#ppt_x-0.25"/>
                                          </p:val>
                                        </p:tav>
                                        <p:tav tm="100000">
                                          <p:val>
                                            <p:strVal val="#ppt_x"/>
                                          </p:val>
                                        </p:tav>
                                      </p:tavLst>
                                    </p:anim>
                                    <p:anim calcmode="lin" valueType="num">
                                      <p:cBhvr additive="repl">
                                        <p:cTn id="1221" dur="664">
                                          <p:stCondLst>
                                            <p:cond delay="0"/>
                                          </p:stCondLst>
                                        </p:cTn>
                                        <p:tgtEl>
                                          <p:spTgt spid="638"/>
                                        </p:tgtEl>
                                        <p:attrNameLst>
                                          <p:attrName>ppt_y</p:attrName>
                                        </p:attrNameLst>
                                      </p:cBhvr>
                                      <p:tavLst>
                                        <p:tav fmla="y-sin(pi*$)/3">
                                          <p:val>
                                            <p:fltVal val="0.5"/>
                                          </p:val>
                                        </p:tav>
                                        <p:tav fmla="y-sin(pi*$)/3" tm="100000">
                                          <p:val>
                                            <p:fltVal val="1"/>
                                          </p:val>
                                        </p:tav>
                                      </p:tavLst>
                                    </p:anim>
                                    <p:anim calcmode="lin" valueType="num">
                                      <p:cBhvr additive="repl">
                                        <p:cTn id="1222" dur="664">
                                          <p:stCondLst>
                                            <p:cond delay="664"/>
                                          </p:stCondLst>
                                        </p:cTn>
                                        <p:tgtEl>
                                          <p:spTgt spid="638"/>
                                        </p:tgtEl>
                                        <p:attrNameLst>
                                          <p:attrName>ppt_y</p:attrName>
                                        </p:attrNameLst>
                                      </p:cBhvr>
                                      <p:tavLst>
                                        <p:tav fmla="y-sin(pi*$)/9">
                                          <p:val>
                                            <p:fltVal val="0"/>
                                          </p:val>
                                        </p:tav>
                                        <p:tav fmla="y-sin(pi*$)/9" tm="100000">
                                          <p:val>
                                            <p:fltVal val="1"/>
                                          </p:val>
                                        </p:tav>
                                      </p:tavLst>
                                    </p:anim>
                                    <p:anim calcmode="lin" valueType="num">
                                      <p:cBhvr additive="repl">
                                        <p:cTn id="1223" dur="332">
                                          <p:stCondLst>
                                            <p:cond delay="1324"/>
                                          </p:stCondLst>
                                        </p:cTn>
                                        <p:tgtEl>
                                          <p:spTgt spid="638"/>
                                        </p:tgtEl>
                                        <p:attrNameLst>
                                          <p:attrName>ppt_y</p:attrName>
                                        </p:attrNameLst>
                                      </p:cBhvr>
                                      <p:tavLst>
                                        <p:tav fmla="y-sin(pi*$)/27">
                                          <p:val>
                                            <p:fltVal val="0"/>
                                          </p:val>
                                        </p:tav>
                                        <p:tav fmla="y-sin(pi*$)/27" tm="100000">
                                          <p:val>
                                            <p:fltVal val="1"/>
                                          </p:val>
                                        </p:tav>
                                      </p:tavLst>
                                    </p:anim>
                                    <p:anim calcmode="lin" valueType="num">
                                      <p:cBhvr additive="repl">
                                        <p:cTn id="1224" dur="164">
                                          <p:stCondLst>
                                            <p:cond delay="1656"/>
                                          </p:stCondLst>
                                        </p:cTn>
                                        <p:tgtEl>
                                          <p:spTgt spid="638"/>
                                        </p:tgtEl>
                                        <p:attrNameLst>
                                          <p:attrName>ppt_y</p:attrName>
                                        </p:attrNameLst>
                                      </p:cBhvr>
                                      <p:tavLst>
                                        <p:tav fmla="y-sin(pi*$)/81">
                                          <p:val>
                                            <p:fltVal val="0"/>
                                          </p:val>
                                        </p:tav>
                                        <p:tav fmla="y-sin(pi*$)/81" tm="100000">
                                          <p:val>
                                            <p:fltVal val="1"/>
                                          </p:val>
                                        </p:tav>
                                      </p:tavLst>
                                    </p:anim>
                                    <p:animScale>
                                      <p:cBhvr>
                                        <p:cTn id="1225" dur="26" fill="hold">
                                          <p:stCondLst>
                                            <p:cond delay="650"/>
                                          </p:stCondLst>
                                        </p:cTn>
                                        <p:tgtEl>
                                          <p:spTgt spid="638"/>
                                        </p:tgtEl>
                                      </p:cBhvr>
                                      <p:to x="100000" y="60000"/>
                                    </p:animScale>
                                    <p:animScale>
                                      <p:cBhvr>
                                        <p:cTn id="1226" dur="166" fill="hold">
                                          <p:stCondLst>
                                            <p:cond delay="676"/>
                                          </p:stCondLst>
                                        </p:cTn>
                                        <p:tgtEl>
                                          <p:spTgt spid="638"/>
                                        </p:tgtEl>
                                      </p:cBhvr>
                                      <p:to x="100000" y="100000"/>
                                    </p:animScale>
                                    <p:animScale>
                                      <p:cBhvr>
                                        <p:cTn id="1227" dur="26" fill="hold">
                                          <p:stCondLst>
                                            <p:cond delay="1312"/>
                                          </p:stCondLst>
                                        </p:cTn>
                                        <p:tgtEl>
                                          <p:spTgt spid="638"/>
                                        </p:tgtEl>
                                      </p:cBhvr>
                                      <p:to x="100000" y="80000"/>
                                    </p:animScale>
                                    <p:animScale>
                                      <p:cBhvr>
                                        <p:cTn id="1228" dur="166" fill="hold">
                                          <p:stCondLst>
                                            <p:cond delay="1338"/>
                                          </p:stCondLst>
                                        </p:cTn>
                                        <p:tgtEl>
                                          <p:spTgt spid="638"/>
                                        </p:tgtEl>
                                      </p:cBhvr>
                                      <p:to x="100000" y="100000"/>
                                    </p:animScale>
                                    <p:animScale>
                                      <p:cBhvr>
                                        <p:cTn id="1229" dur="26" fill="hold">
                                          <p:stCondLst>
                                            <p:cond delay="1642"/>
                                          </p:stCondLst>
                                        </p:cTn>
                                        <p:tgtEl>
                                          <p:spTgt spid="638"/>
                                        </p:tgtEl>
                                      </p:cBhvr>
                                      <p:to x="100000" y="90000"/>
                                    </p:animScale>
                                    <p:animScale>
                                      <p:cBhvr>
                                        <p:cTn id="1230" dur="166" fill="hold">
                                          <p:stCondLst>
                                            <p:cond delay="1668"/>
                                          </p:stCondLst>
                                        </p:cTn>
                                        <p:tgtEl>
                                          <p:spTgt spid="638"/>
                                        </p:tgtEl>
                                      </p:cBhvr>
                                      <p:to x="100000" y="100000"/>
                                    </p:animScale>
                                    <p:animScale>
                                      <p:cBhvr>
                                        <p:cTn id="1231" dur="26" fill="hold">
                                          <p:stCondLst>
                                            <p:cond delay="1808"/>
                                          </p:stCondLst>
                                        </p:cTn>
                                        <p:tgtEl>
                                          <p:spTgt spid="638"/>
                                        </p:tgtEl>
                                      </p:cBhvr>
                                      <p:to x="100000" y="95000"/>
                                    </p:animScale>
                                    <p:animScale>
                                      <p:cBhvr>
                                        <p:cTn id="1232" dur="166" fill="hold">
                                          <p:stCondLst>
                                            <p:cond delay="1834"/>
                                          </p:stCondLst>
                                        </p:cTn>
                                        <p:tgtEl>
                                          <p:spTgt spid="638"/>
                                        </p:tgtEl>
                                      </p:cBhvr>
                                      <p:to x="100000" y="100000"/>
                                    </p:animScale>
                                  </p:childTnLst>
                                </p:cTn>
                              </p:par>
                            </p:childTnLst>
                          </p:cTn>
                        </p:par>
                      </p:childTnLst>
                    </p:cTn>
                  </p:par>
                  <p:par>
                    <p:cTn id="1233" fill="hold" nodeType="clickEffect">
                      <p:stCondLst>
                        <p:cond delay="indefinite"/>
                      </p:stCondLst>
                      <p:childTnLst>
                        <p:par>
                          <p:cTn id="1234" fill="hold" nodeType="withEffect">
                            <p:stCondLst>
                              <p:cond delay="0"/>
                            </p:stCondLst>
                            <p:childTnLst>
                              <p:par>
                                <p:cTn id="1235" presetID="23" presetClass="entr" fill="hold" nodeType="clickEffect" presetSubtype="16">
                                  <p:stCondLst>
                                    <p:cond delay="0"/>
                                  </p:stCondLst>
                                  <p:childTnLst>
                                    <p:set>
                                      <p:cBhvr>
                                        <p:cTn id="1236" dur="1" fill="hold">
                                          <p:stCondLst>
                                            <p:cond delay="0"/>
                                          </p:stCondLst>
                                        </p:cTn>
                                        <p:tgtEl>
                                          <p:spTgt spid="639"/>
                                        </p:tgtEl>
                                        <p:attrNameLst>
                                          <p:attrName>style.visibility</p:attrName>
                                        </p:attrNameLst>
                                      </p:cBhvr>
                                      <p:to>
                                        <p:strVal val="visible"/>
                                      </p:to>
                                    </p:set>
                                    <p:anim calcmode="lin" valueType="num">
                                      <p:cBhvr additive="repl">
                                        <p:cTn id="1237" dur="500" fill="hold"/>
                                        <p:tgtEl>
                                          <p:spTgt spid="639"/>
                                        </p:tgtEl>
                                        <p:attrNameLst>
                                          <p:attrName>ppt_w</p:attrName>
                                        </p:attrNameLst>
                                      </p:cBhvr>
                                      <p:tavLst>
                                        <p:tav>
                                          <p:val>
                                            <p:fltVal val="0"/>
                                          </p:val>
                                        </p:tav>
                                        <p:tav tm="100000">
                                          <p:val>
                                            <p:strVal val="#ppt_w"/>
                                          </p:val>
                                        </p:tav>
                                      </p:tavLst>
                                    </p:anim>
                                    <p:anim calcmode="lin" valueType="num">
                                      <p:cBhvr additive="repl">
                                        <p:cTn id="1238" dur="500" fill="hold"/>
                                        <p:tgtEl>
                                          <p:spTgt spid="639"/>
                                        </p:tgtEl>
                                        <p:attrNameLst>
                                          <p:attrName>ppt_h</p:attrName>
                                        </p:attrNameLst>
                                      </p:cBhvr>
                                      <p:tavLst>
                                        <p:tav>
                                          <p:val>
                                            <p:fltVal val="0"/>
                                          </p:val>
                                        </p:tav>
                                        <p:tav tm="100000">
                                          <p:val>
                                            <p:strVal val="#ppt_h"/>
                                          </p:val>
                                        </p:tav>
                                      </p:tavLst>
                                    </p:anim>
                                  </p:childTnLst>
                                </p:cTn>
                              </p:par>
                            </p:childTnLst>
                          </p:cTn>
                        </p:par>
                      </p:childTnLst>
                    </p:cTn>
                  </p:par>
                  <p:par>
                    <p:cTn id="1239" fill="hold" nodeType="clickEffect">
                      <p:stCondLst>
                        <p:cond delay="indefinite"/>
                      </p:stCondLst>
                      <p:childTnLst>
                        <p:par>
                          <p:cTn id="1240" fill="hold" nodeType="withEffect">
                            <p:stCondLst>
                              <p:cond delay="0"/>
                            </p:stCondLst>
                            <p:childTnLst>
                              <p:par>
                                <p:cTn id="1241" presetID="9" presetClass="entr" fill="hold" nodeType="clickEffect">
                                  <p:stCondLst>
                                    <p:cond delay="0"/>
                                  </p:stCondLst>
                                  <p:childTnLst>
                                    <p:set>
                                      <p:cBhvr>
                                        <p:cTn id="1242" dur="1" fill="hold">
                                          <p:stCondLst>
                                            <p:cond delay="0"/>
                                          </p:stCondLst>
                                        </p:cTn>
                                        <p:tgtEl>
                                          <p:spTgt spid="636"/>
                                        </p:tgtEl>
                                        <p:attrNameLst>
                                          <p:attrName>style.visibility</p:attrName>
                                        </p:attrNameLst>
                                      </p:cBhvr>
                                      <p:to>
                                        <p:strVal val="visible"/>
                                      </p:to>
                                    </p:set>
                                    <p:animEffect transition="in" filter="dissolve">
                                      <p:cBhvr additive="repl">
                                        <p:cTn id="1243" dur="500"/>
                                        <p:tgtEl>
                                          <p:spTgt spid="636"/>
                                        </p:tgtEl>
                                      </p:cBhvr>
                                    </p:animEffect>
                                  </p:childTnLst>
                                </p:cTn>
                              </p:par>
                            </p:childTnLst>
                          </p:cTn>
                        </p:par>
                      </p:childTnLst>
                    </p:cTn>
                  </p:par>
                  <p:par>
                    <p:cTn id="1244" fill="hold" nodeType="clickEffect">
                      <p:stCondLst>
                        <p:cond delay="indefinite"/>
                      </p:stCondLst>
                      <p:childTnLst>
                        <p:par>
                          <p:cTn id="1245" fill="hold" nodeType="withEffect">
                            <p:stCondLst>
                              <p:cond delay="0"/>
                            </p:stCondLst>
                            <p:childTnLst>
                              <p:par>
                                <p:cTn id="1246" presetID="26" presetClass="entr" fill="hold" nodeType="clickEffect">
                                  <p:stCondLst>
                                    <p:cond delay="0"/>
                                  </p:stCondLst>
                                  <p:childTnLst>
                                    <p:set>
                                      <p:cBhvr>
                                        <p:cTn id="1247" dur="1" fill="hold">
                                          <p:stCondLst>
                                            <p:cond delay="0"/>
                                          </p:stCondLst>
                                        </p:cTn>
                                        <p:tgtEl>
                                          <p:spTgt spid="640"/>
                                        </p:tgtEl>
                                        <p:attrNameLst>
                                          <p:attrName>style.visibility</p:attrName>
                                        </p:attrNameLst>
                                      </p:cBhvr>
                                      <p:to>
                                        <p:strVal val="visible"/>
                                      </p:to>
                                    </p:set>
                                    <p:animEffect transition="in" filter="wipe(down)">
                                      <p:cBhvr additive="repl">
                                        <p:cTn id="1248" dur="580">
                                          <p:stCondLst>
                                            <p:cond delay="0"/>
                                          </p:stCondLst>
                                        </p:cTn>
                                        <p:tgtEl>
                                          <p:spTgt spid="640"/>
                                        </p:tgtEl>
                                      </p:cBhvr>
                                    </p:animEffect>
                                    <p:anim calcmode="lin" valueType="num">
                                      <p:cBhvr additive="repl">
                                        <p:cTn id="1249" dur="1822">
                                          <p:stCondLst>
                                            <p:cond delay="0"/>
                                          </p:stCondLst>
                                        </p:cTn>
                                        <p:tgtEl>
                                          <p:spTgt spid="640"/>
                                        </p:tgtEl>
                                        <p:attrNameLst>
                                          <p:attrName>ppt_x</p:attrName>
                                        </p:attrNameLst>
                                      </p:cBhvr>
                                      <p:tavLst>
                                        <p:tav>
                                          <p:val>
                                            <p:strVal val="#ppt_x-0.25"/>
                                          </p:val>
                                        </p:tav>
                                        <p:tav tm="100000">
                                          <p:val>
                                            <p:strVal val="#ppt_x"/>
                                          </p:val>
                                        </p:tav>
                                      </p:tavLst>
                                    </p:anim>
                                    <p:anim calcmode="lin" valueType="num">
                                      <p:cBhvr additive="repl">
                                        <p:cTn id="1250" dur="664">
                                          <p:stCondLst>
                                            <p:cond delay="0"/>
                                          </p:stCondLst>
                                        </p:cTn>
                                        <p:tgtEl>
                                          <p:spTgt spid="640"/>
                                        </p:tgtEl>
                                        <p:attrNameLst>
                                          <p:attrName>ppt_y</p:attrName>
                                        </p:attrNameLst>
                                      </p:cBhvr>
                                      <p:tavLst>
                                        <p:tav fmla="y-sin(pi*$)/3">
                                          <p:val>
                                            <p:fltVal val="0.5"/>
                                          </p:val>
                                        </p:tav>
                                        <p:tav fmla="y-sin(pi*$)/3" tm="100000">
                                          <p:val>
                                            <p:fltVal val="1"/>
                                          </p:val>
                                        </p:tav>
                                      </p:tavLst>
                                    </p:anim>
                                    <p:anim calcmode="lin" valueType="num">
                                      <p:cBhvr additive="repl">
                                        <p:cTn id="1251" dur="664">
                                          <p:stCondLst>
                                            <p:cond delay="664"/>
                                          </p:stCondLst>
                                        </p:cTn>
                                        <p:tgtEl>
                                          <p:spTgt spid="640"/>
                                        </p:tgtEl>
                                        <p:attrNameLst>
                                          <p:attrName>ppt_y</p:attrName>
                                        </p:attrNameLst>
                                      </p:cBhvr>
                                      <p:tavLst>
                                        <p:tav fmla="y-sin(pi*$)/9">
                                          <p:val>
                                            <p:fltVal val="0"/>
                                          </p:val>
                                        </p:tav>
                                        <p:tav fmla="y-sin(pi*$)/9" tm="100000">
                                          <p:val>
                                            <p:fltVal val="1"/>
                                          </p:val>
                                        </p:tav>
                                      </p:tavLst>
                                    </p:anim>
                                    <p:anim calcmode="lin" valueType="num">
                                      <p:cBhvr additive="repl">
                                        <p:cTn id="1252" dur="332">
                                          <p:stCondLst>
                                            <p:cond delay="1324"/>
                                          </p:stCondLst>
                                        </p:cTn>
                                        <p:tgtEl>
                                          <p:spTgt spid="640"/>
                                        </p:tgtEl>
                                        <p:attrNameLst>
                                          <p:attrName>ppt_y</p:attrName>
                                        </p:attrNameLst>
                                      </p:cBhvr>
                                      <p:tavLst>
                                        <p:tav fmla="y-sin(pi*$)/27">
                                          <p:val>
                                            <p:fltVal val="0"/>
                                          </p:val>
                                        </p:tav>
                                        <p:tav fmla="y-sin(pi*$)/27" tm="100000">
                                          <p:val>
                                            <p:fltVal val="1"/>
                                          </p:val>
                                        </p:tav>
                                      </p:tavLst>
                                    </p:anim>
                                    <p:anim calcmode="lin" valueType="num">
                                      <p:cBhvr additive="repl">
                                        <p:cTn id="1253" dur="164">
                                          <p:stCondLst>
                                            <p:cond delay="1656"/>
                                          </p:stCondLst>
                                        </p:cTn>
                                        <p:tgtEl>
                                          <p:spTgt spid="640"/>
                                        </p:tgtEl>
                                        <p:attrNameLst>
                                          <p:attrName>ppt_y</p:attrName>
                                        </p:attrNameLst>
                                      </p:cBhvr>
                                      <p:tavLst>
                                        <p:tav fmla="y-sin(pi*$)/81">
                                          <p:val>
                                            <p:fltVal val="0"/>
                                          </p:val>
                                        </p:tav>
                                        <p:tav fmla="y-sin(pi*$)/81" tm="100000">
                                          <p:val>
                                            <p:fltVal val="1"/>
                                          </p:val>
                                        </p:tav>
                                      </p:tavLst>
                                    </p:anim>
                                    <p:animScale>
                                      <p:cBhvr>
                                        <p:cTn id="1254" dur="26" fill="hold">
                                          <p:stCondLst>
                                            <p:cond delay="650"/>
                                          </p:stCondLst>
                                        </p:cTn>
                                        <p:tgtEl>
                                          <p:spTgt spid="640"/>
                                        </p:tgtEl>
                                      </p:cBhvr>
                                      <p:to x="100000" y="60000"/>
                                    </p:animScale>
                                    <p:animScale>
                                      <p:cBhvr>
                                        <p:cTn id="1255" dur="166" fill="hold">
                                          <p:stCondLst>
                                            <p:cond delay="676"/>
                                          </p:stCondLst>
                                        </p:cTn>
                                        <p:tgtEl>
                                          <p:spTgt spid="640"/>
                                        </p:tgtEl>
                                      </p:cBhvr>
                                      <p:to x="100000" y="100000"/>
                                    </p:animScale>
                                    <p:animScale>
                                      <p:cBhvr>
                                        <p:cTn id="1256" dur="26" fill="hold">
                                          <p:stCondLst>
                                            <p:cond delay="1312"/>
                                          </p:stCondLst>
                                        </p:cTn>
                                        <p:tgtEl>
                                          <p:spTgt spid="640"/>
                                        </p:tgtEl>
                                      </p:cBhvr>
                                      <p:to x="100000" y="80000"/>
                                    </p:animScale>
                                    <p:animScale>
                                      <p:cBhvr>
                                        <p:cTn id="1257" dur="166" fill="hold">
                                          <p:stCondLst>
                                            <p:cond delay="1338"/>
                                          </p:stCondLst>
                                        </p:cTn>
                                        <p:tgtEl>
                                          <p:spTgt spid="640"/>
                                        </p:tgtEl>
                                      </p:cBhvr>
                                      <p:to x="100000" y="100000"/>
                                    </p:animScale>
                                    <p:animScale>
                                      <p:cBhvr>
                                        <p:cTn id="1258" dur="26" fill="hold">
                                          <p:stCondLst>
                                            <p:cond delay="1642"/>
                                          </p:stCondLst>
                                        </p:cTn>
                                        <p:tgtEl>
                                          <p:spTgt spid="640"/>
                                        </p:tgtEl>
                                      </p:cBhvr>
                                      <p:to x="100000" y="90000"/>
                                    </p:animScale>
                                    <p:animScale>
                                      <p:cBhvr>
                                        <p:cTn id="1259" dur="166" fill="hold">
                                          <p:stCondLst>
                                            <p:cond delay="1668"/>
                                          </p:stCondLst>
                                        </p:cTn>
                                        <p:tgtEl>
                                          <p:spTgt spid="640"/>
                                        </p:tgtEl>
                                      </p:cBhvr>
                                      <p:to x="100000" y="100000"/>
                                    </p:animScale>
                                    <p:animScale>
                                      <p:cBhvr>
                                        <p:cTn id="1260" dur="26" fill="hold">
                                          <p:stCondLst>
                                            <p:cond delay="1808"/>
                                          </p:stCondLst>
                                        </p:cTn>
                                        <p:tgtEl>
                                          <p:spTgt spid="640"/>
                                        </p:tgtEl>
                                      </p:cBhvr>
                                      <p:to x="100000" y="95000"/>
                                    </p:animScale>
                                    <p:animScale>
                                      <p:cBhvr>
                                        <p:cTn id="1261" dur="166" fill="hold">
                                          <p:stCondLst>
                                            <p:cond delay="1834"/>
                                          </p:stCondLst>
                                        </p:cTn>
                                        <p:tgtEl>
                                          <p:spTgt spid="640"/>
                                        </p:tgtEl>
                                      </p:cBhvr>
                                      <p:to x="100000" y="100000"/>
                                    </p:animScale>
                                  </p:childTnLst>
                                </p:cTn>
                              </p:par>
                            </p:childTnLst>
                          </p:cTn>
                        </p:par>
                      </p:childTnLst>
                    </p:cTn>
                  </p:par>
                  <p:par>
                    <p:cTn id="1262" fill="hold" nodeType="clickEffect">
                      <p:stCondLst>
                        <p:cond delay="indefinite"/>
                      </p:stCondLst>
                      <p:childTnLst>
                        <p:par>
                          <p:cTn id="1263" fill="hold" nodeType="withEffect">
                            <p:stCondLst>
                              <p:cond delay="0"/>
                            </p:stCondLst>
                            <p:childTnLst>
                              <p:par>
                                <p:cTn id="1264" presetID="12" presetClass="entr" fill="hold" nodeType="clickEffect" presetSubtype="4">
                                  <p:stCondLst>
                                    <p:cond delay="0"/>
                                  </p:stCondLst>
                                  <p:childTnLst>
                                    <p:set>
                                      <p:cBhvr>
                                        <p:cTn id="1265" dur="1" fill="hold">
                                          <p:stCondLst>
                                            <p:cond delay="0"/>
                                          </p:stCondLst>
                                        </p:cTn>
                                        <p:tgtEl>
                                          <p:spTgt spid="637"/>
                                        </p:tgtEl>
                                        <p:attrNameLst>
                                          <p:attrName>style.visibility</p:attrName>
                                        </p:attrNameLst>
                                      </p:cBhvr>
                                      <p:to>
                                        <p:strVal val="visible"/>
                                      </p:to>
                                    </p:set>
                                    <p:animEffect transition="in" filter="slide(fromBottom)">
                                      <p:cBhvr additive="repl">
                                        <p:cTn id="1266" dur="500"/>
                                        <p:tgtEl>
                                          <p:spTgt spid="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Text Box 18"/>
          <p:cNvSpPr/>
          <p:nvPr/>
        </p:nvSpPr>
        <p:spPr>
          <a:xfrm>
            <a:off x="0" y="0"/>
            <a:ext cx="5756400" cy="294732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黑体"/>
                <a:ea typeface="黑体"/>
              </a:rPr>
              <a:t>例</a:t>
            </a:r>
            <a:r>
              <a:rPr lang="en-US" sz="2800" b="1" u="none" strike="noStrike">
                <a:solidFill>
                  <a:srgbClr val="000000"/>
                </a:solidFill>
                <a:effectLst/>
                <a:uFillTx/>
                <a:latin typeface="黑体"/>
                <a:ea typeface="黑体"/>
              </a:rPr>
              <a:t>4-2</a:t>
            </a: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求例</a:t>
            </a:r>
            <a:r>
              <a:rPr lang="en-US" sz="2800" b="1" u="none" strike="noStrike">
                <a:solidFill>
                  <a:srgbClr val="000000"/>
                </a:solidFill>
                <a:effectLst/>
                <a:uFillTx/>
                <a:latin typeface="Times New Roman"/>
              </a:rPr>
              <a:t>4-1</a:t>
            </a:r>
            <a:r>
              <a:rPr lang="zh-CN" sz="2800" b="1" u="none" strike="noStrike">
                <a:solidFill>
                  <a:srgbClr val="000000"/>
                </a:solidFill>
                <a:effectLst/>
                <a:uFillTx/>
                <a:latin typeface="Times New Roman"/>
              </a:rPr>
              <a:t>系统根轨迹的分离点。       </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解：根据例</a:t>
            </a:r>
            <a:r>
              <a:rPr lang="en-US" sz="2400" b="1" u="none" strike="noStrike">
                <a:solidFill>
                  <a:srgbClr val="000000"/>
                </a:solidFill>
                <a:effectLst/>
                <a:uFillTx/>
                <a:latin typeface="Times New Roman"/>
              </a:rPr>
              <a:t>4-1</a:t>
            </a:r>
            <a:r>
              <a:rPr lang="zh-CN" sz="2400" b="1" u="none" strike="noStrike">
                <a:solidFill>
                  <a:srgbClr val="000000"/>
                </a:solidFill>
                <a:effectLst/>
                <a:uFillTx/>
                <a:latin typeface="Times New Roman"/>
              </a:rPr>
              <a:t>，系统实轴上的根轨迹段（</a:t>
            </a:r>
            <a:r>
              <a:rPr lang="zh-CN" sz="2400" b="1" i="1" u="none" strike="noStrike">
                <a:solidFill>
                  <a:srgbClr val="000000"/>
                </a:solidFill>
                <a:effectLst/>
                <a:uFillTx/>
                <a:latin typeface="Symbol"/>
                <a:ea typeface="Symbol"/>
              </a:rPr>
              <a:t></a:t>
            </a:r>
            <a:r>
              <a:rPr lang="en-US" sz="2400" b="1" u="none" strike="noStrike">
                <a:solidFill>
                  <a:srgbClr val="000000"/>
                </a:solidFill>
                <a:effectLst/>
                <a:uFillTx/>
                <a:latin typeface="Times New Roman"/>
              </a:rPr>
              <a:t>1</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rPr>
              <a:t>0</a:t>
            </a:r>
            <a:r>
              <a:rPr lang="zh-CN" sz="2400" b="1" u="none" strike="noStrike">
                <a:solidFill>
                  <a:srgbClr val="000000"/>
                </a:solidFill>
                <a:effectLst/>
                <a:uFillTx/>
                <a:latin typeface="Times New Roman"/>
              </a:rPr>
              <a:t>），位于两个开环极点之间，该轨迹段上必然存在根轨迹的分离点。设分离点的坐标为</a:t>
            </a:r>
            <a:r>
              <a:rPr lang="en-US" sz="2400" b="1" i="1" u="none" strike="noStrike">
                <a:solidFill>
                  <a:srgbClr val="000000"/>
                </a:solidFill>
                <a:effectLst/>
                <a:uFillTx/>
                <a:latin typeface="Times New Roman"/>
              </a:rPr>
              <a:t>d</a:t>
            </a:r>
            <a:r>
              <a:rPr lang="zh-CN" sz="2400" b="1" u="none" strike="noStrike">
                <a:solidFill>
                  <a:srgbClr val="000000"/>
                </a:solidFill>
                <a:effectLst/>
                <a:uFillTx/>
                <a:latin typeface="Times New Roman"/>
              </a:rPr>
              <a:t>，则</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643" name="Object 2"/>
              <p:cNvSpPr txBox="1"/>
              <p:nvPr/>
            </p:nvSpPr>
            <p:spPr>
              <a:xfrm>
                <a:off x="838080" y="2884320"/>
                <a:ext cx="3516480" cy="930600"/>
              </a:xfrm>
              <a:prstGeom prst="rect">
                <a:avLst/>
              </a:prstGeom>
            </p:spPr>
            <p:txBody>
              <a:bodyPr/>
              <a:p>
                <a14:m>
                  <m:oMath xmlns:m="http://schemas.openxmlformats.org/officeDocument/2006/math">
                    <m:f>
                      <m:num>
                        <m:r>
                          <m:t xml:space="preserve">1</m:t>
                        </m:r>
                      </m:num>
                      <m:den>
                        <m:r>
                          <m:t xml:space="preserve">d</m:t>
                        </m:r>
                        <m:r>
                          <m:t xml:space="preserve">−</m:t>
                        </m:r>
                        <m:r>
                          <m:t xml:space="preserve">0</m:t>
                        </m:r>
                      </m:den>
                    </m:f>
                    <m:r>
                      <m:t xml:space="preserve">+</m:t>
                    </m:r>
                    <m:f>
                      <m:num>
                        <m:r>
                          <m:t xml:space="preserve">1</m:t>
                        </m:r>
                      </m:num>
                      <m:den>
                        <m:r>
                          <m:t xml:space="preserve">d</m:t>
                        </m:r>
                        <m:r>
                          <m:t xml:space="preserve">+</m:t>
                        </m:r>
                        <m:r>
                          <m:t xml:space="preserve">1</m:t>
                        </m:r>
                      </m:den>
                    </m:f>
                    <m:r>
                      <m:t xml:space="preserve">+</m:t>
                    </m:r>
                    <m:f>
                      <m:num>
                        <m:r>
                          <m:t xml:space="preserve">1</m:t>
                        </m:r>
                      </m:num>
                      <m:den>
                        <m:r>
                          <m:t xml:space="preserve">d</m:t>
                        </m:r>
                        <m:r>
                          <m:t xml:space="preserve">+</m:t>
                        </m:r>
                        <m:r>
                          <m:t xml:space="preserve">5</m:t>
                        </m:r>
                      </m:den>
                    </m:f>
                    <m:r>
                      <m:t xml:space="preserve">=</m:t>
                    </m:r>
                    <m:r>
                      <m:t xml:space="preserve">0</m:t>
                    </m:r>
                  </m:oMath>
                </a14:m>
              </a:p>
            </p:txBody>
          </p:sp>
        </mc:Choice>
        <mc:Fallback>
          <p:sp>
            <p:nvSpPr>
              <p:cNvPr id="643" name="Object 2"/>
              <p:cNvSpPr txBox="1"/>
              <p:nvPr/>
            </p:nvSpPr>
            <p:spPr>
              <a:xfrm>
                <a:off x="838080" y="2884320"/>
                <a:ext cx="3516480" cy="930600"/>
              </a:xfrm>
              <a:prstGeom prst="rect">
                <a:avLst/>
              </a:prstGeom>
              <a:blipFill>
                <a:blip r:embed="rId1"/>
                <a:stretch>
                  <a:fillRect/>
                </a:stretch>
              </a:blipFill>
            </p:spPr>
          </p:sp>
        </mc:Fallback>
      </mc:AlternateContent>
      <p:sp>
        <p:nvSpPr>
          <p:cNvPr id="644" name="Text Box 15"/>
          <p:cNvSpPr/>
          <p:nvPr/>
        </p:nvSpPr>
        <p:spPr>
          <a:xfrm>
            <a:off x="0" y="3822840"/>
            <a:ext cx="5618160" cy="2129400"/>
          </a:xfrm>
          <a:prstGeom prst="rect">
            <a:avLst/>
          </a:prstGeom>
          <a:noFill/>
          <a:ln w="0">
            <a:noFill/>
          </a:ln>
        </p:spPr>
        <p:style>
          <a:lnRef idx="0"/>
          <a:fillRef idx="0"/>
          <a:effectRef idx="0"/>
          <a:fontRef idx="minor"/>
        </p:style>
        <p:txBody>
          <a:bodyPr lIns="90000" tIns="46800" rIns="90000" bIns="46800" anchor="t">
            <a:sp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3</a:t>
            </a:r>
            <a:r>
              <a:rPr lang="en-US" sz="2800" b="1" i="1" u="none" strike="noStrike">
                <a:solidFill>
                  <a:srgbClr val="000000"/>
                </a:solidFill>
                <a:effectLst/>
                <a:uFillTx/>
                <a:latin typeface="Times New Roman"/>
              </a:rPr>
              <a:t>d </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+ 12</a:t>
            </a:r>
            <a:r>
              <a:rPr lang="en-US" sz="2800" b="1" i="1" u="none" strike="noStrike">
                <a:solidFill>
                  <a:srgbClr val="000000"/>
                </a:solidFill>
                <a:effectLst/>
                <a:uFillTx/>
                <a:latin typeface="Times New Roman"/>
              </a:rPr>
              <a:t>d </a:t>
            </a:r>
            <a:r>
              <a:rPr lang="en-US" sz="2800" b="1" u="none" strike="noStrike">
                <a:solidFill>
                  <a:srgbClr val="000000"/>
                </a:solidFill>
                <a:effectLst/>
                <a:uFillTx/>
                <a:latin typeface="Times New Roman"/>
              </a:rPr>
              <a:t> + 5 = 0</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 </a:t>
            </a:r>
            <a:r>
              <a:rPr lang="en-US" sz="2400" b="1" i="1" u="none" strike="noStrike">
                <a:solidFill>
                  <a:srgbClr val="000000"/>
                </a:solidFill>
                <a:effectLst/>
                <a:uFillTx/>
                <a:latin typeface="Times New Roman"/>
              </a:rPr>
              <a:t>d</a:t>
            </a:r>
            <a:r>
              <a:rPr lang="en-US" sz="2400" b="1" u="none" strike="noStrike" baseline="-25000">
                <a:solidFill>
                  <a:srgbClr val="000000"/>
                </a:solidFill>
                <a:effectLst/>
                <a:uFillTx/>
                <a:latin typeface="Times New Roman"/>
              </a:rPr>
              <a:t>1</a:t>
            </a:r>
            <a:r>
              <a:rPr lang="en-US" sz="2400" b="1" i="1" u="none" strike="noStrike">
                <a:solidFill>
                  <a:srgbClr val="000000"/>
                </a:solidFill>
                <a:effectLst/>
                <a:uFillTx/>
                <a:latin typeface="Times New Roman"/>
              </a:rPr>
              <a:t> = </a:t>
            </a:r>
            <a:r>
              <a:rPr lang="en-US" sz="2400" b="1" i="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 </a:t>
            </a:r>
            <a:r>
              <a:rPr lang="en-US" sz="2400" b="1" u="none" strike="noStrike">
                <a:solidFill>
                  <a:srgbClr val="000000"/>
                </a:solidFill>
                <a:effectLst/>
                <a:uFillTx/>
                <a:latin typeface="Times New Roman"/>
              </a:rPr>
              <a:t>0.472</a:t>
            </a:r>
            <a:r>
              <a:rPr lang="en-US" sz="2400" b="1" i="1" u="none" strike="noStrike">
                <a:solidFill>
                  <a:srgbClr val="000000"/>
                </a:solidFill>
                <a:effectLst/>
                <a:uFillTx/>
                <a:latin typeface="Times New Roman"/>
              </a:rPr>
              <a:t>    d</a:t>
            </a:r>
            <a:r>
              <a:rPr lang="en-US" sz="2400" b="1" u="none" strike="noStrike" baseline="-25000">
                <a:solidFill>
                  <a:srgbClr val="000000"/>
                </a:solidFill>
                <a:effectLst/>
                <a:uFillTx/>
                <a:latin typeface="Times New Roman"/>
              </a:rPr>
              <a:t>2 </a:t>
            </a:r>
            <a:r>
              <a:rPr lang="en-US" sz="2400" b="1" i="1" u="none" strike="noStrike">
                <a:solidFill>
                  <a:srgbClr val="000000"/>
                </a:solidFill>
                <a:effectLst/>
                <a:uFillTx/>
                <a:latin typeface="Times New Roman"/>
              </a:rPr>
              <a:t>= </a:t>
            </a:r>
            <a:r>
              <a:rPr lang="en-US" sz="2400" b="1" i="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 </a:t>
            </a:r>
            <a:r>
              <a:rPr lang="en-US" sz="2400" b="1" u="none" strike="noStrike">
                <a:solidFill>
                  <a:srgbClr val="000000"/>
                </a:solidFill>
                <a:effectLst/>
                <a:uFillTx/>
                <a:latin typeface="Times New Roman"/>
              </a:rPr>
              <a:t>3.53(</a:t>
            </a:r>
            <a:r>
              <a:rPr lang="zh-CN" sz="2400" b="1" u="none" strike="noStrike">
                <a:solidFill>
                  <a:srgbClr val="FF0000"/>
                </a:solidFill>
                <a:effectLst/>
                <a:uFillTx/>
                <a:latin typeface="黑体"/>
                <a:ea typeface="黑体"/>
              </a:rPr>
              <a:t>不在根轨迹上，舍去，也可代入幅值方程看</a:t>
            </a:r>
            <a:r>
              <a:rPr lang="en-US" sz="2400" b="1" u="none" strike="noStrike">
                <a:solidFill>
                  <a:srgbClr val="FF0000"/>
                </a:solidFill>
                <a:effectLst/>
                <a:uFillTx/>
                <a:latin typeface="黑体"/>
                <a:ea typeface="黑体"/>
              </a:rPr>
              <a:t>Kg&gt;0</a:t>
            </a:r>
            <a:r>
              <a:rPr lang="zh-CN" sz="2400" b="1" u="none" strike="noStrike">
                <a:solidFill>
                  <a:srgbClr val="FF0000"/>
                </a:solidFill>
                <a:effectLst/>
                <a:uFillTx/>
                <a:latin typeface="黑体"/>
                <a:ea typeface="黑体"/>
              </a:rPr>
              <a:t>否？</a:t>
            </a: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分离点上根轨迹的分离角为</a:t>
            </a:r>
            <a:r>
              <a:rPr lang="en-US" sz="2400" b="1" u="none" strike="noStrike">
                <a:solidFill>
                  <a:srgbClr val="000000"/>
                </a:solidFill>
                <a:effectLst/>
                <a:uFillTx/>
                <a:latin typeface="Times New Roman"/>
              </a:rPr>
              <a:t>±90°</a:t>
            </a:r>
            <a:r>
              <a:rPr lang="zh-CN"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grpSp>
        <p:nvGrpSpPr>
          <p:cNvPr id="645" name="Group 94"/>
          <p:cNvGrpSpPr/>
          <p:nvPr/>
        </p:nvGrpSpPr>
        <p:grpSpPr>
          <a:xfrm>
            <a:off x="4718160" y="1627200"/>
            <a:ext cx="4123440" cy="4328280"/>
            <a:chOff x="4718160" y="1627200"/>
            <a:chExt cx="4123440" cy="4328280"/>
          </a:xfrm>
        </p:grpSpPr>
        <p:grpSp>
          <p:nvGrpSpPr>
            <p:cNvPr id="646" name="Group 80"/>
            <p:cNvGrpSpPr/>
            <p:nvPr/>
          </p:nvGrpSpPr>
          <p:grpSpPr>
            <a:xfrm>
              <a:off x="5259240" y="1764720"/>
              <a:ext cx="3582360" cy="4190760"/>
              <a:chOff x="5259240" y="1764720"/>
              <a:chExt cx="3582360" cy="4190760"/>
            </a:xfrm>
          </p:grpSpPr>
          <p:sp>
            <p:nvSpPr>
              <p:cNvPr id="647" name="Line 20"/>
              <p:cNvSpPr/>
              <p:nvPr/>
            </p:nvSpPr>
            <p:spPr>
              <a:xfrm flipV="1">
                <a:off x="8005320" y="1764720"/>
                <a:ext cx="0" cy="419076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48" name="Rectangle 21"/>
              <p:cNvSpPr/>
              <p:nvPr/>
            </p:nvSpPr>
            <p:spPr>
              <a:xfrm>
                <a:off x="8440560" y="3710880"/>
                <a:ext cx="40104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649" name="Rectangle 22"/>
              <p:cNvSpPr/>
              <p:nvPr/>
            </p:nvSpPr>
            <p:spPr>
              <a:xfrm>
                <a:off x="7892640" y="406188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650" name="Line 23"/>
              <p:cNvSpPr/>
              <p:nvPr/>
            </p:nvSpPr>
            <p:spPr>
              <a:xfrm>
                <a:off x="5259240" y="4009320"/>
                <a:ext cx="3213000" cy="1440"/>
              </a:xfrm>
              <a:prstGeom prst="line">
                <a:avLst/>
              </a:prstGeom>
              <a:ln cap="sq" w="57240">
                <a:solidFill>
                  <a:srgbClr val="0000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651" name="Line 24"/>
              <p:cNvSpPr/>
              <p:nvPr/>
            </p:nvSpPr>
            <p:spPr>
              <a:xfrm>
                <a:off x="7542000" y="3923640"/>
                <a:ext cx="0" cy="155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2" name="Line 25"/>
              <p:cNvSpPr/>
              <p:nvPr/>
            </p:nvSpPr>
            <p:spPr>
              <a:xfrm>
                <a:off x="7041960" y="3906360"/>
                <a:ext cx="1080" cy="155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3" name="Line 26"/>
              <p:cNvSpPr/>
              <p:nvPr/>
            </p:nvSpPr>
            <p:spPr>
              <a:xfrm>
                <a:off x="7041960" y="3923640"/>
                <a:ext cx="1080" cy="155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4" name="Line 27"/>
              <p:cNvSpPr/>
              <p:nvPr/>
            </p:nvSpPr>
            <p:spPr>
              <a:xfrm>
                <a:off x="6544800" y="3906360"/>
                <a:ext cx="0" cy="155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5" name="Line 28"/>
              <p:cNvSpPr/>
              <p:nvPr/>
            </p:nvSpPr>
            <p:spPr>
              <a:xfrm>
                <a:off x="6046560" y="3923640"/>
                <a:ext cx="1080" cy="155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6" name="Line 29"/>
              <p:cNvSpPr/>
              <p:nvPr/>
            </p:nvSpPr>
            <p:spPr>
              <a:xfrm>
                <a:off x="6046560" y="3906360"/>
                <a:ext cx="1080" cy="1551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7" name="Line 30"/>
              <p:cNvSpPr/>
              <p:nvPr/>
            </p:nvSpPr>
            <p:spPr>
              <a:xfrm>
                <a:off x="5549400" y="3872880"/>
                <a:ext cx="0" cy="1886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58" name="Line 31"/>
              <p:cNvSpPr/>
              <p:nvPr/>
            </p:nvSpPr>
            <p:spPr>
              <a:xfrm flipV="1">
                <a:off x="7921440" y="5056560"/>
                <a:ext cx="14544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659" name="Line 32"/>
              <p:cNvSpPr/>
              <p:nvPr/>
            </p:nvSpPr>
            <p:spPr>
              <a:xfrm flipV="1">
                <a:off x="7934040" y="4567680"/>
                <a:ext cx="145800" cy="4320"/>
              </a:xfrm>
              <a:prstGeom prst="line">
                <a:avLst/>
              </a:prstGeom>
              <a:ln w="57240">
                <a:solidFill>
                  <a:srgbClr val="000000"/>
                </a:solidFill>
                <a:miter/>
              </a:ln>
            </p:spPr>
            <p:style>
              <a:lnRef idx="0"/>
              <a:fillRef idx="0"/>
              <a:effectRef idx="0"/>
              <a:fontRef idx="minor"/>
            </p:style>
            <p:txBody>
              <a:bodyPr lIns="90000" tIns="-42480" rIns="90000" bIns="-42480" anchor="t">
                <a:noAutofit/>
              </a:bodyPr>
              <a:p>
                <a:endParaRPr lang="en-US" sz="2800" b="1" u="none" strike="noStrike">
                  <a:solidFill>
                    <a:srgbClr val="000000"/>
                  </a:solidFill>
                  <a:effectLst/>
                  <a:uFillTx/>
                  <a:latin typeface="Times New Roman"/>
                </a:endParaRPr>
              </a:p>
            </p:txBody>
          </p:sp>
          <p:sp>
            <p:nvSpPr>
              <p:cNvPr id="660" name="Line 33"/>
              <p:cNvSpPr/>
              <p:nvPr/>
            </p:nvSpPr>
            <p:spPr>
              <a:xfrm flipV="1">
                <a:off x="7941960" y="2916360"/>
                <a:ext cx="14400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sp>
            <p:nvSpPr>
              <p:cNvPr id="661" name="Line 34"/>
              <p:cNvSpPr/>
              <p:nvPr/>
            </p:nvSpPr>
            <p:spPr>
              <a:xfrm flipV="1">
                <a:off x="7938720" y="3457800"/>
                <a:ext cx="14400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grpSp>
        <p:sp>
          <p:nvSpPr>
            <p:cNvPr id="662" name="Rectangle 35"/>
            <p:cNvSpPr/>
            <p:nvPr/>
          </p:nvSpPr>
          <p:spPr>
            <a:xfrm>
              <a:off x="8142120" y="1627200"/>
              <a:ext cx="50904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663" name="Line 45"/>
            <p:cNvSpPr/>
            <p:nvPr/>
          </p:nvSpPr>
          <p:spPr>
            <a:xfrm flipV="1">
              <a:off x="7046640" y="2104920"/>
              <a:ext cx="1055520" cy="190944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64" name="Line 46"/>
            <p:cNvSpPr/>
            <p:nvPr/>
          </p:nvSpPr>
          <p:spPr>
            <a:xfrm>
              <a:off x="7059600" y="4027320"/>
              <a:ext cx="1051920" cy="190296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65" name="Line 47"/>
            <p:cNvSpPr/>
            <p:nvPr/>
          </p:nvSpPr>
          <p:spPr>
            <a:xfrm>
              <a:off x="7540560" y="4014720"/>
              <a:ext cx="45684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66" name="Line 48"/>
            <p:cNvSpPr/>
            <p:nvPr/>
          </p:nvSpPr>
          <p:spPr>
            <a:xfrm>
              <a:off x="4718160" y="4000320"/>
              <a:ext cx="853920" cy="0"/>
            </a:xfrm>
            <a:prstGeom prst="line">
              <a:avLst/>
            </a:prstGeom>
            <a:ln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667" name="Group 82"/>
            <p:cNvGrpSpPr/>
            <p:nvPr/>
          </p:nvGrpSpPr>
          <p:grpSpPr>
            <a:xfrm>
              <a:off x="5408280" y="3844800"/>
              <a:ext cx="286920" cy="289800"/>
              <a:chOff x="5408280" y="3844800"/>
              <a:chExt cx="286920" cy="289800"/>
            </a:xfrm>
          </p:grpSpPr>
          <p:sp>
            <p:nvSpPr>
              <p:cNvPr id="668" name="Line 83"/>
              <p:cNvSpPr/>
              <p:nvPr/>
            </p:nvSpPr>
            <p:spPr>
              <a:xfrm>
                <a:off x="5411520" y="3852360"/>
                <a:ext cx="282240" cy="2822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69" name="Line 84"/>
              <p:cNvSpPr/>
              <p:nvPr/>
            </p:nvSpPr>
            <p:spPr>
              <a:xfrm flipH="1">
                <a:off x="5408280" y="3844800"/>
                <a:ext cx="286920" cy="28692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670" name="Group 85"/>
            <p:cNvGrpSpPr/>
            <p:nvPr/>
          </p:nvGrpSpPr>
          <p:grpSpPr>
            <a:xfrm>
              <a:off x="7865640" y="3846240"/>
              <a:ext cx="286920" cy="289800"/>
              <a:chOff x="7865640" y="3846240"/>
              <a:chExt cx="286920" cy="289800"/>
            </a:xfrm>
          </p:grpSpPr>
          <p:sp>
            <p:nvSpPr>
              <p:cNvPr id="671" name="Line 86"/>
              <p:cNvSpPr/>
              <p:nvPr/>
            </p:nvSpPr>
            <p:spPr>
              <a:xfrm>
                <a:off x="7868880" y="3853800"/>
                <a:ext cx="282240" cy="2822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72" name="Line 87"/>
              <p:cNvSpPr/>
              <p:nvPr/>
            </p:nvSpPr>
            <p:spPr>
              <a:xfrm flipH="1">
                <a:off x="7865640" y="3846240"/>
                <a:ext cx="286920" cy="28692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673" name="Group 88"/>
            <p:cNvGrpSpPr/>
            <p:nvPr/>
          </p:nvGrpSpPr>
          <p:grpSpPr>
            <a:xfrm>
              <a:off x="7414920" y="3846240"/>
              <a:ext cx="287280" cy="289800"/>
              <a:chOff x="7414920" y="3846240"/>
              <a:chExt cx="287280" cy="289800"/>
            </a:xfrm>
          </p:grpSpPr>
          <p:sp>
            <p:nvSpPr>
              <p:cNvPr id="674" name="Line 89"/>
              <p:cNvSpPr/>
              <p:nvPr/>
            </p:nvSpPr>
            <p:spPr>
              <a:xfrm>
                <a:off x="7418160" y="3853800"/>
                <a:ext cx="282600" cy="28224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75" name="Line 90"/>
              <p:cNvSpPr/>
              <p:nvPr/>
            </p:nvSpPr>
            <p:spPr>
              <a:xfrm flipH="1">
                <a:off x="7414920" y="3846240"/>
                <a:ext cx="287280" cy="28692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sp>
        <p:nvSpPr>
          <p:cNvPr id="676" name="Line 95"/>
          <p:cNvSpPr/>
          <p:nvPr/>
        </p:nvSpPr>
        <p:spPr>
          <a:xfrm>
            <a:off x="7808760" y="3846600"/>
            <a:ext cx="0" cy="261720"/>
          </a:xfrm>
          <a:prstGeom prst="line">
            <a:avLst/>
          </a:prstGeom>
          <a:ln w="76320">
            <a:solidFill>
              <a:srgbClr val="4584D3"/>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77" name="Text Box 96"/>
          <p:cNvSpPr/>
          <p:nvPr/>
        </p:nvSpPr>
        <p:spPr>
          <a:xfrm>
            <a:off x="0" y="6086520"/>
            <a:ext cx="9144000" cy="691560"/>
          </a:xfrm>
          <a:prstGeom prst="rect">
            <a:avLst/>
          </a:prstGeom>
          <a:noFill/>
          <a:ln w="0">
            <a:noFill/>
          </a:ln>
        </p:spPr>
        <p:style>
          <a:lnRef idx="0"/>
          <a:fillRef idx="0"/>
          <a:effectRef idx="0"/>
          <a:fontRef idx="minor"/>
        </p:style>
        <p:txBody>
          <a:bodyPr lIns="90000" tIns="46800" rIns="90000" bIns="46800" anchor="t">
            <a:sp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如果方程的阶次高时，可用</a:t>
            </a:r>
            <a:r>
              <a:rPr lang="zh-CN" sz="2800" b="1" u="none" strike="noStrike">
                <a:solidFill>
                  <a:srgbClr val="000066"/>
                </a:solidFill>
                <a:effectLst/>
                <a:uFillTx/>
                <a:latin typeface="Times New Roman"/>
                <a:ea typeface="黑体"/>
              </a:rPr>
              <a:t>试探法</a:t>
            </a:r>
            <a:r>
              <a:rPr lang="zh-CN" sz="2800" b="1" u="none" strike="noStrike">
                <a:solidFill>
                  <a:srgbClr val="000000"/>
                </a:solidFill>
                <a:effectLst/>
                <a:uFillTx/>
                <a:latin typeface="Times New Roman"/>
              </a:rPr>
              <a:t>确定分离点。</a:t>
            </a:r>
            <a:endParaRPr lang="en-US" sz="2800" b="1" u="none" strike="noStrike">
              <a:solidFill>
                <a:srgbClr val="000000"/>
              </a:solidFill>
              <a:effectLst/>
              <a:uFillTx/>
              <a:latin typeface="Times New Roman"/>
            </a:endParaRPr>
          </a:p>
        </p:txBody>
      </p:sp>
      <p:sp>
        <p:nvSpPr>
          <p:cNvPr id="678" name="Line 98"/>
          <p:cNvSpPr/>
          <p:nvPr/>
        </p:nvSpPr>
        <p:spPr>
          <a:xfrm flipH="1">
            <a:off x="6835680" y="4078440"/>
            <a:ext cx="959040" cy="100152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79" name="Rectangle 99"/>
          <p:cNvSpPr/>
          <p:nvPr/>
        </p:nvSpPr>
        <p:spPr>
          <a:xfrm>
            <a:off x="5798520" y="5102280"/>
            <a:ext cx="16772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d</a:t>
            </a:r>
            <a:r>
              <a:rPr lang="en-US" sz="2400" b="1" u="none" strike="noStrike" baseline="-25000">
                <a:solidFill>
                  <a:srgbClr val="000000"/>
                </a:solidFill>
                <a:effectLst/>
                <a:uFillTx/>
                <a:latin typeface="Times New Roman"/>
              </a:rPr>
              <a:t>1</a:t>
            </a:r>
            <a:r>
              <a:rPr lang="en-US" sz="2400" b="1" i="1" u="none" strike="noStrike">
                <a:solidFill>
                  <a:srgbClr val="000000"/>
                </a:solidFill>
                <a:effectLst/>
                <a:uFillTx/>
                <a:latin typeface="Times New Roman"/>
              </a:rPr>
              <a:t> = </a:t>
            </a:r>
            <a:r>
              <a:rPr lang="en-US" sz="2400" b="1" i="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 </a:t>
            </a:r>
            <a:r>
              <a:rPr lang="en-US" sz="2400" b="1" u="none" strike="noStrike">
                <a:solidFill>
                  <a:srgbClr val="000000"/>
                </a:solidFill>
                <a:effectLst/>
                <a:uFillTx/>
                <a:latin typeface="Times New Roman"/>
              </a:rPr>
              <a:t>0.472</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680" name="Object 3"/>
              <p:cNvSpPr txBox="1"/>
              <p:nvPr/>
            </p:nvSpPr>
            <p:spPr>
              <a:xfrm>
                <a:off x="5808600" y="0"/>
                <a:ext cx="3202200" cy="1000080"/>
              </a:xfrm>
              <a:prstGeom prst="rect">
                <a:avLst/>
              </a:prstGeom>
            </p:spPr>
            <p:txBody>
              <a:bodyPr/>
              <a:p>
                <a14:m>
                  <m:oMath xmlns:m="http://schemas.openxmlformats.org/officeDocument/2006/math">
                    <m:sSub>
                      <m:e>
                        <m:r>
                          <m:t xml:space="preserve">G</m:t>
                        </m:r>
                      </m:e>
                      <m:sub>
                        <m:r>
                          <m:t xml:space="preserve">k</m:t>
                        </m:r>
                      </m:sub>
                    </m:sSub>
                    <m:r>
                      <m:t xml:space="preserve">(</m:t>
                    </m:r>
                    <m:r>
                      <m:t xml:space="preserve">s</m:t>
                    </m:r>
                    <m:r>
                      <m:t xml:space="preserve">)</m:t>
                    </m:r>
                    <m:r>
                      <m:t xml:space="preserve">=</m:t>
                    </m:r>
                    <m:f>
                      <m:num>
                        <m:sSub>
                          <m:e>
                            <m:r>
                              <m:t xml:space="preserve">K</m:t>
                            </m:r>
                          </m:e>
                          <m:sub>
                            <m:r>
                              <m:t xml:space="preserve">g</m:t>
                            </m:r>
                          </m:sub>
                        </m:sSub>
                      </m:num>
                      <m:den>
                        <m:r>
                          <m:t xml:space="preserve">s</m:t>
                        </m:r>
                        <m:r>
                          <m:t xml:space="preserve">(</m:t>
                        </m:r>
                        <m:r>
                          <m:t xml:space="preserve">s</m:t>
                        </m:r>
                        <m:r>
                          <m:t xml:space="preserve">+</m:t>
                        </m:r>
                        <m:r>
                          <m:t xml:space="preserve">1</m:t>
                        </m:r>
                        <m:r>
                          <m:t xml:space="preserve">)</m:t>
                        </m:r>
                        <m:r>
                          <m:t xml:space="preserve">(</m:t>
                        </m:r>
                        <m:r>
                          <m:t xml:space="preserve">s</m:t>
                        </m:r>
                        <m:r>
                          <m:t xml:space="preserve">+</m:t>
                        </m:r>
                        <m:r>
                          <m:t xml:space="preserve">5</m:t>
                        </m:r>
                        <m:r>
                          <m:t xml:space="preserve">)</m:t>
                        </m:r>
                      </m:den>
                    </m:f>
                  </m:oMath>
                </a14:m>
              </a:p>
            </p:txBody>
          </p:sp>
        </mc:Choice>
        <mc:Fallback>
          <p:sp>
            <p:nvSpPr>
              <p:cNvPr id="680" name="Object 3"/>
              <p:cNvSpPr txBox="1"/>
              <p:nvPr/>
            </p:nvSpPr>
            <p:spPr>
              <a:xfrm>
                <a:off x="5808600" y="0"/>
                <a:ext cx="3202200" cy="1000080"/>
              </a:xfrm>
              <a:prstGeom prst="rect">
                <a:avLst/>
              </a:prstGeom>
              <a:blipFill>
                <a:blip r:embed="rId2"/>
                <a:stretch>
                  <a:fillRect/>
                </a:stretch>
              </a:blipFill>
            </p:spPr>
          </p:sp>
        </mc:Fallback>
      </mc:AlternateContent>
      <mc:AlternateContent>
        <mc:Choice xmlns:a14="http://schemas.microsoft.com/office/drawing/2010/main" Requires="a14">
          <p:sp>
            <p:nvSpPr>
              <p:cNvPr id="681" name="Object 4"/>
              <p:cNvSpPr txBox="1"/>
              <p:nvPr/>
            </p:nvSpPr>
            <p:spPr>
              <a:xfrm>
                <a:off x="1441440" y="5892840"/>
                <a:ext cx="1424160" cy="396720"/>
              </a:xfrm>
              <a:prstGeom prst="rect">
                <a:avLst/>
              </a:prstGeom>
            </p:spPr>
            <p:txBody>
              <a:bodyPr/>
              <a:p>
                <a14:m>
                  <m:oMath xmlns:m="http://schemas.openxmlformats.org/officeDocument/2006/math">
                    <m:sSub>
                      <m:e>
                        <m:r>
                          <m:t xml:space="preserve">θ</m:t>
                        </m:r>
                      </m:e>
                      <m:sub>
                        <m:r>
                          <m:t xml:space="preserve">d</m:t>
                        </m:r>
                      </m:sub>
                    </m:sSub>
                    <m:r>
                      <m:t xml:space="preserve">=</m:t>
                    </m:r>
                    <m:f>
                      <m:fPr>
                        <m:type m:val="lin"/>
                      </m:fPr>
                      <m:num>
                        <m:r>
                          <m:t xml:space="preserve">±</m:t>
                        </m:r>
                        <m:sSup>
                          <m:e>
                            <m:r>
                              <m:rPr>
                                <m:lit/>
                                <m:nor/>
                              </m:rPr>
                              <m:t xml:space="preserve">180</m:t>
                            </m:r>
                          </m:e>
                          <m:sup>
                            <m:r>
                              <m:t xml:space="preserve">∘</m:t>
                            </m:r>
                          </m:sup>
                        </m:sSup>
                      </m:num>
                      <m:den>
                        <m:r>
                          <m:t xml:space="preserve">k</m:t>
                        </m:r>
                      </m:den>
                    </m:f>
                  </m:oMath>
                </a14:m>
              </a:p>
            </p:txBody>
          </p:sp>
        </mc:Choice>
        <mc:Fallback>
          <p:sp>
            <p:nvSpPr>
              <p:cNvPr id="681" name="Object 4"/>
              <p:cNvSpPr txBox="1"/>
              <p:nvPr/>
            </p:nvSpPr>
            <p:spPr>
              <a:xfrm>
                <a:off x="1441440" y="5892840"/>
                <a:ext cx="1424160" cy="396720"/>
              </a:xfrm>
              <a:prstGeom prst="rect">
                <a:avLst/>
              </a:prstGeom>
              <a:blipFill>
                <a:blip r:embed="rId3"/>
                <a:stretch>
                  <a:fillRect/>
                </a:stretch>
              </a:blipFill>
            </p:spPr>
          </p:sp>
        </mc:Fallback>
      </mc:AlternateContent>
    </p:spTree>
  </p:cSld>
  <mc:AlternateContent>
    <mc:Choice Requires="p14">
      <p:transition spd="slow" p14:dur="2000"/>
    </mc:Choice>
    <mc:Fallback>
      <p:transition spd="slow"/>
    </mc:Fallback>
  </mc:AlternateContent>
  <p:timing>
    <p:tnLst>
      <p:par>
        <p:cTn id="1267" dur="indefinite" restart="never" nodeType="tmRoot">
          <p:childTnLst>
            <p:seq>
              <p:cTn id="1268" dur="indefinite" nodeType="mainSeq">
                <p:childTnLst>
                  <p:par>
                    <p:cTn id="1269" fill="hold" nodeType="clickEffect">
                      <p:stCondLst>
                        <p:cond delay="indefinite"/>
                      </p:stCondLst>
                      <p:childTnLst>
                        <p:par>
                          <p:cTn id="1270" fill="hold" nodeType="withEffect">
                            <p:stCondLst>
                              <p:cond delay="0"/>
                            </p:stCondLst>
                            <p:childTnLst>
                              <p:par>
                                <p:cTn id="1271" presetID="3" presetClass="entr" fill="hold" nodeType="clickEffect" presetSubtype="10">
                                  <p:stCondLst>
                                    <p:cond delay="0"/>
                                  </p:stCondLst>
                                  <p:childTnLst>
                                    <p:set>
                                      <p:cBhvr>
                                        <p:cTn id="1272" dur="1" fill="hold">
                                          <p:stCondLst>
                                            <p:cond delay="0"/>
                                          </p:stCondLst>
                                        </p:cTn>
                                        <p:tgtEl>
                                          <p:spTgt spid="642">
                                            <p:txEl>
                                              <p:pRg st="0" end="0"/>
                                            </p:txEl>
                                          </p:spTgt>
                                        </p:tgtEl>
                                        <p:attrNameLst>
                                          <p:attrName>style.visibility</p:attrName>
                                        </p:attrNameLst>
                                      </p:cBhvr>
                                      <p:to>
                                        <p:strVal val="visible"/>
                                      </p:to>
                                    </p:set>
                                    <p:animEffect transition="in" filter="blinds(horizontal)">
                                      <p:cBhvr additive="repl">
                                        <p:cTn id="1273" dur="500"/>
                                        <p:tgtEl>
                                          <p:spTgt spid="642">
                                            <p:txEl>
                                              <p:pRg st="0" end="0"/>
                                            </p:txEl>
                                          </p:spTgt>
                                        </p:tgtEl>
                                      </p:cBhvr>
                                    </p:animEffect>
                                  </p:childTnLst>
                                </p:cTn>
                              </p:par>
                            </p:childTnLst>
                          </p:cTn>
                        </p:par>
                      </p:childTnLst>
                    </p:cTn>
                  </p:par>
                  <p:par>
                    <p:cTn id="1274" fill="hold" nodeType="clickEffect">
                      <p:stCondLst>
                        <p:cond delay="indefinite"/>
                      </p:stCondLst>
                      <p:childTnLst>
                        <p:par>
                          <p:cTn id="1275" fill="hold" nodeType="withEffect">
                            <p:stCondLst>
                              <p:cond delay="0"/>
                            </p:stCondLst>
                            <p:childTnLst>
                              <p:par>
                                <p:cTn id="1276" presetID="3" presetClass="entr" fill="hold" nodeType="clickEffect" presetSubtype="10">
                                  <p:stCondLst>
                                    <p:cond delay="0"/>
                                  </p:stCondLst>
                                  <p:childTnLst>
                                    <p:set>
                                      <p:cBhvr>
                                        <p:cTn id="1277" dur="1" fill="hold">
                                          <p:stCondLst>
                                            <p:cond delay="0"/>
                                          </p:stCondLst>
                                        </p:cTn>
                                        <p:tgtEl>
                                          <p:spTgt spid="642">
                                            <p:txEl>
                                              <p:pRg st="1" end="1"/>
                                            </p:txEl>
                                          </p:spTgt>
                                        </p:tgtEl>
                                        <p:attrNameLst>
                                          <p:attrName>style.visibility</p:attrName>
                                        </p:attrNameLst>
                                      </p:cBhvr>
                                      <p:to>
                                        <p:strVal val="visible"/>
                                      </p:to>
                                    </p:set>
                                    <p:animEffect transition="in" filter="blinds(horizontal)">
                                      <p:cBhvr additive="repl">
                                        <p:cTn id="1278" dur="500"/>
                                        <p:tgtEl>
                                          <p:spTgt spid="642">
                                            <p:txEl>
                                              <p:pRg st="1" end="1"/>
                                            </p:txEl>
                                          </p:spTgt>
                                        </p:tgtEl>
                                      </p:cBhvr>
                                    </p:animEffect>
                                  </p:childTnLst>
                                </p:cTn>
                              </p:par>
                            </p:childTnLst>
                          </p:cTn>
                        </p:par>
                      </p:childTnLst>
                    </p:cTn>
                  </p:par>
                  <p:par>
                    <p:cTn id="1279" fill="hold" nodeType="clickEffect">
                      <p:stCondLst>
                        <p:cond delay="indefinite"/>
                      </p:stCondLst>
                      <p:childTnLst>
                        <p:par>
                          <p:cTn id="1280" fill="hold" nodeType="withEffect">
                            <p:stCondLst>
                              <p:cond delay="0"/>
                            </p:stCondLst>
                            <p:childTnLst>
                              <p:par>
                                <p:cTn id="1281" presetID="9" presetClass="entr" fill="hold" nodeType="clickEffect">
                                  <p:stCondLst>
                                    <p:cond delay="0"/>
                                  </p:stCondLst>
                                  <p:childTnLst>
                                    <p:set>
                                      <p:cBhvr>
                                        <p:cTn id="1282" dur="1" fill="hold">
                                          <p:stCondLst>
                                            <p:cond delay="0"/>
                                          </p:stCondLst>
                                        </p:cTn>
                                        <p:tgtEl>
                                          <p:spTgt spid="645"/>
                                        </p:tgtEl>
                                        <p:attrNameLst>
                                          <p:attrName>style.visibility</p:attrName>
                                        </p:attrNameLst>
                                      </p:cBhvr>
                                      <p:to>
                                        <p:strVal val="visible"/>
                                      </p:to>
                                    </p:set>
                                    <p:animEffect transition="in" filter="dissolve">
                                      <p:cBhvr additive="repl">
                                        <p:cTn id="1283" dur="500"/>
                                        <p:tgtEl>
                                          <p:spTgt spid="645"/>
                                        </p:tgtEl>
                                      </p:cBhvr>
                                    </p:animEffect>
                                  </p:childTnLst>
                                </p:cTn>
                              </p:par>
                            </p:childTnLst>
                          </p:cTn>
                        </p:par>
                      </p:childTnLst>
                    </p:cTn>
                  </p:par>
                  <p:par>
                    <p:cTn id="1284" fill="hold" nodeType="clickEffect">
                      <p:stCondLst>
                        <p:cond delay="indefinite"/>
                      </p:stCondLst>
                      <p:childTnLst>
                        <p:par>
                          <p:cTn id="1285" fill="hold" nodeType="withEffect">
                            <p:stCondLst>
                              <p:cond delay="0"/>
                            </p:stCondLst>
                            <p:childTnLst>
                              <p:par>
                                <p:cTn id="1286" presetID="9" presetClass="entr" fill="hold" nodeType="clickEffect">
                                  <p:stCondLst>
                                    <p:cond delay="0"/>
                                  </p:stCondLst>
                                  <p:childTnLst>
                                    <p:set>
                                      <p:cBhvr>
                                        <p:cTn id="1287" dur="1" fill="hold">
                                          <p:stCondLst>
                                            <p:cond delay="0"/>
                                          </p:stCondLst>
                                        </p:cTn>
                                        <p:tgtEl>
                                          <p:spTgt spid="643"/>
                                        </p:tgtEl>
                                        <p:attrNameLst>
                                          <p:attrName>style.visibility</p:attrName>
                                        </p:attrNameLst>
                                      </p:cBhvr>
                                      <p:to>
                                        <p:strVal val="visible"/>
                                      </p:to>
                                    </p:set>
                                    <p:animEffect transition="in" filter="dissolve">
                                      <p:cBhvr additive="repl">
                                        <p:cTn id="1288" dur="500"/>
                                        <p:tgtEl>
                                          <p:spTgt spid="643"/>
                                        </p:tgtEl>
                                      </p:cBhvr>
                                    </p:animEffect>
                                  </p:childTnLst>
                                </p:cTn>
                              </p:par>
                            </p:childTnLst>
                          </p:cTn>
                        </p:par>
                      </p:childTnLst>
                    </p:cTn>
                  </p:par>
                  <p:par>
                    <p:cTn id="1289" fill="hold" nodeType="clickEffect">
                      <p:stCondLst>
                        <p:cond delay="indefinite"/>
                      </p:stCondLst>
                      <p:childTnLst>
                        <p:par>
                          <p:cTn id="1290" fill="hold" nodeType="withEffect">
                            <p:stCondLst>
                              <p:cond delay="0"/>
                            </p:stCondLst>
                            <p:childTnLst>
                              <p:par>
                                <p:cTn id="1291" presetID="3" presetClass="entr" fill="hold" nodeType="clickEffect" presetSubtype="10">
                                  <p:stCondLst>
                                    <p:cond delay="0"/>
                                  </p:stCondLst>
                                  <p:childTnLst>
                                    <p:set>
                                      <p:cBhvr>
                                        <p:cTn id="1292" dur="1" fill="hold">
                                          <p:stCondLst>
                                            <p:cond delay="0"/>
                                          </p:stCondLst>
                                        </p:cTn>
                                        <p:tgtEl>
                                          <p:spTgt spid="644">
                                            <p:txEl>
                                              <p:pRg st="0" end="0"/>
                                            </p:txEl>
                                          </p:spTgt>
                                        </p:tgtEl>
                                        <p:attrNameLst>
                                          <p:attrName>style.visibility</p:attrName>
                                        </p:attrNameLst>
                                      </p:cBhvr>
                                      <p:to>
                                        <p:strVal val="visible"/>
                                      </p:to>
                                    </p:set>
                                    <p:animEffect transition="in" filter="blinds(horizontal)">
                                      <p:cBhvr additive="repl">
                                        <p:cTn id="1293" dur="500"/>
                                        <p:tgtEl>
                                          <p:spTgt spid="644">
                                            <p:txEl>
                                              <p:pRg st="0" end="0"/>
                                            </p:txEl>
                                          </p:spTgt>
                                        </p:tgtEl>
                                      </p:cBhvr>
                                    </p:animEffect>
                                  </p:childTnLst>
                                </p:cTn>
                              </p:par>
                            </p:childTnLst>
                          </p:cTn>
                        </p:par>
                      </p:childTnLst>
                    </p:cTn>
                  </p:par>
                  <p:par>
                    <p:cTn id="1294" fill="hold" nodeType="clickEffect">
                      <p:stCondLst>
                        <p:cond delay="indefinite"/>
                      </p:stCondLst>
                      <p:childTnLst>
                        <p:par>
                          <p:cTn id="1295" fill="hold" nodeType="withEffect">
                            <p:stCondLst>
                              <p:cond delay="0"/>
                            </p:stCondLst>
                            <p:childTnLst>
                              <p:par>
                                <p:cTn id="1296" presetID="3" presetClass="entr" fill="hold" nodeType="clickEffect" presetSubtype="10">
                                  <p:stCondLst>
                                    <p:cond delay="0"/>
                                  </p:stCondLst>
                                  <p:childTnLst>
                                    <p:set>
                                      <p:cBhvr>
                                        <p:cTn id="1297" dur="1" fill="hold">
                                          <p:stCondLst>
                                            <p:cond delay="0"/>
                                          </p:stCondLst>
                                        </p:cTn>
                                        <p:tgtEl>
                                          <p:spTgt spid="644">
                                            <p:txEl>
                                              <p:pRg st="1" end="1"/>
                                            </p:txEl>
                                          </p:spTgt>
                                        </p:tgtEl>
                                        <p:attrNameLst>
                                          <p:attrName>style.visibility</p:attrName>
                                        </p:attrNameLst>
                                      </p:cBhvr>
                                      <p:to>
                                        <p:strVal val="visible"/>
                                      </p:to>
                                    </p:set>
                                    <p:animEffect transition="in" filter="blinds(horizontal)">
                                      <p:cBhvr additive="repl">
                                        <p:cTn id="1298" dur="500"/>
                                        <p:tgtEl>
                                          <p:spTgt spid="644">
                                            <p:txEl>
                                              <p:pRg st="1" end="1"/>
                                            </p:txEl>
                                          </p:spTgt>
                                        </p:tgtEl>
                                      </p:cBhvr>
                                    </p:animEffect>
                                  </p:childTnLst>
                                </p:cTn>
                              </p:par>
                            </p:childTnLst>
                          </p:cTn>
                        </p:par>
                      </p:childTnLst>
                    </p:cTn>
                  </p:par>
                  <p:par>
                    <p:cTn id="1299" fill="hold" nodeType="clickEffect">
                      <p:stCondLst>
                        <p:cond delay="indefinite"/>
                      </p:stCondLst>
                      <p:childTnLst>
                        <p:par>
                          <p:cTn id="1300" fill="hold" nodeType="withEffect">
                            <p:stCondLst>
                              <p:cond delay="0"/>
                            </p:stCondLst>
                            <p:childTnLst>
                              <p:par>
                                <p:cTn id="1301" presetID="2" presetClass="entr" fill="hold" nodeType="clickEffect" presetSubtype="8">
                                  <p:stCondLst>
                                    <p:cond delay="0"/>
                                  </p:stCondLst>
                                  <p:childTnLst>
                                    <p:set>
                                      <p:cBhvr>
                                        <p:cTn id="1302" dur="1" fill="hold">
                                          <p:stCondLst>
                                            <p:cond delay="0"/>
                                          </p:stCondLst>
                                        </p:cTn>
                                        <p:tgtEl>
                                          <p:spTgt spid="676"/>
                                        </p:tgtEl>
                                        <p:attrNameLst>
                                          <p:attrName>style.visibility</p:attrName>
                                        </p:attrNameLst>
                                      </p:cBhvr>
                                      <p:to>
                                        <p:strVal val="visible"/>
                                      </p:to>
                                    </p:set>
                                    <p:anim calcmode="lin" valueType="num">
                                      <p:cBhvr additive="base">
                                        <p:cTn id="1303" dur="500" fill="hold"/>
                                        <p:tgtEl>
                                          <p:spTgt spid="676"/>
                                        </p:tgtEl>
                                        <p:attrNameLst>
                                          <p:attrName>ppt_x</p:attrName>
                                        </p:attrNameLst>
                                      </p:cBhvr>
                                      <p:tavLst>
                                        <p:tav>
                                          <p:val>
                                            <p:strVal val="0-#ppt_w/2"/>
                                          </p:val>
                                        </p:tav>
                                        <p:tav tm="100000">
                                          <p:val>
                                            <p:strVal val="#ppt_x"/>
                                          </p:val>
                                        </p:tav>
                                      </p:tavLst>
                                    </p:anim>
                                    <p:anim calcmode="lin" valueType="num">
                                      <p:cBhvr additive="base">
                                        <p:cTn id="1304" dur="500" fill="hold"/>
                                        <p:tgtEl>
                                          <p:spTgt spid="676"/>
                                        </p:tgtEl>
                                        <p:attrNameLst>
                                          <p:attrName>ppt_y</p:attrName>
                                        </p:attrNameLst>
                                      </p:cBhvr>
                                      <p:tavLst>
                                        <p:tav>
                                          <p:val>
                                            <p:strVal val="#ppt_y"/>
                                          </p:val>
                                        </p:tav>
                                        <p:tav tm="100000">
                                          <p:val>
                                            <p:strVal val="#ppt_y"/>
                                          </p:val>
                                        </p:tav>
                                      </p:tavLst>
                                    </p:anim>
                                  </p:childTnLst>
                                </p:cTn>
                              </p:par>
                            </p:childTnLst>
                          </p:cTn>
                        </p:par>
                        <p:par>
                          <p:cTn id="1305" fill="hold" nodeType="afterEffect">
                            <p:stCondLst>
                              <p:cond delay="500"/>
                            </p:stCondLst>
                            <p:childTnLst>
                              <p:par>
                                <p:cTn id="1306" presetID="9" presetClass="entr" fill="hold" nodeType="afterEffect">
                                  <p:stCondLst>
                                    <p:cond delay="0"/>
                                  </p:stCondLst>
                                  <p:childTnLst>
                                    <p:set>
                                      <p:cBhvr>
                                        <p:cTn id="1307" dur="1" fill="hold">
                                          <p:stCondLst>
                                            <p:cond delay="0"/>
                                          </p:stCondLst>
                                        </p:cTn>
                                        <p:tgtEl>
                                          <p:spTgt spid="678"/>
                                        </p:tgtEl>
                                        <p:attrNameLst>
                                          <p:attrName>style.visibility</p:attrName>
                                        </p:attrNameLst>
                                      </p:cBhvr>
                                      <p:to>
                                        <p:strVal val="visible"/>
                                      </p:to>
                                    </p:set>
                                    <p:animEffect transition="in" filter="dissolve">
                                      <p:cBhvr additive="repl">
                                        <p:cTn id="1308" dur="500"/>
                                        <p:tgtEl>
                                          <p:spTgt spid="678"/>
                                        </p:tgtEl>
                                      </p:cBhvr>
                                    </p:animEffect>
                                  </p:childTnLst>
                                </p:cTn>
                              </p:par>
                            </p:childTnLst>
                          </p:cTn>
                        </p:par>
                        <p:par>
                          <p:cTn id="1309" fill="hold" nodeType="afterEffect">
                            <p:stCondLst>
                              <p:cond delay="1000"/>
                            </p:stCondLst>
                            <p:childTnLst>
                              <p:par>
                                <p:cTn id="1310" presetID="9" presetClass="entr" fill="hold" nodeType="afterEffect">
                                  <p:stCondLst>
                                    <p:cond delay="0"/>
                                  </p:stCondLst>
                                  <p:childTnLst>
                                    <p:set>
                                      <p:cBhvr>
                                        <p:cTn id="1311" dur="1" fill="hold">
                                          <p:stCondLst>
                                            <p:cond delay="0"/>
                                          </p:stCondLst>
                                        </p:cTn>
                                        <p:tgtEl>
                                          <p:spTgt spid="679"/>
                                        </p:tgtEl>
                                        <p:attrNameLst>
                                          <p:attrName>style.visibility</p:attrName>
                                        </p:attrNameLst>
                                      </p:cBhvr>
                                      <p:to>
                                        <p:strVal val="visible"/>
                                      </p:to>
                                    </p:set>
                                    <p:animEffect transition="in" filter="dissolve">
                                      <p:cBhvr additive="repl">
                                        <p:cTn id="1312" dur="500"/>
                                        <p:tgtEl>
                                          <p:spTgt spid="679"/>
                                        </p:tgtEl>
                                      </p:cBhvr>
                                    </p:animEffect>
                                  </p:childTnLst>
                                </p:cTn>
                              </p:par>
                            </p:childTnLst>
                          </p:cTn>
                        </p:par>
                      </p:childTnLst>
                    </p:cTn>
                  </p:par>
                  <p:par>
                    <p:cTn id="1313" fill="hold" nodeType="clickEffect">
                      <p:stCondLst>
                        <p:cond delay="indefinite"/>
                      </p:stCondLst>
                      <p:childTnLst>
                        <p:par>
                          <p:cTn id="1314" fill="hold" nodeType="withEffect">
                            <p:stCondLst>
                              <p:cond delay="0"/>
                            </p:stCondLst>
                            <p:childTnLst>
                              <p:par>
                                <p:cTn id="1315" presetID="2" presetClass="entr" fill="hold" nodeType="clickEffect" presetSubtype="6">
                                  <p:stCondLst>
                                    <p:cond delay="0"/>
                                  </p:stCondLst>
                                  <p:childTnLst>
                                    <p:set>
                                      <p:cBhvr>
                                        <p:cTn id="1316" dur="1" fill="hold">
                                          <p:stCondLst>
                                            <p:cond delay="0"/>
                                          </p:stCondLst>
                                        </p:cTn>
                                        <p:tgtEl>
                                          <p:spTgt spid="681"/>
                                        </p:tgtEl>
                                        <p:attrNameLst>
                                          <p:attrName>style.visibility</p:attrName>
                                        </p:attrNameLst>
                                      </p:cBhvr>
                                      <p:to>
                                        <p:strVal val="visible"/>
                                      </p:to>
                                    </p:set>
                                    <p:anim calcmode="lin" valueType="num">
                                      <p:cBhvr additive="base">
                                        <p:cTn id="1317" dur="500" fill="hold"/>
                                        <p:tgtEl>
                                          <p:spTgt spid="681"/>
                                        </p:tgtEl>
                                        <p:attrNameLst>
                                          <p:attrName>ppt_x</p:attrName>
                                        </p:attrNameLst>
                                      </p:cBhvr>
                                      <p:tavLst>
                                        <p:tav>
                                          <p:val>
                                            <p:strVal val="1+#ppt_w/2"/>
                                          </p:val>
                                        </p:tav>
                                        <p:tav tm="100000">
                                          <p:val>
                                            <p:strVal val="#ppt_x"/>
                                          </p:val>
                                        </p:tav>
                                      </p:tavLst>
                                    </p:anim>
                                    <p:anim calcmode="lin" valueType="num">
                                      <p:cBhvr additive="base">
                                        <p:cTn id="1318" dur="500" fill="hold"/>
                                        <p:tgtEl>
                                          <p:spTgt spid="681"/>
                                        </p:tgtEl>
                                        <p:attrNameLst>
                                          <p:attrName>ppt_y</p:attrName>
                                        </p:attrNameLst>
                                      </p:cBhvr>
                                      <p:tavLst>
                                        <p:tav>
                                          <p:val>
                                            <p:strVal val="1+#ppt_h/2"/>
                                          </p:val>
                                        </p:tav>
                                        <p:tav tm="100000">
                                          <p:val>
                                            <p:strVal val="#ppt_y"/>
                                          </p:val>
                                        </p:tav>
                                      </p:tavLst>
                                    </p:anim>
                                  </p:childTnLst>
                                </p:cTn>
                              </p:par>
                            </p:childTnLst>
                          </p:cTn>
                        </p:par>
                      </p:childTnLst>
                    </p:cTn>
                  </p:par>
                  <p:par>
                    <p:cTn id="1319" fill="hold" nodeType="clickEffect">
                      <p:stCondLst>
                        <p:cond delay="indefinite"/>
                      </p:stCondLst>
                      <p:childTnLst>
                        <p:par>
                          <p:cTn id="1320" fill="hold" nodeType="withEffect">
                            <p:stCondLst>
                              <p:cond delay="0"/>
                            </p:stCondLst>
                            <p:childTnLst>
                              <p:par>
                                <p:cTn id="1321" presetID="9" presetClass="entr" fill="hold" nodeType="clickEffect">
                                  <p:stCondLst>
                                    <p:cond delay="0"/>
                                  </p:stCondLst>
                                  <p:childTnLst>
                                    <p:set>
                                      <p:cBhvr>
                                        <p:cTn id="1322" dur="1" fill="hold">
                                          <p:stCondLst>
                                            <p:cond delay="0"/>
                                          </p:stCondLst>
                                        </p:cTn>
                                        <p:tgtEl>
                                          <p:spTgt spid="677"/>
                                        </p:tgtEl>
                                        <p:attrNameLst>
                                          <p:attrName>style.visibility</p:attrName>
                                        </p:attrNameLst>
                                      </p:cBhvr>
                                      <p:to>
                                        <p:strVal val="visible"/>
                                      </p:to>
                                    </p:set>
                                    <p:animEffect transition="in" filter="dissolve">
                                      <p:cBhvr additive="repl">
                                        <p:cTn id="1323" dur="500"/>
                                        <p:tgtEl>
                                          <p:spTgt spid="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82" name="Group 34"/>
          <p:cNvGrpSpPr/>
          <p:nvPr/>
        </p:nvGrpSpPr>
        <p:grpSpPr>
          <a:xfrm>
            <a:off x="1430280" y="1130400"/>
            <a:ext cx="5216400" cy="2001240"/>
            <a:chOff x="1430280" y="1130400"/>
            <a:chExt cx="5216400" cy="2001240"/>
          </a:xfrm>
        </p:grpSpPr>
        <p:sp>
          <p:nvSpPr>
            <p:cNvPr id="683" name="Rectangle 14"/>
            <p:cNvSpPr/>
            <p:nvPr/>
          </p:nvSpPr>
          <p:spPr>
            <a:xfrm>
              <a:off x="3914640" y="1509480"/>
              <a:ext cx="1096920" cy="583920"/>
            </a:xfrm>
            <a:prstGeom prst="rect">
              <a:avLst/>
            </a:prstGeom>
            <a:noFill/>
            <a:ln cap="sq" w="57240">
              <a:solidFill>
                <a:srgbClr val="000000"/>
              </a:solidFill>
              <a:miter/>
            </a:ln>
          </p:spPr>
          <p:style>
            <a:lnRef idx="0"/>
            <a:fillRef idx="0"/>
            <a:effectRef idx="0"/>
            <a:fontRef idx="minor"/>
          </p:style>
          <p:txBody>
            <a:bodyPr lIns="108000" tIns="108000" rIns="108000" bIns="108000" anchor="ctr">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684" name="Line 15"/>
            <p:cNvSpPr/>
            <p:nvPr/>
          </p:nvSpPr>
          <p:spPr>
            <a:xfrm>
              <a:off x="3295440" y="1765080"/>
              <a:ext cx="6494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85" name="Line 16"/>
            <p:cNvSpPr/>
            <p:nvPr/>
          </p:nvSpPr>
          <p:spPr>
            <a:xfrm>
              <a:off x="1430280" y="1760400"/>
              <a:ext cx="10490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86" name="Line 17"/>
            <p:cNvSpPr/>
            <p:nvPr/>
          </p:nvSpPr>
          <p:spPr>
            <a:xfrm>
              <a:off x="5073480" y="1765080"/>
              <a:ext cx="157320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87" name="Line 18"/>
            <p:cNvSpPr/>
            <p:nvPr/>
          </p:nvSpPr>
          <p:spPr>
            <a:xfrm>
              <a:off x="5997240" y="1803240"/>
              <a:ext cx="0" cy="101556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88" name="Line 19"/>
            <p:cNvSpPr/>
            <p:nvPr/>
          </p:nvSpPr>
          <p:spPr>
            <a:xfrm>
              <a:off x="2914560" y="2841480"/>
              <a:ext cx="996840" cy="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89" name="Line 20"/>
            <p:cNvSpPr/>
            <p:nvPr/>
          </p:nvSpPr>
          <p:spPr>
            <a:xfrm>
              <a:off x="2857320" y="2117520"/>
              <a:ext cx="0" cy="723600"/>
            </a:xfrm>
            <a:prstGeom prst="line">
              <a:avLst/>
            </a:prstGeom>
            <a:ln cap="sq" w="57240">
              <a:solidFill>
                <a:srgbClr val="00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90" name="Text Box 21"/>
            <p:cNvSpPr/>
            <p:nvPr/>
          </p:nvSpPr>
          <p:spPr>
            <a:xfrm>
              <a:off x="1492200" y="1187280"/>
              <a:ext cx="10825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R</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691" name="Text Box 22"/>
            <p:cNvSpPr/>
            <p:nvPr/>
          </p:nvSpPr>
          <p:spPr>
            <a:xfrm>
              <a:off x="5551200" y="1130400"/>
              <a:ext cx="7765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C</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692" name="Line 23"/>
            <p:cNvSpPr/>
            <p:nvPr/>
          </p:nvSpPr>
          <p:spPr>
            <a:xfrm>
              <a:off x="5052960" y="2823840"/>
              <a:ext cx="885600" cy="0"/>
            </a:xfrm>
            <a:prstGeom prst="line">
              <a:avLst/>
            </a:prstGeom>
            <a:ln cap="sq" w="57240">
              <a:solidFill>
                <a:srgbClr val="00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93" name="Text Box 25"/>
            <p:cNvSpPr/>
            <p:nvPr/>
          </p:nvSpPr>
          <p:spPr>
            <a:xfrm>
              <a:off x="2661840" y="1750680"/>
              <a:ext cx="60984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宋体"/>
                </a:rPr>
                <a:t>-</a:t>
              </a:r>
              <a:endParaRPr lang="en-US" sz="2000" b="1" u="none" strike="noStrike">
                <a:solidFill>
                  <a:srgbClr val="000000"/>
                </a:solidFill>
                <a:effectLst/>
                <a:uFillTx/>
                <a:latin typeface="Times New Roman"/>
              </a:endParaRPr>
            </a:p>
          </p:txBody>
        </p:sp>
        <p:sp>
          <p:nvSpPr>
            <p:cNvPr id="694" name="Oval 26"/>
            <p:cNvSpPr/>
            <p:nvPr/>
          </p:nvSpPr>
          <p:spPr>
            <a:xfrm>
              <a:off x="2509560" y="1395000"/>
              <a:ext cx="730440" cy="730080"/>
            </a:xfrm>
            <a:prstGeom prst="ellipse">
              <a:avLst/>
            </a:prstGeom>
            <a:noFill/>
            <a:ln cap="sq" w="5724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695" name="Line 27"/>
            <p:cNvSpPr/>
            <p:nvPr/>
          </p:nvSpPr>
          <p:spPr>
            <a:xfrm flipH="1">
              <a:off x="2661840" y="1547640"/>
              <a:ext cx="457200" cy="45684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96" name="Line 28"/>
            <p:cNvSpPr/>
            <p:nvPr/>
          </p:nvSpPr>
          <p:spPr>
            <a:xfrm>
              <a:off x="2661840" y="1547640"/>
              <a:ext cx="457200" cy="45684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697" name="Rectangle 30"/>
            <p:cNvSpPr/>
            <p:nvPr/>
          </p:nvSpPr>
          <p:spPr>
            <a:xfrm>
              <a:off x="3914640" y="2547720"/>
              <a:ext cx="1096920" cy="583920"/>
            </a:xfrm>
            <a:prstGeom prst="rect">
              <a:avLst/>
            </a:prstGeom>
            <a:noFill/>
            <a:ln cap="sq" w="57240">
              <a:solidFill>
                <a:srgbClr val="000000"/>
              </a:solidFill>
              <a:miter/>
            </a:ln>
          </p:spPr>
          <p:style>
            <a:lnRef idx="0"/>
            <a:fillRef idx="0"/>
            <a:effectRef idx="0"/>
            <a:fontRef idx="minor"/>
          </p:style>
          <p:txBody>
            <a:bodyPr lIns="108000" tIns="108000" rIns="108000" bIns="108000" anchor="ctr">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mc:AlternateContent>
        <mc:Choice xmlns:a14="http://schemas.microsoft.com/office/drawing/2010/main" Requires="a14">
          <p:sp>
            <p:nvSpPr>
              <p:cNvPr id="698" name="对象 5"/>
              <p:cNvSpPr txBox="1"/>
              <p:nvPr/>
            </p:nvSpPr>
            <p:spPr>
              <a:xfrm>
                <a:off x="4035600" y="1509840"/>
                <a:ext cx="839520" cy="581040"/>
              </a:xfrm>
              <a:prstGeom prst="rect">
                <a:avLst/>
              </a:prstGeom>
            </p:spPr>
            <p:txBody>
              <a:bodyPr/>
              <a:p>
                <a14:m>
                  <m:oMath xmlns:m="http://schemas.openxmlformats.org/officeDocument/2006/math">
                    <m:f>
                      <m:num>
                        <m:sSup>
                          <m:e>
                            <m:r>
                              <m:t xml:space="preserve">K</m:t>
                            </m:r>
                          </m:e>
                          <m:sup/>
                        </m:sSup>
                      </m:num>
                      <m:den>
                        <m:r>
                          <m:t xml:space="preserve">s</m:t>
                        </m:r>
                        <m:r>
                          <m:t xml:space="preserve">(</m:t>
                        </m:r>
                        <m:r>
                          <m:t xml:space="preserve">s</m:t>
                        </m:r>
                        <m:r>
                          <m:t xml:space="preserve">+</m:t>
                        </m:r>
                        <m:r>
                          <m:t xml:space="preserve">1</m:t>
                        </m:r>
                        <m:r>
                          <m:t xml:space="preserve">)</m:t>
                        </m:r>
                      </m:den>
                    </m:f>
                  </m:oMath>
                </a14:m>
              </a:p>
            </p:txBody>
          </p:sp>
        </mc:Choice>
        <mc:Fallback>
          <p:sp>
            <p:nvSpPr>
              <p:cNvPr id="698" name="对象 5"/>
              <p:cNvSpPr txBox="1"/>
              <p:nvPr/>
            </p:nvSpPr>
            <p:spPr>
              <a:xfrm>
                <a:off x="4035600" y="1509840"/>
                <a:ext cx="839520" cy="581040"/>
              </a:xfrm>
              <a:prstGeom prst="rect">
                <a:avLst/>
              </a:prstGeom>
              <a:blipFill>
                <a:blip r:embed="rId1"/>
                <a:stretch>
                  <a:fillRect/>
                </a:stretch>
              </a:blipFill>
            </p:spPr>
          </p:sp>
        </mc:Fallback>
      </mc:AlternateContent>
      <mc:AlternateContent>
        <mc:Choice xmlns:a14="http://schemas.microsoft.com/office/drawing/2010/main" Requires="a14">
          <p:sp>
            <p:nvSpPr>
              <p:cNvPr id="699" name="对象 6"/>
              <p:cNvSpPr txBox="1"/>
              <p:nvPr/>
            </p:nvSpPr>
            <p:spPr>
              <a:xfrm>
                <a:off x="4162320" y="2565360"/>
                <a:ext cx="603360" cy="515880"/>
              </a:xfrm>
              <a:prstGeom prst="rect">
                <a:avLst/>
              </a:prstGeom>
            </p:spPr>
            <p:txBody>
              <a:bodyPr/>
              <a:p>
                <a14:m>
                  <m:oMath xmlns:m="http://schemas.openxmlformats.org/officeDocument/2006/math">
                    <m:f>
                      <m:num>
                        <m:r>
                          <m:t xml:space="preserve">s</m:t>
                        </m:r>
                        <m:r>
                          <m:t xml:space="preserve">+</m:t>
                        </m:r>
                        <m:r>
                          <m:t xml:space="preserve">2</m:t>
                        </m:r>
                      </m:num>
                      <m:den>
                        <m:r>
                          <m:t xml:space="preserve">s</m:t>
                        </m:r>
                        <m:r>
                          <m:t xml:space="preserve">+</m:t>
                        </m:r>
                        <m:r>
                          <m:t xml:space="preserve">4</m:t>
                        </m:r>
                      </m:den>
                    </m:f>
                  </m:oMath>
                </a14:m>
              </a:p>
            </p:txBody>
          </p:sp>
        </mc:Choice>
        <mc:Fallback>
          <p:sp>
            <p:nvSpPr>
              <p:cNvPr id="699" name="对象 6"/>
              <p:cNvSpPr txBox="1"/>
              <p:nvPr/>
            </p:nvSpPr>
            <p:spPr>
              <a:xfrm>
                <a:off x="4162320" y="2565360"/>
                <a:ext cx="603360" cy="515880"/>
              </a:xfrm>
              <a:prstGeom prst="rect">
                <a:avLst/>
              </a:prstGeom>
              <a:blipFill>
                <a:blip r:embed="rId2"/>
                <a:stretch>
                  <a:fillRect/>
                </a:stretch>
              </a:blipFill>
            </p:spPr>
          </p:sp>
        </mc:Fallback>
      </mc:AlternateContent>
      <p:sp>
        <p:nvSpPr>
          <p:cNvPr id="700" name="Rectangle 31"/>
          <p:cNvSpPr/>
          <p:nvPr/>
        </p:nvSpPr>
        <p:spPr>
          <a:xfrm>
            <a:off x="272880" y="3787920"/>
            <a:ext cx="9036360" cy="56916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开环传递函数：</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701" name="对象 7"/>
              <p:cNvSpPr txBox="1"/>
              <p:nvPr/>
            </p:nvSpPr>
            <p:spPr>
              <a:xfrm>
                <a:off x="2759040" y="3787920"/>
                <a:ext cx="3392640" cy="71568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f>
                      <m:num>
                        <m:sSup>
                          <m:e>
                            <m:r>
                              <m:t xml:space="preserve">K</m:t>
                            </m:r>
                          </m:e>
                          <m:sup/>
                        </m:sSup>
                        <m:r>
                          <m:t xml:space="preserve">(</m:t>
                        </m:r>
                        <m:r>
                          <m:t xml:space="preserve">s</m:t>
                        </m:r>
                        <m:r>
                          <m:t xml:space="preserve">+</m:t>
                        </m:r>
                        <m:r>
                          <m:t xml:space="preserve">2</m:t>
                        </m:r>
                        <m:r>
                          <m:t xml:space="preserve">)</m:t>
                        </m:r>
                      </m:num>
                      <m:den>
                        <m:r>
                          <m:t xml:space="preserve">s</m:t>
                        </m:r>
                        <m:r>
                          <m:t xml:space="preserve">(</m:t>
                        </m:r>
                        <m:r>
                          <m:t xml:space="preserve">s</m:t>
                        </m:r>
                        <m:r>
                          <m:t xml:space="preserve">+</m:t>
                        </m:r>
                        <m:r>
                          <m:t xml:space="preserve">1</m:t>
                        </m:r>
                        <m:r>
                          <m:t xml:space="preserve">)</m:t>
                        </m:r>
                        <m:r>
                          <m:t xml:space="preserve">(</m:t>
                        </m:r>
                        <m:r>
                          <m:t xml:space="preserve">s</m:t>
                        </m:r>
                        <m:r>
                          <m:t xml:space="preserve">+</m:t>
                        </m:r>
                        <m:r>
                          <m:t xml:space="preserve">4</m:t>
                        </m:r>
                        <m:r>
                          <m:t xml:space="preserve">)</m:t>
                        </m:r>
                      </m:den>
                    </m:f>
                  </m:oMath>
                </a14:m>
              </a:p>
            </p:txBody>
          </p:sp>
        </mc:Choice>
        <mc:Fallback>
          <p:sp>
            <p:nvSpPr>
              <p:cNvPr id="701" name="对象 7"/>
              <p:cNvSpPr txBox="1"/>
              <p:nvPr/>
            </p:nvSpPr>
            <p:spPr>
              <a:xfrm>
                <a:off x="2759040" y="3787920"/>
                <a:ext cx="3392640" cy="715680"/>
              </a:xfrm>
              <a:prstGeom prst="rect">
                <a:avLst/>
              </a:prstGeom>
              <a:blipFill>
                <a:blip r:embed="rId3"/>
                <a:stretch>
                  <a:fillRect/>
                </a:stretch>
              </a:blipFill>
            </p:spPr>
          </p:sp>
        </mc:Fallback>
      </mc:AlternateContent>
      <p:sp>
        <p:nvSpPr>
          <p:cNvPr id="702" name="Rectangle 31"/>
          <p:cNvSpPr/>
          <p:nvPr/>
        </p:nvSpPr>
        <p:spPr>
          <a:xfrm>
            <a:off x="171360" y="352440"/>
            <a:ext cx="9036000" cy="56916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绘制</a:t>
            </a:r>
            <a:r>
              <a:rPr lang="en-US" sz="2400" b="1" u="none" strike="noStrike">
                <a:solidFill>
                  <a:srgbClr val="000000"/>
                </a:solidFill>
                <a:effectLst/>
                <a:uFillTx/>
                <a:latin typeface="Times New Roman"/>
              </a:rPr>
              <a:t>K</a:t>
            </a:r>
            <a:r>
              <a:rPr lang="en-US" sz="2400" b="1" u="none" strike="noStrike" baseline="30000">
                <a:solidFill>
                  <a:srgbClr val="000000"/>
                </a:solidFill>
                <a:effectLst/>
                <a:uFillTx/>
                <a:latin typeface="Times New Roman"/>
              </a:rPr>
              <a:t>*</a:t>
            </a:r>
            <a:r>
              <a:rPr lang="zh-CN" sz="2400" b="1" u="none" strike="noStrike">
                <a:solidFill>
                  <a:srgbClr val="000000"/>
                </a:solidFill>
                <a:effectLst/>
                <a:uFillTx/>
                <a:latin typeface="Times New Roman"/>
              </a:rPr>
              <a:t>由</a:t>
            </a:r>
            <a:r>
              <a:rPr lang="en-US" sz="2400" b="1" u="none" strike="noStrike">
                <a:solidFill>
                  <a:srgbClr val="000000"/>
                </a:solidFill>
                <a:effectLst/>
                <a:uFillTx/>
                <a:latin typeface="Times New Roman"/>
              </a:rPr>
              <a:t>0</a:t>
            </a:r>
            <a:r>
              <a:rPr lang="zh-CN" sz="2400" b="1" u="none" strike="noStrike">
                <a:solidFill>
                  <a:srgbClr val="000000"/>
                </a:solidFill>
                <a:effectLst/>
                <a:uFillTx/>
                <a:latin typeface="Times New Roman"/>
              </a:rPr>
              <a:t>到无穷大变化时，系统的根轨迹。</a:t>
            </a:r>
            <a:endParaRPr lang="en-US" sz="24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324" dur="indefinite" restart="never" nodeType="tmRoot">
          <p:childTnLst>
            <p:seq>
              <p:cTn id="1325" dur="indefinite" nodeType="mainSeq">
                <p:childTnLst>
                  <p:par>
                    <p:cTn id="1326" fill="hold" nodeType="clickEffect">
                      <p:stCondLst>
                        <p:cond delay="indefinite"/>
                      </p:stCondLst>
                      <p:childTnLst>
                        <p:par>
                          <p:cTn id="1327" fill="hold" nodeType="withEffect">
                            <p:stCondLst>
                              <p:cond delay="0"/>
                            </p:stCondLst>
                            <p:childTnLst>
                              <p:par>
                                <p:cTn id="1328" presetID="6" presetClass="entr" fill="hold" nodeType="clickEffect" presetSubtype="16">
                                  <p:stCondLst>
                                    <p:cond delay="0"/>
                                  </p:stCondLst>
                                  <p:childTnLst>
                                    <p:set>
                                      <p:cBhvr>
                                        <p:cTn id="1329" dur="1" fill="hold">
                                          <p:stCondLst>
                                            <p:cond delay="0"/>
                                          </p:stCondLst>
                                        </p:cTn>
                                        <p:tgtEl>
                                          <p:spTgt spid="682"/>
                                        </p:tgtEl>
                                        <p:attrNameLst>
                                          <p:attrName>style.visibility</p:attrName>
                                        </p:attrNameLst>
                                      </p:cBhvr>
                                      <p:to>
                                        <p:strVal val="visible"/>
                                      </p:to>
                                    </p:set>
                                    <p:animEffect transition="in" filter="circle(in)">
                                      <p:cBhvr additive="repl">
                                        <p:cTn id="1330" dur="2000"/>
                                        <p:tgtEl>
                                          <p:spTgt spid="682"/>
                                        </p:tgtEl>
                                      </p:cBhvr>
                                    </p:animEffect>
                                  </p:childTnLst>
                                </p:cTn>
                              </p:par>
                            </p:childTnLst>
                          </p:cTn>
                        </p:par>
                      </p:childTnLst>
                    </p:cTn>
                  </p:par>
                  <p:par>
                    <p:cTn id="1331" fill="hold" nodeType="clickEffect">
                      <p:stCondLst>
                        <p:cond delay="indefinite"/>
                      </p:stCondLst>
                      <p:childTnLst>
                        <p:par>
                          <p:cTn id="1332" fill="hold" nodeType="withEffect">
                            <p:stCondLst>
                              <p:cond delay="0"/>
                            </p:stCondLst>
                            <p:childTnLst>
                              <p:par>
                                <p:cTn id="1333" presetID="2" presetClass="entr" fill="hold" nodeType="clickEffect" presetSubtype="8">
                                  <p:stCondLst>
                                    <p:cond delay="0"/>
                                  </p:stCondLst>
                                  <p:childTnLst>
                                    <p:set>
                                      <p:cBhvr>
                                        <p:cTn id="1334" dur="1" fill="hold">
                                          <p:stCondLst>
                                            <p:cond delay="0"/>
                                          </p:stCondLst>
                                        </p:cTn>
                                        <p:tgtEl>
                                          <p:spTgt spid="700"/>
                                        </p:tgtEl>
                                        <p:attrNameLst>
                                          <p:attrName>style.visibility</p:attrName>
                                        </p:attrNameLst>
                                      </p:cBhvr>
                                      <p:to>
                                        <p:strVal val="visible"/>
                                      </p:to>
                                    </p:set>
                                    <p:anim calcmode="lin" valueType="num">
                                      <p:cBhvr additive="repl">
                                        <p:cTn id="1335" dur="500" fill="hold"/>
                                        <p:tgtEl>
                                          <p:spTgt spid="700"/>
                                        </p:tgtEl>
                                        <p:attrNameLst>
                                          <p:attrName>ppt_x</p:attrName>
                                        </p:attrNameLst>
                                      </p:cBhvr>
                                      <p:tavLst>
                                        <p:tav>
                                          <p:val>
                                            <p:strVal val="0-#ppt_w/2"/>
                                          </p:val>
                                        </p:tav>
                                        <p:tav tm="100000">
                                          <p:val>
                                            <p:strVal val="#ppt_x"/>
                                          </p:val>
                                        </p:tav>
                                      </p:tavLst>
                                    </p:anim>
                                    <p:anim calcmode="lin" valueType="num">
                                      <p:cBhvr additive="repl">
                                        <p:cTn id="1336" dur="500" fill="hold"/>
                                        <p:tgtEl>
                                          <p:spTgt spid="700"/>
                                        </p:tgtEl>
                                        <p:attrNameLst>
                                          <p:attrName>ppt_y</p:attrName>
                                        </p:attrNameLst>
                                      </p:cBhvr>
                                      <p:tavLst>
                                        <p:tav>
                                          <p:val>
                                            <p:strVal val="#ppt_y"/>
                                          </p:val>
                                        </p:tav>
                                        <p:tav tm="100000">
                                          <p:val>
                                            <p:strVal val="#ppt_y"/>
                                          </p:val>
                                        </p:tav>
                                      </p:tavLst>
                                    </p:anim>
                                  </p:childTnLst>
                                </p:cTn>
                              </p:par>
                            </p:childTnLst>
                          </p:cTn>
                        </p:par>
                      </p:childTnLst>
                    </p:cTn>
                  </p:par>
                  <p:par>
                    <p:cTn id="1337" fill="hold" nodeType="clickEffect">
                      <p:stCondLst>
                        <p:cond delay="indefinite"/>
                      </p:stCondLst>
                      <p:childTnLst>
                        <p:par>
                          <p:cTn id="1338" fill="hold" nodeType="withEffect">
                            <p:stCondLst>
                              <p:cond delay="0"/>
                            </p:stCondLst>
                            <p:childTnLst>
                              <p:par>
                                <p:cTn id="1339" presetID="2" presetClass="entr" fill="hold" nodeType="clickEffect" presetSubtype="8">
                                  <p:stCondLst>
                                    <p:cond delay="0"/>
                                  </p:stCondLst>
                                  <p:childTnLst>
                                    <p:set>
                                      <p:cBhvr>
                                        <p:cTn id="1340" dur="1" fill="hold">
                                          <p:stCondLst>
                                            <p:cond delay="0"/>
                                          </p:stCondLst>
                                        </p:cTn>
                                        <p:tgtEl>
                                          <p:spTgt spid="702"/>
                                        </p:tgtEl>
                                        <p:attrNameLst>
                                          <p:attrName>style.visibility</p:attrName>
                                        </p:attrNameLst>
                                      </p:cBhvr>
                                      <p:to>
                                        <p:strVal val="visible"/>
                                      </p:to>
                                    </p:set>
                                    <p:anim calcmode="lin" valueType="num">
                                      <p:cBhvr additive="repl">
                                        <p:cTn id="1341" dur="500" fill="hold"/>
                                        <p:tgtEl>
                                          <p:spTgt spid="702"/>
                                        </p:tgtEl>
                                        <p:attrNameLst>
                                          <p:attrName>ppt_x</p:attrName>
                                        </p:attrNameLst>
                                      </p:cBhvr>
                                      <p:tavLst>
                                        <p:tav>
                                          <p:val>
                                            <p:strVal val="0-#ppt_w/2"/>
                                          </p:val>
                                        </p:tav>
                                        <p:tav tm="100000">
                                          <p:val>
                                            <p:strVal val="#ppt_x"/>
                                          </p:val>
                                        </p:tav>
                                      </p:tavLst>
                                    </p:anim>
                                    <p:anim calcmode="lin" valueType="num">
                                      <p:cBhvr additive="repl">
                                        <p:cTn id="1342" dur="500" fill="hold"/>
                                        <p:tgtEl>
                                          <p:spTgt spid="702"/>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Rectangle 31"/>
          <p:cNvSpPr/>
          <p:nvPr/>
        </p:nvSpPr>
        <p:spPr>
          <a:xfrm>
            <a:off x="247680" y="210960"/>
            <a:ext cx="8426520" cy="484596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1. </a:t>
            </a:r>
            <a:r>
              <a:rPr lang="zh-CN" sz="2400" b="1" u="none" strike="noStrike">
                <a:solidFill>
                  <a:srgbClr val="000000"/>
                </a:solidFill>
                <a:effectLst/>
                <a:uFillTx/>
                <a:latin typeface="Times New Roman"/>
              </a:rPr>
              <a:t>起点： </a:t>
            </a:r>
            <a:r>
              <a:rPr lang="en-US" sz="2400" b="1" u="none" strike="noStrike">
                <a:solidFill>
                  <a:srgbClr val="000000"/>
                </a:solidFill>
                <a:effectLst/>
                <a:uFillTx/>
                <a:latin typeface="Times New Roman"/>
              </a:rPr>
              <a:t>0</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rPr>
              <a:t>-1</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rPr>
              <a:t>-4</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终点： </a:t>
            </a:r>
            <a:r>
              <a:rPr lang="en-US" sz="2400" b="1" u="none" strike="noStrike">
                <a:solidFill>
                  <a:srgbClr val="000000"/>
                </a:solidFill>
                <a:effectLst/>
                <a:uFillTx/>
                <a:latin typeface="Times New Roman"/>
              </a:rPr>
              <a:t>-2</a:t>
            </a:r>
            <a:r>
              <a:rPr lang="zh-CN" sz="2400" b="1" u="none" strike="noStrike">
                <a:solidFill>
                  <a:srgbClr val="000000"/>
                </a:solidFill>
                <a:effectLst/>
                <a:uFillTx/>
                <a:latin typeface="Times New Roman"/>
              </a:rPr>
              <a:t>，    ，</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系统是</a:t>
            </a:r>
            <a:r>
              <a:rPr lang="en-US" sz="2400" b="1" u="none" strike="noStrike">
                <a:solidFill>
                  <a:srgbClr val="000000"/>
                </a:solidFill>
                <a:effectLst/>
                <a:uFillTx/>
                <a:latin typeface="Times New Roman"/>
              </a:rPr>
              <a:t>3</a:t>
            </a:r>
            <a:r>
              <a:rPr lang="zh-CN" sz="2400" b="1" u="none" strike="noStrike">
                <a:solidFill>
                  <a:srgbClr val="000000"/>
                </a:solidFill>
                <a:effectLst/>
                <a:uFillTx/>
                <a:latin typeface="Times New Roman"/>
              </a:rPr>
              <a:t>阶系统，有</a:t>
            </a:r>
            <a:r>
              <a:rPr lang="en-US" sz="2400" b="1" u="none" strike="noStrike">
                <a:solidFill>
                  <a:srgbClr val="000000"/>
                </a:solidFill>
                <a:effectLst/>
                <a:uFillTx/>
                <a:latin typeface="Times New Roman"/>
              </a:rPr>
              <a:t>3</a:t>
            </a:r>
            <a:r>
              <a:rPr lang="zh-CN" sz="2400" b="1" u="none" strike="noStrike">
                <a:solidFill>
                  <a:srgbClr val="000000"/>
                </a:solidFill>
                <a:effectLst/>
                <a:uFillTx/>
                <a:latin typeface="Times New Roman"/>
              </a:rPr>
              <a:t>条根轨迹分支</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r>
              <a:rPr lang="en-US" sz="2400" b="1" u="none" strike="noStrike">
                <a:solidFill>
                  <a:srgbClr val="000000"/>
                </a:solidFill>
                <a:effectLst/>
                <a:uFillTx/>
                <a:latin typeface="Times New Roman"/>
              </a:rPr>
              <a:t>2. </a:t>
            </a:r>
            <a:r>
              <a:rPr lang="zh-CN" sz="2400" b="1" u="none" strike="noStrike">
                <a:solidFill>
                  <a:srgbClr val="000000"/>
                </a:solidFill>
                <a:effectLst/>
                <a:uFillTx/>
                <a:latin typeface="Times New Roman"/>
              </a:rPr>
              <a:t>渐近线</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r>
              <a:rPr lang="en-US" sz="2400" b="1" u="none" strike="noStrike">
                <a:solidFill>
                  <a:srgbClr val="000000"/>
                </a:solidFill>
                <a:effectLst/>
                <a:uFillTx/>
                <a:latin typeface="Times New Roman"/>
              </a:rPr>
              <a:t>3. </a:t>
            </a:r>
            <a:r>
              <a:rPr lang="zh-CN" sz="2400" b="1" u="none" strike="noStrike">
                <a:solidFill>
                  <a:srgbClr val="000000"/>
                </a:solidFill>
                <a:effectLst/>
                <a:uFillTx/>
                <a:latin typeface="Times New Roman"/>
              </a:rPr>
              <a:t>判断实轴的根轨迹</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r>
              <a:rPr lang="en-US" sz="2400" b="1" u="none" strike="noStrike">
                <a:solidFill>
                  <a:srgbClr val="000000"/>
                </a:solidFill>
                <a:effectLst/>
                <a:uFillTx/>
                <a:latin typeface="Times New Roman"/>
              </a:rPr>
              <a:t>4. </a:t>
            </a:r>
            <a:r>
              <a:rPr lang="zh-CN" sz="2400" b="1" u="none" strike="noStrike">
                <a:solidFill>
                  <a:srgbClr val="000000"/>
                </a:solidFill>
                <a:effectLst/>
                <a:uFillTx/>
                <a:latin typeface="Times New Roman"/>
              </a:rPr>
              <a:t>分离点</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704" name="对象 2"/>
              <p:cNvSpPr txBox="1"/>
              <p:nvPr/>
            </p:nvSpPr>
            <p:spPr>
              <a:xfrm>
                <a:off x="2362320" y="814320"/>
                <a:ext cx="379440" cy="317520"/>
              </a:xfrm>
              <a:prstGeom prst="rect">
                <a:avLst/>
              </a:prstGeom>
            </p:spPr>
            <p:txBody>
              <a:bodyPr/>
              <a:p>
                <a14:m>
                  <m:oMath xmlns:m="http://schemas.openxmlformats.org/officeDocument/2006/math">
                    <m:r>
                      <m:t xml:space="preserve">∞</m:t>
                    </m:r>
                  </m:oMath>
                </a14:m>
              </a:p>
            </p:txBody>
          </p:sp>
        </mc:Choice>
        <mc:Fallback>
          <p:sp>
            <p:nvSpPr>
              <p:cNvPr id="704" name="对象 2"/>
              <p:cNvSpPr txBox="1"/>
              <p:nvPr/>
            </p:nvSpPr>
            <p:spPr>
              <a:xfrm>
                <a:off x="2362320" y="814320"/>
                <a:ext cx="379440" cy="317520"/>
              </a:xfrm>
              <a:prstGeom prst="rect">
                <a:avLst/>
              </a:prstGeom>
              <a:blipFill>
                <a:blip r:embed="rId1"/>
                <a:stretch>
                  <a:fillRect/>
                </a:stretch>
              </a:blipFill>
            </p:spPr>
          </p:sp>
        </mc:Fallback>
      </mc:AlternateContent>
      <mc:AlternateContent>
        <mc:Choice xmlns:a14="http://schemas.microsoft.com/office/drawing/2010/main" Requires="a14">
          <p:sp>
            <p:nvSpPr>
              <p:cNvPr id="705" name="对象 3"/>
              <p:cNvSpPr txBox="1"/>
              <p:nvPr/>
            </p:nvSpPr>
            <p:spPr>
              <a:xfrm>
                <a:off x="2870280" y="814320"/>
                <a:ext cx="379440" cy="317520"/>
              </a:xfrm>
              <a:prstGeom prst="rect">
                <a:avLst/>
              </a:prstGeom>
            </p:spPr>
            <p:txBody>
              <a:bodyPr/>
              <a:p>
                <a14:m>
                  <m:oMath xmlns:m="http://schemas.openxmlformats.org/officeDocument/2006/math">
                    <m:r>
                      <m:t xml:space="preserve">∞</m:t>
                    </m:r>
                  </m:oMath>
                </a14:m>
              </a:p>
            </p:txBody>
          </p:sp>
        </mc:Choice>
        <mc:Fallback>
          <p:sp>
            <p:nvSpPr>
              <p:cNvPr id="705" name="对象 3"/>
              <p:cNvSpPr txBox="1"/>
              <p:nvPr/>
            </p:nvSpPr>
            <p:spPr>
              <a:xfrm>
                <a:off x="2870280" y="814320"/>
                <a:ext cx="379440" cy="317520"/>
              </a:xfrm>
              <a:prstGeom prst="rect">
                <a:avLst/>
              </a:prstGeom>
              <a:blipFill>
                <a:blip r:embed="rId2"/>
                <a:stretch>
                  <a:fillRect/>
                </a:stretch>
              </a:blipFill>
            </p:spPr>
          </p:sp>
        </mc:Fallback>
      </mc:AlternateContent>
      <mc:AlternateContent>
        <mc:Choice xmlns:a14="http://schemas.microsoft.com/office/drawing/2010/main" Requires="a14">
          <p:sp>
            <p:nvSpPr>
              <p:cNvPr id="706" name="对象 10"/>
              <p:cNvSpPr txBox="1"/>
              <p:nvPr/>
            </p:nvSpPr>
            <p:spPr>
              <a:xfrm>
                <a:off x="1463760" y="2208240"/>
                <a:ext cx="2174760" cy="655560"/>
              </a:xfrm>
              <a:prstGeom prst="rect">
                <a:avLst/>
              </a:prstGeom>
            </p:spPr>
            <p:txBody>
              <a:bodyPr/>
              <a:p>
                <a14:m>
                  <m:oMath xmlns:m="http://schemas.openxmlformats.org/officeDocument/2006/math">
                    <m:sSub>
                      <m:e>
                        <m:r>
                          <m:t xml:space="preserve">ϕ</m:t>
                        </m:r>
                      </m:e>
                      <m:sub>
                        <m:r>
                          <m:t xml:space="preserve">a</m:t>
                        </m:r>
                      </m:sub>
                    </m:sSub>
                    <m:r>
                      <m:t xml:space="preserve">=</m:t>
                    </m:r>
                    <m:f>
                      <m:num>
                        <m:r>
                          <m:t xml:space="preserve">(</m:t>
                        </m:r>
                        <m:r>
                          <m:t xml:space="preserve">2</m:t>
                        </m:r>
                        <m:r>
                          <m:t xml:space="preserve">k</m:t>
                        </m:r>
                        <m:r>
                          <m:t xml:space="preserve">+</m:t>
                        </m:r>
                        <m:r>
                          <m:t xml:space="preserve">1</m:t>
                        </m:r>
                        <m:r>
                          <m:t xml:space="preserve">)</m:t>
                        </m:r>
                        <m:r>
                          <m:t xml:space="preserve">π</m:t>
                        </m:r>
                      </m:num>
                      <m:den>
                        <m:r>
                          <m:t xml:space="preserve">3</m:t>
                        </m:r>
                        <m:r>
                          <m:t xml:space="preserve">−</m:t>
                        </m:r>
                        <m:r>
                          <m:t xml:space="preserve">1</m:t>
                        </m:r>
                      </m:den>
                    </m:f>
                    <m:r>
                      <m:t xml:space="preserve">=</m:t>
                    </m:r>
                    <m:r>
                      <m:t xml:space="preserve">±</m:t>
                    </m:r>
                    <m:f>
                      <m:num>
                        <m:r>
                          <m:t xml:space="preserve">π</m:t>
                        </m:r>
                      </m:num>
                      <m:den>
                        <m:r>
                          <m:t xml:space="preserve">2</m:t>
                        </m:r>
                      </m:den>
                    </m:f>
                  </m:oMath>
                </a14:m>
              </a:p>
            </p:txBody>
          </p:sp>
        </mc:Choice>
        <mc:Fallback>
          <p:sp>
            <p:nvSpPr>
              <p:cNvPr id="706" name="对象 10"/>
              <p:cNvSpPr txBox="1"/>
              <p:nvPr/>
            </p:nvSpPr>
            <p:spPr>
              <a:xfrm>
                <a:off x="1463760" y="2208240"/>
                <a:ext cx="2174760" cy="655560"/>
              </a:xfrm>
              <a:prstGeom prst="rect">
                <a:avLst/>
              </a:prstGeom>
              <a:blipFill>
                <a:blip r:embed="rId3"/>
                <a:stretch>
                  <a:fillRect/>
                </a:stretch>
              </a:blipFill>
            </p:spPr>
          </p:sp>
        </mc:Fallback>
      </mc:AlternateContent>
      <mc:AlternateContent>
        <mc:Choice xmlns:a14="http://schemas.microsoft.com/office/drawing/2010/main" Requires="a14">
          <p:sp>
            <p:nvSpPr>
              <p:cNvPr id="707" name="对象 11"/>
              <p:cNvSpPr txBox="1"/>
              <p:nvPr/>
            </p:nvSpPr>
            <p:spPr>
              <a:xfrm>
                <a:off x="4227480" y="2306520"/>
                <a:ext cx="2212920" cy="660600"/>
              </a:xfrm>
              <a:prstGeom prst="rect">
                <a:avLst/>
              </a:prstGeom>
            </p:spPr>
            <p:txBody>
              <a:bodyPr/>
              <a:p>
                <a14:m>
                  <m:oMath xmlns:m="http://schemas.openxmlformats.org/officeDocument/2006/math">
                    <m:sSub>
                      <m:e>
                        <m:r>
                          <m:t xml:space="preserve">σ</m:t>
                        </m:r>
                      </m:e>
                      <m:sub>
                        <m:r>
                          <m:t xml:space="preserve">a</m:t>
                        </m:r>
                      </m:sub>
                    </m:sSub>
                    <m:r>
                      <m:t xml:space="preserve">=</m:t>
                    </m:r>
                    <m:f>
                      <m:num>
                        <m:r>
                          <m:t xml:space="preserve">−</m:t>
                        </m:r>
                        <m:r>
                          <m:t xml:space="preserve">5</m:t>
                        </m:r>
                        <m:r>
                          <m:t xml:space="preserve">−</m:t>
                        </m:r>
                        <m:r>
                          <m:t xml:space="preserve">(</m:t>
                        </m:r>
                        <m:r>
                          <m:t xml:space="preserve">−</m:t>
                        </m:r>
                        <m:r>
                          <m:t xml:space="preserve">2</m:t>
                        </m:r>
                        <m:r>
                          <m:t xml:space="preserve">)</m:t>
                        </m:r>
                      </m:num>
                      <m:den>
                        <m:r>
                          <m:t xml:space="preserve">3</m:t>
                        </m:r>
                        <m:r>
                          <m:t xml:space="preserve">−</m:t>
                        </m:r>
                        <m:r>
                          <m:t xml:space="preserve">1</m:t>
                        </m:r>
                      </m:den>
                    </m:f>
                    <m:r>
                      <m:t xml:space="preserve">=</m:t>
                    </m:r>
                    <m:r>
                      <m:t xml:space="preserve">−</m:t>
                    </m:r>
                    <m:f>
                      <m:num>
                        <m:r>
                          <m:t xml:space="preserve">3</m:t>
                        </m:r>
                      </m:num>
                      <m:den>
                        <m:r>
                          <m:t xml:space="preserve">2</m:t>
                        </m:r>
                      </m:den>
                    </m:f>
                  </m:oMath>
                </a14:m>
              </a:p>
            </p:txBody>
          </p:sp>
        </mc:Choice>
        <mc:Fallback>
          <p:sp>
            <p:nvSpPr>
              <p:cNvPr id="707" name="对象 11"/>
              <p:cNvSpPr txBox="1"/>
              <p:nvPr/>
            </p:nvSpPr>
            <p:spPr>
              <a:xfrm>
                <a:off x="4227480" y="2306520"/>
                <a:ext cx="2212920" cy="660600"/>
              </a:xfrm>
              <a:prstGeom prst="rect">
                <a:avLst/>
              </a:prstGeom>
              <a:blipFill>
                <a:blip r:embed="rId4"/>
                <a:stretch>
                  <a:fillRect/>
                </a:stretch>
              </a:blipFill>
            </p:spPr>
          </p:sp>
        </mc:Fallback>
      </mc:AlternateContent>
      <mc:AlternateContent>
        <mc:Choice xmlns:a14="http://schemas.microsoft.com/office/drawing/2010/main" Requires="a14">
          <p:sp>
            <p:nvSpPr>
              <p:cNvPr id="708" name="对象 12"/>
              <p:cNvSpPr txBox="1"/>
              <p:nvPr/>
            </p:nvSpPr>
            <p:spPr>
              <a:xfrm>
                <a:off x="1228680" y="4321080"/>
                <a:ext cx="2494080" cy="555840"/>
              </a:xfrm>
              <a:prstGeom prst="rect">
                <a:avLst/>
              </a:prstGeom>
            </p:spPr>
            <p:txBody>
              <a:bodyPr/>
              <a:p>
                <a14:m>
                  <m:oMath xmlns:m="http://schemas.openxmlformats.org/officeDocument/2006/math">
                    <m:f>
                      <m:num>
                        <m:r>
                          <m:t xml:space="preserve">1</m:t>
                        </m:r>
                      </m:num>
                      <m:den>
                        <m:r>
                          <m:t xml:space="preserve">d</m:t>
                        </m:r>
                        <m:r>
                          <m:t xml:space="preserve">+</m:t>
                        </m:r>
                        <m:r>
                          <m:t xml:space="preserve">2</m:t>
                        </m:r>
                      </m:den>
                    </m:f>
                    <m:r>
                      <m:t xml:space="preserve">=</m:t>
                    </m:r>
                    <m:f>
                      <m:num>
                        <m:r>
                          <m:t xml:space="preserve">1</m:t>
                        </m:r>
                      </m:num>
                      <m:den>
                        <m:r>
                          <m:t xml:space="preserve">d</m:t>
                        </m:r>
                        <m:r>
                          <m:t xml:space="preserve">+</m:t>
                        </m:r>
                        <m:r>
                          <m:t xml:space="preserve">0</m:t>
                        </m:r>
                      </m:den>
                    </m:f>
                    <m:r>
                      <m:t xml:space="preserve">+</m:t>
                    </m:r>
                    <m:f>
                      <m:num>
                        <m:r>
                          <m:t xml:space="preserve">1</m:t>
                        </m:r>
                      </m:num>
                      <m:den>
                        <m:r>
                          <m:t xml:space="preserve">d</m:t>
                        </m:r>
                        <m:r>
                          <m:t xml:space="preserve">+</m:t>
                        </m:r>
                        <m:r>
                          <m:t xml:space="preserve">1</m:t>
                        </m:r>
                      </m:den>
                    </m:f>
                    <m:r>
                      <m:t xml:space="preserve">+</m:t>
                    </m:r>
                    <m:f>
                      <m:num>
                        <m:r>
                          <m:t xml:space="preserve">1</m:t>
                        </m:r>
                      </m:num>
                      <m:den>
                        <m:r>
                          <m:t xml:space="preserve">d</m:t>
                        </m:r>
                        <m:r>
                          <m:t xml:space="preserve">+</m:t>
                        </m:r>
                        <m:r>
                          <m:t xml:space="preserve">4</m:t>
                        </m:r>
                      </m:den>
                    </m:f>
                  </m:oMath>
                </a14:m>
              </a:p>
            </p:txBody>
          </p:sp>
        </mc:Choice>
        <mc:Fallback>
          <p:sp>
            <p:nvSpPr>
              <p:cNvPr id="708" name="对象 12"/>
              <p:cNvSpPr txBox="1"/>
              <p:nvPr/>
            </p:nvSpPr>
            <p:spPr>
              <a:xfrm>
                <a:off x="1228680" y="4321080"/>
                <a:ext cx="2494080" cy="555840"/>
              </a:xfrm>
              <a:prstGeom prst="rect">
                <a:avLst/>
              </a:prstGeom>
              <a:blipFill>
                <a:blip r:embed="rId5"/>
                <a:stretch>
                  <a:fillRect/>
                </a:stretch>
              </a:blipFill>
            </p:spPr>
          </p:sp>
        </mc:Fallback>
      </mc:AlternateContent>
      <mc:AlternateContent>
        <mc:Choice xmlns:a14="http://schemas.microsoft.com/office/drawing/2010/main" Requires="a14">
          <p:sp>
            <p:nvSpPr>
              <p:cNvPr id="709" name="对象 13"/>
              <p:cNvSpPr txBox="1"/>
              <p:nvPr/>
            </p:nvSpPr>
            <p:spPr>
              <a:xfrm>
                <a:off x="4734000" y="4413240"/>
                <a:ext cx="1336680" cy="372960"/>
              </a:xfrm>
              <a:prstGeom prst="rect">
                <a:avLst/>
              </a:prstGeom>
            </p:spPr>
            <p:txBody>
              <a:bodyPr/>
              <a:p>
                <a14:m>
                  <m:oMath xmlns:m="http://schemas.openxmlformats.org/officeDocument/2006/math">
                    <m:r>
                      <m:t xml:space="preserve">d</m:t>
                    </m:r>
                    <m:r>
                      <m:t xml:space="preserve">=</m:t>
                    </m:r>
                    <m:r>
                      <m:t xml:space="preserve">−</m:t>
                    </m:r>
                    <m:r>
                      <m:t xml:space="preserve">0</m:t>
                    </m:r>
                    <m:r>
                      <m:rPr>
                        <m:lit/>
                        <m:nor/>
                      </m:rPr>
                      <m:t xml:space="preserve">.</m:t>
                    </m:r>
                    <m:r>
                      <m:rPr>
                        <m:lit/>
                        <m:nor/>
                      </m:rPr>
                      <m:t xml:space="preserve">55</m:t>
                    </m:r>
                  </m:oMath>
                </a14:m>
              </a:p>
            </p:txBody>
          </p:sp>
        </mc:Choice>
        <mc:Fallback>
          <p:sp>
            <p:nvSpPr>
              <p:cNvPr id="709" name="对象 13"/>
              <p:cNvSpPr txBox="1"/>
              <p:nvPr/>
            </p:nvSpPr>
            <p:spPr>
              <a:xfrm>
                <a:off x="4734000" y="4413240"/>
                <a:ext cx="1336680" cy="372960"/>
              </a:xfrm>
              <a:prstGeom prst="rect">
                <a:avLst/>
              </a:prstGeom>
              <a:blipFill>
                <a:blip r:embed="rId6"/>
                <a:stretch>
                  <a:fillRect/>
                </a:stretch>
              </a:blipFill>
            </p:spPr>
          </p:sp>
        </mc:Fallback>
      </mc:AlternateContent>
    </p:spTree>
  </p:cSld>
  <mc:AlternateContent>
    <mc:Choice Requires="p14">
      <p:transition spd="slow" p14:dur="2000"/>
    </mc:Choice>
    <mc:Fallback>
      <p:transition spd="slow"/>
    </mc:Fallback>
  </mc:AlternateContent>
  <p:timing>
    <p:tnLst>
      <p:par>
        <p:cTn id="1343" dur="indefinite" restart="never" nodeType="tmRoot">
          <p:childTnLst>
            <p:seq>
              <p:cTn id="1344" dur="indefinite" nodeType="mainSeq">
                <p:childTnLst>
                  <p:par>
                    <p:cTn id="1345" fill="hold" nodeType="clickEffect">
                      <p:stCondLst>
                        <p:cond delay="indefinite"/>
                      </p:stCondLst>
                      <p:childTnLst>
                        <p:par>
                          <p:cTn id="1346" fill="hold" nodeType="withEffect">
                            <p:stCondLst>
                              <p:cond delay="0"/>
                            </p:stCondLst>
                            <p:childTnLst>
                              <p:par>
                                <p:cTn id="1347" presetID="2" presetClass="entr" fill="hold" nodeType="clickEffect" presetSubtype="8">
                                  <p:stCondLst>
                                    <p:cond delay="0"/>
                                  </p:stCondLst>
                                  <p:childTnLst>
                                    <p:set>
                                      <p:cBhvr>
                                        <p:cTn id="1348" dur="1" fill="hold">
                                          <p:stCondLst>
                                            <p:cond delay="0"/>
                                          </p:stCondLst>
                                        </p:cTn>
                                        <p:tgtEl>
                                          <p:spTgt spid="703"/>
                                        </p:tgtEl>
                                        <p:attrNameLst>
                                          <p:attrName>style.visibility</p:attrName>
                                        </p:attrNameLst>
                                      </p:cBhvr>
                                      <p:to>
                                        <p:strVal val="visible"/>
                                      </p:to>
                                    </p:set>
                                    <p:anim calcmode="lin" valueType="num">
                                      <p:cBhvr additive="repl">
                                        <p:cTn id="1349" dur="500" fill="hold"/>
                                        <p:tgtEl>
                                          <p:spTgt spid="703"/>
                                        </p:tgtEl>
                                        <p:attrNameLst>
                                          <p:attrName>ppt_x</p:attrName>
                                        </p:attrNameLst>
                                      </p:cBhvr>
                                      <p:tavLst>
                                        <p:tav>
                                          <p:val>
                                            <p:strVal val="0-#ppt_w/2"/>
                                          </p:val>
                                        </p:tav>
                                        <p:tav tm="100000">
                                          <p:val>
                                            <p:strVal val="#ppt_x"/>
                                          </p:val>
                                        </p:tav>
                                      </p:tavLst>
                                    </p:anim>
                                    <p:anim calcmode="lin" valueType="num">
                                      <p:cBhvr additive="repl">
                                        <p:cTn id="1350" dur="500" fill="hold"/>
                                        <p:tgtEl>
                                          <p:spTgt spid="703"/>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0" name="图片 4" descr="untitled"/>
          <p:cNvPicPr/>
          <p:nvPr/>
        </p:nvPicPr>
        <p:blipFill>
          <a:blip r:embed="rId1"/>
          <a:stretch/>
        </p:blipFill>
        <p:spPr>
          <a:xfrm>
            <a:off x="1046160" y="511200"/>
            <a:ext cx="9901080" cy="831852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Text Box 4"/>
          <p:cNvSpPr/>
          <p:nvPr/>
        </p:nvSpPr>
        <p:spPr>
          <a:xfrm>
            <a:off x="235080" y="185760"/>
            <a:ext cx="5613120" cy="60624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华文彩云"/>
                <a:ea typeface="华文彩云"/>
              </a:rPr>
              <a:t>    </a:t>
            </a:r>
            <a:r>
              <a:rPr lang="zh-CN" sz="2800" b="1" u="none" strike="noStrike">
                <a:solidFill>
                  <a:srgbClr val="000000"/>
                </a:solidFill>
                <a:effectLst/>
                <a:uFillTx/>
                <a:latin typeface="黑体"/>
                <a:ea typeface="黑体"/>
              </a:rPr>
              <a:t>例</a:t>
            </a:r>
            <a:r>
              <a:rPr lang="en-US" sz="2800" b="1" u="none" strike="noStrike">
                <a:solidFill>
                  <a:srgbClr val="000000"/>
                </a:solidFill>
                <a:effectLst/>
                <a:uFillTx/>
                <a:latin typeface="黑体"/>
                <a:ea typeface="黑体"/>
              </a:rPr>
              <a:t>4-3</a:t>
            </a: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已知系统开环传函为</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712" name="Object 5"/>
              <p:cNvSpPr txBox="1"/>
              <p:nvPr/>
            </p:nvSpPr>
            <p:spPr>
              <a:xfrm>
                <a:off x="909720" y="614520"/>
                <a:ext cx="3084480" cy="971280"/>
              </a:xfrm>
              <a:prstGeom prst="rect">
                <a:avLst/>
              </a:prstGeom>
            </p:spPr>
            <p:txBody>
              <a:bodyPr/>
              <a:p>
                <a14:m>
                  <m:oMath xmlns:m="http://schemas.openxmlformats.org/officeDocument/2006/math">
                    <m:r>
                      <m:t xml:space="preserve">G</m:t>
                    </m:r>
                    <m:r>
                      <m:t xml:space="preserve">(</m:t>
                    </m:r>
                    <m:r>
                      <m:t xml:space="preserve">s</m:t>
                    </m:r>
                    <m:r>
                      <m:t xml:space="preserve">)</m:t>
                    </m:r>
                    <m:r>
                      <m:t xml:space="preserve">=</m:t>
                    </m:r>
                    <m:f>
                      <m:num>
                        <m:r>
                          <m:t xml:space="preserve">K</m:t>
                        </m:r>
                        <m:r>
                          <m:t xml:space="preserve">(</m:t>
                        </m:r>
                        <m:r>
                          <m:t xml:space="preserve">s</m:t>
                        </m:r>
                        <m:r>
                          <m:t xml:space="preserve">+</m:t>
                        </m:r>
                        <m:r>
                          <m:t xml:space="preserve">1</m:t>
                        </m:r>
                        <m:r>
                          <m:t xml:space="preserve">)</m:t>
                        </m:r>
                      </m:num>
                      <m:den>
                        <m:r>
                          <m:t xml:space="preserve">s</m:t>
                        </m:r>
                        <m:r>
                          <m:t xml:space="preserve">(</m:t>
                        </m:r>
                        <m:r>
                          <m:t xml:space="preserve">s</m:t>
                        </m:r>
                        <m:r>
                          <m:t xml:space="preserve">+</m:t>
                        </m:r>
                        <m:r>
                          <m:t xml:space="preserve">2</m:t>
                        </m:r>
                        <m:r>
                          <m:t xml:space="preserve">)</m:t>
                        </m:r>
                        <m:r>
                          <m:t xml:space="preserve">(</m:t>
                        </m:r>
                        <m:r>
                          <m:t xml:space="preserve">s</m:t>
                        </m:r>
                        <m:r>
                          <m:t xml:space="preserve">+</m:t>
                        </m:r>
                        <m:r>
                          <m:t xml:space="preserve">3</m:t>
                        </m:r>
                        <m:r>
                          <m:t xml:space="preserve">)</m:t>
                        </m:r>
                      </m:den>
                    </m:f>
                  </m:oMath>
                </a14:m>
              </a:p>
            </p:txBody>
          </p:sp>
        </mc:Choice>
        <mc:Fallback>
          <p:sp>
            <p:nvSpPr>
              <p:cNvPr id="712" name="Object 5"/>
              <p:cNvSpPr txBox="1"/>
              <p:nvPr/>
            </p:nvSpPr>
            <p:spPr>
              <a:xfrm>
                <a:off x="909720" y="614520"/>
                <a:ext cx="3084480" cy="971280"/>
              </a:xfrm>
              <a:prstGeom prst="rect">
                <a:avLst/>
              </a:prstGeom>
              <a:blipFill>
                <a:blip r:embed="rId1"/>
                <a:stretch>
                  <a:fillRect/>
                </a:stretch>
              </a:blipFill>
            </p:spPr>
          </p:sp>
        </mc:Fallback>
      </mc:AlternateContent>
      <p:sp>
        <p:nvSpPr>
          <p:cNvPr id="713" name="Text Box 6"/>
          <p:cNvSpPr/>
          <p:nvPr/>
        </p:nvSpPr>
        <p:spPr>
          <a:xfrm>
            <a:off x="142920" y="1623960"/>
            <a:ext cx="3921120" cy="163080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试绘制系统的根轨迹。       </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解：</a:t>
            </a:r>
            <a:endParaRPr lang="en-US" sz="2800" b="1" u="none" strike="noStrike">
              <a:solidFill>
                <a:srgbClr val="000000"/>
              </a:solidFill>
              <a:effectLst/>
              <a:uFillTx/>
              <a:latin typeface="Times New Roman"/>
            </a:endParaRPr>
          </a:p>
        </p:txBody>
      </p:sp>
      <p:grpSp>
        <p:nvGrpSpPr>
          <p:cNvPr id="714" name="Group 47"/>
          <p:cNvGrpSpPr/>
          <p:nvPr/>
        </p:nvGrpSpPr>
        <p:grpSpPr>
          <a:xfrm>
            <a:off x="4211640" y="0"/>
            <a:ext cx="4932360" cy="4328640"/>
            <a:chOff x="4211640" y="0"/>
            <a:chExt cx="4932360" cy="4328640"/>
          </a:xfrm>
        </p:grpSpPr>
        <p:sp>
          <p:nvSpPr>
            <p:cNvPr id="715" name="Line 9"/>
            <p:cNvSpPr/>
            <p:nvPr/>
          </p:nvSpPr>
          <p:spPr>
            <a:xfrm flipV="1">
              <a:off x="8307360" y="137880"/>
              <a:ext cx="0" cy="419076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16" name="Rectangle 10"/>
            <p:cNvSpPr/>
            <p:nvPr/>
          </p:nvSpPr>
          <p:spPr>
            <a:xfrm>
              <a:off x="8742240" y="2084400"/>
              <a:ext cx="40176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717" name="Rectangle 11"/>
            <p:cNvSpPr/>
            <p:nvPr/>
          </p:nvSpPr>
          <p:spPr>
            <a:xfrm>
              <a:off x="8194680" y="243504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718" name="Line 12"/>
            <p:cNvSpPr/>
            <p:nvPr/>
          </p:nvSpPr>
          <p:spPr>
            <a:xfrm>
              <a:off x="4211640" y="2382840"/>
              <a:ext cx="4562280" cy="1440"/>
            </a:xfrm>
            <a:prstGeom prst="line">
              <a:avLst/>
            </a:prstGeom>
            <a:ln cap="sq" w="57240">
              <a:solidFill>
                <a:srgbClr val="0000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719" name="Line 14"/>
            <p:cNvSpPr/>
            <p:nvPr/>
          </p:nvSpPr>
          <p:spPr>
            <a:xfrm>
              <a:off x="7343640" y="2279520"/>
              <a:ext cx="1800" cy="1555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20" name="Line 15"/>
            <p:cNvSpPr/>
            <p:nvPr/>
          </p:nvSpPr>
          <p:spPr>
            <a:xfrm>
              <a:off x="7343640" y="2297160"/>
              <a:ext cx="1800" cy="1555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21" name="Line 17"/>
            <p:cNvSpPr/>
            <p:nvPr/>
          </p:nvSpPr>
          <p:spPr>
            <a:xfrm>
              <a:off x="6348240" y="2297160"/>
              <a:ext cx="1800" cy="1555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22" name="Line 18"/>
            <p:cNvSpPr/>
            <p:nvPr/>
          </p:nvSpPr>
          <p:spPr>
            <a:xfrm>
              <a:off x="6348240" y="2279520"/>
              <a:ext cx="1800" cy="1555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23" name="Line 20"/>
            <p:cNvSpPr/>
            <p:nvPr/>
          </p:nvSpPr>
          <p:spPr>
            <a:xfrm flipV="1">
              <a:off x="8223120" y="3427920"/>
              <a:ext cx="146160" cy="6120"/>
            </a:xfrm>
            <a:prstGeom prst="line">
              <a:avLst/>
            </a:prstGeom>
            <a:ln w="57240">
              <a:solidFill>
                <a:srgbClr val="000000"/>
              </a:solidFill>
              <a:miter/>
            </a:ln>
          </p:spPr>
          <p:style>
            <a:lnRef idx="0"/>
            <a:fillRef idx="0"/>
            <a:effectRef idx="0"/>
            <a:fontRef idx="minor"/>
          </p:style>
          <p:txBody>
            <a:bodyPr lIns="90000" tIns="-40680" rIns="90000" bIns="-40680" anchor="t">
              <a:noAutofit/>
            </a:bodyPr>
            <a:p>
              <a:endParaRPr lang="en-US" sz="2800" b="1" u="none" strike="noStrike">
                <a:solidFill>
                  <a:srgbClr val="000000"/>
                </a:solidFill>
                <a:effectLst/>
                <a:uFillTx/>
                <a:latin typeface="Times New Roman"/>
              </a:endParaRPr>
            </a:p>
          </p:txBody>
        </p:sp>
        <p:sp>
          <p:nvSpPr>
            <p:cNvPr id="724" name="Line 22"/>
            <p:cNvSpPr/>
            <p:nvPr/>
          </p:nvSpPr>
          <p:spPr>
            <a:xfrm flipV="1">
              <a:off x="8244000" y="1289520"/>
              <a:ext cx="144360" cy="6120"/>
            </a:xfrm>
            <a:prstGeom prst="line">
              <a:avLst/>
            </a:prstGeom>
            <a:ln w="57240">
              <a:solidFill>
                <a:srgbClr val="000000"/>
              </a:solidFill>
              <a:miter/>
            </a:ln>
          </p:spPr>
          <p:style>
            <a:lnRef idx="0"/>
            <a:fillRef idx="0"/>
            <a:effectRef idx="0"/>
            <a:fontRef idx="minor"/>
          </p:style>
          <p:txBody>
            <a:bodyPr lIns="90000" tIns="-40680" rIns="90000" bIns="-40680" anchor="t">
              <a:noAutofit/>
            </a:bodyPr>
            <a:p>
              <a:endParaRPr lang="en-US" sz="2800" b="1" u="none" strike="noStrike">
                <a:solidFill>
                  <a:srgbClr val="000000"/>
                </a:solidFill>
                <a:effectLst/>
                <a:uFillTx/>
                <a:latin typeface="Times New Roman"/>
              </a:endParaRPr>
            </a:p>
          </p:txBody>
        </p:sp>
        <p:sp>
          <p:nvSpPr>
            <p:cNvPr id="725" name="Rectangle 24"/>
            <p:cNvSpPr/>
            <p:nvPr/>
          </p:nvSpPr>
          <p:spPr>
            <a:xfrm>
              <a:off x="8444160" y="0"/>
              <a:ext cx="50904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726" name="Line 39"/>
            <p:cNvSpPr/>
            <p:nvPr/>
          </p:nvSpPr>
          <p:spPr>
            <a:xfrm>
              <a:off x="5354640" y="2276640"/>
              <a:ext cx="1440" cy="1555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27" name="Line 45"/>
            <p:cNvSpPr/>
            <p:nvPr/>
          </p:nvSpPr>
          <p:spPr>
            <a:xfrm>
              <a:off x="4311720" y="2274840"/>
              <a:ext cx="0" cy="1555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728" name="Group 29"/>
          <p:cNvGrpSpPr/>
          <p:nvPr/>
        </p:nvGrpSpPr>
        <p:grpSpPr>
          <a:xfrm>
            <a:off x="5216400" y="2220840"/>
            <a:ext cx="287280" cy="290520"/>
            <a:chOff x="5216400" y="2220840"/>
            <a:chExt cx="287280" cy="290520"/>
          </a:xfrm>
        </p:grpSpPr>
        <p:sp>
          <p:nvSpPr>
            <p:cNvPr id="729" name="Line 30"/>
            <p:cNvSpPr/>
            <p:nvPr/>
          </p:nvSpPr>
          <p:spPr>
            <a:xfrm>
              <a:off x="5219640" y="222876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30" name="Line 31"/>
            <p:cNvSpPr/>
            <p:nvPr/>
          </p:nvSpPr>
          <p:spPr>
            <a:xfrm flipH="1">
              <a:off x="5216400" y="222084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731" name="Group 35"/>
          <p:cNvGrpSpPr/>
          <p:nvPr/>
        </p:nvGrpSpPr>
        <p:grpSpPr>
          <a:xfrm>
            <a:off x="6205680" y="2205000"/>
            <a:ext cx="287280" cy="290520"/>
            <a:chOff x="6205680" y="2205000"/>
            <a:chExt cx="287280" cy="290520"/>
          </a:xfrm>
        </p:grpSpPr>
        <p:sp>
          <p:nvSpPr>
            <p:cNvPr id="732" name="Line 36"/>
            <p:cNvSpPr/>
            <p:nvPr/>
          </p:nvSpPr>
          <p:spPr>
            <a:xfrm>
              <a:off x="6208920" y="22129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33" name="Line 37"/>
            <p:cNvSpPr/>
            <p:nvPr/>
          </p:nvSpPr>
          <p:spPr>
            <a:xfrm flipH="1">
              <a:off x="6205680" y="22050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734" name="Group 32"/>
          <p:cNvGrpSpPr/>
          <p:nvPr/>
        </p:nvGrpSpPr>
        <p:grpSpPr>
          <a:xfrm>
            <a:off x="8167680" y="2205000"/>
            <a:ext cx="287280" cy="290520"/>
            <a:chOff x="8167680" y="2205000"/>
            <a:chExt cx="287280" cy="290520"/>
          </a:xfrm>
        </p:grpSpPr>
        <p:sp>
          <p:nvSpPr>
            <p:cNvPr id="735" name="Line 33"/>
            <p:cNvSpPr/>
            <p:nvPr/>
          </p:nvSpPr>
          <p:spPr>
            <a:xfrm>
              <a:off x="8170920" y="22129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36" name="Line 34"/>
            <p:cNvSpPr/>
            <p:nvPr/>
          </p:nvSpPr>
          <p:spPr>
            <a:xfrm flipH="1">
              <a:off x="8167680" y="22050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useBgFill="1">
        <p:nvSpPr>
          <p:cNvPr id="737" name="Oval 51"/>
          <p:cNvSpPr/>
          <p:nvPr/>
        </p:nvSpPr>
        <p:spPr>
          <a:xfrm>
            <a:off x="7161120" y="2163600"/>
            <a:ext cx="327240" cy="32724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738" name="Object 55"/>
              <p:cNvSpPr txBox="1"/>
              <p:nvPr/>
            </p:nvSpPr>
            <p:spPr>
              <a:xfrm>
                <a:off x="189000" y="2906640"/>
                <a:ext cx="5843520" cy="1433520"/>
              </a:xfrm>
              <a:prstGeom prst="rect">
                <a:avLst/>
              </a:prstGeom>
            </p:spPr>
            <p:txBody>
              <a:bodyPr/>
              <a:p>
                <a14:m>
                  <m:oMath xmlns:m="http://schemas.openxmlformats.org/officeDocument/2006/math">
                    <m:sSub>
                      <m:e>
                        <m:r>
                          <m:t xml:space="preserve">σ</m:t>
                        </m:r>
                      </m:e>
                      <m:sub>
                        <m:r>
                          <m:t xml:space="preserve">a</m:t>
                        </m:r>
                      </m:sub>
                    </m:sSub>
                    <m:r>
                      <m:t xml:space="preserve">=</m:t>
                    </m:r>
                    <m:f>
                      <m:num>
                        <m:nary>
                          <m:naryPr>
                            <m:chr m:val="∑"/>
                          </m:naryPr>
                          <m:sub>
                            <m:r>
                              <m:t xml:space="preserve">j</m:t>
                            </m:r>
                            <m:r>
                              <m:t xml:space="preserve">=</m:t>
                            </m:r>
                            <m:r>
                              <m:t xml:space="preserve">1</m:t>
                            </m:r>
                          </m:sub>
                          <m:sup>
                            <m:r>
                              <m:t xml:space="preserve">n</m:t>
                            </m:r>
                          </m:sup>
                          <m:e>
                            <m:sSub>
                              <m:e>
                                <m:r>
                                  <m:t xml:space="preserve">p</m:t>
                                </m:r>
                              </m:e>
                              <m:sub>
                                <m:r>
                                  <m:t xml:space="preserve">j</m:t>
                                </m:r>
                              </m:sub>
                            </m:sSub>
                          </m:e>
                        </m:nary>
                        <m:r>
                          <m:t xml:space="preserve">−</m:t>
                        </m:r>
                        <m:nary>
                          <m:naryPr>
                            <m:chr m:val="∑"/>
                          </m:naryPr>
                          <m:sub>
                            <m:r>
                              <m:t xml:space="preserve">i</m:t>
                            </m:r>
                            <m:r>
                              <m:t xml:space="preserve">=</m:t>
                            </m:r>
                            <m:r>
                              <m:t xml:space="preserve">1</m:t>
                            </m:r>
                          </m:sub>
                          <m:sup>
                            <m:r>
                              <m:t xml:space="preserve">m</m:t>
                            </m:r>
                          </m:sup>
                          <m:e>
                            <m:sSub>
                              <m:e>
                                <m:r>
                                  <m:t xml:space="preserve">z</m:t>
                                </m:r>
                              </m:e>
                              <m:sub>
                                <m:r>
                                  <m:t xml:space="preserve">i</m:t>
                                </m:r>
                              </m:sub>
                            </m:sSub>
                          </m:e>
                        </m:nary>
                      </m:num>
                      <m:den>
                        <m:r>
                          <m:t xml:space="preserve">n</m:t>
                        </m:r>
                        <m:r>
                          <m:t xml:space="preserve">−</m:t>
                        </m:r>
                        <m:r>
                          <m:t xml:space="preserve">m</m:t>
                        </m:r>
                      </m:den>
                    </m:f>
                    <m:r>
                      <m:t xml:space="preserve">=</m:t>
                    </m:r>
                    <m:f>
                      <m:num>
                        <m:r>
                          <m:t xml:space="preserve">0</m:t>
                        </m:r>
                        <m:r>
                          <m:t xml:space="preserve">−</m:t>
                        </m:r>
                        <m:r>
                          <m:t xml:space="preserve">2</m:t>
                        </m:r>
                        <m:r>
                          <m:t xml:space="preserve">−</m:t>
                        </m:r>
                        <m:r>
                          <m:t xml:space="preserve">3</m:t>
                        </m:r>
                        <m:r>
                          <m:t xml:space="preserve">−</m:t>
                        </m:r>
                        <m:r>
                          <m:t xml:space="preserve">(</m:t>
                        </m:r>
                        <m:r>
                          <m:t xml:space="preserve">−</m:t>
                        </m:r>
                        <m:r>
                          <m:t xml:space="preserve">1</m:t>
                        </m:r>
                        <m:r>
                          <m:t xml:space="preserve">)</m:t>
                        </m:r>
                      </m:num>
                      <m:den>
                        <m:r>
                          <m:t xml:space="preserve">3</m:t>
                        </m:r>
                        <m:r>
                          <m:t xml:space="preserve">−</m:t>
                        </m:r>
                        <m:r>
                          <m:t xml:space="preserve">1</m:t>
                        </m:r>
                      </m:den>
                    </m:f>
                    <m:r>
                      <m:t xml:space="preserve">=</m:t>
                    </m:r>
                    <m:r>
                      <m:t xml:space="preserve">−</m:t>
                    </m:r>
                    <m:r>
                      <m:t xml:space="preserve">2</m:t>
                    </m:r>
                  </m:oMath>
                </a14:m>
              </a:p>
            </p:txBody>
          </p:sp>
        </mc:Choice>
        <mc:Fallback>
          <p:sp>
            <p:nvSpPr>
              <p:cNvPr id="738" name="Object 55"/>
              <p:cNvSpPr txBox="1"/>
              <p:nvPr/>
            </p:nvSpPr>
            <p:spPr>
              <a:xfrm>
                <a:off x="189000" y="2906640"/>
                <a:ext cx="5843520" cy="1433520"/>
              </a:xfrm>
              <a:prstGeom prst="rect">
                <a:avLst/>
              </a:prstGeom>
              <a:blipFill>
                <a:blip r:embed="rId2"/>
                <a:stretch>
                  <a:fillRect/>
                </a:stretch>
              </a:blipFill>
            </p:spPr>
          </p:sp>
        </mc:Fallback>
      </mc:AlternateContent>
      <mc:AlternateContent>
        <mc:Choice xmlns:a14="http://schemas.microsoft.com/office/drawing/2010/main" Requires="a14">
          <p:sp>
            <p:nvSpPr>
              <p:cNvPr id="739" name="Object 56"/>
              <p:cNvSpPr txBox="1"/>
              <p:nvPr/>
            </p:nvSpPr>
            <p:spPr>
              <a:xfrm>
                <a:off x="290520" y="4435560"/>
                <a:ext cx="2865600" cy="915840"/>
              </a:xfrm>
              <a:prstGeom prst="rect">
                <a:avLst/>
              </a:prstGeom>
            </p:spPr>
            <p:txBody>
              <a:bodyPr/>
              <a:p>
                <a14:m>
                  <m:oMath xmlns:m="http://schemas.openxmlformats.org/officeDocument/2006/math">
                    <m:sSub>
                      <m:e>
                        <m:r>
                          <m:t xml:space="preserve">ϕ</m:t>
                        </m:r>
                      </m:e>
                      <m:sub>
                        <m:r>
                          <m:t xml:space="preserve">a</m:t>
                        </m:r>
                      </m:sub>
                    </m:sSub>
                    <m:r>
                      <m:t xml:space="preserve">=</m:t>
                    </m:r>
                    <m:f>
                      <m:num>
                        <m:r>
                          <m:t xml:space="preserve">2</m:t>
                        </m:r>
                        <m:r>
                          <m:t xml:space="preserve">k</m:t>
                        </m:r>
                        <m:r>
                          <m:t xml:space="preserve">+</m:t>
                        </m:r>
                        <m:r>
                          <m:t xml:space="preserve">1</m:t>
                        </m:r>
                      </m:num>
                      <m:den>
                        <m:r>
                          <m:t xml:space="preserve">2</m:t>
                        </m:r>
                      </m:den>
                    </m:f>
                    <m:r>
                      <m:t xml:space="preserve">π</m:t>
                    </m:r>
                    <m:r>
                      <m:t xml:space="preserve">=</m:t>
                    </m:r>
                    <m:r>
                      <m:t xml:space="preserve">±</m:t>
                    </m:r>
                    <m:f>
                      <m:num>
                        <m:r>
                          <m:t xml:space="preserve">π</m:t>
                        </m:r>
                      </m:num>
                      <m:den>
                        <m:r>
                          <m:t xml:space="preserve">2</m:t>
                        </m:r>
                      </m:den>
                    </m:f>
                  </m:oMath>
                </a14:m>
              </a:p>
            </p:txBody>
          </p:sp>
        </mc:Choice>
        <mc:Fallback>
          <p:sp>
            <p:nvSpPr>
              <p:cNvPr id="739" name="Object 56"/>
              <p:cNvSpPr txBox="1"/>
              <p:nvPr/>
            </p:nvSpPr>
            <p:spPr>
              <a:xfrm>
                <a:off x="290520" y="4435560"/>
                <a:ext cx="2865600" cy="915840"/>
              </a:xfrm>
              <a:prstGeom prst="rect">
                <a:avLst/>
              </a:prstGeom>
              <a:blipFill>
                <a:blip r:embed="rId3"/>
                <a:stretch>
                  <a:fillRect/>
                </a:stretch>
              </a:blipFill>
            </p:spPr>
          </p:sp>
        </mc:Fallback>
      </mc:AlternateContent>
      <p:sp>
        <p:nvSpPr>
          <p:cNvPr id="740" name="Line 57"/>
          <p:cNvSpPr/>
          <p:nvPr/>
        </p:nvSpPr>
        <p:spPr>
          <a:xfrm>
            <a:off x="6323040" y="44280"/>
            <a:ext cx="61920" cy="4324680"/>
          </a:xfrm>
          <a:prstGeom prst="line">
            <a:avLst/>
          </a:prstGeom>
          <a:ln cap="rnd" w="76320">
            <a:solidFill>
              <a:srgbClr val="000000"/>
            </a:solidFill>
            <a:custDash>
              <a:ds d="100000" sp="1000"/>
            </a:custDash>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41" name="Line 58"/>
          <p:cNvSpPr/>
          <p:nvPr/>
        </p:nvSpPr>
        <p:spPr>
          <a:xfrm>
            <a:off x="7473960" y="2365200"/>
            <a:ext cx="871560" cy="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42" name="Line 59"/>
          <p:cNvSpPr/>
          <p:nvPr/>
        </p:nvSpPr>
        <p:spPr>
          <a:xfrm>
            <a:off x="5442120" y="2365200"/>
            <a:ext cx="46512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743" name="Object 60"/>
              <p:cNvSpPr txBox="1"/>
              <p:nvPr/>
            </p:nvSpPr>
            <p:spPr>
              <a:xfrm>
                <a:off x="189000" y="5433840"/>
                <a:ext cx="3632040" cy="930600"/>
              </a:xfrm>
              <a:prstGeom prst="rect">
                <a:avLst/>
              </a:prstGeom>
            </p:spPr>
            <p:txBody>
              <a:bodyPr/>
              <a:p>
                <a14:m>
                  <m:oMath xmlns:m="http://schemas.openxmlformats.org/officeDocument/2006/math">
                    <m:f>
                      <m:num>
                        <m:r>
                          <m:t xml:space="preserve">1</m:t>
                        </m:r>
                      </m:num>
                      <m:den>
                        <m:r>
                          <m:t xml:space="preserve">d</m:t>
                        </m:r>
                        <m:r>
                          <m:t xml:space="preserve">+</m:t>
                        </m:r>
                        <m:r>
                          <m:t xml:space="preserve">1</m:t>
                        </m:r>
                      </m:den>
                    </m:f>
                    <m:r>
                      <m:t xml:space="preserve">=</m:t>
                    </m:r>
                    <m:f>
                      <m:num>
                        <m:r>
                          <m:t xml:space="preserve">1</m:t>
                        </m:r>
                      </m:num>
                      <m:den>
                        <m:r>
                          <m:t xml:space="preserve">d</m:t>
                        </m:r>
                      </m:den>
                    </m:f>
                    <m:r>
                      <m:t xml:space="preserve">+</m:t>
                    </m:r>
                    <m:f>
                      <m:num>
                        <m:r>
                          <m:t xml:space="preserve">1</m:t>
                        </m:r>
                      </m:num>
                      <m:den>
                        <m:r>
                          <m:t xml:space="preserve">d</m:t>
                        </m:r>
                        <m:r>
                          <m:t xml:space="preserve">+</m:t>
                        </m:r>
                        <m:r>
                          <m:t xml:space="preserve">2</m:t>
                        </m:r>
                      </m:den>
                    </m:f>
                    <m:r>
                      <m:t xml:space="preserve">+</m:t>
                    </m:r>
                    <m:f>
                      <m:num>
                        <m:r>
                          <m:t xml:space="preserve">1</m:t>
                        </m:r>
                      </m:num>
                      <m:den>
                        <m:r>
                          <m:t xml:space="preserve">d</m:t>
                        </m:r>
                        <m:r>
                          <m:t xml:space="preserve">+</m:t>
                        </m:r>
                        <m:r>
                          <m:t xml:space="preserve">3</m:t>
                        </m:r>
                      </m:den>
                    </m:f>
                  </m:oMath>
                </a14:m>
              </a:p>
            </p:txBody>
          </p:sp>
        </mc:Choice>
        <mc:Fallback>
          <p:sp>
            <p:nvSpPr>
              <p:cNvPr id="743" name="Object 60"/>
              <p:cNvSpPr txBox="1"/>
              <p:nvPr/>
            </p:nvSpPr>
            <p:spPr>
              <a:xfrm>
                <a:off x="189000" y="5433840"/>
                <a:ext cx="3632040" cy="930600"/>
              </a:xfrm>
              <a:prstGeom prst="rect">
                <a:avLst/>
              </a:prstGeom>
              <a:blipFill>
                <a:blip r:embed="rId4"/>
                <a:stretch>
                  <a:fillRect/>
                </a:stretch>
              </a:blipFill>
            </p:spPr>
          </p:sp>
        </mc:Fallback>
      </mc:AlternateContent>
      <p:sp>
        <p:nvSpPr>
          <p:cNvPr id="744" name="Text Box 61"/>
          <p:cNvSpPr/>
          <p:nvPr/>
        </p:nvSpPr>
        <p:spPr>
          <a:xfrm>
            <a:off x="4064040" y="4414680"/>
            <a:ext cx="5079960" cy="374904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d </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2.5    </a:t>
            </a:r>
            <a:r>
              <a:rPr lang="zh-CN" sz="2800" b="1" u="none" strike="noStrike">
                <a:solidFill>
                  <a:srgbClr val="000000"/>
                </a:solidFill>
                <a:effectLst/>
                <a:uFillTx/>
                <a:latin typeface="Times New Roman"/>
              </a:rPr>
              <a:t>左</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0.67  </a:t>
            </a:r>
            <a:r>
              <a:rPr lang="zh-CN" sz="2800" b="1" u="none" strike="noStrike">
                <a:solidFill>
                  <a:srgbClr val="000000"/>
                </a:solidFill>
                <a:effectLst/>
                <a:uFillTx/>
                <a:latin typeface="Times New Roman"/>
              </a:rPr>
              <a:t>右</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0.4</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d </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2.01  </a:t>
            </a:r>
            <a:r>
              <a:rPr lang="zh-CN" sz="2800" b="1" u="none" strike="noStrike">
                <a:solidFill>
                  <a:srgbClr val="000000"/>
                </a:solidFill>
                <a:effectLst/>
                <a:uFillTx/>
                <a:latin typeface="Times New Roman"/>
              </a:rPr>
              <a:t>左</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0.99  </a:t>
            </a:r>
            <a:r>
              <a:rPr lang="zh-CN" sz="2800" b="1" u="none" strike="noStrike">
                <a:solidFill>
                  <a:srgbClr val="000000"/>
                </a:solidFill>
                <a:effectLst/>
                <a:uFillTx/>
                <a:latin typeface="Times New Roman"/>
              </a:rPr>
              <a:t>右</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99.49</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d </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2.25  </a:t>
            </a:r>
            <a:r>
              <a:rPr lang="zh-CN" sz="2800" b="1" u="none" strike="noStrike">
                <a:solidFill>
                  <a:srgbClr val="000000"/>
                </a:solidFill>
                <a:effectLst/>
                <a:uFillTx/>
                <a:latin typeface="Times New Roman"/>
              </a:rPr>
              <a:t>左</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0.8   </a:t>
            </a:r>
            <a:r>
              <a:rPr lang="zh-CN" sz="2800" b="1" u="none" strike="noStrike">
                <a:solidFill>
                  <a:srgbClr val="000000"/>
                </a:solidFill>
                <a:effectLst/>
                <a:uFillTx/>
                <a:latin typeface="Times New Roman"/>
              </a:rPr>
              <a:t>右</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3.11</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d </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2.47  </a:t>
            </a:r>
            <a:r>
              <a:rPr lang="zh-CN" sz="2800" b="1" u="none" strike="noStrike">
                <a:solidFill>
                  <a:srgbClr val="000000"/>
                </a:solidFill>
                <a:effectLst/>
                <a:uFillTx/>
                <a:latin typeface="Times New Roman"/>
              </a:rPr>
              <a:t>左</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0.68 </a:t>
            </a:r>
            <a:r>
              <a:rPr lang="zh-CN" sz="2800" b="1" u="none" strike="noStrike">
                <a:solidFill>
                  <a:srgbClr val="000000"/>
                </a:solidFill>
                <a:effectLst/>
                <a:uFillTx/>
                <a:latin typeface="Times New Roman"/>
              </a:rPr>
              <a:t>右</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0.65</a:t>
            </a:r>
            <a:endParaRPr lang="en-US" sz="2800" b="1" u="none" strike="noStrike">
              <a:solidFill>
                <a:srgbClr val="000000"/>
              </a:solidFill>
              <a:effectLst/>
              <a:uFillTx/>
              <a:latin typeface="Times New Roman"/>
            </a:endParaRPr>
          </a:p>
        </p:txBody>
      </p:sp>
      <p:sp>
        <p:nvSpPr>
          <p:cNvPr id="745" name="Line 62"/>
          <p:cNvSpPr/>
          <p:nvPr/>
        </p:nvSpPr>
        <p:spPr>
          <a:xfrm>
            <a:off x="5892840" y="2251080"/>
            <a:ext cx="0" cy="231840"/>
          </a:xfrm>
          <a:prstGeom prst="line">
            <a:avLst/>
          </a:prstGeom>
          <a:ln w="7632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46" name="AutoShape 66"/>
          <p:cNvSpPr/>
          <p:nvPr/>
        </p:nvSpPr>
        <p:spPr>
          <a:xfrm>
            <a:off x="3726000" y="2730600"/>
            <a:ext cx="1261800" cy="377640"/>
          </a:xfrm>
          <a:custGeom>
            <a:avLst/>
            <a:gdLst/>
            <a:ahLst/>
            <a:rect l="l" t="t" r="r" b="b"/>
            <a:pathLst>
              <a:path stroke="0" w="21600" h="21600">
                <a:moveTo>
                  <a:pt x="0" y="0"/>
                </a:moveTo>
                <a:lnTo>
                  <a:pt x="21600" y="0"/>
                </a:lnTo>
                <a:lnTo>
                  <a:pt x="21600" y="21600"/>
                </a:lnTo>
                <a:lnTo>
                  <a:pt x="0" y="21600"/>
                </a:lnTo>
                <a:close/>
              </a:path>
              <a:path w="21600" h="21600">
                <a:moveTo>
                  <a:pt x="36353" y="-16699"/>
                </a:moveTo>
                <a:lnTo>
                  <a:pt x="22904" y="6534"/>
                </a:lnTo>
              </a:path>
            </a:pathLst>
          </a:custGeom>
          <a:noFill/>
          <a:ln w="38160">
            <a:solidFill>
              <a:srgbClr val="000000"/>
            </a:solidFill>
            <a:miter/>
          </a:ln>
        </p:spPr>
        <p:style>
          <a:lnRef idx="0"/>
          <a:fillRef idx="0"/>
          <a:effectRef idx="0"/>
          <a:fontRef idx="minor"/>
        </p:style>
        <p:txBody>
          <a:bodyPr lIns="0" tIns="46800" rIns="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d = </a:t>
            </a:r>
            <a:r>
              <a:rPr lang="en-US" sz="2400" b="1" u="none" strike="noStrike">
                <a:solidFill>
                  <a:srgbClr val="000000"/>
                </a:solidFill>
                <a:effectLst/>
                <a:uFillTx/>
                <a:latin typeface="Symbol"/>
                <a:ea typeface="Symbol"/>
              </a:rPr>
              <a:t></a:t>
            </a:r>
            <a:r>
              <a:rPr lang="en-US" sz="2400" b="1" u="none" strike="noStrike">
                <a:solidFill>
                  <a:srgbClr val="000000"/>
                </a:solidFill>
                <a:effectLst/>
                <a:uFillTx/>
                <a:latin typeface="Times New Roman"/>
              </a:rPr>
              <a:t>2.47</a:t>
            </a:r>
            <a:endParaRPr lang="en-US" sz="2400" b="1" u="none" strike="noStrike">
              <a:solidFill>
                <a:srgbClr val="000000"/>
              </a:solidFill>
              <a:effectLst/>
              <a:uFillTx/>
              <a:latin typeface="Times New Roman"/>
            </a:endParaRPr>
          </a:p>
        </p:txBody>
      </p:sp>
      <p:sp>
        <p:nvSpPr>
          <p:cNvPr id="747" name="Line 67"/>
          <p:cNvSpPr/>
          <p:nvPr/>
        </p:nvSpPr>
        <p:spPr>
          <a:xfrm>
            <a:off x="5921280" y="2365200"/>
            <a:ext cx="479520" cy="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748" name="Group 70"/>
          <p:cNvGrpSpPr/>
          <p:nvPr/>
        </p:nvGrpSpPr>
        <p:grpSpPr>
          <a:xfrm>
            <a:off x="5892840" y="276120"/>
            <a:ext cx="290520" cy="2060280"/>
            <a:chOff x="5892840" y="276120"/>
            <a:chExt cx="290520" cy="2060280"/>
          </a:xfrm>
        </p:grpSpPr>
        <p:sp>
          <p:nvSpPr>
            <p:cNvPr id="749" name="Freeform 63"/>
            <p:cNvSpPr/>
            <p:nvPr/>
          </p:nvSpPr>
          <p:spPr>
            <a:xfrm>
              <a:off x="5892840" y="276120"/>
              <a:ext cx="290520" cy="2060280"/>
            </a:xfrm>
            <a:custGeom>
              <a:avLst/>
              <a:gdLst>
                <a:gd name="GluePoint1X" fmla="*/ 0 w 183"/>
                <a:gd name="GluePoint1Y" fmla="*/ 1298 h 1298"/>
                <a:gd name="GluePoint2X" fmla="*/ 27 w 183"/>
                <a:gd name="GluePoint2Y" fmla="*/ 1042 h 1298"/>
                <a:gd name="GluePoint3X" fmla="*/ 110 w 183"/>
                <a:gd name="GluePoint3Y" fmla="*/ 685 h 1298"/>
                <a:gd name="GluePoint4X" fmla="*/ 183 w 183"/>
                <a:gd name="GluePoint4Y" fmla="*/ 0 h 1298"/>
              </a:gdLst>
              <a:ahLst/>
              <a:cxnLst>
                <a:cxn ang="0">
                  <a:pos x="GluePoint1X" y="GluePoint1Y"/>
                </a:cxn>
                <a:cxn ang="0">
                  <a:pos x="GluePoint2X" y="GluePoint2Y"/>
                </a:cxn>
                <a:cxn ang="0">
                  <a:pos x="GluePoint3X" y="GluePoint3Y"/>
                </a:cxn>
                <a:cxn ang="0">
                  <a:pos x="GluePoint4X" y="GluePoint4Y"/>
                </a:cxn>
              </a:cxnLst>
              <a:rect l="l" t="t" r="r" b="b"/>
              <a:pathLst>
                <a:path w="183" h="1298">
                  <a:moveTo>
                    <a:pt x="0" y="1298"/>
                  </a:moveTo>
                  <a:cubicBezTo>
                    <a:pt x="4" y="1255"/>
                    <a:pt x="9" y="1144"/>
                    <a:pt x="27" y="1042"/>
                  </a:cubicBezTo>
                  <a:cubicBezTo>
                    <a:pt x="45" y="940"/>
                    <a:pt x="84" y="859"/>
                    <a:pt x="110" y="685"/>
                  </a:cubicBezTo>
                  <a:cubicBezTo>
                    <a:pt x="136" y="511"/>
                    <a:pt x="171" y="114"/>
                    <a:pt x="183"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50" name="Line 69"/>
            <p:cNvSpPr/>
            <p:nvPr/>
          </p:nvSpPr>
          <p:spPr>
            <a:xfrm flipV="1">
              <a:off x="6110280" y="828000"/>
              <a:ext cx="0" cy="27612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751" name="Group 71"/>
          <p:cNvGrpSpPr/>
          <p:nvPr/>
        </p:nvGrpSpPr>
        <p:grpSpPr>
          <a:xfrm>
            <a:off x="5894280" y="2319120"/>
            <a:ext cx="290520" cy="2060280"/>
            <a:chOff x="5894280" y="2319120"/>
            <a:chExt cx="290520" cy="2060280"/>
          </a:xfrm>
        </p:grpSpPr>
        <p:sp>
          <p:nvSpPr>
            <p:cNvPr id="752" name="Freeform 72"/>
            <p:cNvSpPr/>
            <p:nvPr/>
          </p:nvSpPr>
          <p:spPr>
            <a:xfrm flipV="1">
              <a:off x="5894280" y="2318760"/>
              <a:ext cx="290520" cy="2060280"/>
            </a:xfrm>
            <a:custGeom>
              <a:avLst/>
              <a:gdLst>
                <a:gd name="GluePoint1X" fmla="*/ 0 w 183"/>
                <a:gd name="GluePoint1Y" fmla="*/ 1298 h 1298"/>
                <a:gd name="GluePoint2X" fmla="*/ 27 w 183"/>
                <a:gd name="GluePoint2Y" fmla="*/ 1042 h 1298"/>
                <a:gd name="GluePoint3X" fmla="*/ 110 w 183"/>
                <a:gd name="GluePoint3Y" fmla="*/ 685 h 1298"/>
                <a:gd name="GluePoint4X" fmla="*/ 183 w 183"/>
                <a:gd name="GluePoint4Y" fmla="*/ 0 h 1298"/>
              </a:gdLst>
              <a:ahLst/>
              <a:cxnLst>
                <a:cxn ang="0">
                  <a:pos x="GluePoint1X" y="GluePoint1Y"/>
                </a:cxn>
                <a:cxn ang="0">
                  <a:pos x="GluePoint2X" y="GluePoint2Y"/>
                </a:cxn>
                <a:cxn ang="0">
                  <a:pos x="GluePoint3X" y="GluePoint3Y"/>
                </a:cxn>
                <a:cxn ang="0">
                  <a:pos x="GluePoint4X" y="GluePoint4Y"/>
                </a:cxn>
              </a:cxnLst>
              <a:rect l="l" t="t" r="r" b="b"/>
              <a:pathLst>
                <a:path w="183" h="1298">
                  <a:moveTo>
                    <a:pt x="0" y="1298"/>
                  </a:moveTo>
                  <a:cubicBezTo>
                    <a:pt x="4" y="1255"/>
                    <a:pt x="9" y="1144"/>
                    <a:pt x="27" y="1042"/>
                  </a:cubicBezTo>
                  <a:cubicBezTo>
                    <a:pt x="45" y="940"/>
                    <a:pt x="84" y="859"/>
                    <a:pt x="110" y="685"/>
                  </a:cubicBezTo>
                  <a:cubicBezTo>
                    <a:pt x="136" y="511"/>
                    <a:pt x="171" y="114"/>
                    <a:pt x="183"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53" name="Line 73"/>
            <p:cNvSpPr/>
            <p:nvPr/>
          </p:nvSpPr>
          <p:spPr>
            <a:xfrm>
              <a:off x="6111720" y="3551400"/>
              <a:ext cx="0" cy="27612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timing>
    <p:tnLst>
      <p:par>
        <p:cTn id="1351" dur="indefinite" restart="never" nodeType="tmRoot">
          <p:childTnLst>
            <p:seq>
              <p:cTn id="1352" dur="indefinite" nodeType="mainSeq">
                <p:childTnLst>
                  <p:par>
                    <p:cTn id="1353" fill="hold" nodeType="clickEffect">
                      <p:stCondLst>
                        <p:cond delay="indefinite"/>
                      </p:stCondLst>
                      <p:childTnLst>
                        <p:par>
                          <p:cTn id="1354" fill="hold" nodeType="withEffect">
                            <p:stCondLst>
                              <p:cond delay="0"/>
                            </p:stCondLst>
                            <p:childTnLst>
                              <p:par>
                                <p:cTn id="1355" presetID="3" presetClass="entr" fill="hold" nodeType="clickEffect" presetSubtype="10">
                                  <p:stCondLst>
                                    <p:cond delay="0"/>
                                  </p:stCondLst>
                                  <p:childTnLst>
                                    <p:set>
                                      <p:cBhvr>
                                        <p:cTn id="1356" dur="1" fill="hold">
                                          <p:stCondLst>
                                            <p:cond delay="0"/>
                                          </p:stCondLst>
                                        </p:cTn>
                                        <p:tgtEl>
                                          <p:spTgt spid="711">
                                            <p:txEl>
                                              <p:pRg st="0" end="0"/>
                                            </p:txEl>
                                          </p:spTgt>
                                        </p:tgtEl>
                                        <p:attrNameLst>
                                          <p:attrName>style.visibility</p:attrName>
                                        </p:attrNameLst>
                                      </p:cBhvr>
                                      <p:to>
                                        <p:strVal val="visible"/>
                                      </p:to>
                                    </p:set>
                                    <p:animEffect transition="in" filter="blinds(horizontal)">
                                      <p:cBhvr additive="repl">
                                        <p:cTn id="1357" dur="500"/>
                                        <p:tgtEl>
                                          <p:spTgt spid="711">
                                            <p:txEl>
                                              <p:pRg st="0" end="0"/>
                                            </p:txEl>
                                          </p:spTgt>
                                        </p:tgtEl>
                                      </p:cBhvr>
                                    </p:animEffect>
                                  </p:childTnLst>
                                </p:cTn>
                              </p:par>
                            </p:childTnLst>
                          </p:cTn>
                        </p:par>
                      </p:childTnLst>
                    </p:cTn>
                  </p:par>
                  <p:par>
                    <p:cTn id="1358" fill="hold" nodeType="clickEffect">
                      <p:stCondLst>
                        <p:cond delay="indefinite"/>
                      </p:stCondLst>
                      <p:childTnLst>
                        <p:par>
                          <p:cTn id="1359" fill="hold" nodeType="withEffect">
                            <p:stCondLst>
                              <p:cond delay="0"/>
                            </p:stCondLst>
                            <p:childTnLst>
                              <p:par>
                                <p:cTn id="1360" presetID="9" presetClass="entr" fill="hold" nodeType="clickEffect">
                                  <p:stCondLst>
                                    <p:cond delay="0"/>
                                  </p:stCondLst>
                                  <p:childTnLst>
                                    <p:set>
                                      <p:cBhvr>
                                        <p:cTn id="1361" dur="1" fill="hold">
                                          <p:stCondLst>
                                            <p:cond delay="0"/>
                                          </p:stCondLst>
                                        </p:cTn>
                                        <p:tgtEl>
                                          <p:spTgt spid="712"/>
                                        </p:tgtEl>
                                        <p:attrNameLst>
                                          <p:attrName>style.visibility</p:attrName>
                                        </p:attrNameLst>
                                      </p:cBhvr>
                                      <p:to>
                                        <p:strVal val="visible"/>
                                      </p:to>
                                    </p:set>
                                    <p:animEffect transition="in" filter="dissolve">
                                      <p:cBhvr additive="repl">
                                        <p:cTn id="1362" dur="500"/>
                                        <p:tgtEl>
                                          <p:spTgt spid="712"/>
                                        </p:tgtEl>
                                      </p:cBhvr>
                                    </p:animEffect>
                                  </p:childTnLst>
                                </p:cTn>
                              </p:par>
                            </p:childTnLst>
                          </p:cTn>
                        </p:par>
                      </p:childTnLst>
                    </p:cTn>
                  </p:par>
                  <p:par>
                    <p:cTn id="1363" fill="hold" nodeType="clickEffect">
                      <p:stCondLst>
                        <p:cond delay="indefinite"/>
                      </p:stCondLst>
                      <p:childTnLst>
                        <p:par>
                          <p:cTn id="1364" fill="hold" nodeType="withEffect">
                            <p:stCondLst>
                              <p:cond delay="0"/>
                            </p:stCondLst>
                            <p:childTnLst>
                              <p:par>
                                <p:cTn id="1365" presetID="3" presetClass="entr" fill="hold" nodeType="clickEffect" presetSubtype="10">
                                  <p:stCondLst>
                                    <p:cond delay="0"/>
                                  </p:stCondLst>
                                  <p:childTnLst>
                                    <p:set>
                                      <p:cBhvr>
                                        <p:cTn id="1366" dur="1" fill="hold">
                                          <p:stCondLst>
                                            <p:cond delay="0"/>
                                          </p:stCondLst>
                                        </p:cTn>
                                        <p:tgtEl>
                                          <p:spTgt spid="713">
                                            <p:txEl>
                                              <p:pRg st="0" end="0"/>
                                            </p:txEl>
                                          </p:spTgt>
                                        </p:tgtEl>
                                        <p:attrNameLst>
                                          <p:attrName>style.visibility</p:attrName>
                                        </p:attrNameLst>
                                      </p:cBhvr>
                                      <p:to>
                                        <p:strVal val="visible"/>
                                      </p:to>
                                    </p:set>
                                    <p:animEffect transition="in" filter="blinds(horizontal)">
                                      <p:cBhvr additive="repl">
                                        <p:cTn id="1367" dur="500"/>
                                        <p:tgtEl>
                                          <p:spTgt spid="713">
                                            <p:txEl>
                                              <p:pRg st="0" end="0"/>
                                            </p:txEl>
                                          </p:spTgt>
                                        </p:tgtEl>
                                      </p:cBhvr>
                                    </p:animEffect>
                                  </p:childTnLst>
                                </p:cTn>
                              </p:par>
                            </p:childTnLst>
                          </p:cTn>
                        </p:par>
                      </p:childTnLst>
                    </p:cTn>
                  </p:par>
                  <p:par>
                    <p:cTn id="1368" fill="hold" nodeType="clickEffect">
                      <p:stCondLst>
                        <p:cond delay="indefinite"/>
                      </p:stCondLst>
                      <p:childTnLst>
                        <p:par>
                          <p:cTn id="1369" fill="hold" nodeType="withEffect">
                            <p:stCondLst>
                              <p:cond delay="0"/>
                            </p:stCondLst>
                            <p:childTnLst>
                              <p:par>
                                <p:cTn id="1370" presetID="3" presetClass="entr" fill="hold" nodeType="clickEffect" presetSubtype="10">
                                  <p:stCondLst>
                                    <p:cond delay="0"/>
                                  </p:stCondLst>
                                  <p:childTnLst>
                                    <p:set>
                                      <p:cBhvr>
                                        <p:cTn id="1371" dur="1" fill="hold">
                                          <p:stCondLst>
                                            <p:cond delay="0"/>
                                          </p:stCondLst>
                                        </p:cTn>
                                        <p:tgtEl>
                                          <p:spTgt spid="713">
                                            <p:txEl>
                                              <p:pRg st="1" end="1"/>
                                            </p:txEl>
                                          </p:spTgt>
                                        </p:tgtEl>
                                        <p:attrNameLst>
                                          <p:attrName>style.visibility</p:attrName>
                                        </p:attrNameLst>
                                      </p:cBhvr>
                                      <p:to>
                                        <p:strVal val="visible"/>
                                      </p:to>
                                    </p:set>
                                    <p:animEffect transition="in" filter="blinds(horizontal)">
                                      <p:cBhvr additive="repl">
                                        <p:cTn id="1372" dur="500"/>
                                        <p:tgtEl>
                                          <p:spTgt spid="713">
                                            <p:txEl>
                                              <p:pRg st="1" end="1"/>
                                            </p:txEl>
                                          </p:spTgt>
                                        </p:tgtEl>
                                      </p:cBhvr>
                                    </p:animEffect>
                                  </p:childTnLst>
                                </p:cTn>
                              </p:par>
                            </p:childTnLst>
                          </p:cTn>
                        </p:par>
                      </p:childTnLst>
                    </p:cTn>
                  </p:par>
                  <p:par>
                    <p:cTn id="1373" fill="hold" nodeType="clickEffect">
                      <p:stCondLst>
                        <p:cond delay="indefinite"/>
                      </p:stCondLst>
                      <p:childTnLst>
                        <p:par>
                          <p:cTn id="1374" fill="hold" nodeType="withEffect">
                            <p:stCondLst>
                              <p:cond delay="0"/>
                            </p:stCondLst>
                            <p:childTnLst>
                              <p:par>
                                <p:cTn id="1375" presetID="9" presetClass="entr" fill="hold" nodeType="clickEffect">
                                  <p:stCondLst>
                                    <p:cond delay="0"/>
                                  </p:stCondLst>
                                  <p:childTnLst>
                                    <p:set>
                                      <p:cBhvr>
                                        <p:cTn id="1376" dur="1" fill="hold">
                                          <p:stCondLst>
                                            <p:cond delay="0"/>
                                          </p:stCondLst>
                                        </p:cTn>
                                        <p:tgtEl>
                                          <p:spTgt spid="714"/>
                                        </p:tgtEl>
                                        <p:attrNameLst>
                                          <p:attrName>style.visibility</p:attrName>
                                        </p:attrNameLst>
                                      </p:cBhvr>
                                      <p:to>
                                        <p:strVal val="visible"/>
                                      </p:to>
                                    </p:set>
                                    <p:animEffect transition="in" filter="dissolve">
                                      <p:cBhvr additive="repl">
                                        <p:cTn id="1377" dur="500"/>
                                        <p:tgtEl>
                                          <p:spTgt spid="714"/>
                                        </p:tgtEl>
                                      </p:cBhvr>
                                    </p:animEffect>
                                  </p:childTnLst>
                                </p:cTn>
                              </p:par>
                            </p:childTnLst>
                          </p:cTn>
                        </p:par>
                      </p:childTnLst>
                    </p:cTn>
                  </p:par>
                  <p:par>
                    <p:cTn id="1378" fill="hold" nodeType="clickEffect">
                      <p:stCondLst>
                        <p:cond delay="indefinite"/>
                      </p:stCondLst>
                      <p:childTnLst>
                        <p:par>
                          <p:cTn id="1379" fill="hold" nodeType="withEffect">
                            <p:stCondLst>
                              <p:cond delay="0"/>
                            </p:stCondLst>
                            <p:childTnLst>
                              <p:par>
                                <p:cTn id="1380" presetID="9" presetClass="entr" fill="hold" nodeType="clickEffect">
                                  <p:stCondLst>
                                    <p:cond delay="0"/>
                                  </p:stCondLst>
                                  <p:childTnLst>
                                    <p:set>
                                      <p:cBhvr>
                                        <p:cTn id="1381" dur="1" fill="hold">
                                          <p:stCondLst>
                                            <p:cond delay="0"/>
                                          </p:stCondLst>
                                        </p:cTn>
                                        <p:tgtEl>
                                          <p:spTgt spid="734"/>
                                        </p:tgtEl>
                                        <p:attrNameLst>
                                          <p:attrName>style.visibility</p:attrName>
                                        </p:attrNameLst>
                                      </p:cBhvr>
                                      <p:to>
                                        <p:strVal val="visible"/>
                                      </p:to>
                                    </p:set>
                                    <p:animEffect transition="in" filter="dissolve">
                                      <p:cBhvr additive="repl">
                                        <p:cTn id="1382" dur="500"/>
                                        <p:tgtEl>
                                          <p:spTgt spid="734"/>
                                        </p:tgtEl>
                                      </p:cBhvr>
                                    </p:animEffect>
                                  </p:childTnLst>
                                </p:cTn>
                              </p:par>
                            </p:childTnLst>
                          </p:cTn>
                        </p:par>
                        <p:par>
                          <p:cTn id="1383" fill="hold" nodeType="afterEffect">
                            <p:stCondLst>
                              <p:cond delay="500"/>
                            </p:stCondLst>
                            <p:childTnLst>
                              <p:par>
                                <p:cTn id="1384" presetID="9" presetClass="entr" fill="hold" nodeType="afterEffect">
                                  <p:stCondLst>
                                    <p:cond delay="0"/>
                                  </p:stCondLst>
                                  <p:childTnLst>
                                    <p:set>
                                      <p:cBhvr>
                                        <p:cTn id="1385" dur="1" fill="hold">
                                          <p:stCondLst>
                                            <p:cond delay="0"/>
                                          </p:stCondLst>
                                        </p:cTn>
                                        <p:tgtEl>
                                          <p:spTgt spid="731"/>
                                        </p:tgtEl>
                                        <p:attrNameLst>
                                          <p:attrName>style.visibility</p:attrName>
                                        </p:attrNameLst>
                                      </p:cBhvr>
                                      <p:to>
                                        <p:strVal val="visible"/>
                                      </p:to>
                                    </p:set>
                                    <p:animEffect transition="in" filter="dissolve">
                                      <p:cBhvr additive="repl">
                                        <p:cTn id="1386" dur="500"/>
                                        <p:tgtEl>
                                          <p:spTgt spid="731"/>
                                        </p:tgtEl>
                                      </p:cBhvr>
                                    </p:animEffect>
                                  </p:childTnLst>
                                </p:cTn>
                              </p:par>
                            </p:childTnLst>
                          </p:cTn>
                        </p:par>
                        <p:par>
                          <p:cTn id="1387" fill="hold" nodeType="afterEffect">
                            <p:stCondLst>
                              <p:cond delay="1000"/>
                            </p:stCondLst>
                            <p:childTnLst>
                              <p:par>
                                <p:cTn id="1388" presetID="9" presetClass="entr" fill="hold" nodeType="afterEffect">
                                  <p:stCondLst>
                                    <p:cond delay="0"/>
                                  </p:stCondLst>
                                  <p:childTnLst>
                                    <p:set>
                                      <p:cBhvr>
                                        <p:cTn id="1389" dur="1" fill="hold">
                                          <p:stCondLst>
                                            <p:cond delay="0"/>
                                          </p:stCondLst>
                                        </p:cTn>
                                        <p:tgtEl>
                                          <p:spTgt spid="728"/>
                                        </p:tgtEl>
                                        <p:attrNameLst>
                                          <p:attrName>style.visibility</p:attrName>
                                        </p:attrNameLst>
                                      </p:cBhvr>
                                      <p:to>
                                        <p:strVal val="visible"/>
                                      </p:to>
                                    </p:set>
                                    <p:animEffect transition="in" filter="dissolve">
                                      <p:cBhvr additive="repl">
                                        <p:cTn id="1390" dur="500"/>
                                        <p:tgtEl>
                                          <p:spTgt spid="728"/>
                                        </p:tgtEl>
                                      </p:cBhvr>
                                    </p:animEffect>
                                  </p:childTnLst>
                                </p:cTn>
                              </p:par>
                            </p:childTnLst>
                          </p:cTn>
                        </p:par>
                        <p:par>
                          <p:cTn id="1391" fill="hold" nodeType="afterEffect">
                            <p:stCondLst>
                              <p:cond delay="1500"/>
                            </p:stCondLst>
                            <p:childTnLst>
                              <p:par>
                                <p:cTn id="1392" presetID="9" presetClass="entr" fill="hold" nodeType="afterEffect">
                                  <p:stCondLst>
                                    <p:cond delay="0"/>
                                  </p:stCondLst>
                                  <p:childTnLst>
                                    <p:set>
                                      <p:cBhvr>
                                        <p:cTn id="1393" dur="1" fill="hold">
                                          <p:stCondLst>
                                            <p:cond delay="0"/>
                                          </p:stCondLst>
                                        </p:cTn>
                                        <p:tgtEl>
                                          <p:spTgt spid="737"/>
                                        </p:tgtEl>
                                        <p:attrNameLst>
                                          <p:attrName>style.visibility</p:attrName>
                                        </p:attrNameLst>
                                      </p:cBhvr>
                                      <p:to>
                                        <p:strVal val="visible"/>
                                      </p:to>
                                    </p:set>
                                    <p:animEffect transition="in" filter="dissolve">
                                      <p:cBhvr additive="repl">
                                        <p:cTn id="1394" dur="500"/>
                                        <p:tgtEl>
                                          <p:spTgt spid="737"/>
                                        </p:tgtEl>
                                      </p:cBhvr>
                                    </p:animEffect>
                                  </p:childTnLst>
                                </p:cTn>
                              </p:par>
                            </p:childTnLst>
                          </p:cTn>
                        </p:par>
                      </p:childTnLst>
                    </p:cTn>
                  </p:par>
                  <p:par>
                    <p:cTn id="1395" fill="hold" nodeType="clickEffect">
                      <p:stCondLst>
                        <p:cond delay="indefinite"/>
                      </p:stCondLst>
                      <p:childTnLst>
                        <p:par>
                          <p:cTn id="1396" fill="hold" nodeType="withEffect">
                            <p:stCondLst>
                              <p:cond delay="0"/>
                            </p:stCondLst>
                            <p:childTnLst>
                              <p:par>
                                <p:cTn id="1397" presetID="9" presetClass="entr" fill="hold" nodeType="clickEffect">
                                  <p:stCondLst>
                                    <p:cond delay="0"/>
                                  </p:stCondLst>
                                  <p:childTnLst>
                                    <p:set>
                                      <p:cBhvr>
                                        <p:cTn id="1398" dur="1" fill="hold">
                                          <p:stCondLst>
                                            <p:cond delay="0"/>
                                          </p:stCondLst>
                                        </p:cTn>
                                        <p:tgtEl>
                                          <p:spTgt spid="741"/>
                                        </p:tgtEl>
                                        <p:attrNameLst>
                                          <p:attrName>style.visibility</p:attrName>
                                        </p:attrNameLst>
                                      </p:cBhvr>
                                      <p:to>
                                        <p:strVal val="visible"/>
                                      </p:to>
                                    </p:set>
                                    <p:animEffect transition="in" filter="dissolve">
                                      <p:cBhvr additive="repl">
                                        <p:cTn id="1399" dur="500"/>
                                        <p:tgtEl>
                                          <p:spTgt spid="741"/>
                                        </p:tgtEl>
                                      </p:cBhvr>
                                    </p:animEffect>
                                  </p:childTnLst>
                                </p:cTn>
                              </p:par>
                            </p:childTnLst>
                          </p:cTn>
                        </p:par>
                        <p:par>
                          <p:cTn id="1400" fill="hold" nodeType="afterEffect">
                            <p:stCondLst>
                              <p:cond delay="500"/>
                            </p:stCondLst>
                            <p:childTnLst>
                              <p:par>
                                <p:cTn id="1401" presetID="9" presetClass="entr" fill="hold" nodeType="afterEffect">
                                  <p:stCondLst>
                                    <p:cond delay="0"/>
                                  </p:stCondLst>
                                  <p:childTnLst>
                                    <p:set>
                                      <p:cBhvr>
                                        <p:cTn id="1402" dur="1" fill="hold">
                                          <p:stCondLst>
                                            <p:cond delay="0"/>
                                          </p:stCondLst>
                                        </p:cTn>
                                        <p:tgtEl>
                                          <p:spTgt spid="742"/>
                                        </p:tgtEl>
                                        <p:attrNameLst>
                                          <p:attrName>style.visibility</p:attrName>
                                        </p:attrNameLst>
                                      </p:cBhvr>
                                      <p:to>
                                        <p:strVal val="visible"/>
                                      </p:to>
                                    </p:set>
                                    <p:animEffect transition="in" filter="dissolve">
                                      <p:cBhvr additive="repl">
                                        <p:cTn id="1403" dur="500"/>
                                        <p:tgtEl>
                                          <p:spTgt spid="742"/>
                                        </p:tgtEl>
                                      </p:cBhvr>
                                    </p:animEffect>
                                  </p:childTnLst>
                                </p:cTn>
                              </p:par>
                            </p:childTnLst>
                          </p:cTn>
                        </p:par>
                        <p:par>
                          <p:cTn id="1404" fill="hold" nodeType="afterEffect">
                            <p:stCondLst>
                              <p:cond delay="1000"/>
                            </p:stCondLst>
                            <p:childTnLst>
                              <p:par>
                                <p:cTn id="1405" presetID="9" presetClass="entr" fill="hold" nodeType="afterEffect">
                                  <p:stCondLst>
                                    <p:cond delay="0"/>
                                  </p:stCondLst>
                                  <p:childTnLst>
                                    <p:set>
                                      <p:cBhvr>
                                        <p:cTn id="1406" dur="1" fill="hold">
                                          <p:stCondLst>
                                            <p:cond delay="0"/>
                                          </p:stCondLst>
                                        </p:cTn>
                                        <p:tgtEl>
                                          <p:spTgt spid="747"/>
                                        </p:tgtEl>
                                        <p:attrNameLst>
                                          <p:attrName>style.visibility</p:attrName>
                                        </p:attrNameLst>
                                      </p:cBhvr>
                                      <p:to>
                                        <p:strVal val="visible"/>
                                      </p:to>
                                    </p:set>
                                    <p:animEffect transition="in" filter="dissolve">
                                      <p:cBhvr additive="repl">
                                        <p:cTn id="1407" dur="500"/>
                                        <p:tgtEl>
                                          <p:spTgt spid="747"/>
                                        </p:tgtEl>
                                      </p:cBhvr>
                                    </p:animEffect>
                                  </p:childTnLst>
                                </p:cTn>
                              </p:par>
                            </p:childTnLst>
                          </p:cTn>
                        </p:par>
                      </p:childTnLst>
                    </p:cTn>
                  </p:par>
                  <p:par>
                    <p:cTn id="1408" fill="hold" nodeType="clickEffect">
                      <p:stCondLst>
                        <p:cond delay="indefinite"/>
                      </p:stCondLst>
                      <p:childTnLst>
                        <p:par>
                          <p:cTn id="1409" fill="hold" nodeType="withEffect">
                            <p:stCondLst>
                              <p:cond delay="0"/>
                            </p:stCondLst>
                            <p:childTnLst>
                              <p:par>
                                <p:cTn id="1410" presetID="9" presetClass="entr" fill="hold" nodeType="clickEffect">
                                  <p:stCondLst>
                                    <p:cond delay="0"/>
                                  </p:stCondLst>
                                  <p:childTnLst>
                                    <p:set>
                                      <p:cBhvr>
                                        <p:cTn id="1411" dur="1" fill="hold">
                                          <p:stCondLst>
                                            <p:cond delay="0"/>
                                          </p:stCondLst>
                                        </p:cTn>
                                        <p:tgtEl>
                                          <p:spTgt spid="738"/>
                                        </p:tgtEl>
                                        <p:attrNameLst>
                                          <p:attrName>style.visibility</p:attrName>
                                        </p:attrNameLst>
                                      </p:cBhvr>
                                      <p:to>
                                        <p:strVal val="visible"/>
                                      </p:to>
                                    </p:set>
                                    <p:animEffect transition="in" filter="dissolve">
                                      <p:cBhvr additive="repl">
                                        <p:cTn id="1412" dur="500"/>
                                        <p:tgtEl>
                                          <p:spTgt spid="738"/>
                                        </p:tgtEl>
                                      </p:cBhvr>
                                    </p:animEffect>
                                  </p:childTnLst>
                                </p:cTn>
                              </p:par>
                            </p:childTnLst>
                          </p:cTn>
                        </p:par>
                      </p:childTnLst>
                    </p:cTn>
                  </p:par>
                  <p:par>
                    <p:cTn id="1413" fill="hold" nodeType="clickEffect">
                      <p:stCondLst>
                        <p:cond delay="indefinite"/>
                      </p:stCondLst>
                      <p:childTnLst>
                        <p:par>
                          <p:cTn id="1414" fill="hold" nodeType="withEffect">
                            <p:stCondLst>
                              <p:cond delay="0"/>
                            </p:stCondLst>
                            <p:childTnLst>
                              <p:par>
                                <p:cTn id="1415" presetID="9" presetClass="entr" fill="hold" nodeType="clickEffect">
                                  <p:stCondLst>
                                    <p:cond delay="0"/>
                                  </p:stCondLst>
                                  <p:childTnLst>
                                    <p:set>
                                      <p:cBhvr>
                                        <p:cTn id="1416" dur="1" fill="hold">
                                          <p:stCondLst>
                                            <p:cond delay="0"/>
                                          </p:stCondLst>
                                        </p:cTn>
                                        <p:tgtEl>
                                          <p:spTgt spid="739"/>
                                        </p:tgtEl>
                                        <p:attrNameLst>
                                          <p:attrName>style.visibility</p:attrName>
                                        </p:attrNameLst>
                                      </p:cBhvr>
                                      <p:to>
                                        <p:strVal val="visible"/>
                                      </p:to>
                                    </p:set>
                                    <p:animEffect transition="in" filter="dissolve">
                                      <p:cBhvr additive="repl">
                                        <p:cTn id="1417" dur="500"/>
                                        <p:tgtEl>
                                          <p:spTgt spid="739"/>
                                        </p:tgtEl>
                                      </p:cBhvr>
                                    </p:animEffect>
                                  </p:childTnLst>
                                </p:cTn>
                              </p:par>
                            </p:childTnLst>
                          </p:cTn>
                        </p:par>
                      </p:childTnLst>
                    </p:cTn>
                  </p:par>
                  <p:par>
                    <p:cTn id="1418" fill="hold" nodeType="clickEffect">
                      <p:stCondLst>
                        <p:cond delay="indefinite"/>
                      </p:stCondLst>
                      <p:childTnLst>
                        <p:par>
                          <p:cTn id="1419" fill="hold" nodeType="withEffect">
                            <p:stCondLst>
                              <p:cond delay="0"/>
                            </p:stCondLst>
                            <p:childTnLst>
                              <p:par>
                                <p:cTn id="1420" presetID="9" presetClass="entr" fill="hold" nodeType="clickEffect">
                                  <p:stCondLst>
                                    <p:cond delay="0"/>
                                  </p:stCondLst>
                                  <p:childTnLst>
                                    <p:set>
                                      <p:cBhvr>
                                        <p:cTn id="1421" dur="1" fill="hold">
                                          <p:stCondLst>
                                            <p:cond delay="0"/>
                                          </p:stCondLst>
                                        </p:cTn>
                                        <p:tgtEl>
                                          <p:spTgt spid="740"/>
                                        </p:tgtEl>
                                        <p:attrNameLst>
                                          <p:attrName>style.visibility</p:attrName>
                                        </p:attrNameLst>
                                      </p:cBhvr>
                                      <p:to>
                                        <p:strVal val="visible"/>
                                      </p:to>
                                    </p:set>
                                    <p:animEffect transition="in" filter="dissolve">
                                      <p:cBhvr additive="repl">
                                        <p:cTn id="1422" dur="500"/>
                                        <p:tgtEl>
                                          <p:spTgt spid="740"/>
                                        </p:tgtEl>
                                      </p:cBhvr>
                                    </p:animEffect>
                                  </p:childTnLst>
                                </p:cTn>
                              </p:par>
                            </p:childTnLst>
                          </p:cTn>
                        </p:par>
                      </p:childTnLst>
                    </p:cTn>
                  </p:par>
                  <p:par>
                    <p:cTn id="1423" fill="hold" nodeType="clickEffect">
                      <p:stCondLst>
                        <p:cond delay="indefinite"/>
                      </p:stCondLst>
                      <p:childTnLst>
                        <p:par>
                          <p:cTn id="1424" fill="hold" nodeType="withEffect">
                            <p:stCondLst>
                              <p:cond delay="0"/>
                            </p:stCondLst>
                            <p:childTnLst>
                              <p:par>
                                <p:cTn id="1425" presetID="9" presetClass="entr" fill="hold" nodeType="clickEffect">
                                  <p:stCondLst>
                                    <p:cond delay="0"/>
                                  </p:stCondLst>
                                  <p:childTnLst>
                                    <p:set>
                                      <p:cBhvr>
                                        <p:cTn id="1426" dur="1" fill="hold">
                                          <p:stCondLst>
                                            <p:cond delay="0"/>
                                          </p:stCondLst>
                                        </p:cTn>
                                        <p:tgtEl>
                                          <p:spTgt spid="743"/>
                                        </p:tgtEl>
                                        <p:attrNameLst>
                                          <p:attrName>style.visibility</p:attrName>
                                        </p:attrNameLst>
                                      </p:cBhvr>
                                      <p:to>
                                        <p:strVal val="visible"/>
                                      </p:to>
                                    </p:set>
                                    <p:animEffect transition="in" filter="dissolve">
                                      <p:cBhvr additive="repl">
                                        <p:cTn id="1427" dur="500"/>
                                        <p:tgtEl>
                                          <p:spTgt spid="743"/>
                                        </p:tgtEl>
                                      </p:cBhvr>
                                    </p:animEffect>
                                  </p:childTnLst>
                                </p:cTn>
                              </p:par>
                            </p:childTnLst>
                          </p:cTn>
                        </p:par>
                      </p:childTnLst>
                    </p:cTn>
                  </p:par>
                  <p:par>
                    <p:cTn id="1428" fill="hold" nodeType="clickEffect">
                      <p:stCondLst>
                        <p:cond delay="indefinite"/>
                      </p:stCondLst>
                      <p:childTnLst>
                        <p:par>
                          <p:cTn id="1429" fill="hold" nodeType="withEffect">
                            <p:stCondLst>
                              <p:cond delay="0"/>
                            </p:stCondLst>
                            <p:childTnLst>
                              <p:par>
                                <p:cTn id="1430" presetID="3" presetClass="entr" fill="hold" nodeType="clickEffect" presetSubtype="10">
                                  <p:stCondLst>
                                    <p:cond delay="0"/>
                                  </p:stCondLst>
                                  <p:childTnLst>
                                    <p:set>
                                      <p:cBhvr>
                                        <p:cTn id="1431" dur="1" fill="hold">
                                          <p:stCondLst>
                                            <p:cond delay="0"/>
                                          </p:stCondLst>
                                        </p:cTn>
                                        <p:tgtEl>
                                          <p:spTgt spid="744">
                                            <p:txEl>
                                              <p:pRg st="1" end="1"/>
                                            </p:txEl>
                                          </p:spTgt>
                                        </p:tgtEl>
                                        <p:attrNameLst>
                                          <p:attrName>style.visibility</p:attrName>
                                        </p:attrNameLst>
                                      </p:cBhvr>
                                      <p:to>
                                        <p:strVal val="visible"/>
                                      </p:to>
                                    </p:set>
                                    <p:animEffect transition="in" filter="blinds(horizontal)">
                                      <p:cBhvr additive="repl">
                                        <p:cTn id="1432" dur="500"/>
                                        <p:tgtEl>
                                          <p:spTgt spid="744">
                                            <p:txEl>
                                              <p:pRg st="1" end="1"/>
                                            </p:txEl>
                                          </p:spTgt>
                                        </p:tgtEl>
                                      </p:cBhvr>
                                    </p:animEffect>
                                  </p:childTnLst>
                                </p:cTn>
                              </p:par>
                            </p:childTnLst>
                          </p:cTn>
                        </p:par>
                      </p:childTnLst>
                    </p:cTn>
                  </p:par>
                  <p:par>
                    <p:cTn id="1433" fill="hold" nodeType="clickEffect">
                      <p:stCondLst>
                        <p:cond delay="indefinite"/>
                      </p:stCondLst>
                      <p:childTnLst>
                        <p:par>
                          <p:cTn id="1434" fill="hold" nodeType="withEffect">
                            <p:stCondLst>
                              <p:cond delay="0"/>
                            </p:stCondLst>
                            <p:childTnLst>
                              <p:par>
                                <p:cTn id="1435" presetID="3" presetClass="entr" fill="hold" nodeType="clickEffect" presetSubtype="10">
                                  <p:stCondLst>
                                    <p:cond delay="0"/>
                                  </p:stCondLst>
                                  <p:childTnLst>
                                    <p:set>
                                      <p:cBhvr>
                                        <p:cTn id="1436" dur="1" fill="hold">
                                          <p:stCondLst>
                                            <p:cond delay="0"/>
                                          </p:stCondLst>
                                        </p:cTn>
                                        <p:tgtEl>
                                          <p:spTgt spid="744">
                                            <p:txEl>
                                              <p:pRg st="2" end="2"/>
                                            </p:txEl>
                                          </p:spTgt>
                                        </p:tgtEl>
                                        <p:attrNameLst>
                                          <p:attrName>style.visibility</p:attrName>
                                        </p:attrNameLst>
                                      </p:cBhvr>
                                      <p:to>
                                        <p:strVal val="visible"/>
                                      </p:to>
                                    </p:set>
                                    <p:animEffect transition="in" filter="blinds(horizontal)">
                                      <p:cBhvr additive="repl">
                                        <p:cTn id="1437" dur="500"/>
                                        <p:tgtEl>
                                          <p:spTgt spid="744">
                                            <p:txEl>
                                              <p:pRg st="2" end="2"/>
                                            </p:txEl>
                                          </p:spTgt>
                                        </p:tgtEl>
                                      </p:cBhvr>
                                    </p:animEffect>
                                  </p:childTnLst>
                                </p:cTn>
                              </p:par>
                            </p:childTnLst>
                          </p:cTn>
                        </p:par>
                      </p:childTnLst>
                    </p:cTn>
                  </p:par>
                  <p:par>
                    <p:cTn id="1438" fill="hold" nodeType="clickEffect">
                      <p:stCondLst>
                        <p:cond delay="indefinite"/>
                      </p:stCondLst>
                      <p:childTnLst>
                        <p:par>
                          <p:cTn id="1439" fill="hold" nodeType="withEffect">
                            <p:stCondLst>
                              <p:cond delay="0"/>
                            </p:stCondLst>
                            <p:childTnLst>
                              <p:par>
                                <p:cTn id="1440" presetID="3" presetClass="entr" fill="hold" nodeType="clickEffect" presetSubtype="10">
                                  <p:stCondLst>
                                    <p:cond delay="0"/>
                                  </p:stCondLst>
                                  <p:childTnLst>
                                    <p:set>
                                      <p:cBhvr>
                                        <p:cTn id="1441" dur="1" fill="hold">
                                          <p:stCondLst>
                                            <p:cond delay="0"/>
                                          </p:stCondLst>
                                        </p:cTn>
                                        <p:tgtEl>
                                          <p:spTgt spid="744">
                                            <p:txEl>
                                              <p:pRg st="0" end="0"/>
                                            </p:txEl>
                                          </p:spTgt>
                                        </p:tgtEl>
                                        <p:attrNameLst>
                                          <p:attrName>style.visibility</p:attrName>
                                        </p:attrNameLst>
                                      </p:cBhvr>
                                      <p:to>
                                        <p:strVal val="visible"/>
                                      </p:to>
                                    </p:set>
                                    <p:animEffect transition="in" filter="blinds(horizontal)">
                                      <p:cBhvr additive="repl">
                                        <p:cTn id="1442" dur="500"/>
                                        <p:tgtEl>
                                          <p:spTgt spid="744">
                                            <p:txEl>
                                              <p:pRg st="0" end="0"/>
                                            </p:txEl>
                                          </p:spTgt>
                                        </p:tgtEl>
                                      </p:cBhvr>
                                    </p:animEffect>
                                  </p:childTnLst>
                                </p:cTn>
                              </p:par>
                            </p:childTnLst>
                          </p:cTn>
                        </p:par>
                      </p:childTnLst>
                    </p:cTn>
                  </p:par>
                  <p:par>
                    <p:cTn id="1443" fill="hold" nodeType="clickEffect">
                      <p:stCondLst>
                        <p:cond delay="indefinite"/>
                      </p:stCondLst>
                      <p:childTnLst>
                        <p:par>
                          <p:cTn id="1444" fill="hold" nodeType="withEffect">
                            <p:stCondLst>
                              <p:cond delay="0"/>
                            </p:stCondLst>
                            <p:childTnLst>
                              <p:par>
                                <p:cTn id="1445" presetID="3" presetClass="entr" fill="hold" nodeType="clickEffect" presetSubtype="10">
                                  <p:stCondLst>
                                    <p:cond delay="0"/>
                                  </p:stCondLst>
                                  <p:childTnLst>
                                    <p:set>
                                      <p:cBhvr>
                                        <p:cTn id="1446" dur="1" fill="hold">
                                          <p:stCondLst>
                                            <p:cond delay="0"/>
                                          </p:stCondLst>
                                        </p:cTn>
                                        <p:tgtEl>
                                          <p:spTgt spid="744">
                                            <p:txEl>
                                              <p:pRg st="3" end="3"/>
                                            </p:txEl>
                                          </p:spTgt>
                                        </p:tgtEl>
                                        <p:attrNameLst>
                                          <p:attrName>style.visibility</p:attrName>
                                        </p:attrNameLst>
                                      </p:cBhvr>
                                      <p:to>
                                        <p:strVal val="visible"/>
                                      </p:to>
                                    </p:set>
                                    <p:animEffect transition="in" filter="blinds(horizontal)">
                                      <p:cBhvr additive="repl">
                                        <p:cTn id="1447" dur="500"/>
                                        <p:tgtEl>
                                          <p:spTgt spid="744">
                                            <p:txEl>
                                              <p:pRg st="3" end="3"/>
                                            </p:txEl>
                                          </p:spTgt>
                                        </p:tgtEl>
                                      </p:cBhvr>
                                    </p:animEffect>
                                  </p:childTnLst>
                                </p:cTn>
                              </p:par>
                            </p:childTnLst>
                          </p:cTn>
                        </p:par>
                      </p:childTnLst>
                    </p:cTn>
                  </p:par>
                  <p:par>
                    <p:cTn id="1448" fill="hold" nodeType="clickEffect">
                      <p:stCondLst>
                        <p:cond delay="indefinite"/>
                      </p:stCondLst>
                      <p:childTnLst>
                        <p:par>
                          <p:cTn id="1449" fill="hold" nodeType="withEffect">
                            <p:stCondLst>
                              <p:cond delay="0"/>
                            </p:stCondLst>
                            <p:childTnLst>
                              <p:par>
                                <p:cTn id="1450" presetID="2" presetClass="entr" fill="hold" nodeType="clickEffect" presetSubtype="8">
                                  <p:stCondLst>
                                    <p:cond delay="0"/>
                                  </p:stCondLst>
                                  <p:childTnLst>
                                    <p:set>
                                      <p:cBhvr>
                                        <p:cTn id="1451" dur="1" fill="hold">
                                          <p:stCondLst>
                                            <p:cond delay="0"/>
                                          </p:stCondLst>
                                        </p:cTn>
                                        <p:tgtEl>
                                          <p:spTgt spid="745"/>
                                        </p:tgtEl>
                                        <p:attrNameLst>
                                          <p:attrName>style.visibility</p:attrName>
                                        </p:attrNameLst>
                                      </p:cBhvr>
                                      <p:to>
                                        <p:strVal val="visible"/>
                                      </p:to>
                                    </p:set>
                                    <p:anim calcmode="lin" valueType="num">
                                      <p:cBhvr additive="base">
                                        <p:cTn id="1452" dur="500" fill="hold"/>
                                        <p:tgtEl>
                                          <p:spTgt spid="745"/>
                                        </p:tgtEl>
                                        <p:attrNameLst>
                                          <p:attrName>ppt_x</p:attrName>
                                        </p:attrNameLst>
                                      </p:cBhvr>
                                      <p:tavLst>
                                        <p:tav>
                                          <p:val>
                                            <p:strVal val="0-#ppt_w/2"/>
                                          </p:val>
                                        </p:tav>
                                        <p:tav tm="100000">
                                          <p:val>
                                            <p:strVal val="#ppt_x"/>
                                          </p:val>
                                        </p:tav>
                                      </p:tavLst>
                                    </p:anim>
                                    <p:anim calcmode="lin" valueType="num">
                                      <p:cBhvr additive="base">
                                        <p:cTn id="1453" dur="500" fill="hold"/>
                                        <p:tgtEl>
                                          <p:spTgt spid="745"/>
                                        </p:tgtEl>
                                        <p:attrNameLst>
                                          <p:attrName>ppt_y</p:attrName>
                                        </p:attrNameLst>
                                      </p:cBhvr>
                                      <p:tavLst>
                                        <p:tav>
                                          <p:val>
                                            <p:strVal val="#ppt_y"/>
                                          </p:val>
                                        </p:tav>
                                        <p:tav tm="100000">
                                          <p:val>
                                            <p:strVal val="#ppt_y"/>
                                          </p:val>
                                        </p:tav>
                                      </p:tavLst>
                                    </p:anim>
                                  </p:childTnLst>
                                </p:cTn>
                              </p:par>
                            </p:childTnLst>
                          </p:cTn>
                        </p:par>
                        <p:par>
                          <p:cTn id="1454" fill="hold" nodeType="afterEffect">
                            <p:stCondLst>
                              <p:cond delay="500"/>
                            </p:stCondLst>
                            <p:childTnLst>
                              <p:par>
                                <p:cTn id="1455" presetID="9" presetClass="entr" fill="hold" nodeType="afterEffect">
                                  <p:stCondLst>
                                    <p:cond delay="0"/>
                                  </p:stCondLst>
                                  <p:childTnLst>
                                    <p:set>
                                      <p:cBhvr>
                                        <p:cTn id="1456" dur="1" fill="hold">
                                          <p:stCondLst>
                                            <p:cond delay="0"/>
                                          </p:stCondLst>
                                        </p:cTn>
                                        <p:tgtEl>
                                          <p:spTgt spid="746"/>
                                        </p:tgtEl>
                                        <p:attrNameLst>
                                          <p:attrName>style.visibility</p:attrName>
                                        </p:attrNameLst>
                                      </p:cBhvr>
                                      <p:to>
                                        <p:strVal val="visible"/>
                                      </p:to>
                                    </p:set>
                                    <p:animEffect transition="in" filter="dissolve">
                                      <p:cBhvr additive="repl">
                                        <p:cTn id="1457" dur="500"/>
                                        <p:tgtEl>
                                          <p:spTgt spid="746"/>
                                        </p:tgtEl>
                                      </p:cBhvr>
                                    </p:animEffect>
                                  </p:childTnLst>
                                </p:cTn>
                              </p:par>
                            </p:childTnLst>
                          </p:cTn>
                        </p:par>
                      </p:childTnLst>
                    </p:cTn>
                  </p:par>
                  <p:par>
                    <p:cTn id="1458" fill="hold" nodeType="clickEffect">
                      <p:stCondLst>
                        <p:cond delay="indefinite"/>
                      </p:stCondLst>
                      <p:childTnLst>
                        <p:par>
                          <p:cTn id="1459" fill="hold" nodeType="withEffect">
                            <p:stCondLst>
                              <p:cond delay="0"/>
                            </p:stCondLst>
                            <p:childTnLst>
                              <p:par>
                                <p:cTn id="1460" presetID="22" presetClass="entr" fill="hold" nodeType="clickEffect" presetSubtype="4">
                                  <p:stCondLst>
                                    <p:cond delay="0"/>
                                  </p:stCondLst>
                                  <p:childTnLst>
                                    <p:set>
                                      <p:cBhvr>
                                        <p:cTn id="1461" dur="1" fill="hold">
                                          <p:stCondLst>
                                            <p:cond delay="0"/>
                                          </p:stCondLst>
                                        </p:cTn>
                                        <p:tgtEl>
                                          <p:spTgt spid="748"/>
                                        </p:tgtEl>
                                        <p:attrNameLst>
                                          <p:attrName>style.visibility</p:attrName>
                                        </p:attrNameLst>
                                      </p:cBhvr>
                                      <p:to>
                                        <p:strVal val="visible"/>
                                      </p:to>
                                    </p:set>
                                    <p:animEffect transition="in" filter="wipe(down)">
                                      <p:cBhvr additive="repl">
                                        <p:cTn id="1462" dur="500"/>
                                        <p:tgtEl>
                                          <p:spTgt spid="748"/>
                                        </p:tgtEl>
                                      </p:cBhvr>
                                    </p:animEffect>
                                  </p:childTnLst>
                                </p:cTn>
                              </p:par>
                            </p:childTnLst>
                          </p:cTn>
                        </p:par>
                      </p:childTnLst>
                    </p:cTn>
                  </p:par>
                  <p:par>
                    <p:cTn id="1463" fill="hold" nodeType="clickEffect">
                      <p:stCondLst>
                        <p:cond delay="indefinite"/>
                      </p:stCondLst>
                      <p:childTnLst>
                        <p:par>
                          <p:cTn id="1464" fill="hold" nodeType="withEffect">
                            <p:stCondLst>
                              <p:cond delay="0"/>
                            </p:stCondLst>
                            <p:childTnLst>
                              <p:par>
                                <p:cTn id="1465" presetID="22" presetClass="entr" fill="hold" nodeType="clickEffect" presetSubtype="1">
                                  <p:stCondLst>
                                    <p:cond delay="0"/>
                                  </p:stCondLst>
                                  <p:childTnLst>
                                    <p:set>
                                      <p:cBhvr>
                                        <p:cTn id="1466" dur="1" fill="hold">
                                          <p:stCondLst>
                                            <p:cond delay="0"/>
                                          </p:stCondLst>
                                        </p:cTn>
                                        <p:tgtEl>
                                          <p:spTgt spid="751"/>
                                        </p:tgtEl>
                                        <p:attrNameLst>
                                          <p:attrName>style.visibility</p:attrName>
                                        </p:attrNameLst>
                                      </p:cBhvr>
                                      <p:to>
                                        <p:strVal val="visible"/>
                                      </p:to>
                                    </p:set>
                                    <p:animEffect transition="in" filter="wipe(up)">
                                      <p:cBhvr additive="repl">
                                        <p:cTn id="1467" dur="500"/>
                                        <p:tgtEl>
                                          <p:spTgt spid="7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Rectangle 7"/>
          <p:cNvSpPr/>
          <p:nvPr/>
        </p:nvSpPr>
        <p:spPr>
          <a:xfrm>
            <a:off x="95400" y="1571760"/>
            <a:ext cx="8867520" cy="1342800"/>
          </a:xfrm>
          <a:prstGeom prst="rect">
            <a:avLst/>
          </a:prstGeom>
          <a:solidFill>
            <a:srgbClr val="FFFF00"/>
          </a:solidFill>
          <a:ln w="9360">
            <a:solidFill>
              <a:srgbClr val="FFFF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755" name="Text Box 2"/>
          <p:cNvSpPr/>
          <p:nvPr/>
        </p:nvSpPr>
        <p:spPr>
          <a:xfrm>
            <a:off x="228600" y="171360"/>
            <a:ext cx="8915400" cy="377352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8  </a:t>
            </a:r>
            <a:r>
              <a:rPr lang="zh-CN" sz="2800" b="1" u="none" strike="noStrike">
                <a:solidFill>
                  <a:srgbClr val="990033"/>
                </a:solidFill>
                <a:effectLst/>
                <a:uFillTx/>
                <a:latin typeface="Times New Roman"/>
              </a:rPr>
              <a:t>根轨迹与虚轴交点</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若根轨迹与虚轴相交（临界稳定状态），则交点上的坐标（</a:t>
            </a:r>
            <a:r>
              <a:rPr lang="zh-CN" sz="2400" b="1" u="none" strike="noStrike">
                <a:solidFill>
                  <a:srgbClr val="FF0000"/>
                </a:solidFill>
                <a:effectLst/>
                <a:uFillTx/>
                <a:latin typeface="Times New Roman"/>
              </a:rPr>
              <a:t>包括闭环极点和临界增益</a:t>
            </a:r>
            <a:r>
              <a:rPr lang="zh-CN" sz="2400" b="1" u="none" strike="noStrike">
                <a:solidFill>
                  <a:srgbClr val="000000"/>
                </a:solidFill>
                <a:effectLst/>
                <a:uFillTx/>
                <a:latin typeface="Times New Roman"/>
              </a:rPr>
              <a:t>）可按下述两种方法求出：</a:t>
            </a:r>
            <a:endParaRPr lang="en-US" sz="24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r>
              <a:rPr lang="zh-CN" sz="2400" b="0" u="none" strike="noStrike">
                <a:solidFill>
                  <a:srgbClr val="000099"/>
                </a:solidFill>
                <a:effectLst/>
                <a:uFillTx/>
                <a:latin typeface="Times New Roman"/>
                <a:ea typeface="黑体"/>
              </a:rPr>
              <a:t>方法一：在系统的闭环特征方程</a:t>
            </a:r>
            <a:r>
              <a:rPr lang="en-US" sz="2400" b="0" i="1" u="none" strike="noStrike">
                <a:solidFill>
                  <a:srgbClr val="000099"/>
                </a:solidFill>
                <a:effectLst/>
                <a:uFillTx/>
                <a:latin typeface="Times New Roman"/>
                <a:ea typeface="黑体"/>
              </a:rPr>
              <a:t>D</a:t>
            </a:r>
            <a:r>
              <a:rPr lang="en-US" sz="2400" b="0" u="none" strike="noStrike">
                <a:solidFill>
                  <a:srgbClr val="000099"/>
                </a:solidFill>
                <a:effectLst/>
                <a:uFillTx/>
                <a:latin typeface="Times New Roman"/>
                <a:ea typeface="黑体"/>
              </a:rPr>
              <a:t>(</a:t>
            </a:r>
            <a:r>
              <a:rPr lang="en-US" sz="2400" b="0" i="1" u="none" strike="noStrike">
                <a:solidFill>
                  <a:srgbClr val="000099"/>
                </a:solidFill>
                <a:effectLst/>
                <a:uFillTx/>
                <a:latin typeface="Times New Roman"/>
                <a:ea typeface="黑体"/>
              </a:rPr>
              <a:t>s</a:t>
            </a:r>
            <a:r>
              <a:rPr lang="en-US" sz="2400" b="0" u="none" strike="noStrike">
                <a:solidFill>
                  <a:srgbClr val="000099"/>
                </a:solidFill>
                <a:effectLst/>
                <a:uFillTx/>
                <a:latin typeface="Times New Roman"/>
                <a:ea typeface="黑体"/>
              </a:rPr>
              <a:t>) = 0</a:t>
            </a:r>
            <a:r>
              <a:rPr lang="zh-CN" sz="2400" b="0" u="none" strike="noStrike">
                <a:solidFill>
                  <a:srgbClr val="000099"/>
                </a:solidFill>
                <a:effectLst/>
                <a:uFillTx/>
                <a:latin typeface="Times New Roman"/>
                <a:ea typeface="黑体"/>
              </a:rPr>
              <a:t>中，令</a:t>
            </a:r>
            <a:r>
              <a:rPr lang="en-US" sz="2400" b="0" i="1" u="none" strike="noStrike">
                <a:solidFill>
                  <a:srgbClr val="000099"/>
                </a:solidFill>
                <a:effectLst/>
                <a:uFillTx/>
                <a:latin typeface="Times New Roman"/>
                <a:ea typeface="黑体"/>
              </a:rPr>
              <a:t>s </a:t>
            </a:r>
            <a:r>
              <a:rPr lang="en-US" sz="2400" b="0" u="none" strike="noStrike">
                <a:solidFill>
                  <a:srgbClr val="000099"/>
                </a:solidFill>
                <a:effectLst/>
                <a:uFillTx/>
                <a:latin typeface="Times New Roman"/>
                <a:ea typeface="黑体"/>
              </a:rPr>
              <a:t>= </a:t>
            </a:r>
            <a:r>
              <a:rPr lang="en-US" sz="2400" b="0" i="1" u="none" strike="noStrike">
                <a:solidFill>
                  <a:srgbClr val="000099"/>
                </a:solidFill>
                <a:effectLst/>
                <a:uFillTx/>
                <a:latin typeface="Times New Roman"/>
                <a:ea typeface="黑体"/>
              </a:rPr>
              <a:t>jω</a:t>
            </a:r>
            <a:r>
              <a:rPr lang="zh-CN" sz="2400" b="0" u="none" strike="noStrike">
                <a:solidFill>
                  <a:srgbClr val="000099"/>
                </a:solidFill>
                <a:effectLst/>
                <a:uFillTx/>
                <a:latin typeface="Times New Roman"/>
                <a:ea typeface="黑体"/>
              </a:rPr>
              <a:t>，</a:t>
            </a:r>
            <a:r>
              <a:rPr lang="en-US" sz="2400" b="0" i="1" u="none" strike="noStrike">
                <a:solidFill>
                  <a:srgbClr val="000099"/>
                </a:solidFill>
                <a:effectLst/>
                <a:uFillTx/>
                <a:latin typeface="Times New Roman"/>
                <a:ea typeface="黑体"/>
              </a:rPr>
              <a:t>D</a:t>
            </a:r>
            <a:r>
              <a:rPr lang="en-US" sz="2400" b="0" u="none" strike="noStrike">
                <a:solidFill>
                  <a:srgbClr val="000099"/>
                </a:solidFill>
                <a:effectLst/>
                <a:uFillTx/>
                <a:latin typeface="Times New Roman"/>
                <a:ea typeface="黑体"/>
              </a:rPr>
              <a:t>(</a:t>
            </a:r>
            <a:r>
              <a:rPr lang="en-US" sz="2400" b="0" i="1" u="none" strike="noStrike">
                <a:solidFill>
                  <a:srgbClr val="000099"/>
                </a:solidFill>
                <a:effectLst/>
                <a:uFillTx/>
                <a:latin typeface="Times New Roman"/>
                <a:ea typeface="黑体"/>
              </a:rPr>
              <a:t>jω</a:t>
            </a:r>
            <a:r>
              <a:rPr lang="en-US" sz="2400" b="0" u="none" strike="noStrike">
                <a:solidFill>
                  <a:srgbClr val="000099"/>
                </a:solidFill>
                <a:effectLst/>
                <a:uFillTx/>
                <a:latin typeface="Times New Roman"/>
                <a:ea typeface="黑体"/>
              </a:rPr>
              <a:t>)  = 0</a:t>
            </a:r>
            <a:r>
              <a:rPr lang="zh-CN" sz="2400" b="0" u="none" strike="noStrike">
                <a:solidFill>
                  <a:srgbClr val="000099"/>
                </a:solidFill>
                <a:effectLst/>
                <a:uFillTx/>
                <a:latin typeface="黑体"/>
                <a:ea typeface="黑体"/>
              </a:rPr>
              <a:t>的解即是交点坐标。</a:t>
            </a:r>
            <a:endParaRPr lang="en-US" sz="24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a:t>
            </a:r>
            <a:r>
              <a:rPr lang="zh-CN" sz="2400" b="1" u="none" strike="noStrike">
                <a:solidFill>
                  <a:srgbClr val="000066"/>
                </a:solidFill>
                <a:effectLst/>
                <a:uFillTx/>
                <a:latin typeface="Times New Roman"/>
                <a:ea typeface="黑体"/>
              </a:rPr>
              <a:t>方法二：由劳斯稳定判据求出。</a:t>
            </a:r>
            <a:endParaRPr lang="en-US" sz="2400" b="1" u="none" strike="noStrike">
              <a:solidFill>
                <a:srgbClr val="000000"/>
              </a:solidFill>
              <a:effectLst/>
              <a:uFillTx/>
              <a:latin typeface="Times New Roman"/>
            </a:endParaRPr>
          </a:p>
          <a:p>
            <a:pPr>
              <a:lnSpc>
                <a:spcPct val="120000"/>
              </a:lnSpc>
              <a:spcBef>
                <a:spcPts val="7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黑体"/>
                <a:ea typeface="黑体"/>
              </a:rPr>
              <a:t> 例</a:t>
            </a:r>
            <a:r>
              <a:rPr lang="en-US" sz="2400" b="1" u="none" strike="noStrike">
                <a:solidFill>
                  <a:srgbClr val="000000"/>
                </a:solidFill>
                <a:effectLst/>
                <a:uFillTx/>
                <a:latin typeface="黑体"/>
                <a:ea typeface="黑体"/>
              </a:rPr>
              <a:t>4-5</a:t>
            </a: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求例</a:t>
            </a:r>
            <a:r>
              <a:rPr lang="en-US" sz="2400" b="1" u="none" strike="noStrike">
                <a:solidFill>
                  <a:srgbClr val="000000"/>
                </a:solidFill>
                <a:effectLst/>
                <a:uFillTx/>
                <a:latin typeface="Times New Roman"/>
              </a:rPr>
              <a:t>4-1</a:t>
            </a:r>
            <a:r>
              <a:rPr lang="zh-CN" sz="2400" b="1" u="none" strike="noStrike">
                <a:solidFill>
                  <a:srgbClr val="000000"/>
                </a:solidFill>
                <a:effectLst/>
                <a:uFillTx/>
                <a:latin typeface="Times New Roman"/>
              </a:rPr>
              <a:t>系统的根轨迹与</a:t>
            </a:r>
            <a:r>
              <a:rPr lang="en-US" sz="2400" b="1" i="1" u="none" strike="noStrike">
                <a:solidFill>
                  <a:srgbClr val="000000"/>
                </a:solidFill>
                <a:effectLst/>
                <a:uFillTx/>
                <a:latin typeface="Times New Roman"/>
              </a:rPr>
              <a:t>s</a:t>
            </a:r>
            <a:r>
              <a:rPr lang="zh-CN" sz="2400" b="1" u="none" strike="noStrike">
                <a:solidFill>
                  <a:srgbClr val="000000"/>
                </a:solidFill>
                <a:effectLst/>
                <a:uFillTx/>
                <a:latin typeface="Times New Roman"/>
              </a:rPr>
              <a:t>平面虚轴的交点的交点坐标。</a:t>
            </a:r>
            <a:endParaRPr lang="en-US" sz="24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         解：</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756" name="Object 3"/>
              <p:cNvSpPr txBox="1"/>
              <p:nvPr/>
            </p:nvSpPr>
            <p:spPr>
              <a:xfrm>
                <a:off x="1822320" y="3754440"/>
                <a:ext cx="5695920" cy="914400"/>
              </a:xfrm>
              <a:prstGeom prst="rect">
                <a:avLst/>
              </a:prstGeom>
            </p:spPr>
            <p:txBody>
              <a:bodyPr/>
              <a:p>
                <a14:m>
                  <m:oMath xmlns:m="http://schemas.openxmlformats.org/officeDocument/2006/math">
                    <m:r>
                      <m:t xml:space="preserve">D</m:t>
                    </m:r>
                    <m:r>
                      <m:t xml:space="preserve">(</m:t>
                    </m:r>
                    <m:r>
                      <m:t xml:space="preserve">s</m:t>
                    </m:r>
                    <m:r>
                      <m:t xml:space="preserve">)</m:t>
                    </m:r>
                    <m:r>
                      <m:t xml:space="preserve">=</m:t>
                    </m:r>
                    <m:r>
                      <m:t xml:space="preserve">1</m:t>
                    </m:r>
                    <m:r>
                      <m:t xml:space="preserve">+</m:t>
                    </m:r>
                    <m:r>
                      <m:t xml:space="preserve">G</m:t>
                    </m:r>
                    <m:r>
                      <m:t xml:space="preserve">(</m:t>
                    </m:r>
                    <m:r>
                      <m:t xml:space="preserve">s</m:t>
                    </m:r>
                    <m:r>
                      <m:t xml:space="preserve">)</m:t>
                    </m:r>
                    <m:r>
                      <m:t xml:space="preserve">H</m:t>
                    </m:r>
                    <m:r>
                      <m:t xml:space="preserve">(</m:t>
                    </m:r>
                    <m:r>
                      <m:t xml:space="preserve">s</m:t>
                    </m:r>
                    <m:r>
                      <m:t xml:space="preserve">)</m:t>
                    </m:r>
                    <m:r>
                      <m:t xml:space="preserve">=</m:t>
                    </m:r>
                    <m:r>
                      <m:t xml:space="preserve">1</m:t>
                    </m:r>
                    <m:r>
                      <m:t xml:space="preserve">+</m:t>
                    </m:r>
                    <m:f>
                      <m:num>
                        <m:sSub>
                          <m:e>
                            <m:r>
                              <m:t xml:space="preserve">K</m:t>
                            </m:r>
                          </m:e>
                          <m:sub>
                            <m:r>
                              <m:t xml:space="preserve">g</m:t>
                            </m:r>
                          </m:sub>
                        </m:sSub>
                      </m:num>
                      <m:den>
                        <m:r>
                          <m:t xml:space="preserve">s</m:t>
                        </m:r>
                        <m:r>
                          <m:t xml:space="preserve">(</m:t>
                        </m:r>
                        <m:r>
                          <m:t xml:space="preserve">s</m:t>
                        </m:r>
                        <m:r>
                          <m:t xml:space="preserve">+</m:t>
                        </m:r>
                        <m:r>
                          <m:t xml:space="preserve">1</m:t>
                        </m:r>
                        <m:r>
                          <m:t xml:space="preserve">)</m:t>
                        </m:r>
                        <m:r>
                          <m:t xml:space="preserve">(</m:t>
                        </m:r>
                        <m:r>
                          <m:t xml:space="preserve">s</m:t>
                        </m:r>
                        <m:r>
                          <m:t xml:space="preserve">+</m:t>
                        </m:r>
                        <m:r>
                          <m:t xml:space="preserve">5</m:t>
                        </m:r>
                        <m:r>
                          <m:t xml:space="preserve">)</m:t>
                        </m:r>
                      </m:den>
                    </m:f>
                    <m:r>
                      <m:t xml:space="preserve">=</m:t>
                    </m:r>
                    <m:r>
                      <m:t xml:space="preserve">0</m:t>
                    </m:r>
                  </m:oMath>
                </a14:m>
              </a:p>
            </p:txBody>
          </p:sp>
        </mc:Choice>
        <mc:Fallback>
          <p:sp>
            <p:nvSpPr>
              <p:cNvPr id="756" name="Object 3"/>
              <p:cNvSpPr txBox="1"/>
              <p:nvPr/>
            </p:nvSpPr>
            <p:spPr>
              <a:xfrm>
                <a:off x="1822320" y="3754440"/>
                <a:ext cx="5695920" cy="914400"/>
              </a:xfrm>
              <a:prstGeom prst="rect">
                <a:avLst/>
              </a:prstGeom>
              <a:blipFill>
                <a:blip r:embed="rId1"/>
                <a:stretch>
                  <a:fillRect/>
                </a:stretch>
              </a:blipFill>
            </p:spPr>
          </p:sp>
        </mc:Fallback>
      </mc:AlternateContent>
      <p:sp>
        <p:nvSpPr>
          <p:cNvPr id="757" name="Text Box 4"/>
          <p:cNvSpPr/>
          <p:nvPr/>
        </p:nvSpPr>
        <p:spPr>
          <a:xfrm>
            <a:off x="392040" y="4678200"/>
            <a:ext cx="8039160" cy="193644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方法一：           </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3 </a:t>
            </a:r>
            <a:r>
              <a:rPr lang="en-US" sz="2800" b="1" u="none" strike="noStrike">
                <a:solidFill>
                  <a:srgbClr val="000000"/>
                </a:solidFill>
                <a:effectLst/>
                <a:uFillTx/>
                <a:latin typeface="Times New Roman"/>
              </a:rPr>
              <a:t>+ 6</a:t>
            </a:r>
            <a:r>
              <a:rPr lang="en-US" sz="2800" b="1" i="1" u="none" strike="noStrike">
                <a:solidFill>
                  <a:srgbClr val="000000"/>
                </a:solidFill>
                <a:effectLst/>
                <a:uFillTx/>
                <a:latin typeface="Times New Roman"/>
              </a:rPr>
              <a:t>s </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+ 5</a:t>
            </a:r>
            <a:r>
              <a:rPr lang="en-US" sz="2800" b="1" i="1" u="none" strike="noStrike">
                <a:solidFill>
                  <a:srgbClr val="000000"/>
                </a:solidFill>
                <a:effectLst/>
                <a:uFillTx/>
                <a:latin typeface="Times New Roman"/>
              </a:rPr>
              <a:t>s </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 </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令</a:t>
            </a:r>
            <a:r>
              <a:rPr lang="en-US" sz="2800" b="1" i="1" u="none" strike="noStrike">
                <a:solidFill>
                  <a:srgbClr val="000000"/>
                </a:solidFill>
                <a:effectLst/>
                <a:uFillTx/>
                <a:latin typeface="Times New Roman"/>
              </a:rPr>
              <a:t>s</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jω</a:t>
            </a:r>
            <a:r>
              <a:rPr lang="zh-CN" sz="2800" b="1" u="none" strike="noStrike">
                <a:solidFill>
                  <a:srgbClr val="000000"/>
                </a:solidFill>
                <a:effectLst/>
                <a:uFillTx/>
                <a:latin typeface="Times New Roman"/>
              </a:rPr>
              <a:t>，则  </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jω</a:t>
            </a:r>
            <a:r>
              <a:rPr lang="en-US" sz="2800" b="1" u="none" strike="noStrike">
                <a:solidFill>
                  <a:srgbClr val="000000"/>
                </a:solidFill>
                <a:effectLst/>
                <a:uFillTx/>
                <a:latin typeface="Times New Roman"/>
              </a:rPr>
              <a:t>)</a:t>
            </a:r>
            <a:r>
              <a:rPr lang="en-US" sz="2800" b="1" u="none" strike="noStrike" baseline="30000">
                <a:solidFill>
                  <a:srgbClr val="000000"/>
                </a:solidFill>
                <a:effectLst/>
                <a:uFillTx/>
                <a:latin typeface="Times New Roman"/>
              </a:rPr>
              <a:t>3 </a:t>
            </a:r>
            <a:r>
              <a:rPr lang="en-US" sz="2800" b="1" u="none" strike="noStrike">
                <a:solidFill>
                  <a:srgbClr val="000000"/>
                </a:solidFill>
                <a:effectLst/>
                <a:uFillTx/>
                <a:latin typeface="Times New Roman"/>
              </a:rPr>
              <a:t>+ 6(</a:t>
            </a:r>
            <a:r>
              <a:rPr lang="en-US" sz="2800" b="1" i="1" u="none" strike="noStrike">
                <a:solidFill>
                  <a:srgbClr val="000000"/>
                </a:solidFill>
                <a:effectLst/>
                <a:uFillTx/>
                <a:latin typeface="Times New Roman"/>
              </a:rPr>
              <a:t>jω</a:t>
            </a:r>
            <a:r>
              <a:rPr lang="en-US" sz="2800" b="1" u="none" strike="noStrike">
                <a:solidFill>
                  <a:srgbClr val="000000"/>
                </a:solidFill>
                <a:effectLst/>
                <a:uFillTx/>
                <a:latin typeface="Times New Roman"/>
              </a:rPr>
              <a:t>)</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+ 5 (</a:t>
            </a:r>
            <a:r>
              <a:rPr lang="en-US" sz="2800" b="1" i="1" u="none" strike="noStrike">
                <a:solidFill>
                  <a:srgbClr val="000000"/>
                </a:solidFill>
                <a:effectLst/>
                <a:uFillTx/>
                <a:latin typeface="Times New Roman"/>
              </a:rPr>
              <a:t>jω</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 </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468" dur="indefinite" restart="never" nodeType="tmRoot">
          <p:childTnLst>
            <p:seq>
              <p:cTn id="1469" dur="indefinite" nodeType="mainSeq">
                <p:childTnLst>
                  <p:par>
                    <p:cTn id="1470" fill="hold" nodeType="clickEffect">
                      <p:stCondLst>
                        <p:cond delay="indefinite"/>
                      </p:stCondLst>
                      <p:childTnLst>
                        <p:par>
                          <p:cTn id="1471" fill="hold" nodeType="withEffect">
                            <p:stCondLst>
                              <p:cond delay="0"/>
                            </p:stCondLst>
                            <p:childTnLst>
                              <p:par>
                                <p:cTn id="1472" presetID="3" presetClass="entr" fill="hold" nodeType="clickEffect" presetSubtype="10">
                                  <p:stCondLst>
                                    <p:cond delay="0"/>
                                  </p:stCondLst>
                                  <p:childTnLst>
                                    <p:set>
                                      <p:cBhvr>
                                        <p:cTn id="1473" dur="1" fill="hold">
                                          <p:stCondLst>
                                            <p:cond delay="0"/>
                                          </p:stCondLst>
                                        </p:cTn>
                                        <p:tgtEl>
                                          <p:spTgt spid="755">
                                            <p:txEl>
                                              <p:pRg st="0" end="0"/>
                                            </p:txEl>
                                          </p:spTgt>
                                        </p:tgtEl>
                                        <p:attrNameLst>
                                          <p:attrName>style.visibility</p:attrName>
                                        </p:attrNameLst>
                                      </p:cBhvr>
                                      <p:to>
                                        <p:strVal val="visible"/>
                                      </p:to>
                                    </p:set>
                                    <p:animEffect transition="in" filter="blinds(horizontal)">
                                      <p:cBhvr additive="repl">
                                        <p:cTn id="1474" dur="500"/>
                                        <p:tgtEl>
                                          <p:spTgt spid="755">
                                            <p:txEl>
                                              <p:pRg st="0" end="0"/>
                                            </p:txEl>
                                          </p:spTgt>
                                        </p:tgtEl>
                                      </p:cBhvr>
                                    </p:animEffect>
                                  </p:childTnLst>
                                </p:cTn>
                              </p:par>
                            </p:childTnLst>
                          </p:cTn>
                        </p:par>
                      </p:childTnLst>
                    </p:cTn>
                  </p:par>
                  <p:par>
                    <p:cTn id="1475" fill="hold" nodeType="clickEffect">
                      <p:stCondLst>
                        <p:cond delay="indefinite"/>
                      </p:stCondLst>
                      <p:childTnLst>
                        <p:par>
                          <p:cTn id="1476" fill="hold" nodeType="withEffect">
                            <p:stCondLst>
                              <p:cond delay="0"/>
                            </p:stCondLst>
                            <p:childTnLst>
                              <p:par>
                                <p:cTn id="1477" presetID="3" presetClass="entr" fill="hold" nodeType="clickEffect" presetSubtype="10">
                                  <p:stCondLst>
                                    <p:cond delay="0"/>
                                  </p:stCondLst>
                                  <p:childTnLst>
                                    <p:set>
                                      <p:cBhvr>
                                        <p:cTn id="1478" dur="1" fill="hold">
                                          <p:stCondLst>
                                            <p:cond delay="0"/>
                                          </p:stCondLst>
                                        </p:cTn>
                                        <p:tgtEl>
                                          <p:spTgt spid="755">
                                            <p:txEl>
                                              <p:pRg st="1" end="1"/>
                                            </p:txEl>
                                          </p:spTgt>
                                        </p:tgtEl>
                                        <p:attrNameLst>
                                          <p:attrName>style.visibility</p:attrName>
                                        </p:attrNameLst>
                                      </p:cBhvr>
                                      <p:to>
                                        <p:strVal val="visible"/>
                                      </p:to>
                                    </p:set>
                                    <p:animEffect transition="in" filter="blinds(horizontal)">
                                      <p:cBhvr additive="repl">
                                        <p:cTn id="1479" dur="500"/>
                                        <p:tgtEl>
                                          <p:spTgt spid="755">
                                            <p:txEl>
                                              <p:pRg st="1" end="1"/>
                                            </p:txEl>
                                          </p:spTgt>
                                        </p:tgtEl>
                                      </p:cBhvr>
                                    </p:animEffect>
                                  </p:childTnLst>
                                </p:cTn>
                              </p:par>
                            </p:childTnLst>
                          </p:cTn>
                        </p:par>
                      </p:childTnLst>
                    </p:cTn>
                  </p:par>
                  <p:par>
                    <p:cTn id="1480" fill="hold" nodeType="clickEffect">
                      <p:stCondLst>
                        <p:cond delay="indefinite"/>
                      </p:stCondLst>
                      <p:childTnLst>
                        <p:par>
                          <p:cTn id="1481" fill="hold" nodeType="withEffect">
                            <p:stCondLst>
                              <p:cond delay="0"/>
                            </p:stCondLst>
                            <p:childTnLst>
                              <p:par>
                                <p:cTn id="1482" presetID="3" presetClass="entr" fill="hold" nodeType="clickEffect" presetSubtype="10">
                                  <p:stCondLst>
                                    <p:cond delay="0"/>
                                  </p:stCondLst>
                                  <p:childTnLst>
                                    <p:set>
                                      <p:cBhvr>
                                        <p:cTn id="1483" dur="1" fill="hold">
                                          <p:stCondLst>
                                            <p:cond delay="0"/>
                                          </p:stCondLst>
                                        </p:cTn>
                                        <p:tgtEl>
                                          <p:spTgt spid="755">
                                            <p:txEl>
                                              <p:pRg st="2" end="2"/>
                                            </p:txEl>
                                          </p:spTgt>
                                        </p:tgtEl>
                                        <p:attrNameLst>
                                          <p:attrName>style.visibility</p:attrName>
                                        </p:attrNameLst>
                                      </p:cBhvr>
                                      <p:to>
                                        <p:strVal val="visible"/>
                                      </p:to>
                                    </p:set>
                                    <p:animEffect transition="in" filter="blinds(horizontal)">
                                      <p:cBhvr additive="repl">
                                        <p:cTn id="1484" dur="500"/>
                                        <p:tgtEl>
                                          <p:spTgt spid="755">
                                            <p:txEl>
                                              <p:pRg st="2" end="2"/>
                                            </p:txEl>
                                          </p:spTgt>
                                        </p:tgtEl>
                                      </p:cBhvr>
                                    </p:animEffect>
                                  </p:childTnLst>
                                </p:cTn>
                              </p:par>
                            </p:childTnLst>
                          </p:cTn>
                        </p:par>
                      </p:childTnLst>
                    </p:cTn>
                  </p:par>
                  <p:par>
                    <p:cTn id="1485" fill="hold" nodeType="clickEffect">
                      <p:stCondLst>
                        <p:cond delay="indefinite"/>
                      </p:stCondLst>
                      <p:childTnLst>
                        <p:par>
                          <p:cTn id="1486" fill="hold" nodeType="withEffect">
                            <p:stCondLst>
                              <p:cond delay="0"/>
                            </p:stCondLst>
                            <p:childTnLst>
                              <p:par>
                                <p:cTn id="1487" presetID="3" presetClass="entr" fill="hold" nodeType="clickEffect" presetSubtype="10">
                                  <p:stCondLst>
                                    <p:cond delay="0"/>
                                  </p:stCondLst>
                                  <p:childTnLst>
                                    <p:set>
                                      <p:cBhvr>
                                        <p:cTn id="1488" dur="1" fill="hold">
                                          <p:stCondLst>
                                            <p:cond delay="0"/>
                                          </p:stCondLst>
                                        </p:cTn>
                                        <p:tgtEl>
                                          <p:spTgt spid="755">
                                            <p:txEl>
                                              <p:pRg st="3" end="3"/>
                                            </p:txEl>
                                          </p:spTgt>
                                        </p:tgtEl>
                                        <p:attrNameLst>
                                          <p:attrName>style.visibility</p:attrName>
                                        </p:attrNameLst>
                                      </p:cBhvr>
                                      <p:to>
                                        <p:strVal val="visible"/>
                                      </p:to>
                                    </p:set>
                                    <p:animEffect transition="in" filter="blinds(horizontal)">
                                      <p:cBhvr additive="repl">
                                        <p:cTn id="1489" dur="500"/>
                                        <p:tgtEl>
                                          <p:spTgt spid="755">
                                            <p:txEl>
                                              <p:pRg st="3" end="3"/>
                                            </p:txEl>
                                          </p:spTgt>
                                        </p:tgtEl>
                                      </p:cBhvr>
                                    </p:animEffect>
                                  </p:childTnLst>
                                </p:cTn>
                              </p:par>
                            </p:childTnLst>
                          </p:cTn>
                        </p:par>
                      </p:childTnLst>
                    </p:cTn>
                  </p:par>
                  <p:par>
                    <p:cTn id="1490" fill="hold" nodeType="clickEffect">
                      <p:stCondLst>
                        <p:cond delay="indefinite"/>
                      </p:stCondLst>
                      <p:childTnLst>
                        <p:par>
                          <p:cTn id="1491" fill="hold" nodeType="withEffect">
                            <p:stCondLst>
                              <p:cond delay="0"/>
                            </p:stCondLst>
                            <p:childTnLst>
                              <p:par>
                                <p:cTn id="1492" presetID="3" presetClass="entr" fill="hold" nodeType="clickEffect" presetSubtype="10">
                                  <p:stCondLst>
                                    <p:cond delay="0"/>
                                  </p:stCondLst>
                                  <p:childTnLst>
                                    <p:set>
                                      <p:cBhvr>
                                        <p:cTn id="1493" dur="1" fill="hold">
                                          <p:stCondLst>
                                            <p:cond delay="0"/>
                                          </p:stCondLst>
                                        </p:cTn>
                                        <p:tgtEl>
                                          <p:spTgt spid="755">
                                            <p:txEl>
                                              <p:pRg st="4" end="4"/>
                                            </p:txEl>
                                          </p:spTgt>
                                        </p:tgtEl>
                                        <p:attrNameLst>
                                          <p:attrName>style.visibility</p:attrName>
                                        </p:attrNameLst>
                                      </p:cBhvr>
                                      <p:to>
                                        <p:strVal val="visible"/>
                                      </p:to>
                                    </p:set>
                                    <p:animEffect transition="in" filter="blinds(horizontal)">
                                      <p:cBhvr additive="repl">
                                        <p:cTn id="1494" dur="500"/>
                                        <p:tgtEl>
                                          <p:spTgt spid="755">
                                            <p:txEl>
                                              <p:pRg st="4" end="4"/>
                                            </p:txEl>
                                          </p:spTgt>
                                        </p:tgtEl>
                                      </p:cBhvr>
                                    </p:animEffect>
                                  </p:childTnLst>
                                </p:cTn>
                              </p:par>
                            </p:childTnLst>
                          </p:cTn>
                        </p:par>
                      </p:childTnLst>
                    </p:cTn>
                  </p:par>
                  <p:par>
                    <p:cTn id="1495" fill="hold" nodeType="clickEffect">
                      <p:stCondLst>
                        <p:cond delay="indefinite"/>
                      </p:stCondLst>
                      <p:childTnLst>
                        <p:par>
                          <p:cTn id="1496" fill="hold" nodeType="withEffect">
                            <p:stCondLst>
                              <p:cond delay="0"/>
                            </p:stCondLst>
                            <p:childTnLst>
                              <p:par>
                                <p:cTn id="1497" presetID="3" presetClass="entr" fill="hold" nodeType="clickEffect" presetSubtype="10">
                                  <p:stCondLst>
                                    <p:cond delay="0"/>
                                  </p:stCondLst>
                                  <p:childTnLst>
                                    <p:set>
                                      <p:cBhvr>
                                        <p:cTn id="1498" dur="1" fill="hold">
                                          <p:stCondLst>
                                            <p:cond delay="0"/>
                                          </p:stCondLst>
                                        </p:cTn>
                                        <p:tgtEl>
                                          <p:spTgt spid="755">
                                            <p:txEl>
                                              <p:pRg st="5" end="5"/>
                                            </p:txEl>
                                          </p:spTgt>
                                        </p:tgtEl>
                                        <p:attrNameLst>
                                          <p:attrName>style.visibility</p:attrName>
                                        </p:attrNameLst>
                                      </p:cBhvr>
                                      <p:to>
                                        <p:strVal val="visible"/>
                                      </p:to>
                                    </p:set>
                                    <p:animEffect transition="in" filter="blinds(horizontal)">
                                      <p:cBhvr additive="repl">
                                        <p:cTn id="1499" dur="500"/>
                                        <p:tgtEl>
                                          <p:spTgt spid="755">
                                            <p:txEl>
                                              <p:pRg st="5" end="5"/>
                                            </p:txEl>
                                          </p:spTgt>
                                        </p:tgtEl>
                                      </p:cBhvr>
                                    </p:animEffect>
                                  </p:childTnLst>
                                </p:cTn>
                              </p:par>
                            </p:childTnLst>
                          </p:cTn>
                        </p:par>
                      </p:childTnLst>
                    </p:cTn>
                  </p:par>
                  <p:par>
                    <p:cTn id="1500" fill="hold" nodeType="clickEffect">
                      <p:stCondLst>
                        <p:cond delay="indefinite"/>
                      </p:stCondLst>
                      <p:childTnLst>
                        <p:par>
                          <p:cTn id="1501" fill="hold" nodeType="withEffect">
                            <p:stCondLst>
                              <p:cond delay="0"/>
                            </p:stCondLst>
                            <p:childTnLst>
                              <p:par>
                                <p:cTn id="1502" presetID="9" presetClass="entr" fill="hold" nodeType="clickEffect">
                                  <p:stCondLst>
                                    <p:cond delay="0"/>
                                  </p:stCondLst>
                                  <p:childTnLst>
                                    <p:set>
                                      <p:cBhvr>
                                        <p:cTn id="1503" dur="1" fill="hold">
                                          <p:stCondLst>
                                            <p:cond delay="0"/>
                                          </p:stCondLst>
                                        </p:cTn>
                                        <p:tgtEl>
                                          <p:spTgt spid="756"/>
                                        </p:tgtEl>
                                        <p:attrNameLst>
                                          <p:attrName>style.visibility</p:attrName>
                                        </p:attrNameLst>
                                      </p:cBhvr>
                                      <p:to>
                                        <p:strVal val="visible"/>
                                      </p:to>
                                    </p:set>
                                    <p:animEffect transition="in" filter="dissolve">
                                      <p:cBhvr additive="repl">
                                        <p:cTn id="1504" dur="500"/>
                                        <p:tgtEl>
                                          <p:spTgt spid="756"/>
                                        </p:tgtEl>
                                      </p:cBhvr>
                                    </p:animEffect>
                                  </p:childTnLst>
                                </p:cTn>
                              </p:par>
                            </p:childTnLst>
                          </p:cTn>
                        </p:par>
                      </p:childTnLst>
                    </p:cTn>
                  </p:par>
                  <p:par>
                    <p:cTn id="1505" fill="hold" nodeType="clickEffect">
                      <p:stCondLst>
                        <p:cond delay="indefinite"/>
                      </p:stCondLst>
                      <p:childTnLst>
                        <p:par>
                          <p:cTn id="1506" fill="hold" nodeType="withEffect">
                            <p:stCondLst>
                              <p:cond delay="0"/>
                            </p:stCondLst>
                            <p:childTnLst>
                              <p:par>
                                <p:cTn id="1507" presetID="18" presetClass="entr" fill="hold" nodeType="clickEffect" presetSubtype="6">
                                  <p:stCondLst>
                                    <p:cond delay="0"/>
                                  </p:stCondLst>
                                  <p:childTnLst>
                                    <p:set>
                                      <p:cBhvr>
                                        <p:cTn id="1508" dur="1" fill="hold">
                                          <p:stCondLst>
                                            <p:cond delay="0"/>
                                          </p:stCondLst>
                                        </p:cTn>
                                        <p:tgtEl>
                                          <p:spTgt spid="757">
                                            <p:txEl>
                                              <p:pRg st="0" end="0"/>
                                            </p:txEl>
                                          </p:spTgt>
                                        </p:tgtEl>
                                        <p:attrNameLst>
                                          <p:attrName>style.visibility</p:attrName>
                                        </p:attrNameLst>
                                      </p:cBhvr>
                                      <p:to>
                                        <p:strVal val="visible"/>
                                      </p:to>
                                    </p:set>
                                    <p:animEffect transition="in" filter="strips(downRight)">
                                      <p:cBhvr additive="repl">
                                        <p:cTn id="1509" dur="500"/>
                                        <p:tgtEl>
                                          <p:spTgt spid="757">
                                            <p:txEl>
                                              <p:pRg st="0" end="0"/>
                                            </p:txEl>
                                          </p:spTgt>
                                        </p:tgtEl>
                                      </p:cBhvr>
                                    </p:animEffect>
                                  </p:childTnLst>
                                </p:cTn>
                              </p:par>
                            </p:childTnLst>
                          </p:cTn>
                        </p:par>
                      </p:childTnLst>
                    </p:cTn>
                  </p:par>
                  <p:par>
                    <p:cTn id="1510" fill="hold" nodeType="clickEffect">
                      <p:stCondLst>
                        <p:cond delay="indefinite"/>
                      </p:stCondLst>
                      <p:childTnLst>
                        <p:par>
                          <p:cTn id="1511" fill="hold" nodeType="withEffect">
                            <p:stCondLst>
                              <p:cond delay="0"/>
                            </p:stCondLst>
                            <p:childTnLst>
                              <p:par>
                                <p:cTn id="1512" presetID="18" presetClass="entr" fill="hold" nodeType="clickEffect" presetSubtype="6">
                                  <p:stCondLst>
                                    <p:cond delay="0"/>
                                  </p:stCondLst>
                                  <p:childTnLst>
                                    <p:set>
                                      <p:cBhvr>
                                        <p:cTn id="1513" dur="1" fill="hold">
                                          <p:stCondLst>
                                            <p:cond delay="0"/>
                                          </p:stCondLst>
                                        </p:cTn>
                                        <p:tgtEl>
                                          <p:spTgt spid="757">
                                            <p:txEl>
                                              <p:pRg st="1" end="1"/>
                                            </p:txEl>
                                          </p:spTgt>
                                        </p:tgtEl>
                                        <p:attrNameLst>
                                          <p:attrName>style.visibility</p:attrName>
                                        </p:attrNameLst>
                                      </p:cBhvr>
                                      <p:to>
                                        <p:strVal val="visible"/>
                                      </p:to>
                                    </p:set>
                                    <p:animEffect transition="in" filter="strips(downRight)">
                                      <p:cBhvr additive="repl">
                                        <p:cTn id="1514" dur="500"/>
                                        <p:tgtEl>
                                          <p:spTgt spid="757">
                                            <p:txEl>
                                              <p:pRg st="1" end="1"/>
                                            </p:txEl>
                                          </p:spTgt>
                                        </p:tgtEl>
                                      </p:cBhvr>
                                    </p:animEffect>
                                  </p:childTnLst>
                                </p:cTn>
                              </p:par>
                            </p:childTnLst>
                          </p:cTn>
                        </p:par>
                      </p:childTnLst>
                    </p:cTn>
                  </p:par>
                  <p:par>
                    <p:cTn id="1515" fill="hold" nodeType="clickEffect">
                      <p:stCondLst>
                        <p:cond delay="indefinite"/>
                      </p:stCondLst>
                      <p:childTnLst>
                        <p:par>
                          <p:cTn id="1516" fill="hold" nodeType="withEffect">
                            <p:stCondLst>
                              <p:cond delay="0"/>
                            </p:stCondLst>
                            <p:childTnLst>
                              <p:par>
                                <p:cTn id="1517" presetID="18" presetClass="entr" fill="hold" nodeType="clickEffect" presetSubtype="6">
                                  <p:stCondLst>
                                    <p:cond delay="0"/>
                                  </p:stCondLst>
                                  <p:childTnLst>
                                    <p:set>
                                      <p:cBhvr>
                                        <p:cTn id="1518" dur="1" fill="hold">
                                          <p:stCondLst>
                                            <p:cond delay="0"/>
                                          </p:stCondLst>
                                        </p:cTn>
                                        <p:tgtEl>
                                          <p:spTgt spid="757">
                                            <p:txEl>
                                              <p:pRg st="2" end="2"/>
                                            </p:txEl>
                                          </p:spTgt>
                                        </p:tgtEl>
                                        <p:attrNameLst>
                                          <p:attrName>style.visibility</p:attrName>
                                        </p:attrNameLst>
                                      </p:cBhvr>
                                      <p:to>
                                        <p:strVal val="visible"/>
                                      </p:to>
                                    </p:set>
                                    <p:animEffect transition="in" filter="strips(downRight)">
                                      <p:cBhvr additive="repl">
                                        <p:cTn id="1519" dur="500"/>
                                        <p:tgtEl>
                                          <p:spTgt spid="75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Text Box 4"/>
          <p:cNvSpPr/>
          <p:nvPr/>
        </p:nvSpPr>
        <p:spPr>
          <a:xfrm>
            <a:off x="0" y="711360"/>
            <a:ext cx="9023400" cy="676440"/>
          </a:xfrm>
          <a:prstGeom prst="rect">
            <a:avLst/>
          </a:prstGeom>
          <a:noFill/>
          <a:ln w="0">
            <a:noFill/>
          </a:ln>
        </p:spPr>
        <p:style>
          <a:lnRef idx="0"/>
          <a:fillRef idx="0"/>
          <a:effectRef idx="0"/>
          <a:fontRef idx="minor"/>
        </p:style>
        <p:txBody>
          <a:bodyPr lIns="90000" tIns="46800" rIns="90000" bIns="46800" anchor="t">
            <a:spAutoFit/>
          </a:bodyPr>
          <a:p>
            <a:pPr algn="ct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i="1" u="none" strike="noStrike">
                <a:solidFill>
                  <a:srgbClr val="000000"/>
                </a:solidFill>
                <a:effectLst/>
                <a:uFillTx/>
                <a:latin typeface="Times New Roman"/>
              </a:rPr>
              <a:t> ω</a:t>
            </a:r>
            <a:r>
              <a:rPr lang="en-US" sz="2800" b="1" u="none" strike="noStrike" baseline="30000">
                <a:solidFill>
                  <a:srgbClr val="000000"/>
                </a:solidFill>
                <a:effectLst/>
                <a:uFillTx/>
                <a:latin typeface="Times New Roman"/>
              </a:rPr>
              <a:t>3 </a:t>
            </a:r>
            <a:r>
              <a:rPr lang="en-US" sz="2800" b="1" u="none" strike="noStrike">
                <a:solidFill>
                  <a:srgbClr val="000000"/>
                </a:solidFill>
                <a:effectLst/>
                <a:uFillTx/>
                <a:latin typeface="Times New Roman"/>
              </a:rPr>
              <a:t>+ 5</a:t>
            </a:r>
            <a:r>
              <a:rPr lang="en-US" sz="2800" b="1" i="1" u="none" strike="noStrike">
                <a:solidFill>
                  <a:srgbClr val="000000"/>
                </a:solidFill>
                <a:effectLst/>
                <a:uFillTx/>
                <a:latin typeface="Times New Roman"/>
              </a:rPr>
              <a:t>ω </a:t>
            </a:r>
            <a:r>
              <a:rPr lang="en-US" sz="2800" b="1" u="none" strike="noStrike">
                <a:solidFill>
                  <a:srgbClr val="000000"/>
                </a:solidFill>
                <a:effectLst/>
                <a:uFillTx/>
                <a:latin typeface="Times New Roman"/>
              </a:rPr>
              <a:t>= 0         </a:t>
            </a:r>
            <a:r>
              <a:rPr lang="en-US" sz="2800" b="1" i="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6</a:t>
            </a:r>
            <a:r>
              <a:rPr lang="en-US" sz="2800" b="1" i="1" u="none" strike="noStrike">
                <a:solidFill>
                  <a:srgbClr val="000000"/>
                </a:solidFill>
                <a:effectLst/>
                <a:uFillTx/>
                <a:latin typeface="Times New Roman"/>
              </a:rPr>
              <a:t>ω</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759" name="Object 5"/>
              <p:cNvSpPr txBox="1"/>
              <p:nvPr/>
            </p:nvSpPr>
            <p:spPr>
              <a:xfrm>
                <a:off x="1900080" y="1370160"/>
                <a:ext cx="1455840" cy="569880"/>
              </a:xfrm>
              <a:prstGeom prst="rect">
                <a:avLst/>
              </a:prstGeom>
            </p:spPr>
            <p:txBody>
              <a:bodyPr/>
              <a:p>
                <a14:m>
                  <m:oMath xmlns:m="http://schemas.openxmlformats.org/officeDocument/2006/math">
                    <m:r>
                      <m:t xml:space="preserve">ω</m:t>
                    </m:r>
                    <m:r>
                      <m:t xml:space="preserve">=</m:t>
                    </m:r>
                    <m:r>
                      <m:t xml:space="preserve">±</m:t>
                    </m:r>
                    <m:rad>
                      <m:radPr>
                        <m:degHide m:val="1"/>
                      </m:radPr>
                      <m:deg/>
                      <m:e>
                        <m:r>
                          <m:t xml:space="preserve">5</m:t>
                        </m:r>
                      </m:e>
                    </m:rad>
                  </m:oMath>
                </a14:m>
              </a:p>
            </p:txBody>
          </p:sp>
        </mc:Choice>
        <mc:Fallback>
          <p:sp>
            <p:nvSpPr>
              <p:cNvPr id="759" name="Object 5"/>
              <p:cNvSpPr txBox="1"/>
              <p:nvPr/>
            </p:nvSpPr>
            <p:spPr>
              <a:xfrm>
                <a:off x="1900080" y="1370160"/>
                <a:ext cx="1455840" cy="569880"/>
              </a:xfrm>
              <a:prstGeom prst="rect">
                <a:avLst/>
              </a:prstGeom>
              <a:blipFill>
                <a:blip r:embed="rId1"/>
                <a:stretch>
                  <a:fillRect/>
                </a:stretch>
              </a:blipFill>
            </p:spPr>
          </p:sp>
        </mc:Fallback>
      </mc:AlternateContent>
      <p:sp>
        <p:nvSpPr>
          <p:cNvPr id="760" name="Rectangle 6"/>
          <p:cNvSpPr/>
          <p:nvPr/>
        </p:nvSpPr>
        <p:spPr>
          <a:xfrm>
            <a:off x="3703680" y="1420920"/>
            <a:ext cx="5440320" cy="5796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a:t>
            </a:r>
            <a:r>
              <a:rPr lang="zh-CN" sz="2000" b="1" u="none" strike="noStrike">
                <a:solidFill>
                  <a:srgbClr val="FF0000"/>
                </a:solidFill>
                <a:effectLst/>
                <a:uFillTx/>
                <a:latin typeface="Times New Roman"/>
              </a:rPr>
              <a:t>起点，舍去</a:t>
            </a:r>
            <a:r>
              <a:rPr lang="en-US" sz="2800" b="1" u="none" strike="noStrike">
                <a:solidFill>
                  <a:srgbClr val="000000"/>
                </a:solidFill>
                <a:effectLst/>
                <a:uFillTx/>
                <a:latin typeface="Times New Roman"/>
              </a:rPr>
              <a:t>)</a:t>
            </a:r>
            <a:r>
              <a:rPr lang="zh-CN"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30</a:t>
            </a:r>
            <a:endParaRPr lang="en-US" sz="2800" b="1" u="none" strike="noStrike">
              <a:solidFill>
                <a:srgbClr val="000000"/>
              </a:solidFill>
              <a:effectLst/>
              <a:uFillTx/>
              <a:latin typeface="Times New Roman"/>
            </a:endParaRPr>
          </a:p>
        </p:txBody>
      </p:sp>
      <p:sp>
        <p:nvSpPr>
          <p:cNvPr id="761" name="Text Box 7"/>
          <p:cNvSpPr/>
          <p:nvPr/>
        </p:nvSpPr>
        <p:spPr>
          <a:xfrm>
            <a:off x="304920" y="2008080"/>
            <a:ext cx="8039160" cy="122868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方法二：           </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3 </a:t>
            </a:r>
            <a:r>
              <a:rPr lang="en-US" sz="2800" b="1" u="none" strike="noStrike">
                <a:solidFill>
                  <a:srgbClr val="000000"/>
                </a:solidFill>
                <a:effectLst/>
                <a:uFillTx/>
                <a:latin typeface="Times New Roman"/>
              </a:rPr>
              <a:t>+ 6</a:t>
            </a:r>
            <a:r>
              <a:rPr lang="en-US" sz="2800" b="1" i="1" u="none" strike="noStrike">
                <a:solidFill>
                  <a:srgbClr val="000000"/>
                </a:solidFill>
                <a:effectLst/>
                <a:uFillTx/>
                <a:latin typeface="Times New Roman"/>
              </a:rPr>
              <a:t>s </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+ 5</a:t>
            </a:r>
            <a:r>
              <a:rPr lang="en-US" sz="2800" b="1" i="1" u="none" strike="noStrike">
                <a:solidFill>
                  <a:srgbClr val="000000"/>
                </a:solidFill>
                <a:effectLst/>
                <a:uFillTx/>
                <a:latin typeface="Times New Roman"/>
              </a:rPr>
              <a:t>s </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劳斯表为</a:t>
            </a:r>
            <a:endParaRPr lang="en-US" sz="2800" b="1" u="none" strike="noStrike">
              <a:solidFill>
                <a:srgbClr val="000000"/>
              </a:solidFill>
              <a:effectLst/>
              <a:uFillTx/>
              <a:latin typeface="Times New Roman"/>
            </a:endParaRPr>
          </a:p>
        </p:txBody>
      </p:sp>
      <p:sp>
        <p:nvSpPr>
          <p:cNvPr id="762" name="Text Box 8"/>
          <p:cNvSpPr/>
          <p:nvPr/>
        </p:nvSpPr>
        <p:spPr>
          <a:xfrm>
            <a:off x="2325600" y="2846520"/>
            <a:ext cx="3581640" cy="1890360"/>
          </a:xfrm>
          <a:prstGeom prst="rect">
            <a:avLst/>
          </a:prstGeom>
          <a:noFill/>
          <a:ln w="0">
            <a:noFill/>
          </a:ln>
        </p:spPr>
        <p:style>
          <a:lnRef idx="0"/>
          <a:fillRef idx="0"/>
          <a:effectRef idx="0"/>
          <a:fontRef idx="minor"/>
        </p:style>
        <p:txBody>
          <a:bodyPr lIns="90000" tIns="46800" rIns="90000" bIns="46800" anchor="t">
            <a:spAutoFit/>
          </a:bodyPr>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3</a:t>
            </a:r>
            <a:r>
              <a:rPr lang="en-US" sz="2800" b="1" u="none" strike="noStrike">
                <a:solidFill>
                  <a:srgbClr val="000000"/>
                </a:solidFill>
                <a:effectLst/>
                <a:uFillTx/>
                <a:latin typeface="Times New Roman"/>
              </a:rPr>
              <a:t>            1               5</a:t>
            </a:r>
            <a:endParaRPr lang="en-US" sz="2800" b="1" u="none" strike="noStrike">
              <a:solidFill>
                <a:srgbClr val="000000"/>
              </a:solidFill>
              <a:effectLst/>
              <a:uFillTx/>
              <a:latin typeface="Times New Roman"/>
            </a:endParaRPr>
          </a:p>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6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endParaRPr lang="en-US" sz="2800" b="1" u="none" strike="noStrike">
              <a:solidFill>
                <a:srgbClr val="000000"/>
              </a:solidFill>
              <a:effectLst/>
              <a:uFillTx/>
              <a:latin typeface="Times New Roman"/>
            </a:endParaRPr>
          </a:p>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Times New Roman"/>
              </a:rPr>
              <a:t>(30</a:t>
            </a:r>
            <a:r>
              <a:rPr lang="en-US" sz="2800" b="1" i="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)/6</a:t>
            </a:r>
            <a:endParaRPr lang="en-US" sz="2800" b="1" u="none" strike="noStrike">
              <a:solidFill>
                <a:srgbClr val="000000"/>
              </a:solidFill>
              <a:effectLst/>
              <a:uFillTx/>
              <a:latin typeface="Times New Roman"/>
            </a:endParaRPr>
          </a:p>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0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i="1" u="none" strike="noStrike" baseline="30000">
                <a:solidFill>
                  <a:srgbClr val="000000"/>
                </a:solidFill>
                <a:effectLst/>
                <a:uFillTx/>
                <a:latin typeface="Times New Roman"/>
              </a:rPr>
              <a:t> </a:t>
            </a:r>
            <a:endParaRPr lang="en-US" sz="2800" b="1" u="none" strike="noStrike">
              <a:solidFill>
                <a:srgbClr val="000000"/>
              </a:solidFill>
              <a:effectLst/>
              <a:uFillTx/>
              <a:latin typeface="Times New Roman"/>
            </a:endParaRPr>
          </a:p>
        </p:txBody>
      </p:sp>
      <p:sp>
        <p:nvSpPr>
          <p:cNvPr id="763" name="Text Box 9"/>
          <p:cNvSpPr/>
          <p:nvPr/>
        </p:nvSpPr>
        <p:spPr>
          <a:xfrm>
            <a:off x="0" y="4748040"/>
            <a:ext cx="8915400" cy="127980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imes New Roman"/>
              </a:rPr>
              <a:t>        </a:t>
            </a:r>
            <a:r>
              <a:rPr lang="zh-CN" sz="2800" b="1" u="none" strike="noStrike">
                <a:solidFill>
                  <a:srgbClr val="000000"/>
                </a:solidFill>
                <a:effectLst/>
                <a:uFillTx/>
                <a:latin typeface="Times New Roman"/>
              </a:rPr>
              <a:t>当</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=30</a:t>
            </a:r>
            <a:r>
              <a:rPr lang="zh-CN" sz="2800" b="1" u="none" strike="noStrike">
                <a:solidFill>
                  <a:srgbClr val="000000"/>
                </a:solidFill>
                <a:effectLst/>
                <a:uFillTx/>
                <a:latin typeface="Times New Roman"/>
              </a:rPr>
              <a:t>时，</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zh-CN" sz="2800" b="1" u="none" strike="noStrike">
                <a:solidFill>
                  <a:srgbClr val="000000"/>
                </a:solidFill>
                <a:effectLst/>
                <a:uFillTx/>
                <a:latin typeface="Times New Roman"/>
              </a:rPr>
              <a:t>行全零，系统存在共轭虚根。                     </a:t>
            </a:r>
            <a:endParaRPr lang="en-US" sz="2800" b="1" u="none" strike="noStrike">
              <a:solidFill>
                <a:srgbClr val="000000"/>
              </a:solidFill>
              <a:effectLst/>
              <a:uFillTx/>
              <a:latin typeface="Times New Roman"/>
            </a:endParaRPr>
          </a:p>
        </p:txBody>
      </p:sp>
      <p:sp>
        <p:nvSpPr>
          <p:cNvPr id="764" name="Line 13"/>
          <p:cNvSpPr/>
          <p:nvPr/>
        </p:nvSpPr>
        <p:spPr>
          <a:xfrm>
            <a:off x="2946240" y="2801880"/>
            <a:ext cx="0" cy="175572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65" name="Rectangle 14"/>
          <p:cNvSpPr/>
          <p:nvPr/>
        </p:nvSpPr>
        <p:spPr>
          <a:xfrm>
            <a:off x="1930680" y="179280"/>
            <a:ext cx="471708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jω</a:t>
            </a:r>
            <a:r>
              <a:rPr lang="en-US" sz="2800" b="1" u="none" strike="noStrike">
                <a:solidFill>
                  <a:srgbClr val="000000"/>
                </a:solidFill>
                <a:effectLst/>
                <a:uFillTx/>
                <a:latin typeface="Times New Roman"/>
              </a:rPr>
              <a:t>)</a:t>
            </a:r>
            <a:r>
              <a:rPr lang="en-US" sz="2800" b="1" u="none" strike="noStrike" baseline="30000">
                <a:solidFill>
                  <a:srgbClr val="000000"/>
                </a:solidFill>
                <a:effectLst/>
                <a:uFillTx/>
                <a:latin typeface="Times New Roman"/>
              </a:rPr>
              <a:t>3</a:t>
            </a:r>
            <a:r>
              <a:rPr lang="en-US" sz="2800" b="1" u="none" strike="noStrike">
                <a:solidFill>
                  <a:srgbClr val="000000"/>
                </a:solidFill>
                <a:effectLst/>
                <a:uFillTx/>
                <a:latin typeface="Times New Roman"/>
              </a:rPr>
              <a:t> + 6(</a:t>
            </a:r>
            <a:r>
              <a:rPr lang="en-US" sz="2800" b="1" i="1" u="none" strike="noStrike">
                <a:solidFill>
                  <a:srgbClr val="000000"/>
                </a:solidFill>
                <a:effectLst/>
                <a:uFillTx/>
                <a:latin typeface="Times New Roman"/>
              </a:rPr>
              <a:t>jω</a:t>
            </a:r>
            <a:r>
              <a:rPr lang="en-US" sz="2800" b="1" u="none" strike="noStrike">
                <a:solidFill>
                  <a:srgbClr val="000000"/>
                </a:solidFill>
                <a:effectLst/>
                <a:uFillTx/>
                <a:latin typeface="Times New Roman"/>
              </a:rPr>
              <a:t>)</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+ 5 (</a:t>
            </a:r>
            <a:r>
              <a:rPr lang="en-US" sz="2800" b="1" i="1" u="none" strike="noStrike">
                <a:solidFill>
                  <a:srgbClr val="000000"/>
                </a:solidFill>
                <a:effectLst/>
                <a:uFillTx/>
                <a:latin typeface="Times New Roman"/>
              </a:rPr>
              <a:t>jω</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Kg </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p:txBody>
      </p:sp>
      <p:sp>
        <p:nvSpPr>
          <p:cNvPr id="766" name="文本框 1"/>
          <p:cNvSpPr/>
          <p:nvPr/>
        </p:nvSpPr>
        <p:spPr>
          <a:xfrm>
            <a:off x="55440" y="5398920"/>
            <a:ext cx="495324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令</a:t>
            </a:r>
            <a:r>
              <a:rPr lang="en-US" sz="2800" b="1" i="1" u="none" strike="noStrike">
                <a:solidFill>
                  <a:srgbClr val="000000"/>
                </a:solidFill>
                <a:effectLst/>
                <a:uFillTx/>
                <a:latin typeface="Times New Roman"/>
              </a:rPr>
              <a:t>s</a:t>
            </a:r>
            <a:r>
              <a:rPr lang="en-US"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jω</a:t>
            </a:r>
            <a:r>
              <a:rPr lang="zh-CN" sz="2800" b="1" u="none" strike="noStrike">
                <a:solidFill>
                  <a:srgbClr val="000000"/>
                </a:solidFill>
                <a:effectLst/>
                <a:uFillTx/>
                <a:latin typeface="Times New Roman"/>
              </a:rPr>
              <a:t>，代入特征方程，则  </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767" name="Object 5"/>
              <p:cNvSpPr txBox="1"/>
              <p:nvPr/>
            </p:nvSpPr>
            <p:spPr>
              <a:xfrm>
                <a:off x="4859280" y="5337000"/>
                <a:ext cx="1494000" cy="584280"/>
              </a:xfrm>
              <a:prstGeom prst="rect">
                <a:avLst/>
              </a:prstGeom>
            </p:spPr>
            <p:txBody>
              <a:bodyPr/>
              <a:p>
                <a14:m>
                  <m:oMath xmlns:m="http://schemas.openxmlformats.org/officeDocument/2006/math">
                    <m:r>
                      <m:t xml:space="preserve">ω</m:t>
                    </m:r>
                    <m:r>
                      <m:t xml:space="preserve">=</m:t>
                    </m:r>
                    <m:r>
                      <m:t xml:space="preserve">±</m:t>
                    </m:r>
                    <m:rad>
                      <m:radPr>
                        <m:degHide m:val="1"/>
                      </m:radPr>
                      <m:deg/>
                      <m:e>
                        <m:r>
                          <m:t xml:space="preserve">5</m:t>
                        </m:r>
                      </m:e>
                    </m:rad>
                  </m:oMath>
                </a14:m>
              </a:p>
            </p:txBody>
          </p:sp>
        </mc:Choice>
        <mc:Fallback>
          <p:sp>
            <p:nvSpPr>
              <p:cNvPr id="767" name="Object 5"/>
              <p:cNvSpPr txBox="1"/>
              <p:nvPr/>
            </p:nvSpPr>
            <p:spPr>
              <a:xfrm>
                <a:off x="4859280" y="5337000"/>
                <a:ext cx="1494000" cy="584280"/>
              </a:xfrm>
              <a:prstGeom prst="rect">
                <a:avLst/>
              </a:prstGeom>
              <a:blipFill>
                <a:blip r:embed="rId2"/>
                <a:stretch>
                  <a:fillRect/>
                </a:stretch>
              </a:blipFill>
            </p:spPr>
          </p:sp>
        </mc:Fallback>
      </mc:AlternateContent>
    </p:spTree>
  </p:cSld>
  <mc:AlternateContent>
    <mc:Choice Requires="p14">
      <p:transition spd="slow" p14:dur="2000"/>
    </mc:Choice>
    <mc:Fallback>
      <p:transition spd="slow"/>
    </mc:Fallback>
  </mc:AlternateContent>
  <p:timing>
    <p:tnLst>
      <p:par>
        <p:cTn id="1520" dur="indefinite" restart="never" nodeType="tmRoot">
          <p:childTnLst>
            <p:seq>
              <p:cTn id="1521" dur="indefinite" nodeType="mainSeq">
                <p:childTnLst>
                  <p:par>
                    <p:cTn id="1522" fill="hold" nodeType="clickEffect">
                      <p:stCondLst>
                        <p:cond delay="indefinite"/>
                      </p:stCondLst>
                      <p:childTnLst>
                        <p:par>
                          <p:cTn id="1523" fill="hold" nodeType="withEffect">
                            <p:stCondLst>
                              <p:cond delay="0"/>
                            </p:stCondLst>
                            <p:childTnLst>
                              <p:par>
                                <p:cTn id="1524" presetID="12" presetClass="entr" fill="hold" nodeType="clickEffect" presetSubtype="1">
                                  <p:stCondLst>
                                    <p:cond delay="0"/>
                                  </p:stCondLst>
                                  <p:childTnLst>
                                    <p:set>
                                      <p:cBhvr>
                                        <p:cTn id="1525" dur="1" fill="hold">
                                          <p:stCondLst>
                                            <p:cond delay="0"/>
                                          </p:stCondLst>
                                        </p:cTn>
                                        <p:tgtEl>
                                          <p:spTgt spid="765"/>
                                        </p:tgtEl>
                                        <p:attrNameLst>
                                          <p:attrName>style.visibility</p:attrName>
                                        </p:attrNameLst>
                                      </p:cBhvr>
                                      <p:to>
                                        <p:strVal val="visible"/>
                                      </p:to>
                                    </p:set>
                                    <p:animEffect transition="in" filter="slide(fromTop)">
                                      <p:cBhvr additive="repl">
                                        <p:cTn id="1526" dur="500"/>
                                        <p:tgtEl>
                                          <p:spTgt spid="765"/>
                                        </p:tgtEl>
                                      </p:cBhvr>
                                    </p:animEffect>
                                  </p:childTnLst>
                                </p:cTn>
                              </p:par>
                            </p:childTnLst>
                          </p:cTn>
                        </p:par>
                      </p:childTnLst>
                    </p:cTn>
                  </p:par>
                  <p:par>
                    <p:cTn id="1527" fill="hold" nodeType="clickEffect">
                      <p:stCondLst>
                        <p:cond delay="indefinite"/>
                      </p:stCondLst>
                      <p:childTnLst>
                        <p:par>
                          <p:cTn id="1528" fill="hold" nodeType="withEffect">
                            <p:stCondLst>
                              <p:cond delay="0"/>
                            </p:stCondLst>
                            <p:childTnLst>
                              <p:par>
                                <p:cTn id="1529" presetID="18" presetClass="entr" fill="hold" nodeType="clickEffect" presetSubtype="6">
                                  <p:stCondLst>
                                    <p:cond delay="0"/>
                                  </p:stCondLst>
                                  <p:childTnLst>
                                    <p:set>
                                      <p:cBhvr>
                                        <p:cTn id="1530" dur="1" fill="hold">
                                          <p:stCondLst>
                                            <p:cond delay="0"/>
                                          </p:stCondLst>
                                        </p:cTn>
                                        <p:tgtEl>
                                          <p:spTgt spid="758">
                                            <p:txEl>
                                              <p:pRg st="0" end="0"/>
                                            </p:txEl>
                                          </p:spTgt>
                                        </p:tgtEl>
                                        <p:attrNameLst>
                                          <p:attrName>style.visibility</p:attrName>
                                        </p:attrNameLst>
                                      </p:cBhvr>
                                      <p:to>
                                        <p:strVal val="visible"/>
                                      </p:to>
                                    </p:set>
                                    <p:animEffect transition="in" filter="strips(downRight)">
                                      <p:cBhvr additive="repl">
                                        <p:cTn id="1531" dur="500"/>
                                        <p:tgtEl>
                                          <p:spTgt spid="758">
                                            <p:txEl>
                                              <p:pRg st="0" end="0"/>
                                            </p:txEl>
                                          </p:spTgt>
                                        </p:tgtEl>
                                      </p:cBhvr>
                                    </p:animEffect>
                                  </p:childTnLst>
                                </p:cTn>
                              </p:par>
                            </p:childTnLst>
                          </p:cTn>
                        </p:par>
                      </p:childTnLst>
                    </p:cTn>
                  </p:par>
                  <p:par>
                    <p:cTn id="1532" fill="hold" nodeType="clickEffect">
                      <p:stCondLst>
                        <p:cond delay="indefinite"/>
                      </p:stCondLst>
                      <p:childTnLst>
                        <p:par>
                          <p:cTn id="1533" fill="hold" nodeType="withEffect">
                            <p:stCondLst>
                              <p:cond delay="0"/>
                            </p:stCondLst>
                            <p:childTnLst>
                              <p:par>
                                <p:cTn id="1534" presetID="9" presetClass="entr" fill="hold" nodeType="clickEffect">
                                  <p:stCondLst>
                                    <p:cond delay="0"/>
                                  </p:stCondLst>
                                  <p:childTnLst>
                                    <p:set>
                                      <p:cBhvr>
                                        <p:cTn id="1535" dur="1" fill="hold">
                                          <p:stCondLst>
                                            <p:cond delay="0"/>
                                          </p:stCondLst>
                                        </p:cTn>
                                        <p:tgtEl>
                                          <p:spTgt spid="759"/>
                                        </p:tgtEl>
                                        <p:attrNameLst>
                                          <p:attrName>style.visibility</p:attrName>
                                        </p:attrNameLst>
                                      </p:cBhvr>
                                      <p:to>
                                        <p:strVal val="visible"/>
                                      </p:to>
                                    </p:set>
                                    <p:animEffect transition="in" filter="dissolve">
                                      <p:cBhvr additive="repl">
                                        <p:cTn id="1536" dur="500"/>
                                        <p:tgtEl>
                                          <p:spTgt spid="759"/>
                                        </p:tgtEl>
                                      </p:cBhvr>
                                    </p:animEffect>
                                  </p:childTnLst>
                                </p:cTn>
                              </p:par>
                            </p:childTnLst>
                          </p:cTn>
                        </p:par>
                        <p:par>
                          <p:cTn id="1537" fill="hold" nodeType="afterEffect">
                            <p:stCondLst>
                              <p:cond delay="500"/>
                            </p:stCondLst>
                            <p:childTnLst>
                              <p:par>
                                <p:cTn id="1538" presetID="9" presetClass="entr" fill="hold" nodeType="afterEffect">
                                  <p:stCondLst>
                                    <p:cond delay="0"/>
                                  </p:stCondLst>
                                  <p:childTnLst>
                                    <p:set>
                                      <p:cBhvr>
                                        <p:cTn id="1539" dur="1" fill="hold">
                                          <p:stCondLst>
                                            <p:cond delay="0"/>
                                          </p:stCondLst>
                                        </p:cTn>
                                        <p:tgtEl>
                                          <p:spTgt spid="760"/>
                                        </p:tgtEl>
                                        <p:attrNameLst>
                                          <p:attrName>style.visibility</p:attrName>
                                        </p:attrNameLst>
                                      </p:cBhvr>
                                      <p:to>
                                        <p:strVal val="visible"/>
                                      </p:to>
                                    </p:set>
                                    <p:animEffect transition="in" filter="dissolve">
                                      <p:cBhvr additive="repl">
                                        <p:cTn id="1540" dur="500"/>
                                        <p:tgtEl>
                                          <p:spTgt spid="760"/>
                                        </p:tgtEl>
                                      </p:cBhvr>
                                    </p:animEffect>
                                  </p:childTnLst>
                                </p:cTn>
                              </p:par>
                            </p:childTnLst>
                          </p:cTn>
                        </p:par>
                      </p:childTnLst>
                    </p:cTn>
                  </p:par>
                  <p:par>
                    <p:cTn id="1541" fill="hold" nodeType="clickEffect">
                      <p:stCondLst>
                        <p:cond delay="indefinite"/>
                      </p:stCondLst>
                      <p:childTnLst>
                        <p:par>
                          <p:cTn id="1542" fill="hold" nodeType="withEffect">
                            <p:stCondLst>
                              <p:cond delay="0"/>
                            </p:stCondLst>
                            <p:childTnLst>
                              <p:par>
                                <p:cTn id="1543" presetID="2" presetClass="entr" fill="hold" nodeType="clickEffect" presetSubtype="8">
                                  <p:stCondLst>
                                    <p:cond delay="0"/>
                                  </p:stCondLst>
                                  <p:childTnLst>
                                    <p:set>
                                      <p:cBhvr>
                                        <p:cTn id="1544" dur="1" fill="hold">
                                          <p:stCondLst>
                                            <p:cond delay="0"/>
                                          </p:stCondLst>
                                        </p:cTn>
                                        <p:tgtEl>
                                          <p:spTgt spid="761">
                                            <p:txEl>
                                              <p:pRg st="0" end="0"/>
                                            </p:txEl>
                                          </p:spTgt>
                                        </p:tgtEl>
                                        <p:attrNameLst>
                                          <p:attrName>style.visibility</p:attrName>
                                        </p:attrNameLst>
                                      </p:cBhvr>
                                      <p:to>
                                        <p:strVal val="visible"/>
                                      </p:to>
                                    </p:set>
                                    <p:anim calcmode="lin" valueType="num">
                                      <p:cBhvr additive="base">
                                        <p:cTn id="1545" dur="500" fill="hold"/>
                                        <p:tgtEl>
                                          <p:spTgt spid="761">
                                            <p:txEl>
                                              <p:pRg st="0" end="0"/>
                                            </p:txEl>
                                          </p:spTgt>
                                        </p:tgtEl>
                                        <p:attrNameLst>
                                          <p:attrName>ppt_x</p:attrName>
                                        </p:attrNameLst>
                                      </p:cBhvr>
                                      <p:tavLst>
                                        <p:tav>
                                          <p:val>
                                            <p:strVal val="0-#ppt_w/2"/>
                                          </p:val>
                                        </p:tav>
                                        <p:tav tm="100000">
                                          <p:val>
                                            <p:strVal val="#ppt_x"/>
                                          </p:val>
                                        </p:tav>
                                      </p:tavLst>
                                    </p:anim>
                                    <p:anim calcmode="lin" valueType="num">
                                      <p:cBhvr additive="base">
                                        <p:cTn id="1546" dur="500" fill="hold"/>
                                        <p:tgtEl>
                                          <p:spTgt spid="761">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547" fill="hold" nodeType="clickEffect">
                      <p:stCondLst>
                        <p:cond delay="indefinite"/>
                      </p:stCondLst>
                      <p:childTnLst>
                        <p:par>
                          <p:cTn id="1548" fill="hold" nodeType="withEffect">
                            <p:stCondLst>
                              <p:cond delay="0"/>
                            </p:stCondLst>
                            <p:childTnLst>
                              <p:par>
                                <p:cTn id="1549" presetID="2" presetClass="entr" fill="hold" nodeType="clickEffect" presetSubtype="8">
                                  <p:stCondLst>
                                    <p:cond delay="0"/>
                                  </p:stCondLst>
                                  <p:childTnLst>
                                    <p:set>
                                      <p:cBhvr>
                                        <p:cTn id="1550" dur="1" fill="hold">
                                          <p:stCondLst>
                                            <p:cond delay="0"/>
                                          </p:stCondLst>
                                        </p:cTn>
                                        <p:tgtEl>
                                          <p:spTgt spid="761">
                                            <p:txEl>
                                              <p:pRg st="1" end="1"/>
                                            </p:txEl>
                                          </p:spTgt>
                                        </p:tgtEl>
                                        <p:attrNameLst>
                                          <p:attrName>style.visibility</p:attrName>
                                        </p:attrNameLst>
                                      </p:cBhvr>
                                      <p:to>
                                        <p:strVal val="visible"/>
                                      </p:to>
                                    </p:set>
                                    <p:anim calcmode="lin" valueType="num">
                                      <p:cBhvr additive="base">
                                        <p:cTn id="1551" dur="500" fill="hold"/>
                                        <p:tgtEl>
                                          <p:spTgt spid="761">
                                            <p:txEl>
                                              <p:pRg st="1" end="1"/>
                                            </p:txEl>
                                          </p:spTgt>
                                        </p:tgtEl>
                                        <p:attrNameLst>
                                          <p:attrName>ppt_x</p:attrName>
                                        </p:attrNameLst>
                                      </p:cBhvr>
                                      <p:tavLst>
                                        <p:tav>
                                          <p:val>
                                            <p:strVal val="0-#ppt_w/2"/>
                                          </p:val>
                                        </p:tav>
                                        <p:tav tm="100000">
                                          <p:val>
                                            <p:strVal val="#ppt_x"/>
                                          </p:val>
                                        </p:tav>
                                      </p:tavLst>
                                    </p:anim>
                                    <p:anim calcmode="lin" valueType="num">
                                      <p:cBhvr additive="base">
                                        <p:cTn id="1552" dur="500" fill="hold"/>
                                        <p:tgtEl>
                                          <p:spTgt spid="761">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1553" fill="hold" nodeType="clickEffect">
                      <p:stCondLst>
                        <p:cond delay="indefinite"/>
                      </p:stCondLst>
                      <p:childTnLst>
                        <p:par>
                          <p:cTn id="1554" fill="hold" nodeType="withEffect">
                            <p:stCondLst>
                              <p:cond delay="0"/>
                            </p:stCondLst>
                            <p:childTnLst>
                              <p:par>
                                <p:cTn id="1555" presetID="9" presetClass="entr" fill="hold" nodeType="clickEffect">
                                  <p:stCondLst>
                                    <p:cond delay="0"/>
                                  </p:stCondLst>
                                  <p:childTnLst>
                                    <p:set>
                                      <p:cBhvr>
                                        <p:cTn id="1556" dur="1" fill="hold">
                                          <p:stCondLst>
                                            <p:cond delay="0"/>
                                          </p:stCondLst>
                                        </p:cTn>
                                        <p:tgtEl>
                                          <p:spTgt spid="762"/>
                                        </p:tgtEl>
                                        <p:attrNameLst>
                                          <p:attrName>style.visibility</p:attrName>
                                        </p:attrNameLst>
                                      </p:cBhvr>
                                      <p:to>
                                        <p:strVal val="visible"/>
                                      </p:to>
                                    </p:set>
                                    <p:animEffect transition="in" filter="dissolve">
                                      <p:cBhvr additive="repl">
                                        <p:cTn id="1557" dur="500"/>
                                        <p:tgtEl>
                                          <p:spTgt spid="762"/>
                                        </p:tgtEl>
                                      </p:cBhvr>
                                    </p:animEffect>
                                  </p:childTnLst>
                                </p:cTn>
                              </p:par>
                            </p:childTnLst>
                          </p:cTn>
                        </p:par>
                        <p:par>
                          <p:cTn id="1558" fill="hold" nodeType="afterEffect">
                            <p:stCondLst>
                              <p:cond delay="500"/>
                            </p:stCondLst>
                            <p:childTnLst>
                              <p:par>
                                <p:cTn id="1559" presetID="9" presetClass="entr" fill="hold" nodeType="afterEffect">
                                  <p:stCondLst>
                                    <p:cond delay="0"/>
                                  </p:stCondLst>
                                  <p:childTnLst>
                                    <p:set>
                                      <p:cBhvr>
                                        <p:cTn id="1560" dur="1" fill="hold">
                                          <p:stCondLst>
                                            <p:cond delay="0"/>
                                          </p:stCondLst>
                                        </p:cTn>
                                        <p:tgtEl>
                                          <p:spTgt spid="764"/>
                                        </p:tgtEl>
                                        <p:attrNameLst>
                                          <p:attrName>style.visibility</p:attrName>
                                        </p:attrNameLst>
                                      </p:cBhvr>
                                      <p:to>
                                        <p:strVal val="visible"/>
                                      </p:to>
                                    </p:set>
                                    <p:animEffect transition="in" filter="dissolve">
                                      <p:cBhvr additive="repl">
                                        <p:cTn id="1561" dur="500"/>
                                        <p:tgtEl>
                                          <p:spTgt spid="764"/>
                                        </p:tgtEl>
                                      </p:cBhvr>
                                    </p:animEffect>
                                  </p:childTnLst>
                                </p:cTn>
                              </p:par>
                            </p:childTnLst>
                          </p:cTn>
                        </p:par>
                      </p:childTnLst>
                    </p:cTn>
                  </p:par>
                  <p:par>
                    <p:cTn id="1562" fill="hold" nodeType="clickEffect">
                      <p:stCondLst>
                        <p:cond delay="indefinite"/>
                      </p:stCondLst>
                      <p:childTnLst>
                        <p:par>
                          <p:cTn id="1563" fill="hold" nodeType="withEffect">
                            <p:stCondLst>
                              <p:cond delay="0"/>
                            </p:stCondLst>
                            <p:childTnLst>
                              <p:par>
                                <p:cTn id="1564" presetID="3" presetClass="entr" fill="hold" nodeType="clickEffect" presetSubtype="10">
                                  <p:stCondLst>
                                    <p:cond delay="0"/>
                                  </p:stCondLst>
                                  <p:childTnLst>
                                    <p:set>
                                      <p:cBhvr>
                                        <p:cTn id="1565" dur="1" fill="hold">
                                          <p:stCondLst>
                                            <p:cond delay="0"/>
                                          </p:stCondLst>
                                        </p:cTn>
                                        <p:tgtEl>
                                          <p:spTgt spid="763">
                                            <p:txEl>
                                              <p:pRg st="0" end="0"/>
                                            </p:txEl>
                                          </p:spTgt>
                                        </p:tgtEl>
                                        <p:attrNameLst>
                                          <p:attrName>style.visibility</p:attrName>
                                        </p:attrNameLst>
                                      </p:cBhvr>
                                      <p:to>
                                        <p:strVal val="visible"/>
                                      </p:to>
                                    </p:set>
                                    <p:animEffect transition="in" filter="blinds(horizontal)">
                                      <p:cBhvr additive="repl">
                                        <p:cTn id="1566" dur="500"/>
                                        <p:tgtEl>
                                          <p:spTgt spid="763">
                                            <p:txEl>
                                              <p:pRg st="0" end="0"/>
                                            </p:txEl>
                                          </p:spTgt>
                                        </p:tgtEl>
                                      </p:cBhvr>
                                    </p:animEffect>
                                  </p:childTnLst>
                                </p:cTn>
                              </p:par>
                            </p:childTnLst>
                          </p:cTn>
                        </p:par>
                      </p:childTnLst>
                    </p:cTn>
                  </p:par>
                  <p:par>
                    <p:cTn id="1567" fill="hold" nodeType="clickEffect">
                      <p:stCondLst>
                        <p:cond delay="indefinite"/>
                      </p:stCondLst>
                      <p:childTnLst>
                        <p:par>
                          <p:cTn id="1568" fill="hold" nodeType="withEffect">
                            <p:stCondLst>
                              <p:cond delay="0"/>
                            </p:stCondLst>
                            <p:childTnLst>
                              <p:par>
                                <p:cTn id="1569" presetID="9" presetClass="entr" fill="hold" nodeType="clickEffect">
                                  <p:stCondLst>
                                    <p:cond delay="0"/>
                                  </p:stCondLst>
                                  <p:childTnLst>
                                    <p:set>
                                      <p:cBhvr>
                                        <p:cTn id="1570" dur="1" fill="hold">
                                          <p:stCondLst>
                                            <p:cond delay="0"/>
                                          </p:stCondLst>
                                        </p:cTn>
                                        <p:tgtEl>
                                          <p:spTgt spid="767"/>
                                        </p:tgtEl>
                                        <p:attrNameLst>
                                          <p:attrName>style.visibility</p:attrName>
                                        </p:attrNameLst>
                                      </p:cBhvr>
                                      <p:to>
                                        <p:strVal val="visible"/>
                                      </p:to>
                                    </p:set>
                                    <p:animEffect transition="in" filter="dissolve">
                                      <p:cBhvr additive="repl">
                                        <p:cTn id="1571" dur="500"/>
                                        <p:tgtEl>
                                          <p:spTgt spid="7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68" name="Group 2"/>
          <p:cNvGrpSpPr/>
          <p:nvPr/>
        </p:nvGrpSpPr>
        <p:grpSpPr>
          <a:xfrm>
            <a:off x="1293840" y="383760"/>
            <a:ext cx="5686560" cy="5381640"/>
            <a:chOff x="1293840" y="383760"/>
            <a:chExt cx="5686560" cy="5381640"/>
          </a:xfrm>
        </p:grpSpPr>
        <p:sp>
          <p:nvSpPr>
            <p:cNvPr id="769" name="Line 3"/>
            <p:cNvSpPr/>
            <p:nvPr/>
          </p:nvSpPr>
          <p:spPr>
            <a:xfrm flipV="1">
              <a:off x="5007240" y="383760"/>
              <a:ext cx="0" cy="53816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0" name="Rectangle 4"/>
            <p:cNvSpPr/>
            <p:nvPr/>
          </p:nvSpPr>
          <p:spPr>
            <a:xfrm>
              <a:off x="6437520" y="2941560"/>
              <a:ext cx="542880" cy="88668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771" name="Rectangle 5"/>
            <p:cNvSpPr/>
            <p:nvPr/>
          </p:nvSpPr>
          <p:spPr>
            <a:xfrm>
              <a:off x="4926240" y="33336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772" name="Line 6"/>
            <p:cNvSpPr/>
            <p:nvPr/>
          </p:nvSpPr>
          <p:spPr>
            <a:xfrm>
              <a:off x="1293840" y="3267000"/>
              <a:ext cx="5216760" cy="1440"/>
            </a:xfrm>
            <a:prstGeom prst="line">
              <a:avLst/>
            </a:prstGeom>
            <a:ln cap="sq" w="57240">
              <a:solidFill>
                <a:srgbClr val="0000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773" name="Line 7"/>
            <p:cNvSpPr/>
            <p:nvPr/>
          </p:nvSpPr>
          <p:spPr>
            <a:xfrm>
              <a:off x="4380120" y="3157560"/>
              <a:ext cx="0" cy="1983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4" name="Line 8"/>
            <p:cNvSpPr/>
            <p:nvPr/>
          </p:nvSpPr>
          <p:spPr>
            <a:xfrm>
              <a:off x="3705480" y="3135240"/>
              <a:ext cx="1440" cy="1983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5" name="Line 9"/>
            <p:cNvSpPr/>
            <p:nvPr/>
          </p:nvSpPr>
          <p:spPr>
            <a:xfrm>
              <a:off x="3705480" y="3157560"/>
              <a:ext cx="1440" cy="1983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6" name="Line 10"/>
            <p:cNvSpPr/>
            <p:nvPr/>
          </p:nvSpPr>
          <p:spPr>
            <a:xfrm>
              <a:off x="3032280" y="3135240"/>
              <a:ext cx="1440" cy="1983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7" name="Line 11"/>
            <p:cNvSpPr/>
            <p:nvPr/>
          </p:nvSpPr>
          <p:spPr>
            <a:xfrm>
              <a:off x="2359080" y="3157560"/>
              <a:ext cx="1800" cy="1983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8" name="Line 12"/>
            <p:cNvSpPr/>
            <p:nvPr/>
          </p:nvSpPr>
          <p:spPr>
            <a:xfrm>
              <a:off x="2359080" y="3135240"/>
              <a:ext cx="1800" cy="1983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79" name="Line 13"/>
            <p:cNvSpPr/>
            <p:nvPr/>
          </p:nvSpPr>
          <p:spPr>
            <a:xfrm>
              <a:off x="1685880" y="3090600"/>
              <a:ext cx="1800" cy="2430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80" name="Line 14"/>
            <p:cNvSpPr/>
            <p:nvPr/>
          </p:nvSpPr>
          <p:spPr>
            <a:xfrm flipV="1">
              <a:off x="4899240" y="4615560"/>
              <a:ext cx="195120" cy="6480"/>
            </a:xfrm>
            <a:prstGeom prst="line">
              <a:avLst/>
            </a:prstGeom>
            <a:ln w="57240">
              <a:solidFill>
                <a:srgbClr val="000000"/>
              </a:solidFill>
              <a:miter/>
            </a:ln>
          </p:spPr>
          <p:style>
            <a:lnRef idx="0"/>
            <a:fillRef idx="0"/>
            <a:effectRef idx="0"/>
            <a:fontRef idx="minor"/>
          </p:style>
          <p:txBody>
            <a:bodyPr lIns="90000" tIns="-40320" rIns="90000" bIns="-40320" anchor="t">
              <a:noAutofit/>
            </a:bodyPr>
            <a:p>
              <a:endParaRPr lang="en-US" sz="2800" b="1" u="none" strike="noStrike">
                <a:solidFill>
                  <a:srgbClr val="000000"/>
                </a:solidFill>
                <a:effectLst/>
                <a:uFillTx/>
                <a:latin typeface="Times New Roman"/>
              </a:endParaRPr>
            </a:p>
          </p:txBody>
        </p:sp>
        <p:sp>
          <p:nvSpPr>
            <p:cNvPr id="781" name="Line 15"/>
            <p:cNvSpPr/>
            <p:nvPr/>
          </p:nvSpPr>
          <p:spPr>
            <a:xfrm flipV="1">
              <a:off x="4899240" y="3969360"/>
              <a:ext cx="195120" cy="6480"/>
            </a:xfrm>
            <a:prstGeom prst="line">
              <a:avLst/>
            </a:prstGeom>
            <a:ln w="57240">
              <a:solidFill>
                <a:srgbClr val="000000"/>
              </a:solidFill>
              <a:miter/>
            </a:ln>
          </p:spPr>
          <p:style>
            <a:lnRef idx="0"/>
            <a:fillRef idx="0"/>
            <a:effectRef idx="0"/>
            <a:fontRef idx="minor"/>
          </p:style>
          <p:txBody>
            <a:bodyPr lIns="90000" tIns="-40320" rIns="90000" bIns="-40320" anchor="t">
              <a:noAutofit/>
            </a:bodyPr>
            <a:p>
              <a:endParaRPr lang="en-US" sz="2800" b="1" u="none" strike="noStrike">
                <a:solidFill>
                  <a:srgbClr val="000000"/>
                </a:solidFill>
                <a:effectLst/>
                <a:uFillTx/>
                <a:latin typeface="Times New Roman"/>
              </a:endParaRPr>
            </a:p>
          </p:txBody>
        </p:sp>
        <p:sp>
          <p:nvSpPr>
            <p:cNvPr id="782" name="Line 16"/>
            <p:cNvSpPr/>
            <p:nvPr/>
          </p:nvSpPr>
          <p:spPr>
            <a:xfrm flipV="1">
              <a:off x="4926240" y="1866960"/>
              <a:ext cx="195120" cy="6840"/>
            </a:xfrm>
            <a:prstGeom prst="line">
              <a:avLst/>
            </a:prstGeom>
            <a:ln w="57240">
              <a:solidFill>
                <a:srgbClr val="000000"/>
              </a:solidFill>
              <a:miter/>
            </a:ln>
          </p:spPr>
          <p:style>
            <a:lnRef idx="0"/>
            <a:fillRef idx="0"/>
            <a:effectRef idx="0"/>
            <a:fontRef idx="minor"/>
          </p:style>
          <p:txBody>
            <a:bodyPr lIns="90000" tIns="-39960" rIns="90000" bIns="-39960" anchor="t">
              <a:noAutofit/>
            </a:bodyPr>
            <a:p>
              <a:endParaRPr lang="en-US" sz="2800" b="1" u="none" strike="noStrike">
                <a:solidFill>
                  <a:srgbClr val="000000"/>
                </a:solidFill>
                <a:effectLst/>
                <a:uFillTx/>
                <a:latin typeface="Times New Roman"/>
              </a:endParaRPr>
            </a:p>
          </p:txBody>
        </p:sp>
        <p:sp>
          <p:nvSpPr>
            <p:cNvPr id="783" name="Line 17"/>
            <p:cNvSpPr/>
            <p:nvPr/>
          </p:nvSpPr>
          <p:spPr>
            <a:xfrm flipV="1">
              <a:off x="4921200" y="2562840"/>
              <a:ext cx="195480" cy="5040"/>
            </a:xfrm>
            <a:prstGeom prst="line">
              <a:avLst/>
            </a:prstGeom>
            <a:ln w="57240">
              <a:solidFill>
                <a:srgbClr val="000000"/>
              </a:solidFill>
              <a:miter/>
            </a:ln>
          </p:spPr>
          <p:style>
            <a:lnRef idx="0"/>
            <a:fillRef idx="0"/>
            <a:effectRef idx="0"/>
            <a:fontRef idx="minor"/>
          </p:style>
          <p:txBody>
            <a:bodyPr lIns="90000" tIns="-41760" rIns="90000" bIns="-41760" anchor="t">
              <a:noAutofit/>
            </a:bodyPr>
            <a:p>
              <a:endParaRPr lang="en-US" sz="2800" b="1" u="none" strike="noStrike">
                <a:solidFill>
                  <a:srgbClr val="000000"/>
                </a:solidFill>
                <a:effectLst/>
                <a:uFillTx/>
                <a:latin typeface="Times New Roman"/>
              </a:endParaRPr>
            </a:p>
          </p:txBody>
        </p:sp>
      </p:grpSp>
      <p:sp>
        <p:nvSpPr>
          <p:cNvPr id="784" name="Oval 19"/>
          <p:cNvSpPr/>
          <p:nvPr/>
        </p:nvSpPr>
        <p:spPr>
          <a:xfrm>
            <a:off x="4889520" y="4775040"/>
            <a:ext cx="233280" cy="23364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785" name="Rectangle 21"/>
          <p:cNvSpPr/>
          <p:nvPr/>
        </p:nvSpPr>
        <p:spPr>
          <a:xfrm>
            <a:off x="4094280" y="23184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grpSp>
        <p:nvGrpSpPr>
          <p:cNvPr id="786" name="Group 22"/>
          <p:cNvGrpSpPr/>
          <p:nvPr/>
        </p:nvGrpSpPr>
        <p:grpSpPr>
          <a:xfrm>
            <a:off x="4863960" y="3106800"/>
            <a:ext cx="287280" cy="290520"/>
            <a:chOff x="4863960" y="3106800"/>
            <a:chExt cx="287280" cy="290520"/>
          </a:xfrm>
        </p:grpSpPr>
        <p:sp>
          <p:nvSpPr>
            <p:cNvPr id="787" name="Line 23"/>
            <p:cNvSpPr/>
            <p:nvPr/>
          </p:nvSpPr>
          <p:spPr>
            <a:xfrm>
              <a:off x="4867200" y="31147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88" name="Line 24"/>
            <p:cNvSpPr/>
            <p:nvPr/>
          </p:nvSpPr>
          <p:spPr>
            <a:xfrm flipH="1">
              <a:off x="4863960" y="31068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789" name="Group 25"/>
          <p:cNvGrpSpPr/>
          <p:nvPr/>
        </p:nvGrpSpPr>
        <p:grpSpPr>
          <a:xfrm>
            <a:off x="4238640" y="3106800"/>
            <a:ext cx="287280" cy="290520"/>
            <a:chOff x="4238640" y="3106800"/>
            <a:chExt cx="287280" cy="290520"/>
          </a:xfrm>
        </p:grpSpPr>
        <p:sp>
          <p:nvSpPr>
            <p:cNvPr id="790" name="Line 26"/>
            <p:cNvSpPr/>
            <p:nvPr/>
          </p:nvSpPr>
          <p:spPr>
            <a:xfrm>
              <a:off x="4241880" y="31147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91" name="Line 27"/>
            <p:cNvSpPr/>
            <p:nvPr/>
          </p:nvSpPr>
          <p:spPr>
            <a:xfrm flipH="1">
              <a:off x="4238640" y="31068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792" name="Group 28"/>
          <p:cNvGrpSpPr/>
          <p:nvPr/>
        </p:nvGrpSpPr>
        <p:grpSpPr>
          <a:xfrm>
            <a:off x="1541520" y="3112920"/>
            <a:ext cx="287280" cy="290520"/>
            <a:chOff x="1541520" y="3112920"/>
            <a:chExt cx="287280" cy="290520"/>
          </a:xfrm>
        </p:grpSpPr>
        <p:sp>
          <p:nvSpPr>
            <p:cNvPr id="793" name="Line 29"/>
            <p:cNvSpPr/>
            <p:nvPr/>
          </p:nvSpPr>
          <p:spPr>
            <a:xfrm>
              <a:off x="1544760" y="312084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94" name="Line 30"/>
            <p:cNvSpPr/>
            <p:nvPr/>
          </p:nvSpPr>
          <p:spPr>
            <a:xfrm flipH="1">
              <a:off x="1541520" y="311292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795" name="Line 31"/>
          <p:cNvSpPr/>
          <p:nvPr/>
        </p:nvSpPr>
        <p:spPr>
          <a:xfrm flipV="1">
            <a:off x="3722760" y="463320"/>
            <a:ext cx="1670040" cy="281916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96" name="Line 32"/>
          <p:cNvSpPr/>
          <p:nvPr/>
        </p:nvSpPr>
        <p:spPr>
          <a:xfrm>
            <a:off x="3728880" y="3260880"/>
            <a:ext cx="1665360" cy="280980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97" name="Line 33"/>
          <p:cNvSpPr/>
          <p:nvPr/>
        </p:nvSpPr>
        <p:spPr>
          <a:xfrm>
            <a:off x="568440" y="3246480"/>
            <a:ext cx="1133280" cy="0"/>
          </a:xfrm>
          <a:prstGeom prst="line">
            <a:avLst/>
          </a:prstGeom>
          <a:ln w="76320">
            <a:solidFill>
              <a:srgbClr val="9933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798" name="Line 34"/>
          <p:cNvSpPr/>
          <p:nvPr/>
        </p:nvSpPr>
        <p:spPr>
          <a:xfrm flipV="1">
            <a:off x="4424400" y="3255480"/>
            <a:ext cx="538200" cy="1800"/>
          </a:xfrm>
          <a:prstGeom prst="line">
            <a:avLst/>
          </a:prstGeom>
          <a:ln w="76320">
            <a:solidFill>
              <a:srgbClr val="993300"/>
            </a:solidFill>
            <a:miter/>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799" name="Rectangle 35"/>
          <p:cNvSpPr/>
          <p:nvPr/>
        </p:nvSpPr>
        <p:spPr>
          <a:xfrm>
            <a:off x="2493360" y="4075200"/>
            <a:ext cx="176652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 </a:t>
            </a:r>
            <a:r>
              <a:rPr lang="en-US" sz="2400" b="1" i="1" u="none" strike="noStrike">
                <a:solidFill>
                  <a:srgbClr val="000000"/>
                </a:solidFill>
                <a:effectLst/>
                <a:uFillTx/>
                <a:latin typeface="Times New Roman"/>
              </a:rPr>
              <a:t>d = </a:t>
            </a:r>
            <a:r>
              <a:rPr lang="en-US" sz="2400" b="1" i="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 </a:t>
            </a:r>
            <a:r>
              <a:rPr lang="en-US" sz="2400" b="1" u="none" strike="noStrike">
                <a:solidFill>
                  <a:srgbClr val="000000"/>
                </a:solidFill>
                <a:effectLst/>
                <a:uFillTx/>
                <a:latin typeface="Times New Roman"/>
              </a:rPr>
              <a:t>0.472</a:t>
            </a:r>
            <a:r>
              <a:rPr lang="en-US" sz="2800" b="1" i="1" u="none" strike="noStrike">
                <a:solidFill>
                  <a:srgbClr val="000000"/>
                </a:solidFill>
                <a:effectLst/>
                <a:uFillTx/>
                <a:latin typeface="Times New Roman"/>
              </a:rPr>
              <a:t> </a:t>
            </a:r>
            <a:endParaRPr lang="en-US" sz="2800" b="1" u="none" strike="noStrike">
              <a:solidFill>
                <a:srgbClr val="000000"/>
              </a:solidFill>
              <a:effectLst/>
              <a:uFillTx/>
              <a:latin typeface="Times New Roman"/>
            </a:endParaRPr>
          </a:p>
        </p:txBody>
      </p:sp>
      <p:sp>
        <p:nvSpPr>
          <p:cNvPr id="800" name="Oval 36"/>
          <p:cNvSpPr/>
          <p:nvPr/>
        </p:nvSpPr>
        <p:spPr>
          <a:xfrm>
            <a:off x="4903920" y="1465200"/>
            <a:ext cx="233280" cy="23328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801" name="Oval 37"/>
          <p:cNvSpPr/>
          <p:nvPr/>
        </p:nvSpPr>
        <p:spPr>
          <a:xfrm>
            <a:off x="4686480" y="3122640"/>
            <a:ext cx="115560" cy="24768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802" name="Rectangle 38"/>
          <p:cNvSpPr/>
          <p:nvPr/>
        </p:nvSpPr>
        <p:spPr>
          <a:xfrm>
            <a:off x="5973480" y="1276200"/>
            <a:ext cx="10274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a:t>
            </a:r>
            <a:r>
              <a:rPr lang="en-US" sz="2400" b="1" u="none" strike="noStrike">
                <a:solidFill>
                  <a:srgbClr val="000000"/>
                </a:solidFill>
                <a:effectLst/>
                <a:uFillTx/>
                <a:latin typeface="Times New Roman"/>
              </a:rPr>
              <a:t>= 30</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803" name="Object 39"/>
              <p:cNvSpPr txBox="1"/>
              <p:nvPr/>
            </p:nvSpPr>
            <p:spPr>
              <a:xfrm>
                <a:off x="5214960" y="1285920"/>
                <a:ext cx="644400" cy="490320"/>
              </a:xfrm>
              <a:prstGeom prst="rect">
                <a:avLst/>
              </a:prstGeom>
            </p:spPr>
            <p:txBody>
              <a:bodyPr/>
              <a:p>
                <a14:m>
                  <m:oMath xmlns:m="http://schemas.openxmlformats.org/officeDocument/2006/math">
                    <m:r>
                      <m:t xml:space="preserve">j</m:t>
                    </m:r>
                    <m:rad>
                      <m:radPr>
                        <m:degHide m:val="1"/>
                      </m:radPr>
                      <m:deg/>
                      <m:e>
                        <m:r>
                          <m:t xml:space="preserve">5</m:t>
                        </m:r>
                      </m:e>
                    </m:rad>
                  </m:oMath>
                </a14:m>
              </a:p>
            </p:txBody>
          </p:sp>
        </mc:Choice>
        <mc:Fallback>
          <p:sp>
            <p:nvSpPr>
              <p:cNvPr id="803" name="Object 39"/>
              <p:cNvSpPr txBox="1"/>
              <p:nvPr/>
            </p:nvSpPr>
            <p:spPr>
              <a:xfrm>
                <a:off x="5214960" y="1285920"/>
                <a:ext cx="644400" cy="490320"/>
              </a:xfrm>
              <a:prstGeom prst="rect">
                <a:avLst/>
              </a:prstGeom>
              <a:blipFill>
                <a:blip r:embed="rId1"/>
                <a:stretch>
                  <a:fillRect/>
                </a:stretch>
              </a:blipFill>
            </p:spPr>
          </p:sp>
        </mc:Fallback>
      </mc:AlternateContent>
      <p:sp>
        <p:nvSpPr>
          <p:cNvPr id="804" name="Rectangle 40"/>
          <p:cNvSpPr/>
          <p:nvPr/>
        </p:nvSpPr>
        <p:spPr>
          <a:xfrm>
            <a:off x="5643000" y="29700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805" name="Rectangle 41"/>
          <p:cNvSpPr/>
          <p:nvPr/>
        </p:nvSpPr>
        <p:spPr>
          <a:xfrm>
            <a:off x="5555520" y="572436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806" name="Rectangle 42"/>
          <p:cNvSpPr/>
          <p:nvPr/>
        </p:nvSpPr>
        <p:spPr>
          <a:xfrm>
            <a:off x="243720" y="270504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807" name="Rectangle 43"/>
          <p:cNvSpPr/>
          <p:nvPr/>
        </p:nvSpPr>
        <p:spPr>
          <a:xfrm>
            <a:off x="5101560" y="4622760"/>
            <a:ext cx="1965240" cy="5101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j</a:t>
            </a:r>
            <a:r>
              <a:rPr lang="en-US" sz="2400" b="1" u="none" strike="noStrike">
                <a:solidFill>
                  <a:srgbClr val="000000"/>
                </a:solidFill>
                <a:effectLst/>
                <a:uFillTx/>
                <a:latin typeface="Times New Roman"/>
              </a:rPr>
              <a:t>2.24</a:t>
            </a:r>
            <a:r>
              <a:rPr lang="en-US" sz="2400" b="1" i="1" u="none" strike="noStrike">
                <a:solidFill>
                  <a:srgbClr val="000000"/>
                </a:solidFill>
                <a:effectLst/>
                <a:uFillTx/>
                <a:latin typeface="Times New Roman"/>
              </a:rPr>
              <a:t>  K</a:t>
            </a:r>
            <a:r>
              <a:rPr lang="en-US" sz="2400" b="1" i="1" u="none" strike="noStrike" baseline="-25000">
                <a:solidFill>
                  <a:srgbClr val="000000"/>
                </a:solidFill>
                <a:effectLst/>
                <a:uFillTx/>
                <a:latin typeface="Times New Roman"/>
              </a:rPr>
              <a:t>g</a:t>
            </a:r>
            <a:r>
              <a:rPr lang="en-US" sz="2400" b="1" u="none" strike="noStrike">
                <a:solidFill>
                  <a:srgbClr val="000000"/>
                </a:solidFill>
                <a:effectLst/>
                <a:uFillTx/>
                <a:latin typeface="Times New Roman"/>
              </a:rPr>
              <a:t>= 30</a:t>
            </a:r>
            <a:endParaRPr lang="en-US" sz="2400" b="1" u="none" strike="noStrike">
              <a:solidFill>
                <a:srgbClr val="000000"/>
              </a:solidFill>
              <a:effectLst/>
              <a:uFillTx/>
              <a:latin typeface="Times New Roman"/>
            </a:endParaRPr>
          </a:p>
        </p:txBody>
      </p:sp>
      <p:sp>
        <p:nvSpPr>
          <p:cNvPr id="808" name="Line 44"/>
          <p:cNvSpPr/>
          <p:nvPr/>
        </p:nvSpPr>
        <p:spPr>
          <a:xfrm flipH="1">
            <a:off x="3917520" y="3411360"/>
            <a:ext cx="725400" cy="72576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809" name="Group 45"/>
          <p:cNvGrpSpPr/>
          <p:nvPr/>
        </p:nvGrpSpPr>
        <p:grpSpPr>
          <a:xfrm>
            <a:off x="4745160" y="331920"/>
            <a:ext cx="826920" cy="2889000"/>
            <a:chOff x="4745160" y="331920"/>
            <a:chExt cx="826920" cy="2889000"/>
          </a:xfrm>
        </p:grpSpPr>
        <p:sp>
          <p:nvSpPr>
            <p:cNvPr id="810" name="Freeform 46"/>
            <p:cNvSpPr/>
            <p:nvPr/>
          </p:nvSpPr>
          <p:spPr>
            <a:xfrm>
              <a:off x="4745160" y="331920"/>
              <a:ext cx="826920" cy="2889000"/>
            </a:xfrm>
            <a:custGeom>
              <a:avLst/>
              <a:gdLst>
                <a:gd name="GluePoint1X" fmla="*/ 0 w 521"/>
                <a:gd name="GluePoint1Y" fmla="*/ 1820 h 1820"/>
                <a:gd name="GluePoint2X" fmla="*/ 28 w 521"/>
                <a:gd name="GluePoint2Y" fmla="*/ 1500 h 1820"/>
                <a:gd name="GluePoint3X" fmla="*/ 73 w 521"/>
                <a:gd name="GluePoint3Y" fmla="*/ 1198 h 1820"/>
                <a:gd name="GluePoint4X" fmla="*/ 183 w 521"/>
                <a:gd name="GluePoint4Y" fmla="*/ 778 h 1820"/>
                <a:gd name="GluePoint5X" fmla="*/ 521 w 521"/>
                <a:gd name="GluePoint5Y" fmla="*/ 0 h 182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521" h="1820">
                  <a:moveTo>
                    <a:pt x="0" y="1820"/>
                  </a:moveTo>
                  <a:cubicBezTo>
                    <a:pt x="5" y="1767"/>
                    <a:pt x="16" y="1604"/>
                    <a:pt x="28" y="1500"/>
                  </a:cubicBezTo>
                  <a:cubicBezTo>
                    <a:pt x="40" y="1396"/>
                    <a:pt x="47" y="1318"/>
                    <a:pt x="73" y="1198"/>
                  </a:cubicBezTo>
                  <a:cubicBezTo>
                    <a:pt x="99" y="1078"/>
                    <a:pt x="108" y="978"/>
                    <a:pt x="183" y="778"/>
                  </a:cubicBezTo>
                  <a:cubicBezTo>
                    <a:pt x="258" y="578"/>
                    <a:pt x="451" y="162"/>
                    <a:pt x="521"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11" name="Line 47"/>
            <p:cNvSpPr/>
            <p:nvPr/>
          </p:nvSpPr>
          <p:spPr>
            <a:xfrm flipV="1">
              <a:off x="5153040" y="956880"/>
              <a:ext cx="101520" cy="26028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812" name="Group 48"/>
          <p:cNvGrpSpPr/>
          <p:nvPr/>
        </p:nvGrpSpPr>
        <p:grpSpPr>
          <a:xfrm>
            <a:off x="4730760" y="3235680"/>
            <a:ext cx="826920" cy="2889000"/>
            <a:chOff x="4730760" y="3235680"/>
            <a:chExt cx="826920" cy="2889000"/>
          </a:xfrm>
        </p:grpSpPr>
        <p:sp>
          <p:nvSpPr>
            <p:cNvPr id="813" name="Freeform 49"/>
            <p:cNvSpPr/>
            <p:nvPr/>
          </p:nvSpPr>
          <p:spPr>
            <a:xfrm flipV="1">
              <a:off x="4730760" y="3235320"/>
              <a:ext cx="826920" cy="2889000"/>
            </a:xfrm>
            <a:custGeom>
              <a:avLst/>
              <a:gdLst>
                <a:gd name="GluePoint1X" fmla="*/ 0 w 521"/>
                <a:gd name="GluePoint1Y" fmla="*/ 1820 h 1820"/>
                <a:gd name="GluePoint2X" fmla="*/ 28 w 521"/>
                <a:gd name="GluePoint2Y" fmla="*/ 1500 h 1820"/>
                <a:gd name="GluePoint3X" fmla="*/ 73 w 521"/>
                <a:gd name="GluePoint3Y" fmla="*/ 1198 h 1820"/>
                <a:gd name="GluePoint4X" fmla="*/ 183 w 521"/>
                <a:gd name="GluePoint4Y" fmla="*/ 778 h 1820"/>
                <a:gd name="GluePoint5X" fmla="*/ 521 w 521"/>
                <a:gd name="GluePoint5Y" fmla="*/ 0 h 182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521" h="1820">
                  <a:moveTo>
                    <a:pt x="0" y="1820"/>
                  </a:moveTo>
                  <a:cubicBezTo>
                    <a:pt x="5" y="1767"/>
                    <a:pt x="16" y="1604"/>
                    <a:pt x="28" y="1500"/>
                  </a:cubicBezTo>
                  <a:cubicBezTo>
                    <a:pt x="40" y="1396"/>
                    <a:pt x="47" y="1318"/>
                    <a:pt x="73" y="1198"/>
                  </a:cubicBezTo>
                  <a:cubicBezTo>
                    <a:pt x="99" y="1078"/>
                    <a:pt x="108" y="978"/>
                    <a:pt x="183" y="778"/>
                  </a:cubicBezTo>
                  <a:cubicBezTo>
                    <a:pt x="258" y="578"/>
                    <a:pt x="451" y="162"/>
                    <a:pt x="521"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14" name="Line 50"/>
            <p:cNvSpPr/>
            <p:nvPr/>
          </p:nvSpPr>
          <p:spPr>
            <a:xfrm>
              <a:off x="5138640" y="5239440"/>
              <a:ext cx="101520" cy="26028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mc:AlternateContent>
        <mc:Choice xmlns:a14="http://schemas.microsoft.com/office/drawing/2010/main" Requires="a14">
          <p:sp>
            <p:nvSpPr>
              <p:cNvPr id="815" name="Object 51"/>
              <p:cNvSpPr txBox="1"/>
              <p:nvPr/>
            </p:nvSpPr>
            <p:spPr>
              <a:xfrm>
                <a:off x="217440" y="198360"/>
                <a:ext cx="3202200" cy="1000080"/>
              </a:xfrm>
              <a:prstGeom prst="rect">
                <a:avLst/>
              </a:prstGeom>
            </p:spPr>
            <p:txBody>
              <a:bodyPr/>
              <a:p>
                <a14:m>
                  <m:oMath xmlns:m="http://schemas.openxmlformats.org/officeDocument/2006/math">
                    <m:sSub>
                      <m:e>
                        <m:r>
                          <m:t xml:space="preserve">G</m:t>
                        </m:r>
                      </m:e>
                      <m:sub>
                        <m:r>
                          <m:t xml:space="preserve">k</m:t>
                        </m:r>
                      </m:sub>
                    </m:sSub>
                    <m:r>
                      <m:t xml:space="preserve">(</m:t>
                    </m:r>
                    <m:r>
                      <m:t xml:space="preserve">s</m:t>
                    </m:r>
                    <m:r>
                      <m:t xml:space="preserve">)</m:t>
                    </m:r>
                    <m:r>
                      <m:t xml:space="preserve">=</m:t>
                    </m:r>
                    <m:f>
                      <m:num>
                        <m:sSub>
                          <m:e>
                            <m:r>
                              <m:t xml:space="preserve">K</m:t>
                            </m:r>
                          </m:e>
                          <m:sub>
                            <m:r>
                              <m:t xml:space="preserve">g</m:t>
                            </m:r>
                          </m:sub>
                        </m:sSub>
                      </m:num>
                      <m:den>
                        <m:r>
                          <m:t xml:space="preserve">s</m:t>
                        </m:r>
                        <m:r>
                          <m:t xml:space="preserve">(</m:t>
                        </m:r>
                        <m:r>
                          <m:t xml:space="preserve">s</m:t>
                        </m:r>
                        <m:r>
                          <m:t xml:space="preserve">+</m:t>
                        </m:r>
                        <m:r>
                          <m:t xml:space="preserve">1</m:t>
                        </m:r>
                        <m:r>
                          <m:t xml:space="preserve">)</m:t>
                        </m:r>
                        <m:r>
                          <m:t xml:space="preserve">(</m:t>
                        </m:r>
                        <m:r>
                          <m:t xml:space="preserve">s</m:t>
                        </m:r>
                        <m:r>
                          <m:t xml:space="preserve">+</m:t>
                        </m:r>
                        <m:r>
                          <m:t xml:space="preserve">5</m:t>
                        </m:r>
                        <m:r>
                          <m:t xml:space="preserve">)</m:t>
                        </m:r>
                      </m:den>
                    </m:f>
                  </m:oMath>
                </a14:m>
              </a:p>
            </p:txBody>
          </p:sp>
        </mc:Choice>
        <mc:Fallback>
          <p:sp>
            <p:nvSpPr>
              <p:cNvPr id="815" name="Object 51"/>
              <p:cNvSpPr txBox="1"/>
              <p:nvPr/>
            </p:nvSpPr>
            <p:spPr>
              <a:xfrm>
                <a:off x="217440" y="198360"/>
                <a:ext cx="3202200" cy="1000080"/>
              </a:xfrm>
              <a:prstGeom prst="rect">
                <a:avLst/>
              </a:prstGeom>
              <a:blipFill>
                <a:blip r:embed="rId2"/>
                <a:stretch>
                  <a:fillRect/>
                </a:stretch>
              </a:blipFill>
            </p:spPr>
          </p:sp>
        </mc:Fallback>
      </mc:AlternateContent>
    </p:spTree>
  </p:cSld>
  <mc:AlternateContent>
    <mc:Choice Requires="p14">
      <p:transition spd="slow" p14:dur="2000"/>
    </mc:Choice>
    <mc:Fallback>
      <p:transition spd="slow"/>
    </mc:Fallback>
  </mc:AlternateContent>
  <p:timing>
    <p:tnLst>
      <p:par>
        <p:cTn id="1572" dur="indefinite" restart="never" nodeType="tmRoot">
          <p:childTnLst>
            <p:seq>
              <p:cTn id="1573" dur="indefinite" nodeType="mainSeq">
                <p:childTnLst>
                  <p:par>
                    <p:cTn id="1574" fill="hold" nodeType="clickEffect">
                      <p:stCondLst>
                        <p:cond delay="indefinite"/>
                      </p:stCondLst>
                      <p:childTnLst>
                        <p:par>
                          <p:cTn id="1575" fill="hold" nodeType="withEffect">
                            <p:stCondLst>
                              <p:cond delay="0"/>
                            </p:stCondLst>
                            <p:childTnLst>
                              <p:par>
                                <p:cTn id="1576" presetID="9" presetClass="entr" fill="hold" nodeType="clickEffect">
                                  <p:stCondLst>
                                    <p:cond delay="0"/>
                                  </p:stCondLst>
                                  <p:childTnLst>
                                    <p:set>
                                      <p:cBhvr>
                                        <p:cTn id="1577" dur="1" fill="hold">
                                          <p:stCondLst>
                                            <p:cond delay="0"/>
                                          </p:stCondLst>
                                        </p:cTn>
                                        <p:tgtEl>
                                          <p:spTgt spid="768"/>
                                        </p:tgtEl>
                                        <p:attrNameLst>
                                          <p:attrName>style.visibility</p:attrName>
                                        </p:attrNameLst>
                                      </p:cBhvr>
                                      <p:to>
                                        <p:strVal val="visible"/>
                                      </p:to>
                                    </p:set>
                                    <p:animEffect transition="in" filter="dissolve">
                                      <p:cBhvr additive="repl">
                                        <p:cTn id="1578" dur="500"/>
                                        <p:tgtEl>
                                          <p:spTgt spid="768"/>
                                        </p:tgtEl>
                                      </p:cBhvr>
                                    </p:animEffect>
                                  </p:childTnLst>
                                </p:cTn>
                              </p:par>
                            </p:childTnLst>
                          </p:cTn>
                        </p:par>
                        <p:par>
                          <p:cTn id="1579" fill="hold" nodeType="afterEffect">
                            <p:stCondLst>
                              <p:cond delay="500"/>
                            </p:stCondLst>
                            <p:childTnLst>
                              <p:par>
                                <p:cTn id="1580" presetID="9" presetClass="entr" fill="hold" nodeType="afterEffect">
                                  <p:stCondLst>
                                    <p:cond delay="0"/>
                                  </p:stCondLst>
                                  <p:childTnLst>
                                    <p:set>
                                      <p:cBhvr>
                                        <p:cTn id="1581" dur="1" fill="hold">
                                          <p:stCondLst>
                                            <p:cond delay="0"/>
                                          </p:stCondLst>
                                        </p:cTn>
                                        <p:tgtEl>
                                          <p:spTgt spid="785"/>
                                        </p:tgtEl>
                                        <p:attrNameLst>
                                          <p:attrName>style.visibility</p:attrName>
                                        </p:attrNameLst>
                                      </p:cBhvr>
                                      <p:to>
                                        <p:strVal val="visible"/>
                                      </p:to>
                                    </p:set>
                                    <p:animEffect transition="in" filter="dissolve">
                                      <p:cBhvr additive="repl">
                                        <p:cTn id="1582" dur="500"/>
                                        <p:tgtEl>
                                          <p:spTgt spid="785"/>
                                        </p:tgtEl>
                                      </p:cBhvr>
                                    </p:animEffect>
                                  </p:childTnLst>
                                </p:cTn>
                              </p:par>
                            </p:childTnLst>
                          </p:cTn>
                        </p:par>
                      </p:childTnLst>
                    </p:cTn>
                  </p:par>
                  <p:par>
                    <p:cTn id="1583" fill="hold" nodeType="clickEffect">
                      <p:stCondLst>
                        <p:cond delay="indefinite"/>
                      </p:stCondLst>
                      <p:childTnLst>
                        <p:par>
                          <p:cTn id="1584" fill="hold" nodeType="withEffect">
                            <p:stCondLst>
                              <p:cond delay="0"/>
                            </p:stCondLst>
                            <p:childTnLst>
                              <p:par>
                                <p:cTn id="1585" presetID="9" presetClass="entr" fill="hold" nodeType="clickEffect">
                                  <p:stCondLst>
                                    <p:cond delay="0"/>
                                  </p:stCondLst>
                                  <p:childTnLst>
                                    <p:set>
                                      <p:cBhvr>
                                        <p:cTn id="1586" dur="1" fill="hold">
                                          <p:stCondLst>
                                            <p:cond delay="0"/>
                                          </p:stCondLst>
                                        </p:cTn>
                                        <p:tgtEl>
                                          <p:spTgt spid="786"/>
                                        </p:tgtEl>
                                        <p:attrNameLst>
                                          <p:attrName>style.visibility</p:attrName>
                                        </p:attrNameLst>
                                      </p:cBhvr>
                                      <p:to>
                                        <p:strVal val="visible"/>
                                      </p:to>
                                    </p:set>
                                    <p:animEffect transition="in" filter="dissolve">
                                      <p:cBhvr additive="repl">
                                        <p:cTn id="1587" dur="500"/>
                                        <p:tgtEl>
                                          <p:spTgt spid="786"/>
                                        </p:tgtEl>
                                      </p:cBhvr>
                                    </p:animEffect>
                                  </p:childTnLst>
                                </p:cTn>
                              </p:par>
                            </p:childTnLst>
                          </p:cTn>
                        </p:par>
                        <p:par>
                          <p:cTn id="1588" fill="hold" nodeType="afterEffect">
                            <p:stCondLst>
                              <p:cond delay="500"/>
                            </p:stCondLst>
                            <p:childTnLst>
                              <p:par>
                                <p:cTn id="1589" presetID="9" presetClass="entr" fill="hold" nodeType="afterEffect">
                                  <p:stCondLst>
                                    <p:cond delay="0"/>
                                  </p:stCondLst>
                                  <p:childTnLst>
                                    <p:set>
                                      <p:cBhvr>
                                        <p:cTn id="1590" dur="1" fill="hold">
                                          <p:stCondLst>
                                            <p:cond delay="0"/>
                                          </p:stCondLst>
                                        </p:cTn>
                                        <p:tgtEl>
                                          <p:spTgt spid="789"/>
                                        </p:tgtEl>
                                        <p:attrNameLst>
                                          <p:attrName>style.visibility</p:attrName>
                                        </p:attrNameLst>
                                      </p:cBhvr>
                                      <p:to>
                                        <p:strVal val="visible"/>
                                      </p:to>
                                    </p:set>
                                    <p:animEffect transition="in" filter="dissolve">
                                      <p:cBhvr additive="repl">
                                        <p:cTn id="1591" dur="500"/>
                                        <p:tgtEl>
                                          <p:spTgt spid="789"/>
                                        </p:tgtEl>
                                      </p:cBhvr>
                                    </p:animEffect>
                                  </p:childTnLst>
                                </p:cTn>
                              </p:par>
                            </p:childTnLst>
                          </p:cTn>
                        </p:par>
                        <p:par>
                          <p:cTn id="1592" fill="hold" nodeType="afterEffect">
                            <p:stCondLst>
                              <p:cond delay="1000"/>
                            </p:stCondLst>
                            <p:childTnLst>
                              <p:par>
                                <p:cTn id="1593" presetID="9" presetClass="entr" fill="hold" nodeType="afterEffect">
                                  <p:stCondLst>
                                    <p:cond delay="0"/>
                                  </p:stCondLst>
                                  <p:childTnLst>
                                    <p:set>
                                      <p:cBhvr>
                                        <p:cTn id="1594" dur="1" fill="hold">
                                          <p:stCondLst>
                                            <p:cond delay="0"/>
                                          </p:stCondLst>
                                        </p:cTn>
                                        <p:tgtEl>
                                          <p:spTgt spid="792"/>
                                        </p:tgtEl>
                                        <p:attrNameLst>
                                          <p:attrName>style.visibility</p:attrName>
                                        </p:attrNameLst>
                                      </p:cBhvr>
                                      <p:to>
                                        <p:strVal val="visible"/>
                                      </p:to>
                                    </p:set>
                                    <p:animEffect transition="in" filter="dissolve">
                                      <p:cBhvr additive="repl">
                                        <p:cTn id="1595" dur="500"/>
                                        <p:tgtEl>
                                          <p:spTgt spid="792"/>
                                        </p:tgtEl>
                                      </p:cBhvr>
                                    </p:animEffect>
                                  </p:childTnLst>
                                </p:cTn>
                              </p:par>
                            </p:childTnLst>
                          </p:cTn>
                        </p:par>
                      </p:childTnLst>
                    </p:cTn>
                  </p:par>
                  <p:par>
                    <p:cTn id="1596" fill="hold" nodeType="clickEffect">
                      <p:stCondLst>
                        <p:cond delay="indefinite"/>
                      </p:stCondLst>
                      <p:childTnLst>
                        <p:par>
                          <p:cTn id="1597" fill="hold" nodeType="withEffect">
                            <p:stCondLst>
                              <p:cond delay="0"/>
                            </p:stCondLst>
                            <p:childTnLst>
                              <p:par>
                                <p:cTn id="1598" presetID="22" presetClass="entr" fill="hold" nodeType="clickEffect" presetSubtype="8">
                                  <p:stCondLst>
                                    <p:cond delay="0"/>
                                  </p:stCondLst>
                                  <p:childTnLst>
                                    <p:set>
                                      <p:cBhvr>
                                        <p:cTn id="1599" dur="1" fill="hold">
                                          <p:stCondLst>
                                            <p:cond delay="0"/>
                                          </p:stCondLst>
                                        </p:cTn>
                                        <p:tgtEl>
                                          <p:spTgt spid="795"/>
                                        </p:tgtEl>
                                        <p:attrNameLst>
                                          <p:attrName>style.visibility</p:attrName>
                                        </p:attrNameLst>
                                      </p:cBhvr>
                                      <p:to>
                                        <p:strVal val="visible"/>
                                      </p:to>
                                    </p:set>
                                    <p:animEffect transition="in" filter="wipe(left)">
                                      <p:cBhvr additive="repl">
                                        <p:cTn id="1600" dur="500"/>
                                        <p:tgtEl>
                                          <p:spTgt spid="795"/>
                                        </p:tgtEl>
                                      </p:cBhvr>
                                    </p:animEffect>
                                  </p:childTnLst>
                                </p:cTn>
                              </p:par>
                            </p:childTnLst>
                          </p:cTn>
                        </p:par>
                        <p:par>
                          <p:cTn id="1601" fill="hold" nodeType="afterEffect">
                            <p:stCondLst>
                              <p:cond delay="500"/>
                            </p:stCondLst>
                            <p:childTnLst>
                              <p:par>
                                <p:cTn id="1602" presetID="22" presetClass="entr" fill="hold" nodeType="afterEffect" presetSubtype="1">
                                  <p:stCondLst>
                                    <p:cond delay="0"/>
                                  </p:stCondLst>
                                  <p:childTnLst>
                                    <p:set>
                                      <p:cBhvr>
                                        <p:cTn id="1603" dur="1" fill="hold">
                                          <p:stCondLst>
                                            <p:cond delay="0"/>
                                          </p:stCondLst>
                                        </p:cTn>
                                        <p:tgtEl>
                                          <p:spTgt spid="796"/>
                                        </p:tgtEl>
                                        <p:attrNameLst>
                                          <p:attrName>style.visibility</p:attrName>
                                        </p:attrNameLst>
                                      </p:cBhvr>
                                      <p:to>
                                        <p:strVal val="visible"/>
                                      </p:to>
                                    </p:set>
                                    <p:animEffect transition="in" filter="wipe(up)">
                                      <p:cBhvr additive="repl">
                                        <p:cTn id="1604" dur="500"/>
                                        <p:tgtEl>
                                          <p:spTgt spid="796"/>
                                        </p:tgtEl>
                                      </p:cBhvr>
                                    </p:animEffect>
                                  </p:childTnLst>
                                </p:cTn>
                              </p:par>
                            </p:childTnLst>
                          </p:cTn>
                        </p:par>
                      </p:childTnLst>
                    </p:cTn>
                  </p:par>
                  <p:par>
                    <p:cTn id="1605" fill="hold" nodeType="clickEffect">
                      <p:stCondLst>
                        <p:cond delay="indefinite"/>
                      </p:stCondLst>
                      <p:childTnLst>
                        <p:par>
                          <p:cTn id="1606" fill="hold" nodeType="withEffect">
                            <p:stCondLst>
                              <p:cond delay="0"/>
                            </p:stCondLst>
                            <p:childTnLst>
                              <p:par>
                                <p:cTn id="1607" presetID="9" presetClass="entr" fill="hold" nodeType="clickEffect">
                                  <p:stCondLst>
                                    <p:cond delay="0"/>
                                  </p:stCondLst>
                                  <p:childTnLst>
                                    <p:set>
                                      <p:cBhvr>
                                        <p:cTn id="1608" dur="1" fill="hold">
                                          <p:stCondLst>
                                            <p:cond delay="0"/>
                                          </p:stCondLst>
                                        </p:cTn>
                                        <p:tgtEl>
                                          <p:spTgt spid="798"/>
                                        </p:tgtEl>
                                        <p:attrNameLst>
                                          <p:attrName>style.visibility</p:attrName>
                                        </p:attrNameLst>
                                      </p:cBhvr>
                                      <p:to>
                                        <p:strVal val="visible"/>
                                      </p:to>
                                    </p:set>
                                    <p:animEffect transition="in" filter="dissolve">
                                      <p:cBhvr additive="repl">
                                        <p:cTn id="1609" dur="500"/>
                                        <p:tgtEl>
                                          <p:spTgt spid="798"/>
                                        </p:tgtEl>
                                      </p:cBhvr>
                                    </p:animEffect>
                                  </p:childTnLst>
                                </p:cTn>
                              </p:par>
                            </p:childTnLst>
                          </p:cTn>
                        </p:par>
                        <p:par>
                          <p:cTn id="1610" fill="hold" nodeType="afterEffect">
                            <p:stCondLst>
                              <p:cond delay="500"/>
                            </p:stCondLst>
                            <p:childTnLst>
                              <p:par>
                                <p:cTn id="1611" presetID="22" presetClass="entr" fill="hold" nodeType="afterEffect" presetSubtype="2">
                                  <p:stCondLst>
                                    <p:cond delay="0"/>
                                  </p:stCondLst>
                                  <p:childTnLst>
                                    <p:set>
                                      <p:cBhvr>
                                        <p:cTn id="1612" dur="1" fill="hold">
                                          <p:stCondLst>
                                            <p:cond delay="0"/>
                                          </p:stCondLst>
                                        </p:cTn>
                                        <p:tgtEl>
                                          <p:spTgt spid="797"/>
                                        </p:tgtEl>
                                        <p:attrNameLst>
                                          <p:attrName>style.visibility</p:attrName>
                                        </p:attrNameLst>
                                      </p:cBhvr>
                                      <p:to>
                                        <p:strVal val="visible"/>
                                      </p:to>
                                    </p:set>
                                    <p:animEffect transition="in" filter="wipe(right)">
                                      <p:cBhvr additive="repl">
                                        <p:cTn id="1613" dur="500"/>
                                        <p:tgtEl>
                                          <p:spTgt spid="797"/>
                                        </p:tgtEl>
                                      </p:cBhvr>
                                    </p:animEffect>
                                  </p:childTnLst>
                                </p:cTn>
                              </p:par>
                            </p:childTnLst>
                          </p:cTn>
                        </p:par>
                        <p:par>
                          <p:cTn id="1614" fill="hold" nodeType="afterEffect">
                            <p:stCondLst>
                              <p:cond delay="1000"/>
                            </p:stCondLst>
                            <p:childTnLst>
                              <p:par>
                                <p:cTn id="1615" presetID="9" presetClass="entr" fill="hold" nodeType="afterEffect">
                                  <p:stCondLst>
                                    <p:cond delay="0"/>
                                  </p:stCondLst>
                                  <p:childTnLst>
                                    <p:set>
                                      <p:cBhvr>
                                        <p:cTn id="1616" dur="1" fill="hold">
                                          <p:stCondLst>
                                            <p:cond delay="0"/>
                                          </p:stCondLst>
                                        </p:cTn>
                                        <p:tgtEl>
                                          <p:spTgt spid="806"/>
                                        </p:tgtEl>
                                        <p:attrNameLst>
                                          <p:attrName>style.visibility</p:attrName>
                                        </p:attrNameLst>
                                      </p:cBhvr>
                                      <p:to>
                                        <p:strVal val="visible"/>
                                      </p:to>
                                    </p:set>
                                    <p:animEffect transition="in" filter="dissolve">
                                      <p:cBhvr additive="repl">
                                        <p:cTn id="1617" dur="500"/>
                                        <p:tgtEl>
                                          <p:spTgt spid="806"/>
                                        </p:tgtEl>
                                      </p:cBhvr>
                                    </p:animEffect>
                                  </p:childTnLst>
                                </p:cTn>
                              </p:par>
                            </p:childTnLst>
                          </p:cTn>
                        </p:par>
                      </p:childTnLst>
                    </p:cTn>
                  </p:par>
                  <p:par>
                    <p:cTn id="1618" fill="hold" nodeType="clickEffect">
                      <p:stCondLst>
                        <p:cond delay="indefinite"/>
                      </p:stCondLst>
                      <p:childTnLst>
                        <p:par>
                          <p:cTn id="1619" fill="hold" nodeType="withEffect">
                            <p:stCondLst>
                              <p:cond delay="0"/>
                            </p:stCondLst>
                            <p:childTnLst>
                              <p:par>
                                <p:cTn id="1620" presetID="9" presetClass="entr" fill="hold" nodeType="clickEffect">
                                  <p:stCondLst>
                                    <p:cond delay="0"/>
                                  </p:stCondLst>
                                  <p:childTnLst>
                                    <p:set>
                                      <p:cBhvr>
                                        <p:cTn id="1621" dur="1" fill="hold">
                                          <p:stCondLst>
                                            <p:cond delay="0"/>
                                          </p:stCondLst>
                                        </p:cTn>
                                        <p:tgtEl>
                                          <p:spTgt spid="801"/>
                                        </p:tgtEl>
                                        <p:attrNameLst>
                                          <p:attrName>style.visibility</p:attrName>
                                        </p:attrNameLst>
                                      </p:cBhvr>
                                      <p:to>
                                        <p:strVal val="visible"/>
                                      </p:to>
                                    </p:set>
                                    <p:animEffect transition="in" filter="dissolve">
                                      <p:cBhvr additive="repl">
                                        <p:cTn id="1622" dur="500"/>
                                        <p:tgtEl>
                                          <p:spTgt spid="801"/>
                                        </p:tgtEl>
                                      </p:cBhvr>
                                    </p:animEffect>
                                  </p:childTnLst>
                                </p:cTn>
                              </p:par>
                            </p:childTnLst>
                          </p:cTn>
                        </p:par>
                        <p:par>
                          <p:cTn id="1623" fill="hold" nodeType="afterEffect">
                            <p:stCondLst>
                              <p:cond delay="500"/>
                            </p:stCondLst>
                            <p:childTnLst>
                              <p:par>
                                <p:cTn id="1624" presetID="22" presetClass="entr" fill="hold" nodeType="afterEffect" presetSubtype="1">
                                  <p:stCondLst>
                                    <p:cond delay="0"/>
                                  </p:stCondLst>
                                  <p:childTnLst>
                                    <p:set>
                                      <p:cBhvr>
                                        <p:cTn id="1625" dur="1" fill="hold">
                                          <p:stCondLst>
                                            <p:cond delay="0"/>
                                          </p:stCondLst>
                                        </p:cTn>
                                        <p:tgtEl>
                                          <p:spTgt spid="808"/>
                                        </p:tgtEl>
                                        <p:attrNameLst>
                                          <p:attrName>style.visibility</p:attrName>
                                        </p:attrNameLst>
                                      </p:cBhvr>
                                      <p:to>
                                        <p:strVal val="visible"/>
                                      </p:to>
                                    </p:set>
                                    <p:animEffect transition="in" filter="wipe(up)">
                                      <p:cBhvr additive="repl">
                                        <p:cTn id="1626" dur="500"/>
                                        <p:tgtEl>
                                          <p:spTgt spid="808"/>
                                        </p:tgtEl>
                                      </p:cBhvr>
                                    </p:animEffect>
                                  </p:childTnLst>
                                </p:cTn>
                              </p:par>
                            </p:childTnLst>
                          </p:cTn>
                        </p:par>
                        <p:par>
                          <p:cTn id="1627" fill="hold" nodeType="afterEffect">
                            <p:stCondLst>
                              <p:cond delay="1000"/>
                            </p:stCondLst>
                            <p:childTnLst>
                              <p:par>
                                <p:cTn id="1628" presetID="9" presetClass="entr" fill="hold" nodeType="afterEffect">
                                  <p:stCondLst>
                                    <p:cond delay="0"/>
                                  </p:stCondLst>
                                  <p:childTnLst>
                                    <p:set>
                                      <p:cBhvr>
                                        <p:cTn id="1629" dur="1" fill="hold">
                                          <p:stCondLst>
                                            <p:cond delay="0"/>
                                          </p:stCondLst>
                                        </p:cTn>
                                        <p:tgtEl>
                                          <p:spTgt spid="799"/>
                                        </p:tgtEl>
                                        <p:attrNameLst>
                                          <p:attrName>style.visibility</p:attrName>
                                        </p:attrNameLst>
                                      </p:cBhvr>
                                      <p:to>
                                        <p:strVal val="visible"/>
                                      </p:to>
                                    </p:set>
                                    <p:animEffect transition="in" filter="dissolve">
                                      <p:cBhvr additive="repl">
                                        <p:cTn id="1630" dur="500"/>
                                        <p:tgtEl>
                                          <p:spTgt spid="799"/>
                                        </p:tgtEl>
                                      </p:cBhvr>
                                    </p:animEffect>
                                  </p:childTnLst>
                                </p:cTn>
                              </p:par>
                            </p:childTnLst>
                          </p:cTn>
                        </p:par>
                      </p:childTnLst>
                    </p:cTn>
                  </p:par>
                  <p:par>
                    <p:cTn id="1631" fill="hold" nodeType="clickEffect">
                      <p:stCondLst>
                        <p:cond delay="indefinite"/>
                      </p:stCondLst>
                      <p:childTnLst>
                        <p:par>
                          <p:cTn id="1632" fill="hold" nodeType="withEffect">
                            <p:stCondLst>
                              <p:cond delay="0"/>
                            </p:stCondLst>
                            <p:childTnLst>
                              <p:par>
                                <p:cTn id="1633" presetID="9" presetClass="entr" fill="hold" nodeType="clickEffect">
                                  <p:stCondLst>
                                    <p:cond delay="0"/>
                                  </p:stCondLst>
                                  <p:childTnLst>
                                    <p:set>
                                      <p:cBhvr>
                                        <p:cTn id="1634" dur="1" fill="hold">
                                          <p:stCondLst>
                                            <p:cond delay="0"/>
                                          </p:stCondLst>
                                        </p:cTn>
                                        <p:tgtEl>
                                          <p:spTgt spid="800"/>
                                        </p:tgtEl>
                                        <p:attrNameLst>
                                          <p:attrName>style.visibility</p:attrName>
                                        </p:attrNameLst>
                                      </p:cBhvr>
                                      <p:to>
                                        <p:strVal val="visible"/>
                                      </p:to>
                                    </p:set>
                                    <p:animEffect transition="in" filter="dissolve">
                                      <p:cBhvr additive="repl">
                                        <p:cTn id="1635" dur="500"/>
                                        <p:tgtEl>
                                          <p:spTgt spid="800"/>
                                        </p:tgtEl>
                                      </p:cBhvr>
                                    </p:animEffect>
                                  </p:childTnLst>
                                </p:cTn>
                              </p:par>
                            </p:childTnLst>
                          </p:cTn>
                        </p:par>
                        <p:par>
                          <p:cTn id="1636" fill="hold" nodeType="afterEffect">
                            <p:stCondLst>
                              <p:cond delay="500"/>
                            </p:stCondLst>
                            <p:childTnLst>
                              <p:par>
                                <p:cTn id="1637" presetID="9" presetClass="entr" fill="hold" nodeType="afterEffect">
                                  <p:stCondLst>
                                    <p:cond delay="0"/>
                                  </p:stCondLst>
                                  <p:childTnLst>
                                    <p:set>
                                      <p:cBhvr>
                                        <p:cTn id="1638" dur="1" fill="hold">
                                          <p:stCondLst>
                                            <p:cond delay="0"/>
                                          </p:stCondLst>
                                        </p:cTn>
                                        <p:tgtEl>
                                          <p:spTgt spid="803"/>
                                        </p:tgtEl>
                                        <p:attrNameLst>
                                          <p:attrName>style.visibility</p:attrName>
                                        </p:attrNameLst>
                                      </p:cBhvr>
                                      <p:to>
                                        <p:strVal val="visible"/>
                                      </p:to>
                                    </p:set>
                                    <p:animEffect transition="in" filter="dissolve">
                                      <p:cBhvr additive="repl">
                                        <p:cTn id="1639" dur="500"/>
                                        <p:tgtEl>
                                          <p:spTgt spid="803"/>
                                        </p:tgtEl>
                                      </p:cBhvr>
                                    </p:animEffect>
                                  </p:childTnLst>
                                </p:cTn>
                              </p:par>
                            </p:childTnLst>
                          </p:cTn>
                        </p:par>
                        <p:par>
                          <p:cTn id="1640" fill="hold" nodeType="afterEffect">
                            <p:stCondLst>
                              <p:cond delay="1000"/>
                            </p:stCondLst>
                            <p:childTnLst>
                              <p:par>
                                <p:cTn id="1641" presetID="9" presetClass="entr" fill="hold" nodeType="afterEffect">
                                  <p:stCondLst>
                                    <p:cond delay="0"/>
                                  </p:stCondLst>
                                  <p:childTnLst>
                                    <p:set>
                                      <p:cBhvr>
                                        <p:cTn id="1642" dur="1" fill="hold">
                                          <p:stCondLst>
                                            <p:cond delay="0"/>
                                          </p:stCondLst>
                                        </p:cTn>
                                        <p:tgtEl>
                                          <p:spTgt spid="802"/>
                                        </p:tgtEl>
                                        <p:attrNameLst>
                                          <p:attrName>style.visibility</p:attrName>
                                        </p:attrNameLst>
                                      </p:cBhvr>
                                      <p:to>
                                        <p:strVal val="visible"/>
                                      </p:to>
                                    </p:set>
                                    <p:animEffect transition="in" filter="dissolve">
                                      <p:cBhvr additive="repl">
                                        <p:cTn id="1643" dur="500"/>
                                        <p:tgtEl>
                                          <p:spTgt spid="802"/>
                                        </p:tgtEl>
                                      </p:cBhvr>
                                    </p:animEffect>
                                  </p:childTnLst>
                                </p:cTn>
                              </p:par>
                            </p:childTnLst>
                          </p:cTn>
                        </p:par>
                        <p:par>
                          <p:cTn id="1644" fill="hold" nodeType="afterEffect">
                            <p:stCondLst>
                              <p:cond delay="1500"/>
                            </p:stCondLst>
                            <p:childTnLst>
                              <p:par>
                                <p:cTn id="1645" presetID="9" presetClass="entr" fill="hold" nodeType="afterEffect">
                                  <p:stCondLst>
                                    <p:cond delay="0"/>
                                  </p:stCondLst>
                                  <p:childTnLst>
                                    <p:set>
                                      <p:cBhvr>
                                        <p:cTn id="1646" dur="1" fill="hold">
                                          <p:stCondLst>
                                            <p:cond delay="0"/>
                                          </p:stCondLst>
                                        </p:cTn>
                                        <p:tgtEl>
                                          <p:spTgt spid="784"/>
                                        </p:tgtEl>
                                        <p:attrNameLst>
                                          <p:attrName>style.visibility</p:attrName>
                                        </p:attrNameLst>
                                      </p:cBhvr>
                                      <p:to>
                                        <p:strVal val="visible"/>
                                      </p:to>
                                    </p:set>
                                    <p:animEffect transition="in" filter="dissolve">
                                      <p:cBhvr additive="repl">
                                        <p:cTn id="1647" dur="500"/>
                                        <p:tgtEl>
                                          <p:spTgt spid="784"/>
                                        </p:tgtEl>
                                      </p:cBhvr>
                                    </p:animEffect>
                                  </p:childTnLst>
                                </p:cTn>
                              </p:par>
                            </p:childTnLst>
                          </p:cTn>
                        </p:par>
                        <p:par>
                          <p:cTn id="1648" fill="hold" nodeType="afterEffect">
                            <p:stCondLst>
                              <p:cond delay="2000"/>
                            </p:stCondLst>
                            <p:childTnLst>
                              <p:par>
                                <p:cTn id="1649" presetID="9" presetClass="entr" fill="hold" nodeType="afterEffect">
                                  <p:stCondLst>
                                    <p:cond delay="0"/>
                                  </p:stCondLst>
                                  <p:childTnLst>
                                    <p:set>
                                      <p:cBhvr>
                                        <p:cTn id="1650" dur="1" fill="hold">
                                          <p:stCondLst>
                                            <p:cond delay="0"/>
                                          </p:stCondLst>
                                        </p:cTn>
                                        <p:tgtEl>
                                          <p:spTgt spid="807"/>
                                        </p:tgtEl>
                                        <p:attrNameLst>
                                          <p:attrName>style.visibility</p:attrName>
                                        </p:attrNameLst>
                                      </p:cBhvr>
                                      <p:to>
                                        <p:strVal val="visible"/>
                                      </p:to>
                                    </p:set>
                                    <p:animEffect transition="in" filter="dissolve">
                                      <p:cBhvr additive="repl">
                                        <p:cTn id="1651" dur="500"/>
                                        <p:tgtEl>
                                          <p:spTgt spid="807"/>
                                        </p:tgtEl>
                                      </p:cBhvr>
                                    </p:animEffect>
                                  </p:childTnLst>
                                </p:cTn>
                              </p:par>
                            </p:childTnLst>
                          </p:cTn>
                        </p:par>
                      </p:childTnLst>
                    </p:cTn>
                  </p:par>
                  <p:par>
                    <p:cTn id="1652" fill="hold" nodeType="clickEffect">
                      <p:stCondLst>
                        <p:cond delay="indefinite"/>
                      </p:stCondLst>
                      <p:childTnLst>
                        <p:par>
                          <p:cTn id="1653" fill="hold" nodeType="withEffect">
                            <p:stCondLst>
                              <p:cond delay="0"/>
                            </p:stCondLst>
                            <p:childTnLst>
                              <p:par>
                                <p:cTn id="1654" presetID="22" presetClass="entr" fill="hold" nodeType="clickEffect" presetSubtype="4">
                                  <p:stCondLst>
                                    <p:cond delay="0"/>
                                  </p:stCondLst>
                                  <p:childTnLst>
                                    <p:set>
                                      <p:cBhvr>
                                        <p:cTn id="1655" dur="1" fill="hold">
                                          <p:stCondLst>
                                            <p:cond delay="0"/>
                                          </p:stCondLst>
                                        </p:cTn>
                                        <p:tgtEl>
                                          <p:spTgt spid="809"/>
                                        </p:tgtEl>
                                        <p:attrNameLst>
                                          <p:attrName>style.visibility</p:attrName>
                                        </p:attrNameLst>
                                      </p:cBhvr>
                                      <p:to>
                                        <p:strVal val="visible"/>
                                      </p:to>
                                    </p:set>
                                    <p:animEffect transition="in" filter="wipe(down)">
                                      <p:cBhvr additive="repl">
                                        <p:cTn id="1656" dur="500"/>
                                        <p:tgtEl>
                                          <p:spTgt spid="809"/>
                                        </p:tgtEl>
                                      </p:cBhvr>
                                    </p:animEffect>
                                  </p:childTnLst>
                                </p:cTn>
                              </p:par>
                            </p:childTnLst>
                          </p:cTn>
                        </p:par>
                        <p:par>
                          <p:cTn id="1657" fill="hold" nodeType="afterEffect">
                            <p:stCondLst>
                              <p:cond delay="500"/>
                            </p:stCondLst>
                            <p:childTnLst>
                              <p:par>
                                <p:cTn id="1658" presetID="9" presetClass="entr" fill="hold" nodeType="afterEffect">
                                  <p:stCondLst>
                                    <p:cond delay="0"/>
                                  </p:stCondLst>
                                  <p:childTnLst>
                                    <p:set>
                                      <p:cBhvr>
                                        <p:cTn id="1659" dur="1" fill="hold">
                                          <p:stCondLst>
                                            <p:cond delay="0"/>
                                          </p:stCondLst>
                                        </p:cTn>
                                        <p:tgtEl>
                                          <p:spTgt spid="804"/>
                                        </p:tgtEl>
                                        <p:attrNameLst>
                                          <p:attrName>style.visibility</p:attrName>
                                        </p:attrNameLst>
                                      </p:cBhvr>
                                      <p:to>
                                        <p:strVal val="visible"/>
                                      </p:to>
                                    </p:set>
                                    <p:animEffect transition="in" filter="dissolve">
                                      <p:cBhvr additive="repl">
                                        <p:cTn id="1660" dur="500"/>
                                        <p:tgtEl>
                                          <p:spTgt spid="804"/>
                                        </p:tgtEl>
                                      </p:cBhvr>
                                    </p:animEffect>
                                  </p:childTnLst>
                                </p:cTn>
                              </p:par>
                            </p:childTnLst>
                          </p:cTn>
                        </p:par>
                      </p:childTnLst>
                    </p:cTn>
                  </p:par>
                  <p:par>
                    <p:cTn id="1661" fill="hold" nodeType="clickEffect">
                      <p:stCondLst>
                        <p:cond delay="indefinite"/>
                      </p:stCondLst>
                      <p:childTnLst>
                        <p:par>
                          <p:cTn id="1662" fill="hold" nodeType="withEffect">
                            <p:stCondLst>
                              <p:cond delay="0"/>
                            </p:stCondLst>
                            <p:childTnLst>
                              <p:par>
                                <p:cTn id="1663" presetID="22" presetClass="entr" fill="hold" nodeType="clickEffect" presetSubtype="1">
                                  <p:stCondLst>
                                    <p:cond delay="0"/>
                                  </p:stCondLst>
                                  <p:childTnLst>
                                    <p:set>
                                      <p:cBhvr>
                                        <p:cTn id="1664" dur="1" fill="hold">
                                          <p:stCondLst>
                                            <p:cond delay="0"/>
                                          </p:stCondLst>
                                        </p:cTn>
                                        <p:tgtEl>
                                          <p:spTgt spid="812"/>
                                        </p:tgtEl>
                                        <p:attrNameLst>
                                          <p:attrName>style.visibility</p:attrName>
                                        </p:attrNameLst>
                                      </p:cBhvr>
                                      <p:to>
                                        <p:strVal val="visible"/>
                                      </p:to>
                                    </p:set>
                                    <p:animEffect transition="in" filter="wipe(up)">
                                      <p:cBhvr additive="repl">
                                        <p:cTn id="1665" dur="500"/>
                                        <p:tgtEl>
                                          <p:spTgt spid="812"/>
                                        </p:tgtEl>
                                      </p:cBhvr>
                                    </p:animEffect>
                                  </p:childTnLst>
                                </p:cTn>
                              </p:par>
                            </p:childTnLst>
                          </p:cTn>
                        </p:par>
                        <p:par>
                          <p:cTn id="1666" fill="hold" nodeType="afterEffect">
                            <p:stCondLst>
                              <p:cond delay="500"/>
                            </p:stCondLst>
                            <p:childTnLst>
                              <p:par>
                                <p:cTn id="1667" presetID="9" presetClass="entr" fill="hold" nodeType="afterEffect">
                                  <p:stCondLst>
                                    <p:cond delay="0"/>
                                  </p:stCondLst>
                                  <p:childTnLst>
                                    <p:set>
                                      <p:cBhvr>
                                        <p:cTn id="1668" dur="1" fill="hold">
                                          <p:stCondLst>
                                            <p:cond delay="0"/>
                                          </p:stCondLst>
                                        </p:cTn>
                                        <p:tgtEl>
                                          <p:spTgt spid="805"/>
                                        </p:tgtEl>
                                        <p:attrNameLst>
                                          <p:attrName>style.visibility</p:attrName>
                                        </p:attrNameLst>
                                      </p:cBhvr>
                                      <p:to>
                                        <p:strVal val="visible"/>
                                      </p:to>
                                    </p:set>
                                    <p:animEffect transition="in" filter="dissolve">
                                      <p:cBhvr additive="repl">
                                        <p:cTn id="1669" dur="500"/>
                                        <p:tgtEl>
                                          <p:spTgt spid="8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Text Box 6"/>
          <p:cNvSpPr/>
          <p:nvPr/>
        </p:nvSpPr>
        <p:spPr>
          <a:xfrm>
            <a:off x="42840" y="44280"/>
            <a:ext cx="8915400" cy="148392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9</a:t>
            </a:r>
            <a:r>
              <a:rPr lang="en-US" sz="2800" b="1" u="none" strike="noStrike">
                <a:solidFill>
                  <a:srgbClr val="990033"/>
                </a:solidFill>
                <a:effectLst/>
                <a:uFillTx/>
                <a:latin typeface="Times New Roman"/>
              </a:rPr>
              <a:t>  </a:t>
            </a:r>
            <a:r>
              <a:rPr lang="zh-CN" sz="2800" b="1" u="none" strike="noStrike">
                <a:solidFill>
                  <a:srgbClr val="990033"/>
                </a:solidFill>
                <a:effectLst/>
                <a:uFillTx/>
                <a:latin typeface="Times New Roman"/>
              </a:rPr>
              <a:t>根轨迹的出射角与入射角</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sng" strike="noStrike">
                <a:solidFill>
                  <a:srgbClr val="000000"/>
                </a:solidFill>
                <a:effectLst/>
                <a:uFillTx/>
                <a:latin typeface="Times New Roman"/>
              </a:rPr>
              <a:t>根轨迹离开</a:t>
            </a:r>
            <a:r>
              <a:rPr lang="zh-CN" sz="2400" b="1" u="sng" strike="noStrike">
                <a:solidFill>
                  <a:srgbClr val="000099"/>
                </a:solidFill>
                <a:effectLst/>
                <a:uFillTx/>
                <a:latin typeface="Times New Roman"/>
              </a:rPr>
              <a:t>开环复数极点</a:t>
            </a:r>
            <a:r>
              <a:rPr lang="zh-CN" sz="2400" b="1" u="sng" strike="noStrike">
                <a:solidFill>
                  <a:srgbClr val="000000"/>
                </a:solidFill>
                <a:effectLst/>
                <a:uFillTx/>
                <a:latin typeface="Times New Roman"/>
              </a:rPr>
              <a:t>处的切线与正实轴方向的夹角，称为出射角</a:t>
            </a:r>
            <a:r>
              <a:rPr lang="en-US" sz="2400" b="1" u="sng" strike="noStrike">
                <a:solidFill>
                  <a:srgbClr val="000000"/>
                </a:solidFill>
                <a:effectLst/>
                <a:uFillTx/>
                <a:latin typeface="Times New Roman"/>
              </a:rPr>
              <a:t>(</a:t>
            </a:r>
            <a:r>
              <a:rPr lang="zh-CN" sz="2400" b="1" u="sng" strike="noStrike">
                <a:solidFill>
                  <a:srgbClr val="000000"/>
                </a:solidFill>
                <a:effectLst/>
                <a:uFillTx/>
                <a:latin typeface="Times New Roman"/>
              </a:rPr>
              <a:t>起始角</a:t>
            </a:r>
            <a:r>
              <a:rPr lang="en-US" sz="2400" b="1" u="sng" strike="noStrike">
                <a:solidFill>
                  <a:srgbClr val="000000"/>
                </a:solidFill>
                <a:effectLst/>
                <a:uFillTx/>
                <a:latin typeface="Times New Roman"/>
              </a:rPr>
              <a:t>)</a:t>
            </a:r>
            <a:r>
              <a:rPr lang="zh-CN" sz="2400" b="1" u="sng" strike="noStrike">
                <a:solidFill>
                  <a:srgbClr val="000000"/>
                </a:solidFill>
                <a:effectLst/>
                <a:uFillTx/>
                <a:latin typeface="Times New Roman"/>
              </a:rPr>
              <a:t>，用</a:t>
            </a:r>
            <a:r>
              <a:rPr lang="zh-CN" sz="2400" b="1" u="none" strike="noStrike">
                <a:solidFill>
                  <a:srgbClr val="000000"/>
                </a:solidFill>
                <a:effectLst/>
                <a:uFillTx/>
                <a:latin typeface="Times New Roman"/>
              </a:rPr>
              <a:t>     </a:t>
            </a: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817" name="Object 4"/>
              <p:cNvSpPr txBox="1"/>
              <p:nvPr/>
            </p:nvSpPr>
            <p:spPr>
              <a:xfrm>
                <a:off x="550800" y="2782800"/>
                <a:ext cx="5943600" cy="960480"/>
              </a:xfrm>
              <a:prstGeom prst="rect">
                <a:avLst/>
              </a:prstGeom>
            </p:spPr>
            <p:txBody>
              <a:bodyPr/>
              <a:p>
                <a14:m>
                  <m:oMath xmlns:m="http://schemas.openxmlformats.org/officeDocument/2006/math">
                    <m:sSub>
                      <m:e>
                        <m:r>
                          <m:t xml:space="preserve">θ</m:t>
                        </m:r>
                      </m:e>
                      <m:sub>
                        <m:sSub>
                          <m:e>
                            <m:r>
                              <m:t xml:space="preserve">p</m:t>
                            </m:r>
                          </m:e>
                          <m:sub>
                            <m:r>
                              <m:t xml:space="preserve">x</m:t>
                            </m:r>
                          </m:sub>
                        </m:sSub>
                      </m:sub>
                    </m:sSub>
                    <m:r>
                      <m:t xml:space="preserve">=</m:t>
                    </m:r>
                    <m:sSup>
                      <m:e>
                        <m:r>
                          <m:rPr>
                            <m:lit/>
                            <m:nor/>
                          </m:rPr>
                          <m:t xml:space="preserve">180</m:t>
                        </m:r>
                      </m:e>
                      <m:sup>
                        <m:r>
                          <m:t xml:space="preserve">∘</m:t>
                        </m:r>
                      </m:sup>
                    </m:sSup>
                    <m:r>
                      <m:t xml:space="preserve">+</m:t>
                    </m:r>
                    <m:nary>
                      <m:naryPr>
                        <m:chr m:val="∑"/>
                      </m:naryPr>
                      <m:sub>
                        <m:r>
                          <m:t xml:space="preserve">i</m:t>
                        </m:r>
                        <m:r>
                          <m:t xml:space="preserve">=</m:t>
                        </m:r>
                        <m:r>
                          <m:t xml:space="preserve">1</m:t>
                        </m:r>
                      </m:sub>
                      <m:sup>
                        <m:r>
                          <m:t xml:space="preserve">m</m:t>
                        </m:r>
                      </m:sup>
                      <m:e>
                        <m:r>
                          <m:t xml:space="preserve">∠</m:t>
                        </m:r>
                        <m:r>
                          <m:t xml:space="preserve">(</m:t>
                        </m:r>
                        <m:sSub>
                          <m:e>
                            <m:r>
                              <m:t xml:space="preserve">p</m:t>
                            </m:r>
                          </m:e>
                          <m:sub>
                            <m:r>
                              <m:t xml:space="preserve">x</m:t>
                            </m:r>
                          </m:sub>
                        </m:sSub>
                        <m:r>
                          <m:t xml:space="preserve">−</m:t>
                        </m:r>
                        <m:sSub>
                          <m:e>
                            <m:r>
                              <m:t xml:space="preserve">z</m:t>
                            </m:r>
                          </m:e>
                          <m:sub>
                            <m:r>
                              <m:t xml:space="preserve">i</m:t>
                            </m:r>
                          </m:sub>
                        </m:sSub>
                        <m:r>
                          <m:t xml:space="preserve">)</m:t>
                        </m:r>
                      </m:e>
                    </m:nary>
                    <m:r>
                      <m:t xml:space="preserve">−</m:t>
                    </m:r>
                    <m:nary>
                      <m:naryPr>
                        <m:chr m:val="∑"/>
                      </m:naryPr>
                      <m:sub>
                        <m:r>
                          <m:t xml:space="preserve">j</m:t>
                        </m:r>
                        <m:r>
                          <m:t xml:space="preserve">=</m:t>
                        </m:r>
                        <m:r>
                          <m:t xml:space="preserve">1</m:t>
                        </m:r>
                        <m:r>
                          <m:t xml:space="preserve">,</m:t>
                        </m:r>
                        <m:r>
                          <m:t xml:space="preserve">j</m:t>
                        </m:r>
                        <m:r>
                          <m:t xml:space="preserve">≠</m:t>
                        </m:r>
                        <m:r>
                          <m:t xml:space="preserve">x</m:t>
                        </m:r>
                      </m:sub>
                      <m:sup>
                        <m:r>
                          <m:t xml:space="preserve">n</m:t>
                        </m:r>
                      </m:sup>
                      <m:e>
                        <m:r>
                          <m:t xml:space="preserve">∠</m:t>
                        </m:r>
                        <m:r>
                          <m:t xml:space="preserve">(</m:t>
                        </m:r>
                        <m:sSub>
                          <m:e>
                            <m:r>
                              <m:t xml:space="preserve">p</m:t>
                            </m:r>
                          </m:e>
                          <m:sub>
                            <m:r>
                              <m:t xml:space="preserve">x</m:t>
                            </m:r>
                          </m:sub>
                        </m:sSub>
                        <m:r>
                          <m:t xml:space="preserve">−</m:t>
                        </m:r>
                        <m:sSub>
                          <m:e>
                            <m:r>
                              <m:t xml:space="preserve">p</m:t>
                            </m:r>
                          </m:e>
                          <m:sub>
                            <m:r>
                              <m:t xml:space="preserve">j</m:t>
                            </m:r>
                          </m:sub>
                        </m:sSub>
                        <m:r>
                          <m:t xml:space="preserve">)</m:t>
                        </m:r>
                      </m:e>
                    </m:nary>
                  </m:oMath>
                </a14:m>
              </a:p>
            </p:txBody>
          </p:sp>
        </mc:Choice>
        <mc:Fallback>
          <p:sp>
            <p:nvSpPr>
              <p:cNvPr id="817" name="Object 4"/>
              <p:cNvSpPr txBox="1"/>
              <p:nvPr/>
            </p:nvSpPr>
            <p:spPr>
              <a:xfrm>
                <a:off x="550800" y="2782800"/>
                <a:ext cx="5943600" cy="960480"/>
              </a:xfrm>
              <a:prstGeom prst="rect">
                <a:avLst/>
              </a:prstGeom>
              <a:blipFill>
                <a:blip r:embed="rId1"/>
                <a:stretch>
                  <a:fillRect/>
                </a:stretch>
              </a:blipFill>
            </p:spPr>
          </p:sp>
        </mc:Fallback>
      </mc:AlternateContent>
      <mc:AlternateContent>
        <mc:Choice xmlns:a14="http://schemas.microsoft.com/office/drawing/2010/main" Requires="a14">
          <p:sp>
            <p:nvSpPr>
              <p:cNvPr id="818" name="Object 5"/>
              <p:cNvSpPr txBox="1"/>
              <p:nvPr/>
            </p:nvSpPr>
            <p:spPr>
              <a:xfrm>
                <a:off x="531720" y="4317840"/>
                <a:ext cx="5846760" cy="1022400"/>
              </a:xfrm>
              <a:prstGeom prst="rect">
                <a:avLst/>
              </a:prstGeom>
            </p:spPr>
            <p:txBody>
              <a:bodyPr/>
              <a:p>
                <a14:m>
                  <m:oMath xmlns:m="http://schemas.openxmlformats.org/officeDocument/2006/math">
                    <m:sSub>
                      <m:e>
                        <m:r>
                          <m:t xml:space="preserve">ϕ</m:t>
                        </m:r>
                      </m:e>
                      <m:sub>
                        <m:sSub>
                          <m:e>
                            <m:r>
                              <m:t xml:space="preserve">z</m:t>
                            </m:r>
                          </m:e>
                          <m:sub>
                            <m:r>
                              <m:t xml:space="preserve">x</m:t>
                            </m:r>
                          </m:sub>
                        </m:sSub>
                      </m:sub>
                    </m:sSub>
                    <m:r>
                      <m:t xml:space="preserve">=</m:t>
                    </m:r>
                    <m:sSup>
                      <m:e>
                        <m:r>
                          <m:rPr>
                            <m:lit/>
                            <m:nor/>
                          </m:rPr>
                          <m:t xml:space="preserve">180</m:t>
                        </m:r>
                      </m:e>
                      <m:sup>
                        <m:r>
                          <m:t xml:space="preserve">∘</m:t>
                        </m:r>
                      </m:sup>
                    </m:sSup>
                    <m:r>
                      <m:t xml:space="preserve">+</m:t>
                    </m:r>
                    <m:nary>
                      <m:naryPr>
                        <m:chr m:val="∑"/>
                      </m:naryPr>
                      <m:sub>
                        <m:r>
                          <m:t xml:space="preserve">j</m:t>
                        </m:r>
                        <m:r>
                          <m:t xml:space="preserve">=</m:t>
                        </m:r>
                        <m:r>
                          <m:t xml:space="preserve">1</m:t>
                        </m:r>
                      </m:sub>
                      <m:sup>
                        <m:r>
                          <m:t xml:space="preserve">n</m:t>
                        </m:r>
                      </m:sup>
                      <m:e>
                        <m:r>
                          <m:t xml:space="preserve">∠</m:t>
                        </m:r>
                        <m:r>
                          <m:t xml:space="preserve">(</m:t>
                        </m:r>
                        <m:sSub>
                          <m:e>
                            <m:r>
                              <m:t xml:space="preserve">z</m:t>
                            </m:r>
                          </m:e>
                          <m:sub>
                            <m:r>
                              <m:t xml:space="preserve">x</m:t>
                            </m:r>
                          </m:sub>
                        </m:sSub>
                        <m:r>
                          <m:t xml:space="preserve">−</m:t>
                        </m:r>
                        <m:sSub>
                          <m:e>
                            <m:r>
                              <m:t xml:space="preserve">p</m:t>
                            </m:r>
                          </m:e>
                          <m:sub>
                            <m:r>
                              <m:t xml:space="preserve">j</m:t>
                            </m:r>
                          </m:sub>
                        </m:sSub>
                        <m:r>
                          <m:t xml:space="preserve">)</m:t>
                        </m:r>
                      </m:e>
                    </m:nary>
                    <m:r>
                      <m:t xml:space="preserve">−</m:t>
                    </m:r>
                    <m:nary>
                      <m:naryPr>
                        <m:chr m:val="∑"/>
                      </m:naryPr>
                      <m:sub>
                        <m:r>
                          <m:t xml:space="preserve">i</m:t>
                        </m:r>
                        <m:r>
                          <m:t xml:space="preserve">=</m:t>
                        </m:r>
                        <m:r>
                          <m:t xml:space="preserve">1</m:t>
                        </m:r>
                        <m:r>
                          <m:t xml:space="preserve">,</m:t>
                        </m:r>
                        <m:r>
                          <m:t xml:space="preserve">i</m:t>
                        </m:r>
                        <m:r>
                          <m:t xml:space="preserve">≠</m:t>
                        </m:r>
                        <m:r>
                          <m:t xml:space="preserve">x</m:t>
                        </m:r>
                      </m:sub>
                      <m:sup>
                        <m:r>
                          <m:t xml:space="preserve">m</m:t>
                        </m:r>
                      </m:sup>
                      <m:e>
                        <m:r>
                          <m:t xml:space="preserve">∠</m:t>
                        </m:r>
                        <m:r>
                          <m:t xml:space="preserve">(</m:t>
                        </m:r>
                        <m:sSub>
                          <m:e>
                            <m:r>
                              <m:t xml:space="preserve">z</m:t>
                            </m:r>
                          </m:e>
                          <m:sub>
                            <m:r>
                              <m:t xml:space="preserve">x</m:t>
                            </m:r>
                          </m:sub>
                        </m:sSub>
                        <m:r>
                          <m:t xml:space="preserve">−</m:t>
                        </m:r>
                        <m:sSub>
                          <m:e>
                            <m:r>
                              <m:t xml:space="preserve">z</m:t>
                            </m:r>
                          </m:e>
                          <m:sub>
                            <m:r>
                              <m:t xml:space="preserve">i</m:t>
                            </m:r>
                          </m:sub>
                        </m:sSub>
                        <m:r>
                          <m:t xml:space="preserve">)</m:t>
                        </m:r>
                      </m:e>
                    </m:nary>
                  </m:oMath>
                </a14:m>
              </a:p>
            </p:txBody>
          </p:sp>
        </mc:Choice>
        <mc:Fallback>
          <p:sp>
            <p:nvSpPr>
              <p:cNvPr id="818" name="Object 5"/>
              <p:cNvSpPr txBox="1"/>
              <p:nvPr/>
            </p:nvSpPr>
            <p:spPr>
              <a:xfrm>
                <a:off x="531720" y="4317840"/>
                <a:ext cx="5846760" cy="1022400"/>
              </a:xfrm>
              <a:prstGeom prst="rect">
                <a:avLst/>
              </a:prstGeom>
              <a:blipFill>
                <a:blip r:embed="rId2"/>
                <a:stretch>
                  <a:fillRect/>
                </a:stretch>
              </a:blipFill>
            </p:spPr>
          </p:sp>
        </mc:Fallback>
      </mc:AlternateContent>
      <mc:AlternateContent>
        <mc:Choice xmlns:a14="http://schemas.microsoft.com/office/drawing/2010/main" Requires="a14">
          <p:sp>
            <p:nvSpPr>
              <p:cNvPr id="819" name="Object 7"/>
              <p:cNvSpPr txBox="1"/>
              <p:nvPr/>
            </p:nvSpPr>
            <p:spPr>
              <a:xfrm>
                <a:off x="2489040" y="1038240"/>
                <a:ext cx="541440" cy="542880"/>
              </a:xfrm>
              <a:prstGeom prst="rect">
                <a:avLst/>
              </a:prstGeom>
            </p:spPr>
            <p:txBody>
              <a:bodyPr/>
              <a:p>
                <a14:m>
                  <m:oMath xmlns:m="http://schemas.openxmlformats.org/officeDocument/2006/math">
                    <m:sSub>
                      <m:e>
                        <m:r>
                          <m:t xml:space="preserve">θ</m:t>
                        </m:r>
                      </m:e>
                      <m:sub>
                        <m:sSub>
                          <m:e>
                            <m:r>
                              <m:t xml:space="preserve">p</m:t>
                            </m:r>
                          </m:e>
                          <m:sub>
                            <m:r>
                              <m:t xml:space="preserve">x</m:t>
                            </m:r>
                          </m:sub>
                        </m:sSub>
                      </m:sub>
                    </m:sSub>
                  </m:oMath>
                </a14:m>
              </a:p>
            </p:txBody>
          </p:sp>
        </mc:Choice>
        <mc:Fallback>
          <p:sp>
            <p:nvSpPr>
              <p:cNvPr id="819" name="Object 7"/>
              <p:cNvSpPr txBox="1"/>
              <p:nvPr/>
            </p:nvSpPr>
            <p:spPr>
              <a:xfrm>
                <a:off x="2489040" y="1038240"/>
                <a:ext cx="541440" cy="542880"/>
              </a:xfrm>
              <a:prstGeom prst="rect">
                <a:avLst/>
              </a:prstGeom>
              <a:blipFill>
                <a:blip r:embed="rId3"/>
                <a:stretch>
                  <a:fillRect/>
                </a:stretch>
              </a:blipFill>
            </p:spPr>
          </p:sp>
        </mc:Fallback>
      </mc:AlternateContent>
      <mc:AlternateContent>
        <mc:Choice xmlns:a14="http://schemas.microsoft.com/office/drawing/2010/main" Requires="a14">
          <p:sp>
            <p:nvSpPr>
              <p:cNvPr id="820" name="Object 8"/>
              <p:cNvSpPr txBox="1"/>
              <p:nvPr/>
            </p:nvSpPr>
            <p:spPr>
              <a:xfrm>
                <a:off x="2567160" y="1852560"/>
                <a:ext cx="512640" cy="542880"/>
              </a:xfrm>
              <a:prstGeom prst="rect">
                <a:avLst/>
              </a:prstGeom>
            </p:spPr>
            <p:txBody>
              <a:bodyPr/>
              <a:p>
                <a14:m>
                  <m:oMath xmlns:m="http://schemas.openxmlformats.org/officeDocument/2006/math">
                    <m:sSub>
                      <m:e>
                        <m:r>
                          <m:t xml:space="preserve">ϕ</m:t>
                        </m:r>
                      </m:e>
                      <m:sub>
                        <m:sSub>
                          <m:e>
                            <m:r>
                              <m:t xml:space="preserve">z</m:t>
                            </m:r>
                          </m:e>
                          <m:sub>
                            <m:r>
                              <m:t xml:space="preserve">x</m:t>
                            </m:r>
                          </m:sub>
                        </m:sSub>
                      </m:sub>
                    </m:sSub>
                  </m:oMath>
                </a14:m>
              </a:p>
            </p:txBody>
          </p:sp>
        </mc:Choice>
        <mc:Fallback>
          <p:sp>
            <p:nvSpPr>
              <p:cNvPr id="820" name="Object 8"/>
              <p:cNvSpPr txBox="1"/>
              <p:nvPr/>
            </p:nvSpPr>
            <p:spPr>
              <a:xfrm>
                <a:off x="2567160" y="1852560"/>
                <a:ext cx="512640" cy="542880"/>
              </a:xfrm>
              <a:prstGeom prst="rect">
                <a:avLst/>
              </a:prstGeom>
              <a:blipFill>
                <a:blip r:embed="rId4"/>
                <a:stretch>
                  <a:fillRect/>
                </a:stretch>
              </a:blipFill>
            </p:spPr>
          </p:sp>
        </mc:Fallback>
      </mc:AlternateContent>
      <p:sp>
        <p:nvSpPr>
          <p:cNvPr id="821" name="Rectangle 10"/>
          <p:cNvSpPr/>
          <p:nvPr/>
        </p:nvSpPr>
        <p:spPr>
          <a:xfrm>
            <a:off x="58680" y="1555920"/>
            <a:ext cx="8945640" cy="8254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根轨迹进入</a:t>
            </a:r>
            <a:r>
              <a:rPr lang="zh-CN" sz="2400" b="1" u="sng" strike="noStrike">
                <a:solidFill>
                  <a:srgbClr val="000099"/>
                </a:solidFill>
                <a:effectLst/>
                <a:uFillTx/>
                <a:latin typeface="Times New Roman"/>
              </a:rPr>
              <a:t>开环复数零点</a:t>
            </a:r>
            <a:r>
              <a:rPr lang="zh-CN" sz="2400" b="1" u="none" strike="noStrike">
                <a:solidFill>
                  <a:srgbClr val="000000"/>
                </a:solidFill>
                <a:effectLst/>
                <a:uFillTx/>
                <a:latin typeface="Times New Roman"/>
              </a:rPr>
              <a:t>处的切线与正实轴方向的夹角，称为入射角</a:t>
            </a:r>
            <a:r>
              <a:rPr lang="en-US" sz="2400" b="1" u="none" strike="noStrike">
                <a:solidFill>
                  <a:srgbClr val="000000"/>
                </a:solidFill>
                <a:effectLst/>
                <a:uFillTx/>
                <a:latin typeface="Times New Roman"/>
              </a:rPr>
              <a:t>(</a:t>
            </a:r>
            <a:r>
              <a:rPr lang="zh-CN" sz="2400" b="1" u="none" strike="noStrike">
                <a:solidFill>
                  <a:srgbClr val="000000"/>
                </a:solidFill>
                <a:effectLst/>
                <a:uFillTx/>
                <a:latin typeface="Times New Roman"/>
              </a:rPr>
              <a:t>终止角</a:t>
            </a:r>
            <a:r>
              <a:rPr lang="en-US" sz="2400" b="1" u="none" strike="noStrike">
                <a:solidFill>
                  <a:srgbClr val="000000"/>
                </a:solidFill>
                <a:effectLst/>
                <a:uFillTx/>
                <a:latin typeface="Times New Roman"/>
              </a:rPr>
              <a:t>)</a:t>
            </a:r>
            <a:r>
              <a:rPr lang="zh-CN" sz="2400" b="1" u="none" strike="noStrike">
                <a:solidFill>
                  <a:srgbClr val="000000"/>
                </a:solidFill>
                <a:effectLst/>
                <a:uFillTx/>
                <a:latin typeface="Times New Roman"/>
              </a:rPr>
              <a:t>，用</a:t>
            </a:r>
            <a:endParaRPr lang="en-US" sz="2400" b="1" u="none" strike="noStrike">
              <a:solidFill>
                <a:srgbClr val="000000"/>
              </a:solidFill>
              <a:effectLst/>
              <a:uFillTx/>
              <a:latin typeface="Times New Roman"/>
            </a:endParaRPr>
          </a:p>
        </p:txBody>
      </p:sp>
      <p:sp>
        <p:nvSpPr>
          <p:cNvPr id="822" name="Rectangle 11"/>
          <p:cNvSpPr/>
          <p:nvPr/>
        </p:nvSpPr>
        <p:spPr>
          <a:xfrm>
            <a:off x="2755800" y="1003320"/>
            <a:ext cx="1409760" cy="5209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表示；</a:t>
            </a:r>
            <a:endParaRPr lang="en-US" sz="2400" b="1" u="none" strike="noStrike">
              <a:solidFill>
                <a:srgbClr val="000000"/>
              </a:solidFill>
              <a:effectLst/>
              <a:uFillTx/>
              <a:latin typeface="Times New Roman"/>
            </a:endParaRPr>
          </a:p>
        </p:txBody>
      </p:sp>
      <p:sp>
        <p:nvSpPr>
          <p:cNvPr id="823" name="Rectangle 12"/>
          <p:cNvSpPr/>
          <p:nvPr/>
        </p:nvSpPr>
        <p:spPr>
          <a:xfrm>
            <a:off x="184320" y="2359080"/>
            <a:ext cx="595620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求出这些角度可按如下关系</a:t>
            </a:r>
            <a:endParaRPr lang="en-US" sz="2400" b="1" u="none" strike="noStrike">
              <a:solidFill>
                <a:srgbClr val="000000"/>
              </a:solidFill>
              <a:effectLst/>
              <a:uFillTx/>
              <a:latin typeface="Times New Roman"/>
            </a:endParaRPr>
          </a:p>
        </p:txBody>
      </p:sp>
      <p:sp>
        <p:nvSpPr>
          <p:cNvPr id="824" name="Rectangle 13"/>
          <p:cNvSpPr/>
          <p:nvPr/>
        </p:nvSpPr>
        <p:spPr>
          <a:xfrm>
            <a:off x="3141000" y="1908000"/>
            <a:ext cx="1095120" cy="459720"/>
          </a:xfrm>
          <a:prstGeom prst="rect">
            <a:avLst/>
          </a:prstGeom>
          <a:noFill/>
          <a:ln w="0">
            <a:noFill/>
          </a:ln>
        </p:spPr>
        <p:style>
          <a:lnRef idx="0"/>
          <a:fillRef idx="0"/>
          <a:effectRef idx="0"/>
          <a:fontRef idx="minor"/>
        </p:style>
        <p:txBody>
          <a:bodyPr wrap="none" lIns="90000" tIns="46800" rIns="90000" bIns="46800" anchor="t">
            <a:sp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表示。</a:t>
            </a:r>
            <a:endParaRPr lang="en-US" sz="24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670" dur="indefinite" restart="never" nodeType="tmRoot">
          <p:childTnLst>
            <p:seq>
              <p:cTn id="1671" dur="indefinite" nodeType="mainSeq">
                <p:childTnLst>
                  <p:par>
                    <p:cTn id="1672" fill="hold" nodeType="clickEffect">
                      <p:stCondLst>
                        <p:cond delay="indefinite"/>
                      </p:stCondLst>
                      <p:childTnLst>
                        <p:par>
                          <p:cTn id="1673" fill="hold" nodeType="withEffect">
                            <p:stCondLst>
                              <p:cond delay="0"/>
                            </p:stCondLst>
                            <p:childTnLst>
                              <p:par>
                                <p:cTn id="1674" presetID="9" presetClass="entr" fill="hold" nodeType="clickEffect">
                                  <p:stCondLst>
                                    <p:cond delay="0"/>
                                  </p:stCondLst>
                                  <p:iterate type="lt">
                                    <p:tmAbs val="75"/>
                                  </p:iterate>
                                  <p:childTnLst>
                                    <p:set>
                                      <p:cBhvr>
                                        <p:cTn id="1675" dur="1" fill="hold">
                                          <p:stCondLst>
                                            <p:cond delay="0"/>
                                          </p:stCondLst>
                                        </p:cTn>
                                        <p:tgtEl>
                                          <p:spTgt spid="816"/>
                                        </p:tgtEl>
                                        <p:attrNameLst>
                                          <p:attrName>style.visibility</p:attrName>
                                        </p:attrNameLst>
                                      </p:cBhvr>
                                      <p:to>
                                        <p:strVal val="visible"/>
                                      </p:to>
                                    </p:set>
                                    <p:animEffect transition="in" filter="dissolve">
                                      <p:cBhvr additive="repl">
                                        <p:cTn id="1676" dur="75"/>
                                        <p:tgtEl>
                                          <p:spTgt spid="816"/>
                                        </p:tgtEl>
                                      </p:cBhvr>
                                    </p:animEffect>
                                  </p:childTnLst>
                                </p:cTn>
                              </p:par>
                            </p:childTnLst>
                          </p:cTn>
                        </p:par>
                        <p:par>
                          <p:cTn id="1677" fill="hold" nodeType="afterEffect">
                            <p:stCondLst>
                              <p:cond delay="4350"/>
                            </p:stCondLst>
                            <p:childTnLst>
                              <p:par>
                                <p:cTn id="1678" presetID="9" presetClass="entr" fill="hold" nodeType="afterEffect">
                                  <p:stCondLst>
                                    <p:cond delay="0"/>
                                  </p:stCondLst>
                                  <p:childTnLst>
                                    <p:set>
                                      <p:cBhvr>
                                        <p:cTn id="1679" dur="1" fill="hold">
                                          <p:stCondLst>
                                            <p:cond delay="0"/>
                                          </p:stCondLst>
                                        </p:cTn>
                                        <p:tgtEl>
                                          <p:spTgt spid="819"/>
                                        </p:tgtEl>
                                        <p:attrNameLst>
                                          <p:attrName>style.visibility</p:attrName>
                                        </p:attrNameLst>
                                      </p:cBhvr>
                                      <p:to>
                                        <p:strVal val="visible"/>
                                      </p:to>
                                    </p:set>
                                    <p:animEffect transition="in" filter="dissolve">
                                      <p:cBhvr additive="repl">
                                        <p:cTn id="1680" dur="500"/>
                                        <p:tgtEl>
                                          <p:spTgt spid="819"/>
                                        </p:tgtEl>
                                      </p:cBhvr>
                                    </p:animEffect>
                                  </p:childTnLst>
                                </p:cTn>
                              </p:par>
                            </p:childTnLst>
                          </p:cTn>
                        </p:par>
                      </p:childTnLst>
                    </p:cTn>
                  </p:par>
                  <p:par>
                    <p:cTn id="1681" fill="hold" nodeType="clickEffect">
                      <p:stCondLst>
                        <p:cond delay="indefinite"/>
                      </p:stCondLst>
                      <p:childTnLst>
                        <p:par>
                          <p:cTn id="1682" fill="hold" nodeType="withEffect">
                            <p:stCondLst>
                              <p:cond delay="0"/>
                            </p:stCondLst>
                            <p:childTnLst>
                              <p:par>
                                <p:cTn id="1683" presetID="9" presetClass="entr" fill="hold" nodeType="clickEffect">
                                  <p:stCondLst>
                                    <p:cond delay="0"/>
                                  </p:stCondLst>
                                  <p:childTnLst>
                                    <p:set>
                                      <p:cBhvr>
                                        <p:cTn id="1684" dur="1" fill="hold">
                                          <p:stCondLst>
                                            <p:cond delay="0"/>
                                          </p:stCondLst>
                                        </p:cTn>
                                        <p:tgtEl>
                                          <p:spTgt spid="822"/>
                                        </p:tgtEl>
                                        <p:attrNameLst>
                                          <p:attrName>style.visibility</p:attrName>
                                        </p:attrNameLst>
                                      </p:cBhvr>
                                      <p:to>
                                        <p:strVal val="visible"/>
                                      </p:to>
                                    </p:set>
                                    <p:animEffect transition="in" filter="dissolve">
                                      <p:cBhvr additive="repl">
                                        <p:cTn id="1685" dur="500"/>
                                        <p:tgtEl>
                                          <p:spTgt spid="822"/>
                                        </p:tgtEl>
                                      </p:cBhvr>
                                    </p:animEffect>
                                  </p:childTnLst>
                                </p:cTn>
                              </p:par>
                            </p:childTnLst>
                          </p:cTn>
                        </p:par>
                        <p:par>
                          <p:cTn id="1686" fill="hold" nodeType="afterEffect">
                            <p:stCondLst>
                              <p:cond delay="500"/>
                            </p:stCondLst>
                            <p:childTnLst>
                              <p:par>
                                <p:cTn id="1687" presetID="9" presetClass="entr" fill="hold" nodeType="afterEffect">
                                  <p:stCondLst>
                                    <p:cond delay="0"/>
                                  </p:stCondLst>
                                  <p:childTnLst>
                                    <p:set>
                                      <p:cBhvr>
                                        <p:cTn id="1688" dur="1" fill="hold">
                                          <p:stCondLst>
                                            <p:cond delay="0"/>
                                          </p:stCondLst>
                                        </p:cTn>
                                        <p:tgtEl>
                                          <p:spTgt spid="821"/>
                                        </p:tgtEl>
                                        <p:attrNameLst>
                                          <p:attrName>style.visibility</p:attrName>
                                        </p:attrNameLst>
                                      </p:cBhvr>
                                      <p:to>
                                        <p:strVal val="visible"/>
                                      </p:to>
                                    </p:set>
                                    <p:animEffect transition="in" filter="dissolve">
                                      <p:cBhvr additive="repl">
                                        <p:cTn id="1689" dur="500"/>
                                        <p:tgtEl>
                                          <p:spTgt spid="821"/>
                                        </p:tgtEl>
                                      </p:cBhvr>
                                    </p:animEffect>
                                  </p:childTnLst>
                                </p:cTn>
                              </p:par>
                            </p:childTnLst>
                          </p:cTn>
                        </p:par>
                        <p:par>
                          <p:cTn id="1690" fill="hold" nodeType="afterEffect">
                            <p:stCondLst>
                              <p:cond delay="1000"/>
                            </p:stCondLst>
                            <p:childTnLst>
                              <p:par>
                                <p:cTn id="1691" presetID="9" presetClass="entr" fill="hold" nodeType="afterEffect">
                                  <p:stCondLst>
                                    <p:cond delay="0"/>
                                  </p:stCondLst>
                                  <p:childTnLst>
                                    <p:set>
                                      <p:cBhvr>
                                        <p:cTn id="1692" dur="1" fill="hold">
                                          <p:stCondLst>
                                            <p:cond delay="0"/>
                                          </p:stCondLst>
                                        </p:cTn>
                                        <p:tgtEl>
                                          <p:spTgt spid="820"/>
                                        </p:tgtEl>
                                        <p:attrNameLst>
                                          <p:attrName>style.visibility</p:attrName>
                                        </p:attrNameLst>
                                      </p:cBhvr>
                                      <p:to>
                                        <p:strVal val="visible"/>
                                      </p:to>
                                    </p:set>
                                    <p:animEffect transition="in" filter="dissolve">
                                      <p:cBhvr additive="repl">
                                        <p:cTn id="1693" dur="500"/>
                                        <p:tgtEl>
                                          <p:spTgt spid="820"/>
                                        </p:tgtEl>
                                      </p:cBhvr>
                                    </p:animEffect>
                                  </p:childTnLst>
                                </p:cTn>
                              </p:par>
                            </p:childTnLst>
                          </p:cTn>
                        </p:par>
                        <p:par>
                          <p:cTn id="1694" fill="hold" nodeType="afterEffect">
                            <p:stCondLst>
                              <p:cond delay="1500"/>
                            </p:stCondLst>
                            <p:childTnLst>
                              <p:par>
                                <p:cTn id="1695" presetID="9" presetClass="entr" fill="hold" nodeType="afterEffect">
                                  <p:stCondLst>
                                    <p:cond delay="0"/>
                                  </p:stCondLst>
                                  <p:childTnLst>
                                    <p:set>
                                      <p:cBhvr>
                                        <p:cTn id="1696" dur="1" fill="hold">
                                          <p:stCondLst>
                                            <p:cond delay="0"/>
                                          </p:stCondLst>
                                        </p:cTn>
                                        <p:tgtEl>
                                          <p:spTgt spid="824"/>
                                        </p:tgtEl>
                                        <p:attrNameLst>
                                          <p:attrName>style.visibility</p:attrName>
                                        </p:attrNameLst>
                                      </p:cBhvr>
                                      <p:to>
                                        <p:strVal val="visible"/>
                                      </p:to>
                                    </p:set>
                                    <p:animEffect transition="in" filter="dissolve">
                                      <p:cBhvr additive="repl">
                                        <p:cTn id="1697" dur="500"/>
                                        <p:tgtEl>
                                          <p:spTgt spid="824"/>
                                        </p:tgtEl>
                                      </p:cBhvr>
                                    </p:animEffect>
                                  </p:childTnLst>
                                </p:cTn>
                              </p:par>
                            </p:childTnLst>
                          </p:cTn>
                        </p:par>
                      </p:childTnLst>
                    </p:cTn>
                  </p:par>
                  <p:par>
                    <p:cTn id="1698" fill="hold" nodeType="clickEffect">
                      <p:stCondLst>
                        <p:cond delay="indefinite"/>
                      </p:stCondLst>
                      <p:childTnLst>
                        <p:par>
                          <p:cTn id="1699" fill="hold" nodeType="withEffect">
                            <p:stCondLst>
                              <p:cond delay="0"/>
                            </p:stCondLst>
                            <p:childTnLst>
                              <p:par>
                                <p:cTn id="1700" presetID="2" presetClass="entr" fill="hold" nodeType="clickEffect" presetSubtype="8">
                                  <p:stCondLst>
                                    <p:cond delay="0"/>
                                  </p:stCondLst>
                                  <p:childTnLst>
                                    <p:set>
                                      <p:cBhvr>
                                        <p:cTn id="1701" dur="1" fill="hold">
                                          <p:stCondLst>
                                            <p:cond delay="0"/>
                                          </p:stCondLst>
                                        </p:cTn>
                                        <p:tgtEl>
                                          <p:spTgt spid="823"/>
                                        </p:tgtEl>
                                        <p:attrNameLst>
                                          <p:attrName>style.visibility</p:attrName>
                                        </p:attrNameLst>
                                      </p:cBhvr>
                                      <p:to>
                                        <p:strVal val="visible"/>
                                      </p:to>
                                    </p:set>
                                    <p:anim calcmode="lin" valueType="num">
                                      <p:cBhvr additive="base">
                                        <p:cTn id="1702" dur="500" fill="hold"/>
                                        <p:tgtEl>
                                          <p:spTgt spid="823"/>
                                        </p:tgtEl>
                                        <p:attrNameLst>
                                          <p:attrName>ppt_x</p:attrName>
                                        </p:attrNameLst>
                                      </p:cBhvr>
                                      <p:tavLst>
                                        <p:tav>
                                          <p:val>
                                            <p:strVal val="0-#ppt_w/2"/>
                                          </p:val>
                                        </p:tav>
                                        <p:tav tm="100000">
                                          <p:val>
                                            <p:strVal val="#ppt_x"/>
                                          </p:val>
                                        </p:tav>
                                      </p:tavLst>
                                    </p:anim>
                                    <p:anim calcmode="lin" valueType="num">
                                      <p:cBhvr additive="base">
                                        <p:cTn id="1703" dur="500" fill="hold"/>
                                        <p:tgtEl>
                                          <p:spTgt spid="823"/>
                                        </p:tgtEl>
                                        <p:attrNameLst>
                                          <p:attrName>ppt_y</p:attrName>
                                        </p:attrNameLst>
                                      </p:cBhvr>
                                      <p:tavLst>
                                        <p:tav>
                                          <p:val>
                                            <p:strVal val="#ppt_y"/>
                                          </p:val>
                                        </p:tav>
                                        <p:tav tm="100000">
                                          <p:val>
                                            <p:strVal val="#ppt_y"/>
                                          </p:val>
                                        </p:tav>
                                      </p:tavLst>
                                    </p:anim>
                                  </p:childTnLst>
                                </p:cTn>
                              </p:par>
                            </p:childTnLst>
                          </p:cTn>
                        </p:par>
                      </p:childTnLst>
                    </p:cTn>
                  </p:par>
                  <p:par>
                    <p:cTn id="1704" fill="hold" nodeType="clickEffect">
                      <p:stCondLst>
                        <p:cond delay="indefinite"/>
                      </p:stCondLst>
                      <p:childTnLst>
                        <p:par>
                          <p:cTn id="1705" fill="hold" nodeType="withEffect">
                            <p:stCondLst>
                              <p:cond delay="0"/>
                            </p:stCondLst>
                            <p:childTnLst>
                              <p:par>
                                <p:cTn id="1706" presetID="26" presetClass="entr" fill="hold" nodeType="clickEffect">
                                  <p:stCondLst>
                                    <p:cond delay="0"/>
                                  </p:stCondLst>
                                  <p:childTnLst>
                                    <p:set>
                                      <p:cBhvr>
                                        <p:cTn id="1707" dur="1" fill="hold">
                                          <p:stCondLst>
                                            <p:cond delay="0"/>
                                          </p:stCondLst>
                                        </p:cTn>
                                        <p:tgtEl>
                                          <p:spTgt spid="817"/>
                                        </p:tgtEl>
                                        <p:attrNameLst>
                                          <p:attrName>style.visibility</p:attrName>
                                        </p:attrNameLst>
                                      </p:cBhvr>
                                      <p:to>
                                        <p:strVal val="visible"/>
                                      </p:to>
                                    </p:set>
                                    <p:animEffect transition="in" filter="wipe(down)">
                                      <p:cBhvr additive="repl">
                                        <p:cTn id="1708" dur="580">
                                          <p:stCondLst>
                                            <p:cond delay="0"/>
                                          </p:stCondLst>
                                        </p:cTn>
                                        <p:tgtEl>
                                          <p:spTgt spid="817"/>
                                        </p:tgtEl>
                                      </p:cBhvr>
                                    </p:animEffect>
                                    <p:anim calcmode="lin" valueType="num">
                                      <p:cBhvr additive="repl">
                                        <p:cTn id="1709" dur="1822">
                                          <p:stCondLst>
                                            <p:cond delay="0"/>
                                          </p:stCondLst>
                                        </p:cTn>
                                        <p:tgtEl>
                                          <p:spTgt spid="817"/>
                                        </p:tgtEl>
                                        <p:attrNameLst>
                                          <p:attrName>ppt_x</p:attrName>
                                        </p:attrNameLst>
                                      </p:cBhvr>
                                      <p:tavLst>
                                        <p:tav>
                                          <p:val>
                                            <p:strVal val="#ppt_x-0.25"/>
                                          </p:val>
                                        </p:tav>
                                        <p:tav tm="100000">
                                          <p:val>
                                            <p:strVal val="#ppt_x"/>
                                          </p:val>
                                        </p:tav>
                                      </p:tavLst>
                                    </p:anim>
                                    <p:anim calcmode="lin" valueType="num">
                                      <p:cBhvr additive="repl">
                                        <p:cTn id="1710" dur="664">
                                          <p:stCondLst>
                                            <p:cond delay="0"/>
                                          </p:stCondLst>
                                        </p:cTn>
                                        <p:tgtEl>
                                          <p:spTgt spid="817"/>
                                        </p:tgtEl>
                                        <p:attrNameLst>
                                          <p:attrName>ppt_y</p:attrName>
                                        </p:attrNameLst>
                                      </p:cBhvr>
                                      <p:tavLst>
                                        <p:tav fmla="y-sin(pi*$)/3">
                                          <p:val>
                                            <p:fltVal val="0.5"/>
                                          </p:val>
                                        </p:tav>
                                        <p:tav fmla="y-sin(pi*$)/3" tm="100000">
                                          <p:val>
                                            <p:fltVal val="1"/>
                                          </p:val>
                                        </p:tav>
                                      </p:tavLst>
                                    </p:anim>
                                    <p:anim calcmode="lin" valueType="num">
                                      <p:cBhvr additive="repl">
                                        <p:cTn id="1711" dur="664">
                                          <p:stCondLst>
                                            <p:cond delay="664"/>
                                          </p:stCondLst>
                                        </p:cTn>
                                        <p:tgtEl>
                                          <p:spTgt spid="817"/>
                                        </p:tgtEl>
                                        <p:attrNameLst>
                                          <p:attrName>ppt_y</p:attrName>
                                        </p:attrNameLst>
                                      </p:cBhvr>
                                      <p:tavLst>
                                        <p:tav fmla="y-sin(pi*$)/9">
                                          <p:val>
                                            <p:fltVal val="0"/>
                                          </p:val>
                                        </p:tav>
                                        <p:tav fmla="y-sin(pi*$)/9" tm="100000">
                                          <p:val>
                                            <p:fltVal val="1"/>
                                          </p:val>
                                        </p:tav>
                                      </p:tavLst>
                                    </p:anim>
                                    <p:anim calcmode="lin" valueType="num">
                                      <p:cBhvr additive="repl">
                                        <p:cTn id="1712" dur="332">
                                          <p:stCondLst>
                                            <p:cond delay="1324"/>
                                          </p:stCondLst>
                                        </p:cTn>
                                        <p:tgtEl>
                                          <p:spTgt spid="817"/>
                                        </p:tgtEl>
                                        <p:attrNameLst>
                                          <p:attrName>ppt_y</p:attrName>
                                        </p:attrNameLst>
                                      </p:cBhvr>
                                      <p:tavLst>
                                        <p:tav fmla="y-sin(pi*$)/27">
                                          <p:val>
                                            <p:fltVal val="0"/>
                                          </p:val>
                                        </p:tav>
                                        <p:tav fmla="y-sin(pi*$)/27" tm="100000">
                                          <p:val>
                                            <p:fltVal val="1"/>
                                          </p:val>
                                        </p:tav>
                                      </p:tavLst>
                                    </p:anim>
                                    <p:anim calcmode="lin" valueType="num">
                                      <p:cBhvr additive="repl">
                                        <p:cTn id="1713" dur="164">
                                          <p:stCondLst>
                                            <p:cond delay="1656"/>
                                          </p:stCondLst>
                                        </p:cTn>
                                        <p:tgtEl>
                                          <p:spTgt spid="817"/>
                                        </p:tgtEl>
                                        <p:attrNameLst>
                                          <p:attrName>ppt_y</p:attrName>
                                        </p:attrNameLst>
                                      </p:cBhvr>
                                      <p:tavLst>
                                        <p:tav fmla="y-sin(pi*$)/81">
                                          <p:val>
                                            <p:fltVal val="0"/>
                                          </p:val>
                                        </p:tav>
                                        <p:tav fmla="y-sin(pi*$)/81" tm="100000">
                                          <p:val>
                                            <p:fltVal val="1"/>
                                          </p:val>
                                        </p:tav>
                                      </p:tavLst>
                                    </p:anim>
                                    <p:animScale>
                                      <p:cBhvr>
                                        <p:cTn id="1714" dur="26" fill="hold">
                                          <p:stCondLst>
                                            <p:cond delay="650"/>
                                          </p:stCondLst>
                                        </p:cTn>
                                        <p:tgtEl>
                                          <p:spTgt spid="817"/>
                                        </p:tgtEl>
                                      </p:cBhvr>
                                      <p:to x="100000" y="60000"/>
                                    </p:animScale>
                                    <p:animScale>
                                      <p:cBhvr>
                                        <p:cTn id="1715" dur="166" fill="hold">
                                          <p:stCondLst>
                                            <p:cond delay="676"/>
                                          </p:stCondLst>
                                        </p:cTn>
                                        <p:tgtEl>
                                          <p:spTgt spid="817"/>
                                        </p:tgtEl>
                                      </p:cBhvr>
                                      <p:to x="100000" y="100000"/>
                                    </p:animScale>
                                    <p:animScale>
                                      <p:cBhvr>
                                        <p:cTn id="1716" dur="26" fill="hold">
                                          <p:stCondLst>
                                            <p:cond delay="1312"/>
                                          </p:stCondLst>
                                        </p:cTn>
                                        <p:tgtEl>
                                          <p:spTgt spid="817"/>
                                        </p:tgtEl>
                                      </p:cBhvr>
                                      <p:to x="100000" y="80000"/>
                                    </p:animScale>
                                    <p:animScale>
                                      <p:cBhvr>
                                        <p:cTn id="1717" dur="166" fill="hold">
                                          <p:stCondLst>
                                            <p:cond delay="1338"/>
                                          </p:stCondLst>
                                        </p:cTn>
                                        <p:tgtEl>
                                          <p:spTgt spid="817"/>
                                        </p:tgtEl>
                                      </p:cBhvr>
                                      <p:to x="100000" y="100000"/>
                                    </p:animScale>
                                    <p:animScale>
                                      <p:cBhvr>
                                        <p:cTn id="1718" dur="26" fill="hold">
                                          <p:stCondLst>
                                            <p:cond delay="1642"/>
                                          </p:stCondLst>
                                        </p:cTn>
                                        <p:tgtEl>
                                          <p:spTgt spid="817"/>
                                        </p:tgtEl>
                                      </p:cBhvr>
                                      <p:to x="100000" y="90000"/>
                                    </p:animScale>
                                    <p:animScale>
                                      <p:cBhvr>
                                        <p:cTn id="1719" dur="166" fill="hold">
                                          <p:stCondLst>
                                            <p:cond delay="1668"/>
                                          </p:stCondLst>
                                        </p:cTn>
                                        <p:tgtEl>
                                          <p:spTgt spid="817"/>
                                        </p:tgtEl>
                                      </p:cBhvr>
                                      <p:to x="100000" y="100000"/>
                                    </p:animScale>
                                    <p:animScale>
                                      <p:cBhvr>
                                        <p:cTn id="1720" dur="26" fill="hold">
                                          <p:stCondLst>
                                            <p:cond delay="1808"/>
                                          </p:stCondLst>
                                        </p:cTn>
                                        <p:tgtEl>
                                          <p:spTgt spid="817"/>
                                        </p:tgtEl>
                                      </p:cBhvr>
                                      <p:to x="100000" y="95000"/>
                                    </p:animScale>
                                    <p:animScale>
                                      <p:cBhvr>
                                        <p:cTn id="1721" dur="166" fill="hold">
                                          <p:stCondLst>
                                            <p:cond delay="1834"/>
                                          </p:stCondLst>
                                        </p:cTn>
                                        <p:tgtEl>
                                          <p:spTgt spid="817"/>
                                        </p:tgtEl>
                                      </p:cBhvr>
                                      <p:to x="100000" y="100000"/>
                                    </p:animScale>
                                  </p:childTnLst>
                                </p:cTn>
                              </p:par>
                            </p:childTnLst>
                          </p:cTn>
                        </p:par>
                      </p:childTnLst>
                    </p:cTn>
                  </p:par>
                  <p:par>
                    <p:cTn id="1722" fill="hold" nodeType="clickEffect">
                      <p:stCondLst>
                        <p:cond delay="indefinite"/>
                      </p:stCondLst>
                      <p:childTnLst>
                        <p:par>
                          <p:cTn id="1723" fill="hold" nodeType="withEffect">
                            <p:stCondLst>
                              <p:cond delay="0"/>
                            </p:stCondLst>
                            <p:childTnLst>
                              <p:par>
                                <p:cTn id="1724" presetID="9" presetClass="entr" fill="hold" nodeType="clickEffect">
                                  <p:stCondLst>
                                    <p:cond delay="0"/>
                                  </p:stCondLst>
                                  <p:childTnLst>
                                    <p:set>
                                      <p:cBhvr>
                                        <p:cTn id="1725" dur="1" fill="hold">
                                          <p:stCondLst>
                                            <p:cond delay="0"/>
                                          </p:stCondLst>
                                        </p:cTn>
                                        <p:tgtEl>
                                          <p:spTgt spid="818"/>
                                        </p:tgtEl>
                                        <p:attrNameLst>
                                          <p:attrName>style.visibility</p:attrName>
                                        </p:attrNameLst>
                                      </p:cBhvr>
                                      <p:to>
                                        <p:strVal val="visible"/>
                                      </p:to>
                                    </p:set>
                                    <p:animEffect transition="in" filter="dissolve">
                                      <p:cBhvr additive="repl">
                                        <p:cTn id="1726" dur="500"/>
                                        <p:tgtEl>
                                          <p:spTgt spid="8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25" name="Group 83"/>
          <p:cNvGrpSpPr/>
          <p:nvPr/>
        </p:nvGrpSpPr>
        <p:grpSpPr>
          <a:xfrm>
            <a:off x="3411360" y="730080"/>
            <a:ext cx="5732280" cy="4996080"/>
            <a:chOff x="3411360" y="730080"/>
            <a:chExt cx="5732280" cy="4996080"/>
          </a:xfrm>
        </p:grpSpPr>
        <p:grpSp>
          <p:nvGrpSpPr>
            <p:cNvPr id="826" name="Group 82"/>
            <p:cNvGrpSpPr/>
            <p:nvPr/>
          </p:nvGrpSpPr>
          <p:grpSpPr>
            <a:xfrm>
              <a:off x="3411360" y="730080"/>
              <a:ext cx="5732280" cy="4996080"/>
              <a:chOff x="3411360" y="730080"/>
              <a:chExt cx="5732280" cy="4996080"/>
            </a:xfrm>
          </p:grpSpPr>
          <p:sp>
            <p:nvSpPr>
              <p:cNvPr id="827" name="Line 11"/>
              <p:cNvSpPr/>
              <p:nvPr/>
            </p:nvSpPr>
            <p:spPr>
              <a:xfrm flipV="1">
                <a:off x="7511760" y="923760"/>
                <a:ext cx="0" cy="480240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28" name="Rectangle 12"/>
              <p:cNvSpPr/>
              <p:nvPr/>
            </p:nvSpPr>
            <p:spPr>
              <a:xfrm>
                <a:off x="8694360" y="3205080"/>
                <a:ext cx="44928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829" name="Rectangle 13"/>
              <p:cNvSpPr/>
              <p:nvPr/>
            </p:nvSpPr>
            <p:spPr>
              <a:xfrm>
                <a:off x="7410240" y="355608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830" name="Line 14"/>
              <p:cNvSpPr/>
              <p:nvPr/>
            </p:nvSpPr>
            <p:spPr>
              <a:xfrm>
                <a:off x="3411360" y="3495600"/>
                <a:ext cx="5343480" cy="1800"/>
              </a:xfrm>
              <a:prstGeom prst="line">
                <a:avLst/>
              </a:prstGeom>
              <a:ln cap="sq" w="57240">
                <a:solidFill>
                  <a:srgbClr val="000000"/>
                </a:solidFill>
                <a:miter/>
                <a:tail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831" name="Line 15"/>
              <p:cNvSpPr/>
              <p:nvPr/>
            </p:nvSpPr>
            <p:spPr>
              <a:xfrm>
                <a:off x="6437160" y="337824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32" name="Line 16"/>
              <p:cNvSpPr/>
              <p:nvPr/>
            </p:nvSpPr>
            <p:spPr>
              <a:xfrm>
                <a:off x="6437160" y="3398760"/>
                <a:ext cx="0" cy="176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33" name="Line 17"/>
              <p:cNvSpPr/>
              <p:nvPr/>
            </p:nvSpPr>
            <p:spPr>
              <a:xfrm>
                <a:off x="5324040" y="3398760"/>
                <a:ext cx="0" cy="176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34" name="Line 19"/>
              <p:cNvSpPr/>
              <p:nvPr/>
            </p:nvSpPr>
            <p:spPr>
              <a:xfrm flipV="1">
                <a:off x="7426080" y="4693680"/>
                <a:ext cx="1620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835" name="Line 20"/>
              <p:cNvSpPr/>
              <p:nvPr/>
            </p:nvSpPr>
            <p:spPr>
              <a:xfrm flipV="1">
                <a:off x="7426080" y="4116960"/>
                <a:ext cx="162000" cy="6120"/>
              </a:xfrm>
              <a:prstGeom prst="line">
                <a:avLst/>
              </a:prstGeom>
              <a:ln w="57240">
                <a:solidFill>
                  <a:srgbClr val="000000"/>
                </a:solidFill>
                <a:miter/>
              </a:ln>
            </p:spPr>
            <p:style>
              <a:lnRef idx="0"/>
              <a:fillRef idx="0"/>
              <a:effectRef idx="0"/>
              <a:fontRef idx="minor"/>
            </p:style>
            <p:txBody>
              <a:bodyPr lIns="90000" tIns="-40680" rIns="90000" bIns="-40680" anchor="t">
                <a:noAutofit/>
              </a:bodyPr>
              <a:p>
                <a:endParaRPr lang="en-US" sz="2800" b="1" u="none" strike="noStrike">
                  <a:solidFill>
                    <a:srgbClr val="000000"/>
                  </a:solidFill>
                  <a:effectLst/>
                  <a:uFillTx/>
                  <a:latin typeface="Times New Roman"/>
                </a:endParaRPr>
              </a:p>
            </p:txBody>
          </p:sp>
          <p:sp>
            <p:nvSpPr>
              <p:cNvPr id="836" name="Rectangle 22"/>
              <p:cNvSpPr/>
              <p:nvPr/>
            </p:nvSpPr>
            <p:spPr>
              <a:xfrm>
                <a:off x="7367400" y="73008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837" name="Line 40"/>
              <p:cNvSpPr/>
              <p:nvPr/>
            </p:nvSpPr>
            <p:spPr>
              <a:xfrm flipV="1">
                <a:off x="7432560" y="2910960"/>
                <a:ext cx="16164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838" name="Line 42"/>
              <p:cNvSpPr/>
              <p:nvPr/>
            </p:nvSpPr>
            <p:spPr>
              <a:xfrm flipV="1">
                <a:off x="7446600" y="2342160"/>
                <a:ext cx="162000" cy="6120"/>
              </a:xfrm>
              <a:prstGeom prst="line">
                <a:avLst/>
              </a:prstGeom>
              <a:ln w="57240">
                <a:solidFill>
                  <a:srgbClr val="000000"/>
                </a:solidFill>
                <a:miter/>
              </a:ln>
            </p:spPr>
            <p:style>
              <a:lnRef idx="0"/>
              <a:fillRef idx="0"/>
              <a:effectRef idx="0"/>
              <a:fontRef idx="minor"/>
            </p:style>
            <p:txBody>
              <a:bodyPr lIns="90000" tIns="-40680" rIns="90000" bIns="-40680" anchor="t">
                <a:noAutofit/>
              </a:bodyPr>
              <a:p>
                <a:endParaRPr lang="en-US" sz="2800" b="1" u="none" strike="noStrike">
                  <a:solidFill>
                    <a:srgbClr val="000000"/>
                  </a:solidFill>
                  <a:effectLst/>
                  <a:uFillTx/>
                  <a:latin typeface="Times New Roman"/>
                </a:endParaRPr>
              </a:p>
            </p:txBody>
          </p:sp>
          <p:sp>
            <p:nvSpPr>
              <p:cNvPr id="839" name="Line 44"/>
              <p:cNvSpPr/>
              <p:nvPr/>
            </p:nvSpPr>
            <p:spPr>
              <a:xfrm flipH="1" flipV="1">
                <a:off x="7444800" y="1752840"/>
                <a:ext cx="162720" cy="22680"/>
              </a:xfrm>
              <a:prstGeom prst="line">
                <a:avLst/>
              </a:prstGeom>
              <a:ln w="57240">
                <a:solidFill>
                  <a:srgbClr val="000000"/>
                </a:solidFill>
                <a:miter/>
              </a:ln>
            </p:spPr>
            <p:style>
              <a:lnRef idx="0"/>
              <a:fillRef idx="0"/>
              <a:effectRef idx="0"/>
              <a:fontRef idx="minor"/>
            </p:style>
            <p:txBody>
              <a:bodyPr lIns="90000" tIns="-24120" rIns="90000" bIns="-24120" anchor="t">
                <a:noAutofit/>
              </a:bodyPr>
              <a:p>
                <a:endParaRPr lang="en-US" sz="2800" b="1" u="none" strike="noStrike">
                  <a:solidFill>
                    <a:srgbClr val="000000"/>
                  </a:solidFill>
                  <a:effectLst/>
                  <a:uFillTx/>
                  <a:latin typeface="Times New Roman"/>
                </a:endParaRPr>
              </a:p>
            </p:txBody>
          </p:sp>
          <p:sp>
            <p:nvSpPr>
              <p:cNvPr id="840" name="Line 46"/>
              <p:cNvSpPr/>
              <p:nvPr/>
            </p:nvSpPr>
            <p:spPr>
              <a:xfrm flipH="1">
                <a:off x="6966720" y="3397320"/>
                <a:ext cx="5760" cy="1620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41" name="Line 50"/>
              <p:cNvSpPr/>
              <p:nvPr/>
            </p:nvSpPr>
            <p:spPr>
              <a:xfrm>
                <a:off x="5893920" y="338436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42" name="Line 53"/>
              <p:cNvSpPr/>
              <p:nvPr/>
            </p:nvSpPr>
            <p:spPr>
              <a:xfrm>
                <a:off x="4789080" y="338616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43" name="Line 55"/>
              <p:cNvSpPr/>
              <p:nvPr/>
            </p:nvSpPr>
            <p:spPr>
              <a:xfrm>
                <a:off x="3676320" y="3406680"/>
                <a:ext cx="0" cy="176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44" name="Line 57"/>
              <p:cNvSpPr/>
              <p:nvPr/>
            </p:nvSpPr>
            <p:spPr>
              <a:xfrm>
                <a:off x="4246200" y="3392640"/>
                <a:ext cx="0" cy="1774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45" name="Line 58"/>
              <p:cNvSpPr/>
              <p:nvPr/>
            </p:nvSpPr>
            <p:spPr>
              <a:xfrm flipV="1">
                <a:off x="7403760" y="5266800"/>
                <a:ext cx="1620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grpSp>
        <p:sp>
          <p:nvSpPr>
            <p:cNvPr id="846" name="Text Box 69"/>
            <p:cNvSpPr/>
            <p:nvPr/>
          </p:nvSpPr>
          <p:spPr>
            <a:xfrm>
              <a:off x="6198840" y="3543120"/>
              <a:ext cx="45108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847" name="Text Box 70"/>
            <p:cNvSpPr/>
            <p:nvPr/>
          </p:nvSpPr>
          <p:spPr>
            <a:xfrm>
              <a:off x="5105160" y="3541680"/>
              <a:ext cx="4507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-2</a:t>
              </a:r>
              <a:endParaRPr lang="en-US" sz="2400" b="1" u="none" strike="noStrike">
                <a:solidFill>
                  <a:srgbClr val="000000"/>
                </a:solidFill>
                <a:effectLst/>
                <a:uFillTx/>
                <a:latin typeface="Times New Roman"/>
              </a:endParaRPr>
            </a:p>
          </p:txBody>
        </p:sp>
        <p:sp>
          <p:nvSpPr>
            <p:cNvPr id="848" name="Text Box 71"/>
            <p:cNvSpPr/>
            <p:nvPr/>
          </p:nvSpPr>
          <p:spPr>
            <a:xfrm>
              <a:off x="7535520" y="2085840"/>
              <a:ext cx="53820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 j</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grpSp>
      <p:sp>
        <p:nvSpPr>
          <p:cNvPr id="849" name="Text Box 4"/>
          <p:cNvSpPr/>
          <p:nvPr/>
        </p:nvSpPr>
        <p:spPr>
          <a:xfrm>
            <a:off x="44280" y="1731960"/>
            <a:ext cx="4365720" cy="120348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试绘制出系统的根轨迹。</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解：</a:t>
            </a:r>
            <a:endParaRPr lang="en-US" sz="2800" b="1" u="none" strike="noStrike">
              <a:solidFill>
                <a:srgbClr val="000000"/>
              </a:solidFill>
              <a:effectLst/>
              <a:uFillTx/>
              <a:latin typeface="Times New Roman"/>
            </a:endParaRPr>
          </a:p>
        </p:txBody>
      </p:sp>
      <p:grpSp>
        <p:nvGrpSpPr>
          <p:cNvPr id="850" name="Group 23"/>
          <p:cNvGrpSpPr/>
          <p:nvPr/>
        </p:nvGrpSpPr>
        <p:grpSpPr>
          <a:xfrm>
            <a:off x="6826320" y="5159520"/>
            <a:ext cx="287280" cy="290520"/>
            <a:chOff x="6826320" y="5159520"/>
            <a:chExt cx="287280" cy="290520"/>
          </a:xfrm>
        </p:grpSpPr>
        <p:sp>
          <p:nvSpPr>
            <p:cNvPr id="851" name="Line 24"/>
            <p:cNvSpPr/>
            <p:nvPr/>
          </p:nvSpPr>
          <p:spPr>
            <a:xfrm>
              <a:off x="6829560" y="516744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52" name="Line 25"/>
            <p:cNvSpPr/>
            <p:nvPr/>
          </p:nvSpPr>
          <p:spPr>
            <a:xfrm flipH="1">
              <a:off x="6826320" y="515952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853" name="Rectangle 37"/>
          <p:cNvSpPr/>
          <p:nvPr/>
        </p:nvSpPr>
        <p:spPr>
          <a:xfrm>
            <a:off x="279360" y="196920"/>
            <a:ext cx="6705720" cy="533160"/>
          </a:xfrm>
          <a:prstGeom prst="rect">
            <a:avLst/>
          </a:prstGeom>
          <a:noFill/>
          <a:ln w="0">
            <a:noFill/>
          </a:ln>
        </p:spPr>
        <p:style>
          <a:lnRef idx="0"/>
          <a:fillRef idx="0"/>
          <a:effectRef idx="0"/>
          <a:fontRef idx="minor"/>
        </p:style>
        <p:txBody>
          <a:bodyPr lIns="90000" tIns="46800" rIns="90000" bIns="46800" anchor="t">
            <a:noAutofit/>
          </a:bodyPr>
          <a:p>
            <a:pPr marL="343080" indent="-343080">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黑体"/>
                <a:ea typeface="黑体"/>
              </a:rPr>
              <a:t>例</a:t>
            </a:r>
            <a:r>
              <a:rPr lang="en-US" sz="2800" b="1" u="none" strike="noStrike">
                <a:solidFill>
                  <a:srgbClr val="FF0000"/>
                </a:solidFill>
                <a:effectLst/>
                <a:uFillTx/>
                <a:latin typeface="黑体"/>
                <a:ea typeface="黑体"/>
              </a:rPr>
              <a:t>4-4</a:t>
            </a:r>
            <a:r>
              <a:rPr lang="en-US" sz="2800" b="1" u="none" strike="noStrike">
                <a:solidFill>
                  <a:srgbClr val="FF0000"/>
                </a:solidFill>
                <a:effectLst/>
                <a:uFillTx/>
                <a:latin typeface="Times New Roman"/>
              </a:rPr>
              <a:t>   </a:t>
            </a:r>
            <a:r>
              <a:rPr lang="zh-CN" sz="2800" b="1" u="none" strike="noStrike">
                <a:solidFill>
                  <a:srgbClr val="FF0000"/>
                </a:solidFill>
                <a:effectLst/>
                <a:uFillTx/>
                <a:latin typeface="Times New Roman"/>
              </a:rPr>
              <a:t>设负反馈系统的开环传递函数为</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854" name="Object 4"/>
              <p:cNvSpPr txBox="1"/>
              <p:nvPr/>
            </p:nvSpPr>
            <p:spPr>
              <a:xfrm>
                <a:off x="326880" y="679320"/>
                <a:ext cx="6610320" cy="96696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f>
                      <m:num>
                        <m:r>
                          <m:t xml:space="preserve">K</m:t>
                        </m:r>
                        <m:r>
                          <m:t xml:space="preserve">(</m:t>
                        </m:r>
                        <m:r>
                          <m:t xml:space="preserve">s</m:t>
                        </m:r>
                        <m:r>
                          <m:t xml:space="preserve">+</m:t>
                        </m:r>
                        <m:r>
                          <m:t xml:space="preserve">1</m:t>
                        </m:r>
                        <m:r>
                          <m:rPr>
                            <m:lit/>
                            <m:nor/>
                          </m:rPr>
                          <m:t xml:space="preserve">.</m:t>
                        </m:r>
                        <m:r>
                          <m:t xml:space="preserve">5</m:t>
                        </m:r>
                        <m:r>
                          <m:t xml:space="preserve">)</m:t>
                        </m:r>
                        <m:r>
                          <m:t xml:space="preserve">(</m:t>
                        </m:r>
                        <m:r>
                          <m:t xml:space="preserve">s</m:t>
                        </m:r>
                        <m:r>
                          <m:t xml:space="preserve">+</m:t>
                        </m:r>
                        <m:r>
                          <m:t xml:space="preserve">2</m:t>
                        </m:r>
                        <m:r>
                          <m:t xml:space="preserve">+</m:t>
                        </m:r>
                        <m:r>
                          <m:t xml:space="preserve">j</m:t>
                        </m:r>
                        <m:r>
                          <m:t xml:space="preserve">)</m:t>
                        </m:r>
                        <m:r>
                          <m:t xml:space="preserve">(</m:t>
                        </m:r>
                        <m:r>
                          <m:t xml:space="preserve">s</m:t>
                        </m:r>
                        <m:r>
                          <m:t xml:space="preserve">+</m:t>
                        </m:r>
                        <m:r>
                          <m:t xml:space="preserve">2</m:t>
                        </m:r>
                        <m:r>
                          <m:t xml:space="preserve">−</m:t>
                        </m:r>
                        <m:r>
                          <m:t xml:space="preserve">j</m:t>
                        </m:r>
                        <m:r>
                          <m:t xml:space="preserve">)</m:t>
                        </m:r>
                      </m:num>
                      <m:den>
                        <m:r>
                          <m:t xml:space="preserve">s</m:t>
                        </m:r>
                        <m:r>
                          <m:t xml:space="preserve">(</m:t>
                        </m:r>
                        <m:r>
                          <m:t xml:space="preserve">s</m:t>
                        </m:r>
                        <m:r>
                          <m:t xml:space="preserve">+</m:t>
                        </m:r>
                        <m:r>
                          <m:t xml:space="preserve">2</m:t>
                        </m:r>
                        <m:r>
                          <m:rPr>
                            <m:lit/>
                            <m:nor/>
                          </m:rPr>
                          <m:t xml:space="preserve">.</m:t>
                        </m:r>
                        <m:r>
                          <m:t xml:space="preserve">5</m:t>
                        </m:r>
                        <m:r>
                          <m:t xml:space="preserve">)</m:t>
                        </m:r>
                        <m:r>
                          <m:t xml:space="preserve">(</m:t>
                        </m:r>
                        <m:r>
                          <m:t xml:space="preserve">s</m:t>
                        </m:r>
                        <m:r>
                          <m:t xml:space="preserve">+</m:t>
                        </m:r>
                        <m:r>
                          <m:t xml:space="preserve">0</m:t>
                        </m:r>
                        <m:r>
                          <m:rPr>
                            <m:lit/>
                            <m:nor/>
                          </m:rPr>
                          <m:t xml:space="preserve">.</m:t>
                        </m:r>
                        <m:r>
                          <m:t xml:space="preserve">5</m:t>
                        </m:r>
                        <m:r>
                          <m:t xml:space="preserve">+</m:t>
                        </m:r>
                        <m:r>
                          <m:t xml:space="preserve">j</m:t>
                        </m:r>
                        <m:r>
                          <m:t xml:space="preserve">1</m:t>
                        </m:r>
                        <m:r>
                          <m:rPr>
                            <m:lit/>
                            <m:nor/>
                          </m:rPr>
                          <m:t xml:space="preserve">.</m:t>
                        </m:r>
                        <m:r>
                          <m:t xml:space="preserve">5</m:t>
                        </m:r>
                        <m:r>
                          <m:t xml:space="preserve">)</m:t>
                        </m:r>
                        <m:r>
                          <m:t xml:space="preserve">(</m:t>
                        </m:r>
                        <m:r>
                          <m:t xml:space="preserve">s</m:t>
                        </m:r>
                        <m:r>
                          <m:t xml:space="preserve">+</m:t>
                        </m:r>
                        <m:r>
                          <m:t xml:space="preserve">0</m:t>
                        </m:r>
                        <m:r>
                          <m:rPr>
                            <m:lit/>
                            <m:nor/>
                          </m:rPr>
                          <m:t xml:space="preserve">.</m:t>
                        </m:r>
                        <m:r>
                          <m:t xml:space="preserve">5</m:t>
                        </m:r>
                        <m:r>
                          <m:t xml:space="preserve">−</m:t>
                        </m:r>
                        <m:r>
                          <m:t xml:space="preserve">j</m:t>
                        </m:r>
                        <m:r>
                          <m:t xml:space="preserve">1</m:t>
                        </m:r>
                        <m:r>
                          <m:rPr>
                            <m:lit/>
                            <m:nor/>
                          </m:rPr>
                          <m:t xml:space="preserve">.</m:t>
                        </m:r>
                        <m:r>
                          <m:t xml:space="preserve">5</m:t>
                        </m:r>
                        <m:r>
                          <m:t xml:space="preserve">)</m:t>
                        </m:r>
                      </m:den>
                    </m:f>
                  </m:oMath>
                </a14:m>
              </a:p>
            </p:txBody>
          </p:sp>
        </mc:Choice>
        <mc:Fallback>
          <p:sp>
            <p:nvSpPr>
              <p:cNvPr id="854" name="Object 4"/>
              <p:cNvSpPr txBox="1"/>
              <p:nvPr/>
            </p:nvSpPr>
            <p:spPr>
              <a:xfrm>
                <a:off x="326880" y="679320"/>
                <a:ext cx="6610320" cy="966960"/>
              </a:xfrm>
              <a:prstGeom prst="rect">
                <a:avLst/>
              </a:prstGeom>
              <a:blipFill>
                <a:blip r:embed="rId1"/>
                <a:stretch>
                  <a:fillRect/>
                </a:stretch>
              </a:blipFill>
            </p:spPr>
          </p:sp>
        </mc:Fallback>
      </mc:AlternateContent>
      <p:sp useBgFill="1">
        <p:nvSpPr>
          <p:cNvPr id="855" name="Oval 64"/>
          <p:cNvSpPr/>
          <p:nvPr/>
        </p:nvSpPr>
        <p:spPr>
          <a:xfrm>
            <a:off x="5738760" y="3325680"/>
            <a:ext cx="327240" cy="32724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useBgFill="1">
        <p:nvSpPr>
          <p:cNvPr id="856" name="Oval 65"/>
          <p:cNvSpPr/>
          <p:nvPr/>
        </p:nvSpPr>
        <p:spPr>
          <a:xfrm>
            <a:off x="5167440" y="4560840"/>
            <a:ext cx="326880" cy="32724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useBgFill="1">
        <p:nvSpPr>
          <p:cNvPr id="857" name="Oval 66"/>
          <p:cNvSpPr/>
          <p:nvPr/>
        </p:nvSpPr>
        <p:spPr>
          <a:xfrm>
            <a:off x="5167440" y="2224080"/>
            <a:ext cx="32688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858" name="Group 26"/>
          <p:cNvGrpSpPr/>
          <p:nvPr/>
        </p:nvGrpSpPr>
        <p:grpSpPr>
          <a:xfrm>
            <a:off x="4649760" y="3373560"/>
            <a:ext cx="287280" cy="290520"/>
            <a:chOff x="4649760" y="3373560"/>
            <a:chExt cx="287280" cy="290520"/>
          </a:xfrm>
        </p:grpSpPr>
        <p:sp>
          <p:nvSpPr>
            <p:cNvPr id="859" name="Line 27"/>
            <p:cNvSpPr/>
            <p:nvPr/>
          </p:nvSpPr>
          <p:spPr>
            <a:xfrm>
              <a:off x="4653000" y="33814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60" name="Line 28"/>
            <p:cNvSpPr/>
            <p:nvPr/>
          </p:nvSpPr>
          <p:spPr>
            <a:xfrm flipH="1">
              <a:off x="4649760" y="33735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861" name="Group 29"/>
          <p:cNvGrpSpPr/>
          <p:nvPr/>
        </p:nvGrpSpPr>
        <p:grpSpPr>
          <a:xfrm>
            <a:off x="7378560" y="3389400"/>
            <a:ext cx="287280" cy="290520"/>
            <a:chOff x="7378560" y="3389400"/>
            <a:chExt cx="287280" cy="290520"/>
          </a:xfrm>
        </p:grpSpPr>
        <p:sp>
          <p:nvSpPr>
            <p:cNvPr id="862" name="Line 30"/>
            <p:cNvSpPr/>
            <p:nvPr/>
          </p:nvSpPr>
          <p:spPr>
            <a:xfrm>
              <a:off x="7381800" y="339732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63" name="Line 31"/>
            <p:cNvSpPr/>
            <p:nvPr/>
          </p:nvSpPr>
          <p:spPr>
            <a:xfrm flipH="1">
              <a:off x="7378560" y="338940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864" name="Line 77"/>
          <p:cNvSpPr/>
          <p:nvPr/>
        </p:nvSpPr>
        <p:spPr>
          <a:xfrm>
            <a:off x="5504040" y="2398680"/>
            <a:ext cx="63792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65" name="Text Box 84"/>
          <p:cNvSpPr/>
          <p:nvPr/>
        </p:nvSpPr>
        <p:spPr>
          <a:xfrm>
            <a:off x="44280" y="4025880"/>
            <a:ext cx="2843280" cy="6487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起始角与终止角</a:t>
            </a:r>
            <a:endParaRPr lang="en-US" sz="2800" b="1" u="none" strike="noStrike">
              <a:solidFill>
                <a:srgbClr val="000000"/>
              </a:solidFill>
              <a:effectLst/>
              <a:uFillTx/>
              <a:latin typeface="Times New Roman"/>
            </a:endParaRPr>
          </a:p>
        </p:txBody>
      </p:sp>
      <p:grpSp>
        <p:nvGrpSpPr>
          <p:cNvPr id="866" name="Group 61"/>
          <p:cNvGrpSpPr/>
          <p:nvPr/>
        </p:nvGrpSpPr>
        <p:grpSpPr>
          <a:xfrm>
            <a:off x="6854760" y="1646280"/>
            <a:ext cx="287280" cy="290520"/>
            <a:chOff x="6854760" y="1646280"/>
            <a:chExt cx="287280" cy="290520"/>
          </a:xfrm>
        </p:grpSpPr>
        <p:sp>
          <p:nvSpPr>
            <p:cNvPr id="867" name="Line 62"/>
            <p:cNvSpPr/>
            <p:nvPr/>
          </p:nvSpPr>
          <p:spPr>
            <a:xfrm>
              <a:off x="6858000" y="165420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68" name="Line 63"/>
            <p:cNvSpPr/>
            <p:nvPr/>
          </p:nvSpPr>
          <p:spPr>
            <a:xfrm flipH="1">
              <a:off x="6854760" y="164628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869" name="Line 92"/>
          <p:cNvSpPr/>
          <p:nvPr/>
        </p:nvSpPr>
        <p:spPr>
          <a:xfrm flipH="1">
            <a:off x="5982840" y="1743120"/>
            <a:ext cx="1001880" cy="1625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70" name="Arc 93"/>
          <p:cNvSpPr/>
          <p:nvPr/>
        </p:nvSpPr>
        <p:spPr>
          <a:xfrm>
            <a:off x="6243480" y="2948040"/>
            <a:ext cx="406440" cy="550800"/>
          </a:xfrm>
          <a:custGeom>
            <a:avLst/>
            <a:gdLst>
              <a:gd name="GluePoint1X" fmla="*/ 0 w 21600"/>
              <a:gd name="GluePoint1Y" fmla="*/ 0 h 21600"/>
              <a:gd name="GluePoint2X" fmla="*/ 406400 w 21600"/>
              <a:gd name="GluePoint2Y" fmla="*/ 550862 h 21600"/>
              <a:gd name="GluePoint3X" fmla="*/ 0 w 21600"/>
              <a:gd name="GluePoint3Y" fmla="*/ 550862 h 21600"/>
            </a:gdLst>
            <a:ahLst/>
            <a:cxnLst>
              <a:cxn ang="0">
                <a:pos x="GluePoint1X" y="GluePoint1Y"/>
              </a:cxn>
              <a:cxn ang="0">
                <a:pos x="GluePoint2X" y="GluePoint2Y"/>
              </a:cxn>
              <a:cxn ang="0">
                <a:pos x="GluePoint3X" y="GluePoint3Y"/>
              </a:cxn>
            </a:cxnLst>
            <a:rect l="l" t="t" r="r" b="b"/>
            <a:pathLst>
              <a:path fill="none" w="21600" h="21600">
                <a:moveTo>
                  <a:pt x="-1" y="0"/>
                </a:moveTo>
                <a:cubicBezTo>
                  <a:pt x="11929" y="0"/>
                  <a:pt x="21600" y="9670"/>
                  <a:pt x="21600" y="21600"/>
                </a:cubicBezTo>
              </a:path>
              <a:path stroke="0" w="21600" h="21600">
                <a:moveTo>
                  <a:pt x="-1" y="0"/>
                </a:moveTo>
                <a:cubicBezTo>
                  <a:pt x="11929" y="0"/>
                  <a:pt x="21600" y="9670"/>
                  <a:pt x="21600" y="21600"/>
                </a:cubicBezTo>
                <a:lnTo>
                  <a:pt x="0" y="21600"/>
                </a:lnTo>
                <a:lnTo>
                  <a:pt x="-1" y="0"/>
                </a:lnTo>
                <a:close/>
              </a:path>
            </a:pathLst>
          </a:custGeom>
          <a:noFill/>
          <a:ln w="57240">
            <a:solidFill>
              <a:srgbClr val="000000"/>
            </a:solidFill>
            <a:round/>
          </a:ln>
        </p:spPr>
        <p:style>
          <a:lnRef idx="0"/>
          <a:fillRef idx="0"/>
          <a:effectRef idx="0"/>
          <a:fontRef idx="minor"/>
        </p:style>
        <p:txBody>
          <a:bodyPr wrap="none" lIns="90000" tIns="46800" rIns="90000" bIns="46800" anchor="ctr">
            <a:noAutofit/>
          </a:bodyPr>
          <a:p>
            <a:endParaRPr lang="en-US" sz="2800" b="1" u="none" strike="noStrike">
              <a:solidFill>
                <a:srgbClr val="000000"/>
              </a:solidFill>
              <a:effectLst/>
              <a:uFillTx/>
              <a:latin typeface="Times New Roman"/>
            </a:endParaRPr>
          </a:p>
        </p:txBody>
      </p:sp>
      <p:sp>
        <p:nvSpPr>
          <p:cNvPr id="871" name="Text Box 95"/>
          <p:cNvSpPr/>
          <p:nvPr/>
        </p:nvSpPr>
        <p:spPr>
          <a:xfrm>
            <a:off x="6505560" y="2614680"/>
            <a:ext cx="711360" cy="5796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872" name="Line 96"/>
          <p:cNvSpPr/>
          <p:nvPr/>
        </p:nvSpPr>
        <p:spPr>
          <a:xfrm flipH="1">
            <a:off x="5446440" y="1743120"/>
            <a:ext cx="1523880" cy="5666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73" name="Arc 97"/>
          <p:cNvSpPr/>
          <p:nvPr/>
        </p:nvSpPr>
        <p:spPr>
          <a:xfrm>
            <a:off x="5808600" y="2149560"/>
            <a:ext cx="88920" cy="247680"/>
          </a:xfrm>
          <a:custGeom>
            <a:avLst/>
            <a:gdLst>
              <a:gd name="GluePoint1X" fmla="*/ 0 w 21600"/>
              <a:gd name="GluePoint1Y" fmla="*/ 0 h 21600"/>
              <a:gd name="GluePoint2X" fmla="*/ 88900 w 21600"/>
              <a:gd name="GluePoint2Y" fmla="*/ 247650 h 21600"/>
              <a:gd name="GluePoint3X" fmla="*/ 0 w 21600"/>
              <a:gd name="GluePoint3Y" fmla="*/ 247650 h 21600"/>
            </a:gdLst>
            <a:ahLst/>
            <a:cxnLst>
              <a:cxn ang="0">
                <a:pos x="GluePoint1X" y="GluePoint1Y"/>
              </a:cxn>
              <a:cxn ang="0">
                <a:pos x="GluePoint2X" y="GluePoint2Y"/>
              </a:cxn>
              <a:cxn ang="0">
                <a:pos x="GluePoint3X" y="GluePoint3Y"/>
              </a:cxn>
            </a:cxnLst>
            <a:rect l="l" t="t" r="r" b="b"/>
            <a:pathLst>
              <a:path fill="none" w="21600" h="21600">
                <a:moveTo>
                  <a:pt x="-1" y="0"/>
                </a:moveTo>
                <a:cubicBezTo>
                  <a:pt x="11929" y="0"/>
                  <a:pt x="21600" y="9670"/>
                  <a:pt x="21600" y="21600"/>
                </a:cubicBezTo>
              </a:path>
              <a:path stroke="0" w="21600" h="21600">
                <a:moveTo>
                  <a:pt x="-1" y="0"/>
                </a:moveTo>
                <a:cubicBezTo>
                  <a:pt x="11929" y="0"/>
                  <a:pt x="21600" y="9670"/>
                  <a:pt x="21600" y="21600"/>
                </a:cubicBezTo>
                <a:lnTo>
                  <a:pt x="0" y="21600"/>
                </a:lnTo>
                <a:lnTo>
                  <a:pt x="-1" y="0"/>
                </a:lnTo>
                <a:close/>
              </a:path>
            </a:pathLst>
          </a:custGeom>
          <a:noFill/>
          <a:ln w="57240">
            <a:solidFill>
              <a:srgbClr val="000000"/>
            </a:solidFill>
            <a:round/>
          </a:ln>
        </p:spPr>
        <p:style>
          <a:lnRef idx="0"/>
          <a:fillRef idx="0"/>
          <a:effectRef idx="0"/>
          <a:fontRef idx="minor"/>
        </p:style>
        <p:txBody>
          <a:bodyPr wrap="none" lIns="90000" tIns="46800" rIns="90000" bIns="46800" anchor="ctr">
            <a:noAutofit/>
          </a:bodyPr>
          <a:p>
            <a:endParaRPr lang="en-US" sz="2800" b="1" u="none" strike="noStrike">
              <a:solidFill>
                <a:srgbClr val="000000"/>
              </a:solidFill>
              <a:effectLst/>
              <a:uFillTx/>
              <a:latin typeface="Times New Roman"/>
            </a:endParaRPr>
          </a:p>
        </p:txBody>
      </p:sp>
      <p:sp>
        <p:nvSpPr>
          <p:cNvPr id="874" name="Text Box 98"/>
          <p:cNvSpPr/>
          <p:nvPr/>
        </p:nvSpPr>
        <p:spPr>
          <a:xfrm>
            <a:off x="5489640" y="1585800"/>
            <a:ext cx="711000" cy="5796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p:sp>
        <p:nvSpPr>
          <p:cNvPr id="875" name="Line 99"/>
          <p:cNvSpPr/>
          <p:nvPr/>
        </p:nvSpPr>
        <p:spPr>
          <a:xfrm flipH="1">
            <a:off x="5446800" y="1728720"/>
            <a:ext cx="1566720" cy="290376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76" name="Line 100"/>
          <p:cNvSpPr/>
          <p:nvPr/>
        </p:nvSpPr>
        <p:spPr>
          <a:xfrm>
            <a:off x="5504040" y="4721400"/>
            <a:ext cx="88416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77" name="Arc 101"/>
          <p:cNvSpPr/>
          <p:nvPr/>
        </p:nvSpPr>
        <p:spPr>
          <a:xfrm>
            <a:off x="5751360" y="4108320"/>
            <a:ext cx="333360" cy="581040"/>
          </a:xfrm>
          <a:custGeom>
            <a:avLst/>
            <a:gdLst>
              <a:gd name="GluePoint1X" fmla="*/ 0 w 21600"/>
              <a:gd name="GluePoint1Y" fmla="*/ 0 h 21600"/>
              <a:gd name="GluePoint2X" fmla="*/ 333375 w 21600"/>
              <a:gd name="GluePoint2Y" fmla="*/ 581025 h 21600"/>
              <a:gd name="GluePoint3X" fmla="*/ 0 w 21600"/>
              <a:gd name="GluePoint3Y" fmla="*/ 581025 h 21600"/>
            </a:gdLst>
            <a:ahLst/>
            <a:cxnLst>
              <a:cxn ang="0">
                <a:pos x="GluePoint1X" y="GluePoint1Y"/>
              </a:cxn>
              <a:cxn ang="0">
                <a:pos x="GluePoint2X" y="GluePoint2Y"/>
              </a:cxn>
              <a:cxn ang="0">
                <a:pos x="GluePoint3X" y="GluePoint3Y"/>
              </a:cxn>
            </a:cxnLst>
            <a:rect l="l" t="t" r="r" b="b"/>
            <a:pathLst>
              <a:path fill="none" w="21600" h="21600">
                <a:moveTo>
                  <a:pt x="-1" y="0"/>
                </a:moveTo>
                <a:cubicBezTo>
                  <a:pt x="11929" y="0"/>
                  <a:pt x="21600" y="9670"/>
                  <a:pt x="21600" y="21600"/>
                </a:cubicBezTo>
              </a:path>
              <a:path stroke="0" w="21600" h="21600">
                <a:moveTo>
                  <a:pt x="-1" y="0"/>
                </a:moveTo>
                <a:cubicBezTo>
                  <a:pt x="11929" y="0"/>
                  <a:pt x="21600" y="9670"/>
                  <a:pt x="21600" y="21600"/>
                </a:cubicBezTo>
                <a:lnTo>
                  <a:pt x="0" y="21600"/>
                </a:lnTo>
                <a:lnTo>
                  <a:pt x="-1" y="0"/>
                </a:lnTo>
                <a:close/>
              </a:path>
            </a:pathLst>
          </a:custGeom>
          <a:noFill/>
          <a:ln w="57240">
            <a:solidFill>
              <a:srgbClr val="000000"/>
            </a:solidFill>
            <a:round/>
          </a:ln>
        </p:spPr>
        <p:style>
          <a:lnRef idx="0"/>
          <a:fillRef idx="0"/>
          <a:effectRef idx="0"/>
          <a:fontRef idx="minor"/>
        </p:style>
        <p:txBody>
          <a:bodyPr wrap="none" lIns="90000" tIns="46800" rIns="90000" bIns="46800" anchor="ctr">
            <a:noAutofit/>
          </a:bodyPr>
          <a:p>
            <a:endParaRPr lang="en-US" sz="2800" b="1" u="none" strike="noStrike">
              <a:solidFill>
                <a:srgbClr val="000000"/>
              </a:solidFill>
              <a:effectLst/>
              <a:uFillTx/>
              <a:latin typeface="Times New Roman"/>
            </a:endParaRPr>
          </a:p>
        </p:txBody>
      </p:sp>
      <p:sp>
        <p:nvSpPr>
          <p:cNvPr id="878" name="Text Box 102"/>
          <p:cNvSpPr/>
          <p:nvPr/>
        </p:nvSpPr>
        <p:spPr>
          <a:xfrm>
            <a:off x="6099120" y="4008600"/>
            <a:ext cx="711360" cy="5796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sp>
        <p:nvSpPr>
          <p:cNvPr id="879" name="Line 103"/>
          <p:cNvSpPr/>
          <p:nvPr/>
        </p:nvSpPr>
        <p:spPr>
          <a:xfrm>
            <a:off x="6954840" y="1757520"/>
            <a:ext cx="566640" cy="1757160"/>
          </a:xfrm>
          <a:prstGeom prst="line">
            <a:avLst/>
          </a:prstGeom>
          <a:ln w="57240">
            <a:solidFill>
              <a:srgbClr val="FF66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80" name="Arc 104"/>
          <p:cNvSpPr/>
          <p:nvPr/>
        </p:nvSpPr>
        <p:spPr>
          <a:xfrm>
            <a:off x="7304040" y="2773440"/>
            <a:ext cx="784440" cy="682560"/>
          </a:xfrm>
          <a:custGeom>
            <a:avLst/>
            <a:gdLst>
              <a:gd name="GluePoint1X" fmla="*/ 0 w 21600"/>
              <a:gd name="GluePoint1Y" fmla="*/ 0 h 21600"/>
              <a:gd name="GluePoint2X" fmla="*/ 784225 w 21600"/>
              <a:gd name="GluePoint2Y" fmla="*/ 682625 h 21600"/>
              <a:gd name="GluePoint3X" fmla="*/ 0 w 21600"/>
              <a:gd name="GluePoint3Y" fmla="*/ 682625 h 21600"/>
            </a:gdLst>
            <a:ahLst/>
            <a:cxnLst>
              <a:cxn ang="0">
                <a:pos x="GluePoint1X" y="GluePoint1Y"/>
              </a:cxn>
              <a:cxn ang="0">
                <a:pos x="GluePoint2X" y="GluePoint2Y"/>
              </a:cxn>
              <a:cxn ang="0">
                <a:pos x="GluePoint3X" y="GluePoint3Y"/>
              </a:cxn>
            </a:cxnLst>
            <a:rect l="l" t="t" r="r" b="b"/>
            <a:pathLst>
              <a:path fill="none" w="21600" h="21600">
                <a:moveTo>
                  <a:pt x="-1" y="0"/>
                </a:moveTo>
                <a:cubicBezTo>
                  <a:pt x="11929" y="0"/>
                  <a:pt x="21600" y="9670"/>
                  <a:pt x="21600" y="21600"/>
                </a:cubicBezTo>
              </a:path>
              <a:path stroke="0" w="21600" h="21600">
                <a:moveTo>
                  <a:pt x="-1" y="0"/>
                </a:moveTo>
                <a:cubicBezTo>
                  <a:pt x="11929" y="0"/>
                  <a:pt x="21600" y="9670"/>
                  <a:pt x="21600" y="21600"/>
                </a:cubicBezTo>
                <a:lnTo>
                  <a:pt x="0" y="21600"/>
                </a:lnTo>
                <a:lnTo>
                  <a:pt x="-1" y="0"/>
                </a:lnTo>
                <a:close/>
              </a:path>
            </a:pathLst>
          </a:custGeom>
          <a:noFill/>
          <a:ln w="57240">
            <a:solidFill>
              <a:srgbClr val="FF6600"/>
            </a:solidFill>
            <a:round/>
          </a:ln>
        </p:spPr>
        <p:style>
          <a:lnRef idx="0"/>
          <a:fillRef idx="0"/>
          <a:effectRef idx="0"/>
          <a:fontRef idx="minor"/>
        </p:style>
        <p:txBody>
          <a:bodyPr wrap="none" lIns="90000" tIns="46800" rIns="90000" bIns="46800" anchor="ctr">
            <a:noAutofit/>
          </a:bodyPr>
          <a:p>
            <a:endParaRPr lang="en-US" sz="2800" b="1" u="none" strike="noStrike">
              <a:solidFill>
                <a:srgbClr val="000000"/>
              </a:solidFill>
              <a:effectLst/>
              <a:uFillTx/>
              <a:latin typeface="Times New Roman"/>
            </a:endParaRPr>
          </a:p>
        </p:txBody>
      </p:sp>
      <p:sp>
        <p:nvSpPr>
          <p:cNvPr id="881" name="Text Box 105"/>
          <p:cNvSpPr/>
          <p:nvPr/>
        </p:nvSpPr>
        <p:spPr>
          <a:xfrm>
            <a:off x="8015400" y="2629080"/>
            <a:ext cx="711000" cy="5796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1</a:t>
            </a:r>
            <a:endParaRPr lang="en-US" sz="2800" b="1" u="none" strike="noStrike">
              <a:solidFill>
                <a:srgbClr val="000000"/>
              </a:solidFill>
              <a:effectLst/>
              <a:uFillTx/>
              <a:latin typeface="Times New Roman"/>
            </a:endParaRPr>
          </a:p>
        </p:txBody>
      </p:sp>
      <p:sp>
        <p:nvSpPr>
          <p:cNvPr id="882" name="Line 106"/>
          <p:cNvSpPr/>
          <p:nvPr/>
        </p:nvSpPr>
        <p:spPr>
          <a:xfrm>
            <a:off x="6985080" y="1771560"/>
            <a:ext cx="0" cy="3527640"/>
          </a:xfrm>
          <a:prstGeom prst="line">
            <a:avLst/>
          </a:prstGeom>
          <a:ln w="57240">
            <a:solidFill>
              <a:srgbClr val="FF66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83" name="Line 107"/>
          <p:cNvSpPr/>
          <p:nvPr/>
        </p:nvSpPr>
        <p:spPr>
          <a:xfrm>
            <a:off x="7027920" y="5300640"/>
            <a:ext cx="884160" cy="0"/>
          </a:xfrm>
          <a:prstGeom prst="line">
            <a:avLst/>
          </a:prstGeom>
          <a:ln w="38160">
            <a:solidFill>
              <a:srgbClr val="FF66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884" name="Group 114"/>
          <p:cNvGrpSpPr/>
          <p:nvPr/>
        </p:nvGrpSpPr>
        <p:grpSpPr>
          <a:xfrm>
            <a:off x="6999120" y="4878360"/>
            <a:ext cx="318960" cy="420840"/>
            <a:chOff x="6999120" y="4878360"/>
            <a:chExt cx="318960" cy="420840"/>
          </a:xfrm>
        </p:grpSpPr>
        <p:sp>
          <p:nvSpPr>
            <p:cNvPr id="885" name="Line 110"/>
            <p:cNvSpPr/>
            <p:nvPr/>
          </p:nvSpPr>
          <p:spPr>
            <a:xfrm>
              <a:off x="6999120" y="4907160"/>
              <a:ext cx="299880" cy="0"/>
            </a:xfrm>
            <a:prstGeom prst="line">
              <a:avLst/>
            </a:prstGeom>
            <a:ln w="57240">
              <a:solidFill>
                <a:srgbClr val="FF66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86" name="Line 111"/>
            <p:cNvSpPr/>
            <p:nvPr/>
          </p:nvSpPr>
          <p:spPr>
            <a:xfrm>
              <a:off x="7318080" y="4878360"/>
              <a:ext cx="0" cy="420840"/>
            </a:xfrm>
            <a:prstGeom prst="line">
              <a:avLst/>
            </a:prstGeom>
            <a:ln w="57240">
              <a:solidFill>
                <a:srgbClr val="FF66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887" name="Text Box 113"/>
          <p:cNvSpPr/>
          <p:nvPr/>
        </p:nvSpPr>
        <p:spPr>
          <a:xfrm>
            <a:off x="7013520" y="4238640"/>
            <a:ext cx="711360" cy="5796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3</a:t>
            </a:r>
            <a:endParaRPr lang="en-US" sz="2800" b="1" u="none" strike="noStrike">
              <a:solidFill>
                <a:srgbClr val="000000"/>
              </a:solidFill>
              <a:effectLst/>
              <a:uFillTx/>
              <a:latin typeface="Times New Roman"/>
            </a:endParaRPr>
          </a:p>
        </p:txBody>
      </p:sp>
      <p:sp>
        <p:nvSpPr>
          <p:cNvPr id="888" name="Line 115"/>
          <p:cNvSpPr/>
          <p:nvPr/>
        </p:nvSpPr>
        <p:spPr>
          <a:xfrm flipH="1">
            <a:off x="4749480" y="1728720"/>
            <a:ext cx="2220840" cy="1741680"/>
          </a:xfrm>
          <a:prstGeom prst="line">
            <a:avLst/>
          </a:prstGeom>
          <a:ln w="57240">
            <a:solidFill>
              <a:srgbClr val="FF66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89" name="Arc 117"/>
          <p:cNvSpPr/>
          <p:nvPr/>
        </p:nvSpPr>
        <p:spPr>
          <a:xfrm>
            <a:off x="5257800" y="3078000"/>
            <a:ext cx="158760" cy="436680"/>
          </a:xfrm>
          <a:custGeom>
            <a:avLst/>
            <a:gdLst>
              <a:gd name="GluePoint1X" fmla="*/ 0 w 21600"/>
              <a:gd name="GluePoint1Y" fmla="*/ 0 h 21600"/>
              <a:gd name="GluePoint2X" fmla="*/ 158750 w 21600"/>
              <a:gd name="GluePoint2Y" fmla="*/ 436562 h 21600"/>
              <a:gd name="GluePoint3X" fmla="*/ 0 w 21600"/>
              <a:gd name="GluePoint3Y" fmla="*/ 436562 h 21600"/>
            </a:gdLst>
            <a:ahLst/>
            <a:cxnLst>
              <a:cxn ang="0">
                <a:pos x="GluePoint1X" y="GluePoint1Y"/>
              </a:cxn>
              <a:cxn ang="0">
                <a:pos x="GluePoint2X" y="GluePoint2Y"/>
              </a:cxn>
              <a:cxn ang="0">
                <a:pos x="GluePoint3X" y="GluePoint3Y"/>
              </a:cxn>
            </a:cxnLst>
            <a:rect l="l" t="t" r="r" b="b"/>
            <a:pathLst>
              <a:path fill="none" w="21600" h="21600">
                <a:moveTo>
                  <a:pt x="-1" y="0"/>
                </a:moveTo>
                <a:cubicBezTo>
                  <a:pt x="11929" y="0"/>
                  <a:pt x="21600" y="9670"/>
                  <a:pt x="21600" y="21600"/>
                </a:cubicBezTo>
              </a:path>
              <a:path stroke="0" w="21600" h="21600">
                <a:moveTo>
                  <a:pt x="-1" y="0"/>
                </a:moveTo>
                <a:cubicBezTo>
                  <a:pt x="11929" y="0"/>
                  <a:pt x="21600" y="9670"/>
                  <a:pt x="21600" y="21600"/>
                </a:cubicBezTo>
                <a:lnTo>
                  <a:pt x="0" y="21600"/>
                </a:lnTo>
                <a:lnTo>
                  <a:pt x="-1" y="0"/>
                </a:lnTo>
                <a:close/>
              </a:path>
            </a:pathLst>
          </a:custGeom>
          <a:noFill/>
          <a:ln w="57240">
            <a:solidFill>
              <a:srgbClr val="FF6600"/>
            </a:solidFill>
            <a:round/>
          </a:ln>
        </p:spPr>
        <p:style>
          <a:lnRef idx="0"/>
          <a:fillRef idx="0"/>
          <a:effectRef idx="0"/>
          <a:fontRef idx="minor"/>
        </p:style>
        <p:txBody>
          <a:bodyPr wrap="none" lIns="90000" tIns="46800" rIns="90000" bIns="46800" anchor="ctr">
            <a:noAutofit/>
          </a:bodyPr>
          <a:p>
            <a:endParaRPr lang="en-US" sz="2800" b="1" u="none" strike="noStrike">
              <a:solidFill>
                <a:srgbClr val="000000"/>
              </a:solidFill>
              <a:effectLst/>
              <a:uFillTx/>
              <a:latin typeface="Times New Roman"/>
            </a:endParaRPr>
          </a:p>
        </p:txBody>
      </p:sp>
      <p:sp>
        <p:nvSpPr>
          <p:cNvPr id="890" name="Text Box 118"/>
          <p:cNvSpPr/>
          <p:nvPr/>
        </p:nvSpPr>
        <p:spPr>
          <a:xfrm>
            <a:off x="5345280" y="2816280"/>
            <a:ext cx="711000" cy="5796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2</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891" name="Object 5"/>
              <p:cNvSpPr txBox="1"/>
              <p:nvPr/>
            </p:nvSpPr>
            <p:spPr>
              <a:xfrm>
                <a:off x="0" y="4689360"/>
                <a:ext cx="6164280" cy="998640"/>
              </a:xfrm>
              <a:prstGeom prst="rect">
                <a:avLst/>
              </a:prstGeom>
            </p:spPr>
            <p:txBody>
              <a:bodyPr/>
              <a:p>
                <a14:m>
                  <m:oMath xmlns:m="http://schemas.openxmlformats.org/officeDocument/2006/math">
                    <m:sSub>
                      <m:e>
                        <m:r>
                          <m:t xml:space="preserve">θ</m:t>
                        </m:r>
                      </m:e>
                      <m:sub>
                        <m:sSub>
                          <m:e>
                            <m:r>
                              <m:t xml:space="preserve">p</m:t>
                            </m:r>
                          </m:e>
                          <m:sub>
                            <m:r>
                              <m:t xml:space="preserve">x</m:t>
                            </m:r>
                          </m:sub>
                        </m:sSub>
                      </m:sub>
                    </m:sSub>
                    <m:r>
                      <m:t xml:space="preserve">=</m:t>
                    </m:r>
                    <m:r>
                      <m:rPr>
                        <m:lit/>
                        <m:nor/>
                      </m:rPr>
                      <m:t xml:space="preserve">180</m:t>
                    </m:r>
                    <m:r>
                      <m:rPr>
                        <m:lit/>
                        <m:nor/>
                      </m:rPr>
                      <m:t xml:space="preserve">°+</m:t>
                    </m:r>
                    <m:nary>
                      <m:naryPr>
                        <m:chr m:val="∑"/>
                      </m:naryPr>
                      <m:sub>
                        <m:r>
                          <m:t xml:space="preserve">i</m:t>
                        </m:r>
                        <m:r>
                          <m:t xml:space="preserve">=</m:t>
                        </m:r>
                        <m:r>
                          <m:t xml:space="preserve">1</m:t>
                        </m:r>
                      </m:sub>
                      <m:sup>
                        <m:r>
                          <m:t xml:space="preserve">m</m:t>
                        </m:r>
                      </m:sup>
                      <m:e>
                        <m:r>
                          <m:t xml:space="preserve">∠</m:t>
                        </m:r>
                        <m:r>
                          <m:t xml:space="preserve">(</m:t>
                        </m:r>
                        <m:sSub>
                          <m:e>
                            <m:r>
                              <m:t xml:space="preserve">p</m:t>
                            </m:r>
                          </m:e>
                          <m:sub>
                            <m:r>
                              <m:t xml:space="preserve">x</m:t>
                            </m:r>
                          </m:sub>
                        </m:sSub>
                        <m:r>
                          <m:t xml:space="preserve">−</m:t>
                        </m:r>
                        <m:sSub>
                          <m:e>
                            <m:r>
                              <m:t xml:space="preserve">z</m:t>
                            </m:r>
                          </m:e>
                          <m:sub>
                            <m:r>
                              <m:t xml:space="preserve">i</m:t>
                            </m:r>
                          </m:sub>
                        </m:sSub>
                        <m:r>
                          <m:t xml:space="preserve">)</m:t>
                        </m:r>
                      </m:e>
                    </m:nary>
                    <m:r>
                      <m:t xml:space="preserve">−</m:t>
                    </m:r>
                    <m:nary>
                      <m:naryPr>
                        <m:chr m:val="∑"/>
                      </m:naryPr>
                      <m:sub>
                        <m:r>
                          <m:t xml:space="preserve">j</m:t>
                        </m:r>
                        <m:r>
                          <m:t xml:space="preserve">=</m:t>
                        </m:r>
                        <m:r>
                          <m:t xml:space="preserve">1</m:t>
                        </m:r>
                        <m:r>
                          <m:t xml:space="preserve">,</m:t>
                        </m:r>
                        <m:r>
                          <m:t xml:space="preserve">j</m:t>
                        </m:r>
                        <m:r>
                          <m:t xml:space="preserve">≠</m:t>
                        </m:r>
                        <m:r>
                          <m:t xml:space="preserve">x</m:t>
                        </m:r>
                      </m:sub>
                      <m:sup>
                        <m:r>
                          <m:t xml:space="preserve">n</m:t>
                        </m:r>
                      </m:sup>
                      <m:e>
                        <m:r>
                          <m:t xml:space="preserve">∠</m:t>
                        </m:r>
                        <m:r>
                          <m:t xml:space="preserve">(</m:t>
                        </m:r>
                        <m:sSub>
                          <m:e>
                            <m:r>
                              <m:t xml:space="preserve">p</m:t>
                            </m:r>
                          </m:e>
                          <m:sub>
                            <m:r>
                              <m:t xml:space="preserve">x</m:t>
                            </m:r>
                          </m:sub>
                        </m:sSub>
                        <m:r>
                          <m:t xml:space="preserve">−</m:t>
                        </m:r>
                        <m:sSub>
                          <m:e>
                            <m:r>
                              <m:t xml:space="preserve">p</m:t>
                            </m:r>
                          </m:e>
                          <m:sub>
                            <m:r>
                              <m:t xml:space="preserve">j</m:t>
                            </m:r>
                          </m:sub>
                        </m:sSub>
                        <m:r>
                          <m:t xml:space="preserve">)</m:t>
                        </m:r>
                      </m:e>
                    </m:nary>
                  </m:oMath>
                </a14:m>
              </a:p>
            </p:txBody>
          </p:sp>
        </mc:Choice>
        <mc:Fallback>
          <p:sp>
            <p:nvSpPr>
              <p:cNvPr id="891" name="Object 5"/>
              <p:cNvSpPr txBox="1"/>
              <p:nvPr/>
            </p:nvSpPr>
            <p:spPr>
              <a:xfrm>
                <a:off x="0" y="4689360"/>
                <a:ext cx="6164280" cy="998640"/>
              </a:xfrm>
              <a:prstGeom prst="rect">
                <a:avLst/>
              </a:prstGeom>
              <a:blipFill>
                <a:blip r:embed="rId2"/>
                <a:stretch>
                  <a:fillRect/>
                </a:stretch>
              </a:blipFill>
            </p:spPr>
          </p:sp>
        </mc:Fallback>
      </mc:AlternateContent>
      <p:sp>
        <p:nvSpPr>
          <p:cNvPr id="892" name="Text Box 120"/>
          <p:cNvSpPr/>
          <p:nvPr/>
        </p:nvSpPr>
        <p:spPr>
          <a:xfrm>
            <a:off x="436680" y="5483160"/>
            <a:ext cx="8985240" cy="127980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180</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1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2 </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3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1</a:t>
            </a:r>
            <a:r>
              <a:rPr lang="en-US" sz="2800" b="1" i="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2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Symbol"/>
                <a:ea typeface="Symbol"/>
              </a:rPr>
              <a:t></a:t>
            </a:r>
            <a:r>
              <a:rPr lang="en-US" sz="2800" b="1" u="none" strike="noStrike" baseline="-25000">
                <a:solidFill>
                  <a:srgbClr val="000000"/>
                </a:solidFill>
                <a:effectLst/>
                <a:uFillTx/>
                <a:latin typeface="Times New Roman"/>
              </a:rPr>
              <a:t>3</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=180</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+ 56.5</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+ 19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+ 59</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108.5</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37</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90</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79</a:t>
            </a:r>
            <a:r>
              <a:rPr lang="en-US" sz="2800" b="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893" name="Line 2"/>
          <p:cNvSpPr/>
          <p:nvPr/>
        </p:nvSpPr>
        <p:spPr>
          <a:xfrm flipH="1">
            <a:off x="6049800" y="3502080"/>
            <a:ext cx="140832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94" name="Line 3"/>
          <p:cNvSpPr/>
          <p:nvPr/>
        </p:nvSpPr>
        <p:spPr>
          <a:xfrm flipH="1">
            <a:off x="3300120" y="3489480"/>
            <a:ext cx="140796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727" dur="indefinite" restart="never" nodeType="tmRoot">
          <p:childTnLst>
            <p:seq>
              <p:cTn id="1728" dur="indefinite" nodeType="mainSeq">
                <p:childTnLst>
                  <p:par>
                    <p:cTn id="1729" fill="hold" nodeType="clickEffect">
                      <p:stCondLst>
                        <p:cond delay="indefinite"/>
                      </p:stCondLst>
                      <p:childTnLst>
                        <p:par>
                          <p:cTn id="1730" fill="hold" nodeType="withEffect">
                            <p:stCondLst>
                              <p:cond delay="0"/>
                            </p:stCondLst>
                            <p:childTnLst>
                              <p:par>
                                <p:cTn id="1731" presetID="2" presetClass="entr" fill="hold" nodeType="clickEffect" presetSubtype="8">
                                  <p:stCondLst>
                                    <p:cond delay="0"/>
                                  </p:stCondLst>
                                  <p:childTnLst>
                                    <p:set>
                                      <p:cBhvr>
                                        <p:cTn id="1732" dur="1" fill="hold">
                                          <p:stCondLst>
                                            <p:cond delay="0"/>
                                          </p:stCondLst>
                                        </p:cTn>
                                        <p:tgtEl>
                                          <p:spTgt spid="853"/>
                                        </p:tgtEl>
                                        <p:attrNameLst>
                                          <p:attrName>style.visibility</p:attrName>
                                        </p:attrNameLst>
                                      </p:cBhvr>
                                      <p:to>
                                        <p:strVal val="visible"/>
                                      </p:to>
                                    </p:set>
                                    <p:anim calcmode="lin" valueType="num">
                                      <p:cBhvr additive="base">
                                        <p:cTn id="1733" dur="500" fill="hold"/>
                                        <p:tgtEl>
                                          <p:spTgt spid="853"/>
                                        </p:tgtEl>
                                        <p:attrNameLst>
                                          <p:attrName>ppt_x</p:attrName>
                                        </p:attrNameLst>
                                      </p:cBhvr>
                                      <p:tavLst>
                                        <p:tav>
                                          <p:val>
                                            <p:strVal val="0-#ppt_w/2"/>
                                          </p:val>
                                        </p:tav>
                                        <p:tav tm="100000">
                                          <p:val>
                                            <p:strVal val="#ppt_x"/>
                                          </p:val>
                                        </p:tav>
                                      </p:tavLst>
                                    </p:anim>
                                    <p:anim calcmode="lin" valueType="num">
                                      <p:cBhvr additive="base">
                                        <p:cTn id="1734" dur="500" fill="hold"/>
                                        <p:tgtEl>
                                          <p:spTgt spid="853"/>
                                        </p:tgtEl>
                                        <p:attrNameLst>
                                          <p:attrName>ppt_y</p:attrName>
                                        </p:attrNameLst>
                                      </p:cBhvr>
                                      <p:tavLst>
                                        <p:tav>
                                          <p:val>
                                            <p:strVal val="#ppt_y"/>
                                          </p:val>
                                        </p:tav>
                                        <p:tav tm="100000">
                                          <p:val>
                                            <p:strVal val="#ppt_y"/>
                                          </p:val>
                                        </p:tav>
                                      </p:tavLst>
                                    </p:anim>
                                  </p:childTnLst>
                                </p:cTn>
                              </p:par>
                            </p:childTnLst>
                          </p:cTn>
                        </p:par>
                      </p:childTnLst>
                    </p:cTn>
                  </p:par>
                  <p:par>
                    <p:cTn id="1735" fill="hold" nodeType="clickEffect">
                      <p:stCondLst>
                        <p:cond delay="indefinite"/>
                      </p:stCondLst>
                      <p:childTnLst>
                        <p:par>
                          <p:cTn id="1736" fill="hold" nodeType="withEffect">
                            <p:stCondLst>
                              <p:cond delay="0"/>
                            </p:stCondLst>
                            <p:childTnLst>
                              <p:par>
                                <p:cTn id="1737" presetID="9" presetClass="entr" fill="hold" nodeType="clickEffect">
                                  <p:stCondLst>
                                    <p:cond delay="0"/>
                                  </p:stCondLst>
                                  <p:childTnLst>
                                    <p:set>
                                      <p:cBhvr>
                                        <p:cTn id="1738" dur="1" fill="hold">
                                          <p:stCondLst>
                                            <p:cond delay="0"/>
                                          </p:stCondLst>
                                        </p:cTn>
                                        <p:tgtEl>
                                          <p:spTgt spid="854"/>
                                        </p:tgtEl>
                                        <p:attrNameLst>
                                          <p:attrName>style.visibility</p:attrName>
                                        </p:attrNameLst>
                                      </p:cBhvr>
                                      <p:to>
                                        <p:strVal val="visible"/>
                                      </p:to>
                                    </p:set>
                                    <p:animEffect transition="in" filter="dissolve">
                                      <p:cBhvr additive="repl">
                                        <p:cTn id="1739" dur="500"/>
                                        <p:tgtEl>
                                          <p:spTgt spid="854"/>
                                        </p:tgtEl>
                                      </p:cBhvr>
                                    </p:animEffect>
                                  </p:childTnLst>
                                </p:cTn>
                              </p:par>
                            </p:childTnLst>
                          </p:cTn>
                        </p:par>
                      </p:childTnLst>
                    </p:cTn>
                  </p:par>
                  <p:par>
                    <p:cTn id="1740" fill="hold" nodeType="clickEffect">
                      <p:stCondLst>
                        <p:cond delay="indefinite"/>
                      </p:stCondLst>
                      <p:childTnLst>
                        <p:par>
                          <p:cTn id="1741" fill="hold" nodeType="withEffect">
                            <p:stCondLst>
                              <p:cond delay="0"/>
                            </p:stCondLst>
                            <p:childTnLst>
                              <p:par>
                                <p:cTn id="1742" presetID="2" presetClass="entr" fill="hold" nodeType="clickEffect" presetSubtype="8">
                                  <p:stCondLst>
                                    <p:cond delay="0"/>
                                  </p:stCondLst>
                                  <p:childTnLst>
                                    <p:set>
                                      <p:cBhvr>
                                        <p:cTn id="1743" dur="1" fill="hold">
                                          <p:stCondLst>
                                            <p:cond delay="0"/>
                                          </p:stCondLst>
                                        </p:cTn>
                                        <p:tgtEl>
                                          <p:spTgt spid="849">
                                            <p:txEl>
                                              <p:pRg st="0" end="0"/>
                                            </p:txEl>
                                          </p:spTgt>
                                        </p:tgtEl>
                                        <p:attrNameLst>
                                          <p:attrName>style.visibility</p:attrName>
                                        </p:attrNameLst>
                                      </p:cBhvr>
                                      <p:to>
                                        <p:strVal val="visible"/>
                                      </p:to>
                                    </p:set>
                                    <p:anim calcmode="lin" valueType="num">
                                      <p:cBhvr additive="base">
                                        <p:cTn id="1744" dur="500" fill="hold"/>
                                        <p:tgtEl>
                                          <p:spTgt spid="849">
                                            <p:txEl>
                                              <p:pRg st="0" end="0"/>
                                            </p:txEl>
                                          </p:spTgt>
                                        </p:tgtEl>
                                        <p:attrNameLst>
                                          <p:attrName>ppt_x</p:attrName>
                                        </p:attrNameLst>
                                      </p:cBhvr>
                                      <p:tavLst>
                                        <p:tav>
                                          <p:val>
                                            <p:strVal val="0-#ppt_w/2"/>
                                          </p:val>
                                        </p:tav>
                                        <p:tav tm="100000">
                                          <p:val>
                                            <p:strVal val="#ppt_x"/>
                                          </p:val>
                                        </p:tav>
                                      </p:tavLst>
                                    </p:anim>
                                    <p:anim calcmode="lin" valueType="num">
                                      <p:cBhvr additive="base">
                                        <p:cTn id="1745" dur="500" fill="hold"/>
                                        <p:tgtEl>
                                          <p:spTgt spid="849">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746" fill="hold" nodeType="clickEffect">
                      <p:stCondLst>
                        <p:cond delay="indefinite"/>
                      </p:stCondLst>
                      <p:childTnLst>
                        <p:par>
                          <p:cTn id="1747" fill="hold" nodeType="withEffect">
                            <p:stCondLst>
                              <p:cond delay="0"/>
                            </p:stCondLst>
                            <p:childTnLst>
                              <p:par>
                                <p:cTn id="1748" presetID="2" presetClass="entr" fill="hold" nodeType="clickEffect" presetSubtype="8">
                                  <p:stCondLst>
                                    <p:cond delay="0"/>
                                  </p:stCondLst>
                                  <p:childTnLst>
                                    <p:set>
                                      <p:cBhvr>
                                        <p:cTn id="1749" dur="1" fill="hold">
                                          <p:stCondLst>
                                            <p:cond delay="0"/>
                                          </p:stCondLst>
                                        </p:cTn>
                                        <p:tgtEl>
                                          <p:spTgt spid="849">
                                            <p:txEl>
                                              <p:pRg st="1" end="1"/>
                                            </p:txEl>
                                          </p:spTgt>
                                        </p:tgtEl>
                                        <p:attrNameLst>
                                          <p:attrName>style.visibility</p:attrName>
                                        </p:attrNameLst>
                                      </p:cBhvr>
                                      <p:to>
                                        <p:strVal val="visible"/>
                                      </p:to>
                                    </p:set>
                                    <p:anim calcmode="lin" valueType="num">
                                      <p:cBhvr additive="base">
                                        <p:cTn id="1750" dur="500" fill="hold"/>
                                        <p:tgtEl>
                                          <p:spTgt spid="849">
                                            <p:txEl>
                                              <p:pRg st="1" end="1"/>
                                            </p:txEl>
                                          </p:spTgt>
                                        </p:tgtEl>
                                        <p:attrNameLst>
                                          <p:attrName>ppt_x</p:attrName>
                                        </p:attrNameLst>
                                      </p:cBhvr>
                                      <p:tavLst>
                                        <p:tav>
                                          <p:val>
                                            <p:strVal val="0-#ppt_w/2"/>
                                          </p:val>
                                        </p:tav>
                                        <p:tav tm="100000">
                                          <p:val>
                                            <p:strVal val="#ppt_x"/>
                                          </p:val>
                                        </p:tav>
                                      </p:tavLst>
                                    </p:anim>
                                    <p:anim calcmode="lin" valueType="num">
                                      <p:cBhvr additive="base">
                                        <p:cTn id="1751" dur="500" fill="hold"/>
                                        <p:tgtEl>
                                          <p:spTgt spid="849">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1752" fill="hold" nodeType="clickEffect">
                      <p:stCondLst>
                        <p:cond delay="indefinite"/>
                      </p:stCondLst>
                      <p:childTnLst>
                        <p:par>
                          <p:cTn id="1753" fill="hold" nodeType="withEffect">
                            <p:stCondLst>
                              <p:cond delay="0"/>
                            </p:stCondLst>
                            <p:childTnLst>
                              <p:par>
                                <p:cTn id="1754" presetID="9" presetClass="entr" fill="hold" nodeType="clickEffect">
                                  <p:stCondLst>
                                    <p:cond delay="0"/>
                                  </p:stCondLst>
                                  <p:childTnLst>
                                    <p:set>
                                      <p:cBhvr>
                                        <p:cTn id="1755" dur="1" fill="hold">
                                          <p:stCondLst>
                                            <p:cond delay="0"/>
                                          </p:stCondLst>
                                        </p:cTn>
                                        <p:tgtEl>
                                          <p:spTgt spid="825"/>
                                        </p:tgtEl>
                                        <p:attrNameLst>
                                          <p:attrName>style.visibility</p:attrName>
                                        </p:attrNameLst>
                                      </p:cBhvr>
                                      <p:to>
                                        <p:strVal val="visible"/>
                                      </p:to>
                                    </p:set>
                                    <p:animEffect transition="in" filter="dissolve">
                                      <p:cBhvr additive="repl">
                                        <p:cTn id="1756" dur="500"/>
                                        <p:tgtEl>
                                          <p:spTgt spid="825"/>
                                        </p:tgtEl>
                                      </p:cBhvr>
                                    </p:animEffect>
                                  </p:childTnLst>
                                </p:cTn>
                              </p:par>
                            </p:childTnLst>
                          </p:cTn>
                        </p:par>
                      </p:childTnLst>
                    </p:cTn>
                  </p:par>
                  <p:par>
                    <p:cTn id="1757" fill="hold" nodeType="clickEffect">
                      <p:stCondLst>
                        <p:cond delay="indefinite"/>
                      </p:stCondLst>
                      <p:childTnLst>
                        <p:par>
                          <p:cTn id="1758" fill="hold" nodeType="withEffect">
                            <p:stCondLst>
                              <p:cond delay="0"/>
                            </p:stCondLst>
                            <p:childTnLst>
                              <p:par>
                                <p:cTn id="1759" presetID="9" presetClass="entr" fill="hold" nodeType="clickEffect">
                                  <p:stCondLst>
                                    <p:cond delay="0"/>
                                  </p:stCondLst>
                                  <p:childTnLst>
                                    <p:set>
                                      <p:cBhvr>
                                        <p:cTn id="1760" dur="1" fill="hold">
                                          <p:stCondLst>
                                            <p:cond delay="0"/>
                                          </p:stCondLst>
                                        </p:cTn>
                                        <p:tgtEl>
                                          <p:spTgt spid="861"/>
                                        </p:tgtEl>
                                        <p:attrNameLst>
                                          <p:attrName>style.visibility</p:attrName>
                                        </p:attrNameLst>
                                      </p:cBhvr>
                                      <p:to>
                                        <p:strVal val="visible"/>
                                      </p:to>
                                    </p:set>
                                    <p:animEffect transition="in" filter="dissolve">
                                      <p:cBhvr additive="repl">
                                        <p:cTn id="1761" dur="500"/>
                                        <p:tgtEl>
                                          <p:spTgt spid="861"/>
                                        </p:tgtEl>
                                      </p:cBhvr>
                                    </p:animEffect>
                                  </p:childTnLst>
                                </p:cTn>
                              </p:par>
                            </p:childTnLst>
                          </p:cTn>
                        </p:par>
                        <p:par>
                          <p:cTn id="1762" fill="hold" nodeType="afterEffect">
                            <p:stCondLst>
                              <p:cond delay="500"/>
                            </p:stCondLst>
                            <p:childTnLst>
                              <p:par>
                                <p:cTn id="1763" presetID="9" presetClass="entr" fill="hold" nodeType="afterEffect">
                                  <p:stCondLst>
                                    <p:cond delay="0"/>
                                  </p:stCondLst>
                                  <p:childTnLst>
                                    <p:set>
                                      <p:cBhvr>
                                        <p:cTn id="1764" dur="1" fill="hold">
                                          <p:stCondLst>
                                            <p:cond delay="0"/>
                                          </p:stCondLst>
                                        </p:cTn>
                                        <p:tgtEl>
                                          <p:spTgt spid="866"/>
                                        </p:tgtEl>
                                        <p:attrNameLst>
                                          <p:attrName>style.visibility</p:attrName>
                                        </p:attrNameLst>
                                      </p:cBhvr>
                                      <p:to>
                                        <p:strVal val="visible"/>
                                      </p:to>
                                    </p:set>
                                    <p:animEffect transition="in" filter="dissolve">
                                      <p:cBhvr additive="repl">
                                        <p:cTn id="1765" dur="500"/>
                                        <p:tgtEl>
                                          <p:spTgt spid="866"/>
                                        </p:tgtEl>
                                      </p:cBhvr>
                                    </p:animEffect>
                                  </p:childTnLst>
                                </p:cTn>
                              </p:par>
                            </p:childTnLst>
                          </p:cTn>
                        </p:par>
                        <p:par>
                          <p:cTn id="1766" fill="hold" nodeType="afterEffect">
                            <p:stCondLst>
                              <p:cond delay="1000"/>
                            </p:stCondLst>
                            <p:childTnLst>
                              <p:par>
                                <p:cTn id="1767" presetID="9" presetClass="entr" fill="hold" nodeType="afterEffect">
                                  <p:stCondLst>
                                    <p:cond delay="0"/>
                                  </p:stCondLst>
                                  <p:childTnLst>
                                    <p:set>
                                      <p:cBhvr>
                                        <p:cTn id="1768" dur="1" fill="hold">
                                          <p:stCondLst>
                                            <p:cond delay="0"/>
                                          </p:stCondLst>
                                        </p:cTn>
                                        <p:tgtEl>
                                          <p:spTgt spid="850"/>
                                        </p:tgtEl>
                                        <p:attrNameLst>
                                          <p:attrName>style.visibility</p:attrName>
                                        </p:attrNameLst>
                                      </p:cBhvr>
                                      <p:to>
                                        <p:strVal val="visible"/>
                                      </p:to>
                                    </p:set>
                                    <p:animEffect transition="in" filter="dissolve">
                                      <p:cBhvr additive="repl">
                                        <p:cTn id="1769" dur="500"/>
                                        <p:tgtEl>
                                          <p:spTgt spid="850"/>
                                        </p:tgtEl>
                                      </p:cBhvr>
                                    </p:animEffect>
                                  </p:childTnLst>
                                </p:cTn>
                              </p:par>
                            </p:childTnLst>
                          </p:cTn>
                        </p:par>
                        <p:par>
                          <p:cTn id="1770" fill="hold" nodeType="afterEffect">
                            <p:stCondLst>
                              <p:cond delay="1500"/>
                            </p:stCondLst>
                            <p:childTnLst>
                              <p:par>
                                <p:cTn id="1771" presetID="9" presetClass="entr" fill="hold" nodeType="afterEffect">
                                  <p:stCondLst>
                                    <p:cond delay="0"/>
                                  </p:stCondLst>
                                  <p:childTnLst>
                                    <p:set>
                                      <p:cBhvr>
                                        <p:cTn id="1772" dur="1" fill="hold">
                                          <p:stCondLst>
                                            <p:cond delay="0"/>
                                          </p:stCondLst>
                                        </p:cTn>
                                        <p:tgtEl>
                                          <p:spTgt spid="858"/>
                                        </p:tgtEl>
                                        <p:attrNameLst>
                                          <p:attrName>style.visibility</p:attrName>
                                        </p:attrNameLst>
                                      </p:cBhvr>
                                      <p:to>
                                        <p:strVal val="visible"/>
                                      </p:to>
                                    </p:set>
                                    <p:animEffect transition="in" filter="dissolve">
                                      <p:cBhvr additive="repl">
                                        <p:cTn id="1773" dur="500"/>
                                        <p:tgtEl>
                                          <p:spTgt spid="858"/>
                                        </p:tgtEl>
                                      </p:cBhvr>
                                    </p:animEffect>
                                  </p:childTnLst>
                                </p:cTn>
                              </p:par>
                            </p:childTnLst>
                          </p:cTn>
                        </p:par>
                      </p:childTnLst>
                    </p:cTn>
                  </p:par>
                  <p:par>
                    <p:cTn id="1774" fill="hold" nodeType="clickEffect">
                      <p:stCondLst>
                        <p:cond delay="indefinite"/>
                      </p:stCondLst>
                      <p:childTnLst>
                        <p:par>
                          <p:cTn id="1775" fill="hold" nodeType="withEffect">
                            <p:stCondLst>
                              <p:cond delay="0"/>
                            </p:stCondLst>
                            <p:childTnLst>
                              <p:par>
                                <p:cTn id="1776" presetID="9" presetClass="entr" fill="hold" nodeType="clickEffect">
                                  <p:stCondLst>
                                    <p:cond delay="0"/>
                                  </p:stCondLst>
                                  <p:childTnLst>
                                    <p:set>
                                      <p:cBhvr>
                                        <p:cTn id="1777" dur="1" fill="hold">
                                          <p:stCondLst>
                                            <p:cond delay="0"/>
                                          </p:stCondLst>
                                        </p:cTn>
                                        <p:tgtEl>
                                          <p:spTgt spid="855"/>
                                        </p:tgtEl>
                                        <p:attrNameLst>
                                          <p:attrName>style.visibility</p:attrName>
                                        </p:attrNameLst>
                                      </p:cBhvr>
                                      <p:to>
                                        <p:strVal val="visible"/>
                                      </p:to>
                                    </p:set>
                                    <p:animEffect transition="in" filter="dissolve">
                                      <p:cBhvr additive="repl">
                                        <p:cTn id="1778" dur="500"/>
                                        <p:tgtEl>
                                          <p:spTgt spid="855"/>
                                        </p:tgtEl>
                                      </p:cBhvr>
                                    </p:animEffect>
                                  </p:childTnLst>
                                </p:cTn>
                              </p:par>
                            </p:childTnLst>
                          </p:cTn>
                        </p:par>
                        <p:par>
                          <p:cTn id="1779" fill="hold" nodeType="afterEffect">
                            <p:stCondLst>
                              <p:cond delay="500"/>
                            </p:stCondLst>
                            <p:childTnLst>
                              <p:par>
                                <p:cTn id="1780" presetID="9" presetClass="entr" fill="hold" nodeType="afterEffect">
                                  <p:stCondLst>
                                    <p:cond delay="0"/>
                                  </p:stCondLst>
                                  <p:childTnLst>
                                    <p:set>
                                      <p:cBhvr>
                                        <p:cTn id="1781" dur="1" fill="hold">
                                          <p:stCondLst>
                                            <p:cond delay="0"/>
                                          </p:stCondLst>
                                        </p:cTn>
                                        <p:tgtEl>
                                          <p:spTgt spid="857"/>
                                        </p:tgtEl>
                                        <p:attrNameLst>
                                          <p:attrName>style.visibility</p:attrName>
                                        </p:attrNameLst>
                                      </p:cBhvr>
                                      <p:to>
                                        <p:strVal val="visible"/>
                                      </p:to>
                                    </p:set>
                                    <p:animEffect transition="in" filter="dissolve">
                                      <p:cBhvr additive="repl">
                                        <p:cTn id="1782" dur="500"/>
                                        <p:tgtEl>
                                          <p:spTgt spid="857"/>
                                        </p:tgtEl>
                                      </p:cBhvr>
                                    </p:animEffect>
                                  </p:childTnLst>
                                </p:cTn>
                              </p:par>
                            </p:childTnLst>
                          </p:cTn>
                        </p:par>
                        <p:par>
                          <p:cTn id="1783" fill="hold" nodeType="afterEffect">
                            <p:stCondLst>
                              <p:cond delay="1000"/>
                            </p:stCondLst>
                            <p:childTnLst>
                              <p:par>
                                <p:cTn id="1784" presetID="9" presetClass="entr" fill="hold" nodeType="afterEffect">
                                  <p:stCondLst>
                                    <p:cond delay="0"/>
                                  </p:stCondLst>
                                  <p:childTnLst>
                                    <p:set>
                                      <p:cBhvr>
                                        <p:cTn id="1785" dur="1" fill="hold">
                                          <p:stCondLst>
                                            <p:cond delay="0"/>
                                          </p:stCondLst>
                                        </p:cTn>
                                        <p:tgtEl>
                                          <p:spTgt spid="856"/>
                                        </p:tgtEl>
                                        <p:attrNameLst>
                                          <p:attrName>style.visibility</p:attrName>
                                        </p:attrNameLst>
                                      </p:cBhvr>
                                      <p:to>
                                        <p:strVal val="visible"/>
                                      </p:to>
                                    </p:set>
                                    <p:animEffect transition="in" filter="dissolve">
                                      <p:cBhvr additive="repl">
                                        <p:cTn id="1786" dur="500"/>
                                        <p:tgtEl>
                                          <p:spTgt spid="856"/>
                                        </p:tgtEl>
                                      </p:cBhvr>
                                    </p:animEffect>
                                  </p:childTnLst>
                                </p:cTn>
                              </p:par>
                            </p:childTnLst>
                          </p:cTn>
                        </p:par>
                      </p:childTnLst>
                    </p:cTn>
                  </p:par>
                  <p:par>
                    <p:cTn id="1787" fill="hold" nodeType="clickEffect">
                      <p:stCondLst>
                        <p:cond delay="indefinite"/>
                      </p:stCondLst>
                      <p:childTnLst>
                        <p:par>
                          <p:cTn id="1788" fill="hold" nodeType="withEffect">
                            <p:stCondLst>
                              <p:cond delay="0"/>
                            </p:stCondLst>
                            <p:childTnLst>
                              <p:par>
                                <p:cTn id="1789" presetID="22" presetClass="entr" fill="hold" nodeType="clickEffect" presetSubtype="2">
                                  <p:stCondLst>
                                    <p:cond delay="0"/>
                                  </p:stCondLst>
                                  <p:childTnLst>
                                    <p:set>
                                      <p:cBhvr>
                                        <p:cTn id="1790" dur="1" fill="hold">
                                          <p:stCondLst>
                                            <p:cond delay="0"/>
                                          </p:stCondLst>
                                        </p:cTn>
                                        <p:tgtEl>
                                          <p:spTgt spid="893"/>
                                        </p:tgtEl>
                                        <p:attrNameLst>
                                          <p:attrName>style.visibility</p:attrName>
                                        </p:attrNameLst>
                                      </p:cBhvr>
                                      <p:to>
                                        <p:strVal val="visible"/>
                                      </p:to>
                                    </p:set>
                                    <p:animEffect transition="in" filter="wipe(right)">
                                      <p:cBhvr additive="repl">
                                        <p:cTn id="1791" dur="500"/>
                                        <p:tgtEl>
                                          <p:spTgt spid="893"/>
                                        </p:tgtEl>
                                      </p:cBhvr>
                                    </p:animEffect>
                                  </p:childTnLst>
                                </p:cTn>
                              </p:par>
                            </p:childTnLst>
                          </p:cTn>
                        </p:par>
                      </p:childTnLst>
                    </p:cTn>
                  </p:par>
                  <p:par>
                    <p:cTn id="1792" fill="hold" nodeType="clickEffect">
                      <p:stCondLst>
                        <p:cond delay="indefinite"/>
                      </p:stCondLst>
                      <p:childTnLst>
                        <p:par>
                          <p:cTn id="1793" fill="hold" nodeType="withEffect">
                            <p:stCondLst>
                              <p:cond delay="0"/>
                            </p:stCondLst>
                            <p:childTnLst>
                              <p:par>
                                <p:cTn id="1794" presetID="22" presetClass="entr" fill="hold" nodeType="clickEffect" presetSubtype="2">
                                  <p:stCondLst>
                                    <p:cond delay="0"/>
                                  </p:stCondLst>
                                  <p:childTnLst>
                                    <p:set>
                                      <p:cBhvr>
                                        <p:cTn id="1795" dur="1" fill="hold">
                                          <p:stCondLst>
                                            <p:cond delay="0"/>
                                          </p:stCondLst>
                                        </p:cTn>
                                        <p:tgtEl>
                                          <p:spTgt spid="894"/>
                                        </p:tgtEl>
                                        <p:attrNameLst>
                                          <p:attrName>style.visibility</p:attrName>
                                        </p:attrNameLst>
                                      </p:cBhvr>
                                      <p:to>
                                        <p:strVal val="visible"/>
                                      </p:to>
                                    </p:set>
                                    <p:animEffect transition="in" filter="wipe(right)">
                                      <p:cBhvr additive="repl">
                                        <p:cTn id="1796" dur="500"/>
                                        <p:tgtEl>
                                          <p:spTgt spid="894"/>
                                        </p:tgtEl>
                                      </p:cBhvr>
                                    </p:animEffect>
                                  </p:childTnLst>
                                </p:cTn>
                              </p:par>
                            </p:childTnLst>
                          </p:cTn>
                        </p:par>
                      </p:childTnLst>
                    </p:cTn>
                  </p:par>
                  <p:par>
                    <p:cTn id="1797" fill="hold" nodeType="clickEffect">
                      <p:stCondLst>
                        <p:cond delay="indefinite"/>
                      </p:stCondLst>
                      <p:childTnLst>
                        <p:par>
                          <p:cTn id="1798" fill="hold" nodeType="withEffect">
                            <p:stCondLst>
                              <p:cond delay="0"/>
                            </p:stCondLst>
                            <p:childTnLst>
                              <p:par>
                                <p:cTn id="1799" presetID="3" presetClass="entr" fill="hold" nodeType="clickEffect" presetSubtype="10">
                                  <p:stCondLst>
                                    <p:cond delay="0"/>
                                  </p:stCondLst>
                                  <p:childTnLst>
                                    <p:set>
                                      <p:cBhvr>
                                        <p:cTn id="1800" dur="1" fill="hold">
                                          <p:stCondLst>
                                            <p:cond delay="0"/>
                                          </p:stCondLst>
                                        </p:cTn>
                                        <p:tgtEl>
                                          <p:spTgt spid="865"/>
                                        </p:tgtEl>
                                        <p:attrNameLst>
                                          <p:attrName>style.visibility</p:attrName>
                                        </p:attrNameLst>
                                      </p:cBhvr>
                                      <p:to>
                                        <p:strVal val="visible"/>
                                      </p:to>
                                    </p:set>
                                    <p:animEffect transition="in" filter="blinds(horizontal)">
                                      <p:cBhvr additive="repl">
                                        <p:cTn id="1801" dur="500"/>
                                        <p:tgtEl>
                                          <p:spTgt spid="865"/>
                                        </p:tgtEl>
                                      </p:cBhvr>
                                    </p:animEffect>
                                  </p:childTnLst>
                                </p:cTn>
                              </p:par>
                            </p:childTnLst>
                          </p:cTn>
                        </p:par>
                      </p:childTnLst>
                    </p:cTn>
                  </p:par>
                  <p:par>
                    <p:cTn id="1802" fill="hold" nodeType="clickEffect">
                      <p:stCondLst>
                        <p:cond delay="indefinite"/>
                      </p:stCondLst>
                      <p:childTnLst>
                        <p:par>
                          <p:cTn id="1803" fill="hold" nodeType="withEffect">
                            <p:stCondLst>
                              <p:cond delay="0"/>
                            </p:stCondLst>
                            <p:childTnLst>
                              <p:par>
                                <p:cTn id="1804" presetID="22" presetClass="entr" fill="hold" nodeType="clickEffect" presetSubtype="1">
                                  <p:stCondLst>
                                    <p:cond delay="0"/>
                                  </p:stCondLst>
                                  <p:childTnLst>
                                    <p:set>
                                      <p:cBhvr>
                                        <p:cTn id="1805" dur="1" fill="hold">
                                          <p:stCondLst>
                                            <p:cond delay="0"/>
                                          </p:stCondLst>
                                        </p:cTn>
                                        <p:tgtEl>
                                          <p:spTgt spid="869"/>
                                        </p:tgtEl>
                                        <p:attrNameLst>
                                          <p:attrName>style.visibility</p:attrName>
                                        </p:attrNameLst>
                                      </p:cBhvr>
                                      <p:to>
                                        <p:strVal val="visible"/>
                                      </p:to>
                                    </p:set>
                                    <p:animEffect transition="in" filter="wipe(up)">
                                      <p:cBhvr additive="repl">
                                        <p:cTn id="1806" dur="500"/>
                                        <p:tgtEl>
                                          <p:spTgt spid="869"/>
                                        </p:tgtEl>
                                      </p:cBhvr>
                                    </p:animEffect>
                                  </p:childTnLst>
                                </p:cTn>
                              </p:par>
                            </p:childTnLst>
                          </p:cTn>
                        </p:par>
                        <p:par>
                          <p:cTn id="1807" fill="hold" nodeType="afterEffect">
                            <p:stCondLst>
                              <p:cond delay="500"/>
                            </p:stCondLst>
                            <p:childTnLst>
                              <p:par>
                                <p:cTn id="1808" presetID="9" presetClass="entr" fill="hold" nodeType="afterEffect">
                                  <p:stCondLst>
                                    <p:cond delay="0"/>
                                  </p:stCondLst>
                                  <p:childTnLst>
                                    <p:set>
                                      <p:cBhvr>
                                        <p:cTn id="1809" dur="1" fill="hold">
                                          <p:stCondLst>
                                            <p:cond delay="0"/>
                                          </p:stCondLst>
                                        </p:cTn>
                                        <p:tgtEl>
                                          <p:spTgt spid="870"/>
                                        </p:tgtEl>
                                        <p:attrNameLst>
                                          <p:attrName>style.visibility</p:attrName>
                                        </p:attrNameLst>
                                      </p:cBhvr>
                                      <p:to>
                                        <p:strVal val="visible"/>
                                      </p:to>
                                    </p:set>
                                    <p:animEffect transition="in" filter="dissolve">
                                      <p:cBhvr additive="repl">
                                        <p:cTn id="1810" dur="500"/>
                                        <p:tgtEl>
                                          <p:spTgt spid="870"/>
                                        </p:tgtEl>
                                      </p:cBhvr>
                                    </p:animEffect>
                                  </p:childTnLst>
                                </p:cTn>
                              </p:par>
                            </p:childTnLst>
                          </p:cTn>
                        </p:par>
                        <p:par>
                          <p:cTn id="1811" fill="hold" nodeType="afterEffect">
                            <p:stCondLst>
                              <p:cond delay="1000"/>
                            </p:stCondLst>
                            <p:childTnLst>
                              <p:par>
                                <p:cTn id="1812" presetID="9" presetClass="entr" fill="hold" nodeType="afterEffect">
                                  <p:stCondLst>
                                    <p:cond delay="0"/>
                                  </p:stCondLst>
                                  <p:childTnLst>
                                    <p:set>
                                      <p:cBhvr>
                                        <p:cTn id="1813" dur="1" fill="hold">
                                          <p:stCondLst>
                                            <p:cond delay="0"/>
                                          </p:stCondLst>
                                        </p:cTn>
                                        <p:tgtEl>
                                          <p:spTgt spid="871"/>
                                        </p:tgtEl>
                                        <p:attrNameLst>
                                          <p:attrName>style.visibility</p:attrName>
                                        </p:attrNameLst>
                                      </p:cBhvr>
                                      <p:to>
                                        <p:strVal val="visible"/>
                                      </p:to>
                                    </p:set>
                                    <p:animEffect transition="in" filter="dissolve">
                                      <p:cBhvr additive="repl">
                                        <p:cTn id="1814" dur="500"/>
                                        <p:tgtEl>
                                          <p:spTgt spid="871"/>
                                        </p:tgtEl>
                                      </p:cBhvr>
                                    </p:animEffect>
                                  </p:childTnLst>
                                </p:cTn>
                              </p:par>
                            </p:childTnLst>
                          </p:cTn>
                        </p:par>
                      </p:childTnLst>
                    </p:cTn>
                  </p:par>
                  <p:par>
                    <p:cTn id="1815" fill="hold" nodeType="clickEffect">
                      <p:stCondLst>
                        <p:cond delay="indefinite"/>
                      </p:stCondLst>
                      <p:childTnLst>
                        <p:par>
                          <p:cTn id="1816" fill="hold" nodeType="withEffect">
                            <p:stCondLst>
                              <p:cond delay="0"/>
                            </p:stCondLst>
                            <p:childTnLst>
                              <p:par>
                                <p:cTn id="1817" presetID="22" presetClass="entr" fill="hold" nodeType="clickEffect" presetSubtype="1">
                                  <p:stCondLst>
                                    <p:cond delay="0"/>
                                  </p:stCondLst>
                                  <p:childTnLst>
                                    <p:set>
                                      <p:cBhvr>
                                        <p:cTn id="1818" dur="1" fill="hold">
                                          <p:stCondLst>
                                            <p:cond delay="0"/>
                                          </p:stCondLst>
                                        </p:cTn>
                                        <p:tgtEl>
                                          <p:spTgt spid="872"/>
                                        </p:tgtEl>
                                        <p:attrNameLst>
                                          <p:attrName>style.visibility</p:attrName>
                                        </p:attrNameLst>
                                      </p:cBhvr>
                                      <p:to>
                                        <p:strVal val="visible"/>
                                      </p:to>
                                    </p:set>
                                    <p:animEffect transition="in" filter="wipe(up)">
                                      <p:cBhvr additive="repl">
                                        <p:cTn id="1819" dur="500"/>
                                        <p:tgtEl>
                                          <p:spTgt spid="872"/>
                                        </p:tgtEl>
                                      </p:cBhvr>
                                    </p:animEffect>
                                  </p:childTnLst>
                                </p:cTn>
                              </p:par>
                            </p:childTnLst>
                          </p:cTn>
                        </p:par>
                        <p:par>
                          <p:cTn id="1820" fill="hold" nodeType="afterEffect">
                            <p:stCondLst>
                              <p:cond delay="500"/>
                            </p:stCondLst>
                            <p:childTnLst>
                              <p:par>
                                <p:cTn id="1821" presetID="22" presetClass="entr" fill="hold" nodeType="afterEffect" presetSubtype="8">
                                  <p:stCondLst>
                                    <p:cond delay="0"/>
                                  </p:stCondLst>
                                  <p:childTnLst>
                                    <p:set>
                                      <p:cBhvr>
                                        <p:cTn id="1822" dur="1" fill="hold">
                                          <p:stCondLst>
                                            <p:cond delay="0"/>
                                          </p:stCondLst>
                                        </p:cTn>
                                        <p:tgtEl>
                                          <p:spTgt spid="864"/>
                                        </p:tgtEl>
                                        <p:attrNameLst>
                                          <p:attrName>style.visibility</p:attrName>
                                        </p:attrNameLst>
                                      </p:cBhvr>
                                      <p:to>
                                        <p:strVal val="visible"/>
                                      </p:to>
                                    </p:set>
                                    <p:animEffect transition="in" filter="wipe(left)">
                                      <p:cBhvr additive="repl">
                                        <p:cTn id="1823" dur="500"/>
                                        <p:tgtEl>
                                          <p:spTgt spid="864"/>
                                        </p:tgtEl>
                                      </p:cBhvr>
                                    </p:animEffect>
                                  </p:childTnLst>
                                </p:cTn>
                              </p:par>
                            </p:childTnLst>
                          </p:cTn>
                        </p:par>
                        <p:par>
                          <p:cTn id="1824" fill="hold" nodeType="afterEffect">
                            <p:stCondLst>
                              <p:cond delay="1000"/>
                            </p:stCondLst>
                            <p:childTnLst>
                              <p:par>
                                <p:cTn id="1825" presetID="9" presetClass="entr" fill="hold" nodeType="afterEffect">
                                  <p:stCondLst>
                                    <p:cond delay="0"/>
                                  </p:stCondLst>
                                  <p:childTnLst>
                                    <p:set>
                                      <p:cBhvr>
                                        <p:cTn id="1826" dur="1" fill="hold">
                                          <p:stCondLst>
                                            <p:cond delay="0"/>
                                          </p:stCondLst>
                                        </p:cTn>
                                        <p:tgtEl>
                                          <p:spTgt spid="873"/>
                                        </p:tgtEl>
                                        <p:attrNameLst>
                                          <p:attrName>style.visibility</p:attrName>
                                        </p:attrNameLst>
                                      </p:cBhvr>
                                      <p:to>
                                        <p:strVal val="visible"/>
                                      </p:to>
                                    </p:set>
                                    <p:animEffect transition="in" filter="dissolve">
                                      <p:cBhvr additive="repl">
                                        <p:cTn id="1827" dur="500"/>
                                        <p:tgtEl>
                                          <p:spTgt spid="873"/>
                                        </p:tgtEl>
                                      </p:cBhvr>
                                    </p:animEffect>
                                  </p:childTnLst>
                                </p:cTn>
                              </p:par>
                            </p:childTnLst>
                          </p:cTn>
                        </p:par>
                        <p:par>
                          <p:cTn id="1828" fill="hold" nodeType="afterEffect">
                            <p:stCondLst>
                              <p:cond delay="1500"/>
                            </p:stCondLst>
                            <p:childTnLst>
                              <p:par>
                                <p:cTn id="1829" presetID="9" presetClass="entr" fill="hold" nodeType="afterEffect">
                                  <p:stCondLst>
                                    <p:cond delay="0"/>
                                  </p:stCondLst>
                                  <p:childTnLst>
                                    <p:set>
                                      <p:cBhvr>
                                        <p:cTn id="1830" dur="1" fill="hold">
                                          <p:stCondLst>
                                            <p:cond delay="0"/>
                                          </p:stCondLst>
                                        </p:cTn>
                                        <p:tgtEl>
                                          <p:spTgt spid="874"/>
                                        </p:tgtEl>
                                        <p:attrNameLst>
                                          <p:attrName>style.visibility</p:attrName>
                                        </p:attrNameLst>
                                      </p:cBhvr>
                                      <p:to>
                                        <p:strVal val="visible"/>
                                      </p:to>
                                    </p:set>
                                    <p:animEffect transition="in" filter="dissolve">
                                      <p:cBhvr additive="repl">
                                        <p:cTn id="1831" dur="500"/>
                                        <p:tgtEl>
                                          <p:spTgt spid="874"/>
                                        </p:tgtEl>
                                      </p:cBhvr>
                                    </p:animEffect>
                                  </p:childTnLst>
                                </p:cTn>
                              </p:par>
                            </p:childTnLst>
                          </p:cTn>
                        </p:par>
                      </p:childTnLst>
                    </p:cTn>
                  </p:par>
                  <p:par>
                    <p:cTn id="1832" fill="hold" nodeType="clickEffect">
                      <p:stCondLst>
                        <p:cond delay="indefinite"/>
                      </p:stCondLst>
                      <p:childTnLst>
                        <p:par>
                          <p:cTn id="1833" fill="hold" nodeType="withEffect">
                            <p:stCondLst>
                              <p:cond delay="0"/>
                            </p:stCondLst>
                            <p:childTnLst>
                              <p:par>
                                <p:cTn id="1834" presetID="22" presetClass="entr" fill="hold" nodeType="clickEffect" presetSubtype="1">
                                  <p:stCondLst>
                                    <p:cond delay="0"/>
                                  </p:stCondLst>
                                  <p:childTnLst>
                                    <p:set>
                                      <p:cBhvr>
                                        <p:cTn id="1835" dur="1" fill="hold">
                                          <p:stCondLst>
                                            <p:cond delay="0"/>
                                          </p:stCondLst>
                                        </p:cTn>
                                        <p:tgtEl>
                                          <p:spTgt spid="875"/>
                                        </p:tgtEl>
                                        <p:attrNameLst>
                                          <p:attrName>style.visibility</p:attrName>
                                        </p:attrNameLst>
                                      </p:cBhvr>
                                      <p:to>
                                        <p:strVal val="visible"/>
                                      </p:to>
                                    </p:set>
                                    <p:animEffect transition="in" filter="wipe(up)">
                                      <p:cBhvr additive="repl">
                                        <p:cTn id="1836" dur="500"/>
                                        <p:tgtEl>
                                          <p:spTgt spid="875"/>
                                        </p:tgtEl>
                                      </p:cBhvr>
                                    </p:animEffect>
                                  </p:childTnLst>
                                </p:cTn>
                              </p:par>
                            </p:childTnLst>
                          </p:cTn>
                        </p:par>
                        <p:par>
                          <p:cTn id="1837" fill="hold" nodeType="afterEffect">
                            <p:stCondLst>
                              <p:cond delay="500"/>
                            </p:stCondLst>
                            <p:childTnLst>
                              <p:par>
                                <p:cTn id="1838" presetID="22" presetClass="entr" fill="hold" nodeType="afterEffect" presetSubtype="8">
                                  <p:stCondLst>
                                    <p:cond delay="0"/>
                                  </p:stCondLst>
                                  <p:childTnLst>
                                    <p:set>
                                      <p:cBhvr>
                                        <p:cTn id="1839" dur="1" fill="hold">
                                          <p:stCondLst>
                                            <p:cond delay="0"/>
                                          </p:stCondLst>
                                        </p:cTn>
                                        <p:tgtEl>
                                          <p:spTgt spid="876"/>
                                        </p:tgtEl>
                                        <p:attrNameLst>
                                          <p:attrName>style.visibility</p:attrName>
                                        </p:attrNameLst>
                                      </p:cBhvr>
                                      <p:to>
                                        <p:strVal val="visible"/>
                                      </p:to>
                                    </p:set>
                                    <p:animEffect transition="in" filter="wipe(left)">
                                      <p:cBhvr additive="repl">
                                        <p:cTn id="1840" dur="500"/>
                                        <p:tgtEl>
                                          <p:spTgt spid="876"/>
                                        </p:tgtEl>
                                      </p:cBhvr>
                                    </p:animEffect>
                                  </p:childTnLst>
                                </p:cTn>
                              </p:par>
                            </p:childTnLst>
                          </p:cTn>
                        </p:par>
                        <p:par>
                          <p:cTn id="1841" fill="hold" nodeType="afterEffect">
                            <p:stCondLst>
                              <p:cond delay="1000"/>
                            </p:stCondLst>
                            <p:childTnLst>
                              <p:par>
                                <p:cTn id="1842" presetID="9" presetClass="entr" fill="hold" nodeType="afterEffect">
                                  <p:stCondLst>
                                    <p:cond delay="0"/>
                                  </p:stCondLst>
                                  <p:childTnLst>
                                    <p:set>
                                      <p:cBhvr>
                                        <p:cTn id="1843" dur="1" fill="hold">
                                          <p:stCondLst>
                                            <p:cond delay="0"/>
                                          </p:stCondLst>
                                        </p:cTn>
                                        <p:tgtEl>
                                          <p:spTgt spid="877"/>
                                        </p:tgtEl>
                                        <p:attrNameLst>
                                          <p:attrName>style.visibility</p:attrName>
                                        </p:attrNameLst>
                                      </p:cBhvr>
                                      <p:to>
                                        <p:strVal val="visible"/>
                                      </p:to>
                                    </p:set>
                                    <p:animEffect transition="in" filter="dissolve">
                                      <p:cBhvr additive="repl">
                                        <p:cTn id="1844" dur="500"/>
                                        <p:tgtEl>
                                          <p:spTgt spid="877"/>
                                        </p:tgtEl>
                                      </p:cBhvr>
                                    </p:animEffect>
                                  </p:childTnLst>
                                </p:cTn>
                              </p:par>
                            </p:childTnLst>
                          </p:cTn>
                        </p:par>
                        <p:par>
                          <p:cTn id="1845" fill="hold" nodeType="afterEffect">
                            <p:stCondLst>
                              <p:cond delay="1500"/>
                            </p:stCondLst>
                            <p:childTnLst>
                              <p:par>
                                <p:cTn id="1846" presetID="9" presetClass="entr" fill="hold" nodeType="afterEffect">
                                  <p:stCondLst>
                                    <p:cond delay="0"/>
                                  </p:stCondLst>
                                  <p:childTnLst>
                                    <p:set>
                                      <p:cBhvr>
                                        <p:cTn id="1847" dur="1" fill="hold">
                                          <p:stCondLst>
                                            <p:cond delay="0"/>
                                          </p:stCondLst>
                                        </p:cTn>
                                        <p:tgtEl>
                                          <p:spTgt spid="878"/>
                                        </p:tgtEl>
                                        <p:attrNameLst>
                                          <p:attrName>style.visibility</p:attrName>
                                        </p:attrNameLst>
                                      </p:cBhvr>
                                      <p:to>
                                        <p:strVal val="visible"/>
                                      </p:to>
                                    </p:set>
                                    <p:animEffect transition="in" filter="dissolve">
                                      <p:cBhvr additive="repl">
                                        <p:cTn id="1848" dur="500"/>
                                        <p:tgtEl>
                                          <p:spTgt spid="878"/>
                                        </p:tgtEl>
                                      </p:cBhvr>
                                    </p:animEffect>
                                  </p:childTnLst>
                                </p:cTn>
                              </p:par>
                            </p:childTnLst>
                          </p:cTn>
                        </p:par>
                      </p:childTnLst>
                    </p:cTn>
                  </p:par>
                  <p:par>
                    <p:cTn id="1849" fill="hold" nodeType="clickEffect">
                      <p:stCondLst>
                        <p:cond delay="indefinite"/>
                      </p:stCondLst>
                      <p:childTnLst>
                        <p:par>
                          <p:cTn id="1850" fill="hold" nodeType="withEffect">
                            <p:stCondLst>
                              <p:cond delay="0"/>
                            </p:stCondLst>
                            <p:childTnLst>
                              <p:par>
                                <p:cTn id="1851" presetID="22" presetClass="entr" fill="hold" nodeType="clickEffect" presetSubtype="1">
                                  <p:stCondLst>
                                    <p:cond delay="0"/>
                                  </p:stCondLst>
                                  <p:childTnLst>
                                    <p:set>
                                      <p:cBhvr>
                                        <p:cTn id="1852" dur="1" fill="hold">
                                          <p:stCondLst>
                                            <p:cond delay="0"/>
                                          </p:stCondLst>
                                        </p:cTn>
                                        <p:tgtEl>
                                          <p:spTgt spid="879"/>
                                        </p:tgtEl>
                                        <p:attrNameLst>
                                          <p:attrName>style.visibility</p:attrName>
                                        </p:attrNameLst>
                                      </p:cBhvr>
                                      <p:to>
                                        <p:strVal val="visible"/>
                                      </p:to>
                                    </p:set>
                                    <p:animEffect transition="in" filter="wipe(up)">
                                      <p:cBhvr additive="repl">
                                        <p:cTn id="1853" dur="500"/>
                                        <p:tgtEl>
                                          <p:spTgt spid="879"/>
                                        </p:tgtEl>
                                      </p:cBhvr>
                                    </p:animEffect>
                                  </p:childTnLst>
                                </p:cTn>
                              </p:par>
                            </p:childTnLst>
                          </p:cTn>
                        </p:par>
                        <p:par>
                          <p:cTn id="1854" fill="hold" nodeType="afterEffect">
                            <p:stCondLst>
                              <p:cond delay="500"/>
                            </p:stCondLst>
                            <p:childTnLst>
                              <p:par>
                                <p:cTn id="1855" presetID="9" presetClass="entr" fill="hold" nodeType="afterEffect">
                                  <p:stCondLst>
                                    <p:cond delay="0"/>
                                  </p:stCondLst>
                                  <p:childTnLst>
                                    <p:set>
                                      <p:cBhvr>
                                        <p:cTn id="1856" dur="1" fill="hold">
                                          <p:stCondLst>
                                            <p:cond delay="0"/>
                                          </p:stCondLst>
                                        </p:cTn>
                                        <p:tgtEl>
                                          <p:spTgt spid="880"/>
                                        </p:tgtEl>
                                        <p:attrNameLst>
                                          <p:attrName>style.visibility</p:attrName>
                                        </p:attrNameLst>
                                      </p:cBhvr>
                                      <p:to>
                                        <p:strVal val="visible"/>
                                      </p:to>
                                    </p:set>
                                    <p:animEffect transition="in" filter="dissolve">
                                      <p:cBhvr additive="repl">
                                        <p:cTn id="1857" dur="500"/>
                                        <p:tgtEl>
                                          <p:spTgt spid="880"/>
                                        </p:tgtEl>
                                      </p:cBhvr>
                                    </p:animEffect>
                                  </p:childTnLst>
                                </p:cTn>
                              </p:par>
                            </p:childTnLst>
                          </p:cTn>
                        </p:par>
                        <p:par>
                          <p:cTn id="1858" fill="hold" nodeType="afterEffect">
                            <p:stCondLst>
                              <p:cond delay="1000"/>
                            </p:stCondLst>
                            <p:childTnLst>
                              <p:par>
                                <p:cTn id="1859" presetID="9" presetClass="entr" fill="hold" nodeType="afterEffect">
                                  <p:stCondLst>
                                    <p:cond delay="0"/>
                                  </p:stCondLst>
                                  <p:childTnLst>
                                    <p:set>
                                      <p:cBhvr>
                                        <p:cTn id="1860" dur="1" fill="hold">
                                          <p:stCondLst>
                                            <p:cond delay="0"/>
                                          </p:stCondLst>
                                        </p:cTn>
                                        <p:tgtEl>
                                          <p:spTgt spid="881"/>
                                        </p:tgtEl>
                                        <p:attrNameLst>
                                          <p:attrName>style.visibility</p:attrName>
                                        </p:attrNameLst>
                                      </p:cBhvr>
                                      <p:to>
                                        <p:strVal val="visible"/>
                                      </p:to>
                                    </p:set>
                                    <p:animEffect transition="in" filter="dissolve">
                                      <p:cBhvr additive="repl">
                                        <p:cTn id="1861" dur="500"/>
                                        <p:tgtEl>
                                          <p:spTgt spid="881"/>
                                        </p:tgtEl>
                                      </p:cBhvr>
                                    </p:animEffect>
                                  </p:childTnLst>
                                </p:cTn>
                              </p:par>
                            </p:childTnLst>
                          </p:cTn>
                        </p:par>
                      </p:childTnLst>
                    </p:cTn>
                  </p:par>
                  <p:par>
                    <p:cTn id="1862" fill="hold" nodeType="clickEffect">
                      <p:stCondLst>
                        <p:cond delay="indefinite"/>
                      </p:stCondLst>
                      <p:childTnLst>
                        <p:par>
                          <p:cTn id="1863" fill="hold" nodeType="withEffect">
                            <p:stCondLst>
                              <p:cond delay="0"/>
                            </p:stCondLst>
                            <p:childTnLst>
                              <p:par>
                                <p:cTn id="1864" presetID="22" presetClass="entr" fill="hold" nodeType="clickEffect" presetSubtype="1">
                                  <p:stCondLst>
                                    <p:cond delay="0"/>
                                  </p:stCondLst>
                                  <p:childTnLst>
                                    <p:set>
                                      <p:cBhvr>
                                        <p:cTn id="1865" dur="1" fill="hold">
                                          <p:stCondLst>
                                            <p:cond delay="0"/>
                                          </p:stCondLst>
                                        </p:cTn>
                                        <p:tgtEl>
                                          <p:spTgt spid="888"/>
                                        </p:tgtEl>
                                        <p:attrNameLst>
                                          <p:attrName>style.visibility</p:attrName>
                                        </p:attrNameLst>
                                      </p:cBhvr>
                                      <p:to>
                                        <p:strVal val="visible"/>
                                      </p:to>
                                    </p:set>
                                    <p:animEffect transition="in" filter="wipe(up)">
                                      <p:cBhvr additive="repl">
                                        <p:cTn id="1866" dur="500"/>
                                        <p:tgtEl>
                                          <p:spTgt spid="888"/>
                                        </p:tgtEl>
                                      </p:cBhvr>
                                    </p:animEffect>
                                  </p:childTnLst>
                                </p:cTn>
                              </p:par>
                            </p:childTnLst>
                          </p:cTn>
                        </p:par>
                        <p:par>
                          <p:cTn id="1867" fill="hold" nodeType="afterEffect">
                            <p:stCondLst>
                              <p:cond delay="500"/>
                            </p:stCondLst>
                            <p:childTnLst>
                              <p:par>
                                <p:cTn id="1868" presetID="9" presetClass="entr" fill="hold" nodeType="afterEffect">
                                  <p:stCondLst>
                                    <p:cond delay="0"/>
                                  </p:stCondLst>
                                  <p:childTnLst>
                                    <p:set>
                                      <p:cBhvr>
                                        <p:cTn id="1869" dur="1" fill="hold">
                                          <p:stCondLst>
                                            <p:cond delay="0"/>
                                          </p:stCondLst>
                                        </p:cTn>
                                        <p:tgtEl>
                                          <p:spTgt spid="889"/>
                                        </p:tgtEl>
                                        <p:attrNameLst>
                                          <p:attrName>style.visibility</p:attrName>
                                        </p:attrNameLst>
                                      </p:cBhvr>
                                      <p:to>
                                        <p:strVal val="visible"/>
                                      </p:to>
                                    </p:set>
                                    <p:animEffect transition="in" filter="dissolve">
                                      <p:cBhvr additive="repl">
                                        <p:cTn id="1870" dur="500"/>
                                        <p:tgtEl>
                                          <p:spTgt spid="889"/>
                                        </p:tgtEl>
                                      </p:cBhvr>
                                    </p:animEffect>
                                  </p:childTnLst>
                                </p:cTn>
                              </p:par>
                            </p:childTnLst>
                          </p:cTn>
                        </p:par>
                        <p:par>
                          <p:cTn id="1871" fill="hold" nodeType="afterEffect">
                            <p:stCondLst>
                              <p:cond delay="1000"/>
                            </p:stCondLst>
                            <p:childTnLst>
                              <p:par>
                                <p:cTn id="1872" presetID="9" presetClass="entr" fill="hold" nodeType="afterEffect">
                                  <p:stCondLst>
                                    <p:cond delay="0"/>
                                  </p:stCondLst>
                                  <p:childTnLst>
                                    <p:set>
                                      <p:cBhvr>
                                        <p:cTn id="1873" dur="1" fill="hold">
                                          <p:stCondLst>
                                            <p:cond delay="0"/>
                                          </p:stCondLst>
                                        </p:cTn>
                                        <p:tgtEl>
                                          <p:spTgt spid="890"/>
                                        </p:tgtEl>
                                        <p:attrNameLst>
                                          <p:attrName>style.visibility</p:attrName>
                                        </p:attrNameLst>
                                      </p:cBhvr>
                                      <p:to>
                                        <p:strVal val="visible"/>
                                      </p:to>
                                    </p:set>
                                    <p:animEffect transition="in" filter="dissolve">
                                      <p:cBhvr additive="repl">
                                        <p:cTn id="1874" dur="500"/>
                                        <p:tgtEl>
                                          <p:spTgt spid="890"/>
                                        </p:tgtEl>
                                      </p:cBhvr>
                                    </p:animEffect>
                                  </p:childTnLst>
                                </p:cTn>
                              </p:par>
                            </p:childTnLst>
                          </p:cTn>
                        </p:par>
                      </p:childTnLst>
                    </p:cTn>
                  </p:par>
                  <p:par>
                    <p:cTn id="1875" fill="hold" nodeType="clickEffect">
                      <p:stCondLst>
                        <p:cond delay="indefinite"/>
                      </p:stCondLst>
                      <p:childTnLst>
                        <p:par>
                          <p:cTn id="1876" fill="hold" nodeType="withEffect">
                            <p:stCondLst>
                              <p:cond delay="0"/>
                            </p:stCondLst>
                            <p:childTnLst>
                              <p:par>
                                <p:cTn id="1877" presetID="22" presetClass="entr" fill="hold" nodeType="clickEffect" presetSubtype="1">
                                  <p:stCondLst>
                                    <p:cond delay="0"/>
                                  </p:stCondLst>
                                  <p:childTnLst>
                                    <p:set>
                                      <p:cBhvr>
                                        <p:cTn id="1878" dur="1" fill="hold">
                                          <p:stCondLst>
                                            <p:cond delay="0"/>
                                          </p:stCondLst>
                                        </p:cTn>
                                        <p:tgtEl>
                                          <p:spTgt spid="882"/>
                                        </p:tgtEl>
                                        <p:attrNameLst>
                                          <p:attrName>style.visibility</p:attrName>
                                        </p:attrNameLst>
                                      </p:cBhvr>
                                      <p:to>
                                        <p:strVal val="visible"/>
                                      </p:to>
                                    </p:set>
                                    <p:animEffect transition="in" filter="wipe(up)">
                                      <p:cBhvr additive="repl">
                                        <p:cTn id="1879" dur="500"/>
                                        <p:tgtEl>
                                          <p:spTgt spid="882"/>
                                        </p:tgtEl>
                                      </p:cBhvr>
                                    </p:animEffect>
                                  </p:childTnLst>
                                </p:cTn>
                              </p:par>
                            </p:childTnLst>
                          </p:cTn>
                        </p:par>
                        <p:par>
                          <p:cTn id="1880" fill="hold" nodeType="afterEffect">
                            <p:stCondLst>
                              <p:cond delay="500"/>
                            </p:stCondLst>
                            <p:childTnLst>
                              <p:par>
                                <p:cTn id="1881" presetID="22" presetClass="entr" fill="hold" nodeType="afterEffect" presetSubtype="8">
                                  <p:stCondLst>
                                    <p:cond delay="0"/>
                                  </p:stCondLst>
                                  <p:childTnLst>
                                    <p:set>
                                      <p:cBhvr>
                                        <p:cTn id="1882" dur="1" fill="hold">
                                          <p:stCondLst>
                                            <p:cond delay="0"/>
                                          </p:stCondLst>
                                        </p:cTn>
                                        <p:tgtEl>
                                          <p:spTgt spid="883"/>
                                        </p:tgtEl>
                                        <p:attrNameLst>
                                          <p:attrName>style.visibility</p:attrName>
                                        </p:attrNameLst>
                                      </p:cBhvr>
                                      <p:to>
                                        <p:strVal val="visible"/>
                                      </p:to>
                                    </p:set>
                                    <p:animEffect transition="in" filter="wipe(left)">
                                      <p:cBhvr additive="repl">
                                        <p:cTn id="1883" dur="500"/>
                                        <p:tgtEl>
                                          <p:spTgt spid="883"/>
                                        </p:tgtEl>
                                      </p:cBhvr>
                                    </p:animEffect>
                                  </p:childTnLst>
                                </p:cTn>
                              </p:par>
                            </p:childTnLst>
                          </p:cTn>
                        </p:par>
                        <p:par>
                          <p:cTn id="1884" fill="hold" nodeType="afterEffect">
                            <p:stCondLst>
                              <p:cond delay="1000"/>
                            </p:stCondLst>
                            <p:childTnLst>
                              <p:par>
                                <p:cTn id="1885" presetID="9" presetClass="entr" fill="hold" nodeType="afterEffect">
                                  <p:stCondLst>
                                    <p:cond delay="0"/>
                                  </p:stCondLst>
                                  <p:childTnLst>
                                    <p:set>
                                      <p:cBhvr>
                                        <p:cTn id="1886" dur="1" fill="hold">
                                          <p:stCondLst>
                                            <p:cond delay="0"/>
                                          </p:stCondLst>
                                        </p:cTn>
                                        <p:tgtEl>
                                          <p:spTgt spid="884"/>
                                        </p:tgtEl>
                                        <p:attrNameLst>
                                          <p:attrName>style.visibility</p:attrName>
                                        </p:attrNameLst>
                                      </p:cBhvr>
                                      <p:to>
                                        <p:strVal val="visible"/>
                                      </p:to>
                                    </p:set>
                                    <p:animEffect transition="in" filter="dissolve">
                                      <p:cBhvr additive="repl">
                                        <p:cTn id="1887" dur="500"/>
                                        <p:tgtEl>
                                          <p:spTgt spid="884"/>
                                        </p:tgtEl>
                                      </p:cBhvr>
                                    </p:animEffect>
                                  </p:childTnLst>
                                </p:cTn>
                              </p:par>
                            </p:childTnLst>
                          </p:cTn>
                        </p:par>
                        <p:par>
                          <p:cTn id="1888" fill="hold" nodeType="afterEffect">
                            <p:stCondLst>
                              <p:cond delay="1500"/>
                            </p:stCondLst>
                            <p:childTnLst>
                              <p:par>
                                <p:cTn id="1889" presetID="9" presetClass="entr" fill="hold" nodeType="afterEffect">
                                  <p:stCondLst>
                                    <p:cond delay="0"/>
                                  </p:stCondLst>
                                  <p:childTnLst>
                                    <p:set>
                                      <p:cBhvr>
                                        <p:cTn id="1890" dur="1" fill="hold">
                                          <p:stCondLst>
                                            <p:cond delay="0"/>
                                          </p:stCondLst>
                                        </p:cTn>
                                        <p:tgtEl>
                                          <p:spTgt spid="887"/>
                                        </p:tgtEl>
                                        <p:attrNameLst>
                                          <p:attrName>style.visibility</p:attrName>
                                        </p:attrNameLst>
                                      </p:cBhvr>
                                      <p:to>
                                        <p:strVal val="visible"/>
                                      </p:to>
                                    </p:set>
                                    <p:animEffect transition="in" filter="dissolve">
                                      <p:cBhvr additive="repl">
                                        <p:cTn id="1891" dur="500"/>
                                        <p:tgtEl>
                                          <p:spTgt spid="887"/>
                                        </p:tgtEl>
                                      </p:cBhvr>
                                    </p:animEffect>
                                  </p:childTnLst>
                                </p:cTn>
                              </p:par>
                            </p:childTnLst>
                          </p:cTn>
                        </p:par>
                      </p:childTnLst>
                    </p:cTn>
                  </p:par>
                  <p:par>
                    <p:cTn id="1892" fill="hold" nodeType="clickEffect">
                      <p:stCondLst>
                        <p:cond delay="indefinite"/>
                      </p:stCondLst>
                      <p:childTnLst>
                        <p:par>
                          <p:cTn id="1893" fill="hold" nodeType="withEffect">
                            <p:stCondLst>
                              <p:cond delay="0"/>
                            </p:stCondLst>
                            <p:childTnLst>
                              <p:par>
                                <p:cTn id="1894" presetID="9" presetClass="entr" fill="hold" nodeType="clickEffect">
                                  <p:stCondLst>
                                    <p:cond delay="0"/>
                                  </p:stCondLst>
                                  <p:childTnLst>
                                    <p:set>
                                      <p:cBhvr>
                                        <p:cTn id="1895" dur="1" fill="hold">
                                          <p:stCondLst>
                                            <p:cond delay="0"/>
                                          </p:stCondLst>
                                        </p:cTn>
                                        <p:tgtEl>
                                          <p:spTgt spid="891"/>
                                        </p:tgtEl>
                                        <p:attrNameLst>
                                          <p:attrName>style.visibility</p:attrName>
                                        </p:attrNameLst>
                                      </p:cBhvr>
                                      <p:to>
                                        <p:strVal val="visible"/>
                                      </p:to>
                                    </p:set>
                                    <p:animEffect transition="in" filter="dissolve">
                                      <p:cBhvr additive="repl">
                                        <p:cTn id="1896" dur="500"/>
                                        <p:tgtEl>
                                          <p:spTgt spid="891"/>
                                        </p:tgtEl>
                                      </p:cBhvr>
                                    </p:animEffect>
                                  </p:childTnLst>
                                </p:cTn>
                              </p:par>
                            </p:childTnLst>
                          </p:cTn>
                        </p:par>
                      </p:childTnLst>
                    </p:cTn>
                  </p:par>
                  <p:par>
                    <p:cTn id="1897" fill="hold" nodeType="clickEffect">
                      <p:stCondLst>
                        <p:cond delay="indefinite"/>
                      </p:stCondLst>
                      <p:childTnLst>
                        <p:par>
                          <p:cTn id="1898" fill="hold" nodeType="withEffect">
                            <p:stCondLst>
                              <p:cond delay="0"/>
                            </p:stCondLst>
                            <p:childTnLst>
                              <p:par>
                                <p:cTn id="1899" presetID="3" presetClass="entr" fill="hold" nodeType="clickEffect" presetSubtype="10">
                                  <p:stCondLst>
                                    <p:cond delay="0"/>
                                  </p:stCondLst>
                                  <p:childTnLst>
                                    <p:set>
                                      <p:cBhvr>
                                        <p:cTn id="1900" dur="1" fill="hold">
                                          <p:stCondLst>
                                            <p:cond delay="0"/>
                                          </p:stCondLst>
                                        </p:cTn>
                                        <p:tgtEl>
                                          <p:spTgt spid="892">
                                            <p:txEl>
                                              <p:pRg st="0" end="0"/>
                                            </p:txEl>
                                          </p:spTgt>
                                        </p:tgtEl>
                                        <p:attrNameLst>
                                          <p:attrName>style.visibility</p:attrName>
                                        </p:attrNameLst>
                                      </p:cBhvr>
                                      <p:to>
                                        <p:strVal val="visible"/>
                                      </p:to>
                                    </p:set>
                                    <p:animEffect transition="in" filter="blinds(horizontal)">
                                      <p:cBhvr additive="repl">
                                        <p:cTn id="1901" dur="500"/>
                                        <p:tgtEl>
                                          <p:spTgt spid="892">
                                            <p:txEl>
                                              <p:pRg st="0" end="0"/>
                                            </p:txEl>
                                          </p:spTgt>
                                        </p:tgtEl>
                                      </p:cBhvr>
                                    </p:animEffect>
                                  </p:childTnLst>
                                </p:cTn>
                              </p:par>
                            </p:childTnLst>
                          </p:cTn>
                        </p:par>
                      </p:childTnLst>
                    </p:cTn>
                  </p:par>
                  <p:par>
                    <p:cTn id="1902" fill="hold" nodeType="clickEffect">
                      <p:stCondLst>
                        <p:cond delay="indefinite"/>
                      </p:stCondLst>
                      <p:childTnLst>
                        <p:par>
                          <p:cTn id="1903" fill="hold" nodeType="withEffect">
                            <p:stCondLst>
                              <p:cond delay="0"/>
                            </p:stCondLst>
                            <p:childTnLst>
                              <p:par>
                                <p:cTn id="1904" presetID="3" presetClass="entr" fill="hold" nodeType="clickEffect" presetSubtype="10">
                                  <p:stCondLst>
                                    <p:cond delay="0"/>
                                  </p:stCondLst>
                                  <p:childTnLst>
                                    <p:set>
                                      <p:cBhvr>
                                        <p:cTn id="1905" dur="1" fill="hold">
                                          <p:stCondLst>
                                            <p:cond delay="0"/>
                                          </p:stCondLst>
                                        </p:cTn>
                                        <p:tgtEl>
                                          <p:spTgt spid="892">
                                            <p:txEl>
                                              <p:pRg st="1" end="1"/>
                                            </p:txEl>
                                          </p:spTgt>
                                        </p:tgtEl>
                                        <p:attrNameLst>
                                          <p:attrName>style.visibility</p:attrName>
                                        </p:attrNameLst>
                                      </p:cBhvr>
                                      <p:to>
                                        <p:strVal val="visible"/>
                                      </p:to>
                                    </p:set>
                                    <p:animEffect transition="in" filter="blinds(horizontal)">
                                      <p:cBhvr additive="repl">
                                        <p:cTn id="1906" dur="500"/>
                                        <p:tgtEl>
                                          <p:spTgt spid="892">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95" name="Group 85"/>
          <p:cNvGrpSpPr/>
          <p:nvPr/>
        </p:nvGrpSpPr>
        <p:grpSpPr>
          <a:xfrm>
            <a:off x="2249640" y="1434960"/>
            <a:ext cx="5732280" cy="4995000"/>
            <a:chOff x="2249640" y="1434960"/>
            <a:chExt cx="5732280" cy="4995000"/>
          </a:xfrm>
        </p:grpSpPr>
        <p:grpSp>
          <p:nvGrpSpPr>
            <p:cNvPr id="896" name="Group 14"/>
            <p:cNvGrpSpPr/>
            <p:nvPr/>
          </p:nvGrpSpPr>
          <p:grpSpPr>
            <a:xfrm>
              <a:off x="2249640" y="1434960"/>
              <a:ext cx="5732280" cy="4995000"/>
              <a:chOff x="2249640" y="1434960"/>
              <a:chExt cx="5732280" cy="4995000"/>
            </a:xfrm>
          </p:grpSpPr>
          <p:grpSp>
            <p:nvGrpSpPr>
              <p:cNvPr id="897" name="Group 15"/>
              <p:cNvGrpSpPr/>
              <p:nvPr/>
            </p:nvGrpSpPr>
            <p:grpSpPr>
              <a:xfrm>
                <a:off x="2249640" y="1434960"/>
                <a:ext cx="5732280" cy="4995000"/>
                <a:chOff x="2249640" y="1434960"/>
                <a:chExt cx="5732280" cy="4995000"/>
              </a:xfrm>
            </p:grpSpPr>
            <p:sp>
              <p:nvSpPr>
                <p:cNvPr id="898" name="Line 16"/>
                <p:cNvSpPr/>
                <p:nvPr/>
              </p:nvSpPr>
              <p:spPr>
                <a:xfrm flipV="1">
                  <a:off x="6350040" y="1627920"/>
                  <a:ext cx="0" cy="48020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899" name="Rectangle 17"/>
                <p:cNvSpPr/>
                <p:nvPr/>
              </p:nvSpPr>
              <p:spPr>
                <a:xfrm>
                  <a:off x="7532640" y="3909600"/>
                  <a:ext cx="44928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900" name="Rectangle 18"/>
                <p:cNvSpPr/>
                <p:nvPr/>
              </p:nvSpPr>
              <p:spPr>
                <a:xfrm>
                  <a:off x="6248520" y="426060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901" name="Line 19"/>
                <p:cNvSpPr/>
                <p:nvPr/>
              </p:nvSpPr>
              <p:spPr>
                <a:xfrm>
                  <a:off x="2249640" y="4200120"/>
                  <a:ext cx="5343480" cy="1440"/>
                </a:xfrm>
                <a:prstGeom prst="line">
                  <a:avLst/>
                </a:prstGeom>
                <a:ln cap="sq" w="57240">
                  <a:solidFill>
                    <a:srgbClr val="0000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902" name="Line 20"/>
                <p:cNvSpPr/>
                <p:nvPr/>
              </p:nvSpPr>
              <p:spPr>
                <a:xfrm>
                  <a:off x="5275440" y="4082760"/>
                  <a:ext cx="0" cy="1774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03" name="Line 21"/>
                <p:cNvSpPr/>
                <p:nvPr/>
              </p:nvSpPr>
              <p:spPr>
                <a:xfrm>
                  <a:off x="5275440" y="4103280"/>
                  <a:ext cx="0" cy="1760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04" name="Line 22"/>
                <p:cNvSpPr/>
                <p:nvPr/>
              </p:nvSpPr>
              <p:spPr>
                <a:xfrm>
                  <a:off x="4162320" y="4103280"/>
                  <a:ext cx="0" cy="1760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05" name="Line 23"/>
                <p:cNvSpPr/>
                <p:nvPr/>
              </p:nvSpPr>
              <p:spPr>
                <a:xfrm flipV="1">
                  <a:off x="6264360" y="5397840"/>
                  <a:ext cx="16200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sp>
              <p:nvSpPr>
                <p:cNvPr id="906" name="Line 24"/>
                <p:cNvSpPr/>
                <p:nvPr/>
              </p:nvSpPr>
              <p:spPr>
                <a:xfrm flipV="1">
                  <a:off x="6264360" y="4821840"/>
                  <a:ext cx="1620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907" name="Rectangle 25"/>
                <p:cNvSpPr/>
                <p:nvPr/>
              </p:nvSpPr>
              <p:spPr>
                <a:xfrm>
                  <a:off x="6205680" y="143496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908" name="Line 26"/>
                <p:cNvSpPr/>
                <p:nvPr/>
              </p:nvSpPr>
              <p:spPr>
                <a:xfrm flipV="1">
                  <a:off x="6270840" y="3615120"/>
                  <a:ext cx="16164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sp>
              <p:nvSpPr>
                <p:cNvPr id="909" name="Line 27"/>
                <p:cNvSpPr/>
                <p:nvPr/>
              </p:nvSpPr>
              <p:spPr>
                <a:xfrm flipV="1">
                  <a:off x="6284880" y="3047040"/>
                  <a:ext cx="1620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910" name="Line 28"/>
                <p:cNvSpPr/>
                <p:nvPr/>
              </p:nvSpPr>
              <p:spPr>
                <a:xfrm flipH="1" flipV="1">
                  <a:off x="6283080" y="2457720"/>
                  <a:ext cx="162720" cy="22320"/>
                </a:xfrm>
                <a:prstGeom prst="line">
                  <a:avLst/>
                </a:prstGeom>
                <a:ln w="57240">
                  <a:solidFill>
                    <a:srgbClr val="000000"/>
                  </a:solidFill>
                  <a:miter/>
                </a:ln>
              </p:spPr>
              <p:style>
                <a:lnRef idx="0"/>
                <a:fillRef idx="0"/>
                <a:effectRef idx="0"/>
                <a:fontRef idx="minor"/>
              </p:style>
              <p:txBody>
                <a:bodyPr lIns="90000" tIns="-24480" rIns="90000" bIns="-24480" anchor="t">
                  <a:noAutofit/>
                </a:bodyPr>
                <a:p>
                  <a:endParaRPr lang="en-US" sz="2800" b="1" u="none" strike="noStrike">
                    <a:solidFill>
                      <a:srgbClr val="000000"/>
                    </a:solidFill>
                    <a:effectLst/>
                    <a:uFillTx/>
                    <a:latin typeface="Times New Roman"/>
                  </a:endParaRPr>
                </a:p>
              </p:txBody>
            </p:sp>
            <p:sp>
              <p:nvSpPr>
                <p:cNvPr id="911" name="Line 29"/>
                <p:cNvSpPr/>
                <p:nvPr/>
              </p:nvSpPr>
              <p:spPr>
                <a:xfrm flipH="1">
                  <a:off x="5805000" y="4101120"/>
                  <a:ext cx="5760" cy="1616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12" name="Line 30"/>
                <p:cNvSpPr/>
                <p:nvPr/>
              </p:nvSpPr>
              <p:spPr>
                <a:xfrm>
                  <a:off x="4732200" y="4088880"/>
                  <a:ext cx="0" cy="1774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13" name="Line 31"/>
                <p:cNvSpPr/>
                <p:nvPr/>
              </p:nvSpPr>
              <p:spPr>
                <a:xfrm>
                  <a:off x="3627360" y="4090680"/>
                  <a:ext cx="0" cy="17748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14" name="Line 32"/>
                <p:cNvSpPr/>
                <p:nvPr/>
              </p:nvSpPr>
              <p:spPr>
                <a:xfrm>
                  <a:off x="2514600" y="4111200"/>
                  <a:ext cx="0" cy="1760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15" name="Line 33"/>
                <p:cNvSpPr/>
                <p:nvPr/>
              </p:nvSpPr>
              <p:spPr>
                <a:xfrm>
                  <a:off x="3084480" y="4097160"/>
                  <a:ext cx="0" cy="17712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16" name="Line 34"/>
                <p:cNvSpPr/>
                <p:nvPr/>
              </p:nvSpPr>
              <p:spPr>
                <a:xfrm flipV="1">
                  <a:off x="6242040" y="5970960"/>
                  <a:ext cx="162000" cy="5400"/>
                </a:xfrm>
                <a:prstGeom prst="line">
                  <a:avLst/>
                </a:prstGeom>
                <a:ln w="57240">
                  <a:solidFill>
                    <a:srgbClr val="000000"/>
                  </a:solidFill>
                  <a:miter/>
                </a:ln>
              </p:spPr>
              <p:style>
                <a:lnRef idx="0"/>
                <a:fillRef idx="0"/>
                <a:effectRef idx="0"/>
                <a:fontRef idx="minor"/>
              </p:style>
              <p:txBody>
                <a:bodyPr lIns="90000" tIns="-41400" rIns="90000" bIns="-41400" anchor="t">
                  <a:noAutofit/>
                </a:bodyPr>
                <a:p>
                  <a:endParaRPr lang="en-US" sz="2800" b="1" u="none" strike="noStrike">
                    <a:solidFill>
                      <a:srgbClr val="000000"/>
                    </a:solidFill>
                    <a:effectLst/>
                    <a:uFillTx/>
                    <a:latin typeface="Times New Roman"/>
                  </a:endParaRPr>
                </a:p>
              </p:txBody>
            </p:sp>
          </p:grpSp>
          <p:sp>
            <p:nvSpPr>
              <p:cNvPr id="917" name="Text Box 35"/>
              <p:cNvSpPr/>
              <p:nvPr/>
            </p:nvSpPr>
            <p:spPr>
              <a:xfrm>
                <a:off x="5037120" y="4247640"/>
                <a:ext cx="45108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918" name="Text Box 36"/>
              <p:cNvSpPr/>
              <p:nvPr/>
            </p:nvSpPr>
            <p:spPr>
              <a:xfrm>
                <a:off x="3943440" y="4246200"/>
                <a:ext cx="45072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-2</a:t>
                </a:r>
                <a:endParaRPr lang="en-US" sz="2400" b="1" u="none" strike="noStrike">
                  <a:solidFill>
                    <a:srgbClr val="000000"/>
                  </a:solidFill>
                  <a:effectLst/>
                  <a:uFillTx/>
                  <a:latin typeface="Times New Roman"/>
                </a:endParaRPr>
              </a:p>
            </p:txBody>
          </p:sp>
          <p:sp>
            <p:nvSpPr>
              <p:cNvPr id="919" name="Text Box 37"/>
              <p:cNvSpPr/>
              <p:nvPr/>
            </p:nvSpPr>
            <p:spPr>
              <a:xfrm>
                <a:off x="6373800" y="2790360"/>
                <a:ext cx="53820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 j</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grpSp>
        <p:grpSp>
          <p:nvGrpSpPr>
            <p:cNvPr id="920" name="Group 38"/>
            <p:cNvGrpSpPr/>
            <p:nvPr/>
          </p:nvGrpSpPr>
          <p:grpSpPr>
            <a:xfrm>
              <a:off x="5663880" y="5864040"/>
              <a:ext cx="287280" cy="290520"/>
              <a:chOff x="5663880" y="5864040"/>
              <a:chExt cx="287280" cy="290520"/>
            </a:xfrm>
          </p:grpSpPr>
          <p:sp>
            <p:nvSpPr>
              <p:cNvPr id="921" name="Line 39"/>
              <p:cNvSpPr/>
              <p:nvPr/>
            </p:nvSpPr>
            <p:spPr>
              <a:xfrm>
                <a:off x="5667120" y="587196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22" name="Line 40"/>
              <p:cNvSpPr/>
              <p:nvPr/>
            </p:nvSpPr>
            <p:spPr>
              <a:xfrm flipH="1">
                <a:off x="5663880" y="586404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useBgFill="1">
          <p:nvSpPr>
            <p:cNvPr id="923" name="Oval 41"/>
            <p:cNvSpPr/>
            <p:nvPr/>
          </p:nvSpPr>
          <p:spPr>
            <a:xfrm>
              <a:off x="4576680" y="4030560"/>
              <a:ext cx="32652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useBgFill="1">
          <p:nvSpPr>
            <p:cNvPr id="924" name="Oval 42"/>
            <p:cNvSpPr/>
            <p:nvPr/>
          </p:nvSpPr>
          <p:spPr>
            <a:xfrm>
              <a:off x="4005000" y="5265720"/>
              <a:ext cx="32688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useBgFill="1">
          <p:nvSpPr>
            <p:cNvPr id="925" name="Oval 43"/>
            <p:cNvSpPr/>
            <p:nvPr/>
          </p:nvSpPr>
          <p:spPr>
            <a:xfrm>
              <a:off x="4005000" y="2928960"/>
              <a:ext cx="326880" cy="326880"/>
            </a:xfrm>
            <a:prstGeom prst="ellipse">
              <a:avLst/>
            </a:prstGeom>
            <a:ln w="76320">
              <a:solidFill>
                <a:srgbClr val="9933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grpSp>
          <p:nvGrpSpPr>
            <p:cNvPr id="926" name="Group 46"/>
            <p:cNvGrpSpPr/>
            <p:nvPr/>
          </p:nvGrpSpPr>
          <p:grpSpPr>
            <a:xfrm>
              <a:off x="3487320" y="4078080"/>
              <a:ext cx="286920" cy="290520"/>
              <a:chOff x="3487320" y="4078080"/>
              <a:chExt cx="286920" cy="290520"/>
            </a:xfrm>
          </p:grpSpPr>
          <p:sp>
            <p:nvSpPr>
              <p:cNvPr id="927" name="Line 47"/>
              <p:cNvSpPr/>
              <p:nvPr/>
            </p:nvSpPr>
            <p:spPr>
              <a:xfrm>
                <a:off x="3490560" y="4086000"/>
                <a:ext cx="28224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28" name="Line 48"/>
              <p:cNvSpPr/>
              <p:nvPr/>
            </p:nvSpPr>
            <p:spPr>
              <a:xfrm flipH="1">
                <a:off x="3487320" y="4078080"/>
                <a:ext cx="28692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929" name="Group 49"/>
            <p:cNvGrpSpPr/>
            <p:nvPr/>
          </p:nvGrpSpPr>
          <p:grpSpPr>
            <a:xfrm>
              <a:off x="6216120" y="4093920"/>
              <a:ext cx="286920" cy="290520"/>
              <a:chOff x="6216120" y="4093920"/>
              <a:chExt cx="286920" cy="290520"/>
            </a:xfrm>
          </p:grpSpPr>
          <p:sp>
            <p:nvSpPr>
              <p:cNvPr id="930" name="Line 50"/>
              <p:cNvSpPr/>
              <p:nvPr/>
            </p:nvSpPr>
            <p:spPr>
              <a:xfrm>
                <a:off x="6219360" y="4101840"/>
                <a:ext cx="28224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31" name="Line 51"/>
              <p:cNvSpPr/>
              <p:nvPr/>
            </p:nvSpPr>
            <p:spPr>
              <a:xfrm flipH="1">
                <a:off x="6216120" y="4093920"/>
                <a:ext cx="28692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932" name="Group 59"/>
            <p:cNvGrpSpPr/>
            <p:nvPr/>
          </p:nvGrpSpPr>
          <p:grpSpPr>
            <a:xfrm>
              <a:off x="5692320" y="2350800"/>
              <a:ext cx="286920" cy="290520"/>
              <a:chOff x="5692320" y="2350800"/>
              <a:chExt cx="286920" cy="290520"/>
            </a:xfrm>
          </p:grpSpPr>
          <p:sp>
            <p:nvSpPr>
              <p:cNvPr id="933" name="Line 60"/>
              <p:cNvSpPr/>
              <p:nvPr/>
            </p:nvSpPr>
            <p:spPr>
              <a:xfrm>
                <a:off x="5695560" y="2358720"/>
                <a:ext cx="28224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34" name="Line 61"/>
              <p:cNvSpPr/>
              <p:nvPr/>
            </p:nvSpPr>
            <p:spPr>
              <a:xfrm flipH="1">
                <a:off x="5692320" y="2350800"/>
                <a:ext cx="28692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mc:AlternateContent>
        <mc:Choice xmlns:a14="http://schemas.microsoft.com/office/drawing/2010/main" Requires="a14">
          <p:sp>
            <p:nvSpPr>
              <p:cNvPr id="935" name="Object 10"/>
              <p:cNvSpPr txBox="1"/>
              <p:nvPr/>
            </p:nvSpPr>
            <p:spPr>
              <a:xfrm>
                <a:off x="216000" y="165240"/>
                <a:ext cx="5788080" cy="1141200"/>
              </a:xfrm>
              <a:prstGeom prst="rect">
                <a:avLst/>
              </a:prstGeom>
            </p:spPr>
            <p:txBody>
              <a:bodyPr/>
              <a:p>
                <a14:m>
                  <m:oMath xmlns:m="http://schemas.openxmlformats.org/officeDocument/2006/math">
                    <m:sSub>
                      <m:e>
                        <m:r>
                          <m:t xml:space="preserve">ϕ</m:t>
                        </m:r>
                      </m:e>
                      <m:sub>
                        <m:sSub>
                          <m:e>
                            <m:r>
                              <m:t xml:space="preserve">z</m:t>
                            </m:r>
                          </m:e>
                          <m:sub>
                            <m:r>
                              <m:t xml:space="preserve">x</m:t>
                            </m:r>
                          </m:sub>
                        </m:sSub>
                      </m:sub>
                    </m:sSub>
                    <m:r>
                      <m:t xml:space="preserve">=</m:t>
                    </m:r>
                    <m:sSup>
                      <m:e>
                        <m:r>
                          <m:rPr>
                            <m:lit/>
                            <m:nor/>
                          </m:rPr>
                          <m:t xml:space="preserve">180</m:t>
                        </m:r>
                      </m:e>
                      <m:sup>
                        <m:r>
                          <m:t xml:space="preserve">∘</m:t>
                        </m:r>
                      </m:sup>
                    </m:sSup>
                    <m:r>
                      <m:t xml:space="preserve">+</m:t>
                    </m:r>
                    <m:nary>
                      <m:naryPr>
                        <m:chr m:val="∑"/>
                      </m:naryPr>
                      <m:sub>
                        <m:r>
                          <m:t xml:space="preserve">j</m:t>
                        </m:r>
                        <m:r>
                          <m:t xml:space="preserve">=</m:t>
                        </m:r>
                        <m:r>
                          <m:t xml:space="preserve">1</m:t>
                        </m:r>
                      </m:sub>
                      <m:sup>
                        <m:r>
                          <m:t xml:space="preserve">n</m:t>
                        </m:r>
                      </m:sup>
                      <m:e>
                        <m:r>
                          <m:t xml:space="preserve">∠</m:t>
                        </m:r>
                        <m:r>
                          <m:t xml:space="preserve">(</m:t>
                        </m:r>
                        <m:sSub>
                          <m:e>
                            <m:r>
                              <m:t xml:space="preserve">z</m:t>
                            </m:r>
                          </m:e>
                          <m:sub>
                            <m:r>
                              <m:t xml:space="preserve">x</m:t>
                            </m:r>
                          </m:sub>
                        </m:sSub>
                        <m:r>
                          <m:t xml:space="preserve">−</m:t>
                        </m:r>
                        <m:sSub>
                          <m:e>
                            <m:r>
                              <m:t xml:space="preserve">p</m:t>
                            </m:r>
                          </m:e>
                          <m:sub>
                            <m:r>
                              <m:t xml:space="preserve">j</m:t>
                            </m:r>
                          </m:sub>
                        </m:sSub>
                        <m:r>
                          <m:t xml:space="preserve">)</m:t>
                        </m:r>
                      </m:e>
                    </m:nary>
                    <m:r>
                      <m:t xml:space="preserve">−</m:t>
                    </m:r>
                    <m:nary>
                      <m:naryPr>
                        <m:chr m:val="∑"/>
                      </m:naryPr>
                      <m:sub>
                        <m:r>
                          <m:t xml:space="preserve">i</m:t>
                        </m:r>
                        <m:r>
                          <m:t xml:space="preserve">=</m:t>
                        </m:r>
                        <m:r>
                          <m:t xml:space="preserve">1</m:t>
                        </m:r>
                        <m:r>
                          <m:t xml:space="preserve">,</m:t>
                        </m:r>
                        <m:r>
                          <m:t xml:space="preserve">i</m:t>
                        </m:r>
                        <m:r>
                          <m:t xml:space="preserve">≠</m:t>
                        </m:r>
                        <m:r>
                          <m:t xml:space="preserve">x</m:t>
                        </m:r>
                      </m:sub>
                      <m:sup>
                        <m:r>
                          <m:t xml:space="preserve">m</m:t>
                        </m:r>
                      </m:sup>
                      <m:e>
                        <m:r>
                          <m:t xml:space="preserve">∠</m:t>
                        </m:r>
                        <m:r>
                          <m:t xml:space="preserve">(</m:t>
                        </m:r>
                        <m:sSub>
                          <m:e>
                            <m:r>
                              <m:t xml:space="preserve">z</m:t>
                            </m:r>
                          </m:e>
                          <m:sub>
                            <m:r>
                              <m:t xml:space="preserve">x</m:t>
                            </m:r>
                          </m:sub>
                        </m:sSub>
                        <m:r>
                          <m:t xml:space="preserve">−</m:t>
                        </m:r>
                        <m:sSub>
                          <m:e>
                            <m:r>
                              <m:t xml:space="preserve">z</m:t>
                            </m:r>
                          </m:e>
                          <m:sub>
                            <m:r>
                              <m:t xml:space="preserve">i</m:t>
                            </m:r>
                          </m:sub>
                        </m:sSub>
                        <m:r>
                          <m:t xml:space="preserve">)</m:t>
                        </m:r>
                      </m:e>
                    </m:nary>
                  </m:oMath>
                </a14:m>
              </a:p>
            </p:txBody>
          </p:sp>
        </mc:Choice>
        <mc:Fallback>
          <p:sp>
            <p:nvSpPr>
              <p:cNvPr id="935" name="Object 10"/>
              <p:cNvSpPr txBox="1"/>
              <p:nvPr/>
            </p:nvSpPr>
            <p:spPr>
              <a:xfrm>
                <a:off x="216000" y="165240"/>
                <a:ext cx="5788080" cy="1141200"/>
              </a:xfrm>
              <a:prstGeom prst="rect">
                <a:avLst/>
              </a:prstGeom>
              <a:blipFill>
                <a:blip r:embed="rId1"/>
                <a:stretch>
                  <a:fillRect/>
                </a:stretch>
              </a:blipFill>
            </p:spPr>
          </p:sp>
        </mc:Fallback>
      </mc:AlternateContent>
      <p:sp>
        <p:nvSpPr>
          <p:cNvPr id="936" name="Text Box 11"/>
          <p:cNvSpPr/>
          <p:nvPr/>
        </p:nvSpPr>
        <p:spPr>
          <a:xfrm>
            <a:off x="617400" y="1100160"/>
            <a:ext cx="8547120" cy="6487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=180</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117</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90</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+ 153</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+ 63.5</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+ 119</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+ 121</a:t>
            </a:r>
            <a:r>
              <a:rPr lang="en-US" sz="28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=149.5</a:t>
            </a:r>
            <a:r>
              <a:rPr lang="en-US" sz="2800" b="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937" name="Line 44"/>
          <p:cNvSpPr/>
          <p:nvPr/>
        </p:nvSpPr>
        <p:spPr>
          <a:xfrm flipH="1">
            <a:off x="4890960" y="4191120"/>
            <a:ext cx="140832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38" name="Line 45"/>
          <p:cNvSpPr/>
          <p:nvPr/>
        </p:nvSpPr>
        <p:spPr>
          <a:xfrm flipH="1">
            <a:off x="2136600" y="4189320"/>
            <a:ext cx="140832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39" name="Line 52"/>
          <p:cNvSpPr/>
          <p:nvPr/>
        </p:nvSpPr>
        <p:spPr>
          <a:xfrm>
            <a:off x="5880240" y="2494080"/>
            <a:ext cx="36648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40" name="Line 53"/>
          <p:cNvSpPr/>
          <p:nvPr/>
        </p:nvSpPr>
        <p:spPr>
          <a:xfrm flipV="1">
            <a:off x="5867280" y="1902960"/>
            <a:ext cx="136800" cy="57492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41" name="Line 54"/>
          <p:cNvSpPr/>
          <p:nvPr/>
        </p:nvSpPr>
        <p:spPr>
          <a:xfrm>
            <a:off x="4343400" y="3087720"/>
            <a:ext cx="63828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42" name="Line 55"/>
          <p:cNvSpPr/>
          <p:nvPr/>
        </p:nvSpPr>
        <p:spPr>
          <a:xfrm flipH="1" flipV="1">
            <a:off x="3558960" y="2768400"/>
            <a:ext cx="447480" cy="24588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943" name="Group 56"/>
          <p:cNvGrpSpPr/>
          <p:nvPr/>
        </p:nvGrpSpPr>
        <p:grpSpPr>
          <a:xfrm>
            <a:off x="3863880" y="1776240"/>
            <a:ext cx="2021040" cy="1252440"/>
            <a:chOff x="3863880" y="1776240"/>
            <a:chExt cx="2021040" cy="1252440"/>
          </a:xfrm>
        </p:grpSpPr>
        <p:sp>
          <p:nvSpPr>
            <p:cNvPr id="944" name="Freeform 57"/>
            <p:cNvSpPr/>
            <p:nvPr/>
          </p:nvSpPr>
          <p:spPr>
            <a:xfrm>
              <a:off x="3863880" y="1776240"/>
              <a:ext cx="2021040" cy="1252440"/>
            </a:xfrm>
            <a:custGeom>
              <a:avLst/>
              <a:gdLst>
                <a:gd name="GluePoint1X" fmla="*/ 1242 w 1273"/>
                <a:gd name="GluePoint1Y" fmla="*/ 442 h 789"/>
                <a:gd name="GluePoint2X" fmla="*/ 1261 w 1273"/>
                <a:gd name="GluePoint2Y" fmla="*/ 295 h 789"/>
                <a:gd name="GluePoint3X" fmla="*/ 1169 w 1273"/>
                <a:gd name="GluePoint3Y" fmla="*/ 140 h 789"/>
                <a:gd name="GluePoint4X" fmla="*/ 886 w 1273"/>
                <a:gd name="GluePoint4Y" fmla="*/ 12 h 789"/>
                <a:gd name="GluePoint5X" fmla="*/ 429 w 1273"/>
                <a:gd name="GluePoint5Y" fmla="*/ 67 h 789"/>
                <a:gd name="GluePoint6X" fmla="*/ 90 w 1273"/>
                <a:gd name="GluePoint6Y" fmla="*/ 295 h 789"/>
                <a:gd name="GluePoint7X" fmla="*/ 8 w 1273"/>
                <a:gd name="GluePoint7Y" fmla="*/ 615 h 789"/>
                <a:gd name="GluePoint8X" fmla="*/ 136 w 1273"/>
                <a:gd name="GluePoint8Y" fmla="*/ 789 h 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273" h="789">
                  <a:moveTo>
                    <a:pt x="1242" y="442"/>
                  </a:moveTo>
                  <a:cubicBezTo>
                    <a:pt x="1245" y="418"/>
                    <a:pt x="1273" y="345"/>
                    <a:pt x="1261" y="295"/>
                  </a:cubicBezTo>
                  <a:cubicBezTo>
                    <a:pt x="1249" y="245"/>
                    <a:pt x="1231" y="187"/>
                    <a:pt x="1169" y="140"/>
                  </a:cubicBezTo>
                  <a:cubicBezTo>
                    <a:pt x="1107" y="93"/>
                    <a:pt x="1009" y="24"/>
                    <a:pt x="886" y="12"/>
                  </a:cubicBezTo>
                  <a:cubicBezTo>
                    <a:pt x="763" y="0"/>
                    <a:pt x="562" y="20"/>
                    <a:pt x="429" y="67"/>
                  </a:cubicBezTo>
                  <a:cubicBezTo>
                    <a:pt x="296" y="114"/>
                    <a:pt x="160" y="204"/>
                    <a:pt x="90" y="295"/>
                  </a:cubicBezTo>
                  <a:cubicBezTo>
                    <a:pt x="20" y="386"/>
                    <a:pt x="0" y="533"/>
                    <a:pt x="8" y="615"/>
                  </a:cubicBezTo>
                  <a:cubicBezTo>
                    <a:pt x="16" y="697"/>
                    <a:pt x="109" y="753"/>
                    <a:pt x="136" y="789"/>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45" name="Line 58"/>
            <p:cNvSpPr/>
            <p:nvPr/>
          </p:nvSpPr>
          <p:spPr>
            <a:xfrm flipH="1">
              <a:off x="4965840" y="1793880"/>
              <a:ext cx="33336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946" name="Group 62"/>
          <p:cNvGrpSpPr/>
          <p:nvPr/>
        </p:nvGrpSpPr>
        <p:grpSpPr>
          <a:xfrm>
            <a:off x="3835440" y="5488200"/>
            <a:ext cx="2020680" cy="1252440"/>
            <a:chOff x="3835440" y="5488200"/>
            <a:chExt cx="2020680" cy="1252440"/>
          </a:xfrm>
        </p:grpSpPr>
        <p:sp>
          <p:nvSpPr>
            <p:cNvPr id="947" name="Freeform 63"/>
            <p:cNvSpPr/>
            <p:nvPr/>
          </p:nvSpPr>
          <p:spPr>
            <a:xfrm flipV="1">
              <a:off x="3835440" y="5487840"/>
              <a:ext cx="2020680" cy="1252440"/>
            </a:xfrm>
            <a:custGeom>
              <a:avLst/>
              <a:gdLst>
                <a:gd name="GluePoint1X" fmla="*/ 1242 w 1273"/>
                <a:gd name="GluePoint1Y" fmla="*/ 442 h 789"/>
                <a:gd name="GluePoint2X" fmla="*/ 1261 w 1273"/>
                <a:gd name="GluePoint2Y" fmla="*/ 295 h 789"/>
                <a:gd name="GluePoint3X" fmla="*/ 1169 w 1273"/>
                <a:gd name="GluePoint3Y" fmla="*/ 140 h 789"/>
                <a:gd name="GluePoint4X" fmla="*/ 886 w 1273"/>
                <a:gd name="GluePoint4Y" fmla="*/ 12 h 789"/>
                <a:gd name="GluePoint5X" fmla="*/ 429 w 1273"/>
                <a:gd name="GluePoint5Y" fmla="*/ 67 h 789"/>
                <a:gd name="GluePoint6X" fmla="*/ 90 w 1273"/>
                <a:gd name="GluePoint6Y" fmla="*/ 295 h 789"/>
                <a:gd name="GluePoint7X" fmla="*/ 8 w 1273"/>
                <a:gd name="GluePoint7Y" fmla="*/ 615 h 789"/>
                <a:gd name="GluePoint8X" fmla="*/ 136 w 1273"/>
                <a:gd name="GluePoint8Y" fmla="*/ 789 h 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273" h="789">
                  <a:moveTo>
                    <a:pt x="1242" y="442"/>
                  </a:moveTo>
                  <a:cubicBezTo>
                    <a:pt x="1245" y="418"/>
                    <a:pt x="1273" y="345"/>
                    <a:pt x="1261" y="295"/>
                  </a:cubicBezTo>
                  <a:cubicBezTo>
                    <a:pt x="1249" y="245"/>
                    <a:pt x="1231" y="187"/>
                    <a:pt x="1169" y="140"/>
                  </a:cubicBezTo>
                  <a:cubicBezTo>
                    <a:pt x="1107" y="93"/>
                    <a:pt x="1009" y="24"/>
                    <a:pt x="886" y="12"/>
                  </a:cubicBezTo>
                  <a:cubicBezTo>
                    <a:pt x="763" y="0"/>
                    <a:pt x="562" y="20"/>
                    <a:pt x="429" y="67"/>
                  </a:cubicBezTo>
                  <a:cubicBezTo>
                    <a:pt x="296" y="114"/>
                    <a:pt x="160" y="204"/>
                    <a:pt x="90" y="295"/>
                  </a:cubicBezTo>
                  <a:cubicBezTo>
                    <a:pt x="20" y="386"/>
                    <a:pt x="0" y="533"/>
                    <a:pt x="8" y="615"/>
                  </a:cubicBezTo>
                  <a:cubicBezTo>
                    <a:pt x="16" y="697"/>
                    <a:pt x="109" y="753"/>
                    <a:pt x="136" y="789"/>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48" name="Line 64"/>
            <p:cNvSpPr/>
            <p:nvPr/>
          </p:nvSpPr>
          <p:spPr>
            <a:xfrm flipH="1">
              <a:off x="4936680" y="6723000"/>
              <a:ext cx="333000" cy="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timing>
    <p:tnLst>
      <p:par>
        <p:cTn id="1907" dur="indefinite" restart="never" nodeType="tmRoot">
          <p:childTnLst>
            <p:seq>
              <p:cTn id="1908" dur="indefinite" nodeType="mainSeq">
                <p:childTnLst>
                  <p:par>
                    <p:cTn id="1909" fill="hold" nodeType="clickEffect">
                      <p:stCondLst>
                        <p:cond delay="indefinite"/>
                      </p:stCondLst>
                      <p:childTnLst>
                        <p:par>
                          <p:cTn id="1910" fill="hold" nodeType="withEffect">
                            <p:stCondLst>
                              <p:cond delay="0"/>
                            </p:stCondLst>
                            <p:childTnLst>
                              <p:par>
                                <p:cTn id="1911" presetID="9" presetClass="entr" fill="hold" nodeType="clickEffect">
                                  <p:stCondLst>
                                    <p:cond delay="0"/>
                                  </p:stCondLst>
                                  <p:childTnLst>
                                    <p:set>
                                      <p:cBhvr>
                                        <p:cTn id="1912" dur="1" fill="hold">
                                          <p:stCondLst>
                                            <p:cond delay="0"/>
                                          </p:stCondLst>
                                        </p:cTn>
                                        <p:tgtEl>
                                          <p:spTgt spid="935"/>
                                        </p:tgtEl>
                                        <p:attrNameLst>
                                          <p:attrName>style.visibility</p:attrName>
                                        </p:attrNameLst>
                                      </p:cBhvr>
                                      <p:to>
                                        <p:strVal val="visible"/>
                                      </p:to>
                                    </p:set>
                                    <p:animEffect transition="in" filter="dissolve">
                                      <p:cBhvr additive="repl">
                                        <p:cTn id="1913" dur="500"/>
                                        <p:tgtEl>
                                          <p:spTgt spid="935"/>
                                        </p:tgtEl>
                                      </p:cBhvr>
                                    </p:animEffect>
                                  </p:childTnLst>
                                </p:cTn>
                              </p:par>
                            </p:childTnLst>
                          </p:cTn>
                        </p:par>
                      </p:childTnLst>
                    </p:cTn>
                  </p:par>
                  <p:par>
                    <p:cTn id="1914" fill="hold" nodeType="clickEffect">
                      <p:stCondLst>
                        <p:cond delay="indefinite"/>
                      </p:stCondLst>
                      <p:childTnLst>
                        <p:par>
                          <p:cTn id="1915" fill="hold" nodeType="withEffect">
                            <p:stCondLst>
                              <p:cond delay="0"/>
                            </p:stCondLst>
                            <p:childTnLst>
                              <p:par>
                                <p:cTn id="1916" presetID="3" presetClass="entr" fill="hold" nodeType="clickEffect" presetSubtype="10">
                                  <p:stCondLst>
                                    <p:cond delay="0"/>
                                  </p:stCondLst>
                                  <p:childTnLst>
                                    <p:set>
                                      <p:cBhvr>
                                        <p:cTn id="1917" dur="1" fill="hold">
                                          <p:stCondLst>
                                            <p:cond delay="0"/>
                                          </p:stCondLst>
                                        </p:cTn>
                                        <p:tgtEl>
                                          <p:spTgt spid="936">
                                            <p:txEl>
                                              <p:pRg st="0" end="0"/>
                                            </p:txEl>
                                          </p:spTgt>
                                        </p:tgtEl>
                                        <p:attrNameLst>
                                          <p:attrName>style.visibility</p:attrName>
                                        </p:attrNameLst>
                                      </p:cBhvr>
                                      <p:to>
                                        <p:strVal val="visible"/>
                                      </p:to>
                                    </p:set>
                                    <p:animEffect transition="in" filter="blinds(horizontal)">
                                      <p:cBhvr additive="repl">
                                        <p:cTn id="1918" dur="500"/>
                                        <p:tgtEl>
                                          <p:spTgt spid="936">
                                            <p:txEl>
                                              <p:pRg st="0" end="0"/>
                                            </p:txEl>
                                          </p:spTgt>
                                        </p:tgtEl>
                                      </p:cBhvr>
                                    </p:animEffect>
                                  </p:childTnLst>
                                </p:cTn>
                              </p:par>
                            </p:childTnLst>
                          </p:cTn>
                        </p:par>
                      </p:childTnLst>
                    </p:cTn>
                  </p:par>
                  <p:par>
                    <p:cTn id="1919" fill="hold" nodeType="clickEffect">
                      <p:stCondLst>
                        <p:cond delay="indefinite"/>
                      </p:stCondLst>
                      <p:childTnLst>
                        <p:par>
                          <p:cTn id="1920" fill="hold" nodeType="withEffect">
                            <p:stCondLst>
                              <p:cond delay="0"/>
                            </p:stCondLst>
                            <p:childTnLst>
                              <p:par>
                                <p:cTn id="1921" presetID="9" presetClass="entr" fill="hold" nodeType="clickEffect">
                                  <p:stCondLst>
                                    <p:cond delay="0"/>
                                  </p:stCondLst>
                                  <p:childTnLst>
                                    <p:set>
                                      <p:cBhvr>
                                        <p:cTn id="1922" dur="1" fill="hold">
                                          <p:stCondLst>
                                            <p:cond delay="0"/>
                                          </p:stCondLst>
                                        </p:cTn>
                                        <p:tgtEl>
                                          <p:spTgt spid="895"/>
                                        </p:tgtEl>
                                        <p:attrNameLst>
                                          <p:attrName>style.visibility</p:attrName>
                                        </p:attrNameLst>
                                      </p:cBhvr>
                                      <p:to>
                                        <p:strVal val="visible"/>
                                      </p:to>
                                    </p:set>
                                    <p:animEffect transition="in" filter="dissolve">
                                      <p:cBhvr additive="repl">
                                        <p:cTn id="1923" dur="500"/>
                                        <p:tgtEl>
                                          <p:spTgt spid="895"/>
                                        </p:tgtEl>
                                      </p:cBhvr>
                                    </p:animEffect>
                                  </p:childTnLst>
                                </p:cTn>
                              </p:par>
                            </p:childTnLst>
                          </p:cTn>
                        </p:par>
                      </p:childTnLst>
                    </p:cTn>
                  </p:par>
                  <p:par>
                    <p:cTn id="1924" fill="hold" nodeType="clickEffect">
                      <p:stCondLst>
                        <p:cond delay="indefinite"/>
                      </p:stCondLst>
                      <p:childTnLst>
                        <p:par>
                          <p:cTn id="1925" fill="hold" nodeType="withEffect">
                            <p:stCondLst>
                              <p:cond delay="0"/>
                            </p:stCondLst>
                            <p:childTnLst>
                              <p:par>
                                <p:cTn id="1926" presetID="22" presetClass="entr" fill="hold" nodeType="clickEffect" presetSubtype="2">
                                  <p:stCondLst>
                                    <p:cond delay="0"/>
                                  </p:stCondLst>
                                  <p:childTnLst>
                                    <p:set>
                                      <p:cBhvr>
                                        <p:cTn id="1927" dur="1" fill="hold">
                                          <p:stCondLst>
                                            <p:cond delay="0"/>
                                          </p:stCondLst>
                                        </p:cTn>
                                        <p:tgtEl>
                                          <p:spTgt spid="937"/>
                                        </p:tgtEl>
                                        <p:attrNameLst>
                                          <p:attrName>style.visibility</p:attrName>
                                        </p:attrNameLst>
                                      </p:cBhvr>
                                      <p:to>
                                        <p:strVal val="visible"/>
                                      </p:to>
                                    </p:set>
                                    <p:animEffect transition="in" filter="wipe(right)">
                                      <p:cBhvr additive="repl">
                                        <p:cTn id="1928" dur="500"/>
                                        <p:tgtEl>
                                          <p:spTgt spid="937"/>
                                        </p:tgtEl>
                                      </p:cBhvr>
                                    </p:animEffect>
                                  </p:childTnLst>
                                </p:cTn>
                              </p:par>
                            </p:childTnLst>
                          </p:cTn>
                        </p:par>
                      </p:childTnLst>
                    </p:cTn>
                  </p:par>
                  <p:par>
                    <p:cTn id="1929" fill="hold" nodeType="clickEffect">
                      <p:stCondLst>
                        <p:cond delay="indefinite"/>
                      </p:stCondLst>
                      <p:childTnLst>
                        <p:par>
                          <p:cTn id="1930" fill="hold" nodeType="withEffect">
                            <p:stCondLst>
                              <p:cond delay="0"/>
                            </p:stCondLst>
                            <p:childTnLst>
                              <p:par>
                                <p:cTn id="1931" presetID="22" presetClass="entr" fill="hold" nodeType="clickEffect" presetSubtype="2">
                                  <p:stCondLst>
                                    <p:cond delay="0"/>
                                  </p:stCondLst>
                                  <p:childTnLst>
                                    <p:set>
                                      <p:cBhvr>
                                        <p:cTn id="1932" dur="1" fill="hold">
                                          <p:stCondLst>
                                            <p:cond delay="0"/>
                                          </p:stCondLst>
                                        </p:cTn>
                                        <p:tgtEl>
                                          <p:spTgt spid="938"/>
                                        </p:tgtEl>
                                        <p:attrNameLst>
                                          <p:attrName>style.visibility</p:attrName>
                                        </p:attrNameLst>
                                      </p:cBhvr>
                                      <p:to>
                                        <p:strVal val="visible"/>
                                      </p:to>
                                    </p:set>
                                    <p:animEffect transition="in" filter="wipe(right)">
                                      <p:cBhvr additive="repl">
                                        <p:cTn id="1933" dur="500"/>
                                        <p:tgtEl>
                                          <p:spTgt spid="938"/>
                                        </p:tgtEl>
                                      </p:cBhvr>
                                    </p:animEffect>
                                  </p:childTnLst>
                                </p:cTn>
                              </p:par>
                            </p:childTnLst>
                          </p:cTn>
                        </p:par>
                      </p:childTnLst>
                    </p:cTn>
                  </p:par>
                  <p:par>
                    <p:cTn id="1934" fill="hold" nodeType="clickEffect">
                      <p:stCondLst>
                        <p:cond delay="indefinite"/>
                      </p:stCondLst>
                      <p:childTnLst>
                        <p:par>
                          <p:cTn id="1935" fill="hold" nodeType="withEffect">
                            <p:stCondLst>
                              <p:cond delay="0"/>
                            </p:stCondLst>
                            <p:childTnLst>
                              <p:par>
                                <p:cTn id="1936" presetID="9" presetClass="entr" fill="hold" nodeType="clickEffect">
                                  <p:stCondLst>
                                    <p:cond delay="0"/>
                                  </p:stCondLst>
                                  <p:childTnLst>
                                    <p:set>
                                      <p:cBhvr>
                                        <p:cTn id="1937" dur="1" fill="hold">
                                          <p:stCondLst>
                                            <p:cond delay="0"/>
                                          </p:stCondLst>
                                        </p:cTn>
                                        <p:tgtEl>
                                          <p:spTgt spid="939"/>
                                        </p:tgtEl>
                                        <p:attrNameLst>
                                          <p:attrName>style.visibility</p:attrName>
                                        </p:attrNameLst>
                                      </p:cBhvr>
                                      <p:to>
                                        <p:strVal val="visible"/>
                                      </p:to>
                                    </p:set>
                                    <p:animEffect transition="in" filter="dissolve">
                                      <p:cBhvr additive="repl">
                                        <p:cTn id="1938" dur="500"/>
                                        <p:tgtEl>
                                          <p:spTgt spid="939"/>
                                        </p:tgtEl>
                                      </p:cBhvr>
                                    </p:animEffect>
                                  </p:childTnLst>
                                </p:cTn>
                              </p:par>
                            </p:childTnLst>
                          </p:cTn>
                        </p:par>
                        <p:par>
                          <p:cTn id="1939" fill="hold" nodeType="afterEffect">
                            <p:stCondLst>
                              <p:cond delay="500"/>
                            </p:stCondLst>
                            <p:childTnLst>
                              <p:par>
                                <p:cTn id="1940" presetID="9" presetClass="entr" fill="hold" nodeType="afterEffect">
                                  <p:stCondLst>
                                    <p:cond delay="0"/>
                                  </p:stCondLst>
                                  <p:childTnLst>
                                    <p:set>
                                      <p:cBhvr>
                                        <p:cTn id="1941" dur="1" fill="hold">
                                          <p:stCondLst>
                                            <p:cond delay="0"/>
                                          </p:stCondLst>
                                        </p:cTn>
                                        <p:tgtEl>
                                          <p:spTgt spid="940"/>
                                        </p:tgtEl>
                                        <p:attrNameLst>
                                          <p:attrName>style.visibility</p:attrName>
                                        </p:attrNameLst>
                                      </p:cBhvr>
                                      <p:to>
                                        <p:strVal val="visible"/>
                                      </p:to>
                                    </p:set>
                                    <p:animEffect transition="in" filter="dissolve">
                                      <p:cBhvr additive="repl">
                                        <p:cTn id="1942" dur="500"/>
                                        <p:tgtEl>
                                          <p:spTgt spid="940"/>
                                        </p:tgtEl>
                                      </p:cBhvr>
                                    </p:animEffect>
                                  </p:childTnLst>
                                </p:cTn>
                              </p:par>
                            </p:childTnLst>
                          </p:cTn>
                        </p:par>
                      </p:childTnLst>
                    </p:cTn>
                  </p:par>
                  <p:par>
                    <p:cTn id="1943" fill="hold" nodeType="clickEffect">
                      <p:stCondLst>
                        <p:cond delay="indefinite"/>
                      </p:stCondLst>
                      <p:childTnLst>
                        <p:par>
                          <p:cTn id="1944" fill="hold" nodeType="withEffect">
                            <p:stCondLst>
                              <p:cond delay="0"/>
                            </p:stCondLst>
                            <p:childTnLst>
                              <p:par>
                                <p:cTn id="1945" presetID="9" presetClass="entr" fill="hold" nodeType="clickEffect">
                                  <p:stCondLst>
                                    <p:cond delay="0"/>
                                  </p:stCondLst>
                                  <p:childTnLst>
                                    <p:set>
                                      <p:cBhvr>
                                        <p:cTn id="1946" dur="1" fill="hold">
                                          <p:stCondLst>
                                            <p:cond delay="0"/>
                                          </p:stCondLst>
                                        </p:cTn>
                                        <p:tgtEl>
                                          <p:spTgt spid="941"/>
                                        </p:tgtEl>
                                        <p:attrNameLst>
                                          <p:attrName>style.visibility</p:attrName>
                                        </p:attrNameLst>
                                      </p:cBhvr>
                                      <p:to>
                                        <p:strVal val="visible"/>
                                      </p:to>
                                    </p:set>
                                    <p:animEffect transition="in" filter="dissolve">
                                      <p:cBhvr additive="repl">
                                        <p:cTn id="1947" dur="500"/>
                                        <p:tgtEl>
                                          <p:spTgt spid="941"/>
                                        </p:tgtEl>
                                      </p:cBhvr>
                                    </p:animEffect>
                                  </p:childTnLst>
                                </p:cTn>
                              </p:par>
                            </p:childTnLst>
                          </p:cTn>
                        </p:par>
                        <p:par>
                          <p:cTn id="1948" fill="hold" nodeType="afterEffect">
                            <p:stCondLst>
                              <p:cond delay="500"/>
                            </p:stCondLst>
                            <p:childTnLst>
                              <p:par>
                                <p:cTn id="1949" presetID="9" presetClass="entr" fill="hold" nodeType="afterEffect">
                                  <p:stCondLst>
                                    <p:cond delay="0"/>
                                  </p:stCondLst>
                                  <p:childTnLst>
                                    <p:set>
                                      <p:cBhvr>
                                        <p:cTn id="1950" dur="1" fill="hold">
                                          <p:stCondLst>
                                            <p:cond delay="0"/>
                                          </p:stCondLst>
                                        </p:cTn>
                                        <p:tgtEl>
                                          <p:spTgt spid="942"/>
                                        </p:tgtEl>
                                        <p:attrNameLst>
                                          <p:attrName>style.visibility</p:attrName>
                                        </p:attrNameLst>
                                      </p:cBhvr>
                                      <p:to>
                                        <p:strVal val="visible"/>
                                      </p:to>
                                    </p:set>
                                    <p:animEffect transition="in" filter="dissolve">
                                      <p:cBhvr additive="repl">
                                        <p:cTn id="1951" dur="500"/>
                                        <p:tgtEl>
                                          <p:spTgt spid="942"/>
                                        </p:tgtEl>
                                      </p:cBhvr>
                                    </p:animEffect>
                                  </p:childTnLst>
                                </p:cTn>
                              </p:par>
                            </p:childTnLst>
                          </p:cTn>
                        </p:par>
                      </p:childTnLst>
                    </p:cTn>
                  </p:par>
                  <p:par>
                    <p:cTn id="1952" fill="hold" nodeType="clickEffect">
                      <p:stCondLst>
                        <p:cond delay="indefinite"/>
                      </p:stCondLst>
                      <p:childTnLst>
                        <p:par>
                          <p:cTn id="1953" fill="hold" nodeType="withEffect">
                            <p:stCondLst>
                              <p:cond delay="0"/>
                            </p:stCondLst>
                            <p:childTnLst>
                              <p:par>
                                <p:cTn id="1954" presetID="22" presetClass="entr" fill="hold" nodeType="clickEffect" presetSubtype="2">
                                  <p:stCondLst>
                                    <p:cond delay="0"/>
                                  </p:stCondLst>
                                  <p:childTnLst>
                                    <p:set>
                                      <p:cBhvr>
                                        <p:cTn id="1955" dur="1" fill="hold">
                                          <p:stCondLst>
                                            <p:cond delay="0"/>
                                          </p:stCondLst>
                                        </p:cTn>
                                        <p:tgtEl>
                                          <p:spTgt spid="943"/>
                                        </p:tgtEl>
                                        <p:attrNameLst>
                                          <p:attrName>style.visibility</p:attrName>
                                        </p:attrNameLst>
                                      </p:cBhvr>
                                      <p:to>
                                        <p:strVal val="visible"/>
                                      </p:to>
                                    </p:set>
                                    <p:animEffect transition="in" filter="wipe(right)">
                                      <p:cBhvr additive="repl">
                                        <p:cTn id="1956" dur="500"/>
                                        <p:tgtEl>
                                          <p:spTgt spid="943"/>
                                        </p:tgtEl>
                                      </p:cBhvr>
                                    </p:animEffect>
                                  </p:childTnLst>
                                </p:cTn>
                              </p:par>
                            </p:childTnLst>
                          </p:cTn>
                        </p:par>
                      </p:childTnLst>
                    </p:cTn>
                  </p:par>
                  <p:par>
                    <p:cTn id="1957" fill="hold" nodeType="clickEffect">
                      <p:stCondLst>
                        <p:cond delay="indefinite"/>
                      </p:stCondLst>
                      <p:childTnLst>
                        <p:par>
                          <p:cTn id="1958" fill="hold" nodeType="withEffect">
                            <p:stCondLst>
                              <p:cond delay="0"/>
                            </p:stCondLst>
                            <p:childTnLst>
                              <p:par>
                                <p:cTn id="1959" presetID="22" presetClass="entr" fill="hold" nodeType="clickEffect" presetSubtype="2">
                                  <p:stCondLst>
                                    <p:cond delay="0"/>
                                  </p:stCondLst>
                                  <p:childTnLst>
                                    <p:set>
                                      <p:cBhvr>
                                        <p:cTn id="1960" dur="1" fill="hold">
                                          <p:stCondLst>
                                            <p:cond delay="0"/>
                                          </p:stCondLst>
                                        </p:cTn>
                                        <p:tgtEl>
                                          <p:spTgt spid="946"/>
                                        </p:tgtEl>
                                        <p:attrNameLst>
                                          <p:attrName>style.visibility</p:attrName>
                                        </p:attrNameLst>
                                      </p:cBhvr>
                                      <p:to>
                                        <p:strVal val="visible"/>
                                      </p:to>
                                    </p:set>
                                    <p:animEffect transition="in" filter="wipe(right)">
                                      <p:cBhvr additive="repl">
                                        <p:cTn id="1961" dur="500"/>
                                        <p:tgtEl>
                                          <p:spTgt spid="9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Text Box 7"/>
          <p:cNvSpPr/>
          <p:nvPr/>
        </p:nvSpPr>
        <p:spPr>
          <a:xfrm>
            <a:off x="0" y="1406520"/>
            <a:ext cx="6573960" cy="23893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试绘制出系统的根轨迹。</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解：三个开环极点</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p</a:t>
            </a:r>
            <a:r>
              <a:rPr lang="en-US" sz="2800" b="1" u="none" strike="noStrike" baseline="-25000">
                <a:solidFill>
                  <a:srgbClr val="000000"/>
                </a:solidFill>
                <a:effectLst/>
                <a:uFillTx/>
                <a:latin typeface="Times New Roman"/>
              </a:rPr>
              <a:t>1</a:t>
            </a:r>
            <a:r>
              <a:rPr lang="en-US" sz="2800" b="1" u="none" strike="noStrike">
                <a:solidFill>
                  <a:srgbClr val="000000"/>
                </a:solidFill>
                <a:effectLst/>
                <a:uFillTx/>
                <a:latin typeface="Times New Roman"/>
              </a:rPr>
              <a:t>= 0</a:t>
            </a:r>
            <a:r>
              <a:rPr lang="zh-CN" sz="2800" b="1" u="none" strike="noStrike">
                <a:solidFill>
                  <a:srgbClr val="000000"/>
                </a:solidFill>
                <a:effectLst/>
                <a:uFillTx/>
                <a:latin typeface="Times New Roman"/>
              </a:rPr>
              <a:t>、</a:t>
            </a:r>
            <a:r>
              <a:rPr lang="en-US" sz="2800" b="1" i="1" u="none" strike="noStrike">
                <a:solidFill>
                  <a:srgbClr val="000000"/>
                </a:solidFill>
                <a:effectLst/>
                <a:uFillTx/>
                <a:latin typeface="Times New Roman"/>
              </a:rPr>
              <a:t>p</a:t>
            </a:r>
            <a:r>
              <a:rPr lang="en-US" sz="2800" b="1" u="none" strike="noStrike" baseline="-25000">
                <a:solidFill>
                  <a:srgbClr val="000000"/>
                </a:solidFill>
                <a:effectLst/>
                <a:uFillTx/>
                <a:latin typeface="Times New Roman"/>
              </a:rPr>
              <a:t>2,3 </a:t>
            </a:r>
            <a:r>
              <a:rPr lang="en-US" sz="2800" b="1" u="none" strike="noStrike">
                <a:solidFill>
                  <a:srgbClr val="000000"/>
                </a:solidFill>
                <a:effectLst/>
                <a:uFillTx/>
                <a:latin typeface="Times New Roman"/>
              </a:rPr>
              <a:t>= </a:t>
            </a:r>
            <a:r>
              <a:rPr lang="en-US" sz="2400" b="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1 ±</a:t>
            </a:r>
            <a:r>
              <a:rPr lang="en-US" sz="2800" b="1" i="1" u="none" strike="noStrike">
                <a:solidFill>
                  <a:srgbClr val="000000"/>
                </a:solidFill>
                <a:effectLst/>
                <a:uFillTx/>
                <a:latin typeface="Times New Roman"/>
              </a:rPr>
              <a:t> j</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990033"/>
                </a:solidFill>
                <a:effectLst/>
                <a:uFillTx/>
                <a:latin typeface="Times New Roman"/>
              </a:rPr>
              <a:t>    </a:t>
            </a:r>
            <a:r>
              <a:rPr lang="zh-CN" sz="2800" b="1" u="none" strike="noStrike">
                <a:solidFill>
                  <a:srgbClr val="990033"/>
                </a:solidFill>
                <a:effectLst/>
                <a:uFillTx/>
                <a:latin typeface="Times New Roman"/>
              </a:rPr>
              <a:t>渐近线：</a:t>
            </a:r>
            <a:r>
              <a:rPr lang="zh-CN" sz="2800" b="1" u="none" strike="noStrike">
                <a:solidFill>
                  <a:srgbClr val="000000"/>
                </a:solidFill>
                <a:effectLst/>
                <a:uFillTx/>
                <a:latin typeface="Times New Roman"/>
              </a:rPr>
              <a:t> </a:t>
            </a:r>
            <a:r>
              <a:rPr lang="en-US" sz="2800" b="1" u="none" strike="noStrike">
                <a:solidFill>
                  <a:srgbClr val="000000"/>
                </a:solidFill>
                <a:effectLst/>
                <a:uFillTx/>
                <a:latin typeface="Times New Roman"/>
              </a:rPr>
              <a:t>3</a:t>
            </a:r>
            <a:r>
              <a:rPr lang="zh-CN" sz="2800" b="1" u="none" strike="noStrike">
                <a:solidFill>
                  <a:srgbClr val="000000"/>
                </a:solidFill>
                <a:effectLst/>
                <a:uFillTx/>
                <a:latin typeface="Times New Roman"/>
              </a:rPr>
              <a:t>条</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950" name="Object 23"/>
              <p:cNvSpPr txBox="1"/>
              <p:nvPr/>
            </p:nvSpPr>
            <p:spPr>
              <a:xfrm>
                <a:off x="339840" y="5048280"/>
                <a:ext cx="6095880" cy="1425600"/>
              </a:xfrm>
              <a:prstGeom prst="rect">
                <a:avLst/>
              </a:prstGeom>
            </p:spPr>
            <p:txBody>
              <a:bodyPr/>
              <a:p>
                <a14:m>
                  <m:oMath xmlns:m="http://schemas.openxmlformats.org/officeDocument/2006/math">
                    <m:sSub>
                      <m:e>
                        <m:r>
                          <m:t xml:space="preserve">σ</m:t>
                        </m:r>
                      </m:e>
                      <m:sub>
                        <m:r>
                          <m:t xml:space="preserve">a</m:t>
                        </m:r>
                      </m:sub>
                    </m:sSub>
                    <m:r>
                      <m:t xml:space="preserve">=</m:t>
                    </m:r>
                    <m:f>
                      <m:num>
                        <m:nary>
                          <m:naryPr>
                            <m:chr m:val="∑"/>
                          </m:naryPr>
                          <m:sub>
                            <m:r>
                              <m:t xml:space="preserve">j</m:t>
                            </m:r>
                            <m:r>
                              <m:t xml:space="preserve">=</m:t>
                            </m:r>
                            <m:r>
                              <m:t xml:space="preserve">1</m:t>
                            </m:r>
                          </m:sub>
                          <m:sup>
                            <m:r>
                              <m:t xml:space="preserve">n</m:t>
                            </m:r>
                          </m:sup>
                          <m:e>
                            <m:sSub>
                              <m:e>
                                <m:r>
                                  <m:t xml:space="preserve">p</m:t>
                                </m:r>
                              </m:e>
                              <m:sub>
                                <m:r>
                                  <m:t xml:space="preserve">j</m:t>
                                </m:r>
                              </m:sub>
                            </m:sSub>
                            <m:r>
                              <m:t xml:space="preserve">−</m:t>
                            </m:r>
                            <m:nary>
                              <m:naryPr>
                                <m:chr m:val="∑"/>
                              </m:naryPr>
                              <m:sub>
                                <m:r>
                                  <m:t xml:space="preserve">i</m:t>
                                </m:r>
                                <m:r>
                                  <m:t xml:space="preserve">=</m:t>
                                </m:r>
                                <m:r>
                                  <m:t xml:space="preserve">1</m:t>
                                </m:r>
                              </m:sub>
                              <m:sup>
                                <m:r>
                                  <m:t xml:space="preserve">m</m:t>
                                </m:r>
                              </m:sup>
                              <m:e>
                                <m:sSub>
                                  <m:e>
                                    <m:r>
                                      <m:t xml:space="preserve">z</m:t>
                                    </m:r>
                                  </m:e>
                                  <m:sub>
                                    <m:r>
                                      <m:t xml:space="preserve">i</m:t>
                                    </m:r>
                                  </m:sub>
                                </m:sSub>
                              </m:e>
                            </m:nary>
                          </m:e>
                        </m:nary>
                      </m:num>
                      <m:den>
                        <m:r>
                          <m:t xml:space="preserve">n</m:t>
                        </m:r>
                        <m:r>
                          <m:t xml:space="preserve">−</m:t>
                        </m:r>
                        <m:r>
                          <m:t xml:space="preserve">m</m:t>
                        </m:r>
                      </m:den>
                    </m:f>
                    <m:r>
                      <m:t xml:space="preserve">=</m:t>
                    </m:r>
                    <m:f>
                      <m:num>
                        <m:sSub>
                          <m:e>
                            <m:r>
                              <m:t xml:space="preserve">p</m:t>
                            </m:r>
                          </m:e>
                          <m:sub>
                            <m:r>
                              <m:t xml:space="preserve">1</m:t>
                            </m:r>
                          </m:sub>
                        </m:sSub>
                        <m:r>
                          <m:t xml:space="preserve">+</m:t>
                        </m:r>
                        <m:sSub>
                          <m:e>
                            <m:r>
                              <m:t xml:space="preserve">p</m:t>
                            </m:r>
                          </m:e>
                          <m:sub>
                            <m:r>
                              <m:t xml:space="preserve">2</m:t>
                            </m:r>
                          </m:sub>
                        </m:sSub>
                        <m:r>
                          <m:t xml:space="preserve">+</m:t>
                        </m:r>
                        <m:sSub>
                          <m:e>
                            <m:r>
                              <m:t xml:space="preserve">p</m:t>
                            </m:r>
                          </m:e>
                          <m:sub>
                            <m:r>
                              <m:t xml:space="preserve">3</m:t>
                            </m:r>
                          </m:sub>
                        </m:sSub>
                      </m:num>
                      <m:den>
                        <m:r>
                          <m:t xml:space="preserve">3</m:t>
                        </m:r>
                      </m:den>
                    </m:f>
                    <m:r>
                      <m:t xml:space="preserve">=</m:t>
                    </m:r>
                    <m:r>
                      <m:t xml:space="preserve">−</m:t>
                    </m:r>
                    <m:f>
                      <m:num>
                        <m:r>
                          <m:t xml:space="preserve">2</m:t>
                        </m:r>
                      </m:num>
                      <m:den>
                        <m:r>
                          <m:t xml:space="preserve">3</m:t>
                        </m:r>
                      </m:den>
                    </m:f>
                  </m:oMath>
                </a14:m>
              </a:p>
            </p:txBody>
          </p:sp>
        </mc:Choice>
        <mc:Fallback>
          <p:sp>
            <p:nvSpPr>
              <p:cNvPr id="950" name="Object 23"/>
              <p:cNvSpPr txBox="1"/>
              <p:nvPr/>
            </p:nvSpPr>
            <p:spPr>
              <a:xfrm>
                <a:off x="339840" y="5048280"/>
                <a:ext cx="6095880" cy="1425600"/>
              </a:xfrm>
              <a:prstGeom prst="rect">
                <a:avLst/>
              </a:prstGeom>
              <a:blipFill>
                <a:blip r:embed="rId1"/>
                <a:stretch>
                  <a:fillRect/>
                </a:stretch>
              </a:blipFill>
            </p:spPr>
          </p:sp>
        </mc:Fallback>
      </mc:AlternateContent>
      <mc:AlternateContent>
        <mc:Choice xmlns:a14="http://schemas.microsoft.com/office/drawing/2010/main" Requires="a14">
          <p:sp>
            <p:nvSpPr>
              <p:cNvPr id="951" name="Object 28"/>
              <p:cNvSpPr txBox="1"/>
              <p:nvPr/>
            </p:nvSpPr>
            <p:spPr>
              <a:xfrm>
                <a:off x="304920" y="3997440"/>
                <a:ext cx="4479840" cy="911160"/>
              </a:xfrm>
              <a:prstGeom prst="rect">
                <a:avLst/>
              </a:prstGeom>
            </p:spPr>
            <p:txBody>
              <a:bodyPr/>
              <a:p>
                <a14:m>
                  <m:oMath xmlns:m="http://schemas.openxmlformats.org/officeDocument/2006/math">
                    <m:sSub>
                      <m:e>
                        <m:r>
                          <m:t xml:space="preserve">ϕ</m:t>
                        </m:r>
                      </m:e>
                      <m:sub>
                        <m:r>
                          <m:t xml:space="preserve">a</m:t>
                        </m:r>
                      </m:sub>
                    </m:sSub>
                    <m:r>
                      <m:t xml:space="preserve">=</m:t>
                    </m:r>
                    <m:f>
                      <m:num>
                        <m:r>
                          <m:t xml:space="preserve">2</m:t>
                        </m:r>
                        <m:r>
                          <m:t xml:space="preserve">k</m:t>
                        </m:r>
                        <m:r>
                          <m:t xml:space="preserve">+</m:t>
                        </m:r>
                        <m:r>
                          <m:t xml:space="preserve">1</m:t>
                        </m:r>
                      </m:num>
                      <m:den>
                        <m:r>
                          <m:t xml:space="preserve">n</m:t>
                        </m:r>
                        <m:r>
                          <m:t xml:space="preserve">−</m:t>
                        </m:r>
                        <m:r>
                          <m:t xml:space="preserve">m</m:t>
                        </m:r>
                      </m:den>
                    </m:f>
                    <m:r>
                      <m:t xml:space="preserve">π</m:t>
                    </m:r>
                    <m:r>
                      <m:t xml:space="preserve">=</m:t>
                    </m:r>
                    <m:f>
                      <m:num>
                        <m:r>
                          <m:t xml:space="preserve">π</m:t>
                        </m:r>
                      </m:num>
                      <m:den>
                        <m:r>
                          <m:t xml:space="preserve">3</m:t>
                        </m:r>
                      </m:den>
                    </m:f>
                    <m:r>
                      <m:t xml:space="preserve">，</m:t>
                    </m:r>
                    <m:r>
                      <m:t xml:space="preserve">π</m:t>
                    </m:r>
                    <m:r>
                      <m:t xml:space="preserve">，</m:t>
                    </m:r>
                    <m:r>
                      <m:rPr>
                        <m:lit/>
                        <m:nor/>
                      </m:rPr>
                      <m:t xml:space="preserve">    </m:t>
                    </m:r>
                    <m:f>
                      <m:num>
                        <m:r>
                          <m:t xml:space="preserve">5</m:t>
                        </m:r>
                        <m:r>
                          <m:t xml:space="preserve">π</m:t>
                        </m:r>
                      </m:num>
                      <m:den>
                        <m:r>
                          <m:t xml:space="preserve">3</m:t>
                        </m:r>
                      </m:den>
                    </m:f>
                  </m:oMath>
                </a14:m>
              </a:p>
            </p:txBody>
          </p:sp>
        </mc:Choice>
        <mc:Fallback>
          <p:sp>
            <p:nvSpPr>
              <p:cNvPr id="951" name="Object 28"/>
              <p:cNvSpPr txBox="1"/>
              <p:nvPr/>
            </p:nvSpPr>
            <p:spPr>
              <a:xfrm>
                <a:off x="304920" y="3997440"/>
                <a:ext cx="4479840" cy="911160"/>
              </a:xfrm>
              <a:prstGeom prst="rect">
                <a:avLst/>
              </a:prstGeom>
              <a:blipFill>
                <a:blip r:embed="rId2"/>
                <a:stretch>
                  <a:fillRect/>
                </a:stretch>
              </a:blipFill>
            </p:spPr>
          </p:sp>
        </mc:Fallback>
      </mc:AlternateContent>
      <p:grpSp>
        <p:nvGrpSpPr>
          <p:cNvPr id="952" name="Group 64"/>
          <p:cNvGrpSpPr/>
          <p:nvPr/>
        </p:nvGrpSpPr>
        <p:grpSpPr>
          <a:xfrm>
            <a:off x="4443480" y="525600"/>
            <a:ext cx="4700520" cy="4995360"/>
            <a:chOff x="4443480" y="525600"/>
            <a:chExt cx="4700520" cy="4995360"/>
          </a:xfrm>
        </p:grpSpPr>
        <p:sp>
          <p:nvSpPr>
            <p:cNvPr id="953" name="Line 30"/>
            <p:cNvSpPr/>
            <p:nvPr/>
          </p:nvSpPr>
          <p:spPr>
            <a:xfrm flipV="1">
              <a:off x="7512120" y="718920"/>
              <a:ext cx="0" cy="48020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54" name="Rectangle 31"/>
            <p:cNvSpPr/>
            <p:nvPr/>
          </p:nvSpPr>
          <p:spPr>
            <a:xfrm>
              <a:off x="8694720" y="3000240"/>
              <a:ext cx="44928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955" name="Rectangle 32"/>
            <p:cNvSpPr/>
            <p:nvPr/>
          </p:nvSpPr>
          <p:spPr>
            <a:xfrm>
              <a:off x="7410600" y="335124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956" name="Line 33"/>
            <p:cNvSpPr/>
            <p:nvPr/>
          </p:nvSpPr>
          <p:spPr>
            <a:xfrm>
              <a:off x="4443480" y="3290760"/>
              <a:ext cx="4311720" cy="1800"/>
            </a:xfrm>
            <a:prstGeom prst="line">
              <a:avLst/>
            </a:prstGeom>
            <a:ln cap="sq" w="57240">
              <a:solidFill>
                <a:srgbClr val="000000"/>
              </a:solidFill>
              <a:miter/>
              <a:tailEnd len="med" type="triangle" w="med"/>
            </a:ln>
          </p:spPr>
          <p:style>
            <a:lnRef idx="0"/>
            <a:fillRef idx="0"/>
            <a:effectRef idx="0"/>
            <a:fontRef idx="minor"/>
          </p:style>
          <p:txBody>
            <a:bodyPr lIns="90000" tIns="-45000" rIns="90000" bIns="-45000" anchor="t">
              <a:noAutofit/>
            </a:bodyPr>
            <a:p>
              <a:endParaRPr lang="en-US" sz="2800" b="1" u="none" strike="noStrike">
                <a:solidFill>
                  <a:srgbClr val="000000"/>
                </a:solidFill>
                <a:effectLst/>
                <a:uFillTx/>
                <a:latin typeface="Times New Roman"/>
              </a:endParaRPr>
            </a:p>
          </p:txBody>
        </p:sp>
        <p:sp>
          <p:nvSpPr>
            <p:cNvPr id="957" name="Line 35"/>
            <p:cNvSpPr/>
            <p:nvPr/>
          </p:nvSpPr>
          <p:spPr>
            <a:xfrm>
              <a:off x="6437160" y="317340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58" name="Line 36"/>
            <p:cNvSpPr/>
            <p:nvPr/>
          </p:nvSpPr>
          <p:spPr>
            <a:xfrm>
              <a:off x="6437160" y="3193920"/>
              <a:ext cx="0" cy="176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59" name="Line 38"/>
            <p:cNvSpPr/>
            <p:nvPr/>
          </p:nvSpPr>
          <p:spPr>
            <a:xfrm>
              <a:off x="5324400" y="3193920"/>
              <a:ext cx="0" cy="17640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60" name="Line 39"/>
            <p:cNvSpPr/>
            <p:nvPr/>
          </p:nvSpPr>
          <p:spPr>
            <a:xfrm>
              <a:off x="5324400" y="317340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61" name="Line 41"/>
            <p:cNvSpPr/>
            <p:nvPr/>
          </p:nvSpPr>
          <p:spPr>
            <a:xfrm flipV="1">
              <a:off x="7426440" y="4492080"/>
              <a:ext cx="16164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962" name="Line 42"/>
            <p:cNvSpPr/>
            <p:nvPr/>
          </p:nvSpPr>
          <p:spPr>
            <a:xfrm flipV="1">
              <a:off x="7426440" y="3917520"/>
              <a:ext cx="16164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963" name="Line 43"/>
            <p:cNvSpPr/>
            <p:nvPr/>
          </p:nvSpPr>
          <p:spPr>
            <a:xfrm flipV="1">
              <a:off x="7448400" y="2036160"/>
              <a:ext cx="16200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964" name="Rectangle 45"/>
            <p:cNvSpPr/>
            <p:nvPr/>
          </p:nvSpPr>
          <p:spPr>
            <a:xfrm>
              <a:off x="6670800" y="52560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grpSp>
      <p:grpSp>
        <p:nvGrpSpPr>
          <p:cNvPr id="965" name="Group 47"/>
          <p:cNvGrpSpPr/>
          <p:nvPr/>
        </p:nvGrpSpPr>
        <p:grpSpPr>
          <a:xfrm>
            <a:off x="7375680" y="3137040"/>
            <a:ext cx="287280" cy="290520"/>
            <a:chOff x="7375680" y="3137040"/>
            <a:chExt cx="287280" cy="290520"/>
          </a:xfrm>
        </p:grpSpPr>
        <p:sp>
          <p:nvSpPr>
            <p:cNvPr id="966" name="Line 48"/>
            <p:cNvSpPr/>
            <p:nvPr/>
          </p:nvSpPr>
          <p:spPr>
            <a:xfrm>
              <a:off x="7378920" y="314496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67" name="Line 49"/>
            <p:cNvSpPr/>
            <p:nvPr/>
          </p:nvSpPr>
          <p:spPr>
            <a:xfrm flipH="1">
              <a:off x="7375680" y="313704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968" name="Group 50"/>
          <p:cNvGrpSpPr/>
          <p:nvPr/>
        </p:nvGrpSpPr>
        <p:grpSpPr>
          <a:xfrm>
            <a:off x="6303960" y="1920960"/>
            <a:ext cx="287280" cy="290520"/>
            <a:chOff x="6303960" y="1920960"/>
            <a:chExt cx="287280" cy="290520"/>
          </a:xfrm>
        </p:grpSpPr>
        <p:sp>
          <p:nvSpPr>
            <p:cNvPr id="969" name="Line 51"/>
            <p:cNvSpPr/>
            <p:nvPr/>
          </p:nvSpPr>
          <p:spPr>
            <a:xfrm>
              <a:off x="6307200" y="19288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0" name="Line 52"/>
            <p:cNvSpPr/>
            <p:nvPr/>
          </p:nvSpPr>
          <p:spPr>
            <a:xfrm flipH="1">
              <a:off x="6303960" y="19209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971" name="Group 53"/>
          <p:cNvGrpSpPr/>
          <p:nvPr/>
        </p:nvGrpSpPr>
        <p:grpSpPr>
          <a:xfrm>
            <a:off x="6303960" y="4359240"/>
            <a:ext cx="287280" cy="290520"/>
            <a:chOff x="6303960" y="4359240"/>
            <a:chExt cx="287280" cy="290520"/>
          </a:xfrm>
        </p:grpSpPr>
        <p:sp>
          <p:nvSpPr>
            <p:cNvPr id="972" name="Line 54"/>
            <p:cNvSpPr/>
            <p:nvPr/>
          </p:nvSpPr>
          <p:spPr>
            <a:xfrm>
              <a:off x="6307200" y="436716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3" name="Line 55"/>
            <p:cNvSpPr/>
            <p:nvPr/>
          </p:nvSpPr>
          <p:spPr>
            <a:xfrm flipH="1">
              <a:off x="6303960" y="435924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974" name="Line 56"/>
          <p:cNvSpPr/>
          <p:nvPr/>
        </p:nvSpPr>
        <p:spPr>
          <a:xfrm flipV="1">
            <a:off x="6727680" y="979200"/>
            <a:ext cx="1365480" cy="230508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5" name="Line 57"/>
          <p:cNvSpPr/>
          <p:nvPr/>
        </p:nvSpPr>
        <p:spPr>
          <a:xfrm>
            <a:off x="6740640" y="3309840"/>
            <a:ext cx="1266840" cy="213840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6" name="Line 58"/>
          <p:cNvSpPr/>
          <p:nvPr/>
        </p:nvSpPr>
        <p:spPr>
          <a:xfrm flipH="1" flipV="1">
            <a:off x="3860640" y="3279600"/>
            <a:ext cx="2874960" cy="12960"/>
          </a:xfrm>
          <a:prstGeom prst="line">
            <a:avLst/>
          </a:prstGeom>
          <a:ln w="76320">
            <a:solidFill>
              <a:srgbClr val="990033"/>
            </a:solidFill>
            <a:prstDash val="sysDot"/>
            <a:miter/>
          </a:ln>
        </p:spPr>
        <p:style>
          <a:lnRef idx="0"/>
          <a:fillRef idx="0"/>
          <a:effectRef idx="0"/>
          <a:fontRef idx="minor"/>
        </p:style>
        <p:txBody>
          <a:bodyPr lIns="90000" tIns="-33840" rIns="90000" bIns="-33840" anchor="t">
            <a:noAutofit/>
          </a:bodyPr>
          <a:p>
            <a:endParaRPr lang="en-US" sz="2800" b="1" u="none" strike="noStrike">
              <a:solidFill>
                <a:srgbClr val="000000"/>
              </a:solidFill>
              <a:effectLst/>
              <a:uFillTx/>
              <a:latin typeface="Times New Roman"/>
            </a:endParaRPr>
          </a:p>
        </p:txBody>
      </p:sp>
      <p:sp>
        <p:nvSpPr>
          <p:cNvPr id="977" name="Line 60"/>
          <p:cNvSpPr/>
          <p:nvPr/>
        </p:nvSpPr>
        <p:spPr>
          <a:xfrm>
            <a:off x="6448320" y="2046240"/>
            <a:ext cx="536760" cy="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8" name="Line 61"/>
          <p:cNvSpPr/>
          <p:nvPr/>
        </p:nvSpPr>
        <p:spPr>
          <a:xfrm>
            <a:off x="6448320" y="2066760"/>
            <a:ext cx="451080" cy="53532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79" name="Rectangle 67"/>
          <p:cNvSpPr/>
          <p:nvPr/>
        </p:nvSpPr>
        <p:spPr>
          <a:xfrm>
            <a:off x="0" y="0"/>
            <a:ext cx="6705720" cy="533520"/>
          </a:xfrm>
          <a:prstGeom prst="rect">
            <a:avLst/>
          </a:prstGeom>
          <a:noFill/>
          <a:ln w="0">
            <a:noFill/>
          </a:ln>
        </p:spPr>
        <p:style>
          <a:lnRef idx="0"/>
          <a:fillRef idx="0"/>
          <a:effectRef idx="0"/>
          <a:fontRef idx="minor"/>
        </p:style>
        <p:txBody>
          <a:bodyPr lIns="90000" tIns="46800" rIns="90000" bIns="46800" anchor="t">
            <a:noAutofit/>
          </a:bodyPr>
          <a:p>
            <a:pPr marL="343080" indent="-34308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FF0000"/>
                </a:solidFill>
                <a:effectLst/>
                <a:uFillTx/>
                <a:latin typeface="Times New Roman"/>
              </a:rPr>
              <a:t>例</a:t>
            </a:r>
            <a:r>
              <a:rPr lang="en-US" sz="2800" b="1" u="none" strike="noStrike">
                <a:solidFill>
                  <a:srgbClr val="FF0000"/>
                </a:solidFill>
                <a:effectLst/>
                <a:uFillTx/>
                <a:latin typeface="Times New Roman"/>
              </a:rPr>
              <a:t>4-6   </a:t>
            </a:r>
            <a:r>
              <a:rPr lang="zh-CN" sz="2800" b="1" u="none" strike="noStrike">
                <a:solidFill>
                  <a:srgbClr val="FF0000"/>
                </a:solidFill>
                <a:effectLst/>
                <a:uFillTx/>
                <a:latin typeface="Times New Roman"/>
              </a:rPr>
              <a:t>设负反馈系统的开环传递函数为</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980" name="Object 68"/>
              <p:cNvSpPr txBox="1"/>
              <p:nvPr/>
            </p:nvSpPr>
            <p:spPr>
              <a:xfrm>
                <a:off x="965160" y="496800"/>
                <a:ext cx="3746520" cy="100188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f>
                      <m:num>
                        <m:sSub>
                          <m:e>
                            <m:r>
                              <m:t xml:space="preserve">K</m:t>
                            </m:r>
                          </m:e>
                          <m:sub>
                            <m:r>
                              <m:t xml:space="preserve">g</m:t>
                            </m:r>
                          </m:sub>
                        </m:sSub>
                      </m:num>
                      <m:den>
                        <m:r>
                          <m:t xml:space="preserve">s</m:t>
                        </m:r>
                        <m:r>
                          <m:t xml:space="preserve">(</m:t>
                        </m:r>
                        <m:sSup>
                          <m:e>
                            <m:r>
                              <m:t xml:space="preserve">s</m:t>
                            </m:r>
                          </m:e>
                          <m:sup>
                            <m:r>
                              <m:t xml:space="preserve">2</m:t>
                            </m:r>
                          </m:sup>
                        </m:sSup>
                        <m:r>
                          <m:t xml:space="preserve">+</m:t>
                        </m:r>
                        <m:r>
                          <m:t xml:space="preserve">2</m:t>
                        </m:r>
                        <m:r>
                          <m:t xml:space="preserve">s</m:t>
                        </m:r>
                        <m:r>
                          <m:t xml:space="preserve">+</m:t>
                        </m:r>
                        <m:r>
                          <m:t xml:space="preserve">2</m:t>
                        </m:r>
                        <m:r>
                          <m:t xml:space="preserve">)</m:t>
                        </m:r>
                      </m:den>
                    </m:f>
                  </m:oMath>
                </a14:m>
              </a:p>
            </p:txBody>
          </p:sp>
        </mc:Choice>
        <mc:Fallback>
          <p:sp>
            <p:nvSpPr>
              <p:cNvPr id="980" name="Object 68"/>
              <p:cNvSpPr txBox="1"/>
              <p:nvPr/>
            </p:nvSpPr>
            <p:spPr>
              <a:xfrm>
                <a:off x="965160" y="496800"/>
                <a:ext cx="3746520" cy="1001880"/>
              </a:xfrm>
              <a:prstGeom prst="rect">
                <a:avLst/>
              </a:prstGeom>
              <a:blipFill>
                <a:blip r:embed="rId3"/>
                <a:stretch>
                  <a:fillRect/>
                </a:stretch>
              </a:blipFill>
            </p:spPr>
          </p:sp>
        </mc:Fallback>
      </mc:AlternateContent>
      <mc:AlternateContent>
        <mc:Choice xmlns:a14="http://schemas.microsoft.com/office/drawing/2010/main" Requires="a14">
          <p:sp>
            <p:nvSpPr>
              <p:cNvPr id="981" name="Object 69"/>
              <p:cNvSpPr txBox="1"/>
              <p:nvPr/>
            </p:nvSpPr>
            <p:spPr>
              <a:xfrm>
                <a:off x="6727680" y="2021040"/>
                <a:ext cx="490680" cy="490320"/>
              </a:xfrm>
              <a:prstGeom prst="rect">
                <a:avLst/>
              </a:prstGeom>
            </p:spPr>
            <p:txBody>
              <a:bodyPr/>
              <a:p>
                <a14:m>
                  <m:oMath xmlns:m="http://schemas.openxmlformats.org/officeDocument/2006/math">
                    <m:sSub>
                      <m:e>
                        <m:r>
                          <m:t xml:space="preserve">θ</m:t>
                        </m:r>
                      </m:e>
                      <m:sub>
                        <m:r>
                          <m:t xml:space="preserve">p</m:t>
                        </m:r>
                        <m:r>
                          <m:t xml:space="preserve">2</m:t>
                        </m:r>
                      </m:sub>
                    </m:sSub>
                  </m:oMath>
                </a14:m>
              </a:p>
            </p:txBody>
          </p:sp>
        </mc:Choice>
        <mc:Fallback>
          <p:sp>
            <p:nvSpPr>
              <p:cNvPr id="981" name="Object 69"/>
              <p:cNvSpPr txBox="1"/>
              <p:nvPr/>
            </p:nvSpPr>
            <p:spPr>
              <a:xfrm>
                <a:off x="6727680" y="2021040"/>
                <a:ext cx="490680" cy="490320"/>
              </a:xfrm>
              <a:prstGeom prst="rect">
                <a:avLst/>
              </a:prstGeom>
              <a:blipFill>
                <a:blip r:embed="rId4"/>
                <a:stretch>
                  <a:fillRect/>
                </a:stretch>
              </a:blipFill>
            </p:spPr>
          </p:sp>
        </mc:Fallback>
      </mc:AlternateContent>
    </p:spTree>
  </p:cSld>
  <mc:AlternateContent>
    <mc:Choice Requires="p14">
      <p:transition spd="slow" p14:dur="2000"/>
    </mc:Choice>
    <mc:Fallback>
      <p:transition spd="slow"/>
    </mc:Fallback>
  </mc:AlternateContent>
  <p:timing>
    <p:tnLst>
      <p:par>
        <p:cTn id="1962" dur="indefinite" restart="never" nodeType="tmRoot">
          <p:childTnLst>
            <p:seq>
              <p:cTn id="1963" dur="indefinite" nodeType="mainSeq">
                <p:childTnLst>
                  <p:par>
                    <p:cTn id="1964" fill="hold" nodeType="clickEffect">
                      <p:stCondLst>
                        <p:cond delay="indefinite"/>
                      </p:stCondLst>
                      <p:childTnLst>
                        <p:par>
                          <p:cTn id="1965" fill="hold" nodeType="withEffect">
                            <p:stCondLst>
                              <p:cond delay="0"/>
                            </p:stCondLst>
                            <p:childTnLst>
                              <p:par>
                                <p:cTn id="1966" presetID="2" presetClass="entr" fill="hold" nodeType="clickEffect" presetSubtype="8">
                                  <p:stCondLst>
                                    <p:cond delay="0"/>
                                  </p:stCondLst>
                                  <p:childTnLst>
                                    <p:set>
                                      <p:cBhvr>
                                        <p:cTn id="1967" dur="1" fill="hold">
                                          <p:stCondLst>
                                            <p:cond delay="0"/>
                                          </p:stCondLst>
                                        </p:cTn>
                                        <p:tgtEl>
                                          <p:spTgt spid="979"/>
                                        </p:tgtEl>
                                        <p:attrNameLst>
                                          <p:attrName>style.visibility</p:attrName>
                                        </p:attrNameLst>
                                      </p:cBhvr>
                                      <p:to>
                                        <p:strVal val="visible"/>
                                      </p:to>
                                    </p:set>
                                    <p:anim calcmode="lin" valueType="num">
                                      <p:cBhvr additive="base">
                                        <p:cTn id="1968" dur="500" fill="hold"/>
                                        <p:tgtEl>
                                          <p:spTgt spid="979"/>
                                        </p:tgtEl>
                                        <p:attrNameLst>
                                          <p:attrName>ppt_x</p:attrName>
                                        </p:attrNameLst>
                                      </p:cBhvr>
                                      <p:tavLst>
                                        <p:tav>
                                          <p:val>
                                            <p:strVal val="0-#ppt_w/2"/>
                                          </p:val>
                                        </p:tav>
                                        <p:tav tm="100000">
                                          <p:val>
                                            <p:strVal val="#ppt_x"/>
                                          </p:val>
                                        </p:tav>
                                      </p:tavLst>
                                    </p:anim>
                                    <p:anim calcmode="lin" valueType="num">
                                      <p:cBhvr additive="base">
                                        <p:cTn id="1969" dur="500" fill="hold"/>
                                        <p:tgtEl>
                                          <p:spTgt spid="979"/>
                                        </p:tgtEl>
                                        <p:attrNameLst>
                                          <p:attrName>ppt_y</p:attrName>
                                        </p:attrNameLst>
                                      </p:cBhvr>
                                      <p:tavLst>
                                        <p:tav>
                                          <p:val>
                                            <p:strVal val="#ppt_y"/>
                                          </p:val>
                                        </p:tav>
                                        <p:tav tm="100000">
                                          <p:val>
                                            <p:strVal val="#ppt_y"/>
                                          </p:val>
                                        </p:tav>
                                      </p:tavLst>
                                    </p:anim>
                                  </p:childTnLst>
                                </p:cTn>
                              </p:par>
                            </p:childTnLst>
                          </p:cTn>
                        </p:par>
                      </p:childTnLst>
                    </p:cTn>
                  </p:par>
                  <p:par>
                    <p:cTn id="1970" fill="hold" nodeType="clickEffect">
                      <p:stCondLst>
                        <p:cond delay="indefinite"/>
                      </p:stCondLst>
                      <p:childTnLst>
                        <p:par>
                          <p:cTn id="1971" fill="hold" nodeType="withEffect">
                            <p:stCondLst>
                              <p:cond delay="0"/>
                            </p:stCondLst>
                            <p:childTnLst>
                              <p:par>
                                <p:cTn id="1972" presetID="9" presetClass="entr" fill="hold" nodeType="clickEffect">
                                  <p:stCondLst>
                                    <p:cond delay="0"/>
                                  </p:stCondLst>
                                  <p:childTnLst>
                                    <p:set>
                                      <p:cBhvr>
                                        <p:cTn id="1973" dur="1" fill="hold">
                                          <p:stCondLst>
                                            <p:cond delay="0"/>
                                          </p:stCondLst>
                                        </p:cTn>
                                        <p:tgtEl>
                                          <p:spTgt spid="980"/>
                                        </p:tgtEl>
                                        <p:attrNameLst>
                                          <p:attrName>style.visibility</p:attrName>
                                        </p:attrNameLst>
                                      </p:cBhvr>
                                      <p:to>
                                        <p:strVal val="visible"/>
                                      </p:to>
                                    </p:set>
                                    <p:animEffect transition="in" filter="dissolve">
                                      <p:cBhvr additive="repl">
                                        <p:cTn id="1974" dur="500"/>
                                        <p:tgtEl>
                                          <p:spTgt spid="980"/>
                                        </p:tgtEl>
                                      </p:cBhvr>
                                    </p:animEffect>
                                  </p:childTnLst>
                                </p:cTn>
                              </p:par>
                            </p:childTnLst>
                          </p:cTn>
                        </p:par>
                      </p:childTnLst>
                    </p:cTn>
                  </p:par>
                  <p:par>
                    <p:cTn id="1975" fill="hold" nodeType="clickEffect">
                      <p:stCondLst>
                        <p:cond delay="indefinite"/>
                      </p:stCondLst>
                      <p:childTnLst>
                        <p:par>
                          <p:cTn id="1976" fill="hold" nodeType="withEffect">
                            <p:stCondLst>
                              <p:cond delay="0"/>
                            </p:stCondLst>
                            <p:childTnLst>
                              <p:par>
                                <p:cTn id="1977" presetID="2" presetClass="entr" fill="hold" nodeType="clickEffect" presetSubtype="8">
                                  <p:stCondLst>
                                    <p:cond delay="0"/>
                                  </p:stCondLst>
                                  <p:childTnLst>
                                    <p:set>
                                      <p:cBhvr>
                                        <p:cTn id="1978" dur="1" fill="hold">
                                          <p:stCondLst>
                                            <p:cond delay="0"/>
                                          </p:stCondLst>
                                        </p:cTn>
                                        <p:tgtEl>
                                          <p:spTgt spid="949">
                                            <p:txEl>
                                              <p:pRg st="0" end="0"/>
                                            </p:txEl>
                                          </p:spTgt>
                                        </p:tgtEl>
                                        <p:attrNameLst>
                                          <p:attrName>style.visibility</p:attrName>
                                        </p:attrNameLst>
                                      </p:cBhvr>
                                      <p:to>
                                        <p:strVal val="visible"/>
                                      </p:to>
                                    </p:set>
                                    <p:anim calcmode="lin" valueType="num">
                                      <p:cBhvr additive="base">
                                        <p:cTn id="1979" dur="500" fill="hold"/>
                                        <p:tgtEl>
                                          <p:spTgt spid="949">
                                            <p:txEl>
                                              <p:pRg st="0" end="0"/>
                                            </p:txEl>
                                          </p:spTgt>
                                        </p:tgtEl>
                                        <p:attrNameLst>
                                          <p:attrName>ppt_x</p:attrName>
                                        </p:attrNameLst>
                                      </p:cBhvr>
                                      <p:tavLst>
                                        <p:tav>
                                          <p:val>
                                            <p:strVal val="0-#ppt_w/2"/>
                                          </p:val>
                                        </p:tav>
                                        <p:tav tm="100000">
                                          <p:val>
                                            <p:strVal val="#ppt_x"/>
                                          </p:val>
                                        </p:tav>
                                      </p:tavLst>
                                    </p:anim>
                                    <p:anim calcmode="lin" valueType="num">
                                      <p:cBhvr additive="base">
                                        <p:cTn id="1980" dur="500" fill="hold"/>
                                        <p:tgtEl>
                                          <p:spTgt spid="949">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981" fill="hold" nodeType="clickEffect">
                      <p:stCondLst>
                        <p:cond delay="indefinite"/>
                      </p:stCondLst>
                      <p:childTnLst>
                        <p:par>
                          <p:cTn id="1982" fill="hold" nodeType="withEffect">
                            <p:stCondLst>
                              <p:cond delay="0"/>
                            </p:stCondLst>
                            <p:childTnLst>
                              <p:par>
                                <p:cTn id="1983" presetID="2" presetClass="entr" fill="hold" nodeType="clickEffect" presetSubtype="8">
                                  <p:stCondLst>
                                    <p:cond delay="0"/>
                                  </p:stCondLst>
                                  <p:childTnLst>
                                    <p:set>
                                      <p:cBhvr>
                                        <p:cTn id="1984" dur="1" fill="hold">
                                          <p:stCondLst>
                                            <p:cond delay="0"/>
                                          </p:stCondLst>
                                        </p:cTn>
                                        <p:tgtEl>
                                          <p:spTgt spid="949">
                                            <p:txEl>
                                              <p:pRg st="1" end="1"/>
                                            </p:txEl>
                                          </p:spTgt>
                                        </p:tgtEl>
                                        <p:attrNameLst>
                                          <p:attrName>style.visibility</p:attrName>
                                        </p:attrNameLst>
                                      </p:cBhvr>
                                      <p:to>
                                        <p:strVal val="visible"/>
                                      </p:to>
                                    </p:set>
                                    <p:anim calcmode="lin" valueType="num">
                                      <p:cBhvr additive="base">
                                        <p:cTn id="1985" dur="500" fill="hold"/>
                                        <p:tgtEl>
                                          <p:spTgt spid="949">
                                            <p:txEl>
                                              <p:pRg st="1" end="1"/>
                                            </p:txEl>
                                          </p:spTgt>
                                        </p:tgtEl>
                                        <p:attrNameLst>
                                          <p:attrName>ppt_x</p:attrName>
                                        </p:attrNameLst>
                                      </p:cBhvr>
                                      <p:tavLst>
                                        <p:tav>
                                          <p:val>
                                            <p:strVal val="0-#ppt_w/2"/>
                                          </p:val>
                                        </p:tav>
                                        <p:tav tm="100000">
                                          <p:val>
                                            <p:strVal val="#ppt_x"/>
                                          </p:val>
                                        </p:tav>
                                      </p:tavLst>
                                    </p:anim>
                                    <p:anim calcmode="lin" valueType="num">
                                      <p:cBhvr additive="base">
                                        <p:cTn id="1986" dur="500" fill="hold"/>
                                        <p:tgtEl>
                                          <p:spTgt spid="949">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1987" fill="hold" nodeType="clickEffect">
                      <p:stCondLst>
                        <p:cond delay="indefinite"/>
                      </p:stCondLst>
                      <p:childTnLst>
                        <p:par>
                          <p:cTn id="1988" fill="hold" nodeType="withEffect">
                            <p:stCondLst>
                              <p:cond delay="0"/>
                            </p:stCondLst>
                            <p:childTnLst>
                              <p:par>
                                <p:cTn id="1989" presetID="2" presetClass="entr" fill="hold" nodeType="clickEffect" presetSubtype="8">
                                  <p:stCondLst>
                                    <p:cond delay="0"/>
                                  </p:stCondLst>
                                  <p:childTnLst>
                                    <p:set>
                                      <p:cBhvr>
                                        <p:cTn id="1990" dur="1" fill="hold">
                                          <p:stCondLst>
                                            <p:cond delay="0"/>
                                          </p:stCondLst>
                                        </p:cTn>
                                        <p:tgtEl>
                                          <p:spTgt spid="949">
                                            <p:txEl>
                                              <p:pRg st="2" end="2"/>
                                            </p:txEl>
                                          </p:spTgt>
                                        </p:tgtEl>
                                        <p:attrNameLst>
                                          <p:attrName>style.visibility</p:attrName>
                                        </p:attrNameLst>
                                      </p:cBhvr>
                                      <p:to>
                                        <p:strVal val="visible"/>
                                      </p:to>
                                    </p:set>
                                    <p:anim calcmode="lin" valueType="num">
                                      <p:cBhvr additive="base">
                                        <p:cTn id="1991" dur="500" fill="hold"/>
                                        <p:tgtEl>
                                          <p:spTgt spid="949">
                                            <p:txEl>
                                              <p:pRg st="2" end="2"/>
                                            </p:txEl>
                                          </p:spTgt>
                                        </p:tgtEl>
                                        <p:attrNameLst>
                                          <p:attrName>ppt_x</p:attrName>
                                        </p:attrNameLst>
                                      </p:cBhvr>
                                      <p:tavLst>
                                        <p:tav>
                                          <p:val>
                                            <p:strVal val="0-#ppt_w/2"/>
                                          </p:val>
                                        </p:tav>
                                        <p:tav tm="100000">
                                          <p:val>
                                            <p:strVal val="#ppt_x"/>
                                          </p:val>
                                        </p:tav>
                                      </p:tavLst>
                                    </p:anim>
                                    <p:anim calcmode="lin" valueType="num">
                                      <p:cBhvr additive="base">
                                        <p:cTn id="1992" dur="500" fill="hold"/>
                                        <p:tgtEl>
                                          <p:spTgt spid="949">
                                            <p:txEl>
                                              <p:pRg st="2" end="2"/>
                                            </p:txEl>
                                          </p:spTgt>
                                        </p:tgtEl>
                                        <p:attrNameLst>
                                          <p:attrName>ppt_y</p:attrName>
                                        </p:attrNameLst>
                                      </p:cBhvr>
                                      <p:tavLst>
                                        <p:tav>
                                          <p:val>
                                            <p:strVal val="#ppt_y"/>
                                          </p:val>
                                        </p:tav>
                                        <p:tav tm="100000">
                                          <p:val>
                                            <p:strVal val="#ppt_y"/>
                                          </p:val>
                                        </p:tav>
                                      </p:tavLst>
                                    </p:anim>
                                  </p:childTnLst>
                                </p:cTn>
                              </p:par>
                            </p:childTnLst>
                          </p:cTn>
                        </p:par>
                      </p:childTnLst>
                    </p:cTn>
                  </p:par>
                  <p:par>
                    <p:cTn id="1993" fill="hold" nodeType="clickEffect">
                      <p:stCondLst>
                        <p:cond delay="indefinite"/>
                      </p:stCondLst>
                      <p:childTnLst>
                        <p:par>
                          <p:cTn id="1994" fill="hold" nodeType="withEffect">
                            <p:stCondLst>
                              <p:cond delay="0"/>
                            </p:stCondLst>
                            <p:childTnLst>
                              <p:par>
                                <p:cTn id="1995" presetID="9" presetClass="entr" fill="hold" nodeType="clickEffect">
                                  <p:stCondLst>
                                    <p:cond delay="0"/>
                                  </p:stCondLst>
                                  <p:childTnLst>
                                    <p:set>
                                      <p:cBhvr>
                                        <p:cTn id="1996" dur="1" fill="hold">
                                          <p:stCondLst>
                                            <p:cond delay="0"/>
                                          </p:stCondLst>
                                        </p:cTn>
                                        <p:tgtEl>
                                          <p:spTgt spid="952"/>
                                        </p:tgtEl>
                                        <p:attrNameLst>
                                          <p:attrName>style.visibility</p:attrName>
                                        </p:attrNameLst>
                                      </p:cBhvr>
                                      <p:to>
                                        <p:strVal val="visible"/>
                                      </p:to>
                                    </p:set>
                                    <p:animEffect transition="in" filter="dissolve">
                                      <p:cBhvr additive="repl">
                                        <p:cTn id="1997" dur="500"/>
                                        <p:tgtEl>
                                          <p:spTgt spid="952"/>
                                        </p:tgtEl>
                                      </p:cBhvr>
                                    </p:animEffect>
                                  </p:childTnLst>
                                </p:cTn>
                              </p:par>
                            </p:childTnLst>
                          </p:cTn>
                        </p:par>
                      </p:childTnLst>
                    </p:cTn>
                  </p:par>
                  <p:par>
                    <p:cTn id="1998" fill="hold" nodeType="clickEffect">
                      <p:stCondLst>
                        <p:cond delay="indefinite"/>
                      </p:stCondLst>
                      <p:childTnLst>
                        <p:par>
                          <p:cTn id="1999" fill="hold" nodeType="withEffect">
                            <p:stCondLst>
                              <p:cond delay="0"/>
                            </p:stCondLst>
                            <p:childTnLst>
                              <p:par>
                                <p:cTn id="2000" presetID="9" presetClass="entr" fill="hold" nodeType="clickEffect">
                                  <p:stCondLst>
                                    <p:cond delay="0"/>
                                  </p:stCondLst>
                                  <p:childTnLst>
                                    <p:set>
                                      <p:cBhvr>
                                        <p:cTn id="2001" dur="1" fill="hold">
                                          <p:stCondLst>
                                            <p:cond delay="0"/>
                                          </p:stCondLst>
                                        </p:cTn>
                                        <p:tgtEl>
                                          <p:spTgt spid="965"/>
                                        </p:tgtEl>
                                        <p:attrNameLst>
                                          <p:attrName>style.visibility</p:attrName>
                                        </p:attrNameLst>
                                      </p:cBhvr>
                                      <p:to>
                                        <p:strVal val="visible"/>
                                      </p:to>
                                    </p:set>
                                    <p:animEffect transition="in" filter="dissolve">
                                      <p:cBhvr additive="repl">
                                        <p:cTn id="2002" dur="500"/>
                                        <p:tgtEl>
                                          <p:spTgt spid="965"/>
                                        </p:tgtEl>
                                      </p:cBhvr>
                                    </p:animEffect>
                                  </p:childTnLst>
                                </p:cTn>
                              </p:par>
                            </p:childTnLst>
                          </p:cTn>
                        </p:par>
                        <p:par>
                          <p:cTn id="2003" fill="hold" nodeType="afterEffect">
                            <p:stCondLst>
                              <p:cond delay="500"/>
                            </p:stCondLst>
                            <p:childTnLst>
                              <p:par>
                                <p:cTn id="2004" presetID="9" presetClass="entr" fill="hold" nodeType="afterEffect">
                                  <p:stCondLst>
                                    <p:cond delay="0"/>
                                  </p:stCondLst>
                                  <p:childTnLst>
                                    <p:set>
                                      <p:cBhvr>
                                        <p:cTn id="2005" dur="1" fill="hold">
                                          <p:stCondLst>
                                            <p:cond delay="0"/>
                                          </p:stCondLst>
                                        </p:cTn>
                                        <p:tgtEl>
                                          <p:spTgt spid="968"/>
                                        </p:tgtEl>
                                        <p:attrNameLst>
                                          <p:attrName>style.visibility</p:attrName>
                                        </p:attrNameLst>
                                      </p:cBhvr>
                                      <p:to>
                                        <p:strVal val="visible"/>
                                      </p:to>
                                    </p:set>
                                    <p:animEffect transition="in" filter="dissolve">
                                      <p:cBhvr additive="repl">
                                        <p:cTn id="2006" dur="500"/>
                                        <p:tgtEl>
                                          <p:spTgt spid="968"/>
                                        </p:tgtEl>
                                      </p:cBhvr>
                                    </p:animEffect>
                                  </p:childTnLst>
                                </p:cTn>
                              </p:par>
                            </p:childTnLst>
                          </p:cTn>
                        </p:par>
                        <p:par>
                          <p:cTn id="2007" fill="hold" nodeType="afterEffect">
                            <p:stCondLst>
                              <p:cond delay="1000"/>
                            </p:stCondLst>
                            <p:childTnLst>
                              <p:par>
                                <p:cTn id="2008" presetID="9" presetClass="entr" fill="hold" nodeType="afterEffect">
                                  <p:stCondLst>
                                    <p:cond delay="0"/>
                                  </p:stCondLst>
                                  <p:childTnLst>
                                    <p:set>
                                      <p:cBhvr>
                                        <p:cTn id="2009" dur="1" fill="hold">
                                          <p:stCondLst>
                                            <p:cond delay="0"/>
                                          </p:stCondLst>
                                        </p:cTn>
                                        <p:tgtEl>
                                          <p:spTgt spid="971"/>
                                        </p:tgtEl>
                                        <p:attrNameLst>
                                          <p:attrName>style.visibility</p:attrName>
                                        </p:attrNameLst>
                                      </p:cBhvr>
                                      <p:to>
                                        <p:strVal val="visible"/>
                                      </p:to>
                                    </p:set>
                                    <p:animEffect transition="in" filter="dissolve">
                                      <p:cBhvr additive="repl">
                                        <p:cTn id="2010" dur="500"/>
                                        <p:tgtEl>
                                          <p:spTgt spid="971"/>
                                        </p:tgtEl>
                                      </p:cBhvr>
                                    </p:animEffect>
                                  </p:childTnLst>
                                </p:cTn>
                              </p:par>
                            </p:childTnLst>
                          </p:cTn>
                        </p:par>
                      </p:childTnLst>
                    </p:cTn>
                  </p:par>
                  <p:par>
                    <p:cTn id="2011" fill="hold" nodeType="clickEffect">
                      <p:stCondLst>
                        <p:cond delay="indefinite"/>
                      </p:stCondLst>
                      <p:childTnLst>
                        <p:par>
                          <p:cTn id="2012" fill="hold" nodeType="withEffect">
                            <p:stCondLst>
                              <p:cond delay="0"/>
                            </p:stCondLst>
                            <p:childTnLst>
                              <p:par>
                                <p:cTn id="2013" presetID="2" presetClass="entr" fill="hold" nodeType="clickEffect" presetSubtype="8">
                                  <p:stCondLst>
                                    <p:cond delay="0"/>
                                  </p:stCondLst>
                                  <p:childTnLst>
                                    <p:set>
                                      <p:cBhvr>
                                        <p:cTn id="2014" dur="1" fill="hold">
                                          <p:stCondLst>
                                            <p:cond delay="0"/>
                                          </p:stCondLst>
                                        </p:cTn>
                                        <p:tgtEl>
                                          <p:spTgt spid="949">
                                            <p:txEl>
                                              <p:pRg st="3" end="3"/>
                                            </p:txEl>
                                          </p:spTgt>
                                        </p:tgtEl>
                                        <p:attrNameLst>
                                          <p:attrName>style.visibility</p:attrName>
                                        </p:attrNameLst>
                                      </p:cBhvr>
                                      <p:to>
                                        <p:strVal val="visible"/>
                                      </p:to>
                                    </p:set>
                                    <p:anim calcmode="lin" valueType="num">
                                      <p:cBhvr additive="base">
                                        <p:cTn id="2015" dur="500" fill="hold"/>
                                        <p:tgtEl>
                                          <p:spTgt spid="949">
                                            <p:txEl>
                                              <p:pRg st="3" end="3"/>
                                            </p:txEl>
                                          </p:spTgt>
                                        </p:tgtEl>
                                        <p:attrNameLst>
                                          <p:attrName>ppt_x</p:attrName>
                                        </p:attrNameLst>
                                      </p:cBhvr>
                                      <p:tavLst>
                                        <p:tav>
                                          <p:val>
                                            <p:strVal val="0-#ppt_w/2"/>
                                          </p:val>
                                        </p:tav>
                                        <p:tav tm="100000">
                                          <p:val>
                                            <p:strVal val="#ppt_x"/>
                                          </p:val>
                                        </p:tav>
                                      </p:tavLst>
                                    </p:anim>
                                    <p:anim calcmode="lin" valueType="num">
                                      <p:cBhvr additive="base">
                                        <p:cTn id="2016" dur="500" fill="hold"/>
                                        <p:tgtEl>
                                          <p:spTgt spid="949">
                                            <p:txEl>
                                              <p:pRg st="3" end="3"/>
                                            </p:txEl>
                                          </p:spTgt>
                                        </p:tgtEl>
                                        <p:attrNameLst>
                                          <p:attrName>ppt_y</p:attrName>
                                        </p:attrNameLst>
                                      </p:cBhvr>
                                      <p:tavLst>
                                        <p:tav>
                                          <p:val>
                                            <p:strVal val="#ppt_y"/>
                                          </p:val>
                                        </p:tav>
                                        <p:tav tm="100000">
                                          <p:val>
                                            <p:strVal val="#ppt_y"/>
                                          </p:val>
                                        </p:tav>
                                      </p:tavLst>
                                    </p:anim>
                                  </p:childTnLst>
                                </p:cTn>
                              </p:par>
                            </p:childTnLst>
                          </p:cTn>
                        </p:par>
                      </p:childTnLst>
                    </p:cTn>
                  </p:par>
                  <p:par>
                    <p:cTn id="2017" fill="hold" nodeType="clickEffect">
                      <p:stCondLst>
                        <p:cond delay="indefinite"/>
                      </p:stCondLst>
                      <p:childTnLst>
                        <p:par>
                          <p:cTn id="2018" fill="hold" nodeType="withEffect">
                            <p:stCondLst>
                              <p:cond delay="0"/>
                            </p:stCondLst>
                            <p:childTnLst>
                              <p:par>
                                <p:cTn id="2019" presetID="9" presetClass="entr" fill="hold" nodeType="clickEffect">
                                  <p:stCondLst>
                                    <p:cond delay="0"/>
                                  </p:stCondLst>
                                  <p:childTnLst>
                                    <p:set>
                                      <p:cBhvr>
                                        <p:cTn id="2020" dur="1" fill="hold">
                                          <p:stCondLst>
                                            <p:cond delay="0"/>
                                          </p:stCondLst>
                                        </p:cTn>
                                        <p:tgtEl>
                                          <p:spTgt spid="951"/>
                                        </p:tgtEl>
                                        <p:attrNameLst>
                                          <p:attrName>style.visibility</p:attrName>
                                        </p:attrNameLst>
                                      </p:cBhvr>
                                      <p:to>
                                        <p:strVal val="visible"/>
                                      </p:to>
                                    </p:set>
                                    <p:animEffect transition="in" filter="dissolve">
                                      <p:cBhvr additive="repl">
                                        <p:cTn id="2021" dur="500"/>
                                        <p:tgtEl>
                                          <p:spTgt spid="951"/>
                                        </p:tgtEl>
                                      </p:cBhvr>
                                    </p:animEffect>
                                  </p:childTnLst>
                                </p:cTn>
                              </p:par>
                            </p:childTnLst>
                          </p:cTn>
                        </p:par>
                      </p:childTnLst>
                    </p:cTn>
                  </p:par>
                  <p:par>
                    <p:cTn id="2022" fill="hold" nodeType="clickEffect">
                      <p:stCondLst>
                        <p:cond delay="indefinite"/>
                      </p:stCondLst>
                      <p:childTnLst>
                        <p:par>
                          <p:cTn id="2023" fill="hold" nodeType="withEffect">
                            <p:stCondLst>
                              <p:cond delay="0"/>
                            </p:stCondLst>
                            <p:childTnLst>
                              <p:par>
                                <p:cTn id="2024" presetID="9" presetClass="entr" fill="hold" nodeType="clickEffect">
                                  <p:stCondLst>
                                    <p:cond delay="0"/>
                                  </p:stCondLst>
                                  <p:childTnLst>
                                    <p:set>
                                      <p:cBhvr>
                                        <p:cTn id="2025" dur="1" fill="hold">
                                          <p:stCondLst>
                                            <p:cond delay="0"/>
                                          </p:stCondLst>
                                        </p:cTn>
                                        <p:tgtEl>
                                          <p:spTgt spid="950"/>
                                        </p:tgtEl>
                                        <p:attrNameLst>
                                          <p:attrName>style.visibility</p:attrName>
                                        </p:attrNameLst>
                                      </p:cBhvr>
                                      <p:to>
                                        <p:strVal val="visible"/>
                                      </p:to>
                                    </p:set>
                                    <p:animEffect transition="in" filter="dissolve">
                                      <p:cBhvr additive="repl">
                                        <p:cTn id="2026" dur="500"/>
                                        <p:tgtEl>
                                          <p:spTgt spid="950"/>
                                        </p:tgtEl>
                                      </p:cBhvr>
                                    </p:animEffect>
                                  </p:childTnLst>
                                </p:cTn>
                              </p:par>
                            </p:childTnLst>
                          </p:cTn>
                        </p:par>
                      </p:childTnLst>
                    </p:cTn>
                  </p:par>
                  <p:par>
                    <p:cTn id="2027" fill="hold" nodeType="clickEffect">
                      <p:stCondLst>
                        <p:cond delay="indefinite"/>
                      </p:stCondLst>
                      <p:childTnLst>
                        <p:par>
                          <p:cTn id="2028" fill="hold" nodeType="withEffect">
                            <p:stCondLst>
                              <p:cond delay="0"/>
                            </p:stCondLst>
                            <p:childTnLst>
                              <p:par>
                                <p:cTn id="2029" presetID="22" presetClass="entr" fill="hold" nodeType="clickEffect" presetSubtype="8">
                                  <p:stCondLst>
                                    <p:cond delay="0"/>
                                  </p:stCondLst>
                                  <p:childTnLst>
                                    <p:set>
                                      <p:cBhvr>
                                        <p:cTn id="2030" dur="1" fill="hold">
                                          <p:stCondLst>
                                            <p:cond delay="0"/>
                                          </p:stCondLst>
                                        </p:cTn>
                                        <p:tgtEl>
                                          <p:spTgt spid="974"/>
                                        </p:tgtEl>
                                        <p:attrNameLst>
                                          <p:attrName>style.visibility</p:attrName>
                                        </p:attrNameLst>
                                      </p:cBhvr>
                                      <p:to>
                                        <p:strVal val="visible"/>
                                      </p:to>
                                    </p:set>
                                    <p:animEffect transition="in" filter="wipe(left)">
                                      <p:cBhvr additive="repl">
                                        <p:cTn id="2031" dur="500"/>
                                        <p:tgtEl>
                                          <p:spTgt spid="974"/>
                                        </p:tgtEl>
                                      </p:cBhvr>
                                    </p:animEffect>
                                  </p:childTnLst>
                                </p:cTn>
                              </p:par>
                            </p:childTnLst>
                          </p:cTn>
                        </p:par>
                        <p:par>
                          <p:cTn id="2032" fill="hold" nodeType="afterEffect">
                            <p:stCondLst>
                              <p:cond delay="500"/>
                            </p:stCondLst>
                            <p:childTnLst>
                              <p:par>
                                <p:cTn id="2033" presetID="22" presetClass="entr" fill="hold" nodeType="afterEffect" presetSubtype="8">
                                  <p:stCondLst>
                                    <p:cond delay="0"/>
                                  </p:stCondLst>
                                  <p:childTnLst>
                                    <p:set>
                                      <p:cBhvr>
                                        <p:cTn id="2034" dur="1" fill="hold">
                                          <p:stCondLst>
                                            <p:cond delay="0"/>
                                          </p:stCondLst>
                                        </p:cTn>
                                        <p:tgtEl>
                                          <p:spTgt spid="975"/>
                                        </p:tgtEl>
                                        <p:attrNameLst>
                                          <p:attrName>style.visibility</p:attrName>
                                        </p:attrNameLst>
                                      </p:cBhvr>
                                      <p:to>
                                        <p:strVal val="visible"/>
                                      </p:to>
                                    </p:set>
                                    <p:animEffect transition="in" filter="wipe(left)">
                                      <p:cBhvr additive="repl">
                                        <p:cTn id="2035" dur="500"/>
                                        <p:tgtEl>
                                          <p:spTgt spid="975"/>
                                        </p:tgtEl>
                                      </p:cBhvr>
                                    </p:animEffect>
                                  </p:childTnLst>
                                </p:cTn>
                              </p:par>
                            </p:childTnLst>
                          </p:cTn>
                        </p:par>
                      </p:childTnLst>
                    </p:cTn>
                  </p:par>
                  <p:par>
                    <p:cTn id="2036" fill="hold" nodeType="clickEffect">
                      <p:stCondLst>
                        <p:cond delay="indefinite"/>
                      </p:stCondLst>
                      <p:childTnLst>
                        <p:par>
                          <p:cTn id="2037" fill="hold" nodeType="withEffect">
                            <p:stCondLst>
                              <p:cond delay="0"/>
                            </p:stCondLst>
                            <p:childTnLst>
                              <p:par>
                                <p:cTn id="2038" presetID="22" presetClass="entr" fill="hold" nodeType="clickEffect" presetSubtype="2">
                                  <p:stCondLst>
                                    <p:cond delay="0"/>
                                  </p:stCondLst>
                                  <p:childTnLst>
                                    <p:set>
                                      <p:cBhvr>
                                        <p:cTn id="2039" dur="1" fill="hold">
                                          <p:stCondLst>
                                            <p:cond delay="0"/>
                                          </p:stCondLst>
                                        </p:cTn>
                                        <p:tgtEl>
                                          <p:spTgt spid="976"/>
                                        </p:tgtEl>
                                        <p:attrNameLst>
                                          <p:attrName>style.visibility</p:attrName>
                                        </p:attrNameLst>
                                      </p:cBhvr>
                                      <p:to>
                                        <p:strVal val="visible"/>
                                      </p:to>
                                    </p:set>
                                    <p:animEffect transition="in" filter="wipe(right)">
                                      <p:cBhvr additive="repl">
                                        <p:cTn id="2040" dur="500"/>
                                        <p:tgtEl>
                                          <p:spTgt spid="976"/>
                                        </p:tgtEl>
                                      </p:cBhvr>
                                    </p:animEffect>
                                  </p:childTnLst>
                                </p:cTn>
                              </p:par>
                            </p:childTnLst>
                          </p:cTn>
                        </p:par>
                      </p:childTnLst>
                    </p:cTn>
                  </p:par>
                  <p:par>
                    <p:cTn id="2041" fill="hold" nodeType="clickEffect">
                      <p:stCondLst>
                        <p:cond delay="indefinite"/>
                      </p:stCondLst>
                      <p:childTnLst>
                        <p:par>
                          <p:cTn id="2042" fill="hold" nodeType="withEffect">
                            <p:stCondLst>
                              <p:cond delay="0"/>
                            </p:stCondLst>
                            <p:childTnLst>
                              <p:par>
                                <p:cTn id="2043" presetID="9" presetClass="entr" fill="hold" nodeType="clickEffect">
                                  <p:stCondLst>
                                    <p:cond delay="0"/>
                                  </p:stCondLst>
                                  <p:childTnLst>
                                    <p:set>
                                      <p:cBhvr>
                                        <p:cTn id="2044" dur="1" fill="hold">
                                          <p:stCondLst>
                                            <p:cond delay="0"/>
                                          </p:stCondLst>
                                        </p:cTn>
                                        <p:tgtEl>
                                          <p:spTgt spid="977"/>
                                        </p:tgtEl>
                                        <p:attrNameLst>
                                          <p:attrName>style.visibility</p:attrName>
                                        </p:attrNameLst>
                                      </p:cBhvr>
                                      <p:to>
                                        <p:strVal val="visible"/>
                                      </p:to>
                                    </p:set>
                                    <p:animEffect transition="in" filter="dissolve">
                                      <p:cBhvr additive="repl">
                                        <p:cTn id="2045" dur="500"/>
                                        <p:tgtEl>
                                          <p:spTgt spid="977"/>
                                        </p:tgtEl>
                                      </p:cBhvr>
                                    </p:animEffect>
                                  </p:childTnLst>
                                </p:cTn>
                              </p:par>
                            </p:childTnLst>
                          </p:cTn>
                        </p:par>
                        <p:par>
                          <p:cTn id="2046" fill="hold" nodeType="afterEffect">
                            <p:stCondLst>
                              <p:cond delay="500"/>
                            </p:stCondLst>
                            <p:childTnLst>
                              <p:par>
                                <p:cTn id="2047" presetID="9" presetClass="entr" fill="hold" nodeType="afterEffect">
                                  <p:stCondLst>
                                    <p:cond delay="0"/>
                                  </p:stCondLst>
                                  <p:childTnLst>
                                    <p:set>
                                      <p:cBhvr>
                                        <p:cTn id="2048" dur="1" fill="hold">
                                          <p:stCondLst>
                                            <p:cond delay="0"/>
                                          </p:stCondLst>
                                        </p:cTn>
                                        <p:tgtEl>
                                          <p:spTgt spid="978"/>
                                        </p:tgtEl>
                                        <p:attrNameLst>
                                          <p:attrName>style.visibility</p:attrName>
                                        </p:attrNameLst>
                                      </p:cBhvr>
                                      <p:to>
                                        <p:strVal val="visible"/>
                                      </p:to>
                                    </p:set>
                                    <p:animEffect transition="in" filter="dissolve">
                                      <p:cBhvr additive="repl">
                                        <p:cTn id="2049" dur="500"/>
                                        <p:tgtEl>
                                          <p:spTgt spid="978"/>
                                        </p:tgtEl>
                                      </p:cBhvr>
                                    </p:animEffect>
                                  </p:childTnLst>
                                </p:cTn>
                              </p:par>
                            </p:childTnLst>
                          </p:cTn>
                        </p:par>
                        <p:par>
                          <p:cTn id="2050" fill="hold" nodeType="afterEffect">
                            <p:stCondLst>
                              <p:cond delay="1000"/>
                            </p:stCondLst>
                            <p:childTnLst>
                              <p:par>
                                <p:cTn id="2051" presetID="9" presetClass="entr" fill="hold" nodeType="afterEffect">
                                  <p:stCondLst>
                                    <p:cond delay="0"/>
                                  </p:stCondLst>
                                  <p:childTnLst>
                                    <p:set>
                                      <p:cBhvr>
                                        <p:cTn id="2052" dur="1" fill="hold">
                                          <p:stCondLst>
                                            <p:cond delay="0"/>
                                          </p:stCondLst>
                                        </p:cTn>
                                        <p:tgtEl>
                                          <p:spTgt spid="981"/>
                                        </p:tgtEl>
                                        <p:attrNameLst>
                                          <p:attrName>style.visibility</p:attrName>
                                        </p:attrNameLst>
                                      </p:cBhvr>
                                      <p:to>
                                        <p:strVal val="visible"/>
                                      </p:to>
                                    </p:set>
                                    <p:animEffect transition="in" filter="dissolve">
                                      <p:cBhvr additive="repl">
                                        <p:cTn id="2053" dur="500"/>
                                        <p:tgtEl>
                                          <p:spTgt spid="9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mc:AlternateContent>
        <mc:Choice xmlns:a14="http://schemas.microsoft.com/office/drawing/2010/main" Requires="a14">
          <p:sp>
            <p:nvSpPr>
              <p:cNvPr id="982" name="Object 10"/>
              <p:cNvSpPr txBox="1"/>
              <p:nvPr/>
            </p:nvSpPr>
            <p:spPr>
              <a:xfrm>
                <a:off x="3909960" y="5948280"/>
                <a:ext cx="1428840" cy="542880"/>
              </a:xfrm>
              <a:prstGeom prst="rect">
                <a:avLst/>
              </a:prstGeom>
            </p:spPr>
            <p:txBody>
              <a:bodyPr/>
              <a:p>
                <a14:m>
                  <m:oMath xmlns:m="http://schemas.openxmlformats.org/officeDocument/2006/math">
                    <m:r>
                      <m:t xml:space="preserve">s</m:t>
                    </m:r>
                    <m:r>
                      <m:t xml:space="preserve">=</m:t>
                    </m:r>
                    <m:r>
                      <m:t xml:space="preserve">±</m:t>
                    </m:r>
                    <m:r>
                      <m:t xml:space="preserve">j</m:t>
                    </m:r>
                    <m:rad>
                      <m:radPr>
                        <m:degHide m:val="1"/>
                      </m:radPr>
                      <m:deg/>
                      <m:e>
                        <m:r>
                          <m:t xml:space="preserve">2</m:t>
                        </m:r>
                      </m:e>
                    </m:rad>
                  </m:oMath>
                </a14:m>
              </a:p>
            </p:txBody>
          </p:sp>
        </mc:Choice>
        <mc:Fallback>
          <p:sp>
            <p:nvSpPr>
              <p:cNvPr id="982" name="Object 10"/>
              <p:cNvSpPr txBox="1"/>
              <p:nvPr/>
            </p:nvSpPr>
            <p:spPr>
              <a:xfrm>
                <a:off x="3909960" y="5948280"/>
                <a:ext cx="1428840" cy="542880"/>
              </a:xfrm>
              <a:prstGeom prst="rect">
                <a:avLst/>
              </a:prstGeom>
              <a:blipFill>
                <a:blip r:embed="rId1"/>
                <a:stretch>
                  <a:fillRect/>
                </a:stretch>
              </a:blipFill>
            </p:spPr>
          </p:sp>
        </mc:Fallback>
      </mc:AlternateContent>
      <p:sp>
        <p:nvSpPr>
          <p:cNvPr id="983" name="Text Box 12"/>
          <p:cNvSpPr/>
          <p:nvPr/>
        </p:nvSpPr>
        <p:spPr>
          <a:xfrm>
            <a:off x="0" y="1290600"/>
            <a:ext cx="7902720" cy="183456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990033"/>
                </a:solidFill>
                <a:effectLst/>
                <a:uFillTx/>
                <a:latin typeface="Times New Roman"/>
              </a:rPr>
              <a:t> </a:t>
            </a:r>
            <a:r>
              <a:rPr lang="zh-CN" sz="2800" b="1" u="none" strike="noStrike">
                <a:solidFill>
                  <a:srgbClr val="990033"/>
                </a:solidFill>
                <a:effectLst/>
                <a:uFillTx/>
                <a:latin typeface="Times New Roman"/>
              </a:rPr>
              <a:t>根轨迹与虚轴交点</a:t>
            </a:r>
            <a:r>
              <a:rPr lang="zh-CN" sz="2800" b="1" u="none" strike="noStrike">
                <a:solidFill>
                  <a:srgbClr val="000000"/>
                </a:solidFill>
                <a:effectLst/>
                <a:uFillTx/>
                <a:latin typeface="Times New Roman"/>
              </a:rPr>
              <a:t>：系统的闭环特征方程为</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i="1" u="none" strike="noStrike">
                <a:solidFill>
                  <a:srgbClr val="000000"/>
                </a:solidFill>
                <a:effectLst/>
                <a:uFillTx/>
                <a:latin typeface="Times New Roman"/>
              </a:rPr>
              <a:t>                              </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3 </a:t>
            </a:r>
            <a:r>
              <a:rPr lang="en-US" sz="2800" b="1" u="none" strike="noStrike">
                <a:solidFill>
                  <a:srgbClr val="000000"/>
                </a:solidFill>
                <a:effectLst/>
                <a:uFillTx/>
                <a:latin typeface="Times New Roman"/>
              </a:rPr>
              <a:t>+ 2</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+ 2</a:t>
            </a:r>
            <a:r>
              <a:rPr lang="en-US" sz="2800" b="1" i="1" u="none" strike="noStrike">
                <a:solidFill>
                  <a:srgbClr val="000000"/>
                </a:solidFill>
                <a:effectLst/>
                <a:uFillTx/>
                <a:latin typeface="Times New Roman"/>
              </a:rPr>
              <a:t>s </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zh-CN" sz="2800" b="1" u="none" strike="noStrike">
                <a:solidFill>
                  <a:srgbClr val="000000"/>
                </a:solidFill>
                <a:effectLst/>
                <a:uFillTx/>
                <a:latin typeface="Times New Roman"/>
              </a:rPr>
              <a:t>劳斯表</a:t>
            </a:r>
            <a:endParaRPr lang="en-US" sz="2800" b="1" u="none" strike="noStrike">
              <a:solidFill>
                <a:srgbClr val="000000"/>
              </a:solidFill>
              <a:effectLst/>
              <a:uFillTx/>
              <a:latin typeface="Times New Roman"/>
            </a:endParaRPr>
          </a:p>
        </p:txBody>
      </p:sp>
      <p:sp>
        <p:nvSpPr>
          <p:cNvPr id="984" name="Text Box 15"/>
          <p:cNvSpPr/>
          <p:nvPr/>
        </p:nvSpPr>
        <p:spPr>
          <a:xfrm>
            <a:off x="2224080" y="2570040"/>
            <a:ext cx="3581280" cy="1890360"/>
          </a:xfrm>
          <a:prstGeom prst="rect">
            <a:avLst/>
          </a:prstGeom>
          <a:noFill/>
          <a:ln w="0">
            <a:noFill/>
          </a:ln>
        </p:spPr>
        <p:style>
          <a:lnRef idx="0"/>
          <a:fillRef idx="0"/>
          <a:effectRef idx="0"/>
          <a:fontRef idx="minor"/>
        </p:style>
        <p:txBody>
          <a:bodyPr lIns="90000" tIns="46800" rIns="90000" bIns="46800" anchor="t">
            <a:spAutoFit/>
          </a:bodyPr>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3</a:t>
            </a:r>
            <a:r>
              <a:rPr lang="en-US" sz="2800" b="1" u="none" strike="noStrike">
                <a:solidFill>
                  <a:srgbClr val="000000"/>
                </a:solidFill>
                <a:effectLst/>
                <a:uFillTx/>
                <a:latin typeface="Times New Roman"/>
              </a:rPr>
              <a:t>            1               2</a:t>
            </a:r>
            <a:endParaRPr lang="en-US" sz="2800" b="1" u="none" strike="noStrike">
              <a:solidFill>
                <a:srgbClr val="000000"/>
              </a:solidFill>
              <a:effectLst/>
              <a:uFillTx/>
              <a:latin typeface="Times New Roman"/>
            </a:endParaRPr>
          </a:p>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2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endParaRPr lang="en-US" sz="2800" b="1" u="none" strike="noStrike">
              <a:solidFill>
                <a:srgbClr val="000000"/>
              </a:solidFill>
              <a:effectLst/>
              <a:uFillTx/>
              <a:latin typeface="Times New Roman"/>
            </a:endParaRPr>
          </a:p>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        </a:t>
            </a:r>
            <a:r>
              <a:rPr lang="en-US" sz="2800" b="1" u="none" strike="noStrike">
                <a:solidFill>
                  <a:srgbClr val="000000"/>
                </a:solidFill>
                <a:effectLst/>
                <a:uFillTx/>
                <a:latin typeface="Times New Roman"/>
              </a:rPr>
              <a:t>(4</a:t>
            </a:r>
            <a:r>
              <a:rPr lang="en-US" sz="2800" b="1" i="1" u="none" strike="noStrike">
                <a:solidFill>
                  <a:srgbClr val="000000"/>
                </a:solidFill>
                <a:effectLst/>
                <a:uFillTx/>
                <a:latin typeface="Symbol"/>
                <a:ea typeface="Symbol"/>
              </a:rPr>
              <a:t></a:t>
            </a:r>
            <a:r>
              <a:rPr lang="en-US" sz="2800" b="1" u="none" strike="noStrike">
                <a:solidFill>
                  <a:srgbClr val="000000"/>
                </a:solidFill>
                <a:effectLst/>
                <a:uFillTx/>
                <a:latin typeface="Times New Roman"/>
              </a:rPr>
              <a:t>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)/2</a:t>
            </a:r>
            <a:endParaRPr lang="en-US" sz="2800" b="1" u="none" strike="noStrike">
              <a:solidFill>
                <a:srgbClr val="000000"/>
              </a:solidFill>
              <a:effectLst/>
              <a:uFillTx/>
              <a:latin typeface="Times New Roman"/>
            </a:endParaRPr>
          </a:p>
          <a:p>
            <a:pPr>
              <a:lnSpc>
                <a:spcPct val="60000"/>
              </a:lnSpc>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0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i="1" u="none" strike="noStrike" baseline="30000">
                <a:solidFill>
                  <a:srgbClr val="000000"/>
                </a:solidFill>
                <a:effectLst/>
                <a:uFillTx/>
                <a:latin typeface="Times New Roman"/>
              </a:rPr>
              <a:t> </a:t>
            </a:r>
            <a:endParaRPr lang="en-US" sz="2800" b="1" u="none" strike="noStrike">
              <a:solidFill>
                <a:srgbClr val="000000"/>
              </a:solidFill>
              <a:effectLst/>
              <a:uFillTx/>
              <a:latin typeface="Times New Roman"/>
            </a:endParaRPr>
          </a:p>
        </p:txBody>
      </p:sp>
      <p:sp>
        <p:nvSpPr>
          <p:cNvPr id="985" name="Line 16"/>
          <p:cNvSpPr/>
          <p:nvPr/>
        </p:nvSpPr>
        <p:spPr>
          <a:xfrm>
            <a:off x="2859120" y="2481120"/>
            <a:ext cx="0" cy="193068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86" name="Text Box 17"/>
          <p:cNvSpPr/>
          <p:nvPr/>
        </p:nvSpPr>
        <p:spPr>
          <a:xfrm>
            <a:off x="304920" y="4687920"/>
            <a:ext cx="5906880" cy="214128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令</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1</a:t>
            </a:r>
            <a:r>
              <a:rPr lang="zh-CN" sz="2800" b="1" u="none" strike="noStrike">
                <a:solidFill>
                  <a:srgbClr val="000000"/>
                </a:solidFill>
                <a:effectLst/>
                <a:uFillTx/>
                <a:latin typeface="Times New Roman"/>
              </a:rPr>
              <a:t>系数为</a:t>
            </a:r>
            <a:r>
              <a:rPr lang="en-US" sz="2800" b="1" u="none" strike="noStrike">
                <a:solidFill>
                  <a:srgbClr val="000000"/>
                </a:solidFill>
                <a:effectLst/>
                <a:uFillTx/>
                <a:latin typeface="Times New Roman"/>
              </a:rPr>
              <a:t>0</a:t>
            </a:r>
            <a:r>
              <a:rPr lang="zh-CN" sz="2800" b="1" u="none" strike="noStrike">
                <a:solidFill>
                  <a:srgbClr val="000000"/>
                </a:solidFill>
                <a:effectLst/>
                <a:uFillTx/>
                <a:latin typeface="Times New Roman"/>
              </a:rPr>
              <a:t>，得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 </a:t>
            </a:r>
            <a:r>
              <a:rPr lang="en-US" sz="2800" b="1" u="none" strike="noStrike">
                <a:solidFill>
                  <a:srgbClr val="000000"/>
                </a:solidFill>
                <a:effectLst/>
                <a:uFillTx/>
                <a:latin typeface="Times New Roman"/>
              </a:rPr>
              <a:t>= 4</a:t>
            </a:r>
            <a:endParaRPr lang="en-US" sz="2800" b="1" u="none" strike="noStrike">
              <a:solidFill>
                <a:srgbClr val="000000"/>
              </a:solidFill>
              <a:effectLst/>
              <a:uFillTx/>
              <a:latin typeface="Times New Roman"/>
            </a:endParaRPr>
          </a:p>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代入辅助方程                </a:t>
            </a:r>
            <a:r>
              <a:rPr lang="en-US" sz="2800" b="1" u="none" strike="noStrike">
                <a:solidFill>
                  <a:srgbClr val="000000"/>
                </a:solidFill>
                <a:effectLst/>
                <a:uFillTx/>
                <a:latin typeface="Times New Roman"/>
              </a:rPr>
              <a:t>2</a:t>
            </a:r>
            <a:r>
              <a:rPr lang="en-US" sz="2800" b="1" i="1" u="none" strike="noStrike">
                <a:solidFill>
                  <a:srgbClr val="000000"/>
                </a:solidFill>
                <a:effectLst/>
                <a:uFillTx/>
                <a:latin typeface="Times New Roman"/>
              </a:rPr>
              <a:t>s</a:t>
            </a:r>
            <a:r>
              <a:rPr lang="en-US" sz="2800" b="1" u="none" strike="noStrike" baseline="30000">
                <a:solidFill>
                  <a:srgbClr val="000000"/>
                </a:solidFill>
                <a:effectLst/>
                <a:uFillTx/>
                <a:latin typeface="Times New Roman"/>
              </a:rPr>
              <a:t>2</a:t>
            </a:r>
            <a:r>
              <a:rPr lang="en-US" sz="2800" b="1" u="none" strike="noStrike">
                <a:solidFill>
                  <a:srgbClr val="000000"/>
                </a:solidFill>
                <a:effectLst/>
                <a:uFillTx/>
                <a:latin typeface="Times New Roman"/>
              </a:rPr>
              <a:t> + </a:t>
            </a:r>
            <a:r>
              <a:rPr lang="en-US" sz="2800" b="1" i="1" u="none" strike="noStrike">
                <a:solidFill>
                  <a:srgbClr val="000000"/>
                </a:solidFill>
                <a:effectLst/>
                <a:uFillTx/>
                <a:latin typeface="Times New Roman"/>
              </a:rPr>
              <a:t>K</a:t>
            </a:r>
            <a:r>
              <a:rPr lang="en-US" sz="2800" b="1" i="1" u="none" strike="noStrike" baseline="-25000">
                <a:solidFill>
                  <a:srgbClr val="000000"/>
                </a:solidFill>
                <a:effectLst/>
                <a:uFillTx/>
                <a:latin typeface="Times New Roman"/>
              </a:rPr>
              <a:t>g</a:t>
            </a:r>
            <a:r>
              <a:rPr lang="en-US" sz="2800" b="1" u="none" strike="noStrike">
                <a:solidFill>
                  <a:srgbClr val="000000"/>
                </a:solidFill>
                <a:effectLst/>
                <a:uFillTx/>
                <a:latin typeface="Times New Roman"/>
              </a:rPr>
              <a:t>= 0</a:t>
            </a:r>
            <a:endParaRPr lang="en-US" sz="2800" b="1" u="none" strike="noStrike">
              <a:solidFill>
                <a:srgbClr val="000000"/>
              </a:solidFill>
              <a:effectLst/>
              <a:uFillTx/>
              <a:latin typeface="Times New Roman"/>
            </a:endParaRPr>
          </a:p>
        </p:txBody>
      </p:sp>
      <p:sp>
        <p:nvSpPr>
          <p:cNvPr id="987" name="Rectangle 18"/>
          <p:cNvSpPr/>
          <p:nvPr/>
        </p:nvSpPr>
        <p:spPr>
          <a:xfrm>
            <a:off x="73080" y="127080"/>
            <a:ext cx="7091280" cy="60624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990033"/>
                </a:solidFill>
                <a:effectLst/>
                <a:uFillTx/>
                <a:latin typeface="Times New Roman"/>
              </a:rPr>
              <a:t> </a:t>
            </a:r>
            <a:r>
              <a:rPr lang="zh-CN" sz="2800" b="1" u="none" strike="noStrike">
                <a:solidFill>
                  <a:srgbClr val="990033"/>
                </a:solidFill>
                <a:effectLst/>
                <a:uFillTx/>
                <a:latin typeface="Times New Roman"/>
              </a:rPr>
              <a:t>实轴上根轨迹</a:t>
            </a:r>
            <a:r>
              <a:rPr lang="zh-CN" sz="2800" b="1" u="none" strike="noStrike">
                <a:solidFill>
                  <a:srgbClr val="000000"/>
                </a:solidFill>
                <a:effectLst/>
                <a:uFillTx/>
                <a:latin typeface="Times New Roman"/>
              </a:rPr>
              <a:t>：</a:t>
            </a:r>
            <a:r>
              <a:rPr lang="en-US" sz="2800" b="1" u="none" strike="noStrike">
                <a:solidFill>
                  <a:srgbClr val="000000"/>
                </a:solidFill>
                <a:effectLst/>
                <a:uFillTx/>
                <a:latin typeface="Times New Roman"/>
              </a:rPr>
              <a:t>(</a:t>
            </a:r>
            <a:r>
              <a:rPr lang="en-US" sz="2800" b="1" u="none" strike="noStrike">
                <a:solidFill>
                  <a:srgbClr val="000000"/>
                </a:solidFill>
                <a:effectLst/>
                <a:uFillTx/>
                <a:latin typeface="Symbol"/>
                <a:ea typeface="Symbol"/>
              </a:rPr>
              <a:t></a:t>
            </a:r>
            <a:r>
              <a:rPr lang="zh-CN" sz="2800" b="1" u="none" strike="noStrike">
                <a:solidFill>
                  <a:srgbClr val="000000"/>
                </a:solidFill>
                <a:effectLst/>
                <a:uFillTx/>
                <a:latin typeface="宋体"/>
              </a:rPr>
              <a:t>，</a:t>
            </a:r>
            <a:r>
              <a:rPr lang="en-US" sz="2800" b="1" u="none" strike="noStrike">
                <a:solidFill>
                  <a:srgbClr val="000000"/>
                </a:solidFill>
                <a:effectLst/>
                <a:uFillTx/>
                <a:latin typeface="宋体"/>
              </a:rPr>
              <a:t>0</a:t>
            </a:r>
            <a:r>
              <a:rPr lang="en-US" sz="2800" b="1" u="none" strike="noStrike">
                <a:solidFill>
                  <a:srgbClr val="000000"/>
                </a:solidFill>
                <a:effectLst/>
                <a:uFillTx/>
                <a:latin typeface="Times New Roman"/>
              </a:rPr>
              <a:t>)</a:t>
            </a:r>
            <a:r>
              <a:rPr lang="zh-CN" sz="2800" b="1" u="none" strike="noStrike">
                <a:solidFill>
                  <a:srgbClr val="000000"/>
                </a:solidFill>
                <a:effectLst/>
                <a:uFillTx/>
                <a:latin typeface="Times New Roman"/>
              </a:rPr>
              <a:t>，即整个负实轴。</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988" name="Object 19"/>
              <p:cNvSpPr txBox="1"/>
              <p:nvPr/>
            </p:nvSpPr>
            <p:spPr>
              <a:xfrm>
                <a:off x="1450800" y="739800"/>
                <a:ext cx="5918400" cy="571320"/>
              </a:xfrm>
              <a:prstGeom prst="rect">
                <a:avLst/>
              </a:prstGeom>
            </p:spPr>
            <p:txBody>
              <a:bodyPr/>
              <a:p>
                <a14:m>
                  <m:oMath xmlns:m="http://schemas.openxmlformats.org/officeDocument/2006/math">
                    <m:sSub>
                      <m:e>
                        <m:r>
                          <m:t xml:space="preserve">θ</m:t>
                        </m:r>
                      </m:e>
                      <m:sub>
                        <m:sSub>
                          <m:e>
                            <m:r>
                              <m:t xml:space="preserve">p</m:t>
                            </m:r>
                          </m:e>
                          <m:sub>
                            <m:r>
                              <m:t xml:space="preserve">2</m:t>
                            </m:r>
                          </m:sub>
                        </m:sSub>
                      </m:sub>
                    </m:sSub>
                    <m:r>
                      <m:t xml:space="preserve">=</m:t>
                    </m:r>
                    <m:sSup>
                      <m:e>
                        <m:r>
                          <m:rPr>
                            <m:lit/>
                            <m:nor/>
                          </m:rPr>
                          <m:t xml:space="preserve">180</m:t>
                        </m:r>
                      </m:e>
                      <m:sup>
                        <m:r>
                          <m:t xml:space="preserve">∘</m:t>
                        </m:r>
                      </m:sup>
                    </m:sSup>
                    <m:r>
                      <m:t xml:space="preserve">−</m:t>
                    </m:r>
                    <m:r>
                      <m:t xml:space="preserve">∠</m:t>
                    </m:r>
                    <m:r>
                      <m:t xml:space="preserve">(</m:t>
                    </m:r>
                    <m:sSub>
                      <m:e>
                        <m:r>
                          <m:t xml:space="preserve">p</m:t>
                        </m:r>
                      </m:e>
                      <m:sub>
                        <m:r>
                          <m:t xml:space="preserve">2</m:t>
                        </m:r>
                      </m:sub>
                    </m:sSub>
                    <m:r>
                      <m:t xml:space="preserve">−</m:t>
                    </m:r>
                    <m:sSub>
                      <m:e>
                        <m:r>
                          <m:t xml:space="preserve">p</m:t>
                        </m:r>
                      </m:e>
                      <m:sub>
                        <m:r>
                          <m:t xml:space="preserve">1</m:t>
                        </m:r>
                      </m:sub>
                    </m:sSub>
                    <m:r>
                      <m:t xml:space="preserve">)</m:t>
                    </m:r>
                    <m:r>
                      <m:t xml:space="preserve">−</m:t>
                    </m:r>
                    <m:r>
                      <m:t xml:space="preserve">∠</m:t>
                    </m:r>
                    <m:r>
                      <m:t xml:space="preserve">(</m:t>
                    </m:r>
                    <m:sSub>
                      <m:e>
                        <m:r>
                          <m:t xml:space="preserve">p</m:t>
                        </m:r>
                      </m:e>
                      <m:sub>
                        <m:r>
                          <m:t xml:space="preserve">2</m:t>
                        </m:r>
                      </m:sub>
                    </m:sSub>
                    <m:r>
                      <m:t xml:space="preserve">−</m:t>
                    </m:r>
                    <m:sSub>
                      <m:e>
                        <m:r>
                          <m:t xml:space="preserve">p</m:t>
                        </m:r>
                      </m:e>
                      <m:sub>
                        <m:r>
                          <m:t xml:space="preserve">3</m:t>
                        </m:r>
                      </m:sub>
                    </m:sSub>
                    <m:r>
                      <m:t xml:space="preserve">)</m:t>
                    </m:r>
                    <m:r>
                      <m:t xml:space="preserve">=</m:t>
                    </m:r>
                    <m:r>
                      <m:t xml:space="preserve">−</m:t>
                    </m:r>
                    <m:sSup>
                      <m:e>
                        <m:r>
                          <m:rPr>
                            <m:lit/>
                            <m:nor/>
                          </m:rPr>
                          <m:t xml:space="preserve">45</m:t>
                        </m:r>
                      </m:e>
                      <m:sup>
                        <m:r>
                          <m:t xml:space="preserve">∘</m:t>
                        </m:r>
                      </m:sup>
                    </m:sSup>
                  </m:oMath>
                </a14:m>
              </a:p>
            </p:txBody>
          </p:sp>
        </mc:Choice>
        <mc:Fallback>
          <p:sp>
            <p:nvSpPr>
              <p:cNvPr id="988" name="Object 19"/>
              <p:cNvSpPr txBox="1"/>
              <p:nvPr/>
            </p:nvSpPr>
            <p:spPr>
              <a:xfrm>
                <a:off x="1450800" y="739800"/>
                <a:ext cx="5918400" cy="571320"/>
              </a:xfrm>
              <a:prstGeom prst="rect">
                <a:avLst/>
              </a:prstGeom>
              <a:blipFill>
                <a:blip r:embed="rId2"/>
                <a:stretch>
                  <a:fillRect/>
                </a:stretch>
              </a:blipFill>
            </p:spPr>
          </p:sp>
        </mc:Fallback>
      </mc:AlternateContent>
      <p:sp>
        <p:nvSpPr>
          <p:cNvPr id="989" name="Rectangle 20"/>
          <p:cNvSpPr/>
          <p:nvPr/>
        </p:nvSpPr>
        <p:spPr>
          <a:xfrm>
            <a:off x="78840" y="731880"/>
            <a:ext cx="160092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出射角</a:t>
            </a:r>
            <a:r>
              <a:rPr lang="zh-CN"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990" name="Object 22"/>
              <p:cNvSpPr txBox="1"/>
              <p:nvPr/>
            </p:nvSpPr>
            <p:spPr>
              <a:xfrm>
                <a:off x="6140520" y="2054160"/>
                <a:ext cx="2879640" cy="903240"/>
              </a:xfrm>
              <a:prstGeom prst="rect">
                <a:avLst/>
              </a:prstGeom>
            </p:spPr>
            <p:txBody>
              <a:bodyPr/>
              <a:p>
                <a14:m>
                  <m:oMath xmlns:m="http://schemas.openxmlformats.org/officeDocument/2006/math">
                    <m:sSub>
                      <m:e>
                        <m:r>
                          <m:t xml:space="preserve">G</m:t>
                        </m:r>
                      </m:e>
                      <m:sub>
                        <m:r>
                          <m:t xml:space="preserve">k</m:t>
                        </m:r>
                      </m:sub>
                    </m:sSub>
                    <m:r>
                      <m:t xml:space="preserve">(</m:t>
                    </m:r>
                    <m:r>
                      <m:t xml:space="preserve">s</m:t>
                    </m:r>
                    <m:r>
                      <m:t xml:space="preserve">)</m:t>
                    </m:r>
                    <m:r>
                      <m:t xml:space="preserve">=</m:t>
                    </m:r>
                    <m:f>
                      <m:num>
                        <m:sSub>
                          <m:e>
                            <m:r>
                              <m:t xml:space="preserve">K</m:t>
                            </m:r>
                          </m:e>
                          <m:sub>
                            <m:r>
                              <m:t xml:space="preserve">g</m:t>
                            </m:r>
                          </m:sub>
                        </m:sSub>
                      </m:num>
                      <m:den>
                        <m:r>
                          <m:t xml:space="preserve">s</m:t>
                        </m:r>
                        <m:r>
                          <m:t xml:space="preserve">(</m:t>
                        </m:r>
                        <m:sSup>
                          <m:e>
                            <m:r>
                              <m:t xml:space="preserve">s</m:t>
                            </m:r>
                          </m:e>
                          <m:sup>
                            <m:r>
                              <m:t xml:space="preserve">2</m:t>
                            </m:r>
                          </m:sup>
                        </m:sSup>
                        <m:r>
                          <m:t xml:space="preserve">+</m:t>
                        </m:r>
                        <m:r>
                          <m:t xml:space="preserve">2</m:t>
                        </m:r>
                        <m:r>
                          <m:t xml:space="preserve">s</m:t>
                        </m:r>
                        <m:r>
                          <m:t xml:space="preserve">+</m:t>
                        </m:r>
                        <m:r>
                          <m:t xml:space="preserve">2</m:t>
                        </m:r>
                        <m:r>
                          <m:t xml:space="preserve">)</m:t>
                        </m:r>
                      </m:den>
                    </m:f>
                  </m:oMath>
                </a14:m>
              </a:p>
            </p:txBody>
          </p:sp>
        </mc:Choice>
        <mc:Fallback>
          <p:sp>
            <p:nvSpPr>
              <p:cNvPr id="990" name="Object 22"/>
              <p:cNvSpPr txBox="1"/>
              <p:nvPr/>
            </p:nvSpPr>
            <p:spPr>
              <a:xfrm>
                <a:off x="6140520" y="2054160"/>
                <a:ext cx="2879640" cy="903240"/>
              </a:xfrm>
              <a:prstGeom prst="rect">
                <a:avLst/>
              </a:prstGeom>
              <a:blipFill>
                <a:blip r:embed="rId3"/>
                <a:stretch>
                  <a:fillRect/>
                </a:stretch>
              </a:blipFill>
            </p:spPr>
          </p:sp>
        </mc:Fallback>
      </mc:AlternateContent>
      <p:pic>
        <p:nvPicPr>
          <p:cNvPr id="991" name="Picture 1122"/>
          <p:cNvPicPr/>
          <p:nvPr/>
        </p:nvPicPr>
        <p:blipFill>
          <a:blip r:embed="rId4"/>
          <a:stretch/>
        </p:blipFill>
        <p:spPr>
          <a:xfrm>
            <a:off x="6243480" y="3030480"/>
            <a:ext cx="2748240" cy="3151080"/>
          </a:xfrm>
          <a:prstGeom prst="rect">
            <a:avLst/>
          </a:prstGeom>
          <a:noFill/>
          <a:ln w="0">
            <a:noFill/>
          </a:ln>
        </p:spPr>
      </p:pic>
    </p:spTree>
  </p:cSld>
  <mc:AlternateContent>
    <mc:Choice Requires="p14">
      <p:transition spd="slow" p14:dur="2000"/>
    </mc:Choice>
    <mc:Fallback>
      <p:transition spd="slow"/>
    </mc:Fallback>
  </mc:AlternateContent>
  <p:timing>
    <p:tnLst>
      <p:par>
        <p:cTn id="2054" dur="indefinite" restart="never" nodeType="tmRoot">
          <p:childTnLst>
            <p:seq>
              <p:cTn id="2055" dur="indefinite" nodeType="mainSeq">
                <p:childTnLst>
                  <p:par>
                    <p:cTn id="2056" fill="hold" nodeType="clickEffect">
                      <p:stCondLst>
                        <p:cond delay="indefinite"/>
                      </p:stCondLst>
                      <p:childTnLst>
                        <p:par>
                          <p:cTn id="2057" fill="hold" nodeType="withEffect">
                            <p:stCondLst>
                              <p:cond delay="0"/>
                            </p:stCondLst>
                            <p:childTnLst>
                              <p:par>
                                <p:cTn id="2058" presetID="3" presetClass="entr" fill="hold" nodeType="clickEffect" presetSubtype="10">
                                  <p:stCondLst>
                                    <p:cond delay="0"/>
                                  </p:stCondLst>
                                  <p:childTnLst>
                                    <p:set>
                                      <p:cBhvr>
                                        <p:cTn id="2059" dur="1" fill="hold">
                                          <p:stCondLst>
                                            <p:cond delay="0"/>
                                          </p:stCondLst>
                                        </p:cTn>
                                        <p:tgtEl>
                                          <p:spTgt spid="987"/>
                                        </p:tgtEl>
                                        <p:attrNameLst>
                                          <p:attrName>style.visibility</p:attrName>
                                        </p:attrNameLst>
                                      </p:cBhvr>
                                      <p:to>
                                        <p:strVal val="visible"/>
                                      </p:to>
                                    </p:set>
                                    <p:animEffect transition="in" filter="blinds(horizontal)">
                                      <p:cBhvr additive="repl">
                                        <p:cTn id="2060" dur="500"/>
                                        <p:tgtEl>
                                          <p:spTgt spid="987"/>
                                        </p:tgtEl>
                                      </p:cBhvr>
                                    </p:animEffect>
                                  </p:childTnLst>
                                </p:cTn>
                              </p:par>
                            </p:childTnLst>
                          </p:cTn>
                        </p:par>
                      </p:childTnLst>
                    </p:cTn>
                  </p:par>
                  <p:par>
                    <p:cTn id="2061" fill="hold" nodeType="clickEffect">
                      <p:stCondLst>
                        <p:cond delay="indefinite"/>
                      </p:stCondLst>
                      <p:childTnLst>
                        <p:par>
                          <p:cTn id="2062" fill="hold" nodeType="withEffect">
                            <p:stCondLst>
                              <p:cond delay="0"/>
                            </p:stCondLst>
                            <p:childTnLst>
                              <p:par>
                                <p:cTn id="2063" presetID="2" presetClass="entr" fill="hold" nodeType="clickEffect" presetSubtype="8">
                                  <p:stCondLst>
                                    <p:cond delay="0"/>
                                  </p:stCondLst>
                                  <p:childTnLst>
                                    <p:set>
                                      <p:cBhvr>
                                        <p:cTn id="2064" dur="1" fill="hold">
                                          <p:stCondLst>
                                            <p:cond delay="0"/>
                                          </p:stCondLst>
                                        </p:cTn>
                                        <p:tgtEl>
                                          <p:spTgt spid="989"/>
                                        </p:tgtEl>
                                        <p:attrNameLst>
                                          <p:attrName>style.visibility</p:attrName>
                                        </p:attrNameLst>
                                      </p:cBhvr>
                                      <p:to>
                                        <p:strVal val="visible"/>
                                      </p:to>
                                    </p:set>
                                    <p:anim calcmode="lin" valueType="num">
                                      <p:cBhvr additive="base">
                                        <p:cTn id="2065" dur="500" fill="hold"/>
                                        <p:tgtEl>
                                          <p:spTgt spid="989"/>
                                        </p:tgtEl>
                                        <p:attrNameLst>
                                          <p:attrName>ppt_x</p:attrName>
                                        </p:attrNameLst>
                                      </p:cBhvr>
                                      <p:tavLst>
                                        <p:tav>
                                          <p:val>
                                            <p:strVal val="0-#ppt_w/2"/>
                                          </p:val>
                                        </p:tav>
                                        <p:tav tm="100000">
                                          <p:val>
                                            <p:strVal val="#ppt_x"/>
                                          </p:val>
                                        </p:tav>
                                      </p:tavLst>
                                    </p:anim>
                                    <p:anim calcmode="lin" valueType="num">
                                      <p:cBhvr additive="base">
                                        <p:cTn id="2066" dur="500" fill="hold"/>
                                        <p:tgtEl>
                                          <p:spTgt spid="989"/>
                                        </p:tgtEl>
                                        <p:attrNameLst>
                                          <p:attrName>ppt_y</p:attrName>
                                        </p:attrNameLst>
                                      </p:cBhvr>
                                      <p:tavLst>
                                        <p:tav>
                                          <p:val>
                                            <p:strVal val="#ppt_y"/>
                                          </p:val>
                                        </p:tav>
                                        <p:tav tm="100000">
                                          <p:val>
                                            <p:strVal val="#ppt_y"/>
                                          </p:val>
                                        </p:tav>
                                      </p:tavLst>
                                    </p:anim>
                                  </p:childTnLst>
                                </p:cTn>
                              </p:par>
                            </p:childTnLst>
                          </p:cTn>
                        </p:par>
                        <p:par>
                          <p:cTn id="2067" fill="hold" nodeType="afterEffect">
                            <p:stCondLst>
                              <p:cond delay="500"/>
                            </p:stCondLst>
                            <p:childTnLst>
                              <p:par>
                                <p:cTn id="2068" presetID="9" presetClass="entr" fill="hold" nodeType="afterEffect">
                                  <p:stCondLst>
                                    <p:cond delay="0"/>
                                  </p:stCondLst>
                                  <p:childTnLst>
                                    <p:set>
                                      <p:cBhvr>
                                        <p:cTn id="2069" dur="1" fill="hold">
                                          <p:stCondLst>
                                            <p:cond delay="0"/>
                                          </p:stCondLst>
                                        </p:cTn>
                                        <p:tgtEl>
                                          <p:spTgt spid="988"/>
                                        </p:tgtEl>
                                        <p:attrNameLst>
                                          <p:attrName>style.visibility</p:attrName>
                                        </p:attrNameLst>
                                      </p:cBhvr>
                                      <p:to>
                                        <p:strVal val="visible"/>
                                      </p:to>
                                    </p:set>
                                    <p:animEffect transition="in" filter="dissolve">
                                      <p:cBhvr additive="repl">
                                        <p:cTn id="2070" dur="500"/>
                                        <p:tgtEl>
                                          <p:spTgt spid="988"/>
                                        </p:tgtEl>
                                      </p:cBhvr>
                                    </p:animEffect>
                                  </p:childTnLst>
                                </p:cTn>
                              </p:par>
                            </p:childTnLst>
                          </p:cTn>
                        </p:par>
                      </p:childTnLst>
                    </p:cTn>
                  </p:par>
                  <p:par>
                    <p:cTn id="2071" fill="hold" nodeType="clickEffect">
                      <p:stCondLst>
                        <p:cond delay="indefinite"/>
                      </p:stCondLst>
                      <p:childTnLst>
                        <p:par>
                          <p:cTn id="2072" fill="hold" nodeType="withEffect">
                            <p:stCondLst>
                              <p:cond delay="0"/>
                            </p:stCondLst>
                            <p:childTnLst>
                              <p:par>
                                <p:cTn id="2073" presetID="2" presetClass="entr" fill="hold" nodeType="clickEffect" presetSubtype="8">
                                  <p:stCondLst>
                                    <p:cond delay="0"/>
                                  </p:stCondLst>
                                  <p:childTnLst>
                                    <p:set>
                                      <p:cBhvr>
                                        <p:cTn id="2074" dur="1" fill="hold">
                                          <p:stCondLst>
                                            <p:cond delay="0"/>
                                          </p:stCondLst>
                                        </p:cTn>
                                        <p:tgtEl>
                                          <p:spTgt spid="983">
                                            <p:txEl>
                                              <p:pRg st="0" end="0"/>
                                            </p:txEl>
                                          </p:spTgt>
                                        </p:tgtEl>
                                        <p:attrNameLst>
                                          <p:attrName>style.visibility</p:attrName>
                                        </p:attrNameLst>
                                      </p:cBhvr>
                                      <p:to>
                                        <p:strVal val="visible"/>
                                      </p:to>
                                    </p:set>
                                    <p:anim calcmode="lin" valueType="num">
                                      <p:cBhvr additive="base">
                                        <p:cTn id="2075" dur="500" fill="hold"/>
                                        <p:tgtEl>
                                          <p:spTgt spid="983">
                                            <p:txEl>
                                              <p:pRg st="0" end="0"/>
                                            </p:txEl>
                                          </p:spTgt>
                                        </p:tgtEl>
                                        <p:attrNameLst>
                                          <p:attrName>ppt_x</p:attrName>
                                        </p:attrNameLst>
                                      </p:cBhvr>
                                      <p:tavLst>
                                        <p:tav>
                                          <p:val>
                                            <p:strVal val="0-#ppt_w/2"/>
                                          </p:val>
                                        </p:tav>
                                        <p:tav tm="100000">
                                          <p:val>
                                            <p:strVal val="#ppt_x"/>
                                          </p:val>
                                        </p:tav>
                                      </p:tavLst>
                                    </p:anim>
                                    <p:anim calcmode="lin" valueType="num">
                                      <p:cBhvr additive="base">
                                        <p:cTn id="2076" dur="500" fill="hold"/>
                                        <p:tgtEl>
                                          <p:spTgt spid="983">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2077" fill="hold" nodeType="clickEffect">
                      <p:stCondLst>
                        <p:cond delay="indefinite"/>
                      </p:stCondLst>
                      <p:childTnLst>
                        <p:par>
                          <p:cTn id="2078" fill="hold" nodeType="withEffect">
                            <p:stCondLst>
                              <p:cond delay="0"/>
                            </p:stCondLst>
                            <p:childTnLst>
                              <p:par>
                                <p:cTn id="2079" presetID="2" presetClass="entr" fill="hold" nodeType="clickEffect" presetSubtype="8">
                                  <p:stCondLst>
                                    <p:cond delay="0"/>
                                  </p:stCondLst>
                                  <p:childTnLst>
                                    <p:set>
                                      <p:cBhvr>
                                        <p:cTn id="2080" dur="1" fill="hold">
                                          <p:stCondLst>
                                            <p:cond delay="0"/>
                                          </p:stCondLst>
                                        </p:cTn>
                                        <p:tgtEl>
                                          <p:spTgt spid="983">
                                            <p:txEl>
                                              <p:pRg st="1" end="1"/>
                                            </p:txEl>
                                          </p:spTgt>
                                        </p:tgtEl>
                                        <p:attrNameLst>
                                          <p:attrName>style.visibility</p:attrName>
                                        </p:attrNameLst>
                                      </p:cBhvr>
                                      <p:to>
                                        <p:strVal val="visible"/>
                                      </p:to>
                                    </p:set>
                                    <p:anim calcmode="lin" valueType="num">
                                      <p:cBhvr additive="base">
                                        <p:cTn id="2081" dur="500" fill="hold"/>
                                        <p:tgtEl>
                                          <p:spTgt spid="983">
                                            <p:txEl>
                                              <p:pRg st="1" end="1"/>
                                            </p:txEl>
                                          </p:spTgt>
                                        </p:tgtEl>
                                        <p:attrNameLst>
                                          <p:attrName>ppt_x</p:attrName>
                                        </p:attrNameLst>
                                      </p:cBhvr>
                                      <p:tavLst>
                                        <p:tav>
                                          <p:val>
                                            <p:strVal val="0-#ppt_w/2"/>
                                          </p:val>
                                        </p:tav>
                                        <p:tav tm="100000">
                                          <p:val>
                                            <p:strVal val="#ppt_x"/>
                                          </p:val>
                                        </p:tav>
                                      </p:tavLst>
                                    </p:anim>
                                    <p:anim calcmode="lin" valueType="num">
                                      <p:cBhvr additive="base">
                                        <p:cTn id="2082" dur="500" fill="hold"/>
                                        <p:tgtEl>
                                          <p:spTgt spid="983">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2083" fill="hold" nodeType="clickEffect">
                      <p:stCondLst>
                        <p:cond delay="indefinite"/>
                      </p:stCondLst>
                      <p:childTnLst>
                        <p:par>
                          <p:cTn id="2084" fill="hold" nodeType="withEffect">
                            <p:stCondLst>
                              <p:cond delay="0"/>
                            </p:stCondLst>
                            <p:childTnLst>
                              <p:par>
                                <p:cTn id="2085" presetID="2" presetClass="entr" fill="hold" nodeType="clickEffect" presetSubtype="8">
                                  <p:stCondLst>
                                    <p:cond delay="0"/>
                                  </p:stCondLst>
                                  <p:childTnLst>
                                    <p:set>
                                      <p:cBhvr>
                                        <p:cTn id="2086" dur="1" fill="hold">
                                          <p:stCondLst>
                                            <p:cond delay="0"/>
                                          </p:stCondLst>
                                        </p:cTn>
                                        <p:tgtEl>
                                          <p:spTgt spid="983">
                                            <p:txEl>
                                              <p:pRg st="2" end="2"/>
                                            </p:txEl>
                                          </p:spTgt>
                                        </p:tgtEl>
                                        <p:attrNameLst>
                                          <p:attrName>style.visibility</p:attrName>
                                        </p:attrNameLst>
                                      </p:cBhvr>
                                      <p:to>
                                        <p:strVal val="visible"/>
                                      </p:to>
                                    </p:set>
                                    <p:anim calcmode="lin" valueType="num">
                                      <p:cBhvr additive="base">
                                        <p:cTn id="2087" dur="500" fill="hold"/>
                                        <p:tgtEl>
                                          <p:spTgt spid="983">
                                            <p:txEl>
                                              <p:pRg st="2" end="2"/>
                                            </p:txEl>
                                          </p:spTgt>
                                        </p:tgtEl>
                                        <p:attrNameLst>
                                          <p:attrName>ppt_x</p:attrName>
                                        </p:attrNameLst>
                                      </p:cBhvr>
                                      <p:tavLst>
                                        <p:tav>
                                          <p:val>
                                            <p:strVal val="0-#ppt_w/2"/>
                                          </p:val>
                                        </p:tav>
                                        <p:tav tm="100000">
                                          <p:val>
                                            <p:strVal val="#ppt_x"/>
                                          </p:val>
                                        </p:tav>
                                      </p:tavLst>
                                    </p:anim>
                                    <p:anim calcmode="lin" valueType="num">
                                      <p:cBhvr additive="base">
                                        <p:cTn id="2088" dur="500" fill="hold"/>
                                        <p:tgtEl>
                                          <p:spTgt spid="983">
                                            <p:txEl>
                                              <p:pRg st="2" end="2"/>
                                            </p:txEl>
                                          </p:spTgt>
                                        </p:tgtEl>
                                        <p:attrNameLst>
                                          <p:attrName>ppt_y</p:attrName>
                                        </p:attrNameLst>
                                      </p:cBhvr>
                                      <p:tavLst>
                                        <p:tav>
                                          <p:val>
                                            <p:strVal val="#ppt_y"/>
                                          </p:val>
                                        </p:tav>
                                        <p:tav tm="100000">
                                          <p:val>
                                            <p:strVal val="#ppt_y"/>
                                          </p:val>
                                        </p:tav>
                                      </p:tavLst>
                                    </p:anim>
                                  </p:childTnLst>
                                </p:cTn>
                              </p:par>
                            </p:childTnLst>
                          </p:cTn>
                        </p:par>
                      </p:childTnLst>
                    </p:cTn>
                  </p:par>
                  <p:par>
                    <p:cTn id="2089" fill="hold" nodeType="clickEffect">
                      <p:stCondLst>
                        <p:cond delay="indefinite"/>
                      </p:stCondLst>
                      <p:childTnLst>
                        <p:par>
                          <p:cTn id="2090" fill="hold" nodeType="withEffect">
                            <p:stCondLst>
                              <p:cond delay="0"/>
                            </p:stCondLst>
                            <p:childTnLst>
                              <p:par>
                                <p:cTn id="2091" presetID="9" presetClass="entr" fill="hold" nodeType="clickEffect">
                                  <p:stCondLst>
                                    <p:cond delay="0"/>
                                  </p:stCondLst>
                                  <p:childTnLst>
                                    <p:set>
                                      <p:cBhvr>
                                        <p:cTn id="2092" dur="1" fill="hold">
                                          <p:stCondLst>
                                            <p:cond delay="0"/>
                                          </p:stCondLst>
                                        </p:cTn>
                                        <p:tgtEl>
                                          <p:spTgt spid="984"/>
                                        </p:tgtEl>
                                        <p:attrNameLst>
                                          <p:attrName>style.visibility</p:attrName>
                                        </p:attrNameLst>
                                      </p:cBhvr>
                                      <p:to>
                                        <p:strVal val="visible"/>
                                      </p:to>
                                    </p:set>
                                    <p:animEffect transition="in" filter="dissolve">
                                      <p:cBhvr additive="repl">
                                        <p:cTn id="2093" dur="500"/>
                                        <p:tgtEl>
                                          <p:spTgt spid="984"/>
                                        </p:tgtEl>
                                      </p:cBhvr>
                                    </p:animEffect>
                                  </p:childTnLst>
                                </p:cTn>
                              </p:par>
                            </p:childTnLst>
                          </p:cTn>
                        </p:par>
                        <p:par>
                          <p:cTn id="2094" fill="hold" nodeType="afterEffect">
                            <p:stCondLst>
                              <p:cond delay="500"/>
                            </p:stCondLst>
                            <p:childTnLst>
                              <p:par>
                                <p:cTn id="2095" presetID="9" presetClass="entr" fill="hold" nodeType="afterEffect">
                                  <p:stCondLst>
                                    <p:cond delay="0"/>
                                  </p:stCondLst>
                                  <p:childTnLst>
                                    <p:set>
                                      <p:cBhvr>
                                        <p:cTn id="2096" dur="1" fill="hold">
                                          <p:stCondLst>
                                            <p:cond delay="0"/>
                                          </p:stCondLst>
                                        </p:cTn>
                                        <p:tgtEl>
                                          <p:spTgt spid="985"/>
                                        </p:tgtEl>
                                        <p:attrNameLst>
                                          <p:attrName>style.visibility</p:attrName>
                                        </p:attrNameLst>
                                      </p:cBhvr>
                                      <p:to>
                                        <p:strVal val="visible"/>
                                      </p:to>
                                    </p:set>
                                    <p:animEffect transition="in" filter="dissolve">
                                      <p:cBhvr additive="repl">
                                        <p:cTn id="2097" dur="500"/>
                                        <p:tgtEl>
                                          <p:spTgt spid="985"/>
                                        </p:tgtEl>
                                      </p:cBhvr>
                                    </p:animEffect>
                                  </p:childTnLst>
                                </p:cTn>
                              </p:par>
                            </p:childTnLst>
                          </p:cTn>
                        </p:par>
                      </p:childTnLst>
                    </p:cTn>
                  </p:par>
                  <p:par>
                    <p:cTn id="2098" fill="hold" nodeType="clickEffect">
                      <p:stCondLst>
                        <p:cond delay="indefinite"/>
                      </p:stCondLst>
                      <p:childTnLst>
                        <p:par>
                          <p:cTn id="2099" fill="hold" nodeType="withEffect">
                            <p:stCondLst>
                              <p:cond delay="0"/>
                            </p:stCondLst>
                            <p:childTnLst>
                              <p:par>
                                <p:cTn id="2100" presetID="2" presetClass="entr" fill="hold" nodeType="clickEffect" presetSubtype="8">
                                  <p:stCondLst>
                                    <p:cond delay="0"/>
                                  </p:stCondLst>
                                  <p:childTnLst>
                                    <p:set>
                                      <p:cBhvr>
                                        <p:cTn id="2101" dur="1" fill="hold">
                                          <p:stCondLst>
                                            <p:cond delay="0"/>
                                          </p:stCondLst>
                                        </p:cTn>
                                        <p:tgtEl>
                                          <p:spTgt spid="986">
                                            <p:txEl>
                                              <p:pRg st="0" end="0"/>
                                            </p:txEl>
                                          </p:spTgt>
                                        </p:tgtEl>
                                        <p:attrNameLst>
                                          <p:attrName>style.visibility</p:attrName>
                                        </p:attrNameLst>
                                      </p:cBhvr>
                                      <p:to>
                                        <p:strVal val="visible"/>
                                      </p:to>
                                    </p:set>
                                    <p:anim calcmode="lin" valueType="num">
                                      <p:cBhvr additive="base">
                                        <p:cTn id="2102" dur="500" fill="hold"/>
                                        <p:tgtEl>
                                          <p:spTgt spid="986">
                                            <p:txEl>
                                              <p:pRg st="0" end="0"/>
                                            </p:txEl>
                                          </p:spTgt>
                                        </p:tgtEl>
                                        <p:attrNameLst>
                                          <p:attrName>ppt_x</p:attrName>
                                        </p:attrNameLst>
                                      </p:cBhvr>
                                      <p:tavLst>
                                        <p:tav>
                                          <p:val>
                                            <p:strVal val="0-#ppt_w/2"/>
                                          </p:val>
                                        </p:tav>
                                        <p:tav tm="100000">
                                          <p:val>
                                            <p:strVal val="#ppt_x"/>
                                          </p:val>
                                        </p:tav>
                                      </p:tavLst>
                                    </p:anim>
                                    <p:anim calcmode="lin" valueType="num">
                                      <p:cBhvr additive="base">
                                        <p:cTn id="2103" dur="500" fill="hold"/>
                                        <p:tgtEl>
                                          <p:spTgt spid="986">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2104" fill="hold" nodeType="clickEffect">
                      <p:stCondLst>
                        <p:cond delay="indefinite"/>
                      </p:stCondLst>
                      <p:childTnLst>
                        <p:par>
                          <p:cTn id="2105" fill="hold" nodeType="withEffect">
                            <p:stCondLst>
                              <p:cond delay="0"/>
                            </p:stCondLst>
                            <p:childTnLst>
                              <p:par>
                                <p:cTn id="2106" presetID="2" presetClass="entr" fill="hold" nodeType="clickEffect" presetSubtype="8">
                                  <p:stCondLst>
                                    <p:cond delay="0"/>
                                  </p:stCondLst>
                                  <p:childTnLst>
                                    <p:set>
                                      <p:cBhvr>
                                        <p:cTn id="2107" dur="1" fill="hold">
                                          <p:stCondLst>
                                            <p:cond delay="0"/>
                                          </p:stCondLst>
                                        </p:cTn>
                                        <p:tgtEl>
                                          <p:spTgt spid="986">
                                            <p:txEl>
                                              <p:pRg st="1" end="1"/>
                                            </p:txEl>
                                          </p:spTgt>
                                        </p:tgtEl>
                                        <p:attrNameLst>
                                          <p:attrName>style.visibility</p:attrName>
                                        </p:attrNameLst>
                                      </p:cBhvr>
                                      <p:to>
                                        <p:strVal val="visible"/>
                                      </p:to>
                                    </p:set>
                                    <p:anim calcmode="lin" valueType="num">
                                      <p:cBhvr additive="base">
                                        <p:cTn id="2108" dur="500" fill="hold"/>
                                        <p:tgtEl>
                                          <p:spTgt spid="986">
                                            <p:txEl>
                                              <p:pRg st="1" end="1"/>
                                            </p:txEl>
                                          </p:spTgt>
                                        </p:tgtEl>
                                        <p:attrNameLst>
                                          <p:attrName>ppt_x</p:attrName>
                                        </p:attrNameLst>
                                      </p:cBhvr>
                                      <p:tavLst>
                                        <p:tav>
                                          <p:val>
                                            <p:strVal val="0-#ppt_w/2"/>
                                          </p:val>
                                        </p:tav>
                                        <p:tav tm="100000">
                                          <p:val>
                                            <p:strVal val="#ppt_x"/>
                                          </p:val>
                                        </p:tav>
                                      </p:tavLst>
                                    </p:anim>
                                    <p:anim calcmode="lin" valueType="num">
                                      <p:cBhvr additive="base">
                                        <p:cTn id="2109" dur="500" fill="hold"/>
                                        <p:tgtEl>
                                          <p:spTgt spid="986">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2110" fill="hold" nodeType="clickEffect">
                      <p:stCondLst>
                        <p:cond delay="indefinite"/>
                      </p:stCondLst>
                      <p:childTnLst>
                        <p:par>
                          <p:cTn id="2111" fill="hold" nodeType="withEffect">
                            <p:stCondLst>
                              <p:cond delay="0"/>
                            </p:stCondLst>
                            <p:childTnLst>
                              <p:par>
                                <p:cTn id="2112" presetID="9" presetClass="entr" fill="hold" nodeType="clickEffect">
                                  <p:stCondLst>
                                    <p:cond delay="0"/>
                                  </p:stCondLst>
                                  <p:childTnLst>
                                    <p:set>
                                      <p:cBhvr>
                                        <p:cTn id="2113" dur="1" fill="hold">
                                          <p:stCondLst>
                                            <p:cond delay="0"/>
                                          </p:stCondLst>
                                        </p:cTn>
                                        <p:tgtEl>
                                          <p:spTgt spid="982"/>
                                        </p:tgtEl>
                                        <p:attrNameLst>
                                          <p:attrName>style.visibility</p:attrName>
                                        </p:attrNameLst>
                                      </p:cBhvr>
                                      <p:to>
                                        <p:strVal val="visible"/>
                                      </p:to>
                                    </p:set>
                                    <p:animEffect transition="in" filter="dissolve">
                                      <p:cBhvr additive="repl">
                                        <p:cTn id="2114" dur="500"/>
                                        <p:tgtEl>
                                          <p:spTgt spid="9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 name="Rectangle 22"/>
          <p:cNvSpPr/>
          <p:nvPr/>
        </p:nvSpPr>
        <p:spPr>
          <a:xfrm>
            <a:off x="213480" y="233280"/>
            <a:ext cx="4797000" cy="606240"/>
          </a:xfrm>
          <a:prstGeom prst="rect">
            <a:avLst/>
          </a:prstGeom>
          <a:noFill/>
          <a:ln w="0">
            <a:noFill/>
          </a:ln>
        </p:spPr>
        <p:style>
          <a:lnRef idx="0"/>
          <a:fillRef idx="0"/>
          <a:effectRef idx="0"/>
          <a:fontRef idx="minor"/>
        </p:style>
        <p:txBody>
          <a:bodyPr wrap="none"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绘制出系统根轨迹如图所示。</a:t>
            </a:r>
            <a:endParaRPr lang="en-US" sz="2800" b="1" u="none" strike="noStrike">
              <a:solidFill>
                <a:srgbClr val="000000"/>
              </a:solidFill>
              <a:effectLst/>
              <a:uFillTx/>
              <a:latin typeface="Times New Roman"/>
            </a:endParaRPr>
          </a:p>
        </p:txBody>
      </p:sp>
      <p:grpSp>
        <p:nvGrpSpPr>
          <p:cNvPr id="993" name="Group 78"/>
          <p:cNvGrpSpPr/>
          <p:nvPr/>
        </p:nvGrpSpPr>
        <p:grpSpPr>
          <a:xfrm>
            <a:off x="1930320" y="966600"/>
            <a:ext cx="4832280" cy="5484960"/>
            <a:chOff x="1930320" y="966600"/>
            <a:chExt cx="4832280" cy="5484960"/>
          </a:xfrm>
        </p:grpSpPr>
        <p:grpSp>
          <p:nvGrpSpPr>
            <p:cNvPr id="994" name="Group 77"/>
            <p:cNvGrpSpPr/>
            <p:nvPr/>
          </p:nvGrpSpPr>
          <p:grpSpPr>
            <a:xfrm>
              <a:off x="2062080" y="1150920"/>
              <a:ext cx="4700520" cy="4995360"/>
              <a:chOff x="2062080" y="1150920"/>
              <a:chExt cx="4700520" cy="4995360"/>
            </a:xfrm>
          </p:grpSpPr>
          <p:sp>
            <p:nvSpPr>
              <p:cNvPr id="995" name="Line 35"/>
              <p:cNvSpPr/>
              <p:nvPr/>
            </p:nvSpPr>
            <p:spPr>
              <a:xfrm flipV="1">
                <a:off x="5130720" y="1344240"/>
                <a:ext cx="0" cy="480204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996" name="Rectangle 36"/>
              <p:cNvSpPr/>
              <p:nvPr/>
            </p:nvSpPr>
            <p:spPr>
              <a:xfrm>
                <a:off x="6313320" y="3625920"/>
                <a:ext cx="449280" cy="5209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sp>
            <p:nvSpPr>
              <p:cNvPr id="997" name="Rectangle 37"/>
              <p:cNvSpPr/>
              <p:nvPr/>
            </p:nvSpPr>
            <p:spPr>
              <a:xfrm>
                <a:off x="5029200" y="3976560"/>
                <a:ext cx="409320" cy="459720"/>
              </a:xfrm>
              <a:prstGeom prst="rect">
                <a:avLst/>
              </a:prstGeom>
              <a:noFill/>
              <a:ln w="0">
                <a:noFill/>
              </a:ln>
            </p:spPr>
            <p:style>
              <a:lnRef idx="0"/>
              <a:fillRef idx="0"/>
              <a:effectRef idx="0"/>
              <a:fontRef idx="minor"/>
            </p:style>
            <p:txBody>
              <a:bodyPr wrap="none"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0</a:t>
                </a:r>
                <a:endParaRPr lang="en-US" sz="2400" b="1" u="none" strike="noStrike">
                  <a:solidFill>
                    <a:srgbClr val="000000"/>
                  </a:solidFill>
                  <a:effectLst/>
                  <a:uFillTx/>
                  <a:latin typeface="Times New Roman"/>
                </a:endParaRPr>
              </a:p>
            </p:txBody>
          </p:sp>
          <p:sp>
            <p:nvSpPr>
              <p:cNvPr id="998" name="Line 38"/>
              <p:cNvSpPr/>
              <p:nvPr/>
            </p:nvSpPr>
            <p:spPr>
              <a:xfrm>
                <a:off x="2062080" y="3916440"/>
                <a:ext cx="4311720" cy="1440"/>
              </a:xfrm>
              <a:prstGeom prst="line">
                <a:avLst/>
              </a:prstGeom>
              <a:ln cap="sq" w="57240">
                <a:solidFill>
                  <a:srgbClr val="000000"/>
                </a:solidFill>
                <a:miter/>
                <a:tailEnd len="med" type="triangle" w="med"/>
              </a:ln>
            </p:spPr>
            <p:style>
              <a:lnRef idx="0"/>
              <a:fillRef idx="0"/>
              <a:effectRef idx="0"/>
              <a:fontRef idx="minor"/>
            </p:style>
            <p:txBody>
              <a:bodyPr lIns="90000" tIns="-45360" rIns="90000" bIns="-45360" anchor="t">
                <a:noAutofit/>
              </a:bodyPr>
              <a:p>
                <a:endParaRPr lang="en-US" sz="2800" b="1" u="none" strike="noStrike">
                  <a:solidFill>
                    <a:srgbClr val="000000"/>
                  </a:solidFill>
                  <a:effectLst/>
                  <a:uFillTx/>
                  <a:latin typeface="Times New Roman"/>
                </a:endParaRPr>
              </a:p>
            </p:txBody>
          </p:sp>
          <p:sp>
            <p:nvSpPr>
              <p:cNvPr id="999" name="Line 40"/>
              <p:cNvSpPr/>
              <p:nvPr/>
            </p:nvSpPr>
            <p:spPr>
              <a:xfrm>
                <a:off x="4056120" y="379872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00" name="Line 41"/>
              <p:cNvSpPr/>
              <p:nvPr/>
            </p:nvSpPr>
            <p:spPr>
              <a:xfrm>
                <a:off x="4056120" y="3819600"/>
                <a:ext cx="0" cy="1760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01" name="Line 43"/>
              <p:cNvSpPr/>
              <p:nvPr/>
            </p:nvSpPr>
            <p:spPr>
              <a:xfrm>
                <a:off x="2943360" y="3819600"/>
                <a:ext cx="0" cy="1760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02" name="Line 44"/>
              <p:cNvSpPr/>
              <p:nvPr/>
            </p:nvSpPr>
            <p:spPr>
              <a:xfrm>
                <a:off x="2943360" y="3798720"/>
                <a:ext cx="0" cy="177840"/>
              </a:xfrm>
              <a:prstGeom prst="line">
                <a:avLst/>
              </a:prstGeom>
              <a:ln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03" name="Line 46"/>
              <p:cNvSpPr/>
              <p:nvPr/>
            </p:nvSpPr>
            <p:spPr>
              <a:xfrm flipV="1">
                <a:off x="5040360" y="5117040"/>
                <a:ext cx="162000" cy="6120"/>
              </a:xfrm>
              <a:prstGeom prst="line">
                <a:avLst/>
              </a:prstGeom>
              <a:ln w="57240">
                <a:solidFill>
                  <a:srgbClr val="000000"/>
                </a:solidFill>
                <a:miter/>
              </a:ln>
            </p:spPr>
            <p:style>
              <a:lnRef idx="0"/>
              <a:fillRef idx="0"/>
              <a:effectRef idx="0"/>
              <a:fontRef idx="minor"/>
            </p:style>
            <p:txBody>
              <a:bodyPr lIns="90000" tIns="-40680" rIns="90000" bIns="-40680" anchor="t">
                <a:noAutofit/>
              </a:bodyPr>
              <a:p>
                <a:endParaRPr lang="en-US" sz="2800" b="1" u="none" strike="noStrike">
                  <a:solidFill>
                    <a:srgbClr val="000000"/>
                  </a:solidFill>
                  <a:effectLst/>
                  <a:uFillTx/>
                  <a:latin typeface="Times New Roman"/>
                </a:endParaRPr>
              </a:p>
            </p:txBody>
          </p:sp>
          <p:sp>
            <p:nvSpPr>
              <p:cNvPr id="1004" name="Line 48"/>
              <p:cNvSpPr/>
              <p:nvPr/>
            </p:nvSpPr>
            <p:spPr>
              <a:xfrm flipV="1">
                <a:off x="5062680" y="2661840"/>
                <a:ext cx="161640" cy="5760"/>
              </a:xfrm>
              <a:prstGeom prst="line">
                <a:avLst/>
              </a:prstGeom>
              <a:ln w="57240">
                <a:solidFill>
                  <a:srgbClr val="000000"/>
                </a:solidFill>
                <a:miter/>
              </a:ln>
            </p:spPr>
            <p:style>
              <a:lnRef idx="0"/>
              <a:fillRef idx="0"/>
              <a:effectRef idx="0"/>
              <a:fontRef idx="minor"/>
            </p:style>
            <p:txBody>
              <a:bodyPr lIns="90000" tIns="-41040" rIns="90000" bIns="-41040" anchor="t">
                <a:noAutofit/>
              </a:bodyPr>
              <a:p>
                <a:endParaRPr lang="en-US" sz="2800" b="1" u="none" strike="noStrike">
                  <a:solidFill>
                    <a:srgbClr val="000000"/>
                  </a:solidFill>
                  <a:effectLst/>
                  <a:uFillTx/>
                  <a:latin typeface="Times New Roman"/>
                </a:endParaRPr>
              </a:p>
            </p:txBody>
          </p:sp>
          <p:sp>
            <p:nvSpPr>
              <p:cNvPr id="1005" name="Rectangle 50"/>
              <p:cNvSpPr/>
              <p:nvPr/>
            </p:nvSpPr>
            <p:spPr>
              <a:xfrm>
                <a:off x="4289760" y="1150920"/>
                <a:ext cx="813960" cy="5209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j</a:t>
                </a:r>
                <a:r>
                  <a:rPr lang="en-US" sz="2800" b="1" i="1" u="none" strike="noStrike">
                    <a:solidFill>
                      <a:srgbClr val="000000"/>
                    </a:solidFill>
                    <a:effectLst/>
                    <a:uFillTx/>
                    <a:latin typeface="Symbol"/>
                    <a:ea typeface="Symbol"/>
                  </a:rPr>
                  <a:t></a:t>
                </a:r>
                <a:endParaRPr lang="en-US" sz="2800" b="1" u="none" strike="noStrike">
                  <a:solidFill>
                    <a:srgbClr val="000000"/>
                  </a:solidFill>
                  <a:effectLst/>
                  <a:uFillTx/>
                  <a:latin typeface="Times New Roman"/>
                </a:endParaRPr>
              </a:p>
            </p:txBody>
          </p:sp>
        </p:grpSp>
        <p:grpSp>
          <p:nvGrpSpPr>
            <p:cNvPr id="1006" name="Group 51"/>
            <p:cNvGrpSpPr/>
            <p:nvPr/>
          </p:nvGrpSpPr>
          <p:grpSpPr>
            <a:xfrm>
              <a:off x="4994280" y="3762360"/>
              <a:ext cx="287280" cy="290520"/>
              <a:chOff x="4994280" y="3762360"/>
              <a:chExt cx="287280" cy="290520"/>
            </a:xfrm>
          </p:grpSpPr>
          <p:sp>
            <p:nvSpPr>
              <p:cNvPr id="1007" name="Line 52"/>
              <p:cNvSpPr/>
              <p:nvPr/>
            </p:nvSpPr>
            <p:spPr>
              <a:xfrm>
                <a:off x="4997520" y="377028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08" name="Line 53"/>
              <p:cNvSpPr/>
              <p:nvPr/>
            </p:nvSpPr>
            <p:spPr>
              <a:xfrm flipH="1">
                <a:off x="4994280" y="376236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009" name="Group 54"/>
            <p:cNvGrpSpPr/>
            <p:nvPr/>
          </p:nvGrpSpPr>
          <p:grpSpPr>
            <a:xfrm>
              <a:off x="3922560" y="2546280"/>
              <a:ext cx="287280" cy="290520"/>
              <a:chOff x="3922560" y="2546280"/>
              <a:chExt cx="287280" cy="290520"/>
            </a:xfrm>
          </p:grpSpPr>
          <p:sp>
            <p:nvSpPr>
              <p:cNvPr id="1010" name="Line 55"/>
              <p:cNvSpPr/>
              <p:nvPr/>
            </p:nvSpPr>
            <p:spPr>
              <a:xfrm>
                <a:off x="3925800" y="255420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11" name="Line 56"/>
              <p:cNvSpPr/>
              <p:nvPr/>
            </p:nvSpPr>
            <p:spPr>
              <a:xfrm flipH="1">
                <a:off x="3922560" y="254628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012" name="Group 57"/>
            <p:cNvGrpSpPr/>
            <p:nvPr/>
          </p:nvGrpSpPr>
          <p:grpSpPr>
            <a:xfrm>
              <a:off x="3922560" y="4984920"/>
              <a:ext cx="287280" cy="290520"/>
              <a:chOff x="3922560" y="4984920"/>
              <a:chExt cx="287280" cy="290520"/>
            </a:xfrm>
          </p:grpSpPr>
          <p:sp>
            <p:nvSpPr>
              <p:cNvPr id="1013" name="Line 58"/>
              <p:cNvSpPr/>
              <p:nvPr/>
            </p:nvSpPr>
            <p:spPr>
              <a:xfrm>
                <a:off x="3925800" y="4992840"/>
                <a:ext cx="282600" cy="28260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14" name="Line 59"/>
              <p:cNvSpPr/>
              <p:nvPr/>
            </p:nvSpPr>
            <p:spPr>
              <a:xfrm flipH="1">
                <a:off x="3922560" y="4984920"/>
                <a:ext cx="287280" cy="287280"/>
              </a:xfrm>
              <a:prstGeom prst="line">
                <a:avLst/>
              </a:prstGeom>
              <a:ln cap="sq" w="76320">
                <a:solidFill>
                  <a:srgbClr val="9933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sp>
          <p:nvSpPr>
            <p:cNvPr id="1015" name="Line 60"/>
            <p:cNvSpPr/>
            <p:nvPr/>
          </p:nvSpPr>
          <p:spPr>
            <a:xfrm flipV="1">
              <a:off x="4346640" y="966600"/>
              <a:ext cx="1743120" cy="294300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16" name="Line 61"/>
            <p:cNvSpPr/>
            <p:nvPr/>
          </p:nvSpPr>
          <p:spPr>
            <a:xfrm>
              <a:off x="4359240" y="3935520"/>
              <a:ext cx="1490760" cy="2516040"/>
            </a:xfrm>
            <a:prstGeom prst="line">
              <a:avLst/>
            </a:prstGeom>
            <a:ln w="57240">
              <a:solidFill>
                <a:srgbClr val="000000"/>
              </a:solidFill>
              <a:prstDash val="sysDot"/>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17" name="Line 62"/>
            <p:cNvSpPr/>
            <p:nvPr/>
          </p:nvSpPr>
          <p:spPr>
            <a:xfrm flipH="1">
              <a:off x="1930320" y="3905280"/>
              <a:ext cx="3208320" cy="0"/>
            </a:xfrm>
            <a:prstGeom prst="line">
              <a:avLst/>
            </a:prstGeom>
            <a:ln w="1260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18" name="Line 64"/>
            <p:cNvSpPr/>
            <p:nvPr/>
          </p:nvSpPr>
          <p:spPr>
            <a:xfrm>
              <a:off x="4067280" y="2692440"/>
              <a:ext cx="414360" cy="492120"/>
            </a:xfrm>
            <a:prstGeom prst="line">
              <a:avLst/>
            </a:prstGeom>
            <a:ln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19" name="Rectangle 65"/>
            <p:cNvSpPr/>
            <p:nvPr/>
          </p:nvSpPr>
          <p:spPr>
            <a:xfrm>
              <a:off x="3773160" y="3932280"/>
              <a:ext cx="50040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Symbol"/>
                  <a:ea typeface="Symbol"/>
                </a:rPr>
                <a:t></a:t>
              </a:r>
              <a:r>
                <a:rPr lang="en-US" sz="2400" b="1" u="none" strike="noStrike">
                  <a:solidFill>
                    <a:srgbClr val="000000"/>
                  </a:solidFill>
                  <a:effectLst/>
                  <a:uFillTx/>
                  <a:latin typeface="Times New Roman"/>
                </a:rPr>
                <a:t>1</a:t>
              </a:r>
              <a:endParaRPr lang="en-US" sz="2400" b="1" u="none" strike="noStrike">
                <a:solidFill>
                  <a:srgbClr val="000000"/>
                </a:solidFill>
                <a:effectLst/>
                <a:uFillTx/>
                <a:latin typeface="Times New Roman"/>
              </a:endParaRPr>
            </a:p>
          </p:txBody>
        </p:sp>
        <p:sp>
          <p:nvSpPr>
            <p:cNvPr id="1020" name="Rectangle 66"/>
            <p:cNvSpPr/>
            <p:nvPr/>
          </p:nvSpPr>
          <p:spPr>
            <a:xfrm>
              <a:off x="2671560" y="3944880"/>
              <a:ext cx="50040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Symbol"/>
                  <a:ea typeface="Symbol"/>
                </a:rPr>
                <a:t></a:t>
              </a:r>
              <a:r>
                <a:rPr lang="en-US" sz="2400" b="1" u="none" strike="noStrike">
                  <a:solidFill>
                    <a:srgbClr val="000000"/>
                  </a:solidFill>
                  <a:effectLst/>
                  <a:uFillTx/>
                  <a:latin typeface="Times New Roman"/>
                </a:rPr>
                <a:t>2</a:t>
              </a:r>
              <a:endParaRPr lang="en-US" sz="2400" b="1" u="none" strike="noStrike">
                <a:solidFill>
                  <a:srgbClr val="000000"/>
                </a:solidFill>
                <a:effectLst/>
                <a:uFillTx/>
                <a:latin typeface="Times New Roman"/>
              </a:endParaRPr>
            </a:p>
          </p:txBody>
        </p:sp>
      </p:grpSp>
      <p:sp>
        <p:nvSpPr>
          <p:cNvPr id="1021" name="Oval 67"/>
          <p:cNvSpPr/>
          <p:nvPr/>
        </p:nvSpPr>
        <p:spPr>
          <a:xfrm>
            <a:off x="5022720" y="2017800"/>
            <a:ext cx="203400" cy="20304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1022" name="Rectangle 71"/>
          <p:cNvSpPr/>
          <p:nvPr/>
        </p:nvSpPr>
        <p:spPr>
          <a:xfrm>
            <a:off x="5585760" y="38412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023" name="Rectangle 72"/>
          <p:cNvSpPr/>
          <p:nvPr/>
        </p:nvSpPr>
        <p:spPr>
          <a:xfrm>
            <a:off x="5976360" y="617688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024" name="Rectangle 73"/>
          <p:cNvSpPr/>
          <p:nvPr/>
        </p:nvSpPr>
        <p:spPr>
          <a:xfrm>
            <a:off x="1694880" y="3301920"/>
            <a:ext cx="103464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Symbol"/>
                <a:ea typeface="Symbol"/>
              </a:rPr>
              <a:t></a:t>
            </a:r>
            <a:endParaRPr lang="en-US" sz="2400" b="1" u="none" strike="noStrike">
              <a:solidFill>
                <a:srgbClr val="000000"/>
              </a:solidFill>
              <a:effectLst/>
              <a:uFillTx/>
              <a:latin typeface="Times New Roman"/>
            </a:endParaRPr>
          </a:p>
        </p:txBody>
      </p:sp>
      <p:sp>
        <p:nvSpPr>
          <p:cNvPr id="1025" name="Rectangle 75"/>
          <p:cNvSpPr/>
          <p:nvPr/>
        </p:nvSpPr>
        <p:spPr>
          <a:xfrm>
            <a:off x="5413320" y="1811160"/>
            <a:ext cx="1917720" cy="5101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 j</a:t>
            </a:r>
            <a:r>
              <a:rPr lang="en-US" sz="2400" b="1" u="none" strike="noStrike">
                <a:solidFill>
                  <a:srgbClr val="000000"/>
                </a:solidFill>
                <a:effectLst/>
                <a:uFillTx/>
                <a:latin typeface="Times New Roman"/>
              </a:rPr>
              <a:t>1.414</a:t>
            </a:r>
            <a:r>
              <a:rPr lang="en-US" sz="2400" b="1" i="1" u="none" strike="noStrike">
                <a:solidFill>
                  <a:srgbClr val="000000"/>
                </a:solidFill>
                <a:effectLst/>
                <a:uFillTx/>
                <a:latin typeface="Times New Roman"/>
              </a:rPr>
              <a:t>  K</a:t>
            </a:r>
            <a:r>
              <a:rPr lang="en-US" sz="2400" b="1" i="1" u="none" strike="noStrike" baseline="-25000">
                <a:solidFill>
                  <a:srgbClr val="000000"/>
                </a:solidFill>
                <a:effectLst/>
                <a:uFillTx/>
                <a:latin typeface="Times New Roman"/>
              </a:rPr>
              <a:t>g </a:t>
            </a:r>
            <a:r>
              <a:rPr lang="en-US" sz="2400" b="1" u="none" strike="noStrike">
                <a:solidFill>
                  <a:srgbClr val="000000"/>
                </a:solidFill>
                <a:effectLst/>
                <a:uFillTx/>
                <a:latin typeface="Times New Roman"/>
              </a:rPr>
              <a:t>= 4</a:t>
            </a:r>
            <a:endParaRPr lang="en-US" sz="2400" b="1" u="none" strike="noStrike">
              <a:solidFill>
                <a:srgbClr val="000000"/>
              </a:solidFill>
              <a:effectLst/>
              <a:uFillTx/>
              <a:latin typeface="Times New Roman"/>
            </a:endParaRPr>
          </a:p>
        </p:txBody>
      </p:sp>
      <p:grpSp>
        <p:nvGrpSpPr>
          <p:cNvPr id="1026" name="Group 80"/>
          <p:cNvGrpSpPr/>
          <p:nvPr/>
        </p:nvGrpSpPr>
        <p:grpSpPr>
          <a:xfrm>
            <a:off x="4051440" y="1074600"/>
            <a:ext cx="1857240" cy="1922760"/>
            <a:chOff x="4051440" y="1074600"/>
            <a:chExt cx="1857240" cy="1922760"/>
          </a:xfrm>
        </p:grpSpPr>
        <p:sp>
          <p:nvSpPr>
            <p:cNvPr id="1027" name="Freeform 69"/>
            <p:cNvSpPr/>
            <p:nvPr/>
          </p:nvSpPr>
          <p:spPr>
            <a:xfrm>
              <a:off x="4051440" y="1074600"/>
              <a:ext cx="1857240" cy="1922760"/>
            </a:xfrm>
            <a:custGeom>
              <a:avLst/>
              <a:gdLst>
                <a:gd name="GluePoint1X" fmla="*/ 0 w 1170"/>
                <a:gd name="GluePoint1Y" fmla="*/ 1005 h 1211"/>
                <a:gd name="GluePoint2X" fmla="*/ 292 w 1170"/>
                <a:gd name="GluePoint2Y" fmla="*/ 1152 h 1211"/>
                <a:gd name="GluePoint3X" fmla="*/ 686 w 1170"/>
                <a:gd name="GluePoint3Y" fmla="*/ 649 h 1211"/>
                <a:gd name="GluePoint4X" fmla="*/ 1170 w 1170"/>
                <a:gd name="GluePoint4Y" fmla="*/ 0 h 1211"/>
              </a:gdLst>
              <a:ahLst/>
              <a:cxnLst>
                <a:cxn ang="0">
                  <a:pos x="GluePoint1X" y="GluePoint1Y"/>
                </a:cxn>
                <a:cxn ang="0">
                  <a:pos x="GluePoint2X" y="GluePoint2Y"/>
                </a:cxn>
                <a:cxn ang="0">
                  <a:pos x="GluePoint3X" y="GluePoint3Y"/>
                </a:cxn>
                <a:cxn ang="0">
                  <a:pos x="GluePoint4X" y="GluePoint4Y"/>
                </a:cxn>
              </a:cxnLst>
              <a:rect l="l" t="t" r="r" b="b"/>
              <a:pathLst>
                <a:path w="1170" h="1211">
                  <a:moveTo>
                    <a:pt x="0" y="1005"/>
                  </a:moveTo>
                  <a:cubicBezTo>
                    <a:pt x="49" y="1029"/>
                    <a:pt x="178" y="1211"/>
                    <a:pt x="292" y="1152"/>
                  </a:cubicBezTo>
                  <a:cubicBezTo>
                    <a:pt x="406" y="1093"/>
                    <a:pt x="540" y="841"/>
                    <a:pt x="686" y="649"/>
                  </a:cubicBezTo>
                  <a:cubicBezTo>
                    <a:pt x="832" y="457"/>
                    <a:pt x="1069" y="135"/>
                    <a:pt x="1170" y="0"/>
                  </a:cubicBezTo>
                </a:path>
              </a:pathLst>
            </a:custGeom>
            <a:noFill/>
            <a:ln w="76320">
              <a:solidFill>
                <a:srgbClr val="993300"/>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28" name="Line 79"/>
            <p:cNvSpPr/>
            <p:nvPr/>
          </p:nvSpPr>
          <p:spPr>
            <a:xfrm flipV="1">
              <a:off x="5342040" y="1556280"/>
              <a:ext cx="187200" cy="284040"/>
            </a:xfrm>
            <a:prstGeom prst="line">
              <a:avLst/>
            </a:prstGeom>
            <a:ln w="76320">
              <a:solidFill>
                <a:srgbClr val="99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grpSp>
        <p:nvGrpSpPr>
          <p:cNvPr id="1029" name="Group 81"/>
          <p:cNvGrpSpPr/>
          <p:nvPr/>
        </p:nvGrpSpPr>
        <p:grpSpPr>
          <a:xfrm>
            <a:off x="4065480" y="4761000"/>
            <a:ext cx="1857240" cy="1922400"/>
            <a:chOff x="4065480" y="4761000"/>
            <a:chExt cx="1857240" cy="1922400"/>
          </a:xfrm>
        </p:grpSpPr>
        <p:sp>
          <p:nvSpPr>
            <p:cNvPr id="1030" name="Freeform 82"/>
            <p:cNvSpPr/>
            <p:nvPr/>
          </p:nvSpPr>
          <p:spPr>
            <a:xfrm flipV="1">
              <a:off x="4065480" y="4761000"/>
              <a:ext cx="1857240" cy="1922400"/>
            </a:xfrm>
            <a:custGeom>
              <a:avLst/>
              <a:gdLst>
                <a:gd name="GluePoint1X" fmla="*/ 0 w 1170"/>
                <a:gd name="GluePoint1Y" fmla="*/ 1005 h 1211"/>
                <a:gd name="GluePoint2X" fmla="*/ 292 w 1170"/>
                <a:gd name="GluePoint2Y" fmla="*/ 1152 h 1211"/>
                <a:gd name="GluePoint3X" fmla="*/ 686 w 1170"/>
                <a:gd name="GluePoint3Y" fmla="*/ 649 h 1211"/>
                <a:gd name="GluePoint4X" fmla="*/ 1170 w 1170"/>
                <a:gd name="GluePoint4Y" fmla="*/ 0 h 1211"/>
              </a:gdLst>
              <a:ahLst/>
              <a:cxnLst>
                <a:cxn ang="0">
                  <a:pos x="GluePoint1X" y="GluePoint1Y"/>
                </a:cxn>
                <a:cxn ang="0">
                  <a:pos x="GluePoint2X" y="GluePoint2Y"/>
                </a:cxn>
                <a:cxn ang="0">
                  <a:pos x="GluePoint3X" y="GluePoint3Y"/>
                </a:cxn>
                <a:cxn ang="0">
                  <a:pos x="GluePoint4X" y="GluePoint4Y"/>
                </a:cxn>
              </a:cxnLst>
              <a:rect l="l" t="t" r="r" b="b"/>
              <a:pathLst>
                <a:path w="1170" h="1211">
                  <a:moveTo>
                    <a:pt x="0" y="1005"/>
                  </a:moveTo>
                  <a:cubicBezTo>
                    <a:pt x="49" y="1029"/>
                    <a:pt x="178" y="1211"/>
                    <a:pt x="292" y="1152"/>
                  </a:cubicBezTo>
                  <a:cubicBezTo>
                    <a:pt x="406" y="1093"/>
                    <a:pt x="540" y="841"/>
                    <a:pt x="686" y="649"/>
                  </a:cubicBezTo>
                  <a:cubicBezTo>
                    <a:pt x="832" y="457"/>
                    <a:pt x="1069" y="135"/>
                    <a:pt x="1170" y="0"/>
                  </a:cubicBezTo>
                </a:path>
              </a:pathLst>
            </a:custGeom>
            <a:noFill/>
            <a:ln w="76320">
              <a:solidFill>
                <a:srgbClr val="31B6FD"/>
              </a:solidFill>
              <a:roun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31" name="Line 83"/>
            <p:cNvSpPr/>
            <p:nvPr/>
          </p:nvSpPr>
          <p:spPr>
            <a:xfrm>
              <a:off x="5356080" y="5918040"/>
              <a:ext cx="187200" cy="283680"/>
            </a:xfrm>
            <a:prstGeom prst="line">
              <a:avLst/>
            </a:prstGeom>
            <a:ln w="76320">
              <a:solidFill>
                <a:srgbClr val="31B6FD"/>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mc:AlternateContent>
        <mc:Choice xmlns:a14="http://schemas.microsoft.com/office/drawing/2010/main" Requires="a14">
          <p:sp>
            <p:nvSpPr>
              <p:cNvPr id="1032" name="Object 4"/>
              <p:cNvSpPr txBox="1"/>
              <p:nvPr/>
            </p:nvSpPr>
            <p:spPr>
              <a:xfrm>
                <a:off x="330120" y="1114560"/>
                <a:ext cx="2751120" cy="876240"/>
              </a:xfrm>
              <a:prstGeom prst="rect">
                <a:avLst/>
              </a:prstGeom>
            </p:spPr>
            <p:txBody>
              <a:bodyPr/>
              <a:p>
                <a14:m>
                  <m:oMath xmlns:m="http://schemas.openxmlformats.org/officeDocument/2006/math">
                    <m:sSub>
                      <m:e>
                        <m:r>
                          <m:t xml:space="preserve">G</m:t>
                        </m:r>
                      </m:e>
                      <m:sub>
                        <m:r>
                          <m:t xml:space="preserve">k</m:t>
                        </m:r>
                      </m:sub>
                    </m:sSub>
                    <m:r>
                      <m:t xml:space="preserve">(</m:t>
                    </m:r>
                    <m:r>
                      <m:t xml:space="preserve">s</m:t>
                    </m:r>
                    <m:r>
                      <m:t xml:space="preserve">)</m:t>
                    </m:r>
                    <m:r>
                      <m:t xml:space="preserve">=</m:t>
                    </m:r>
                    <m:f>
                      <m:num>
                        <m:sSub>
                          <m:e>
                            <m:r>
                              <m:t xml:space="preserve">K</m:t>
                            </m:r>
                          </m:e>
                          <m:sub>
                            <m:r>
                              <m:t xml:space="preserve">g</m:t>
                            </m:r>
                          </m:sub>
                        </m:sSub>
                      </m:num>
                      <m:den>
                        <m:r>
                          <m:t xml:space="preserve">s</m:t>
                        </m:r>
                        <m:r>
                          <m:t xml:space="preserve">(</m:t>
                        </m:r>
                        <m:sSup>
                          <m:e>
                            <m:r>
                              <m:t xml:space="preserve">s</m:t>
                            </m:r>
                          </m:e>
                          <m:sup>
                            <m:r>
                              <m:t xml:space="preserve">2</m:t>
                            </m:r>
                          </m:sup>
                        </m:sSup>
                        <m:r>
                          <m:t xml:space="preserve">+</m:t>
                        </m:r>
                        <m:r>
                          <m:t xml:space="preserve">2</m:t>
                        </m:r>
                        <m:r>
                          <m:t xml:space="preserve">s</m:t>
                        </m:r>
                        <m:r>
                          <m:t xml:space="preserve">+</m:t>
                        </m:r>
                        <m:r>
                          <m:t xml:space="preserve">2</m:t>
                        </m:r>
                        <m:r>
                          <m:t xml:space="preserve">)</m:t>
                        </m:r>
                      </m:den>
                    </m:f>
                  </m:oMath>
                </a14:m>
              </a:p>
            </p:txBody>
          </p:sp>
        </mc:Choice>
        <mc:Fallback>
          <p:sp>
            <p:nvSpPr>
              <p:cNvPr id="1032" name="Object 4"/>
              <p:cNvSpPr txBox="1"/>
              <p:nvPr/>
            </p:nvSpPr>
            <p:spPr>
              <a:xfrm>
                <a:off x="330120" y="1114560"/>
                <a:ext cx="2751120" cy="876240"/>
              </a:xfrm>
              <a:prstGeom prst="rect">
                <a:avLst/>
              </a:prstGeom>
              <a:blipFill>
                <a:blip r:embed="rId1"/>
                <a:stretch>
                  <a:fillRect/>
                </a:stretch>
              </a:blipFill>
            </p:spPr>
          </p:sp>
        </mc:Fallback>
      </mc:AlternateContent>
      <p:sp>
        <p:nvSpPr>
          <p:cNvPr id="1033" name="Line 2"/>
          <p:cNvSpPr/>
          <p:nvPr/>
        </p:nvSpPr>
        <p:spPr>
          <a:xfrm flipH="1">
            <a:off x="1804680" y="3906720"/>
            <a:ext cx="3313080" cy="0"/>
          </a:xfrm>
          <a:prstGeom prst="line">
            <a:avLst/>
          </a:prstGeom>
          <a:ln w="76320">
            <a:solidFill>
              <a:srgbClr val="CC33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34" name="Text Box 3"/>
          <p:cNvSpPr/>
          <p:nvPr/>
        </p:nvSpPr>
        <p:spPr>
          <a:xfrm>
            <a:off x="3524400" y="2809800"/>
            <a:ext cx="1095120" cy="520920"/>
          </a:xfrm>
          <a:prstGeom prst="rect">
            <a:avLst/>
          </a:prstGeom>
          <a:noFill/>
          <a:ln w="0">
            <a:noFill/>
          </a:ln>
        </p:spPr>
        <p:style>
          <a:lnRef idx="0"/>
          <a:fillRef idx="0"/>
          <a:effectRef idx="0"/>
          <a:fontRef idx="minor"/>
        </p:style>
        <p:txBody>
          <a:bodyPr lIns="90000" tIns="46800" rIns="90000" bIns="4680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-45°</a:t>
            </a:r>
            <a:endParaRPr lang="en-US" sz="2800" b="1"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2115" dur="indefinite" restart="never" nodeType="tmRoot">
          <p:childTnLst>
            <p:seq>
              <p:cTn id="2116" dur="indefinite" nodeType="mainSeq">
                <p:childTnLst>
                  <p:par>
                    <p:cTn id="2117" fill="hold" nodeType="clickEffect">
                      <p:stCondLst>
                        <p:cond delay="indefinite"/>
                      </p:stCondLst>
                      <p:childTnLst>
                        <p:par>
                          <p:cTn id="2118" fill="hold" nodeType="withEffect">
                            <p:stCondLst>
                              <p:cond delay="0"/>
                            </p:stCondLst>
                            <p:childTnLst>
                              <p:par>
                                <p:cTn id="2119" presetID="2" presetClass="entr" fill="hold" nodeType="clickEffect" presetSubtype="8">
                                  <p:stCondLst>
                                    <p:cond delay="0"/>
                                  </p:stCondLst>
                                  <p:childTnLst>
                                    <p:set>
                                      <p:cBhvr>
                                        <p:cTn id="2120" dur="1" fill="hold">
                                          <p:stCondLst>
                                            <p:cond delay="0"/>
                                          </p:stCondLst>
                                        </p:cTn>
                                        <p:tgtEl>
                                          <p:spTgt spid="992"/>
                                        </p:tgtEl>
                                        <p:attrNameLst>
                                          <p:attrName>style.visibility</p:attrName>
                                        </p:attrNameLst>
                                      </p:cBhvr>
                                      <p:to>
                                        <p:strVal val="visible"/>
                                      </p:to>
                                    </p:set>
                                    <p:anim calcmode="lin" valueType="num">
                                      <p:cBhvr additive="base">
                                        <p:cTn id="2121" dur="500" fill="hold"/>
                                        <p:tgtEl>
                                          <p:spTgt spid="992"/>
                                        </p:tgtEl>
                                        <p:attrNameLst>
                                          <p:attrName>ppt_x</p:attrName>
                                        </p:attrNameLst>
                                      </p:cBhvr>
                                      <p:tavLst>
                                        <p:tav>
                                          <p:val>
                                            <p:strVal val="0-#ppt_w/2"/>
                                          </p:val>
                                        </p:tav>
                                        <p:tav tm="100000">
                                          <p:val>
                                            <p:strVal val="#ppt_x"/>
                                          </p:val>
                                        </p:tav>
                                      </p:tavLst>
                                    </p:anim>
                                    <p:anim calcmode="lin" valueType="num">
                                      <p:cBhvr additive="base">
                                        <p:cTn id="2122" dur="500" fill="hold"/>
                                        <p:tgtEl>
                                          <p:spTgt spid="992"/>
                                        </p:tgtEl>
                                        <p:attrNameLst>
                                          <p:attrName>ppt_y</p:attrName>
                                        </p:attrNameLst>
                                      </p:cBhvr>
                                      <p:tavLst>
                                        <p:tav>
                                          <p:val>
                                            <p:strVal val="#ppt_y"/>
                                          </p:val>
                                        </p:tav>
                                        <p:tav tm="100000">
                                          <p:val>
                                            <p:strVal val="#ppt_y"/>
                                          </p:val>
                                        </p:tav>
                                      </p:tavLst>
                                    </p:anim>
                                  </p:childTnLst>
                                </p:cTn>
                              </p:par>
                            </p:childTnLst>
                          </p:cTn>
                        </p:par>
                        <p:par>
                          <p:cTn id="2123" fill="hold" nodeType="afterEffect">
                            <p:stCondLst>
                              <p:cond delay="500"/>
                            </p:stCondLst>
                            <p:childTnLst>
                              <p:par>
                                <p:cTn id="2124" presetID="22" presetClass="entr" fill="hold" nodeType="afterEffect" presetSubtype="8">
                                  <p:stCondLst>
                                    <p:cond delay="0"/>
                                  </p:stCondLst>
                                  <p:childTnLst>
                                    <p:set>
                                      <p:cBhvr>
                                        <p:cTn id="2125" dur="1" fill="hold">
                                          <p:stCondLst>
                                            <p:cond delay="0"/>
                                          </p:stCondLst>
                                        </p:cTn>
                                        <p:tgtEl>
                                          <p:spTgt spid="1032"/>
                                        </p:tgtEl>
                                        <p:attrNameLst>
                                          <p:attrName>style.visibility</p:attrName>
                                        </p:attrNameLst>
                                      </p:cBhvr>
                                      <p:to>
                                        <p:strVal val="visible"/>
                                      </p:to>
                                    </p:set>
                                    <p:animEffect transition="in" filter="wipe(left)">
                                      <p:cBhvr additive="repl">
                                        <p:cTn id="2126" dur="500"/>
                                        <p:tgtEl>
                                          <p:spTgt spid="1032"/>
                                        </p:tgtEl>
                                      </p:cBhvr>
                                    </p:animEffect>
                                  </p:childTnLst>
                                </p:cTn>
                              </p:par>
                            </p:childTnLst>
                          </p:cTn>
                        </p:par>
                      </p:childTnLst>
                    </p:cTn>
                  </p:par>
                  <p:par>
                    <p:cTn id="2127" fill="hold" nodeType="clickEffect">
                      <p:stCondLst>
                        <p:cond delay="indefinite"/>
                      </p:stCondLst>
                      <p:childTnLst>
                        <p:par>
                          <p:cTn id="2128" fill="hold" nodeType="withEffect">
                            <p:stCondLst>
                              <p:cond delay="0"/>
                            </p:stCondLst>
                            <p:childTnLst>
                              <p:par>
                                <p:cTn id="2129" presetID="9" presetClass="entr" fill="hold" nodeType="clickEffect">
                                  <p:stCondLst>
                                    <p:cond delay="0"/>
                                  </p:stCondLst>
                                  <p:childTnLst>
                                    <p:set>
                                      <p:cBhvr>
                                        <p:cTn id="2130" dur="1" fill="hold">
                                          <p:stCondLst>
                                            <p:cond delay="0"/>
                                          </p:stCondLst>
                                        </p:cTn>
                                        <p:tgtEl>
                                          <p:spTgt spid="993"/>
                                        </p:tgtEl>
                                        <p:attrNameLst>
                                          <p:attrName>style.visibility</p:attrName>
                                        </p:attrNameLst>
                                      </p:cBhvr>
                                      <p:to>
                                        <p:strVal val="visible"/>
                                      </p:to>
                                    </p:set>
                                    <p:animEffect transition="in" filter="dissolve">
                                      <p:cBhvr additive="repl">
                                        <p:cTn id="2131" dur="500"/>
                                        <p:tgtEl>
                                          <p:spTgt spid="993"/>
                                        </p:tgtEl>
                                      </p:cBhvr>
                                    </p:animEffect>
                                  </p:childTnLst>
                                </p:cTn>
                              </p:par>
                            </p:childTnLst>
                          </p:cTn>
                        </p:par>
                        <p:par>
                          <p:cTn id="2132" fill="hold" nodeType="afterEffect">
                            <p:stCondLst>
                              <p:cond delay="500"/>
                            </p:stCondLst>
                            <p:childTnLst>
                              <p:par>
                                <p:cTn id="2133" presetID="22" presetClass="entr" fill="hold" nodeType="afterEffect" presetSubtype="8">
                                  <p:stCondLst>
                                    <p:cond delay="0"/>
                                  </p:stCondLst>
                                  <p:childTnLst>
                                    <p:set>
                                      <p:cBhvr>
                                        <p:cTn id="2134" dur="1" fill="hold">
                                          <p:stCondLst>
                                            <p:cond delay="0"/>
                                          </p:stCondLst>
                                        </p:cTn>
                                        <p:tgtEl>
                                          <p:spTgt spid="1034"/>
                                        </p:tgtEl>
                                        <p:attrNameLst>
                                          <p:attrName>style.visibility</p:attrName>
                                        </p:attrNameLst>
                                      </p:cBhvr>
                                      <p:to>
                                        <p:strVal val="visible"/>
                                      </p:to>
                                    </p:set>
                                    <p:animEffect transition="in" filter="wipe(left)">
                                      <p:cBhvr additive="repl">
                                        <p:cTn id="2135" dur="500"/>
                                        <p:tgtEl>
                                          <p:spTgt spid="1034"/>
                                        </p:tgtEl>
                                      </p:cBhvr>
                                    </p:animEffect>
                                  </p:childTnLst>
                                </p:cTn>
                              </p:par>
                            </p:childTnLst>
                          </p:cTn>
                        </p:par>
                      </p:childTnLst>
                    </p:cTn>
                  </p:par>
                  <p:par>
                    <p:cTn id="2136" fill="hold" nodeType="clickEffect">
                      <p:stCondLst>
                        <p:cond delay="indefinite"/>
                      </p:stCondLst>
                      <p:childTnLst>
                        <p:par>
                          <p:cTn id="2137" fill="hold" nodeType="withEffect">
                            <p:stCondLst>
                              <p:cond delay="0"/>
                            </p:stCondLst>
                            <p:childTnLst>
                              <p:par>
                                <p:cTn id="2138" presetID="22" presetClass="entr" fill="hold" nodeType="clickEffect" presetSubtype="2">
                                  <p:stCondLst>
                                    <p:cond delay="0"/>
                                  </p:stCondLst>
                                  <p:childTnLst>
                                    <p:set>
                                      <p:cBhvr>
                                        <p:cTn id="2139" dur="1" fill="hold">
                                          <p:stCondLst>
                                            <p:cond delay="0"/>
                                          </p:stCondLst>
                                        </p:cTn>
                                        <p:tgtEl>
                                          <p:spTgt spid="1033"/>
                                        </p:tgtEl>
                                        <p:attrNameLst>
                                          <p:attrName>style.visibility</p:attrName>
                                        </p:attrNameLst>
                                      </p:cBhvr>
                                      <p:to>
                                        <p:strVal val="visible"/>
                                      </p:to>
                                    </p:set>
                                    <p:animEffect transition="in" filter="wipe(right)">
                                      <p:cBhvr additive="repl">
                                        <p:cTn id="2140" dur="500"/>
                                        <p:tgtEl>
                                          <p:spTgt spid="1033"/>
                                        </p:tgtEl>
                                      </p:cBhvr>
                                    </p:animEffect>
                                  </p:childTnLst>
                                </p:cTn>
                              </p:par>
                            </p:childTnLst>
                          </p:cTn>
                        </p:par>
                        <p:par>
                          <p:cTn id="2141" fill="hold" nodeType="afterEffect">
                            <p:stCondLst>
                              <p:cond delay="500"/>
                            </p:stCondLst>
                            <p:childTnLst>
                              <p:par>
                                <p:cTn id="2142" presetID="9" presetClass="entr" fill="hold" nodeType="afterEffect">
                                  <p:stCondLst>
                                    <p:cond delay="0"/>
                                  </p:stCondLst>
                                  <p:childTnLst>
                                    <p:set>
                                      <p:cBhvr>
                                        <p:cTn id="2143" dur="1" fill="hold">
                                          <p:stCondLst>
                                            <p:cond delay="0"/>
                                          </p:stCondLst>
                                        </p:cTn>
                                        <p:tgtEl>
                                          <p:spTgt spid="1024"/>
                                        </p:tgtEl>
                                        <p:attrNameLst>
                                          <p:attrName>style.visibility</p:attrName>
                                        </p:attrNameLst>
                                      </p:cBhvr>
                                      <p:to>
                                        <p:strVal val="visible"/>
                                      </p:to>
                                    </p:set>
                                    <p:animEffect transition="in" filter="dissolve">
                                      <p:cBhvr additive="repl">
                                        <p:cTn id="2144" dur="500"/>
                                        <p:tgtEl>
                                          <p:spTgt spid="1024"/>
                                        </p:tgtEl>
                                      </p:cBhvr>
                                    </p:animEffect>
                                  </p:childTnLst>
                                </p:cTn>
                              </p:par>
                            </p:childTnLst>
                          </p:cTn>
                        </p:par>
                      </p:childTnLst>
                    </p:cTn>
                  </p:par>
                  <p:par>
                    <p:cTn id="2145" fill="hold" nodeType="clickEffect">
                      <p:stCondLst>
                        <p:cond delay="indefinite"/>
                      </p:stCondLst>
                      <p:childTnLst>
                        <p:par>
                          <p:cTn id="2146" fill="hold" nodeType="withEffect">
                            <p:stCondLst>
                              <p:cond delay="0"/>
                            </p:stCondLst>
                            <p:childTnLst>
                              <p:par>
                                <p:cTn id="2147" presetID="9" presetClass="entr" fill="hold" nodeType="clickEffect">
                                  <p:stCondLst>
                                    <p:cond delay="0"/>
                                  </p:stCondLst>
                                  <p:childTnLst>
                                    <p:set>
                                      <p:cBhvr>
                                        <p:cTn id="2148" dur="1" fill="hold">
                                          <p:stCondLst>
                                            <p:cond delay="0"/>
                                          </p:stCondLst>
                                        </p:cTn>
                                        <p:tgtEl>
                                          <p:spTgt spid="1021"/>
                                        </p:tgtEl>
                                        <p:attrNameLst>
                                          <p:attrName>style.visibility</p:attrName>
                                        </p:attrNameLst>
                                      </p:cBhvr>
                                      <p:to>
                                        <p:strVal val="visible"/>
                                      </p:to>
                                    </p:set>
                                    <p:animEffect transition="in" filter="dissolve">
                                      <p:cBhvr additive="repl">
                                        <p:cTn id="2149" dur="500"/>
                                        <p:tgtEl>
                                          <p:spTgt spid="1021"/>
                                        </p:tgtEl>
                                      </p:cBhvr>
                                    </p:animEffect>
                                  </p:childTnLst>
                                </p:cTn>
                              </p:par>
                            </p:childTnLst>
                          </p:cTn>
                        </p:par>
                        <p:par>
                          <p:cTn id="2150" fill="hold" nodeType="afterEffect">
                            <p:stCondLst>
                              <p:cond delay="500"/>
                            </p:stCondLst>
                            <p:childTnLst>
                              <p:par>
                                <p:cTn id="2151" presetID="9" presetClass="entr" fill="hold" nodeType="afterEffect">
                                  <p:stCondLst>
                                    <p:cond delay="0"/>
                                  </p:stCondLst>
                                  <p:childTnLst>
                                    <p:set>
                                      <p:cBhvr>
                                        <p:cTn id="2152" dur="1" fill="hold">
                                          <p:stCondLst>
                                            <p:cond delay="0"/>
                                          </p:stCondLst>
                                        </p:cTn>
                                        <p:tgtEl>
                                          <p:spTgt spid="1025"/>
                                        </p:tgtEl>
                                        <p:attrNameLst>
                                          <p:attrName>style.visibility</p:attrName>
                                        </p:attrNameLst>
                                      </p:cBhvr>
                                      <p:to>
                                        <p:strVal val="visible"/>
                                      </p:to>
                                    </p:set>
                                    <p:animEffect transition="in" filter="dissolve">
                                      <p:cBhvr additive="repl">
                                        <p:cTn id="2153" dur="500"/>
                                        <p:tgtEl>
                                          <p:spTgt spid="1025"/>
                                        </p:tgtEl>
                                      </p:cBhvr>
                                    </p:animEffect>
                                  </p:childTnLst>
                                </p:cTn>
                              </p:par>
                            </p:childTnLst>
                          </p:cTn>
                        </p:par>
                      </p:childTnLst>
                    </p:cTn>
                  </p:par>
                  <p:par>
                    <p:cTn id="2154" fill="hold" nodeType="clickEffect">
                      <p:stCondLst>
                        <p:cond delay="indefinite"/>
                      </p:stCondLst>
                      <p:childTnLst>
                        <p:par>
                          <p:cTn id="2155" fill="hold" nodeType="withEffect">
                            <p:stCondLst>
                              <p:cond delay="0"/>
                            </p:stCondLst>
                            <p:childTnLst>
                              <p:par>
                                <p:cTn id="2156" presetID="22" presetClass="entr" fill="hold" nodeType="clickEffect" presetSubtype="4">
                                  <p:stCondLst>
                                    <p:cond delay="0"/>
                                  </p:stCondLst>
                                  <p:childTnLst>
                                    <p:set>
                                      <p:cBhvr>
                                        <p:cTn id="2157" dur="1" fill="hold">
                                          <p:stCondLst>
                                            <p:cond delay="0"/>
                                          </p:stCondLst>
                                        </p:cTn>
                                        <p:tgtEl>
                                          <p:spTgt spid="1026"/>
                                        </p:tgtEl>
                                        <p:attrNameLst>
                                          <p:attrName>style.visibility</p:attrName>
                                        </p:attrNameLst>
                                      </p:cBhvr>
                                      <p:to>
                                        <p:strVal val="visible"/>
                                      </p:to>
                                    </p:set>
                                    <p:animEffect transition="in" filter="wipe(down)">
                                      <p:cBhvr additive="repl">
                                        <p:cTn id="2158" dur="500"/>
                                        <p:tgtEl>
                                          <p:spTgt spid="1026"/>
                                        </p:tgtEl>
                                      </p:cBhvr>
                                    </p:animEffect>
                                  </p:childTnLst>
                                </p:cTn>
                              </p:par>
                            </p:childTnLst>
                          </p:cTn>
                        </p:par>
                        <p:par>
                          <p:cTn id="2159" fill="hold" nodeType="afterEffect">
                            <p:stCondLst>
                              <p:cond delay="500"/>
                            </p:stCondLst>
                            <p:childTnLst>
                              <p:par>
                                <p:cTn id="2160" presetID="9" presetClass="entr" fill="hold" nodeType="afterEffect">
                                  <p:stCondLst>
                                    <p:cond delay="0"/>
                                  </p:stCondLst>
                                  <p:childTnLst>
                                    <p:set>
                                      <p:cBhvr>
                                        <p:cTn id="2161" dur="1" fill="hold">
                                          <p:stCondLst>
                                            <p:cond delay="0"/>
                                          </p:stCondLst>
                                        </p:cTn>
                                        <p:tgtEl>
                                          <p:spTgt spid="1022"/>
                                        </p:tgtEl>
                                        <p:attrNameLst>
                                          <p:attrName>style.visibility</p:attrName>
                                        </p:attrNameLst>
                                      </p:cBhvr>
                                      <p:to>
                                        <p:strVal val="visible"/>
                                      </p:to>
                                    </p:set>
                                    <p:animEffect transition="in" filter="dissolve">
                                      <p:cBhvr additive="repl">
                                        <p:cTn id="2162" dur="500"/>
                                        <p:tgtEl>
                                          <p:spTgt spid="1022"/>
                                        </p:tgtEl>
                                      </p:cBhvr>
                                    </p:animEffect>
                                  </p:childTnLst>
                                </p:cTn>
                              </p:par>
                            </p:childTnLst>
                          </p:cTn>
                        </p:par>
                      </p:childTnLst>
                    </p:cTn>
                  </p:par>
                  <p:par>
                    <p:cTn id="2163" fill="hold" nodeType="clickEffect">
                      <p:stCondLst>
                        <p:cond delay="indefinite"/>
                      </p:stCondLst>
                      <p:childTnLst>
                        <p:par>
                          <p:cTn id="2164" fill="hold" nodeType="withEffect">
                            <p:stCondLst>
                              <p:cond delay="0"/>
                            </p:stCondLst>
                            <p:childTnLst>
                              <p:par>
                                <p:cTn id="2165" presetID="22" presetClass="entr" fill="hold" nodeType="clickEffect" presetSubtype="1">
                                  <p:stCondLst>
                                    <p:cond delay="0"/>
                                  </p:stCondLst>
                                  <p:childTnLst>
                                    <p:set>
                                      <p:cBhvr>
                                        <p:cTn id="2166" dur="1" fill="hold">
                                          <p:stCondLst>
                                            <p:cond delay="0"/>
                                          </p:stCondLst>
                                        </p:cTn>
                                        <p:tgtEl>
                                          <p:spTgt spid="1029"/>
                                        </p:tgtEl>
                                        <p:attrNameLst>
                                          <p:attrName>style.visibility</p:attrName>
                                        </p:attrNameLst>
                                      </p:cBhvr>
                                      <p:to>
                                        <p:strVal val="visible"/>
                                      </p:to>
                                    </p:set>
                                    <p:animEffect transition="in" filter="wipe(up)">
                                      <p:cBhvr additive="repl">
                                        <p:cTn id="2167" dur="500"/>
                                        <p:tgtEl>
                                          <p:spTgt spid="1029"/>
                                        </p:tgtEl>
                                      </p:cBhvr>
                                    </p:animEffect>
                                  </p:childTnLst>
                                </p:cTn>
                              </p:par>
                            </p:childTnLst>
                          </p:cTn>
                        </p:par>
                        <p:par>
                          <p:cTn id="2168" fill="hold" nodeType="afterEffect">
                            <p:stCondLst>
                              <p:cond delay="500"/>
                            </p:stCondLst>
                            <p:childTnLst>
                              <p:par>
                                <p:cTn id="2169" presetID="9" presetClass="entr" fill="hold" nodeType="afterEffect">
                                  <p:stCondLst>
                                    <p:cond delay="0"/>
                                  </p:stCondLst>
                                  <p:childTnLst>
                                    <p:set>
                                      <p:cBhvr>
                                        <p:cTn id="2170" dur="1" fill="hold">
                                          <p:stCondLst>
                                            <p:cond delay="0"/>
                                          </p:stCondLst>
                                        </p:cTn>
                                        <p:tgtEl>
                                          <p:spTgt spid="1023"/>
                                        </p:tgtEl>
                                        <p:attrNameLst>
                                          <p:attrName>style.visibility</p:attrName>
                                        </p:attrNameLst>
                                      </p:cBhvr>
                                      <p:to>
                                        <p:strVal val="visible"/>
                                      </p:to>
                                    </p:set>
                                    <p:animEffect transition="in" filter="dissolve">
                                      <p:cBhvr additive="repl">
                                        <p:cTn id="2171" dur="500"/>
                                        <p:tgtEl>
                                          <p:spTgt spid="10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 name="Text Box 11"/>
          <p:cNvSpPr/>
          <p:nvPr/>
        </p:nvSpPr>
        <p:spPr>
          <a:xfrm>
            <a:off x="246240" y="725400"/>
            <a:ext cx="8897760" cy="3386160"/>
          </a:xfrm>
          <a:prstGeom prst="rect">
            <a:avLst/>
          </a:prstGeom>
          <a:noFill/>
          <a:ln w="0">
            <a:noFill/>
          </a:ln>
        </p:spPr>
        <p:style>
          <a:lnRef idx="0"/>
          <a:fillRef idx="0"/>
          <a:effectRef idx="0"/>
          <a:fontRef idx="minor"/>
        </p:style>
        <p:txBody>
          <a:bodyPr lIns="90000" tIns="46800" rIns="90000" bIns="46800" anchor="t">
            <a:spAutoFit/>
          </a:bodyPr>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990033"/>
                </a:solidFill>
                <a:effectLst/>
                <a:uFillTx/>
                <a:latin typeface="Times New Roman"/>
              </a:rPr>
              <a:t>法则</a:t>
            </a:r>
            <a:r>
              <a:rPr lang="en-US" sz="2800" b="1" u="none" strike="noStrike">
                <a:solidFill>
                  <a:srgbClr val="990033"/>
                </a:solidFill>
                <a:effectLst/>
                <a:uFillTx/>
                <a:latin typeface="Times New Roman"/>
              </a:rPr>
              <a:t>10   </a:t>
            </a:r>
            <a:r>
              <a:rPr lang="zh-CN" sz="2800" b="1" u="none" strike="noStrike">
                <a:solidFill>
                  <a:srgbClr val="990033"/>
                </a:solidFill>
                <a:effectLst/>
                <a:uFillTx/>
                <a:latin typeface="Times New Roman"/>
              </a:rPr>
              <a:t>闭环极点之和</a:t>
            </a: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绘制根轨迹，或利用根轨迹进行系统性能分析时，可利用该法则。</a:t>
            </a:r>
            <a:endParaRPr lang="en-US" sz="24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若开环传函分母阶次</a:t>
            </a:r>
            <a:r>
              <a:rPr lang="en-US" sz="2400" b="1" i="1" u="none" strike="noStrike">
                <a:solidFill>
                  <a:srgbClr val="000000"/>
                </a:solidFill>
                <a:effectLst/>
                <a:uFillTx/>
                <a:latin typeface="Times New Roman"/>
              </a:rPr>
              <a:t>n</a:t>
            </a:r>
            <a:r>
              <a:rPr lang="zh-CN" sz="2400" b="1" u="none" strike="noStrike">
                <a:solidFill>
                  <a:srgbClr val="000000"/>
                </a:solidFill>
                <a:effectLst/>
                <a:uFillTx/>
                <a:latin typeface="Times New Roman"/>
              </a:rPr>
              <a:t>比分子阶次</a:t>
            </a:r>
            <a:r>
              <a:rPr lang="en-US" sz="2400" b="1" i="1" u="none" strike="noStrike">
                <a:solidFill>
                  <a:srgbClr val="000000"/>
                </a:solidFill>
                <a:effectLst/>
                <a:uFillTx/>
                <a:latin typeface="Times New Roman"/>
              </a:rPr>
              <a:t>m</a:t>
            </a:r>
            <a:r>
              <a:rPr lang="zh-CN" sz="2400" b="1" u="none" strike="noStrike">
                <a:solidFill>
                  <a:srgbClr val="000000"/>
                </a:solidFill>
                <a:effectLst/>
                <a:uFillTx/>
                <a:latin typeface="Times New Roman"/>
              </a:rPr>
              <a:t>高</a:t>
            </a:r>
            <a:r>
              <a:rPr lang="en-US" sz="2400" b="1" u="none" strike="noStrike">
                <a:solidFill>
                  <a:srgbClr val="000000"/>
                </a:solidFill>
                <a:effectLst/>
                <a:uFillTx/>
                <a:latin typeface="Times New Roman"/>
              </a:rPr>
              <a:t>2</a:t>
            </a:r>
            <a:r>
              <a:rPr lang="zh-CN" sz="2400" b="1" u="none" strike="noStrike">
                <a:solidFill>
                  <a:srgbClr val="000000"/>
                </a:solidFill>
                <a:effectLst/>
                <a:uFillTx/>
                <a:latin typeface="Times New Roman"/>
              </a:rPr>
              <a:t>次或</a:t>
            </a:r>
            <a:r>
              <a:rPr lang="en-US" sz="2400" b="1" u="none" strike="noStrike">
                <a:solidFill>
                  <a:srgbClr val="000000"/>
                </a:solidFill>
                <a:effectLst/>
                <a:uFillTx/>
                <a:latin typeface="Times New Roman"/>
              </a:rPr>
              <a:t>2</a:t>
            </a:r>
            <a:r>
              <a:rPr lang="zh-CN" sz="2400" b="1" u="none" strike="noStrike">
                <a:solidFill>
                  <a:srgbClr val="000000"/>
                </a:solidFill>
                <a:effectLst/>
                <a:uFillTx/>
                <a:latin typeface="Times New Roman"/>
              </a:rPr>
              <a:t>次以上，即</a:t>
            </a:r>
            <a:r>
              <a:rPr lang="en-US" sz="2400" b="1" i="1" u="none" strike="noStrike">
                <a:solidFill>
                  <a:srgbClr val="000000"/>
                </a:solidFill>
                <a:effectLst/>
                <a:uFillTx/>
                <a:latin typeface="Times New Roman"/>
              </a:rPr>
              <a:t>n </a:t>
            </a:r>
            <a:r>
              <a:rPr lang="en-US" sz="2400" b="1" i="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 m </a:t>
            </a:r>
            <a:r>
              <a:rPr lang="en-US" sz="2400" b="1" u="none" strike="noStrike">
                <a:solidFill>
                  <a:srgbClr val="000000"/>
                </a:solidFill>
                <a:effectLst/>
                <a:uFillTx/>
                <a:latin typeface="Symbol"/>
                <a:ea typeface="Symbol"/>
              </a:rPr>
              <a:t></a:t>
            </a:r>
            <a:r>
              <a:rPr lang="en-US" sz="2400" b="1" i="1" u="none" strike="noStrike">
                <a:solidFill>
                  <a:srgbClr val="000000"/>
                </a:solidFill>
                <a:effectLst/>
                <a:uFillTx/>
                <a:latin typeface="Times New Roman"/>
              </a:rPr>
              <a:t> </a:t>
            </a:r>
            <a:r>
              <a:rPr lang="en-US" sz="2400" b="1" u="none" strike="noStrike">
                <a:solidFill>
                  <a:srgbClr val="000000"/>
                </a:solidFill>
                <a:effectLst/>
                <a:uFillTx/>
                <a:latin typeface="Times New Roman"/>
              </a:rPr>
              <a:t>2</a:t>
            </a:r>
            <a:r>
              <a:rPr lang="zh-CN" sz="2400" b="1" u="none" strike="noStrike">
                <a:solidFill>
                  <a:srgbClr val="000000"/>
                </a:solidFill>
                <a:effectLst/>
                <a:uFillTx/>
                <a:latin typeface="Times New Roman"/>
              </a:rPr>
              <a:t>，则</a:t>
            </a:r>
            <a:r>
              <a:rPr lang="zh-CN" sz="2400" b="1" u="sng" strike="noStrike">
                <a:solidFill>
                  <a:srgbClr val="000099"/>
                </a:solidFill>
                <a:effectLst/>
                <a:uFillTx/>
                <a:latin typeface="Times New Roman"/>
              </a:rPr>
              <a:t>系统闭环极点之和等于其开环极点之和</a:t>
            </a:r>
            <a:r>
              <a:rPr lang="zh-CN"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a:p>
            <a:pP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u="none" strike="noStrike">
              <a:solidFill>
                <a:srgbClr val="000000"/>
              </a:solidFill>
              <a:effectLst/>
              <a:uFillTx/>
              <a:latin typeface="Times New Roman"/>
            </a:endParaRPr>
          </a:p>
        </p:txBody>
      </p:sp>
      <mc:AlternateContent>
        <mc:Choice xmlns:a14="http://schemas.microsoft.com/office/drawing/2010/main" Requires="a14">
          <p:sp>
            <p:nvSpPr>
              <p:cNvPr id="1036" name="Object 21"/>
              <p:cNvSpPr txBox="1"/>
              <p:nvPr/>
            </p:nvSpPr>
            <p:spPr>
              <a:xfrm>
                <a:off x="2536920" y="4307040"/>
                <a:ext cx="101520" cy="190440"/>
              </a:xfrm>
              <a:prstGeom prst="rect">
                <a:avLst/>
              </a:prstGeom>
            </p:spPr>
            <p:txBody>
              <a:bodyPr/>
              <a:p>
                <a14:m>
                  <m:oMath xmlns:m="http://schemas.openxmlformats.org/officeDocument/2006/math"/>
                </a14:m>
              </a:p>
            </p:txBody>
          </p:sp>
        </mc:Choice>
        <mc:Fallback>
          <p:sp>
            <p:nvSpPr>
              <p:cNvPr id="1036" name="Object 21"/>
              <p:cNvSpPr txBox="1"/>
              <p:nvPr/>
            </p:nvSpPr>
            <p:spPr>
              <a:xfrm>
                <a:off x="2536920" y="4307040"/>
                <a:ext cx="101520" cy="190440"/>
              </a:xfrm>
              <a:prstGeom prst="rect">
                <a:avLst/>
              </a:prstGeom>
              <a:blipFill>
                <a:blip r:embed="rId1"/>
                <a:stretch>
                  <a:fillRect/>
                </a:stretch>
              </a:blipFill>
            </p:spPr>
          </p:sp>
        </mc:Fallback>
      </mc:AlternateContent>
      <p:sp>
        <p:nvSpPr>
          <p:cNvPr id="1037" name=""/>
          <p:cNvSpPr txBox="1"/>
          <p:nvPr/>
        </p:nvSpPr>
        <p:spPr>
          <a:xfrm>
            <a:off x="4645080" y="2679480"/>
            <a:ext cx="3822480" cy="3446280"/>
          </a:xfrm>
          <a:prstGeom prst="rect">
            <a:avLst/>
          </a:prstGeom>
          <a:noFill/>
          <a:ln w="0">
            <a:noFill/>
          </a:ln>
        </p:spPr>
        <p:txBody>
          <a:bodyPr anchor="t">
            <a:normAutofit/>
          </a:bodyPr>
          <a:p>
            <a:pPr>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73E87"/>
                </a:solidFill>
                <a:effectLst/>
                <a:uFillTx/>
                <a:latin typeface="Candara"/>
              </a:rPr>
              <a:t> </a:t>
            </a:r>
            <a:endParaRPr lang="en-US" sz="2400" b="0" u="none" strike="noStrike">
              <a:solidFill>
                <a:srgbClr val="073E87"/>
              </a:solidFill>
              <a:effectLst/>
              <a:uFillTx/>
              <a:latin typeface="Candara"/>
            </a:endParaRPr>
          </a:p>
        </p:txBody>
      </p:sp>
    </p:spTree>
  </p:cSld>
  <mc:AlternateContent>
    <mc:Choice Requires="p14">
      <p:transition spd="slow" p14:dur="2000"/>
    </mc:Choice>
    <mc:Fallback>
      <p:transition spd="slow"/>
    </mc:Fallback>
  </mc:AlternateContent>
  <p:timing>
    <p:tnLst>
      <p:par>
        <p:cTn id="2172" dur="indefinite" restart="never" nodeType="tmRoot">
          <p:childTnLst>
            <p:seq>
              <p:cTn id="2173" dur="indefinite" nodeType="mainSeq">
                <p:childTnLst>
                  <p:par>
                    <p:cTn id="2174" fill="hold" nodeType="clickEffect">
                      <p:stCondLst>
                        <p:cond delay="indefinite"/>
                      </p:stCondLst>
                      <p:childTnLst>
                        <p:par>
                          <p:cTn id="2175" fill="hold" nodeType="withEffect">
                            <p:stCondLst>
                              <p:cond delay="0"/>
                            </p:stCondLst>
                            <p:childTnLst>
                              <p:par>
                                <p:cTn id="2176" presetID="2" presetClass="entr" fill="hold" nodeType="clickEffect" presetSubtype="6">
                                  <p:stCondLst>
                                    <p:cond delay="0"/>
                                  </p:stCondLst>
                                  <p:childTnLst>
                                    <p:set>
                                      <p:cBhvr>
                                        <p:cTn id="2177" dur="1" fill="hold">
                                          <p:stCondLst>
                                            <p:cond delay="0"/>
                                          </p:stCondLst>
                                        </p:cTn>
                                        <p:tgtEl>
                                          <p:spTgt spid="1036"/>
                                        </p:tgtEl>
                                        <p:attrNameLst>
                                          <p:attrName>style.visibility</p:attrName>
                                        </p:attrNameLst>
                                      </p:cBhvr>
                                      <p:to>
                                        <p:strVal val="visible"/>
                                      </p:to>
                                    </p:set>
                                    <p:anim calcmode="lin" valueType="num">
                                      <p:cBhvr additive="base">
                                        <p:cTn id="2178" dur="500" fill="hold"/>
                                        <p:tgtEl>
                                          <p:spTgt spid="1036"/>
                                        </p:tgtEl>
                                        <p:attrNameLst>
                                          <p:attrName>ppt_x</p:attrName>
                                        </p:attrNameLst>
                                      </p:cBhvr>
                                      <p:tavLst>
                                        <p:tav>
                                          <p:val>
                                            <p:strVal val="1+#ppt_w/2"/>
                                          </p:val>
                                        </p:tav>
                                        <p:tav tm="100000">
                                          <p:val>
                                            <p:strVal val="#ppt_x"/>
                                          </p:val>
                                        </p:tav>
                                      </p:tavLst>
                                    </p:anim>
                                    <p:anim calcmode="lin" valueType="num">
                                      <p:cBhvr additive="base">
                                        <p:cTn id="2179" dur="500" fill="hold"/>
                                        <p:tgtEl>
                                          <p:spTgt spid="1036"/>
                                        </p:tgtEl>
                                        <p:attrNameLst>
                                          <p:attrName>ppt_y</p:attrName>
                                        </p:attrNameLst>
                                      </p:cBhvr>
                                      <p:tavLst>
                                        <p:tav>
                                          <p:val>
                                            <p:strVal val="1+#ppt_h/2"/>
                                          </p:val>
                                        </p:tav>
                                        <p:tav tm="100000">
                                          <p:val>
                                            <p:strVal val="#ppt_y"/>
                                          </p:val>
                                        </p:tav>
                                      </p:tavLst>
                                    </p:anim>
                                  </p:childTnLst>
                                </p:cTn>
                              </p:par>
                            </p:childTnLst>
                          </p:cTn>
                        </p:par>
                      </p:childTnLst>
                    </p:cTn>
                  </p:par>
                  <p:par>
                    <p:cTn id="2180" fill="hold" nodeType="clickEffect">
                      <p:stCondLst>
                        <p:cond delay="indefinite"/>
                      </p:stCondLst>
                      <p:childTnLst>
                        <p:par>
                          <p:cTn id="2181" fill="hold" nodeType="withEffect">
                            <p:stCondLst>
                              <p:cond delay="0"/>
                            </p:stCondLst>
                            <p:childTnLst>
                              <p:par>
                                <p:cTn id="2182" presetID="3" presetClass="entr" fill="hold" nodeType="clickEffect" presetSubtype="10">
                                  <p:stCondLst>
                                    <p:cond delay="0"/>
                                  </p:stCondLst>
                                  <p:childTnLst>
                                    <p:set>
                                      <p:cBhvr>
                                        <p:cTn id="2183" dur="1" fill="hold">
                                          <p:stCondLst>
                                            <p:cond delay="0"/>
                                          </p:stCondLst>
                                        </p:cTn>
                                        <p:tgtEl>
                                          <p:spTgt spid="1035">
                                            <p:txEl>
                                              <p:pRg st="0" end="0"/>
                                            </p:txEl>
                                          </p:spTgt>
                                        </p:tgtEl>
                                        <p:attrNameLst>
                                          <p:attrName>style.visibility</p:attrName>
                                        </p:attrNameLst>
                                      </p:cBhvr>
                                      <p:to>
                                        <p:strVal val="visible"/>
                                      </p:to>
                                    </p:set>
                                    <p:animEffect transition="in" filter="blinds(horizontal)">
                                      <p:cBhvr additive="repl">
                                        <p:cTn id="2184" dur="500"/>
                                        <p:tgtEl>
                                          <p:spTgt spid="1035">
                                            <p:txEl>
                                              <p:pRg st="0" end="0"/>
                                            </p:txEl>
                                          </p:spTgt>
                                        </p:tgtEl>
                                      </p:cBhvr>
                                    </p:animEffect>
                                  </p:childTnLst>
                                </p:cTn>
                              </p:par>
                            </p:childTnLst>
                          </p:cTn>
                        </p:par>
                      </p:childTnLst>
                    </p:cTn>
                  </p:par>
                  <p:par>
                    <p:cTn id="2185" fill="hold" nodeType="clickEffect">
                      <p:stCondLst>
                        <p:cond delay="indefinite"/>
                      </p:stCondLst>
                      <p:childTnLst>
                        <p:par>
                          <p:cTn id="2186" fill="hold" nodeType="withEffect">
                            <p:stCondLst>
                              <p:cond delay="0"/>
                            </p:stCondLst>
                            <p:childTnLst>
                              <p:par>
                                <p:cTn id="2187" presetID="3" presetClass="entr" fill="hold" nodeType="clickEffect" presetSubtype="10">
                                  <p:stCondLst>
                                    <p:cond delay="0"/>
                                  </p:stCondLst>
                                  <p:childTnLst>
                                    <p:set>
                                      <p:cBhvr>
                                        <p:cTn id="2188" dur="1" fill="hold">
                                          <p:stCondLst>
                                            <p:cond delay="0"/>
                                          </p:stCondLst>
                                        </p:cTn>
                                        <p:tgtEl>
                                          <p:spTgt spid="1035">
                                            <p:txEl>
                                              <p:pRg st="3" end="3"/>
                                            </p:txEl>
                                          </p:spTgt>
                                        </p:tgtEl>
                                        <p:attrNameLst>
                                          <p:attrName>style.visibility</p:attrName>
                                        </p:attrNameLst>
                                      </p:cBhvr>
                                      <p:to>
                                        <p:strVal val="visible"/>
                                      </p:to>
                                    </p:set>
                                    <p:animEffect transition="in" filter="blinds(horizontal)">
                                      <p:cBhvr additive="repl">
                                        <p:cTn id="2189" dur="500"/>
                                        <p:tgtEl>
                                          <p:spTgt spid="1035">
                                            <p:txEl>
                                              <p:pRg st="3" end="3"/>
                                            </p:txEl>
                                          </p:spTgt>
                                        </p:tgtEl>
                                      </p:cBhvr>
                                    </p:animEffect>
                                  </p:childTnLst>
                                </p:cTn>
                              </p:par>
                            </p:childTnLst>
                          </p:cTn>
                        </p:par>
                      </p:childTnLst>
                    </p:cTn>
                  </p:par>
                  <p:par>
                    <p:cTn id="2190" fill="hold" nodeType="clickEffect">
                      <p:stCondLst>
                        <p:cond delay="indefinite"/>
                      </p:stCondLst>
                      <p:childTnLst>
                        <p:par>
                          <p:cTn id="2191" fill="hold" nodeType="withEffect">
                            <p:stCondLst>
                              <p:cond delay="0"/>
                            </p:stCondLst>
                            <p:childTnLst>
                              <p:par>
                                <p:cTn id="2192" presetID="3" presetClass="entr" fill="hold" nodeType="clickEffect" presetSubtype="10">
                                  <p:stCondLst>
                                    <p:cond delay="0"/>
                                  </p:stCondLst>
                                  <p:childTnLst>
                                    <p:set>
                                      <p:cBhvr>
                                        <p:cTn id="2193" dur="1" fill="hold">
                                          <p:stCondLst>
                                            <p:cond delay="0"/>
                                          </p:stCondLst>
                                        </p:cTn>
                                        <p:tgtEl>
                                          <p:spTgt spid="1035">
                                            <p:txEl>
                                              <p:pRg st="4" end="4"/>
                                            </p:txEl>
                                          </p:spTgt>
                                        </p:tgtEl>
                                        <p:attrNameLst>
                                          <p:attrName>style.visibility</p:attrName>
                                        </p:attrNameLst>
                                      </p:cBhvr>
                                      <p:to>
                                        <p:strVal val="visible"/>
                                      </p:to>
                                    </p:set>
                                    <p:animEffect transition="in" filter="blinds(horizontal)">
                                      <p:cBhvr additive="repl">
                                        <p:cTn id="2194" dur="500"/>
                                        <p:tgtEl>
                                          <p:spTgt spid="103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Rectangle 31"/>
          <p:cNvSpPr/>
          <p:nvPr/>
        </p:nvSpPr>
        <p:spPr>
          <a:xfrm>
            <a:off x="171360" y="352440"/>
            <a:ext cx="9036000" cy="56916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已知系统的结构图，试绘制系统的根轨迹。</a:t>
            </a:r>
            <a:endParaRPr lang="en-US" sz="2400" b="1" u="none" strike="noStrike">
              <a:solidFill>
                <a:srgbClr val="000000"/>
              </a:solidFill>
              <a:effectLst/>
              <a:uFillTx/>
              <a:latin typeface="Times New Roman"/>
            </a:endParaRPr>
          </a:p>
        </p:txBody>
      </p:sp>
      <p:grpSp>
        <p:nvGrpSpPr>
          <p:cNvPr id="1039" name="Group 316"/>
          <p:cNvGrpSpPr/>
          <p:nvPr/>
        </p:nvGrpSpPr>
        <p:grpSpPr>
          <a:xfrm>
            <a:off x="1938240" y="1863720"/>
            <a:ext cx="5267160" cy="1828800"/>
            <a:chOff x="1938240" y="1863720"/>
            <a:chExt cx="5267160" cy="1828800"/>
          </a:xfrm>
        </p:grpSpPr>
        <p:sp>
          <p:nvSpPr>
            <p:cNvPr id="1040" name="Rectangle 301"/>
            <p:cNvSpPr/>
            <p:nvPr/>
          </p:nvSpPr>
          <p:spPr>
            <a:xfrm>
              <a:off x="4224240" y="1863720"/>
              <a:ext cx="1697040" cy="929520"/>
            </a:xfrm>
            <a:prstGeom prst="rect">
              <a:avLst/>
            </a:prstGeom>
            <a:noFill/>
            <a:ln cap="sq" w="57240">
              <a:solidFill>
                <a:srgbClr val="000000"/>
              </a:solidFill>
              <a:miter/>
            </a:ln>
          </p:spPr>
          <p:style>
            <a:lnRef idx="0"/>
            <a:fillRef idx="0"/>
            <a:effectRef idx="0"/>
            <a:fontRef idx="minor"/>
          </p:style>
          <p:txBody>
            <a:bodyPr lIns="90000" tIns="10800" rIns="90000" bIns="46800" anchor="t">
              <a:spAutoFit/>
            </a:bodyPr>
            <a:p>
              <a:pPr algn="ct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 </a:t>
              </a:r>
              <a:r>
                <a:rPr lang="en-US" sz="2400" b="1" i="1" u="none" strike="noStrike">
                  <a:solidFill>
                    <a:srgbClr val="000000"/>
                  </a:solidFill>
                  <a:effectLst/>
                  <a:uFillTx/>
                  <a:latin typeface="Times New Roman"/>
                </a:rPr>
                <a:t>K</a:t>
              </a:r>
              <a:endParaRPr lang="en-US" sz="2400" b="1" u="none" strike="noStrike">
                <a:solidFill>
                  <a:srgbClr val="000000"/>
                </a:solidFill>
                <a:effectLst/>
                <a:uFillTx/>
                <a:latin typeface="Times New Roman"/>
              </a:endParaRPr>
            </a:p>
            <a:p>
              <a:pPr algn="ct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+1)(s+2)</a:t>
              </a:r>
              <a:endParaRPr lang="en-US" sz="2400" b="1" u="none" strike="noStrike">
                <a:solidFill>
                  <a:srgbClr val="000000"/>
                </a:solidFill>
                <a:effectLst/>
                <a:uFillTx/>
                <a:latin typeface="Times New Roman"/>
              </a:endParaRPr>
            </a:p>
          </p:txBody>
        </p:sp>
        <p:sp>
          <p:nvSpPr>
            <p:cNvPr id="1041" name="Line 300"/>
            <p:cNvSpPr/>
            <p:nvPr/>
          </p:nvSpPr>
          <p:spPr>
            <a:xfrm>
              <a:off x="4360680" y="2394000"/>
              <a:ext cx="1463760" cy="0"/>
            </a:xfrm>
            <a:prstGeom prst="line">
              <a:avLst/>
            </a:prstGeom>
            <a:ln cap="sq" w="3816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42" name="Line 302"/>
            <p:cNvSpPr/>
            <p:nvPr/>
          </p:nvSpPr>
          <p:spPr>
            <a:xfrm>
              <a:off x="3589200" y="2394000"/>
              <a:ext cx="60948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43" name="Line 303"/>
            <p:cNvSpPr/>
            <p:nvPr/>
          </p:nvSpPr>
          <p:spPr>
            <a:xfrm>
              <a:off x="1963440" y="2398680"/>
              <a:ext cx="83988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44" name="Line 304"/>
            <p:cNvSpPr/>
            <p:nvPr/>
          </p:nvSpPr>
          <p:spPr>
            <a:xfrm>
              <a:off x="5965560" y="2397240"/>
              <a:ext cx="1239840" cy="0"/>
            </a:xfrm>
            <a:prstGeom prst="line">
              <a:avLst/>
            </a:prstGeom>
            <a:ln cap="sq" w="57240">
              <a:solidFill>
                <a:srgbClr val="000000"/>
              </a:solidFill>
              <a:miter/>
              <a:tail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45" name="Line 305"/>
            <p:cNvSpPr/>
            <p:nvPr/>
          </p:nvSpPr>
          <p:spPr>
            <a:xfrm>
              <a:off x="6586200" y="2397240"/>
              <a:ext cx="0" cy="129528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46" name="Line 306"/>
            <p:cNvSpPr/>
            <p:nvPr/>
          </p:nvSpPr>
          <p:spPr>
            <a:xfrm>
              <a:off x="3207960" y="3689280"/>
              <a:ext cx="3378240" cy="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47" name="Line 307"/>
            <p:cNvSpPr/>
            <p:nvPr/>
          </p:nvSpPr>
          <p:spPr>
            <a:xfrm>
              <a:off x="3207960" y="2743200"/>
              <a:ext cx="0" cy="946080"/>
            </a:xfrm>
            <a:prstGeom prst="line">
              <a:avLst/>
            </a:prstGeom>
            <a:ln cap="sq" w="57240">
              <a:solidFill>
                <a:srgbClr val="000000"/>
              </a:solidFill>
              <a:miter/>
              <a:headEnd len="med" type="triangle" w="med"/>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grpSp>
          <p:nvGrpSpPr>
            <p:cNvPr id="1048" name="Group 308"/>
            <p:cNvGrpSpPr/>
            <p:nvPr/>
          </p:nvGrpSpPr>
          <p:grpSpPr>
            <a:xfrm>
              <a:off x="2827080" y="2013120"/>
              <a:ext cx="730080" cy="855000"/>
              <a:chOff x="2827080" y="2013120"/>
              <a:chExt cx="730080" cy="855000"/>
            </a:xfrm>
          </p:grpSpPr>
          <p:sp>
            <p:nvSpPr>
              <p:cNvPr id="1049" name="Text Box 309"/>
              <p:cNvSpPr/>
              <p:nvPr/>
            </p:nvSpPr>
            <p:spPr>
              <a:xfrm>
                <a:off x="2903400" y="2225520"/>
                <a:ext cx="609480" cy="642600"/>
              </a:xfrm>
              <a:prstGeom prst="rect">
                <a:avLst/>
              </a:prstGeom>
              <a:noFill/>
              <a:ln w="0">
                <a:noFill/>
              </a:ln>
            </p:spPr>
            <p:style>
              <a:lnRef idx="0"/>
              <a:fillRef idx="0"/>
              <a:effectRef idx="0"/>
              <a:fontRef idx="minor"/>
            </p:style>
            <p:txBody>
              <a:bodyPr lIns="90000" tIns="46800" rIns="90000" bIns="46800" anchor="t">
                <a:spAutoFit/>
              </a:bodyPr>
              <a:p>
                <a:pPr>
                  <a:spcBef>
                    <a:spcPts val="22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000000"/>
                    </a:solidFill>
                    <a:effectLst/>
                    <a:uFillTx/>
                    <a:latin typeface="Times New Roman"/>
                  </a:rPr>
                  <a:t>﹣</a:t>
                </a:r>
                <a:endParaRPr lang="en-US" sz="3600" b="1" u="none" strike="noStrike">
                  <a:solidFill>
                    <a:srgbClr val="000000"/>
                  </a:solidFill>
                  <a:effectLst/>
                  <a:uFillTx/>
                  <a:latin typeface="Times New Roman"/>
                </a:endParaRPr>
              </a:p>
            </p:txBody>
          </p:sp>
          <p:sp>
            <p:nvSpPr>
              <p:cNvPr id="1050" name="Oval 310"/>
              <p:cNvSpPr/>
              <p:nvPr/>
            </p:nvSpPr>
            <p:spPr>
              <a:xfrm>
                <a:off x="2827080" y="2013120"/>
                <a:ext cx="730080" cy="730080"/>
              </a:xfrm>
              <a:prstGeom prst="ellipse">
                <a:avLst/>
              </a:prstGeom>
              <a:noFill/>
              <a:ln cap="sq" w="5724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1" u="none" strike="noStrike">
                  <a:solidFill>
                    <a:srgbClr val="000000"/>
                  </a:solidFill>
                  <a:effectLst/>
                  <a:uFillTx/>
                  <a:latin typeface="Times New Roman"/>
                </a:endParaRPr>
              </a:p>
            </p:txBody>
          </p:sp>
          <p:sp>
            <p:nvSpPr>
              <p:cNvPr id="1051" name="Line 311"/>
              <p:cNvSpPr/>
              <p:nvPr/>
            </p:nvSpPr>
            <p:spPr>
              <a:xfrm flipH="1">
                <a:off x="2979360" y="2165400"/>
                <a:ext cx="457200" cy="45684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52" name="Line 312"/>
              <p:cNvSpPr/>
              <p:nvPr/>
            </p:nvSpPr>
            <p:spPr>
              <a:xfrm>
                <a:off x="2979360" y="2165400"/>
                <a:ext cx="457200" cy="456840"/>
              </a:xfrm>
              <a:prstGeom prst="line">
                <a:avLst/>
              </a:prstGeom>
              <a:ln cap="sq" w="57240">
                <a:solidFill>
                  <a:srgbClr val="000000"/>
                </a:solidFill>
                <a:miter/>
              </a:ln>
            </p:spPr>
            <p:style>
              <a:lnRef idx="0"/>
              <a:fillRef idx="0"/>
              <a:effectRef idx="0"/>
              <a:fontRef idx="minor"/>
            </p:style>
            <p:txBody>
              <a:bodyPr lIns="90000" tIns="46800" rIns="90000" bIns="46800" anchor="t">
                <a:noAutofit/>
              </a:bodyPr>
              <a:p>
                <a:endParaRPr lang="en-US" sz="2800" b="1" u="none" strike="noStrike">
                  <a:solidFill>
                    <a:srgbClr val="000000"/>
                  </a:solidFill>
                  <a:effectLst/>
                  <a:uFillTx/>
                  <a:latin typeface="Times New Roman"/>
                </a:endParaRPr>
              </a:p>
            </p:txBody>
          </p:sp>
          <p:sp>
            <p:nvSpPr>
              <p:cNvPr id="1053" name="Text Box 313"/>
              <p:cNvSpPr/>
              <p:nvPr/>
            </p:nvSpPr>
            <p:spPr>
              <a:xfrm>
                <a:off x="2903400" y="2165400"/>
                <a:ext cx="228600" cy="427320"/>
              </a:xfrm>
              <a:prstGeom prst="rect">
                <a:avLst/>
              </a:prstGeom>
              <a:noFill/>
              <a:ln w="0">
                <a:noFill/>
              </a:ln>
            </p:spPr>
            <p:style>
              <a:lnRef idx="0"/>
              <a:fillRef idx="0"/>
              <a:effectRef idx="0"/>
              <a:fontRef idx="minor"/>
            </p:style>
            <p:txBody>
              <a:bodyPr lIns="0" tIns="0" rIns="0" bIns="0" anchor="t">
                <a:spAutoFit/>
              </a:bodyPr>
              <a:p>
                <a:pPr>
                  <a:spcBef>
                    <a:spcPts val="17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imes New Roman"/>
                  </a:rPr>
                  <a:t>+</a:t>
                </a:r>
                <a:endParaRPr lang="en-US" sz="2800" b="1" u="none" strike="noStrike">
                  <a:solidFill>
                    <a:srgbClr val="000000"/>
                  </a:solidFill>
                  <a:effectLst/>
                  <a:uFillTx/>
                  <a:latin typeface="Times New Roman"/>
                </a:endParaRPr>
              </a:p>
            </p:txBody>
          </p:sp>
        </p:grpSp>
        <p:sp>
          <p:nvSpPr>
            <p:cNvPr id="1054" name="Text Box 314"/>
            <p:cNvSpPr/>
            <p:nvPr/>
          </p:nvSpPr>
          <p:spPr>
            <a:xfrm>
              <a:off x="1938240" y="1863720"/>
              <a:ext cx="655560" cy="82548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R</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sp>
          <p:nvSpPr>
            <p:cNvPr id="1055" name="Text Box 315"/>
            <p:cNvSpPr/>
            <p:nvPr/>
          </p:nvSpPr>
          <p:spPr>
            <a:xfrm>
              <a:off x="6197400" y="1879560"/>
              <a:ext cx="776160" cy="459720"/>
            </a:xfrm>
            <a:prstGeom prst="rect">
              <a:avLst/>
            </a:prstGeom>
            <a:noFill/>
            <a:ln w="0">
              <a:noFill/>
            </a:ln>
          </p:spPr>
          <p:style>
            <a:lnRef idx="0"/>
            <a:fillRef idx="0"/>
            <a:effectRef idx="0"/>
            <a:fontRef idx="minor"/>
          </p:style>
          <p:txBody>
            <a:bodyPr lIns="90000" tIns="46800" rIns="90000" bIns="46800" anchor="t">
              <a:spAutoFit/>
            </a:bodyPr>
            <a:p>
              <a:pP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000000"/>
                  </a:solidFill>
                  <a:effectLst/>
                  <a:uFillTx/>
                  <a:latin typeface="Times New Roman"/>
                </a:rPr>
                <a:t>C</a:t>
              </a:r>
              <a:r>
                <a:rPr lang="en-US" sz="2400" b="1" u="none" strike="noStrike">
                  <a:solidFill>
                    <a:srgbClr val="000000"/>
                  </a:solidFill>
                  <a:effectLst/>
                  <a:uFillTx/>
                  <a:latin typeface="Times New Roman"/>
                </a:rPr>
                <a:t>(</a:t>
              </a:r>
              <a:r>
                <a:rPr lang="en-US" sz="2400" b="1" i="1" u="none" strike="noStrike">
                  <a:solidFill>
                    <a:srgbClr val="000000"/>
                  </a:solidFill>
                  <a:effectLst/>
                  <a:uFillTx/>
                  <a:latin typeface="Times New Roman"/>
                </a:rPr>
                <a:t>s</a:t>
              </a:r>
              <a:r>
                <a:rPr lang="en-US" sz="2400" b="1" u="none" strike="noStrike">
                  <a:solidFill>
                    <a:srgbClr val="000000"/>
                  </a:solidFill>
                  <a:effectLst/>
                  <a:uFillTx/>
                  <a:latin typeface="Times New Roman"/>
                </a:rPr>
                <a:t>)</a:t>
              </a:r>
              <a:endParaRPr lang="en-US" sz="2400" b="1" u="none" strike="noStrike">
                <a:solidFill>
                  <a:srgbClr val="000000"/>
                </a:solidFill>
                <a:effectLst/>
                <a:uFillTx/>
                <a:latin typeface="Times New Roman"/>
              </a:endParaRPr>
            </a:p>
          </p:txBody>
        </p:sp>
      </p:grpSp>
    </p:spTree>
  </p:cSld>
  <mc:AlternateContent>
    <mc:Choice Requires="p14">
      <p:transition spd="slow" p14:dur="2000"/>
    </mc:Choice>
    <mc:Fallback>
      <p:transition spd="slow"/>
    </mc:Fallback>
  </mc:AlternateContent>
  <p:timing>
    <p:tnLst>
      <p:par>
        <p:cTn id="2195" dur="indefinite" restart="never" nodeType="tmRoot">
          <p:childTnLst>
            <p:seq>
              <p:cTn id="2196" dur="indefinite" nodeType="mainSeq">
                <p:childTnLst>
                  <p:par>
                    <p:cTn id="2197" fill="hold" nodeType="clickEffect">
                      <p:stCondLst>
                        <p:cond delay="indefinite"/>
                      </p:stCondLst>
                      <p:childTnLst>
                        <p:par>
                          <p:cTn id="2198" fill="hold" nodeType="withEffect">
                            <p:stCondLst>
                              <p:cond delay="0"/>
                            </p:stCondLst>
                            <p:childTnLst>
                              <p:par>
                                <p:cTn id="2199" presetID="2" presetClass="entr" fill="hold" nodeType="clickEffect" presetSubtype="8">
                                  <p:stCondLst>
                                    <p:cond delay="0"/>
                                  </p:stCondLst>
                                  <p:childTnLst>
                                    <p:set>
                                      <p:cBhvr>
                                        <p:cTn id="2200" dur="1" fill="hold">
                                          <p:stCondLst>
                                            <p:cond delay="0"/>
                                          </p:stCondLst>
                                        </p:cTn>
                                        <p:tgtEl>
                                          <p:spTgt spid="1038"/>
                                        </p:tgtEl>
                                        <p:attrNameLst>
                                          <p:attrName>style.visibility</p:attrName>
                                        </p:attrNameLst>
                                      </p:cBhvr>
                                      <p:to>
                                        <p:strVal val="visible"/>
                                      </p:to>
                                    </p:set>
                                    <p:anim calcmode="lin" valueType="num">
                                      <p:cBhvr additive="repl">
                                        <p:cTn id="2201" dur="500" fill="hold"/>
                                        <p:tgtEl>
                                          <p:spTgt spid="1038"/>
                                        </p:tgtEl>
                                        <p:attrNameLst>
                                          <p:attrName>ppt_x</p:attrName>
                                        </p:attrNameLst>
                                      </p:cBhvr>
                                      <p:tavLst>
                                        <p:tav>
                                          <p:val>
                                            <p:strVal val="0-#ppt_w/2"/>
                                          </p:val>
                                        </p:tav>
                                        <p:tav tm="100000">
                                          <p:val>
                                            <p:strVal val="#ppt_x"/>
                                          </p:val>
                                        </p:tav>
                                      </p:tavLst>
                                    </p:anim>
                                    <p:anim calcmode="lin" valueType="num">
                                      <p:cBhvr additive="repl">
                                        <p:cTn id="2202" dur="500" fill="hold"/>
                                        <p:tgtEl>
                                          <p:spTgt spid="1038"/>
                                        </p:tgtEl>
                                        <p:attrNameLst>
                                          <p:attrName>ppt_y</p:attrName>
                                        </p:attrNameLst>
                                      </p:cBhvr>
                                      <p:tavLst>
                                        <p:tav>
                                          <p:val>
                                            <p:strVal val="#ppt_y"/>
                                          </p:val>
                                        </p:tav>
                                        <p:tav tm="100000">
                                          <p:val>
                                            <p:strVal val="#ppt_y"/>
                                          </p:val>
                                        </p:tav>
                                      </p:tavLst>
                                    </p:anim>
                                  </p:childTnLst>
                                </p:cTn>
                              </p:par>
                            </p:childTnLst>
                          </p:cTn>
                        </p:par>
                      </p:childTnLst>
                    </p:cTn>
                  </p:par>
                  <p:par>
                    <p:cTn id="2203" fill="hold" nodeType="clickEffect">
                      <p:stCondLst>
                        <p:cond delay="indefinite"/>
                      </p:stCondLst>
                      <p:childTnLst>
                        <p:par>
                          <p:cTn id="2204" fill="hold" nodeType="withEffect">
                            <p:stCondLst>
                              <p:cond delay="0"/>
                            </p:stCondLst>
                            <p:childTnLst>
                              <p:par>
                                <p:cTn id="2205" presetID="9" presetClass="entr" fill="hold" nodeType="clickEffect">
                                  <p:stCondLst>
                                    <p:cond delay="0"/>
                                  </p:stCondLst>
                                  <p:childTnLst>
                                    <p:set>
                                      <p:cBhvr>
                                        <p:cTn id="2206" dur="1" fill="hold">
                                          <p:stCondLst>
                                            <p:cond delay="0"/>
                                          </p:stCondLst>
                                        </p:cTn>
                                        <p:tgtEl>
                                          <p:spTgt spid="1039"/>
                                        </p:tgtEl>
                                        <p:attrNameLst>
                                          <p:attrName>style.visibility</p:attrName>
                                        </p:attrNameLst>
                                      </p:cBhvr>
                                      <p:to>
                                        <p:strVal val="visible"/>
                                      </p:to>
                                    </p:set>
                                    <p:animEffect transition="in" filter="dissolve">
                                      <p:cBhvr additive="repl">
                                        <p:cTn id="2207" dur="500"/>
                                        <p:tgtEl>
                                          <p:spTgt spid="10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 name="Text Box 5"/>
          <p:cNvSpPr/>
          <p:nvPr/>
        </p:nvSpPr>
        <p:spPr>
          <a:xfrm>
            <a:off x="552600" y="838080"/>
            <a:ext cx="6573600" cy="4925520"/>
          </a:xfrm>
          <a:prstGeom prst="rect">
            <a:avLst/>
          </a:prstGeom>
          <a:noFill/>
          <a:ln w="0">
            <a:noFill/>
          </a:ln>
        </p:spPr>
        <p:style>
          <a:lnRef idx="0"/>
          <a:fillRef idx="0"/>
          <a:effectRef idx="0"/>
          <a:fontRef idx="minor"/>
        </p:style>
        <p:txBody>
          <a:bodyPr lIns="90000" tIns="46800" rIns="90000" bIns="46800" anchor="t">
            <a:sp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解：</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1. </a:t>
            </a:r>
            <a:r>
              <a:rPr lang="zh-CN" sz="2400" b="1" u="none" strike="noStrike">
                <a:solidFill>
                  <a:srgbClr val="000000"/>
                </a:solidFill>
                <a:effectLst/>
                <a:uFillTx/>
                <a:latin typeface="Times New Roman"/>
              </a:rPr>
              <a:t>起点：</a:t>
            </a:r>
            <a:r>
              <a:rPr lang="en-US" sz="2400" b="1" u="none" strike="noStrike">
                <a:solidFill>
                  <a:srgbClr val="000000"/>
                </a:solidFill>
                <a:effectLst/>
                <a:uFillTx/>
                <a:latin typeface="Times New Roman"/>
              </a:rPr>
              <a:t>0</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rPr>
              <a:t>-1</a:t>
            </a:r>
            <a:r>
              <a:rPr lang="zh-CN" sz="2400" b="1" u="none" strike="noStrike">
                <a:solidFill>
                  <a:srgbClr val="000000"/>
                </a:solidFill>
                <a:effectLst/>
                <a:uFillTx/>
                <a:latin typeface="Times New Roman"/>
              </a:rPr>
              <a:t>，</a:t>
            </a:r>
            <a:r>
              <a:rPr lang="en-US" sz="2400" b="1" u="none" strike="noStrike">
                <a:solidFill>
                  <a:srgbClr val="000000"/>
                </a:solidFill>
                <a:effectLst/>
                <a:uFillTx/>
                <a:latin typeface="Times New Roman"/>
              </a:rPr>
              <a:t>-2    </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终点：</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2. </a:t>
            </a:r>
            <a:r>
              <a:rPr lang="zh-CN" sz="2400" b="1" u="none" strike="noStrike">
                <a:solidFill>
                  <a:srgbClr val="000000"/>
                </a:solidFill>
                <a:effectLst/>
                <a:uFillTx/>
                <a:latin typeface="Times New Roman"/>
              </a:rPr>
              <a:t>渐近线：</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3. </a:t>
            </a:r>
            <a:r>
              <a:rPr lang="zh-CN" sz="2400" b="1" u="none" strike="noStrike">
                <a:solidFill>
                  <a:srgbClr val="000000"/>
                </a:solidFill>
                <a:effectLst/>
                <a:uFillTx/>
                <a:latin typeface="Times New Roman"/>
              </a:rPr>
              <a:t>实轴上的根轨迹： </a:t>
            </a:r>
            <a:r>
              <a:rPr lang="en-US" sz="2400" b="1" u="none" strike="noStrike">
                <a:solidFill>
                  <a:srgbClr val="000000"/>
                </a:solidFill>
                <a:effectLst/>
                <a:uFillTx/>
                <a:latin typeface="Times New Roman"/>
              </a:rPr>
              <a:t>(0, -1),  </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4. </a:t>
            </a:r>
            <a:r>
              <a:rPr lang="zh-CN" sz="2400" b="1" u="none" strike="noStrike">
                <a:solidFill>
                  <a:srgbClr val="000000"/>
                </a:solidFill>
                <a:effectLst/>
                <a:uFillTx/>
                <a:latin typeface="Times New Roman"/>
              </a:rPr>
              <a:t>分离点：</a:t>
            </a:r>
            <a:endParaRPr lang="en-US" sz="2400" b="1" u="none" strike="noStrike">
              <a:solidFill>
                <a:srgbClr val="000000"/>
              </a:solidFill>
              <a:effectLst/>
              <a:uFillTx/>
              <a:latin typeface="Times New Roman"/>
            </a:endParaRPr>
          </a:p>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1" u="none" strike="noStrike">
                <a:solidFill>
                  <a:srgbClr val="000000"/>
                </a:solidFill>
                <a:effectLst/>
                <a:uFillTx/>
                <a:latin typeface="Times New Roman"/>
              </a:rPr>
              <a:t>      </a:t>
            </a:r>
            <a:endParaRPr lang="en-US" sz="2800" b="1" u="none" strike="noStrike">
              <a:solidFill>
                <a:srgbClr val="000000"/>
              </a:solidFill>
              <a:effectLst/>
              <a:uFillTx/>
              <a:latin typeface="Times New Roman"/>
            </a:endParaRPr>
          </a:p>
        </p:txBody>
      </p:sp>
      <mc:AlternateContent>
        <mc:Choice xmlns:a14="http://schemas.microsoft.com/office/drawing/2010/main" Requires="a14">
          <p:sp>
            <p:nvSpPr>
              <p:cNvPr id="1057" name="对象 2"/>
              <p:cNvSpPr txBox="1"/>
              <p:nvPr/>
            </p:nvSpPr>
            <p:spPr>
              <a:xfrm>
                <a:off x="1809720" y="1928880"/>
                <a:ext cx="555480" cy="401400"/>
              </a:xfrm>
              <a:prstGeom prst="rect">
                <a:avLst/>
              </a:prstGeom>
            </p:spPr>
            <p:txBody>
              <a:bodyPr/>
              <a:p>
                <a14:m>
                  <m:oMath xmlns:m="http://schemas.openxmlformats.org/officeDocument/2006/math">
                    <m:r>
                      <m:t xml:space="preserve">∞</m:t>
                    </m:r>
                  </m:oMath>
                </a14:m>
              </a:p>
            </p:txBody>
          </p:sp>
        </mc:Choice>
        <mc:Fallback>
          <p:sp>
            <p:nvSpPr>
              <p:cNvPr id="1057" name="对象 2"/>
              <p:cNvSpPr txBox="1"/>
              <p:nvPr/>
            </p:nvSpPr>
            <p:spPr>
              <a:xfrm>
                <a:off x="1809720" y="1928880"/>
                <a:ext cx="555480" cy="401400"/>
              </a:xfrm>
              <a:prstGeom prst="rect">
                <a:avLst/>
              </a:prstGeom>
              <a:blipFill>
                <a:blip r:embed="rId1"/>
                <a:stretch>
                  <a:fillRect/>
                </a:stretch>
              </a:blipFill>
            </p:spPr>
          </p:sp>
        </mc:Fallback>
      </mc:AlternateContent>
      <mc:AlternateContent>
        <mc:Choice xmlns:a14="http://schemas.microsoft.com/office/drawing/2010/main" Requires="a14">
          <p:sp>
            <p:nvSpPr>
              <p:cNvPr id="1058" name="对象 3"/>
              <p:cNvSpPr txBox="1"/>
              <p:nvPr/>
            </p:nvSpPr>
            <p:spPr>
              <a:xfrm>
                <a:off x="2444760" y="1928880"/>
                <a:ext cx="555480" cy="401400"/>
              </a:xfrm>
              <a:prstGeom prst="rect">
                <a:avLst/>
              </a:prstGeom>
            </p:spPr>
            <p:txBody>
              <a:bodyPr/>
              <a:p>
                <a14:m>
                  <m:oMath xmlns:m="http://schemas.openxmlformats.org/officeDocument/2006/math">
                    <m:r>
                      <m:t xml:space="preserve">∞</m:t>
                    </m:r>
                  </m:oMath>
                </a14:m>
              </a:p>
            </p:txBody>
          </p:sp>
        </mc:Choice>
        <mc:Fallback>
          <p:sp>
            <p:nvSpPr>
              <p:cNvPr id="1058" name="对象 3"/>
              <p:cNvSpPr txBox="1"/>
              <p:nvPr/>
            </p:nvSpPr>
            <p:spPr>
              <a:xfrm>
                <a:off x="2444760" y="1928880"/>
                <a:ext cx="555480" cy="401400"/>
              </a:xfrm>
              <a:prstGeom prst="rect">
                <a:avLst/>
              </a:prstGeom>
              <a:blipFill>
                <a:blip r:embed="rId2"/>
                <a:stretch>
                  <a:fillRect/>
                </a:stretch>
              </a:blipFill>
            </p:spPr>
          </p:sp>
        </mc:Fallback>
      </mc:AlternateContent>
      <mc:AlternateContent>
        <mc:Choice xmlns:a14="http://schemas.microsoft.com/office/drawing/2010/main" Requires="a14">
          <p:sp>
            <p:nvSpPr>
              <p:cNvPr id="1059" name="对象 5"/>
              <p:cNvSpPr txBox="1"/>
              <p:nvPr/>
            </p:nvSpPr>
            <p:spPr>
              <a:xfrm>
                <a:off x="3108240" y="1928880"/>
                <a:ext cx="555840" cy="401400"/>
              </a:xfrm>
              <a:prstGeom prst="rect">
                <a:avLst/>
              </a:prstGeom>
            </p:spPr>
            <p:txBody>
              <a:bodyPr/>
              <a:p>
                <a14:m>
                  <m:oMath xmlns:m="http://schemas.openxmlformats.org/officeDocument/2006/math">
                    <m:r>
                      <m:t xml:space="preserve">∞</m:t>
                    </m:r>
                  </m:oMath>
                </a14:m>
              </a:p>
            </p:txBody>
          </p:sp>
        </mc:Choice>
        <mc:Fallback>
          <p:sp>
            <p:nvSpPr>
              <p:cNvPr id="1059" name="对象 5"/>
              <p:cNvSpPr txBox="1"/>
              <p:nvPr/>
            </p:nvSpPr>
            <p:spPr>
              <a:xfrm>
                <a:off x="3108240" y="1928880"/>
                <a:ext cx="555840" cy="401400"/>
              </a:xfrm>
              <a:prstGeom prst="rect">
                <a:avLst/>
              </a:prstGeom>
              <a:blipFill>
                <a:blip r:embed="rId3"/>
                <a:stretch>
                  <a:fillRect/>
                </a:stretch>
              </a:blipFill>
            </p:spPr>
          </p:sp>
        </mc:Fallback>
      </mc:AlternateContent>
      <mc:AlternateContent>
        <mc:Choice xmlns:a14="http://schemas.microsoft.com/office/drawing/2010/main" Requires="a14">
          <p:sp>
            <p:nvSpPr>
              <p:cNvPr id="1060" name="对象 7"/>
              <p:cNvSpPr txBox="1"/>
              <p:nvPr/>
            </p:nvSpPr>
            <p:spPr>
              <a:xfrm>
                <a:off x="2365200" y="2516040"/>
                <a:ext cx="4702320" cy="819360"/>
              </a:xfrm>
              <a:prstGeom prst="rect">
                <a:avLst/>
              </a:prstGeom>
            </p:spPr>
            <p:txBody>
              <a:bodyPr/>
              <a:p>
                <a14:m>
                  <m:oMath xmlns:m="http://schemas.openxmlformats.org/officeDocument/2006/math">
                    <m:sSub>
                      <m:e>
                        <m:r>
                          <m:t xml:space="preserve">ϕ</m:t>
                        </m:r>
                      </m:e>
                      <m:sub>
                        <m:r>
                          <m:t xml:space="preserve">a</m:t>
                        </m:r>
                      </m:sub>
                    </m:sSub>
                    <m:r>
                      <m:t xml:space="preserve">=</m:t>
                    </m:r>
                    <m:f>
                      <m:num>
                        <m:r>
                          <m:t xml:space="preserve">(</m:t>
                        </m:r>
                        <m:r>
                          <m:t xml:space="preserve">2</m:t>
                        </m:r>
                        <m:r>
                          <m:t xml:space="preserve">k</m:t>
                        </m:r>
                        <m:r>
                          <m:t xml:space="preserve">+</m:t>
                        </m:r>
                        <m:r>
                          <m:t xml:space="preserve">1</m:t>
                        </m:r>
                        <m:r>
                          <m:t xml:space="preserve">)</m:t>
                        </m:r>
                        <m:r>
                          <m:t xml:space="preserve">π</m:t>
                        </m:r>
                      </m:num>
                      <m:den>
                        <m:r>
                          <m:t xml:space="preserve">3</m:t>
                        </m:r>
                      </m:den>
                    </m:f>
                    <m:r>
                      <m:t xml:space="preserve">=</m:t>
                    </m:r>
                    <m:r>
                      <m:t xml:space="preserve">±</m:t>
                    </m:r>
                    <m:f>
                      <m:num>
                        <m:r>
                          <m:t xml:space="preserve">π</m:t>
                        </m:r>
                      </m:num>
                      <m:den>
                        <m:r>
                          <m:t xml:space="preserve">3</m:t>
                        </m:r>
                      </m:den>
                    </m:f>
                    <m:r>
                      <m:t xml:space="preserve">,</m:t>
                    </m:r>
                    <m:r>
                      <m:t xml:space="preserve">π</m:t>
                    </m:r>
                    <m:r>
                      <m:t xml:space="preserve">(</m:t>
                    </m:r>
                    <m:r>
                      <m:t xml:space="preserve">k</m:t>
                    </m:r>
                    <m:r>
                      <m:t xml:space="preserve">=</m:t>
                    </m:r>
                    <m:r>
                      <m:t xml:space="preserve">0,1,2</m:t>
                    </m:r>
                    <m:r>
                      <m:t xml:space="preserve">)</m:t>
                    </m:r>
                  </m:oMath>
                </a14:m>
              </a:p>
            </p:txBody>
          </p:sp>
        </mc:Choice>
        <mc:Fallback>
          <p:sp>
            <p:nvSpPr>
              <p:cNvPr id="1060" name="对象 7"/>
              <p:cNvSpPr txBox="1"/>
              <p:nvPr/>
            </p:nvSpPr>
            <p:spPr>
              <a:xfrm>
                <a:off x="2365200" y="2516040"/>
                <a:ext cx="4702320" cy="819360"/>
              </a:xfrm>
              <a:prstGeom prst="rect">
                <a:avLst/>
              </a:prstGeom>
              <a:blipFill>
                <a:blip r:embed="rId4"/>
                <a:stretch>
                  <a:fillRect/>
                </a:stretch>
              </a:blipFill>
            </p:spPr>
          </p:sp>
        </mc:Fallback>
      </mc:AlternateContent>
      <mc:AlternateContent>
        <mc:Choice xmlns:a14="http://schemas.microsoft.com/office/drawing/2010/main" Requires="a14">
          <p:sp>
            <p:nvSpPr>
              <p:cNvPr id="1061" name="对象 8"/>
              <p:cNvSpPr txBox="1"/>
              <p:nvPr/>
            </p:nvSpPr>
            <p:spPr>
              <a:xfrm>
                <a:off x="2444760" y="3451320"/>
                <a:ext cx="2901960" cy="784080"/>
              </a:xfrm>
              <a:prstGeom prst="rect">
                <a:avLst/>
              </a:prstGeom>
            </p:spPr>
            <p:txBody>
              <a:bodyPr/>
              <a:p>
                <a14:m>
                  <m:oMath xmlns:m="http://schemas.openxmlformats.org/officeDocument/2006/math">
                    <m:sSub>
                      <m:e>
                        <m:r>
                          <m:t xml:space="preserve">σ</m:t>
                        </m:r>
                      </m:e>
                      <m:sub>
                        <m:r>
                          <m:t xml:space="preserve">a</m:t>
                        </m:r>
                      </m:sub>
                    </m:sSub>
                    <m:r>
                      <m:t xml:space="preserve">=</m:t>
                    </m:r>
                    <m:f>
                      <m:num>
                        <m:r>
                          <m:t xml:space="preserve">(</m:t>
                        </m:r>
                        <m:r>
                          <m:t xml:space="preserve">0</m:t>
                        </m:r>
                        <m:r>
                          <m:t xml:space="preserve">−</m:t>
                        </m:r>
                        <m:r>
                          <m:t xml:space="preserve">1</m:t>
                        </m:r>
                        <m:r>
                          <m:t xml:space="preserve">−</m:t>
                        </m:r>
                        <m:r>
                          <m:t xml:space="preserve">2</m:t>
                        </m:r>
                        <m:r>
                          <m:t xml:space="preserve">)</m:t>
                        </m:r>
                        <m:r>
                          <m:t xml:space="preserve">−</m:t>
                        </m:r>
                        <m:r>
                          <m:t xml:space="preserve">0</m:t>
                        </m:r>
                      </m:num>
                      <m:den>
                        <m:r>
                          <m:t xml:space="preserve">3</m:t>
                        </m:r>
                      </m:den>
                    </m:f>
                    <m:r>
                      <m:t xml:space="preserve">=</m:t>
                    </m:r>
                    <m:r>
                      <m:t xml:space="preserve">−</m:t>
                    </m:r>
                    <m:r>
                      <m:t xml:space="preserve">1</m:t>
                    </m:r>
                  </m:oMath>
                </a14:m>
              </a:p>
            </p:txBody>
          </p:sp>
        </mc:Choice>
        <mc:Fallback>
          <p:sp>
            <p:nvSpPr>
              <p:cNvPr id="1061" name="对象 8"/>
              <p:cNvSpPr txBox="1"/>
              <p:nvPr/>
            </p:nvSpPr>
            <p:spPr>
              <a:xfrm>
                <a:off x="2444760" y="3451320"/>
                <a:ext cx="2901960" cy="784080"/>
              </a:xfrm>
              <a:prstGeom prst="rect">
                <a:avLst/>
              </a:prstGeom>
              <a:blipFill>
                <a:blip r:embed="rId5"/>
                <a:stretch>
                  <a:fillRect/>
                </a:stretch>
              </a:blipFill>
            </p:spPr>
          </p:sp>
        </mc:Fallback>
      </mc:AlternateContent>
      <mc:AlternateContent>
        <mc:Choice xmlns:a14="http://schemas.microsoft.com/office/drawing/2010/main" Requires="a14">
          <p:sp>
            <p:nvSpPr>
              <p:cNvPr id="1062" name="对象 9"/>
              <p:cNvSpPr txBox="1"/>
              <p:nvPr/>
            </p:nvSpPr>
            <p:spPr>
              <a:xfrm>
                <a:off x="4508640" y="4313160"/>
                <a:ext cx="1257120" cy="426960"/>
              </a:xfrm>
              <a:prstGeom prst="rect">
                <a:avLst/>
              </a:prstGeom>
            </p:spPr>
            <p:txBody>
              <a:bodyPr/>
              <a:p>
                <a14:m>
                  <m:oMath xmlns:m="http://schemas.openxmlformats.org/officeDocument/2006/math">
                    <m:r>
                      <m:t xml:space="preserve">(</m:t>
                    </m:r>
                    <m:r>
                      <m:t xml:space="preserve">−</m:t>
                    </m:r>
                    <m:r>
                      <m:t xml:space="preserve">2</m:t>
                    </m:r>
                    <m:r>
                      <m:t xml:space="preserve">,</m:t>
                    </m:r>
                    <m:r>
                      <m:t xml:space="preserve">−</m:t>
                    </m:r>
                    <m:r>
                      <m:t xml:space="preserve">∞</m:t>
                    </m:r>
                    <m:r>
                      <m:t xml:space="preserve">)</m:t>
                    </m:r>
                  </m:oMath>
                </a14:m>
              </a:p>
            </p:txBody>
          </p:sp>
        </mc:Choice>
        <mc:Fallback>
          <p:sp>
            <p:nvSpPr>
              <p:cNvPr id="1062" name="对象 9"/>
              <p:cNvSpPr txBox="1"/>
              <p:nvPr/>
            </p:nvSpPr>
            <p:spPr>
              <a:xfrm>
                <a:off x="4508640" y="4313160"/>
                <a:ext cx="1257120" cy="426960"/>
              </a:xfrm>
              <a:prstGeom prst="rect">
                <a:avLst/>
              </a:prstGeom>
              <a:blipFill>
                <a:blip r:embed="rId6"/>
                <a:stretch>
                  <a:fillRect/>
                </a:stretch>
              </a:blipFill>
            </p:spPr>
          </p:sp>
        </mc:Fallback>
      </mc:AlternateContent>
      <mc:AlternateContent>
        <mc:Choice xmlns:a14="http://schemas.microsoft.com/office/drawing/2010/main" Requires="a14">
          <p:sp>
            <p:nvSpPr>
              <p:cNvPr id="1063" name="对象 10"/>
              <p:cNvSpPr txBox="1"/>
              <p:nvPr/>
            </p:nvSpPr>
            <p:spPr>
              <a:xfrm>
                <a:off x="2444760" y="4740120"/>
                <a:ext cx="3535200" cy="1076400"/>
              </a:xfrm>
              <a:prstGeom prst="rect">
                <a:avLst/>
              </a:prstGeom>
            </p:spPr>
            <p:txBody>
              <a:bodyPr/>
              <a:p>
                <a14:m>
                  <m:oMath xmlns:m="http://schemas.openxmlformats.org/officeDocument/2006/math">
                    <m:f>
                      <m:num>
                        <m:r>
                          <m:t xml:space="preserve">1</m:t>
                        </m:r>
                      </m:num>
                      <m:den>
                        <m:r>
                          <m:t xml:space="preserve">d</m:t>
                        </m:r>
                      </m:den>
                    </m:f>
                    <m:r>
                      <m:t xml:space="preserve">+</m:t>
                    </m:r>
                    <m:f>
                      <m:num>
                        <m:r>
                          <m:t xml:space="preserve">1</m:t>
                        </m:r>
                      </m:num>
                      <m:den>
                        <m:r>
                          <m:t xml:space="preserve">d</m:t>
                        </m:r>
                        <m:r>
                          <m:t xml:space="preserve">+</m:t>
                        </m:r>
                        <m:r>
                          <m:t xml:space="preserve">1</m:t>
                        </m:r>
                      </m:den>
                    </m:f>
                    <m:r>
                      <m:t xml:space="preserve">+</m:t>
                    </m:r>
                    <m:f>
                      <m:num>
                        <m:r>
                          <m:t xml:space="preserve">1</m:t>
                        </m:r>
                      </m:num>
                      <m:den>
                        <m:r>
                          <m:t xml:space="preserve">d</m:t>
                        </m:r>
                        <m:r>
                          <m:t xml:space="preserve">+</m:t>
                        </m:r>
                        <m:r>
                          <m:t xml:space="preserve">2</m:t>
                        </m:r>
                      </m:den>
                    </m:f>
                    <m:r>
                      <m:t xml:space="preserve">=</m:t>
                    </m:r>
                    <m:r>
                      <m:t xml:space="preserve">0</m:t>
                    </m:r>
                  </m:oMath>
                </a14:m>
              </a:p>
            </p:txBody>
          </p:sp>
        </mc:Choice>
        <mc:Fallback>
          <p:sp>
            <p:nvSpPr>
              <p:cNvPr id="1063" name="对象 10"/>
              <p:cNvSpPr txBox="1"/>
              <p:nvPr/>
            </p:nvSpPr>
            <p:spPr>
              <a:xfrm>
                <a:off x="2444760" y="4740120"/>
                <a:ext cx="3535200" cy="1076400"/>
              </a:xfrm>
              <a:prstGeom prst="rect">
                <a:avLst/>
              </a:prstGeom>
              <a:blipFill>
                <a:blip r:embed="rId7"/>
                <a:stretch>
                  <a:fillRect/>
                </a:stretch>
              </a:blipFill>
            </p:spPr>
          </p:sp>
        </mc:Fallback>
      </mc:AlternateContent>
      <mc:AlternateContent>
        <mc:Choice xmlns:a14="http://schemas.microsoft.com/office/drawing/2010/main" Requires="a14">
          <p:sp>
            <p:nvSpPr>
              <p:cNvPr id="1064" name="对象 11"/>
              <p:cNvSpPr txBox="1"/>
              <p:nvPr/>
            </p:nvSpPr>
            <p:spPr>
              <a:xfrm>
                <a:off x="2924280" y="5969160"/>
                <a:ext cx="2198520" cy="547560"/>
              </a:xfrm>
              <a:prstGeom prst="rect">
                <a:avLst/>
              </a:prstGeom>
            </p:spPr>
            <p:txBody>
              <a:bodyPr/>
              <a:p>
                <a14:m>
                  <m:oMath xmlns:m="http://schemas.openxmlformats.org/officeDocument/2006/math">
                    <m:r>
                      <m:t xml:space="preserve">d</m:t>
                    </m:r>
                    <m:r>
                      <m:t xml:space="preserve">≈</m:t>
                    </m:r>
                    <m:r>
                      <m:t xml:space="preserve">−</m:t>
                    </m:r>
                    <m:r>
                      <m:t xml:space="preserve">0</m:t>
                    </m:r>
                    <m:r>
                      <m:rPr>
                        <m:lit/>
                        <m:nor/>
                      </m:rPr>
                      <m:t xml:space="preserve">.</m:t>
                    </m:r>
                    <m:r>
                      <m:rPr>
                        <m:lit/>
                        <m:nor/>
                      </m:rPr>
                      <m:t xml:space="preserve">423</m:t>
                    </m:r>
                  </m:oMath>
                </a14:m>
              </a:p>
            </p:txBody>
          </p:sp>
        </mc:Choice>
        <mc:Fallback>
          <p:sp>
            <p:nvSpPr>
              <p:cNvPr id="1064" name="对象 11"/>
              <p:cNvSpPr txBox="1"/>
              <p:nvPr/>
            </p:nvSpPr>
            <p:spPr>
              <a:xfrm>
                <a:off x="2924280" y="5969160"/>
                <a:ext cx="2198520" cy="547560"/>
              </a:xfrm>
              <a:prstGeom prst="rect">
                <a:avLst/>
              </a:prstGeom>
              <a:blipFill>
                <a:blip r:embed="rId8"/>
                <a:stretch>
                  <a:fillRect/>
                </a:stretch>
              </a:blipFill>
            </p:spPr>
          </p:sp>
        </mc:Fallback>
      </mc:AlternateContent>
    </p:spTree>
  </p:cSld>
  <mc:AlternateContent>
    <mc:Choice Requires="p14">
      <p:transition spd="slow" p14:dur="2000"/>
    </mc:Choice>
    <mc:Fallback>
      <p:transition spd="slow"/>
    </mc:Fallback>
  </mc:AlternateContent>
  <p:timing>
    <p:tnLst>
      <p:par>
        <p:cTn id="2208" dur="indefinite" restart="never" nodeType="tmRoot">
          <p:childTnLst>
            <p:seq>
              <p:cTn id="2209" dur="indefinite" nodeType="mainSeq">
                <p:childTnLst>
                  <p:par>
                    <p:cTn id="2210" fill="hold" nodeType="clickEffect">
                      <p:stCondLst>
                        <p:cond delay="indefinite"/>
                      </p:stCondLst>
                      <p:childTnLst>
                        <p:par>
                          <p:cTn id="2211" fill="hold" nodeType="withEffect">
                            <p:stCondLst>
                              <p:cond delay="0"/>
                            </p:stCondLst>
                            <p:childTnLst>
                              <p:par>
                                <p:cTn id="2212" presetID="2" presetClass="entr" fill="hold" nodeType="clickEffect" presetSubtype="8">
                                  <p:stCondLst>
                                    <p:cond delay="0"/>
                                  </p:stCondLst>
                                  <p:childTnLst>
                                    <p:set>
                                      <p:cBhvr>
                                        <p:cTn id="2213" dur="1" fill="hold">
                                          <p:stCondLst>
                                            <p:cond delay="0"/>
                                          </p:stCondLst>
                                        </p:cTn>
                                        <p:tgtEl>
                                          <p:spTgt spid="1056">
                                            <p:txEl>
                                              <p:pRg st="0" end="0"/>
                                            </p:txEl>
                                          </p:spTgt>
                                        </p:tgtEl>
                                        <p:attrNameLst>
                                          <p:attrName>style.visibility</p:attrName>
                                        </p:attrNameLst>
                                      </p:cBhvr>
                                      <p:to>
                                        <p:strVal val="visible"/>
                                      </p:to>
                                    </p:set>
                                    <p:anim calcmode="lin" valueType="num">
                                      <p:cBhvr additive="base">
                                        <p:cTn id="2214" dur="500" fill="hold"/>
                                        <p:tgtEl>
                                          <p:spTgt spid="1056">
                                            <p:txEl>
                                              <p:pRg st="0" end="0"/>
                                            </p:txEl>
                                          </p:spTgt>
                                        </p:tgtEl>
                                        <p:attrNameLst>
                                          <p:attrName>ppt_x</p:attrName>
                                        </p:attrNameLst>
                                      </p:cBhvr>
                                      <p:tavLst>
                                        <p:tav>
                                          <p:val>
                                            <p:strVal val="0-#ppt_w/2"/>
                                          </p:val>
                                        </p:tav>
                                        <p:tav tm="100000">
                                          <p:val>
                                            <p:strVal val="#ppt_x"/>
                                          </p:val>
                                        </p:tav>
                                      </p:tavLst>
                                    </p:anim>
                                    <p:anim calcmode="lin" valueType="num">
                                      <p:cBhvr additive="base">
                                        <p:cTn id="2215" dur="500" fill="hold"/>
                                        <p:tgtEl>
                                          <p:spTgt spid="1056">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2216" fill="hold" nodeType="clickEffect">
                      <p:stCondLst>
                        <p:cond delay="indefinite"/>
                      </p:stCondLst>
                      <p:childTnLst>
                        <p:par>
                          <p:cTn id="2217" fill="hold" nodeType="withEffect">
                            <p:stCondLst>
                              <p:cond delay="0"/>
                            </p:stCondLst>
                            <p:childTnLst>
                              <p:par>
                                <p:cTn id="2218" presetID="2" presetClass="entr" fill="hold" nodeType="clickEffect" presetSubtype="8">
                                  <p:stCondLst>
                                    <p:cond delay="0"/>
                                  </p:stCondLst>
                                  <p:childTnLst>
                                    <p:set>
                                      <p:cBhvr>
                                        <p:cTn id="2219" dur="1" fill="hold">
                                          <p:stCondLst>
                                            <p:cond delay="0"/>
                                          </p:stCondLst>
                                        </p:cTn>
                                        <p:tgtEl>
                                          <p:spTgt spid="1056">
                                            <p:txEl>
                                              <p:pRg st="1" end="1"/>
                                            </p:txEl>
                                          </p:spTgt>
                                        </p:tgtEl>
                                        <p:attrNameLst>
                                          <p:attrName>style.visibility</p:attrName>
                                        </p:attrNameLst>
                                      </p:cBhvr>
                                      <p:to>
                                        <p:strVal val="visible"/>
                                      </p:to>
                                    </p:set>
                                    <p:anim calcmode="lin" valueType="num">
                                      <p:cBhvr additive="base">
                                        <p:cTn id="2220" dur="500" fill="hold"/>
                                        <p:tgtEl>
                                          <p:spTgt spid="1056">
                                            <p:txEl>
                                              <p:pRg st="1" end="1"/>
                                            </p:txEl>
                                          </p:spTgt>
                                        </p:tgtEl>
                                        <p:attrNameLst>
                                          <p:attrName>ppt_x</p:attrName>
                                        </p:attrNameLst>
                                      </p:cBhvr>
                                      <p:tavLst>
                                        <p:tav>
                                          <p:val>
                                            <p:strVal val="0-#ppt_w/2"/>
                                          </p:val>
                                        </p:tav>
                                        <p:tav tm="100000">
                                          <p:val>
                                            <p:strVal val="#ppt_x"/>
                                          </p:val>
                                        </p:tav>
                                      </p:tavLst>
                                    </p:anim>
                                    <p:anim calcmode="lin" valueType="num">
                                      <p:cBhvr additive="base">
                                        <p:cTn id="2221" dur="500" fill="hold"/>
                                        <p:tgtEl>
                                          <p:spTgt spid="1056">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2222" fill="hold" nodeType="clickEffect">
                      <p:stCondLst>
                        <p:cond delay="indefinite"/>
                      </p:stCondLst>
                      <p:childTnLst>
                        <p:par>
                          <p:cTn id="2223" fill="hold" nodeType="withEffect">
                            <p:stCondLst>
                              <p:cond delay="0"/>
                            </p:stCondLst>
                            <p:childTnLst>
                              <p:par>
                                <p:cTn id="2224" presetID="2" presetClass="entr" fill="hold" nodeType="clickEffect" presetSubtype="8">
                                  <p:stCondLst>
                                    <p:cond delay="0"/>
                                  </p:stCondLst>
                                  <p:childTnLst>
                                    <p:set>
                                      <p:cBhvr>
                                        <p:cTn id="2225" dur="1" fill="hold">
                                          <p:stCondLst>
                                            <p:cond delay="0"/>
                                          </p:stCondLst>
                                        </p:cTn>
                                        <p:tgtEl>
                                          <p:spTgt spid="1056">
                                            <p:txEl>
                                              <p:pRg st="2" end="2"/>
                                            </p:txEl>
                                          </p:spTgt>
                                        </p:tgtEl>
                                        <p:attrNameLst>
                                          <p:attrName>style.visibility</p:attrName>
                                        </p:attrNameLst>
                                      </p:cBhvr>
                                      <p:to>
                                        <p:strVal val="visible"/>
                                      </p:to>
                                    </p:set>
                                    <p:anim calcmode="lin" valueType="num">
                                      <p:cBhvr additive="base">
                                        <p:cTn id="2226" dur="500" fill="hold"/>
                                        <p:tgtEl>
                                          <p:spTgt spid="1056">
                                            <p:txEl>
                                              <p:pRg st="2" end="2"/>
                                            </p:txEl>
                                          </p:spTgt>
                                        </p:tgtEl>
                                        <p:attrNameLst>
                                          <p:attrName>ppt_x</p:attrName>
                                        </p:attrNameLst>
                                      </p:cBhvr>
                                      <p:tavLst>
                                        <p:tav>
                                          <p:val>
                                            <p:strVal val="0-#ppt_w/2"/>
                                          </p:val>
                                        </p:tav>
                                        <p:tav tm="100000">
                                          <p:val>
                                            <p:strVal val="#ppt_x"/>
                                          </p:val>
                                        </p:tav>
                                      </p:tavLst>
                                    </p:anim>
                                    <p:anim calcmode="lin" valueType="num">
                                      <p:cBhvr additive="base">
                                        <p:cTn id="2227" dur="500" fill="hold"/>
                                        <p:tgtEl>
                                          <p:spTgt spid="1056">
                                            <p:txEl>
                                              <p:pRg st="2" end="2"/>
                                            </p:txEl>
                                          </p:spTgt>
                                        </p:tgtEl>
                                        <p:attrNameLst>
                                          <p:attrName>ppt_y</p:attrName>
                                        </p:attrNameLst>
                                      </p:cBhvr>
                                      <p:tavLst>
                                        <p:tav>
                                          <p:val>
                                            <p:strVal val="#ppt_y"/>
                                          </p:val>
                                        </p:tav>
                                        <p:tav tm="100000">
                                          <p:val>
                                            <p:strVal val="#ppt_y"/>
                                          </p:val>
                                        </p:tav>
                                      </p:tavLst>
                                    </p:anim>
                                  </p:childTnLst>
                                </p:cTn>
                              </p:par>
                            </p:childTnLst>
                          </p:cTn>
                        </p:par>
                      </p:childTnLst>
                    </p:cTn>
                  </p:par>
                  <p:par>
                    <p:cTn id="2228" fill="hold" nodeType="clickEffect">
                      <p:stCondLst>
                        <p:cond delay="indefinite"/>
                      </p:stCondLst>
                      <p:childTnLst>
                        <p:par>
                          <p:cTn id="2229" fill="hold" nodeType="withEffect">
                            <p:stCondLst>
                              <p:cond delay="0"/>
                            </p:stCondLst>
                            <p:childTnLst>
                              <p:par>
                                <p:cTn id="2230" presetID="2" presetClass="entr" fill="hold" nodeType="clickEffect" presetSubtype="8">
                                  <p:stCondLst>
                                    <p:cond delay="0"/>
                                  </p:stCondLst>
                                  <p:childTnLst>
                                    <p:set>
                                      <p:cBhvr>
                                        <p:cTn id="2231" dur="1" fill="hold">
                                          <p:stCondLst>
                                            <p:cond delay="0"/>
                                          </p:stCondLst>
                                        </p:cTn>
                                        <p:tgtEl>
                                          <p:spTgt spid="1056">
                                            <p:txEl>
                                              <p:pRg st="4" end="4"/>
                                            </p:txEl>
                                          </p:spTgt>
                                        </p:tgtEl>
                                        <p:attrNameLst>
                                          <p:attrName>style.visibility</p:attrName>
                                        </p:attrNameLst>
                                      </p:cBhvr>
                                      <p:to>
                                        <p:strVal val="visible"/>
                                      </p:to>
                                    </p:set>
                                    <p:anim calcmode="lin" valueType="num">
                                      <p:cBhvr additive="base">
                                        <p:cTn id="2232" dur="500" fill="hold"/>
                                        <p:tgtEl>
                                          <p:spTgt spid="1056">
                                            <p:txEl>
                                              <p:pRg st="4" end="4"/>
                                            </p:txEl>
                                          </p:spTgt>
                                        </p:tgtEl>
                                        <p:attrNameLst>
                                          <p:attrName>ppt_x</p:attrName>
                                        </p:attrNameLst>
                                      </p:cBhvr>
                                      <p:tavLst>
                                        <p:tav>
                                          <p:val>
                                            <p:strVal val="0-#ppt_w/2"/>
                                          </p:val>
                                        </p:tav>
                                        <p:tav tm="100000">
                                          <p:val>
                                            <p:strVal val="#ppt_x"/>
                                          </p:val>
                                        </p:tav>
                                      </p:tavLst>
                                    </p:anim>
                                    <p:anim calcmode="lin" valueType="num">
                                      <p:cBhvr additive="base">
                                        <p:cTn id="2233" dur="500" fill="hold"/>
                                        <p:tgtEl>
                                          <p:spTgt spid="1056">
                                            <p:txEl>
                                              <p:pRg st="4" end="4"/>
                                            </p:txEl>
                                          </p:spTgt>
                                        </p:tgtEl>
                                        <p:attrNameLst>
                                          <p:attrName>ppt_y</p:attrName>
                                        </p:attrNameLst>
                                      </p:cBhvr>
                                      <p:tavLst>
                                        <p:tav>
                                          <p:val>
                                            <p:strVal val="#ppt_y"/>
                                          </p:val>
                                        </p:tav>
                                        <p:tav tm="100000">
                                          <p:val>
                                            <p:strVal val="#ppt_y"/>
                                          </p:val>
                                        </p:tav>
                                      </p:tavLst>
                                    </p:anim>
                                  </p:childTnLst>
                                </p:cTn>
                              </p:par>
                            </p:childTnLst>
                          </p:cTn>
                        </p:par>
                      </p:childTnLst>
                    </p:cTn>
                  </p:par>
                  <p:par>
                    <p:cTn id="2234" fill="hold" nodeType="clickEffect">
                      <p:stCondLst>
                        <p:cond delay="indefinite"/>
                      </p:stCondLst>
                      <p:childTnLst>
                        <p:par>
                          <p:cTn id="2235" fill="hold" nodeType="withEffect">
                            <p:stCondLst>
                              <p:cond delay="0"/>
                            </p:stCondLst>
                            <p:childTnLst>
                              <p:par>
                                <p:cTn id="2236" presetID="2" presetClass="entr" fill="hold" nodeType="clickEffect" presetSubtype="8">
                                  <p:stCondLst>
                                    <p:cond delay="0"/>
                                  </p:stCondLst>
                                  <p:childTnLst>
                                    <p:set>
                                      <p:cBhvr>
                                        <p:cTn id="2237" dur="1" fill="hold">
                                          <p:stCondLst>
                                            <p:cond delay="0"/>
                                          </p:stCondLst>
                                        </p:cTn>
                                        <p:tgtEl>
                                          <p:spTgt spid="1056">
                                            <p:txEl>
                                              <p:pRg st="7" end="7"/>
                                            </p:txEl>
                                          </p:spTgt>
                                        </p:tgtEl>
                                        <p:attrNameLst>
                                          <p:attrName>style.visibility</p:attrName>
                                        </p:attrNameLst>
                                      </p:cBhvr>
                                      <p:to>
                                        <p:strVal val="visible"/>
                                      </p:to>
                                    </p:set>
                                    <p:anim calcmode="lin" valueType="num">
                                      <p:cBhvr additive="base">
                                        <p:cTn id="2238" dur="500" fill="hold"/>
                                        <p:tgtEl>
                                          <p:spTgt spid="1056">
                                            <p:txEl>
                                              <p:pRg st="7" end="7"/>
                                            </p:txEl>
                                          </p:spTgt>
                                        </p:tgtEl>
                                        <p:attrNameLst>
                                          <p:attrName>ppt_x</p:attrName>
                                        </p:attrNameLst>
                                      </p:cBhvr>
                                      <p:tavLst>
                                        <p:tav>
                                          <p:val>
                                            <p:strVal val="0-#ppt_w/2"/>
                                          </p:val>
                                        </p:tav>
                                        <p:tav tm="100000">
                                          <p:val>
                                            <p:strVal val="#ppt_x"/>
                                          </p:val>
                                        </p:tav>
                                      </p:tavLst>
                                    </p:anim>
                                    <p:anim calcmode="lin" valueType="num">
                                      <p:cBhvr additive="base">
                                        <p:cTn id="2239" dur="500" fill="hold"/>
                                        <p:tgtEl>
                                          <p:spTgt spid="1056">
                                            <p:txEl>
                                              <p:pRg st="7" end="7"/>
                                            </p:txEl>
                                          </p:spTgt>
                                        </p:tgtEl>
                                        <p:attrNameLst>
                                          <p:attrName>ppt_y</p:attrName>
                                        </p:attrNameLst>
                                      </p:cBhvr>
                                      <p:tavLst>
                                        <p:tav>
                                          <p:val>
                                            <p:strVal val="#ppt_y"/>
                                          </p:val>
                                        </p:tav>
                                        <p:tav tm="100000">
                                          <p:val>
                                            <p:strVal val="#ppt_y"/>
                                          </p:val>
                                        </p:tav>
                                      </p:tavLst>
                                    </p:anim>
                                  </p:childTnLst>
                                </p:cTn>
                              </p:par>
                            </p:childTnLst>
                          </p:cTn>
                        </p:par>
                      </p:childTnLst>
                    </p:cTn>
                  </p:par>
                  <p:par>
                    <p:cTn id="2240" fill="hold" nodeType="clickEffect">
                      <p:stCondLst>
                        <p:cond delay="indefinite"/>
                      </p:stCondLst>
                      <p:childTnLst>
                        <p:par>
                          <p:cTn id="2241" fill="hold" nodeType="withEffect">
                            <p:stCondLst>
                              <p:cond delay="0"/>
                            </p:stCondLst>
                            <p:childTnLst>
                              <p:par>
                                <p:cTn id="2242" presetID="2" presetClass="entr" fill="hold" nodeType="clickEffect" presetSubtype="8">
                                  <p:stCondLst>
                                    <p:cond delay="0"/>
                                  </p:stCondLst>
                                  <p:childTnLst>
                                    <p:set>
                                      <p:cBhvr>
                                        <p:cTn id="2243" dur="1" fill="hold">
                                          <p:stCondLst>
                                            <p:cond delay="0"/>
                                          </p:stCondLst>
                                        </p:cTn>
                                        <p:tgtEl>
                                          <p:spTgt spid="1056">
                                            <p:txEl>
                                              <p:pRg st="8" end="8"/>
                                            </p:txEl>
                                          </p:spTgt>
                                        </p:tgtEl>
                                        <p:attrNameLst>
                                          <p:attrName>style.visibility</p:attrName>
                                        </p:attrNameLst>
                                      </p:cBhvr>
                                      <p:to>
                                        <p:strVal val="visible"/>
                                      </p:to>
                                    </p:set>
                                    <p:anim calcmode="lin" valueType="num">
                                      <p:cBhvr additive="base">
                                        <p:cTn id="2244" dur="500" fill="hold"/>
                                        <p:tgtEl>
                                          <p:spTgt spid="1056">
                                            <p:txEl>
                                              <p:pRg st="8" end="8"/>
                                            </p:txEl>
                                          </p:spTgt>
                                        </p:tgtEl>
                                        <p:attrNameLst>
                                          <p:attrName>ppt_x</p:attrName>
                                        </p:attrNameLst>
                                      </p:cBhvr>
                                      <p:tavLst>
                                        <p:tav>
                                          <p:val>
                                            <p:strVal val="0-#ppt_w/2"/>
                                          </p:val>
                                        </p:tav>
                                        <p:tav tm="100000">
                                          <p:val>
                                            <p:strVal val="#ppt_x"/>
                                          </p:val>
                                        </p:tav>
                                      </p:tavLst>
                                    </p:anim>
                                    <p:anim calcmode="lin" valueType="num">
                                      <p:cBhvr additive="base">
                                        <p:cTn id="2245" dur="500" fill="hold"/>
                                        <p:tgtEl>
                                          <p:spTgt spid="1056">
                                            <p:txEl>
                                              <p:pRg st="8" end="8"/>
                                            </p:txEl>
                                          </p:spTgt>
                                        </p:tgtEl>
                                        <p:attrNameLst>
                                          <p:attrName>ppt_y</p:attrName>
                                        </p:attrNameLst>
                                      </p:cBhvr>
                                      <p:tavLst>
                                        <p:tav>
                                          <p:val>
                                            <p:strVal val="#ppt_y"/>
                                          </p:val>
                                        </p:tav>
                                        <p:tav tm="100000">
                                          <p:val>
                                            <p:strVal val="#ppt_y"/>
                                          </p:val>
                                        </p:tav>
                                      </p:tavLst>
                                    </p:anim>
                                  </p:childTnLst>
                                </p:cTn>
                              </p:par>
                            </p:childTnLst>
                          </p:cTn>
                        </p:par>
                      </p:childTnLst>
                    </p:cTn>
                  </p:par>
                  <p:par>
                    <p:cTn id="2246" fill="hold" nodeType="clickEffect">
                      <p:stCondLst>
                        <p:cond delay="indefinite"/>
                      </p:stCondLst>
                      <p:childTnLst>
                        <p:par>
                          <p:cTn id="2247" fill="hold" nodeType="withEffect">
                            <p:stCondLst>
                              <p:cond delay="0"/>
                            </p:stCondLst>
                            <p:childTnLst>
                              <p:par>
                                <p:cTn id="2248" presetID="2" presetClass="entr" fill="hold" nodeType="clickEffect" presetSubtype="8">
                                  <p:stCondLst>
                                    <p:cond delay="0"/>
                                  </p:stCondLst>
                                  <p:childTnLst>
                                    <p:set>
                                      <p:cBhvr>
                                        <p:cTn id="2249" dur="1" fill="hold">
                                          <p:stCondLst>
                                            <p:cond delay="0"/>
                                          </p:stCondLst>
                                        </p:cTn>
                                        <p:tgtEl>
                                          <p:spTgt spid="1056">
                                            <p:txEl>
                                              <p:pRg st="9" end="9"/>
                                            </p:txEl>
                                          </p:spTgt>
                                        </p:tgtEl>
                                        <p:attrNameLst>
                                          <p:attrName>style.visibility</p:attrName>
                                        </p:attrNameLst>
                                      </p:cBhvr>
                                      <p:to>
                                        <p:strVal val="visible"/>
                                      </p:to>
                                    </p:set>
                                    <p:anim calcmode="lin" valueType="num">
                                      <p:cBhvr additive="base">
                                        <p:cTn id="2250" dur="500" fill="hold"/>
                                        <p:tgtEl>
                                          <p:spTgt spid="1056">
                                            <p:txEl>
                                              <p:pRg st="9" end="9"/>
                                            </p:txEl>
                                          </p:spTgt>
                                        </p:tgtEl>
                                        <p:attrNameLst>
                                          <p:attrName>ppt_x</p:attrName>
                                        </p:attrNameLst>
                                      </p:cBhvr>
                                      <p:tavLst>
                                        <p:tav>
                                          <p:val>
                                            <p:strVal val="0-#ppt_w/2"/>
                                          </p:val>
                                        </p:tav>
                                        <p:tav tm="100000">
                                          <p:val>
                                            <p:strVal val="#ppt_x"/>
                                          </p:val>
                                        </p:tav>
                                      </p:tavLst>
                                    </p:anim>
                                    <p:anim calcmode="lin" valueType="num">
                                      <p:cBhvr additive="base">
                                        <p:cTn id="2251" dur="500" fill="hold"/>
                                        <p:tgtEl>
                                          <p:spTgt spid="1056">
                                            <p:txEl>
                                              <p:pRg st="9" end="9"/>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65" name="Text Box 11"/>
          <p:cNvPicPr/>
          <p:nvPr/>
        </p:nvPicPr>
        <p:blipFill>
          <a:blip r:embed="rId1"/>
          <a:stretch/>
        </p:blipFill>
        <p:spPr>
          <a:xfrm>
            <a:off x="152280" y="609480"/>
            <a:ext cx="8858520" cy="4565880"/>
          </a:xfrm>
          <a:prstGeom prst="rect">
            <a:avLst/>
          </a:prstGeom>
          <a:noFill/>
          <a:ln w="0">
            <a:noFill/>
          </a:ln>
        </p:spPr>
      </p:pic>
      <mc:AlternateContent>
        <mc:Choice xmlns:a14="http://schemas.microsoft.com/office/drawing/2010/main" Requires="a14">
          <p:sp>
            <p:nvSpPr>
              <p:cNvPr id="1066" name="Object 21"/>
              <p:cNvSpPr txBox="1"/>
              <p:nvPr/>
            </p:nvSpPr>
            <p:spPr>
              <a:xfrm>
                <a:off x="2536920" y="4307040"/>
                <a:ext cx="101520" cy="190440"/>
              </a:xfrm>
              <a:prstGeom prst="rect">
                <a:avLst/>
              </a:prstGeom>
            </p:spPr>
            <p:txBody>
              <a:bodyPr/>
              <a:p>
                <a14:m>
                  <m:oMath xmlns:m="http://schemas.openxmlformats.org/officeDocument/2006/math"/>
                </a14:m>
              </a:p>
            </p:txBody>
          </p:sp>
        </mc:Choice>
        <mc:Fallback>
          <p:sp>
            <p:nvSpPr>
              <p:cNvPr id="1066" name="Object 21"/>
              <p:cNvSpPr txBox="1"/>
              <p:nvPr/>
            </p:nvSpPr>
            <p:spPr>
              <a:xfrm>
                <a:off x="2536920" y="4307040"/>
                <a:ext cx="101520" cy="190440"/>
              </a:xfrm>
              <a:prstGeom prst="rect">
                <a:avLst/>
              </a:prstGeom>
              <a:blipFill>
                <a:blip r:embed="rId2"/>
                <a:stretch>
                  <a:fillRect/>
                </a:stretch>
              </a:blipFill>
            </p:spPr>
          </p:sp>
        </mc:Fallback>
      </mc:AlternateContent>
      <mc:AlternateContent>
        <mc:Choice xmlns:a14="http://schemas.microsoft.com/office/drawing/2010/main" Requires="a14">
          <p:sp>
            <p:nvSpPr>
              <p:cNvPr id="1067" name="对象 4"/>
              <p:cNvSpPr txBox="1"/>
              <p:nvPr/>
            </p:nvSpPr>
            <p:spPr>
              <a:xfrm>
                <a:off x="650880" y="1720800"/>
                <a:ext cx="1184400" cy="493920"/>
              </a:xfrm>
              <a:prstGeom prst="rect">
                <a:avLst/>
              </a:prstGeom>
            </p:spPr>
            <p:txBody>
              <a:bodyPr/>
              <a:p>
                <a14:m>
                  <m:oMath xmlns:m="http://schemas.openxmlformats.org/officeDocument/2006/math">
                    <m:r>
                      <m:t xml:space="preserve">G</m:t>
                    </m:r>
                    <m:r>
                      <m:t xml:space="preserve">(</m:t>
                    </m:r>
                    <m:r>
                      <m:t xml:space="preserve">s</m:t>
                    </m:r>
                    <m:r>
                      <m:t xml:space="preserve">)</m:t>
                    </m:r>
                    <m:r>
                      <m:t xml:space="preserve">H</m:t>
                    </m:r>
                    <m:r>
                      <m:t xml:space="preserve">(</m:t>
                    </m:r>
                    <m:r>
                      <m:t xml:space="preserve">s</m:t>
                    </m:r>
                    <m:r>
                      <m:t xml:space="preserve">)</m:t>
                    </m:r>
                    <m:r>
                      <m:t xml:space="preserve">=</m:t>
                    </m:r>
                    <m:sSub>
                      <m:e>
                        <m:r>
                          <m:t xml:space="preserve">K</m:t>
                        </m:r>
                      </m:e>
                      <m:sub>
                        <m:r>
                          <m:t xml:space="preserve">g</m:t>
                        </m:r>
                      </m:sub>
                    </m:sSub>
                    <m:f>
                      <m:num>
                        <m:r>
                          <m:t xml:space="preserve">M</m:t>
                        </m:r>
                        <m:r>
                          <m:t xml:space="preserve">(</m:t>
                        </m:r>
                        <m:r>
                          <m:t xml:space="preserve">s</m:t>
                        </m:r>
                        <m:r>
                          <m:t xml:space="preserve">)</m:t>
                        </m:r>
                      </m:num>
                      <m:den>
                        <m:r>
                          <m:t xml:space="preserve">N</m:t>
                        </m:r>
                        <m:r>
                          <m:t xml:space="preserve">(</m:t>
                        </m:r>
                        <m:r>
                          <m:t xml:space="preserve">s</m:t>
                        </m:r>
                        <m:r>
                          <m:t xml:space="preserve">)</m:t>
                        </m:r>
                      </m:den>
                    </m:f>
                    <m:r>
                      <m:t xml:space="preserve">=</m:t>
                    </m:r>
                    <m:f>
                      <m:num>
                        <m:sSub>
                          <m:e>
                            <m:r>
                              <m:t xml:space="preserve">K</m:t>
                            </m:r>
                          </m:e>
                          <m:sub>
                            <m:r>
                              <m:t xml:space="preserve">g</m:t>
                            </m:r>
                          </m:sub>
                        </m:sSub>
                        <m:nary>
                          <m:naryPr>
                            <m:chr m:val="∏"/>
                          </m:naryPr>
                          <m:sub>
                            <m:r>
                              <m:t xml:space="preserve">i</m:t>
                            </m:r>
                            <m:r>
                              <m:t xml:space="preserve">=</m:t>
                            </m:r>
                            <m:r>
                              <m:t xml:space="preserve">1</m:t>
                            </m:r>
                          </m:sub>
                          <m:sup>
                            <m:r>
                              <m:t xml:space="preserve">m</m:t>
                            </m:r>
                          </m:sup>
                          <m:e>
                            <m:r>
                              <m:t xml:space="preserve">(</m:t>
                            </m:r>
                            <m:r>
                              <m:t xml:space="preserve">s</m:t>
                            </m:r>
                            <m:r>
                              <m:t xml:space="preserve">−</m:t>
                            </m:r>
                            <m:sSub>
                              <m:e>
                                <m:r>
                                  <m:t xml:space="preserve">z</m:t>
                                </m:r>
                              </m:e>
                              <m:sub>
                                <m:r>
                                  <m:t xml:space="preserve">i</m:t>
                                </m:r>
                              </m:sub>
                            </m:sSub>
                            <m:r>
                              <m:t xml:space="preserve">)</m:t>
                            </m:r>
                          </m:e>
                        </m:nary>
                      </m:num>
                      <m:den>
                        <m:nary>
                          <m:naryPr>
                            <m:chr m:val="∏"/>
                          </m:naryPr>
                          <m:sub>
                            <m:r>
                              <m:t xml:space="preserve">j</m:t>
                            </m:r>
                            <m:r>
                              <m:t xml:space="preserve">=</m:t>
                            </m:r>
                            <m:r>
                              <m:t xml:space="preserve">1</m:t>
                            </m:r>
                          </m:sub>
                          <m:sup>
                            <m:r>
                              <m:t xml:space="preserve">n</m:t>
                            </m:r>
                          </m:sup>
                          <m:e>
                            <m:r>
                              <m:t xml:space="preserve">(</m:t>
                            </m:r>
                            <m:r>
                              <m:t xml:space="preserve">s</m:t>
                            </m:r>
                            <m:r>
                              <m:t xml:space="preserve">−</m:t>
                            </m:r>
                            <m:sSub>
                              <m:e>
                                <m:r>
                                  <m:t xml:space="preserve">p</m:t>
                                </m:r>
                              </m:e>
                              <m:sub>
                                <m:r>
                                  <m:t xml:space="preserve">j</m:t>
                                </m:r>
                              </m:sub>
                            </m:sSub>
                            <m:r>
                              <m:t xml:space="preserve">)</m:t>
                            </m:r>
                          </m:e>
                        </m:nary>
                      </m:den>
                    </m:f>
                  </m:oMath>
                </a14:m>
              </a:p>
            </p:txBody>
          </p:sp>
        </mc:Choice>
        <mc:Fallback>
          <p:sp>
            <p:nvSpPr>
              <p:cNvPr id="1067" name="对象 4"/>
              <p:cNvSpPr txBox="1"/>
              <p:nvPr/>
            </p:nvSpPr>
            <p:spPr>
              <a:xfrm>
                <a:off x="650880" y="1720800"/>
                <a:ext cx="1184400" cy="493920"/>
              </a:xfrm>
              <a:prstGeom prst="rect">
                <a:avLst/>
              </a:prstGeom>
              <a:blipFill>
                <a:blip r:embed="rId3"/>
                <a:stretch>
                  <a:fillRect/>
                </a:stretch>
              </a:blipFill>
            </p:spPr>
          </p:sp>
        </mc:Fallback>
      </mc:AlternateContent>
      <mc:AlternateContent>
        <mc:Choice xmlns:a14="http://schemas.microsoft.com/office/drawing/2010/main" Requires="a14">
          <p:sp>
            <p:nvSpPr>
              <p:cNvPr id="1068" name="对象 5"/>
              <p:cNvSpPr txBox="1"/>
              <p:nvPr/>
            </p:nvSpPr>
            <p:spPr>
              <a:xfrm>
                <a:off x="2540160" y="2467080"/>
                <a:ext cx="3133440" cy="496800"/>
              </a:xfrm>
              <a:prstGeom prst="rect">
                <a:avLst/>
              </a:prstGeom>
            </p:spPr>
            <p:txBody>
              <a:bodyPr/>
              <a:p>
                <a14:m>
                  <m:oMath xmlns:m="http://schemas.openxmlformats.org/officeDocument/2006/math">
                    <m:sSup>
                      <m:e>
                        <m:r>
                          <m:t xml:space="preserve">s</m:t>
                        </m:r>
                      </m:e>
                      <m:sup>
                        <m:r>
                          <m:t xml:space="preserve">3</m:t>
                        </m:r>
                      </m:sup>
                    </m:sSup>
                    <m:r>
                      <m:t xml:space="preserve">+</m:t>
                    </m:r>
                    <m:r>
                      <m:t xml:space="preserve">3</m:t>
                    </m:r>
                    <m:sSup>
                      <m:e>
                        <m:r>
                          <m:t xml:space="preserve">s</m:t>
                        </m:r>
                      </m:e>
                      <m:sup>
                        <m:r>
                          <m:t xml:space="preserve">2</m:t>
                        </m:r>
                      </m:sup>
                    </m:sSup>
                    <m:r>
                      <m:t xml:space="preserve">+</m:t>
                    </m:r>
                    <m:r>
                      <m:t xml:space="preserve">2</m:t>
                    </m:r>
                    <m:r>
                      <m:t xml:space="preserve">s</m:t>
                    </m:r>
                    <m:r>
                      <m:t xml:space="preserve">+</m:t>
                    </m:r>
                    <m:r>
                      <m:t xml:space="preserve">K</m:t>
                    </m:r>
                    <m:r>
                      <m:t xml:space="preserve">=</m:t>
                    </m:r>
                    <m:r>
                      <m:t xml:space="preserve">0</m:t>
                    </m:r>
                  </m:oMath>
                </a14:m>
              </a:p>
            </p:txBody>
          </p:sp>
        </mc:Choice>
        <mc:Fallback>
          <p:sp>
            <p:nvSpPr>
              <p:cNvPr id="1068" name="对象 5"/>
              <p:cNvSpPr txBox="1"/>
              <p:nvPr/>
            </p:nvSpPr>
            <p:spPr>
              <a:xfrm>
                <a:off x="2540160" y="2467080"/>
                <a:ext cx="3133440" cy="496800"/>
              </a:xfrm>
              <a:prstGeom prst="rect">
                <a:avLst/>
              </a:prstGeom>
              <a:blipFill>
                <a:blip r:embed="rId4"/>
                <a:stretch>
                  <a:fillRect/>
                </a:stretch>
              </a:blipFill>
            </p:spPr>
          </p:sp>
        </mc:Fallback>
      </mc:AlternateContent>
      <mc:AlternateContent>
        <mc:Choice xmlns:a14="http://schemas.microsoft.com/office/drawing/2010/main" Requires="a14">
          <p:sp>
            <p:nvSpPr>
              <p:cNvPr id="1069" name="对象 6"/>
              <p:cNvSpPr txBox="1"/>
              <p:nvPr/>
            </p:nvSpPr>
            <p:spPr>
              <a:xfrm>
                <a:off x="1720800" y="3200400"/>
                <a:ext cx="2227320" cy="933480"/>
              </a:xfrm>
              <a:prstGeom prst="rect">
                <a:avLst/>
              </a:prstGeom>
            </p:spPr>
            <p:txBody>
              <a:bodyPr/>
              <a:p>
                <a14:m>
                  <m:oMath xmlns:m="http://schemas.openxmlformats.org/officeDocument/2006/math">
                    <m:eqArr>
                      <m:e>
                        <m:r>
                          <m:rPr>
                            <m:lit/>
                            <m:nor/>
                          </m:rPr>
                          <m:t xml:space="preserve">Re</m:t>
                        </m:r>
                        <m:r>
                          <m:t xml:space="preserve">=</m:t>
                        </m:r>
                        <m:r>
                          <m:t xml:space="preserve">K</m:t>
                        </m:r>
                        <m:r>
                          <m:t xml:space="preserve">−</m:t>
                        </m:r>
                        <m:r>
                          <m:t xml:space="preserve">3</m:t>
                        </m:r>
                        <m:sSup>
                          <m:e>
                            <m:r>
                              <m:t xml:space="preserve">ω</m:t>
                            </m:r>
                          </m:e>
                          <m:sup>
                            <m:r>
                              <m:t xml:space="preserve">2</m:t>
                            </m:r>
                          </m:sup>
                        </m:sSup>
                        <m:r>
                          <m:t xml:space="preserve">=</m:t>
                        </m:r>
                        <m:r>
                          <m:t xml:space="preserve">0</m:t>
                        </m:r>
                      </m:e>
                      <m:e>
                        <m:r>
                          <m:rPr>
                            <m:lit/>
                            <m:nor/>
                          </m:rPr>
                          <m:t xml:space="preserve">Im</m:t>
                        </m:r>
                        <m:r>
                          <m:t xml:space="preserve">=</m:t>
                        </m:r>
                        <m:r>
                          <m:t xml:space="preserve">2</m:t>
                        </m:r>
                        <m:r>
                          <m:t xml:space="preserve">ω</m:t>
                        </m:r>
                        <m:r>
                          <m:t xml:space="preserve">−</m:t>
                        </m:r>
                        <m:sSup>
                          <m:e>
                            <m:r>
                              <m:t xml:space="preserve">ω</m:t>
                            </m:r>
                          </m:e>
                          <m:sup>
                            <m:r>
                              <m:t xml:space="preserve">3</m:t>
                            </m:r>
                          </m:sup>
                        </m:sSup>
                        <m:r>
                          <m:t xml:space="preserve">=</m:t>
                        </m:r>
                        <m:r>
                          <m:t xml:space="preserve">0</m:t>
                        </m:r>
                      </m:e>
                    </m:eqArr>
                  </m:oMath>
                </a14:m>
              </a:p>
            </p:txBody>
          </p:sp>
        </mc:Choice>
        <mc:Fallback>
          <p:sp>
            <p:nvSpPr>
              <p:cNvPr id="1069" name="对象 6"/>
              <p:cNvSpPr txBox="1"/>
              <p:nvPr/>
            </p:nvSpPr>
            <p:spPr>
              <a:xfrm>
                <a:off x="1720800" y="3200400"/>
                <a:ext cx="2227320" cy="933480"/>
              </a:xfrm>
              <a:prstGeom prst="rect">
                <a:avLst/>
              </a:prstGeom>
              <a:blipFill>
                <a:blip r:embed="rId5"/>
                <a:stretch>
                  <a:fillRect/>
                </a:stretch>
              </a:blipFill>
            </p:spPr>
          </p:sp>
        </mc:Fallback>
      </mc:AlternateContent>
      <mc:AlternateContent>
        <mc:Choice xmlns:a14="http://schemas.microsoft.com/office/drawing/2010/main" Requires="a14">
          <p:sp>
            <p:nvSpPr>
              <p:cNvPr id="1070" name="对象 7"/>
              <p:cNvSpPr txBox="1"/>
              <p:nvPr/>
            </p:nvSpPr>
            <p:spPr>
              <a:xfrm>
                <a:off x="4699080" y="3139920"/>
                <a:ext cx="1425600" cy="1054080"/>
              </a:xfrm>
              <a:prstGeom prst="rect">
                <a:avLst/>
              </a:prstGeom>
            </p:spPr>
            <p:txBody>
              <a:bodyPr/>
              <a:p>
                <a14:m>
                  <m:oMath xmlns:m="http://schemas.openxmlformats.org/officeDocument/2006/math">
                    <m:eqArr>
                      <m:e>
                        <m:r>
                          <m:t xml:space="preserve">ω</m:t>
                        </m:r>
                        <m:r>
                          <m:t xml:space="preserve">=</m:t>
                        </m:r>
                        <m:r>
                          <m:t xml:space="preserve">±</m:t>
                        </m:r>
                        <m:rad>
                          <m:radPr>
                            <m:degHide m:val="1"/>
                          </m:radPr>
                          <m:deg/>
                          <m:e>
                            <m:r>
                              <m:t xml:space="preserve">2</m:t>
                            </m:r>
                          </m:e>
                        </m:rad>
                      </m:e>
                      <m:e>
                        <m:r>
                          <m:t xml:space="preserve">K</m:t>
                        </m:r>
                        <m:r>
                          <m:t xml:space="preserve">=</m:t>
                        </m:r>
                        <m:r>
                          <m:t xml:space="preserve">6</m:t>
                        </m:r>
                      </m:e>
                    </m:eqArr>
                  </m:oMath>
                </a14:m>
              </a:p>
            </p:txBody>
          </p:sp>
        </mc:Choice>
        <mc:Fallback>
          <p:sp>
            <p:nvSpPr>
              <p:cNvPr id="1070" name="对象 7"/>
              <p:cNvSpPr txBox="1"/>
              <p:nvPr/>
            </p:nvSpPr>
            <p:spPr>
              <a:xfrm>
                <a:off x="4699080" y="3139920"/>
                <a:ext cx="1425600" cy="1054080"/>
              </a:xfrm>
              <a:prstGeom prst="rect">
                <a:avLst/>
              </a:prstGeom>
              <a:blipFill>
                <a:blip r:embed="rId6"/>
                <a:stretch>
                  <a:fillRect/>
                </a:stretch>
              </a:blipFill>
            </p:spPr>
          </p:sp>
        </mc:Fallback>
      </mc:AlternateContent>
    </p:spTree>
  </p:cSld>
  <mc:AlternateContent>
    <mc:Choice Requires="p14">
      <p:transition spd="slow" p14:dur="2000"/>
    </mc:Choice>
    <mc:Fallback>
      <p:transition spd="slow"/>
    </mc:Fallback>
  </mc:AlternateContent>
  <p:timing>
    <p:tnLst>
      <p:par>
        <p:cTn id="2252" dur="indefinite" restart="never" nodeType="tmRoot">
          <p:childTnLst>
            <p:seq>
              <p:cTn id="2253" dur="indefinite" nodeType="mainSeq">
                <p:childTnLst>
                  <p:par>
                    <p:cTn id="2254" fill="hold" nodeType="clickEffect">
                      <p:stCondLst>
                        <p:cond delay="indefinite"/>
                      </p:stCondLst>
                      <p:childTnLst>
                        <p:par>
                          <p:cTn id="2255" fill="hold" nodeType="withEffect">
                            <p:stCondLst>
                              <p:cond delay="0"/>
                            </p:stCondLst>
                            <p:childTnLst>
                              <p:par>
                                <p:cTn id="2256" presetID="2" presetClass="entr" fill="hold" nodeType="clickEffect" presetSubtype="6">
                                  <p:stCondLst>
                                    <p:cond delay="0"/>
                                  </p:stCondLst>
                                  <p:childTnLst>
                                    <p:set>
                                      <p:cBhvr>
                                        <p:cTn id="2257" dur="1" fill="hold">
                                          <p:stCondLst>
                                            <p:cond delay="0"/>
                                          </p:stCondLst>
                                        </p:cTn>
                                        <p:tgtEl>
                                          <p:spTgt spid="1066"/>
                                        </p:tgtEl>
                                        <p:attrNameLst>
                                          <p:attrName>style.visibility</p:attrName>
                                        </p:attrNameLst>
                                      </p:cBhvr>
                                      <p:to>
                                        <p:strVal val="visible"/>
                                      </p:to>
                                    </p:set>
                                    <p:anim calcmode="lin" valueType="num">
                                      <p:cBhvr additive="repl">
                                        <p:cTn id="2258" dur="500" fill="hold"/>
                                        <p:tgtEl>
                                          <p:spTgt spid="1066"/>
                                        </p:tgtEl>
                                        <p:attrNameLst>
                                          <p:attrName>ppt_x</p:attrName>
                                        </p:attrNameLst>
                                      </p:cBhvr>
                                      <p:tavLst>
                                        <p:tav>
                                          <p:val>
                                            <p:strVal val="1+#ppt_w/2"/>
                                          </p:val>
                                        </p:tav>
                                        <p:tav tm="100000">
                                          <p:val>
                                            <p:strVal val="#ppt_x"/>
                                          </p:val>
                                        </p:tav>
                                      </p:tavLst>
                                    </p:anim>
                                    <p:anim calcmode="lin" valueType="num">
                                      <p:cBhvr additive="repl">
                                        <p:cTn id="2259" dur="500" fill="hold"/>
                                        <p:tgtEl>
                                          <p:spTgt spid="1066"/>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1" name="Text Box 11"/>
          <p:cNvPicPr/>
          <p:nvPr/>
        </p:nvPicPr>
        <p:blipFill>
          <a:blip r:embed="rId1"/>
          <a:stretch/>
        </p:blipFill>
        <p:spPr>
          <a:xfrm>
            <a:off x="0" y="212760"/>
            <a:ext cx="9144000" cy="5853240"/>
          </a:xfrm>
          <a:prstGeom prst="rect">
            <a:avLst/>
          </a:prstGeom>
          <a:noFill/>
          <a:ln w="0">
            <a:noFill/>
          </a:ln>
        </p:spPr>
      </p:pic>
      <mc:AlternateContent>
        <mc:Choice xmlns:a14="http://schemas.microsoft.com/office/drawing/2010/main" Requires="a14">
          <p:sp>
            <p:nvSpPr>
              <p:cNvPr id="1072" name="Object 21"/>
              <p:cNvSpPr txBox="1"/>
              <p:nvPr/>
            </p:nvSpPr>
            <p:spPr>
              <a:xfrm>
                <a:off x="2536920" y="4307040"/>
                <a:ext cx="101520" cy="190440"/>
              </a:xfrm>
              <a:prstGeom prst="rect">
                <a:avLst/>
              </a:prstGeom>
            </p:spPr>
            <p:txBody>
              <a:bodyPr/>
              <a:p>
                <a14:m>
                  <m:oMath xmlns:m="http://schemas.openxmlformats.org/officeDocument/2006/math"/>
                </a14:m>
              </a:p>
            </p:txBody>
          </p:sp>
        </mc:Choice>
        <mc:Fallback>
          <p:sp>
            <p:nvSpPr>
              <p:cNvPr id="1072" name="Object 21"/>
              <p:cNvSpPr txBox="1"/>
              <p:nvPr/>
            </p:nvSpPr>
            <p:spPr>
              <a:xfrm>
                <a:off x="2536920" y="4307040"/>
                <a:ext cx="101520" cy="190440"/>
              </a:xfrm>
              <a:prstGeom prst="rect">
                <a:avLst/>
              </a:prstGeom>
              <a:blipFill>
                <a:blip r:embed="rId2"/>
                <a:stretch>
                  <a:fillRect/>
                </a:stretch>
              </a:blipFill>
            </p:spPr>
          </p:sp>
        </mc:Fallback>
      </mc:AlternateContent>
      <mc:AlternateContent>
        <mc:Choice xmlns:a14="http://schemas.microsoft.com/office/drawing/2010/main" Requires="a14">
          <p:sp>
            <p:nvSpPr>
              <p:cNvPr id="1073" name="对象 1"/>
              <p:cNvSpPr txBox="1"/>
              <p:nvPr/>
            </p:nvSpPr>
            <p:spPr>
              <a:xfrm>
                <a:off x="1446120" y="1262160"/>
                <a:ext cx="3286080" cy="2871720"/>
              </a:xfrm>
              <a:prstGeom prst="rect">
                <a:avLst/>
              </a:prstGeom>
            </p:spPr>
            <p:txBody>
              <a:bodyPr/>
              <a:p>
                <a14:m>
                  <m:oMath xmlns:m="http://schemas.openxmlformats.org/officeDocument/2006/math">
                    <m:eqArr>
                      <m:e>
                        <m:sSup>
                          <m:e>
                            <m:r>
                              <m:t xml:space="preserve">s</m:t>
                            </m:r>
                          </m:e>
                          <m:sup>
                            <m:r>
                              <m:t xml:space="preserve">3</m:t>
                            </m:r>
                          </m:sup>
                        </m:sSup>
                        <m:r>
                          <m:t xml:space="preserve">12</m:t>
                        </m:r>
                      </m:e>
                      <m:e>
                        <m:sSup>
                          <m:e>
                            <m:r>
                              <m:t xml:space="preserve">s</m:t>
                            </m:r>
                          </m:e>
                          <m:sup>
                            <m:r>
                              <m:t xml:space="preserve">2</m:t>
                            </m:r>
                          </m:sup>
                        </m:sSup>
                        <m:r>
                          <m:t xml:space="preserve">3</m:t>
                        </m:r>
                        <m:r>
                          <m:t xml:space="preserve">K</m:t>
                        </m:r>
                      </m:e>
                      <m:e>
                        <m:sSup>
                          <m:e>
                            <m:r>
                              <m:t xml:space="preserve">s</m:t>
                            </m:r>
                          </m:e>
                          <m:sup>
                            <m:r>
                              <m:t xml:space="preserve">1</m:t>
                            </m:r>
                          </m:sup>
                        </m:sSup>
                        <m:f>
                          <m:num>
                            <m:r>
                              <m:t xml:space="preserve">6</m:t>
                            </m:r>
                            <m:r>
                              <m:t xml:space="preserve">−</m:t>
                            </m:r>
                            <m:r>
                              <m:t xml:space="preserve">K</m:t>
                            </m:r>
                          </m:num>
                          <m:den>
                            <m:r>
                              <m:t xml:space="preserve">3</m:t>
                            </m:r>
                          </m:den>
                        </m:f>
                      </m:e>
                      <m:e>
                        <m:sSup>
                          <m:e>
                            <m:r>
                              <m:t xml:space="preserve">s</m:t>
                            </m:r>
                          </m:e>
                          <m:sup>
                            <m:r>
                              <m:t xml:space="preserve">0</m:t>
                            </m:r>
                          </m:sup>
                        </m:sSup>
                        <m:r>
                          <m:t xml:space="preserve">K</m:t>
                        </m:r>
                      </m:e>
                    </m:eqArr>
                  </m:oMath>
                </a14:m>
              </a:p>
            </p:txBody>
          </p:sp>
        </mc:Choice>
        <mc:Fallback>
          <p:sp>
            <p:nvSpPr>
              <p:cNvPr id="1073" name="对象 1"/>
              <p:cNvSpPr txBox="1"/>
              <p:nvPr/>
            </p:nvSpPr>
            <p:spPr>
              <a:xfrm>
                <a:off x="1446120" y="1262160"/>
                <a:ext cx="3286080" cy="2871720"/>
              </a:xfrm>
              <a:prstGeom prst="rect">
                <a:avLst/>
              </a:prstGeom>
              <a:blipFill>
                <a:blip r:embed="rId3"/>
                <a:stretch>
                  <a:fillRect/>
                </a:stretch>
              </a:blipFill>
            </p:spPr>
          </p:sp>
        </mc:Fallback>
      </mc:AlternateContent>
      <mc:AlternateContent>
        <mc:Choice xmlns:a14="http://schemas.microsoft.com/office/drawing/2010/main" Requires="a14">
          <p:sp>
            <p:nvSpPr>
              <p:cNvPr id="1074" name="对象 2"/>
              <p:cNvSpPr txBox="1"/>
              <p:nvPr/>
            </p:nvSpPr>
            <p:spPr>
              <a:xfrm>
                <a:off x="1227240" y="5062680"/>
                <a:ext cx="1184040" cy="493560"/>
              </a:xfrm>
              <a:prstGeom prst="rect">
                <a:avLst/>
              </a:prstGeom>
            </p:spPr>
            <p:txBody>
              <a:bodyPr/>
              <a:p>
                <a14:m>
                  <m:oMath xmlns:m="http://schemas.openxmlformats.org/officeDocument/2006/math">
                    <m:r>
                      <m:t xml:space="preserve">s</m:t>
                    </m:r>
                    <m:r>
                      <m:t xml:space="preserve">=</m:t>
                    </m:r>
                    <m:r>
                      <m:t xml:space="preserve">jω</m:t>
                    </m:r>
                  </m:oMath>
                </a14:m>
              </a:p>
            </p:txBody>
          </p:sp>
        </mc:Choice>
        <mc:Fallback>
          <p:sp>
            <p:nvSpPr>
              <p:cNvPr id="1074" name="对象 2"/>
              <p:cNvSpPr txBox="1"/>
              <p:nvPr/>
            </p:nvSpPr>
            <p:spPr>
              <a:xfrm>
                <a:off x="1227240" y="5062680"/>
                <a:ext cx="1184040" cy="493560"/>
              </a:xfrm>
              <a:prstGeom prst="rect">
                <a:avLst/>
              </a:prstGeom>
              <a:blipFill>
                <a:blip r:embed="rId4"/>
                <a:stretch>
                  <a:fillRect/>
                </a:stretch>
              </a:blipFill>
            </p:spPr>
          </p:sp>
        </mc:Fallback>
      </mc:AlternateContent>
      <mc:AlternateContent>
        <mc:Choice xmlns:a14="http://schemas.microsoft.com/office/drawing/2010/main" Requires="a14">
          <p:sp>
            <p:nvSpPr>
              <p:cNvPr id="1075" name="对象 8"/>
              <p:cNvSpPr txBox="1"/>
              <p:nvPr/>
            </p:nvSpPr>
            <p:spPr>
              <a:xfrm>
                <a:off x="3438360" y="5062680"/>
                <a:ext cx="3135600" cy="496800"/>
              </a:xfrm>
              <a:prstGeom prst="rect">
                <a:avLst/>
              </a:prstGeom>
            </p:spPr>
            <p:txBody>
              <a:bodyPr/>
              <a:p>
                <a14:m>
                  <m:oMath xmlns:m="http://schemas.openxmlformats.org/officeDocument/2006/math">
                    <m:sSup>
                      <m:e>
                        <m:r>
                          <m:t xml:space="preserve">s</m:t>
                        </m:r>
                      </m:e>
                      <m:sup>
                        <m:r>
                          <m:t xml:space="preserve">3</m:t>
                        </m:r>
                      </m:sup>
                    </m:sSup>
                    <m:r>
                      <m:t xml:space="preserve">+</m:t>
                    </m:r>
                    <m:r>
                      <m:t xml:space="preserve">3</m:t>
                    </m:r>
                    <m:sSup>
                      <m:e>
                        <m:r>
                          <m:t xml:space="preserve">s</m:t>
                        </m:r>
                      </m:e>
                      <m:sup>
                        <m:r>
                          <m:t xml:space="preserve">2</m:t>
                        </m:r>
                      </m:sup>
                    </m:sSup>
                    <m:r>
                      <m:t xml:space="preserve">+</m:t>
                    </m:r>
                    <m:r>
                      <m:t xml:space="preserve">2</m:t>
                    </m:r>
                    <m:r>
                      <m:t xml:space="preserve">s</m:t>
                    </m:r>
                    <m:r>
                      <m:t xml:space="preserve">+</m:t>
                    </m:r>
                    <m:r>
                      <m:t xml:space="preserve">K</m:t>
                    </m:r>
                    <m:r>
                      <m:t xml:space="preserve">=</m:t>
                    </m:r>
                    <m:r>
                      <m:t xml:space="preserve">0</m:t>
                    </m:r>
                  </m:oMath>
                </a14:m>
              </a:p>
            </p:txBody>
          </p:sp>
        </mc:Choice>
        <mc:Fallback>
          <p:sp>
            <p:nvSpPr>
              <p:cNvPr id="1075" name="对象 8"/>
              <p:cNvSpPr txBox="1"/>
              <p:nvPr/>
            </p:nvSpPr>
            <p:spPr>
              <a:xfrm>
                <a:off x="3438360" y="5062680"/>
                <a:ext cx="3135600" cy="496800"/>
              </a:xfrm>
              <a:prstGeom prst="rect">
                <a:avLst/>
              </a:prstGeom>
              <a:blipFill>
                <a:blip r:embed="rId5"/>
                <a:stretch>
                  <a:fillRect/>
                </a:stretch>
              </a:blipFill>
            </p:spPr>
          </p:sp>
        </mc:Fallback>
      </mc:AlternateContent>
      <mc:AlternateContent>
        <mc:Choice xmlns:a14="http://schemas.microsoft.com/office/drawing/2010/main" Requires="a14">
          <p:sp>
            <p:nvSpPr>
              <p:cNvPr id="1076" name="对象 10"/>
              <p:cNvSpPr txBox="1"/>
              <p:nvPr/>
            </p:nvSpPr>
            <p:spPr>
              <a:xfrm>
                <a:off x="1227240" y="5884920"/>
                <a:ext cx="1425600" cy="528480"/>
              </a:xfrm>
              <a:prstGeom prst="rect">
                <a:avLst/>
              </a:prstGeom>
            </p:spPr>
            <p:txBody>
              <a:bodyPr/>
              <a:p>
                <a14:m>
                  <m:oMath xmlns:m="http://schemas.openxmlformats.org/officeDocument/2006/math">
                    <m:r>
                      <m:t xml:space="preserve">ω</m:t>
                    </m:r>
                    <m:r>
                      <m:t xml:space="preserve">=</m:t>
                    </m:r>
                    <m:r>
                      <m:t xml:space="preserve">±</m:t>
                    </m:r>
                    <m:rad>
                      <m:radPr>
                        <m:degHide m:val="1"/>
                      </m:radPr>
                      <m:deg/>
                      <m:e>
                        <m:r>
                          <m:t xml:space="preserve">2</m:t>
                        </m:r>
                      </m:e>
                    </m:rad>
                  </m:oMath>
                </a14:m>
              </a:p>
            </p:txBody>
          </p:sp>
        </mc:Choice>
        <mc:Fallback>
          <p:sp>
            <p:nvSpPr>
              <p:cNvPr id="1076" name="对象 10"/>
              <p:cNvSpPr txBox="1"/>
              <p:nvPr/>
            </p:nvSpPr>
            <p:spPr>
              <a:xfrm>
                <a:off x="1227240" y="5884920"/>
                <a:ext cx="1425600" cy="528480"/>
              </a:xfrm>
              <a:prstGeom prst="rect">
                <a:avLst/>
              </a:prstGeom>
              <a:blipFill>
                <a:blip r:embed="rId6"/>
                <a:stretch>
                  <a:fillRect/>
                </a:stretch>
              </a:blipFill>
            </p:spPr>
          </p:sp>
        </mc:Fallback>
      </mc:AlternateContent>
    </p:spTree>
  </p:cSld>
  <mc:AlternateContent>
    <mc:Choice Requires="p14">
      <p:transition spd="slow" p14:dur="2000"/>
    </mc:Choice>
    <mc:Fallback>
      <p:transition spd="slow"/>
    </mc:Fallback>
  </mc:AlternateContent>
  <p:timing>
    <p:tnLst>
      <p:par>
        <p:cTn id="2260" dur="indefinite" restart="never" nodeType="tmRoot">
          <p:childTnLst>
            <p:seq>
              <p:cTn id="2261" dur="indefinite" nodeType="mainSeq">
                <p:childTnLst>
                  <p:par>
                    <p:cTn id="2262" fill="hold" nodeType="clickEffect">
                      <p:stCondLst>
                        <p:cond delay="indefinite"/>
                      </p:stCondLst>
                      <p:childTnLst>
                        <p:par>
                          <p:cTn id="2263" fill="hold" nodeType="withEffect">
                            <p:stCondLst>
                              <p:cond delay="0"/>
                            </p:stCondLst>
                            <p:childTnLst>
                              <p:par>
                                <p:cTn id="2264" presetID="2" presetClass="entr" fill="hold" nodeType="clickEffect" presetSubtype="6">
                                  <p:stCondLst>
                                    <p:cond delay="0"/>
                                  </p:stCondLst>
                                  <p:childTnLst>
                                    <p:set>
                                      <p:cBhvr>
                                        <p:cTn id="2265" dur="1" fill="hold">
                                          <p:stCondLst>
                                            <p:cond delay="0"/>
                                          </p:stCondLst>
                                        </p:cTn>
                                        <p:tgtEl>
                                          <p:spTgt spid="1072"/>
                                        </p:tgtEl>
                                        <p:attrNameLst>
                                          <p:attrName>style.visibility</p:attrName>
                                        </p:attrNameLst>
                                      </p:cBhvr>
                                      <p:to>
                                        <p:strVal val="visible"/>
                                      </p:to>
                                    </p:set>
                                    <p:anim calcmode="lin" valueType="num">
                                      <p:cBhvr additive="repl">
                                        <p:cTn id="2266" dur="500" fill="hold"/>
                                        <p:tgtEl>
                                          <p:spTgt spid="1072"/>
                                        </p:tgtEl>
                                        <p:attrNameLst>
                                          <p:attrName>ppt_x</p:attrName>
                                        </p:attrNameLst>
                                      </p:cBhvr>
                                      <p:tavLst>
                                        <p:tav>
                                          <p:val>
                                            <p:strVal val="1+#ppt_w/2"/>
                                          </p:val>
                                        </p:tav>
                                        <p:tav tm="100000">
                                          <p:val>
                                            <p:strVal val="#ppt_x"/>
                                          </p:val>
                                        </p:tav>
                                      </p:tavLst>
                                    </p:anim>
                                    <p:anim calcmode="lin" valueType="num">
                                      <p:cBhvr additive="repl">
                                        <p:cTn id="2267" dur="500" fill="hold"/>
                                        <p:tgtEl>
                                          <p:spTgt spid="1072"/>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7" name="Text Box 11"/>
          <p:cNvPicPr/>
          <p:nvPr/>
        </p:nvPicPr>
        <p:blipFill>
          <a:blip r:embed="rId1"/>
          <a:stretch/>
        </p:blipFill>
        <p:spPr>
          <a:xfrm>
            <a:off x="0" y="212760"/>
            <a:ext cx="9144000" cy="3713040"/>
          </a:xfrm>
          <a:prstGeom prst="rect">
            <a:avLst/>
          </a:prstGeom>
          <a:noFill/>
          <a:ln w="0">
            <a:noFill/>
          </a:ln>
        </p:spPr>
      </p:pic>
      <mc:AlternateContent>
        <mc:Choice xmlns:a14="http://schemas.microsoft.com/office/drawing/2010/main" Requires="a14">
          <p:sp>
            <p:nvSpPr>
              <p:cNvPr id="1078" name="Object 21"/>
              <p:cNvSpPr txBox="1"/>
              <p:nvPr/>
            </p:nvSpPr>
            <p:spPr>
              <a:xfrm>
                <a:off x="2536920" y="4307040"/>
                <a:ext cx="101520" cy="190440"/>
              </a:xfrm>
              <a:prstGeom prst="rect">
                <a:avLst/>
              </a:prstGeom>
            </p:spPr>
            <p:txBody>
              <a:bodyPr/>
              <a:p>
                <a14:m>
                  <m:oMath xmlns:m="http://schemas.openxmlformats.org/officeDocument/2006/math"/>
                </a14:m>
              </a:p>
            </p:txBody>
          </p:sp>
        </mc:Choice>
        <mc:Fallback>
          <p:sp>
            <p:nvSpPr>
              <p:cNvPr id="1078" name="Object 21"/>
              <p:cNvSpPr txBox="1"/>
              <p:nvPr/>
            </p:nvSpPr>
            <p:spPr>
              <a:xfrm>
                <a:off x="2536920" y="4307040"/>
                <a:ext cx="101520" cy="190440"/>
              </a:xfrm>
              <a:prstGeom prst="rect">
                <a:avLst/>
              </a:prstGeom>
              <a:blipFill>
                <a:blip r:embed="rId2"/>
                <a:stretch>
                  <a:fillRect/>
                </a:stretch>
              </a:blipFill>
            </p:spPr>
          </p:sp>
        </mc:Fallback>
      </mc:AlternateContent>
      <mc:AlternateContent>
        <mc:Choice xmlns:a14="http://schemas.microsoft.com/office/drawing/2010/main" Requires="a14">
          <p:sp>
            <p:nvSpPr>
              <p:cNvPr id="1079" name="对象 4"/>
              <p:cNvSpPr txBox="1"/>
              <p:nvPr/>
            </p:nvSpPr>
            <p:spPr>
              <a:xfrm>
                <a:off x="3257640" y="1128600"/>
                <a:ext cx="1617480" cy="480960"/>
              </a:xfrm>
              <a:prstGeom prst="rect">
                <a:avLst/>
              </a:prstGeom>
            </p:spPr>
            <p:txBody>
              <a:bodyPr/>
              <a:p>
                <a14:m>
                  <m:oMath xmlns:m="http://schemas.openxmlformats.org/officeDocument/2006/math">
                    <m:r>
                      <m:t xml:space="preserve">n</m:t>
                    </m:r>
                    <m:r>
                      <m:t xml:space="preserve">−</m:t>
                    </m:r>
                    <m:r>
                      <m:t xml:space="preserve">m</m:t>
                    </m:r>
                    <m:r>
                      <m:t xml:space="preserve">≥</m:t>
                    </m:r>
                    <m:r>
                      <m:t xml:space="preserve">2</m:t>
                    </m:r>
                  </m:oMath>
                </a14:m>
              </a:p>
            </p:txBody>
          </p:sp>
        </mc:Choice>
        <mc:Fallback>
          <p:sp>
            <p:nvSpPr>
              <p:cNvPr id="1079" name="对象 4"/>
              <p:cNvSpPr txBox="1"/>
              <p:nvPr/>
            </p:nvSpPr>
            <p:spPr>
              <a:xfrm>
                <a:off x="3257640" y="1128600"/>
                <a:ext cx="1617480" cy="480960"/>
              </a:xfrm>
              <a:prstGeom prst="rect">
                <a:avLst/>
              </a:prstGeom>
              <a:blipFill>
                <a:blip r:embed="rId3"/>
                <a:stretch>
                  <a:fillRect/>
                </a:stretch>
              </a:blipFill>
            </p:spPr>
          </p:sp>
        </mc:Fallback>
      </mc:AlternateContent>
      <mc:AlternateContent>
        <mc:Choice xmlns:a14="http://schemas.microsoft.com/office/drawing/2010/main" Requires="a14">
          <p:sp>
            <p:nvSpPr>
              <p:cNvPr id="1080" name="对象 5"/>
              <p:cNvSpPr txBox="1"/>
              <p:nvPr/>
            </p:nvSpPr>
            <p:spPr>
              <a:xfrm>
                <a:off x="1133640" y="1990800"/>
                <a:ext cx="1569960" cy="573120"/>
              </a:xfrm>
              <a:prstGeom prst="rect">
                <a:avLst/>
              </a:prstGeom>
            </p:spPr>
            <p:txBody>
              <a:bodyPr/>
              <a:p>
                <a14:m>
                  <m:oMath xmlns:m="http://schemas.openxmlformats.org/officeDocument/2006/math">
                    <m:sSub>
                      <m:e>
                        <m:r>
                          <m:t xml:space="preserve">s</m:t>
                        </m:r>
                      </m:e>
                      <m:sub>
                        <m:r>
                          <m:t xml:space="preserve">1,2</m:t>
                        </m:r>
                      </m:sub>
                    </m:sSub>
                    <m:r>
                      <m:t xml:space="preserve">=</m:t>
                    </m:r>
                    <m:r>
                      <m:t xml:space="preserve">±</m:t>
                    </m:r>
                    <m:r>
                      <m:t xml:space="preserve">jω</m:t>
                    </m:r>
                  </m:oMath>
                </a14:m>
              </a:p>
            </p:txBody>
          </p:sp>
        </mc:Choice>
        <mc:Fallback>
          <p:sp>
            <p:nvSpPr>
              <p:cNvPr id="1080" name="对象 5"/>
              <p:cNvSpPr txBox="1"/>
              <p:nvPr/>
            </p:nvSpPr>
            <p:spPr>
              <a:xfrm>
                <a:off x="1133640" y="1990800"/>
                <a:ext cx="1569960" cy="573120"/>
              </a:xfrm>
              <a:prstGeom prst="rect">
                <a:avLst/>
              </a:prstGeom>
              <a:blipFill>
                <a:blip r:embed="rId4"/>
                <a:stretch>
                  <a:fillRect/>
                </a:stretch>
              </a:blipFill>
            </p:spPr>
          </p:sp>
        </mc:Fallback>
      </mc:AlternateContent>
      <mc:AlternateContent>
        <mc:Choice xmlns:a14="http://schemas.microsoft.com/office/drawing/2010/main" Requires="a14">
          <p:sp>
            <p:nvSpPr>
              <p:cNvPr id="1081" name="对象 6"/>
              <p:cNvSpPr txBox="1"/>
              <p:nvPr/>
            </p:nvSpPr>
            <p:spPr>
              <a:xfrm>
                <a:off x="620640" y="2789280"/>
                <a:ext cx="2400480" cy="560520"/>
              </a:xfrm>
              <a:prstGeom prst="rect">
                <a:avLst/>
              </a:prstGeom>
            </p:spPr>
            <p:txBody>
              <a:bodyPr/>
              <a:p>
                <a14:m>
                  <m:oMath xmlns:m="http://schemas.openxmlformats.org/officeDocument/2006/math">
                    <m:sSub>
                      <m:e>
                        <m:r>
                          <m:t xml:space="preserve">s</m:t>
                        </m:r>
                      </m:e>
                      <m:sub>
                        <m:r>
                          <m:t xml:space="preserve">1</m:t>
                        </m:r>
                      </m:sub>
                    </m:sSub>
                    <m:r>
                      <m:t xml:space="preserve">+</m:t>
                    </m:r>
                    <m:sSub>
                      <m:e>
                        <m:r>
                          <m:t xml:space="preserve">s</m:t>
                        </m:r>
                      </m:e>
                      <m:sub>
                        <m:r>
                          <m:t xml:space="preserve">2</m:t>
                        </m:r>
                      </m:sub>
                    </m:sSub>
                    <m:r>
                      <m:t xml:space="preserve">+</m:t>
                    </m:r>
                    <m:sSub>
                      <m:e>
                        <m:r>
                          <m:t xml:space="preserve">s</m:t>
                        </m:r>
                      </m:e>
                      <m:sub>
                        <m:r>
                          <m:t xml:space="preserve">3</m:t>
                        </m:r>
                      </m:sub>
                    </m:sSub>
                    <m:r>
                      <m:t xml:space="preserve">=</m:t>
                    </m:r>
                    <m:r>
                      <m:t xml:space="preserve">−</m:t>
                    </m:r>
                    <m:r>
                      <m:t xml:space="preserve">3</m:t>
                    </m:r>
                  </m:oMath>
                </a14:m>
              </a:p>
            </p:txBody>
          </p:sp>
        </mc:Choice>
        <mc:Fallback>
          <p:sp>
            <p:nvSpPr>
              <p:cNvPr id="1081" name="对象 6"/>
              <p:cNvSpPr txBox="1"/>
              <p:nvPr/>
            </p:nvSpPr>
            <p:spPr>
              <a:xfrm>
                <a:off x="620640" y="2789280"/>
                <a:ext cx="2400480" cy="560520"/>
              </a:xfrm>
              <a:prstGeom prst="rect">
                <a:avLst/>
              </a:prstGeom>
              <a:blipFill>
                <a:blip r:embed="rId5"/>
                <a:stretch>
                  <a:fillRect/>
                </a:stretch>
              </a:blipFill>
            </p:spPr>
          </p:sp>
        </mc:Fallback>
      </mc:AlternateContent>
      <mc:AlternateContent>
        <mc:Choice xmlns:a14="http://schemas.microsoft.com/office/drawing/2010/main" Requires="a14">
          <p:sp>
            <p:nvSpPr>
              <p:cNvPr id="1082" name="对象 7"/>
              <p:cNvSpPr txBox="1"/>
              <p:nvPr/>
            </p:nvSpPr>
            <p:spPr>
              <a:xfrm>
                <a:off x="1133640" y="3398760"/>
                <a:ext cx="931680" cy="452520"/>
              </a:xfrm>
              <a:prstGeom prst="rect">
                <a:avLst/>
              </a:prstGeom>
            </p:spPr>
            <p:txBody>
              <a:bodyPr/>
              <a:p>
                <a14:m>
                  <m:oMath xmlns:m="http://schemas.openxmlformats.org/officeDocument/2006/math">
                    <m:sSub>
                      <m:e>
                        <m:r>
                          <m:t xml:space="preserve">s</m:t>
                        </m:r>
                      </m:e>
                      <m:sub>
                        <m:r>
                          <m:t xml:space="preserve">3</m:t>
                        </m:r>
                      </m:sub>
                    </m:sSub>
                    <m:r>
                      <m:t xml:space="preserve">=</m:t>
                    </m:r>
                    <m:r>
                      <m:t xml:space="preserve">−</m:t>
                    </m:r>
                    <m:r>
                      <m:t xml:space="preserve">3</m:t>
                    </m:r>
                  </m:oMath>
                </a14:m>
              </a:p>
            </p:txBody>
          </p:sp>
        </mc:Choice>
        <mc:Fallback>
          <p:sp>
            <p:nvSpPr>
              <p:cNvPr id="1082" name="对象 7"/>
              <p:cNvSpPr txBox="1"/>
              <p:nvPr/>
            </p:nvSpPr>
            <p:spPr>
              <a:xfrm>
                <a:off x="1133640" y="3398760"/>
                <a:ext cx="931680" cy="452520"/>
              </a:xfrm>
              <a:prstGeom prst="rect">
                <a:avLst/>
              </a:prstGeom>
              <a:blipFill>
                <a:blip r:embed="rId6"/>
                <a:stretch>
                  <a:fillRect/>
                </a:stretch>
              </a:blipFill>
            </p:spPr>
          </p:sp>
        </mc:Fallback>
      </mc:AlternateContent>
      <mc:AlternateContent>
        <mc:Choice xmlns:a14="http://schemas.microsoft.com/office/drawing/2010/main" Requires="a14">
          <p:sp>
            <p:nvSpPr>
              <p:cNvPr id="1083" name="对象 12"/>
              <p:cNvSpPr txBox="1"/>
              <p:nvPr/>
            </p:nvSpPr>
            <p:spPr>
              <a:xfrm>
                <a:off x="4181400" y="3335400"/>
                <a:ext cx="3135240" cy="496800"/>
              </a:xfrm>
              <a:prstGeom prst="rect">
                <a:avLst/>
              </a:prstGeom>
            </p:spPr>
            <p:txBody>
              <a:bodyPr/>
              <a:p>
                <a14:m>
                  <m:oMath xmlns:m="http://schemas.openxmlformats.org/officeDocument/2006/math">
                    <m:sSup>
                      <m:e>
                        <m:r>
                          <m:t xml:space="preserve">s</m:t>
                        </m:r>
                      </m:e>
                      <m:sup>
                        <m:r>
                          <m:t xml:space="preserve">3</m:t>
                        </m:r>
                      </m:sup>
                    </m:sSup>
                    <m:r>
                      <m:t xml:space="preserve">+</m:t>
                    </m:r>
                    <m:r>
                      <m:t xml:space="preserve">3</m:t>
                    </m:r>
                    <m:sSup>
                      <m:e>
                        <m:r>
                          <m:t xml:space="preserve">s</m:t>
                        </m:r>
                      </m:e>
                      <m:sup>
                        <m:r>
                          <m:t xml:space="preserve">2</m:t>
                        </m:r>
                      </m:sup>
                    </m:sSup>
                    <m:r>
                      <m:t xml:space="preserve">+</m:t>
                    </m:r>
                    <m:r>
                      <m:t xml:space="preserve">2</m:t>
                    </m:r>
                    <m:r>
                      <m:t xml:space="preserve">s</m:t>
                    </m:r>
                    <m:r>
                      <m:t xml:space="preserve">+</m:t>
                    </m:r>
                    <m:r>
                      <m:t xml:space="preserve">K</m:t>
                    </m:r>
                    <m:r>
                      <m:t xml:space="preserve">=</m:t>
                    </m:r>
                    <m:r>
                      <m:t xml:space="preserve">0</m:t>
                    </m:r>
                  </m:oMath>
                </a14:m>
              </a:p>
            </p:txBody>
          </p:sp>
        </mc:Choice>
        <mc:Fallback>
          <p:sp>
            <p:nvSpPr>
              <p:cNvPr id="1083" name="对象 12"/>
              <p:cNvSpPr txBox="1"/>
              <p:nvPr/>
            </p:nvSpPr>
            <p:spPr>
              <a:xfrm>
                <a:off x="4181400" y="3335400"/>
                <a:ext cx="3135240" cy="496800"/>
              </a:xfrm>
              <a:prstGeom prst="rect">
                <a:avLst/>
              </a:prstGeom>
              <a:blipFill>
                <a:blip r:embed="rId7"/>
                <a:stretch>
                  <a:fillRect/>
                </a:stretch>
              </a:blipFill>
            </p:spPr>
          </p:sp>
        </mc:Fallback>
      </mc:AlternateContent>
      <mc:AlternateContent>
        <mc:Choice xmlns:a14="http://schemas.microsoft.com/office/drawing/2010/main" Requires="a14">
          <p:sp>
            <p:nvSpPr>
              <p:cNvPr id="1084" name="对象 14"/>
              <p:cNvSpPr txBox="1"/>
              <p:nvPr/>
            </p:nvSpPr>
            <p:spPr>
              <a:xfrm>
                <a:off x="7804080" y="3398760"/>
                <a:ext cx="960480" cy="432000"/>
              </a:xfrm>
              <a:prstGeom prst="rect">
                <a:avLst/>
              </a:prstGeom>
            </p:spPr>
            <p:txBody>
              <a:bodyPr/>
              <a:p>
                <a14:m>
                  <m:oMath xmlns:m="http://schemas.openxmlformats.org/officeDocument/2006/math">
                    <m:r>
                      <m:t xml:space="preserve">K</m:t>
                    </m:r>
                    <m:r>
                      <m:t xml:space="preserve">=</m:t>
                    </m:r>
                    <m:r>
                      <m:t xml:space="preserve">6</m:t>
                    </m:r>
                  </m:oMath>
                </a14:m>
              </a:p>
            </p:txBody>
          </p:sp>
        </mc:Choice>
        <mc:Fallback>
          <p:sp>
            <p:nvSpPr>
              <p:cNvPr id="1084" name="对象 14"/>
              <p:cNvSpPr txBox="1"/>
              <p:nvPr/>
            </p:nvSpPr>
            <p:spPr>
              <a:xfrm>
                <a:off x="7804080" y="3398760"/>
                <a:ext cx="960480" cy="432000"/>
              </a:xfrm>
              <a:prstGeom prst="rect">
                <a:avLst/>
              </a:prstGeom>
              <a:blipFill>
                <a:blip r:embed="rId8"/>
                <a:stretch>
                  <a:fillRect/>
                </a:stretch>
              </a:blipFill>
            </p:spPr>
          </p:sp>
        </mc:Fallback>
      </mc:AlternateContent>
      <mc:AlternateContent>
        <mc:Choice xmlns:a14="http://schemas.microsoft.com/office/drawing/2010/main" Requires="a14">
          <p:sp>
            <p:nvSpPr>
              <p:cNvPr id="1085" name="对象 15"/>
              <p:cNvSpPr txBox="1"/>
              <p:nvPr/>
            </p:nvSpPr>
            <p:spPr>
              <a:xfrm>
                <a:off x="1008000" y="4213080"/>
                <a:ext cx="1182600" cy="492120"/>
              </a:xfrm>
              <a:prstGeom prst="rect">
                <a:avLst/>
              </a:prstGeom>
            </p:spPr>
            <p:txBody>
              <a:bodyPr/>
              <a:p>
                <a14:m>
                  <m:oMath xmlns:m="http://schemas.openxmlformats.org/officeDocument/2006/math">
                    <m:r>
                      <m:t xml:space="preserve">s</m:t>
                    </m:r>
                    <m:r>
                      <m:t xml:space="preserve">=</m:t>
                    </m:r>
                    <m:r>
                      <m:t xml:space="preserve">jω</m:t>
                    </m:r>
                  </m:oMath>
                </a14:m>
              </a:p>
            </p:txBody>
          </p:sp>
        </mc:Choice>
        <mc:Fallback>
          <p:sp>
            <p:nvSpPr>
              <p:cNvPr id="1085" name="对象 15"/>
              <p:cNvSpPr txBox="1"/>
              <p:nvPr/>
            </p:nvSpPr>
            <p:spPr>
              <a:xfrm>
                <a:off x="1008000" y="4213080"/>
                <a:ext cx="1182600" cy="492120"/>
              </a:xfrm>
              <a:prstGeom prst="rect">
                <a:avLst/>
              </a:prstGeom>
              <a:blipFill>
                <a:blip r:embed="rId9"/>
                <a:stretch>
                  <a:fillRect/>
                </a:stretch>
              </a:blipFill>
            </p:spPr>
          </p:sp>
        </mc:Fallback>
      </mc:AlternateContent>
      <mc:AlternateContent>
        <mc:Choice xmlns:a14="http://schemas.microsoft.com/office/drawing/2010/main" Requires="a14">
          <p:sp>
            <p:nvSpPr>
              <p:cNvPr id="1086" name="对象 16"/>
              <p:cNvSpPr txBox="1"/>
              <p:nvPr/>
            </p:nvSpPr>
            <p:spPr>
              <a:xfrm>
                <a:off x="2703600" y="4281480"/>
                <a:ext cx="1423800" cy="528480"/>
              </a:xfrm>
              <a:prstGeom prst="rect">
                <a:avLst/>
              </a:prstGeom>
            </p:spPr>
            <p:txBody>
              <a:bodyPr/>
              <a:p>
                <a14:m>
                  <m:oMath xmlns:m="http://schemas.openxmlformats.org/officeDocument/2006/math">
                    <m:r>
                      <m:t xml:space="preserve">ω</m:t>
                    </m:r>
                    <m:r>
                      <m:t xml:space="preserve">=</m:t>
                    </m:r>
                    <m:r>
                      <m:t xml:space="preserve">±</m:t>
                    </m:r>
                    <m:rad>
                      <m:radPr>
                        <m:degHide m:val="1"/>
                      </m:radPr>
                      <m:deg/>
                      <m:e>
                        <m:r>
                          <m:t xml:space="preserve">2</m:t>
                        </m:r>
                      </m:e>
                    </m:rad>
                  </m:oMath>
                </a14:m>
              </a:p>
            </p:txBody>
          </p:sp>
        </mc:Choice>
        <mc:Fallback>
          <p:sp>
            <p:nvSpPr>
              <p:cNvPr id="1086" name="对象 16"/>
              <p:cNvSpPr txBox="1"/>
              <p:nvPr/>
            </p:nvSpPr>
            <p:spPr>
              <a:xfrm>
                <a:off x="2703600" y="4281480"/>
                <a:ext cx="1423800" cy="528480"/>
              </a:xfrm>
              <a:prstGeom prst="rect">
                <a:avLst/>
              </a:prstGeom>
              <a:blipFill>
                <a:blip r:embed="rId10"/>
                <a:stretch>
                  <a:fillRect/>
                </a:stretch>
              </a:blipFill>
            </p:spPr>
          </p:sp>
        </mc:Fallback>
      </mc:AlternateContent>
    </p:spTree>
  </p:cSld>
  <mc:AlternateContent>
    <mc:Choice Requires="p14">
      <p:transition spd="slow" p14:dur="2000"/>
    </mc:Choice>
    <mc:Fallback>
      <p:transition spd="slow"/>
    </mc:Fallback>
  </mc:AlternateContent>
  <p:timing>
    <p:tnLst>
      <p:par>
        <p:cTn id="2268" dur="indefinite" restart="never" nodeType="tmRoot">
          <p:childTnLst>
            <p:seq>
              <p:cTn id="2269" dur="indefinite" nodeType="mainSeq">
                <p:childTnLst>
                  <p:par>
                    <p:cTn id="2270" fill="hold" nodeType="clickEffect">
                      <p:stCondLst>
                        <p:cond delay="indefinite"/>
                      </p:stCondLst>
                      <p:childTnLst>
                        <p:par>
                          <p:cTn id="2271" fill="hold" nodeType="withEffect">
                            <p:stCondLst>
                              <p:cond delay="0"/>
                            </p:stCondLst>
                            <p:childTnLst>
                              <p:par>
                                <p:cTn id="2272" presetID="2" presetClass="entr" fill="hold" nodeType="clickEffect" presetSubtype="6">
                                  <p:stCondLst>
                                    <p:cond delay="0"/>
                                  </p:stCondLst>
                                  <p:childTnLst>
                                    <p:set>
                                      <p:cBhvr>
                                        <p:cTn id="2273" dur="1" fill="hold">
                                          <p:stCondLst>
                                            <p:cond delay="0"/>
                                          </p:stCondLst>
                                        </p:cTn>
                                        <p:tgtEl>
                                          <p:spTgt spid="1078"/>
                                        </p:tgtEl>
                                        <p:attrNameLst>
                                          <p:attrName>style.visibility</p:attrName>
                                        </p:attrNameLst>
                                      </p:cBhvr>
                                      <p:to>
                                        <p:strVal val="visible"/>
                                      </p:to>
                                    </p:set>
                                    <p:anim calcmode="lin" valueType="num">
                                      <p:cBhvr additive="repl">
                                        <p:cTn id="2274" dur="500" fill="hold"/>
                                        <p:tgtEl>
                                          <p:spTgt spid="1078"/>
                                        </p:tgtEl>
                                        <p:attrNameLst>
                                          <p:attrName>ppt_x</p:attrName>
                                        </p:attrNameLst>
                                      </p:cBhvr>
                                      <p:tavLst>
                                        <p:tav>
                                          <p:val>
                                            <p:strVal val="1+#ppt_w/2"/>
                                          </p:val>
                                        </p:tav>
                                        <p:tav tm="100000">
                                          <p:val>
                                            <p:strVal val="#ppt_x"/>
                                          </p:val>
                                        </p:tav>
                                      </p:tavLst>
                                    </p:anim>
                                    <p:anim calcmode="lin" valueType="num">
                                      <p:cBhvr additive="repl">
                                        <p:cTn id="2275" dur="500" fill="hold"/>
                                        <p:tgtEl>
                                          <p:spTgt spid="1078"/>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LibreOffice/26.2.1.2$Windows_X86_64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2005-05-01T09:51:56Z</dcterms:created>
  <dc:creator>周风余</dc:creator>
  <dc:description/>
  <dc:language>zh-CN</dc:language>
  <cp:lastModifiedBy>Lenovo</cp:lastModifiedBy>
  <dcterms:modified xsi:type="dcterms:W3CDTF">2020-02-03T11:20:24Z</dcterms:modified>
  <cp:revision>295</cp:revision>
  <dc:subject/>
  <dc:title>第四章   根轨迹法</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2052-11.1.0.9069</vt:lpwstr>
  </property>
</Properties>
</file>